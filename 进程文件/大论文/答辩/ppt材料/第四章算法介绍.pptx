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9" r:id="rId2"/>
    <p:sldId id="281" r:id="rId3"/>
    <p:sldId id="270" r:id="rId4"/>
    <p:sldId id="27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7" d="100"/>
          <a:sy n="137" d="100"/>
        </p:scale>
        <p:origin x="26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FF98BE-D128-462C-88A1-86D43AF3B23E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219D77-2ABD-452A-8D1E-6EB4C9398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8888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165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11CE39-364A-4DB0-B116-403D1EC87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450D40-E3B8-4471-928C-813EBE61DB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2D48FC-9E95-4786-9309-7B6687923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F4354-B083-4994-B652-CC45B920F67A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88A060-BDA5-4633-83AA-EAA7392BC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C8D769-0922-49E2-BB5A-09F15BDFF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7770-F9DE-4D52-B3CD-5965B3CE51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9896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79A2DE-58A0-4221-A126-A0DE6014E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759F49-93A7-46C9-806D-FFE925B73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9773AB-7A17-4F97-AA03-AFF75D2FE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F4354-B083-4994-B652-CC45B920F67A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AF2FF7-C3A2-460E-9E13-78F856860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2F6291-4BEF-4FF7-8C09-FB48014F7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7770-F9DE-4D52-B3CD-5965B3CE51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089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83740D-28CA-4D03-A576-0130E1BF7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FB5955-25A4-4FFF-93C9-CCE380798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32E021-D4A1-434F-A69C-96C48B35C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F4354-B083-4994-B652-CC45B920F67A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248C31-27D8-418E-BF49-166E9EF4D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C9D2B5-70A4-4E05-824B-F07A3CAF1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7770-F9DE-4D52-B3CD-5965B3CE51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074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7C7D70-73A9-4F29-AEB9-E060318BC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324ECD-8117-45A1-84D9-8664D51A2C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C8B035-3697-47FD-A1FE-5EF66EA8A1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FE6D05-390C-4297-9C58-A343AE717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F4354-B083-4994-B652-CC45B920F67A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A7F209-2148-4871-A3CA-834FC9B65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4495B3-030D-41D3-BABD-E41F721E1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7770-F9DE-4D52-B3CD-5965B3CE51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017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60704-7724-4600-8B33-949B0DC74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94DA76-01FF-4758-87DF-E4E9A6A70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858D73-7E69-4944-9463-9547252D5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7917906-FF50-463E-BF30-C8FAAD567B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22F457F-84F3-421C-8343-4ED8AF20BF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80C76A-DC64-41F6-AB5B-C715CF5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F4354-B083-4994-B652-CC45B920F67A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20BAE7D-84C3-4E40-84AA-D7BF324BC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46B0E70-E8B1-4D0E-8A44-F26BF15BB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7770-F9DE-4D52-B3CD-5965B3CE51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256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7CD40D-5995-409E-B963-7F17070B9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113C4A7-0282-41FE-AC5E-DCC05D317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F4354-B083-4994-B652-CC45B920F67A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D40594-1A9C-4258-8C00-97AB0188D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F963625-1A9A-4A5E-9739-61A8BF812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7770-F9DE-4D52-B3CD-5965B3CE51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610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E50AB40-999B-47BD-A8FD-05E13384C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F4354-B083-4994-B652-CC45B920F67A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108FB57-1550-4392-AFA4-4FAA70FF2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D321ED-6140-4F9A-BDB6-A141594EC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7770-F9DE-4D52-B3CD-5965B3CE51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321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DD0B77-E0B5-418B-A561-C91373C95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8DF2F3-284D-4B93-89F5-9A52C7C22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A7B4C58-4204-425C-A9A6-6A6EFF1DC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E1CF83-FF9D-4B5E-AC3D-0229847CF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F4354-B083-4994-B652-CC45B920F67A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4C8E6F-DE17-4F95-A7E0-0E9E6211D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ED673B-2D01-4FB8-8FBF-48252A316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7770-F9DE-4D52-B3CD-5965B3CE51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284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B3CC2E-904C-4F49-BF5F-329B59055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944188E-AD6C-47A5-A970-26436CD020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FBE056-D1C7-43D2-923A-2C957939D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394C8C-1F91-41EE-8C22-C409799F3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F4354-B083-4994-B652-CC45B920F67A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AB11E2-8EED-4A01-A3D2-1A79E83B5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D9DC1D-E1C7-430C-9F3C-852EB34B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7770-F9DE-4D52-B3CD-5965B3CE51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2974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807262-69C1-4407-A92A-FF6E3CEF7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15C6508-B89A-4CFB-95A4-9744F6D7DE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924EBD-4949-4FE8-A8C3-47D2B46BE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F4354-B083-4994-B652-CC45B920F67A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59A25-3146-42A8-BEA2-3D7911245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FB7A06-3478-48EF-8771-CF578D695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7770-F9DE-4D52-B3CD-5965B3CE51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840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CBA481E-0952-4C38-B927-572495803F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A4CA7A4-98DA-4E09-BBC0-979220EBDF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768426-8C58-45F5-837D-611A489F1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F4354-B083-4994-B652-CC45B920F67A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791166-C769-4366-BCB9-C1FC81C39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1EEC72-CD3F-49E8-B76B-68D4FC8F5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7770-F9DE-4D52-B3CD-5965B3CE51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131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0488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09C9A41-9759-46EE-B1A0-E5C7E484B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19D0EC-32E3-4BDC-8A50-C3A3F53BA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C42F57-3E73-4362-87F6-9CA9E8B6F5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0F4354-B083-4994-B652-CC45B920F67A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2DC373-72F7-4118-A115-0E322D1EF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E3C905-95A4-41F4-A788-C9C4E94364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97770-F9DE-4D52-B3CD-5965B3CE51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320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183A6A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0960"/>
            <a:ext cx="853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600" b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MPG-NSGA-II 通信保持区域覆盖算法</a:t>
            </a:r>
            <a:endParaRPr lang="en-US" sz="1600"/>
          </a:p>
        </p:txBody>
      </p:sp>
      <p:pic>
        <p:nvPicPr>
          <p:cNvPr id="4" name="Image 0" descr="/home/claude/sjtu_logo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53600" y="121920"/>
            <a:ext cx="1950720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16640" y="6431280"/>
            <a:ext cx="60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867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/>
          </a:p>
        </p:txBody>
      </p:sp>
      <p:sp>
        <p:nvSpPr>
          <p:cNvPr id="6" name="Text 3"/>
          <p:cNvSpPr/>
          <p:nvPr/>
        </p:nvSpPr>
        <p:spPr>
          <a:xfrm>
            <a:off x="609600" y="780288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总体框架与创新点</a:t>
            </a:r>
            <a:endParaRPr lang="en-US" sz="1867"/>
          </a:p>
        </p:txBody>
      </p:sp>
      <p:sp>
        <p:nvSpPr>
          <p:cNvPr id="7" name="Shape 4"/>
          <p:cNvSpPr/>
          <p:nvPr/>
        </p:nvSpPr>
        <p:spPr>
          <a:xfrm>
            <a:off x="609600" y="1292352"/>
            <a:ext cx="10972800" cy="0"/>
          </a:xfrm>
          <a:prstGeom prst="line">
            <a:avLst/>
          </a:prstGeom>
          <a:noFill/>
          <a:ln w="25400">
            <a:solidFill>
              <a:srgbClr val="183A6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141728" y="3696788"/>
            <a:ext cx="487680" cy="487680"/>
          </a:xfrm>
          <a:prstGeom prst="ellipse">
            <a:avLst/>
          </a:prstGeom>
          <a:solidFill>
            <a:srgbClr val="183A6A"/>
          </a:solidFill>
          <a:ln/>
        </p:spPr>
      </p:sp>
      <p:sp>
        <p:nvSpPr>
          <p:cNvPr id="9" name="Text 6"/>
          <p:cNvSpPr/>
          <p:nvPr/>
        </p:nvSpPr>
        <p:spPr>
          <a:xfrm>
            <a:off x="2141728" y="3696788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67"/>
          </a:p>
        </p:txBody>
      </p:sp>
      <p:sp>
        <p:nvSpPr>
          <p:cNvPr id="10" name="Shape 7"/>
          <p:cNvSpPr/>
          <p:nvPr/>
        </p:nvSpPr>
        <p:spPr>
          <a:xfrm>
            <a:off x="648208" y="4306388"/>
            <a:ext cx="347472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3874B8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709168" y="4355156"/>
            <a:ext cx="3352800" cy="390144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12" name="Text 9"/>
          <p:cNvSpPr/>
          <p:nvPr/>
        </p:nvSpPr>
        <p:spPr>
          <a:xfrm>
            <a:off x="709168" y="4355156"/>
            <a:ext cx="335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连通-贪心覆盖混合初始化（CGCI）</a:t>
            </a:r>
            <a:endParaRPr lang="en-US" sz="1200"/>
          </a:p>
        </p:txBody>
      </p:sp>
      <p:sp>
        <p:nvSpPr>
          <p:cNvPr id="13" name="Text 10"/>
          <p:cNvSpPr/>
          <p:nvPr/>
        </p:nvSpPr>
        <p:spPr>
          <a:xfrm>
            <a:off x="794512" y="4842836"/>
            <a:ext cx="3182112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133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基于权重向量动态切换贪心覆盖与聚集连通两种初始化策略，保障初始种群质量与多样性</a:t>
            </a:r>
            <a:endParaRPr lang="en-US" sz="1200"/>
          </a:p>
        </p:txBody>
      </p:sp>
      <p:sp>
        <p:nvSpPr>
          <p:cNvPr id="14" name="Shape 11"/>
          <p:cNvSpPr/>
          <p:nvPr/>
        </p:nvSpPr>
        <p:spPr>
          <a:xfrm>
            <a:off x="5884672" y="3696788"/>
            <a:ext cx="487680" cy="487680"/>
          </a:xfrm>
          <a:prstGeom prst="ellipse">
            <a:avLst/>
          </a:prstGeom>
          <a:solidFill>
            <a:srgbClr val="183A6A"/>
          </a:solidFill>
          <a:ln/>
        </p:spPr>
      </p:sp>
      <p:sp>
        <p:nvSpPr>
          <p:cNvPr id="15" name="Text 12"/>
          <p:cNvSpPr/>
          <p:nvPr/>
        </p:nvSpPr>
        <p:spPr>
          <a:xfrm>
            <a:off x="5884672" y="3696788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67"/>
          </a:p>
        </p:txBody>
      </p:sp>
      <p:sp>
        <p:nvSpPr>
          <p:cNvPr id="16" name="Shape 13"/>
          <p:cNvSpPr/>
          <p:nvPr/>
        </p:nvSpPr>
        <p:spPr>
          <a:xfrm>
            <a:off x="4391152" y="4306388"/>
            <a:ext cx="347472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3874B8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4452112" y="4355156"/>
            <a:ext cx="3352800" cy="390144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18" name="Text 15"/>
          <p:cNvSpPr/>
          <p:nvPr/>
        </p:nvSpPr>
        <p:spPr>
          <a:xfrm>
            <a:off x="4452112" y="4355156"/>
            <a:ext cx="335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局部引导变异算子</a:t>
            </a:r>
            <a:endParaRPr lang="en-US" sz="1200"/>
          </a:p>
        </p:txBody>
      </p:sp>
      <p:sp>
        <p:nvSpPr>
          <p:cNvPr id="19" name="Text 16"/>
          <p:cNvSpPr/>
          <p:nvPr/>
        </p:nvSpPr>
        <p:spPr>
          <a:xfrm>
            <a:off x="4537456" y="4842836"/>
            <a:ext cx="3182112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133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VCGO（Voronoi覆盖引导）：计算视距责任区域质心，引导无人机填补覆盖盲区；DCGO（节点度连通引导）：识别低度数节点，引导其向链路修复位置定向变异</a:t>
            </a:r>
            <a:endParaRPr lang="en-US" sz="1200"/>
          </a:p>
        </p:txBody>
      </p:sp>
      <p:sp>
        <p:nvSpPr>
          <p:cNvPr id="20" name="Shape 17"/>
          <p:cNvSpPr/>
          <p:nvPr/>
        </p:nvSpPr>
        <p:spPr>
          <a:xfrm>
            <a:off x="9627616" y="3696788"/>
            <a:ext cx="487680" cy="487680"/>
          </a:xfrm>
          <a:prstGeom prst="ellipse">
            <a:avLst/>
          </a:prstGeom>
          <a:solidFill>
            <a:srgbClr val="183A6A"/>
          </a:solidFill>
          <a:ln/>
        </p:spPr>
      </p:sp>
      <p:sp>
        <p:nvSpPr>
          <p:cNvPr id="21" name="Text 18"/>
          <p:cNvSpPr/>
          <p:nvPr/>
        </p:nvSpPr>
        <p:spPr>
          <a:xfrm>
            <a:off x="9627616" y="3696788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67"/>
          </a:p>
        </p:txBody>
      </p:sp>
      <p:sp>
        <p:nvSpPr>
          <p:cNvPr id="22" name="Shape 19"/>
          <p:cNvSpPr/>
          <p:nvPr/>
        </p:nvSpPr>
        <p:spPr>
          <a:xfrm>
            <a:off x="8107680" y="4306388"/>
            <a:ext cx="347472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3874B8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8195056" y="4355156"/>
            <a:ext cx="3352800" cy="390144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24" name="Text 21"/>
          <p:cNvSpPr/>
          <p:nvPr/>
        </p:nvSpPr>
        <p:spPr>
          <a:xfrm>
            <a:off x="8195056" y="4355156"/>
            <a:ext cx="335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多种群精英迁移机制</a:t>
            </a:r>
            <a:endParaRPr lang="en-US" sz="1200"/>
          </a:p>
        </p:txBody>
      </p:sp>
      <p:sp>
        <p:nvSpPr>
          <p:cNvPr id="25" name="Text 22"/>
          <p:cNvSpPr/>
          <p:nvPr/>
        </p:nvSpPr>
        <p:spPr>
          <a:xfrm>
            <a:off x="8280400" y="4842836"/>
            <a:ext cx="3182112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133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基于岛模型，三个异构子种群（主导P₁、覆盖导向P₂、连通导向P₃）按比例精英迁移，平衡全局探索与局部开发</a:t>
            </a:r>
            <a:endParaRPr lang="en-US" sz="1200"/>
          </a:p>
        </p:txBody>
      </p:sp>
      <p:pic>
        <p:nvPicPr>
          <p:cNvPr id="26" name="Image 1" descr="/home/claude/img_s14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266657" y="1064968"/>
            <a:ext cx="5514487" cy="27494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183A6A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0960"/>
            <a:ext cx="853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600" b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MPG-NSGA-II 通信保持区域覆盖算法</a:t>
            </a:r>
            <a:endParaRPr lang="en-US" sz="1600"/>
          </a:p>
        </p:txBody>
      </p:sp>
      <p:sp>
        <p:nvSpPr>
          <p:cNvPr id="6" name="Text 3"/>
          <p:cNvSpPr/>
          <p:nvPr/>
        </p:nvSpPr>
        <p:spPr>
          <a:xfrm>
            <a:off x="609600" y="780288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种群多样性初始化方法：CGCI</a:t>
            </a:r>
            <a:endParaRPr lang="en-US" sz="1867"/>
          </a:p>
        </p:txBody>
      </p:sp>
      <p:sp>
        <p:nvSpPr>
          <p:cNvPr id="7" name="Shape 4"/>
          <p:cNvSpPr/>
          <p:nvPr/>
        </p:nvSpPr>
        <p:spPr>
          <a:xfrm>
            <a:off x="609600" y="1292352"/>
            <a:ext cx="10972800" cy="0"/>
          </a:xfrm>
          <a:prstGeom prst="line">
            <a:avLst/>
          </a:prstGeom>
          <a:noFill/>
          <a:ln w="25400">
            <a:solidFill>
              <a:srgbClr val="183A6A"/>
            </a:solidFill>
            <a:prstDash val="solid"/>
          </a:ln>
        </p:spPr>
      </p:sp>
      <p:pic>
        <p:nvPicPr>
          <p:cNvPr id="4" name="Image 0" descr="/home/claude/sjtu_logo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53600" y="121920"/>
            <a:ext cx="1950720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16640" y="6431280"/>
            <a:ext cx="60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867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/>
          </a:p>
        </p:txBody>
      </p:sp>
      <p:sp>
        <p:nvSpPr>
          <p:cNvPr id="10" name="Text 10"/>
          <p:cNvSpPr/>
          <p:nvPr/>
        </p:nvSpPr>
        <p:spPr>
          <a:xfrm>
            <a:off x="609600" y="14000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CGCI（连通-贪心覆盖混合初始化）：</a:t>
            </a:r>
            <a:r>
              <a:rPr lang="en-US" sz="1267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为种群中每个个体预设权重向量 w=(w_cov, w_con)。当覆盖权重 w_cov &gt; w_th 时采用贪心覆盖初始化策略；当连通权重 w_con &gt; w_th 时采用聚集连通初始化策略。通过权重向量动态切换，构建兼具高目标值与多样性的初始种群，克服传统随机初始化在高维复杂问题中质量不足的缺陷。</a:t>
            </a:r>
            <a:endParaRPr lang="en-US" sz="1200"/>
          </a:p>
        </p:txBody>
      </p:sp>
      <p:sp>
        <p:nvSpPr>
          <p:cNvPr id="11" name="Shape 11"/>
          <p:cNvSpPr/>
          <p:nvPr/>
        </p:nvSpPr>
        <p:spPr>
          <a:xfrm>
            <a:off x="609600" y="2133333"/>
            <a:ext cx="10972800" cy="0"/>
          </a:xfrm>
          <a:prstGeom prst="line">
            <a:avLst/>
          </a:prstGeom>
          <a:noFill/>
          <a:ln w="12700">
            <a:solidFill>
              <a:srgbClr val="C8D5E8"/>
            </a:solidFill>
            <a:prstDash val="solid"/>
          </a:ln>
        </p:spPr>
      </p:sp>
      <p:sp>
        <p:nvSpPr>
          <p:cNvPr id="20" name="Shape 20"/>
          <p:cNvSpPr/>
          <p:nvPr/>
        </p:nvSpPr>
        <p:spPr>
          <a:xfrm>
            <a:off x="609600" y="2240000"/>
            <a:ext cx="5242560" cy="284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3874B8"/>
            </a:solidFill>
            <a:prstDash val="dash"/>
          </a:ln>
        </p:spPr>
      </p:sp>
      <p:sp>
        <p:nvSpPr>
          <p:cNvPr id="21" name="Shape 21"/>
          <p:cNvSpPr/>
          <p:nvPr/>
        </p:nvSpPr>
        <p:spPr>
          <a:xfrm>
            <a:off x="670560" y="2288768"/>
            <a:ext cx="5120640" cy="390144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22" name="Text 22"/>
          <p:cNvSpPr/>
          <p:nvPr/>
        </p:nvSpPr>
        <p:spPr>
          <a:xfrm>
            <a:off x="670560" y="2288768"/>
            <a:ext cx="5120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333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贪心覆盖初始化策略（Greedy Coverage Init）</a:t>
            </a:r>
            <a:endParaRPr lang="en-US" sz="1200"/>
          </a:p>
        </p:txBody>
      </p:sp>
      <p:sp>
        <p:nvSpPr>
          <p:cNvPr id="23" name="Text 23"/>
          <p:cNvSpPr/>
          <p:nvPr/>
        </p:nvSpPr>
        <p:spPr>
          <a:xfrm>
            <a:off x="694944" y="2753216"/>
            <a:ext cx="5071872" cy="227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267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适用条件</a:t>
            </a:r>
            <a:endParaRPr lang="en-US" sz="1200"/>
          </a:p>
          <a:p>
            <a:pPr>
              <a:lnSpc>
                <a:spcPct val="125000"/>
              </a:lnSpc>
            </a:pPr>
            <a:r>
              <a:rPr lang="en-US" sz="1107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覆盖权重 w_cov &gt; w_th 的个体，生成高覆盖性能的初始解。</a:t>
            </a:r>
            <a:endParaRPr lang="en-US" sz="1200"/>
          </a:p>
          <a:p>
            <a:pPr>
              <a:lnSpc>
                <a:spcPct val="70000"/>
              </a:lnSpc>
            </a:pPr>
            <a:endParaRPr lang="en-US" sz="1200"/>
          </a:p>
          <a:p>
            <a:pPr>
              <a:lnSpc>
                <a:spcPct val="110000"/>
              </a:lnSpc>
            </a:pPr>
            <a:r>
              <a:rPr lang="en-US" sz="1267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核心步骤</a:t>
            </a:r>
            <a:endParaRPr lang="en-US" sz="1200"/>
          </a:p>
          <a:p>
            <a:pPr>
              <a:lnSpc>
                <a:spcPct val="125000"/>
              </a:lnSpc>
            </a:pPr>
            <a:r>
              <a:rPr lang="en-US" sz="1107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迭代 N 次，每步选取覆盖增益 Δ(o_j) 最大的位置作为下一无人机部署点，更新已覆盖区域 S_cov；</a:t>
            </a:r>
            <a:endParaRPr lang="en-US" sz="1200"/>
          </a:p>
          <a:p>
            <a:pPr>
              <a:lnSpc>
                <a:spcPct val="125000"/>
              </a:lnSpc>
            </a:pPr>
            <a:r>
              <a:rPr lang="en-US" sz="1107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以贪心解 X_greedy 为基础，按个体预设目标权重引入自适应随机扰动 σ_i，生成多样化初始个体；</a:t>
            </a:r>
            <a:endParaRPr lang="en-US" sz="1200"/>
          </a:p>
          <a:p>
            <a:pPr>
              <a:lnSpc>
                <a:spcPct val="125000"/>
              </a:lnSpc>
            </a:pPr>
            <a:r>
              <a:rPr lang="en-US" sz="1107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覆盖权重越高扰动幅度越小，确保高覆盖权重个体尽量接近贪心最优解。</a:t>
            </a:r>
            <a:endParaRPr lang="en-US" sz="1200"/>
          </a:p>
          <a:p>
            <a:pPr>
              <a:lnSpc>
                <a:spcPct val="70000"/>
              </a:lnSpc>
            </a:pPr>
            <a:endParaRPr lang="en-US" sz="1200"/>
          </a:p>
          <a:p>
            <a:pPr>
              <a:lnSpc>
                <a:spcPct val="120000"/>
              </a:lnSpc>
            </a:pPr>
            <a:r>
              <a:rPr lang="en-US" sz="1107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效果：生成高覆盖率、多样化的初始解，为后续进化提供优质起点。</a:t>
            </a:r>
            <a:endParaRPr lang="en-US" sz="1200"/>
          </a:p>
        </p:txBody>
      </p:sp>
      <p:sp>
        <p:nvSpPr>
          <p:cNvPr id="30" name="Shape 30"/>
          <p:cNvSpPr/>
          <p:nvPr/>
        </p:nvSpPr>
        <p:spPr>
          <a:xfrm>
            <a:off x="6339840" y="2240000"/>
            <a:ext cx="5242560" cy="284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3874B8"/>
            </a:solidFill>
            <a:prstDash val="dash"/>
          </a:ln>
        </p:spPr>
      </p:sp>
      <p:sp>
        <p:nvSpPr>
          <p:cNvPr id="31" name="Shape 31"/>
          <p:cNvSpPr/>
          <p:nvPr/>
        </p:nvSpPr>
        <p:spPr>
          <a:xfrm>
            <a:off x="6400800" y="2288768"/>
            <a:ext cx="5120640" cy="390144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32" name="Text 32"/>
          <p:cNvSpPr/>
          <p:nvPr/>
        </p:nvSpPr>
        <p:spPr>
          <a:xfrm>
            <a:off x="6400800" y="2288768"/>
            <a:ext cx="5120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333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聚集连通初始化策略（Clustering Connectivity Init）</a:t>
            </a:r>
            <a:endParaRPr lang="en-US" sz="1200"/>
          </a:p>
        </p:txBody>
      </p:sp>
      <p:sp>
        <p:nvSpPr>
          <p:cNvPr id="33" name="Text 33"/>
          <p:cNvSpPr/>
          <p:nvPr/>
        </p:nvSpPr>
        <p:spPr>
          <a:xfrm>
            <a:off x="6425184" y="2753216"/>
            <a:ext cx="5071872" cy="227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267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适用条件</a:t>
            </a:r>
            <a:endParaRPr lang="en-US" sz="1200"/>
          </a:p>
          <a:p>
            <a:pPr>
              <a:lnSpc>
                <a:spcPct val="125000"/>
              </a:lnSpc>
            </a:pPr>
            <a:r>
              <a:rPr lang="en-US" sz="1107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连通权重 w_con &gt; w_th 的个体，生成高连通性能的初始解。</a:t>
            </a:r>
            <a:endParaRPr lang="en-US" sz="1200"/>
          </a:p>
          <a:p>
            <a:pPr>
              <a:lnSpc>
                <a:spcPct val="70000"/>
              </a:lnSpc>
            </a:pPr>
            <a:endParaRPr lang="en-US" sz="1200"/>
          </a:p>
          <a:p>
            <a:pPr>
              <a:lnSpc>
                <a:spcPct val="110000"/>
              </a:lnSpc>
            </a:pPr>
            <a:r>
              <a:rPr lang="en-US" sz="1267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核心步骤</a:t>
            </a:r>
            <a:endParaRPr lang="en-US" sz="1200"/>
          </a:p>
          <a:p>
            <a:pPr>
              <a:lnSpc>
                <a:spcPct val="125000"/>
              </a:lnSpc>
            </a:pPr>
            <a:r>
              <a:rPr lang="en-US" sz="1107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在远离干扰禁区处（‖c_i - p‖ ≥ R_J）随机选取安全聚集中心 c_i；</a:t>
            </a:r>
            <a:endParaRPr lang="en-US" sz="1200"/>
          </a:p>
          <a:p>
            <a:pPr>
              <a:lnSpc>
                <a:spcPct val="125000"/>
              </a:lnSpc>
            </a:pPr>
            <a:r>
              <a:rPr lang="en-US" sz="1107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依据个体权重确定聚集半径 r_i = r_min + (r_max - r_min) · w_cov/w_th；</a:t>
            </a:r>
            <a:endParaRPr lang="en-US" sz="1200"/>
          </a:p>
          <a:p>
            <a:pPr>
              <a:lnSpc>
                <a:spcPct val="125000"/>
              </a:lnSpc>
            </a:pPr>
            <a:r>
              <a:rPr lang="en-US" sz="1107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在以 c_i 为圆心、r_i 为半径的圆形区域内均匀随机生成所有无人机位置，构建拓扑密集的高连通初始个体。</a:t>
            </a:r>
            <a:endParaRPr lang="en-US" sz="1200"/>
          </a:p>
          <a:p>
            <a:pPr>
              <a:lnSpc>
                <a:spcPct val="70000"/>
              </a:lnSpc>
            </a:pPr>
            <a:endParaRPr lang="en-US" sz="1200"/>
          </a:p>
          <a:p>
            <a:pPr>
              <a:lnSpc>
                <a:spcPct val="120000"/>
              </a:lnSpc>
            </a:pPr>
            <a:r>
              <a:rPr lang="en-US" sz="1107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效果：生成网络拓扑密集、连通度高的初始解，增强种群多样性。</a:t>
            </a:r>
            <a:endParaRPr lang="en-US" sz="1200"/>
          </a:p>
        </p:txBody>
      </p:sp>
      <p:sp>
        <p:nvSpPr>
          <p:cNvPr id="101" name="Shape 101"/>
          <p:cNvSpPr/>
          <p:nvPr/>
        </p:nvSpPr>
        <p:spPr>
          <a:xfrm>
            <a:off x="609600" y="5486400"/>
            <a:ext cx="10972800" cy="609600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102" name="Text 102"/>
          <p:cNvSpPr/>
          <p:nvPr/>
        </p:nvSpPr>
        <p:spPr>
          <a:xfrm>
            <a:off x="792480" y="5486400"/>
            <a:ext cx="10607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CGCI 通过权重向量动态切换两种初始化策略，构建兼具高目标值与多样性的初始种群，有效克服传统随机初始化在高维复杂问题中的质量不足问题，为多目标进化提供优质起点。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183A6A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0960"/>
            <a:ext cx="853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600" b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MPG-NSGA-II 通信保持区域覆盖算法</a:t>
            </a:r>
            <a:endParaRPr lang="en-US" sz="1600"/>
          </a:p>
        </p:txBody>
      </p:sp>
      <p:pic>
        <p:nvPicPr>
          <p:cNvPr id="4" name="Image 0" descr="/home/claude/sjtu_logo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53600" y="121920"/>
            <a:ext cx="1950720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16640" y="6431280"/>
            <a:ext cx="60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867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/>
          </a:p>
        </p:txBody>
      </p:sp>
      <p:sp>
        <p:nvSpPr>
          <p:cNvPr id="6" name="Text 3"/>
          <p:cNvSpPr/>
          <p:nvPr/>
        </p:nvSpPr>
        <p:spPr>
          <a:xfrm>
            <a:off x="609600" y="780288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局部引导变异算子：VCGO 与 DCGO</a:t>
            </a:r>
            <a:endParaRPr lang="en-US" sz="1867"/>
          </a:p>
        </p:txBody>
      </p:sp>
      <p:sp>
        <p:nvSpPr>
          <p:cNvPr id="7" name="Shape 4"/>
          <p:cNvSpPr/>
          <p:nvPr/>
        </p:nvSpPr>
        <p:spPr>
          <a:xfrm>
            <a:off x="609600" y="1292352"/>
            <a:ext cx="10972800" cy="0"/>
          </a:xfrm>
          <a:prstGeom prst="line">
            <a:avLst/>
          </a:prstGeom>
          <a:noFill/>
          <a:ln w="25400">
            <a:solidFill>
              <a:srgbClr val="183A6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9600" y="1584960"/>
            <a:ext cx="5242560" cy="3169920"/>
          </a:xfrm>
          <a:prstGeom prst="rect">
            <a:avLst/>
          </a:prstGeom>
          <a:solidFill>
            <a:srgbClr val="FFFFFF"/>
          </a:solidFill>
          <a:ln w="15875">
            <a:solidFill>
              <a:srgbClr val="3874B8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670560" y="1633728"/>
            <a:ext cx="5120640" cy="390144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10" name="Text 7"/>
          <p:cNvSpPr/>
          <p:nvPr/>
        </p:nvSpPr>
        <p:spPr>
          <a:xfrm>
            <a:off x="670560" y="1633728"/>
            <a:ext cx="5120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VCGO：Voronoi 覆盖引导算子</a:t>
            </a:r>
            <a:endParaRPr lang="en-US" sz="1333"/>
          </a:p>
        </p:txBody>
      </p:sp>
      <p:sp>
        <p:nvSpPr>
          <p:cNvPr id="11" name="Text 8"/>
          <p:cNvSpPr/>
          <p:nvPr/>
        </p:nvSpPr>
        <p:spPr>
          <a:xfrm>
            <a:off x="755904" y="2121408"/>
            <a:ext cx="4949952" cy="2535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20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为每架无人机构造视距 Voronoi 责任区域（排除建筑遮挡背面），计算几何质心 ci，以 oi→ci 方向为变异向量，驱使无人机主动向未覆盖区域中心移动，高效消除覆盖盲区。</a:t>
            </a:r>
            <a:endParaRPr lang="en-US" sz="1200"/>
          </a:p>
        </p:txBody>
      </p:sp>
      <p:sp>
        <p:nvSpPr>
          <p:cNvPr id="12" name="Shape 9"/>
          <p:cNvSpPr/>
          <p:nvPr/>
        </p:nvSpPr>
        <p:spPr>
          <a:xfrm>
            <a:off x="6339840" y="1584960"/>
            <a:ext cx="5242560" cy="3169920"/>
          </a:xfrm>
          <a:prstGeom prst="rect">
            <a:avLst/>
          </a:prstGeom>
          <a:solidFill>
            <a:srgbClr val="FFFFFF"/>
          </a:solidFill>
          <a:ln w="15875">
            <a:solidFill>
              <a:srgbClr val="3874B8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6400800" y="1633728"/>
            <a:ext cx="5120640" cy="390144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0" y="1633728"/>
            <a:ext cx="5120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DCGO：节点度连通引导算子</a:t>
            </a:r>
            <a:endParaRPr lang="en-US" sz="1333"/>
          </a:p>
        </p:txBody>
      </p:sp>
      <p:sp>
        <p:nvSpPr>
          <p:cNvPr id="15" name="Text 12"/>
          <p:cNvSpPr/>
          <p:nvPr/>
        </p:nvSpPr>
        <p:spPr>
          <a:xfrm>
            <a:off x="6486144" y="2121408"/>
            <a:ext cx="4949952" cy="2535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20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按节点度从低到高排序，优先对弱连通节点执行定向变异：若存在 SINR 接近阈值的非邻接节点 uj，则变异方向指向 uj（修复链路）；否则指向集群虚拟中心（增强整体连通性）。</a:t>
            </a:r>
            <a:endParaRPr lang="en-US" sz="1200"/>
          </a:p>
        </p:txBody>
      </p:sp>
      <p:sp>
        <p:nvSpPr>
          <p:cNvPr id="16" name="Shape 13"/>
          <p:cNvSpPr/>
          <p:nvPr/>
        </p:nvSpPr>
        <p:spPr>
          <a:xfrm>
            <a:off x="609600" y="5364480"/>
            <a:ext cx="10972800" cy="670560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5364480"/>
            <a:ext cx="107289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两种算子结合领域先验知识，相较于随机多项式变异，大幅加快种群向真实帕累托前沿进化的速度与搜索效果。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183A6A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0960"/>
            <a:ext cx="853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600" b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MPG-NSGA-II 通信保持区域覆盖算法</a:t>
            </a:r>
            <a:endParaRPr lang="en-US" sz="1600"/>
          </a:p>
        </p:txBody>
      </p:sp>
      <p:pic>
        <p:nvPicPr>
          <p:cNvPr id="4" name="Image 0" descr="/home/claude/sjtu_logo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53600" y="121920"/>
            <a:ext cx="1950720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16640" y="6431280"/>
            <a:ext cx="60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867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/>
          </a:p>
        </p:txBody>
      </p:sp>
      <p:sp>
        <p:nvSpPr>
          <p:cNvPr id="6" name="Text 3"/>
          <p:cNvSpPr/>
          <p:nvPr/>
        </p:nvSpPr>
        <p:spPr>
          <a:xfrm>
            <a:off x="609600" y="780288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多种群精英迁移机制</a:t>
            </a:r>
            <a:endParaRPr lang="en-US" sz="1867"/>
          </a:p>
        </p:txBody>
      </p:sp>
      <p:sp>
        <p:nvSpPr>
          <p:cNvPr id="7" name="Shape 4"/>
          <p:cNvSpPr/>
          <p:nvPr/>
        </p:nvSpPr>
        <p:spPr>
          <a:xfrm>
            <a:off x="609600" y="1292352"/>
            <a:ext cx="10972800" cy="0"/>
          </a:xfrm>
          <a:prstGeom prst="line">
            <a:avLst/>
          </a:prstGeom>
          <a:noFill/>
          <a:ln w="25400">
            <a:solidFill>
              <a:srgbClr val="183A6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9600" y="1584960"/>
            <a:ext cx="347472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3874B8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670560" y="1633728"/>
            <a:ext cx="3352800" cy="390144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10" name="Text 7"/>
          <p:cNvSpPr/>
          <p:nvPr/>
        </p:nvSpPr>
        <p:spPr>
          <a:xfrm>
            <a:off x="670560" y="1633728"/>
            <a:ext cx="335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主导种群 P₁（n₁=120）</a:t>
            </a:r>
            <a:endParaRPr lang="en-US" sz="1333"/>
          </a:p>
        </p:txBody>
      </p:sp>
      <p:sp>
        <p:nvSpPr>
          <p:cNvPr id="11" name="Text 8"/>
          <p:cNvSpPr/>
          <p:nvPr/>
        </p:nvSpPr>
        <p:spPr>
          <a:xfrm>
            <a:off x="755904" y="2121408"/>
            <a:ext cx="3182112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20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采用标准多项式变异，维持种群遗传多样性与全局探索能力</a:t>
            </a:r>
            <a:endParaRPr lang="en-US" sz="1200"/>
          </a:p>
        </p:txBody>
      </p:sp>
      <p:sp>
        <p:nvSpPr>
          <p:cNvPr id="12" name="Shape 9"/>
          <p:cNvSpPr/>
          <p:nvPr/>
        </p:nvSpPr>
        <p:spPr>
          <a:xfrm>
            <a:off x="4352544" y="1584960"/>
            <a:ext cx="347472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3874B8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4413504" y="1633728"/>
            <a:ext cx="3352800" cy="390144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14" name="Text 11"/>
          <p:cNvSpPr/>
          <p:nvPr/>
        </p:nvSpPr>
        <p:spPr>
          <a:xfrm>
            <a:off x="4413504" y="1633728"/>
            <a:ext cx="335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覆盖导向 P₂（n₂=40）</a:t>
            </a:r>
            <a:endParaRPr lang="en-US" sz="1333"/>
          </a:p>
        </p:txBody>
      </p:sp>
      <p:sp>
        <p:nvSpPr>
          <p:cNvPr id="15" name="Text 12"/>
          <p:cNvSpPr/>
          <p:nvPr/>
        </p:nvSpPr>
        <p:spPr>
          <a:xfrm>
            <a:off x="4498848" y="2121408"/>
            <a:ext cx="3182112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20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 VCGO 算子，专注于覆盖目标的局部精细化搜索</a:t>
            </a:r>
            <a:endParaRPr lang="en-US" sz="1200"/>
          </a:p>
        </p:txBody>
      </p:sp>
      <p:sp>
        <p:nvSpPr>
          <p:cNvPr id="16" name="Shape 13"/>
          <p:cNvSpPr/>
          <p:nvPr/>
        </p:nvSpPr>
        <p:spPr>
          <a:xfrm>
            <a:off x="8095488" y="1584960"/>
            <a:ext cx="347472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3874B8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8156448" y="1633728"/>
            <a:ext cx="3352800" cy="390144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18" name="Text 15"/>
          <p:cNvSpPr/>
          <p:nvPr/>
        </p:nvSpPr>
        <p:spPr>
          <a:xfrm>
            <a:off x="8156448" y="1633728"/>
            <a:ext cx="335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连通导向 P₃（n₃=40）</a:t>
            </a:r>
            <a:endParaRPr lang="en-US" sz="1333"/>
          </a:p>
        </p:txBody>
      </p:sp>
      <p:sp>
        <p:nvSpPr>
          <p:cNvPr id="19" name="Text 16"/>
          <p:cNvSpPr/>
          <p:nvPr/>
        </p:nvSpPr>
        <p:spPr>
          <a:xfrm>
            <a:off x="8241792" y="2121408"/>
            <a:ext cx="3182112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20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 DCGO 算子，专注于网络连通性目标的定向优化</a:t>
            </a:r>
            <a:endParaRPr lang="en-US" sz="1200"/>
          </a:p>
        </p:txBody>
      </p:sp>
      <p:sp>
        <p:nvSpPr>
          <p:cNvPr id="20" name="Shape 17"/>
          <p:cNvSpPr/>
          <p:nvPr/>
        </p:nvSpPr>
        <p:spPr>
          <a:xfrm>
            <a:off x="609600" y="3962400"/>
            <a:ext cx="10972800" cy="2255520"/>
          </a:xfrm>
          <a:prstGeom prst="rect">
            <a:avLst/>
          </a:prstGeom>
          <a:solidFill>
            <a:srgbClr val="FFFFFF"/>
          </a:solidFill>
          <a:ln w="15875">
            <a:solidFill>
              <a:srgbClr val="3874B8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670560" y="4011168"/>
            <a:ext cx="10850880" cy="390144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22" name="Text 19"/>
          <p:cNvSpPr/>
          <p:nvPr/>
        </p:nvSpPr>
        <p:spPr>
          <a:xfrm>
            <a:off x="670560" y="4011168"/>
            <a:ext cx="108508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迁移规则（迁移周期 T=40 代）</a:t>
            </a:r>
            <a:endParaRPr lang="en-US" sz="1333"/>
          </a:p>
        </p:txBody>
      </p:sp>
      <p:sp>
        <p:nvSpPr>
          <p:cNvPr id="23" name="Text 20"/>
          <p:cNvSpPr/>
          <p:nvPr/>
        </p:nvSpPr>
        <p:spPr>
          <a:xfrm>
            <a:off x="755904" y="4498848"/>
            <a:ext cx="10680192" cy="1621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ct val="115000"/>
              </a:lnSpc>
              <a:buSzPct val="100000"/>
              <a:buChar char="•"/>
            </a:pPr>
            <a:r>
              <a:rPr lang="en-US" sz="120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P₂、P₃ 精英个体 → P₁（提升主种群质量与多样性）</a:t>
            </a:r>
            <a:endParaRPr lang="en-US" sz="1200"/>
          </a:p>
          <a:p>
            <a:pPr marL="457189" indent="-457189">
              <a:lnSpc>
                <a:spcPct val="115000"/>
              </a:lnSpc>
              <a:buSzPct val="100000"/>
              <a:buChar char="•"/>
            </a:pPr>
            <a:r>
              <a:rPr lang="en-US" sz="120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P₁ 第一前沿随机个体 → P₂、P₃（防止子种群局部最优）</a:t>
            </a:r>
            <a:endParaRPr lang="en-US" sz="1200"/>
          </a:p>
          <a:p>
            <a:pPr marL="457189" indent="-457189">
              <a:lnSpc>
                <a:spcPct val="115000"/>
              </a:lnSpc>
              <a:buSzPct val="100000"/>
              <a:buChar char="•"/>
            </a:pPr>
            <a:r>
              <a:rPr lang="en-US" sz="120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P₂ 覆盖最优个体 ↔ P₃ 连通最优个体（互补进化）</a:t>
            </a:r>
            <a:endParaRPr lang="en-US" sz="1200"/>
          </a:p>
          <a:p>
            <a:pPr>
              <a:lnSpc>
                <a:spcPct val="115000"/>
              </a:lnSpc>
            </a:pPr>
            <a:r>
              <a:rPr lang="en-US" sz="1200" i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迁移比例 r = 0.1–0.2，按非支配排序与拥挤度距离综合排序选取精英。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425</Words>
  <Application>Microsoft Office PowerPoint</Application>
  <PresentationFormat>宽屏</PresentationFormat>
  <Paragraphs>63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运璐 何</dc:creator>
  <cp:lastModifiedBy>运璐 何</cp:lastModifiedBy>
  <cp:revision>2</cp:revision>
  <dcterms:created xsi:type="dcterms:W3CDTF">2026-04-30T08:55:32Z</dcterms:created>
  <dcterms:modified xsi:type="dcterms:W3CDTF">2026-04-30T11:45:14Z</dcterms:modified>
</cp:coreProperties>
</file>