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2" r:id="rId2"/>
    <p:sldId id="263" r:id="rId3"/>
    <p:sldId id="278" r:id="rId4"/>
    <p:sldId id="264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26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AECB26-16E4-49BE-8A5A-908C12DA8066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872F1-1F45-4F42-A0C5-CBE044C0B0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721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07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D839A7-B2E3-462A-A566-E572CD5FD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DA3E71-4283-4404-ABBF-4FABDD7C8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A22E26-B533-408B-B8EB-39B4CABA2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2B88-D914-44B3-856B-4BF33BCB4C2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156B0B-545F-48FA-98AF-1A9E55C74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0A441E-72FC-49E0-AA36-7319B43B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C4C1-2418-4D33-947F-B031A9647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387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CDD32C-78F1-457A-8048-46B2C897B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6CD97-320C-4157-B9C6-F38610DB9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F6A4C0-B016-4097-B26C-B5A426339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2B88-D914-44B3-856B-4BF33BCB4C2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417720-B095-480F-8AC4-579CDEF9E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F324E8-EFFE-4EF8-9607-60BB4618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C4C1-2418-4D33-947F-B031A9647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183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70608-2551-496D-B625-6C6A32CE6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23C128-2137-4FA4-9EAE-0E52964F8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314CF2-8CD7-4C2F-B310-E647FEFD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2B88-D914-44B3-856B-4BF33BCB4C2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9EE4CF-FC61-4794-A42B-6ABD7E22F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29BCCE-FB8C-4AAC-98E7-C0FDF81DC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C4C1-2418-4D33-947F-B031A9647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451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ED083-ECBB-40EC-91EF-4B6A96C4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CF3982-AD53-4462-9037-540427ECA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3812C1-D04B-403A-B382-E1CDD3271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AF7239-24AA-4C94-96DB-85439EE6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2B88-D914-44B3-856B-4BF33BCB4C2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BA98B8-2D3B-4B03-9B58-FBF187696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168D3A-0D7E-4BC4-BDEC-3E28E5A8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C4C1-2418-4D33-947F-B031A9647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183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1A0A8-2074-440E-9AAE-F257F90E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754984-E428-475A-BA13-54BE7D185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0BAC47-D578-499C-8212-5479E8B58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AB9B0A-9A33-4AD8-8CE2-CD7663234D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D79BFA-E989-4C9A-8310-6FF64A247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533CF1-63FD-4FE7-9DB6-32E9492B5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2B88-D914-44B3-856B-4BF33BCB4C2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E5AFAB-7E66-4655-A9DF-9DFB28CD8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AA9D91A-B458-4334-99B2-FD6E8B149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C4C1-2418-4D33-947F-B031A9647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201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8FB2B-639D-49FD-BE9F-02E46EFDB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4C4E0E-5901-4951-8E9E-57A107A37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2B88-D914-44B3-856B-4BF33BCB4C2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397B40-BD21-4401-AA50-8384AAE5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B3C8C17-D310-405E-B1C1-EB825EFE9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C4C1-2418-4D33-947F-B031A9647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593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6E1F29C-218B-425D-997B-BDC921DCD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2B88-D914-44B3-856B-4BF33BCB4C2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0CD76C-EB6E-4618-B092-BF3CFB082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2761B-8CBE-439A-A55B-AE48D78D5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C4C1-2418-4D33-947F-B031A9647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149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2FB9A-5CA1-4AA9-9D9D-EB5AF9D6A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67AB30-2125-48A3-BC0D-F7FF73B97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44A2C9-7CB9-4E71-A5DA-C94C7847E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468428-886D-4D47-AC82-FFA880A64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2B88-D914-44B3-856B-4BF33BCB4C2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F6BD81-80E8-42EC-BEE0-38B6C7A73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D5A03D-6CB2-4169-9D5B-FB19388E0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C4C1-2418-4D33-947F-B031A9647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954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82BE8-3CDE-4F5C-A3D3-1253870D9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205B75-1C25-4391-9BAE-56A58B720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02824F-47B8-4AC1-9A52-5346FADF5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08DCFF-3266-49D4-874A-1A32E3464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2B88-D914-44B3-856B-4BF33BCB4C2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813940-FBF2-446E-9E53-307A56DB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44E6CD-7A3B-4AD5-A10A-A75200B37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C4C1-2418-4D33-947F-B031A9647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745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8FA65-3B95-4AA4-B285-6D264DFB4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3BEC99-4365-4F43-B035-0129EB2BD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385170-B2C9-45FF-A818-735250419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2B88-D914-44B3-856B-4BF33BCB4C2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30E02C-921A-46E4-A9D4-45E8B90FB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81841D-0DCB-4312-A4BB-723CC371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C4C1-2418-4D33-947F-B031A9647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39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C4F1E6E-6FDC-407F-BA93-6D39D2863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2CF4B52-DF85-4851-93E9-6BA63E381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9278C8-240C-44AE-97E2-1B5DA61D0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22B88-D914-44B3-856B-4BF33BCB4C2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883BFF-E0C8-4B5E-87CF-FA15D4C80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457BA5-921A-4F1B-A03A-BE1008329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AC4C1-2418-4D33-947F-B031A9647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478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973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446813-3C43-4A9A-8267-F03D6352D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16FE2D-3398-4882-8396-63C1D5A6F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CF78C8-7C61-41B8-98FE-454A1F9B1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22B88-D914-44B3-856B-4BF33BCB4C2B}" type="datetimeFigureOut">
              <a:rPr lang="zh-CN" altLang="en-US" smtClean="0"/>
              <a:t>2026/4/29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F3A15F-4153-4538-AE00-D063AAF2A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0CB6CF-1B93-47E1-97CB-5D860E770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EAC4C1-2418-4D33-947F-B031A96474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248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183A6A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096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60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C-RRT*-APF 通信保持路径规划算法</a:t>
            </a:r>
            <a:endParaRPr lang="en-US" sz="1600"/>
          </a:p>
        </p:txBody>
      </p:sp>
      <p:pic>
        <p:nvPicPr>
          <p:cNvPr id="4" name="Image 0" descr="/home/claude/sjtu_logo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53600" y="121920"/>
            <a:ext cx="1950720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16640" y="6431280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867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609600" y="780288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186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</a:t>
            </a:r>
            <a:r>
              <a:rPr lang="en-US" sz="186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框架与创新点</a:t>
            </a:r>
            <a:endParaRPr lang="en-US" sz="1867"/>
          </a:p>
        </p:txBody>
      </p:sp>
      <p:sp>
        <p:nvSpPr>
          <p:cNvPr id="7" name="Shape 4"/>
          <p:cNvSpPr/>
          <p:nvPr/>
        </p:nvSpPr>
        <p:spPr>
          <a:xfrm>
            <a:off x="609600" y="1225725"/>
            <a:ext cx="10972800" cy="0"/>
          </a:xfrm>
          <a:prstGeom prst="line">
            <a:avLst/>
          </a:prstGeom>
          <a:noFill/>
          <a:ln w="25400">
            <a:solidFill>
              <a:srgbClr val="183A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8497" y="5335376"/>
            <a:ext cx="487680" cy="487680"/>
          </a:xfrm>
          <a:prstGeom prst="ellipse">
            <a:avLst/>
          </a:prstGeom>
          <a:solidFill>
            <a:srgbClr val="183A6A"/>
          </a:solidFill>
          <a:ln/>
        </p:spPr>
      </p:sp>
      <p:sp>
        <p:nvSpPr>
          <p:cNvPr id="9" name="Text 6"/>
          <p:cNvSpPr/>
          <p:nvPr/>
        </p:nvSpPr>
        <p:spPr>
          <a:xfrm>
            <a:off x="447220" y="5320861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67"/>
          </a:p>
        </p:txBody>
      </p:sp>
      <p:sp>
        <p:nvSpPr>
          <p:cNvPr id="10" name="Shape 7"/>
          <p:cNvSpPr/>
          <p:nvPr/>
        </p:nvSpPr>
        <p:spPr>
          <a:xfrm>
            <a:off x="1110516" y="4889207"/>
            <a:ext cx="5642883" cy="1366453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1171475" y="4937975"/>
            <a:ext cx="5512356" cy="291511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2" name="Text 9"/>
          <p:cNvSpPr/>
          <p:nvPr/>
        </p:nvSpPr>
        <p:spPr>
          <a:xfrm>
            <a:off x="2252791" y="4879032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分层分簇预处理</a:t>
            </a:r>
            <a:endParaRPr lang="en-US" sz="1600"/>
          </a:p>
        </p:txBody>
      </p:sp>
      <p:sp>
        <p:nvSpPr>
          <p:cNvPr id="13" name="Text 10"/>
          <p:cNvSpPr/>
          <p:nvPr/>
        </p:nvSpPr>
        <p:spPr>
          <a:xfrm>
            <a:off x="1256820" y="5425655"/>
            <a:ext cx="5323312" cy="612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将大规模集群划分为若干簇（每簇≤10架），从规模上抑制局部势场叠加复杂度，为分层规划提供结构基础</a:t>
            </a:r>
            <a:endParaRPr lang="en-US" sz="1200"/>
          </a:p>
        </p:txBody>
      </p:sp>
      <p:sp>
        <p:nvSpPr>
          <p:cNvPr id="14" name="Shape 11"/>
          <p:cNvSpPr/>
          <p:nvPr/>
        </p:nvSpPr>
        <p:spPr>
          <a:xfrm>
            <a:off x="9162768" y="1284704"/>
            <a:ext cx="487680" cy="487680"/>
          </a:xfrm>
          <a:prstGeom prst="ellipse">
            <a:avLst/>
          </a:prstGeom>
          <a:solidFill>
            <a:srgbClr val="183A6A"/>
          </a:solidFill>
          <a:ln/>
        </p:spPr>
      </p:sp>
      <p:sp>
        <p:nvSpPr>
          <p:cNvPr id="15" name="Text 12"/>
          <p:cNvSpPr/>
          <p:nvPr/>
        </p:nvSpPr>
        <p:spPr>
          <a:xfrm>
            <a:off x="9162768" y="1284704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67"/>
          </a:p>
        </p:txBody>
      </p:sp>
      <p:sp>
        <p:nvSpPr>
          <p:cNvPr id="16" name="Shape 13"/>
          <p:cNvSpPr/>
          <p:nvPr/>
        </p:nvSpPr>
        <p:spPr>
          <a:xfrm>
            <a:off x="7669248" y="1833927"/>
            <a:ext cx="347472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7730208" y="1882695"/>
            <a:ext cx="335280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8" name="Text 15"/>
          <p:cNvSpPr/>
          <p:nvPr/>
        </p:nvSpPr>
        <p:spPr>
          <a:xfrm>
            <a:off x="7730208" y="1882695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全局层 C-RRT* 引导规划</a:t>
            </a:r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7815552" y="2370375"/>
            <a:ext cx="3182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RRT*为各簇独立搜索可行全局路径，引入簇间距离约束机制，在全局层保障不同簇空间协调，为跨簇通信连通奠定拓扑基础</a:t>
            </a:r>
            <a:endParaRPr lang="en-US" sz="1200"/>
          </a:p>
        </p:txBody>
      </p:sp>
      <p:sp>
        <p:nvSpPr>
          <p:cNvPr id="20" name="Shape 17"/>
          <p:cNvSpPr/>
          <p:nvPr/>
        </p:nvSpPr>
        <p:spPr>
          <a:xfrm>
            <a:off x="9211807" y="3807883"/>
            <a:ext cx="487680" cy="487680"/>
          </a:xfrm>
          <a:prstGeom prst="ellipse">
            <a:avLst/>
          </a:prstGeom>
          <a:solidFill>
            <a:srgbClr val="183A6A"/>
          </a:solidFill>
          <a:ln/>
        </p:spPr>
      </p:sp>
      <p:sp>
        <p:nvSpPr>
          <p:cNvPr id="21" name="Text 18"/>
          <p:cNvSpPr/>
          <p:nvPr/>
        </p:nvSpPr>
        <p:spPr>
          <a:xfrm>
            <a:off x="9211807" y="3807883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67"/>
          </a:p>
        </p:txBody>
      </p:sp>
      <p:sp>
        <p:nvSpPr>
          <p:cNvPr id="22" name="Shape 19"/>
          <p:cNvSpPr/>
          <p:nvPr/>
        </p:nvSpPr>
        <p:spPr>
          <a:xfrm>
            <a:off x="7718287" y="4366693"/>
            <a:ext cx="347472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7779247" y="4415461"/>
            <a:ext cx="335280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4" name="Text 21"/>
          <p:cNvSpPr/>
          <p:nvPr/>
        </p:nvSpPr>
        <p:spPr>
          <a:xfrm>
            <a:off x="7779247" y="4415461"/>
            <a:ext cx="3352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局部层 MBST-APF 实时规划</a:t>
            </a:r>
            <a:endParaRPr lang="en-US" sz="1600"/>
          </a:p>
        </p:txBody>
      </p:sp>
      <p:sp>
        <p:nvSpPr>
          <p:cNvPr id="25" name="Text 22"/>
          <p:cNvSpPr/>
          <p:nvPr/>
        </p:nvSpPr>
        <p:spPr>
          <a:xfrm>
            <a:off x="7864591" y="4903141"/>
            <a:ext cx="318211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基于最大SINR瓶颈生成树构建通信主干，仅对关键 N-1 条链路构建势场约束，有效降低多势场叠加复杂度</a:t>
            </a:r>
            <a:endParaRPr lang="en-US" sz="1200"/>
          </a:p>
        </p:txBody>
      </p:sp>
      <p:pic>
        <p:nvPicPr>
          <p:cNvPr id="26" name="Image 1" descr="/home/claude/img_s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601" y="1225726"/>
            <a:ext cx="5887799" cy="3488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183A6A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096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60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C-RRT*-APF 通信保持路径规划算法</a:t>
            </a:r>
            <a:endParaRPr lang="en-US" sz="1600"/>
          </a:p>
        </p:txBody>
      </p:sp>
      <p:pic>
        <p:nvPicPr>
          <p:cNvPr id="4" name="Image 0" descr="/home/claude/sjtu_logo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53600" y="121920"/>
            <a:ext cx="1950720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16640" y="6431280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867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609600" y="780288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全局规划层：单簇搜索与簇间距离约束</a:t>
            </a:r>
            <a:endParaRPr lang="en-US" sz="1867"/>
          </a:p>
        </p:txBody>
      </p:sp>
      <p:sp>
        <p:nvSpPr>
          <p:cNvPr id="7" name="Shape 4"/>
          <p:cNvSpPr/>
          <p:nvPr/>
        </p:nvSpPr>
        <p:spPr>
          <a:xfrm>
            <a:off x="609600" y="1190749"/>
            <a:ext cx="10972800" cy="0"/>
          </a:xfrm>
          <a:prstGeom prst="line">
            <a:avLst/>
          </a:prstGeom>
          <a:noFill/>
          <a:ln w="25400">
            <a:solidFill>
              <a:srgbClr val="183A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584960"/>
            <a:ext cx="524256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70560" y="1633728"/>
            <a:ext cx="512064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0" name="Text 7"/>
          <p:cNvSpPr/>
          <p:nvPr/>
        </p:nvSpPr>
        <p:spPr>
          <a:xfrm>
            <a:off x="670560" y="1633728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图示：单簇 RRT* 路径搜索四步过程</a:t>
            </a:r>
            <a:endParaRPr lang="en-US" sz="1333"/>
          </a:p>
        </p:txBody>
      </p:sp>
      <p:sp>
        <p:nvSpPr>
          <p:cNvPr id="11" name="Text 8"/>
          <p:cNvSpPr/>
          <p:nvPr/>
        </p:nvSpPr>
        <p:spPr>
          <a:xfrm>
            <a:off x="755904" y="2121408"/>
            <a:ext cx="494995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(a) 采样扩展  (b) 父节点重选  (c) 邻域重连  (d) 回溯获取路径</a:t>
            </a:r>
            <a:endParaRPr lang="en-US" sz="1200"/>
          </a:p>
        </p:txBody>
      </p:sp>
      <p:sp>
        <p:nvSpPr>
          <p:cNvPr id="12" name="Shape 9"/>
          <p:cNvSpPr/>
          <p:nvPr/>
        </p:nvSpPr>
        <p:spPr>
          <a:xfrm>
            <a:off x="6339840" y="1584960"/>
            <a:ext cx="5242560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00800" y="1633728"/>
            <a:ext cx="512064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1633728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簇间距离约束机制</a:t>
            </a:r>
            <a:endParaRPr lang="en-US" sz="1333"/>
          </a:p>
        </p:txBody>
      </p:sp>
      <p:sp>
        <p:nvSpPr>
          <p:cNvPr id="15" name="Text 12"/>
          <p:cNvSpPr/>
          <p:nvPr/>
        </p:nvSpPr>
        <p:spPr>
          <a:xfrm>
            <a:off x="6486144" y="2121408"/>
            <a:ext cx="4949952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13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下界约束：L = αL · √K · dsafe（防止簇间拥挤碰撞）</a:t>
            </a:r>
            <a:endParaRPr lang="en-US" sz="1200"/>
          </a:p>
          <a:p>
            <a:pPr>
              <a:lnSpc>
                <a:spcPct val="115000"/>
              </a:lnSpc>
            </a:pPr>
            <a:r>
              <a:rPr lang="en-US" sz="113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上界约束：U = αU · 2Jr（防止干扰区两侧分裂）</a:t>
            </a:r>
            <a:endParaRPr lang="en-US" sz="1200"/>
          </a:p>
          <a:p>
            <a:pPr>
              <a:lnSpc>
                <a:spcPct val="115000"/>
              </a:lnSpc>
            </a:pPr>
            <a:r>
              <a:rPr lang="en-US" sz="113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Fréchet 距离评估路径间距是否满足区间 [L, U]，不满足则触发重规划。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609600" y="5486400"/>
            <a:ext cx="10972800" cy="60960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7" name="Text 14"/>
          <p:cNvSpPr/>
          <p:nvPr/>
        </p:nvSpPr>
        <p:spPr>
          <a:xfrm>
            <a:off x="792480" y="5486400"/>
            <a:ext cx="10607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选择性更新策略避免全局重规划的计算负担，仅针对不满足约束的簇进行路径重规划。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183A6A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096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60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C-RRT*-APF 通信保持路径规划算法</a:t>
            </a:r>
            <a:endParaRPr lang="en-US" sz="1600"/>
          </a:p>
        </p:txBody>
      </p:sp>
      <p:sp>
        <p:nvSpPr>
          <p:cNvPr id="6" name="Text 3"/>
          <p:cNvSpPr/>
          <p:nvPr/>
        </p:nvSpPr>
        <p:spPr>
          <a:xfrm>
            <a:off x="609600" y="780288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全局规划层：感知驱动的动态重规划机制</a:t>
            </a:r>
            <a:endParaRPr lang="en-US" sz="1867"/>
          </a:p>
        </p:txBody>
      </p:sp>
      <p:sp>
        <p:nvSpPr>
          <p:cNvPr id="7" name="Shape 4"/>
          <p:cNvSpPr/>
          <p:nvPr/>
        </p:nvSpPr>
        <p:spPr>
          <a:xfrm>
            <a:off x="609600" y="1198007"/>
            <a:ext cx="10972800" cy="0"/>
          </a:xfrm>
          <a:prstGeom prst="line">
            <a:avLst/>
          </a:prstGeom>
          <a:noFill/>
          <a:ln w="25400">
            <a:solidFill>
              <a:srgbClr val="183A6A"/>
            </a:solidFill>
            <a:prstDash val="solid"/>
          </a:ln>
        </p:spPr>
      </p:sp>
      <p:pic>
        <p:nvPicPr>
          <p:cNvPr id="4" name="Image 0" descr="/home/claude/sjtu_logo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53600" y="121920"/>
            <a:ext cx="1950720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16640" y="6431280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867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/>
          </a:p>
        </p:txBody>
      </p:sp>
      <p:sp>
        <p:nvSpPr>
          <p:cNvPr id="10" name="Shape 10"/>
          <p:cNvSpPr/>
          <p:nvPr/>
        </p:nvSpPr>
        <p:spPr>
          <a:xfrm>
            <a:off x="609600" y="1400000"/>
            <a:ext cx="524256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11" name="Shape 11"/>
          <p:cNvSpPr/>
          <p:nvPr/>
        </p:nvSpPr>
        <p:spPr>
          <a:xfrm>
            <a:off x="670560" y="1448768"/>
            <a:ext cx="512064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2" name="Text 12"/>
          <p:cNvSpPr/>
          <p:nvPr/>
        </p:nvSpPr>
        <p:spPr>
          <a:xfrm>
            <a:off x="670560" y="1448768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机制概述与设计原则</a:t>
            </a:r>
            <a:endParaRPr lang="en-US" sz="1200"/>
          </a:p>
        </p:txBody>
      </p:sp>
      <p:sp>
        <p:nvSpPr>
          <p:cNvPr id="13" name="Text 13"/>
          <p:cNvSpPr/>
          <p:nvPr/>
        </p:nvSpPr>
        <p:spPr>
          <a:xfrm>
            <a:off x="694944" y="1913216"/>
            <a:ext cx="5071872" cy="309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核心思想</a:t>
            </a:r>
            <a:endParaRPr lang="en-US" sz="1200"/>
          </a:p>
          <a:p>
            <a:pPr>
              <a:lnSpc>
                <a:spcPct val="130000"/>
              </a:lnSpc>
            </a:pPr>
            <a:r>
              <a:rPr lang="en-US" sz="113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仅依靠初始静态规划难以应对城市未知环境；全量即时重规划会引发簇间协同震荡。感知驱动机制利用实时感知更新地图，通过增量式重规划实现路径动态更新。</a:t>
            </a:r>
            <a:endParaRPr lang="en-US" sz="1200"/>
          </a:p>
          <a:p>
            <a:pPr>
              <a:lnSpc>
                <a:spcPct val="80000"/>
              </a:lnSpc>
            </a:pPr>
            <a:endParaRPr lang="en-US" sz="1200"/>
          </a:p>
          <a:p>
            <a:pPr>
              <a:lnSpc>
                <a:spcPct val="120000"/>
              </a:lnSpc>
            </a:pPr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关键设计原则</a:t>
            </a:r>
            <a:endParaRPr lang="en-US" sz="1200"/>
          </a:p>
          <a:p>
            <a:pPr>
              <a:lnSpc>
                <a:spcPct val="130000"/>
              </a:lnSpc>
            </a:pPr>
            <a:r>
              <a:rPr lang="en-US" sz="113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选择性更新：簇间距离约束仅以判定结果反馈至簇内规划层，仅对违反约束或路径失效的簇触发局部重规划，其余簇路径保持不变，有效维持不同簇之间的协同稳定性。</a:t>
            </a:r>
            <a:endParaRPr lang="en-US" sz="1200"/>
          </a:p>
        </p:txBody>
      </p:sp>
      <p:sp>
        <p:nvSpPr>
          <p:cNvPr id="20" name="Shape 20"/>
          <p:cNvSpPr/>
          <p:nvPr/>
        </p:nvSpPr>
        <p:spPr>
          <a:xfrm>
            <a:off x="6339840" y="1400000"/>
            <a:ext cx="524256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21" name="Shape 21"/>
          <p:cNvSpPr/>
          <p:nvPr/>
        </p:nvSpPr>
        <p:spPr>
          <a:xfrm>
            <a:off x="6400800" y="1448768"/>
            <a:ext cx="512064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22" name="Text 22"/>
          <p:cNvSpPr/>
          <p:nvPr/>
        </p:nvSpPr>
        <p:spPr>
          <a:xfrm>
            <a:off x="6400800" y="1448768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感知驱动路径重规划四步流程</a:t>
            </a:r>
            <a:endParaRPr lang="en-US" sz="1200"/>
          </a:p>
        </p:txBody>
      </p:sp>
      <p:sp>
        <p:nvSpPr>
          <p:cNvPr id="23" name="Text 23"/>
          <p:cNvSpPr/>
          <p:nvPr/>
        </p:nvSpPr>
        <p:spPr>
          <a:xfrm>
            <a:off x="6425184" y="1913216"/>
            <a:ext cx="5071872" cy="309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（1）初始化操作</a:t>
            </a:r>
            <a:endParaRPr lang="en-US" sz="1200"/>
          </a:p>
          <a:p>
            <a:pPr>
              <a:lnSpc>
                <a:spcPct val="120000"/>
              </a:lnSpc>
            </a:pPr>
            <a:r>
              <a:rPr lang="en-US" sz="109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构建待检测路径集合 Pcheck 与已确认路径集合 P，初始均为空集。</a:t>
            </a:r>
            <a:endParaRPr lang="en-US" sz="1200"/>
          </a:p>
          <a:p>
            <a:pPr>
              <a:lnSpc>
                <a:spcPct val="6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（2）路径有效性验证</a:t>
            </a:r>
            <a:endParaRPr lang="en-US" sz="1200"/>
          </a:p>
          <a:p>
            <a:pPr>
              <a:lnSpc>
                <a:spcPct val="120000"/>
              </a:lnSpc>
            </a:pPr>
            <a:r>
              <a:rPr lang="en-US" sz="109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遍历所有无人机簇，判定路径是否因环境更新失效、碰撞或到达下一目标。失效则加入 Pcheck，否则加入 P。</a:t>
            </a:r>
            <a:endParaRPr lang="en-US" sz="1200"/>
          </a:p>
          <a:p>
            <a:pPr>
              <a:lnSpc>
                <a:spcPct val="6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（3）重规划路径搜索</a:t>
            </a:r>
            <a:endParaRPr lang="en-US" sz="1200"/>
          </a:p>
          <a:p>
            <a:pPr>
              <a:lnSpc>
                <a:spcPct val="120000"/>
              </a:lnSpc>
            </a:pPr>
            <a:r>
              <a:rPr lang="en-US" sz="109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Pcheck 中各簇独立执行单簇 RRT* 全局路径搜索，依赖当前簇中心位置、目标位置及实时感知信息。</a:t>
            </a:r>
            <a:endParaRPr lang="en-US" sz="1200"/>
          </a:p>
          <a:p>
            <a:pPr>
              <a:lnSpc>
                <a:spcPct val="60000"/>
              </a:lnSpc>
            </a:pPr>
            <a:endParaRPr lang="en-US" sz="1200"/>
          </a:p>
          <a:p>
            <a:pPr>
              <a:lnSpc>
                <a:spcPct val="110000"/>
              </a:lnSpc>
            </a:pPr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（4）簇间距离约束校验</a:t>
            </a:r>
            <a:endParaRPr lang="en-US" sz="1200"/>
          </a:p>
          <a:p>
            <a:pPr>
              <a:lnSpc>
                <a:spcPct val="120000"/>
              </a:lnSpc>
            </a:pPr>
            <a:r>
              <a:rPr lang="en-US" sz="109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对备选路径与已确认路径计算距离是否满足区间 [L, U]：不满足则触发重新生成；满足则加入 P，直到所有簇路径有效。</a:t>
            </a:r>
            <a:endParaRPr lang="en-US" sz="1200"/>
          </a:p>
        </p:txBody>
      </p:sp>
      <p:sp>
        <p:nvSpPr>
          <p:cNvPr id="101" name="Shape 101"/>
          <p:cNvSpPr/>
          <p:nvPr/>
        </p:nvSpPr>
        <p:spPr>
          <a:xfrm>
            <a:off x="609600" y="5486400"/>
            <a:ext cx="10972800" cy="60960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02" name="Text 101"/>
          <p:cNvSpPr/>
          <p:nvPr/>
        </p:nvSpPr>
        <p:spPr>
          <a:xfrm>
            <a:off x="792480" y="5486400"/>
            <a:ext cx="10607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感知驱动路径重规划机制利用实时更新的环境信息，通过增量式重规划完成路径动态更新，有效应对复杂未知城市作战环境，同时避免全局重规划带来的计算负担。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70560"/>
          </a:xfrm>
          <a:prstGeom prst="rect">
            <a:avLst/>
          </a:prstGeom>
          <a:solidFill>
            <a:srgbClr val="183A6A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0960"/>
            <a:ext cx="853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1600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C-RRT*-APF 通信保持路径规划算法</a:t>
            </a:r>
            <a:endParaRPr lang="en-US" sz="1600"/>
          </a:p>
        </p:txBody>
      </p:sp>
      <p:pic>
        <p:nvPicPr>
          <p:cNvPr id="4" name="Image 0" descr="/home/claude/sjtu_logo.png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53600" y="121920"/>
            <a:ext cx="1950720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216640" y="6431280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867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/>
          </a:p>
        </p:txBody>
      </p:sp>
      <p:sp>
        <p:nvSpPr>
          <p:cNvPr id="6" name="Text 3"/>
          <p:cNvSpPr/>
          <p:nvPr/>
        </p:nvSpPr>
        <p:spPr>
          <a:xfrm>
            <a:off x="609600" y="780288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局部规划层：MBST-APF 通信保持机制</a:t>
            </a:r>
            <a:endParaRPr lang="en-US" sz="1867"/>
          </a:p>
        </p:txBody>
      </p:sp>
      <p:sp>
        <p:nvSpPr>
          <p:cNvPr id="7" name="Shape 4"/>
          <p:cNvSpPr/>
          <p:nvPr/>
        </p:nvSpPr>
        <p:spPr>
          <a:xfrm>
            <a:off x="609600" y="1292352"/>
            <a:ext cx="10972800" cy="0"/>
          </a:xfrm>
          <a:prstGeom prst="line">
            <a:avLst/>
          </a:prstGeom>
          <a:noFill/>
          <a:ln w="25400">
            <a:solidFill>
              <a:srgbClr val="183A6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9600" y="1584960"/>
            <a:ext cx="5242560" cy="195072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670560" y="1633728"/>
            <a:ext cx="512064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0" name="Text 7"/>
          <p:cNvSpPr/>
          <p:nvPr/>
        </p:nvSpPr>
        <p:spPr>
          <a:xfrm>
            <a:off x="670560" y="1633728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MBST 通信主干构建</a:t>
            </a:r>
            <a:endParaRPr lang="en-US" sz="1333"/>
          </a:p>
        </p:txBody>
      </p:sp>
      <p:sp>
        <p:nvSpPr>
          <p:cNvPr id="11" name="Text 8"/>
          <p:cNvSpPr/>
          <p:nvPr/>
        </p:nvSpPr>
        <p:spPr>
          <a:xfrm>
            <a:off x="755904" y="2121408"/>
            <a:ext cx="494995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采用降序 Kruskal 算法，以双向 SINR 最小值为边权，动态生成最大 SINR 瓶颈生成树，仅保留 N-1 条关键主干链路，大幅降低势场耦合复杂度。</a:t>
            </a:r>
            <a:endParaRPr lang="en-US" sz="1200"/>
          </a:p>
        </p:txBody>
      </p:sp>
      <p:sp>
        <p:nvSpPr>
          <p:cNvPr id="12" name="Shape 9"/>
          <p:cNvSpPr/>
          <p:nvPr/>
        </p:nvSpPr>
        <p:spPr>
          <a:xfrm>
            <a:off x="6339840" y="1584960"/>
            <a:ext cx="5242560" cy="1950720"/>
          </a:xfrm>
          <a:prstGeom prst="rect">
            <a:avLst/>
          </a:prstGeom>
          <a:solidFill>
            <a:srgbClr val="FFFFFF"/>
          </a:solidFill>
          <a:ln w="15875">
            <a:solidFill>
              <a:srgbClr val="3874B8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6400800" y="1633728"/>
            <a:ext cx="5120640" cy="390144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1633728"/>
            <a:ext cx="5120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APF 三力合成</a:t>
            </a:r>
            <a:endParaRPr lang="en-US" sz="1333"/>
          </a:p>
        </p:txBody>
      </p:sp>
      <p:sp>
        <p:nvSpPr>
          <p:cNvPr id="15" name="Text 12"/>
          <p:cNvSpPr/>
          <p:nvPr/>
        </p:nvSpPr>
        <p:spPr>
          <a:xfrm>
            <a:off x="6486144" y="2121408"/>
            <a:ext cx="494995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200" b="1">
                <a:solidFill>
                  <a:srgbClr val="18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合力：Fi(t) = α·fatt + β·frep + η·fcoh</a:t>
            </a:r>
            <a:endParaRPr lang="en-US" sz="1200"/>
          </a:p>
          <a:p>
            <a:pPr marL="457189" indent="-457189">
              <a:lnSpc>
                <a:spcPct val="115000"/>
              </a:lnSpc>
              <a:buSzPct val="100000"/>
              <a:buChar char="•"/>
            </a:pPr>
            <a:r>
              <a:rPr lang="en-US" sz="113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fatt — 目标导向引力，引导朝下一关键点运动</a:t>
            </a:r>
            <a:endParaRPr lang="en-US" sz="1200"/>
          </a:p>
          <a:p>
            <a:pPr marL="457189" indent="-457189">
              <a:lnSpc>
                <a:spcPct val="115000"/>
              </a:lnSpc>
              <a:buSzPct val="100000"/>
              <a:buChar char="•"/>
            </a:pPr>
            <a:r>
              <a:rPr lang="en-US" sz="113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frep — 碰撞避免斥力，优先级最高（β≫η≈α）</a:t>
            </a:r>
            <a:endParaRPr lang="en-US" sz="1200"/>
          </a:p>
          <a:p>
            <a:pPr marL="457189" indent="-457189">
              <a:lnSpc>
                <a:spcPct val="115000"/>
              </a:lnSpc>
              <a:buSzPct val="100000"/>
              <a:buChar char="•"/>
            </a:pPr>
            <a:r>
              <a:rPr lang="en-US" sz="1133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fcoh — 通信保持引力，仅对 MBST 主干链路中邻居施加自适应引力</a:t>
            </a:r>
            <a:endParaRPr lang="en-US" sz="1200"/>
          </a:p>
        </p:txBody>
      </p:sp>
      <p:sp>
        <p:nvSpPr>
          <p:cNvPr id="16" name="Shape 13"/>
          <p:cNvSpPr/>
          <p:nvPr/>
        </p:nvSpPr>
        <p:spPr>
          <a:xfrm>
            <a:off x="609600" y="5486400"/>
            <a:ext cx="10972800" cy="60960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17" name="Text 14"/>
          <p:cNvSpPr/>
          <p:nvPr/>
        </p:nvSpPr>
        <p:spPr>
          <a:xfrm>
            <a:off x="792480" y="5486400"/>
            <a:ext cx="106070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83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链路接近失效时引力增强，仅对 MBST 关键 N-1 条链路构建势场约束，有效降低多势场叠加复杂度。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宽屏</PresentationFormat>
  <Paragraphs>59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运璐 何</dc:creator>
  <cp:lastModifiedBy>运璐 何</cp:lastModifiedBy>
  <cp:revision>1</cp:revision>
  <dcterms:created xsi:type="dcterms:W3CDTF">2026-04-29T12:34:02Z</dcterms:created>
  <dcterms:modified xsi:type="dcterms:W3CDTF">2026-04-29T12:34:13Z</dcterms:modified>
</cp:coreProperties>
</file>