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Noto Sans SC"/>
      <p:regular r:id="rId27"/>
    </p:embeddedFont>
    <p:embeddedFont>
      <p:font typeface="Noto Sans SC"/>
      <p:regular r:id="rId2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F2F2F2"/>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AD0D4"/>
          </a:solidFill>
          <a:ln/>
        </p:spPr>
      </p:sp>
      <p:sp>
        <p:nvSpPr>
          <p:cNvPr id="3" name="Shape 1"/>
          <p:cNvSpPr/>
          <p:nvPr/>
        </p:nvSpPr>
        <p:spPr>
          <a:xfrm>
            <a:off x="0" y="0"/>
            <a:ext cx="14630400" cy="8229600"/>
          </a:xfrm>
          <a:prstGeom prst="rect">
            <a:avLst/>
          </a:prstGeom>
          <a:solidFill>
            <a:srgbClr val="E6E9EB"/>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slideLayout" Target="../slideLayouts/slideLayout5.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slideLayout" Target="../slideLayouts/slideLayout1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5.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svg"/><Relationship Id="rId4" Type="http://schemas.openxmlformats.org/officeDocument/2006/relationships/image" Target="../media/image-15-4.png"/><Relationship Id="rId5" Type="http://schemas.openxmlformats.org/officeDocument/2006/relationships/image" Target="../media/image-15-5.svg"/><Relationship Id="rId6" Type="http://schemas.openxmlformats.org/officeDocument/2006/relationships/image" Target="../media/image-15-6.png"/><Relationship Id="rId7" Type="http://schemas.openxmlformats.org/officeDocument/2006/relationships/image" Target="../media/image-15-7.svg"/><Relationship Id="rId8" Type="http://schemas.openxmlformats.org/officeDocument/2006/relationships/image" Target="../media/image-15-8.png"/><Relationship Id="rId9" Type="http://schemas.openxmlformats.org/officeDocument/2006/relationships/image" Target="../media/image-15-9.svg"/><Relationship Id="rId10" Type="http://schemas.openxmlformats.org/officeDocument/2006/relationships/slideLayout" Target="../slideLayouts/slideLayout16.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7.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slideLayout" Target="../slideLayouts/slideLayout18.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slideLayout" Target="../slideLayouts/slideLayout19.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DFDFE0"/>
          </a:solidFill>
          <a:ln/>
        </p:spPr>
      </p:sp>
      <p:pic>
        <p:nvPicPr>
          <p:cNvPr id="3"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4" name="Text 1"/>
          <p:cNvSpPr/>
          <p:nvPr/>
        </p:nvSpPr>
        <p:spPr>
          <a:xfrm>
            <a:off x="6280190" y="2351723"/>
            <a:ext cx="7556421" cy="2126337"/>
          </a:xfrm>
          <a:prstGeom prst="rect">
            <a:avLst/>
          </a:prstGeom>
          <a:noFill/>
          <a:ln/>
        </p:spPr>
        <p:txBody>
          <a:bodyPr wrap="squar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复杂城市作战环境下大规模无人机集群通信保持任务规划研究</a:t>
            </a:r>
            <a:endParaRPr lang="en-US" sz="4450" dirty="0"/>
          </a:p>
        </p:txBody>
      </p:sp>
      <p:sp>
        <p:nvSpPr>
          <p:cNvPr id="5" name="Text 2"/>
          <p:cNvSpPr/>
          <p:nvPr/>
        </p:nvSpPr>
        <p:spPr>
          <a:xfrm>
            <a:off x="6280190" y="4818221"/>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上海交通大学 · 集成电路学院 · 电子与通信工程</a:t>
            </a:r>
            <a:endParaRPr lang="en-US" sz="1750" dirty="0"/>
          </a:p>
        </p:txBody>
      </p:sp>
      <p:sp>
        <p:nvSpPr>
          <p:cNvPr id="6" name="Shape 3"/>
          <p:cNvSpPr/>
          <p:nvPr/>
        </p:nvSpPr>
        <p:spPr>
          <a:xfrm>
            <a:off x="6280190" y="5443895"/>
            <a:ext cx="1722834" cy="426244"/>
          </a:xfrm>
          <a:prstGeom prst="roundRect">
            <a:avLst>
              <a:gd name="adj" fmla="val 17880"/>
            </a:avLst>
          </a:prstGeom>
          <a:solidFill>
            <a:srgbClr val="CDEFFE"/>
          </a:solidFill>
          <a:ln/>
        </p:spPr>
      </p:sp>
      <p:sp>
        <p:nvSpPr>
          <p:cNvPr id="7" name="Text 4"/>
          <p:cNvSpPr/>
          <p:nvPr/>
        </p:nvSpPr>
        <p:spPr>
          <a:xfrm>
            <a:off x="6416278" y="5511879"/>
            <a:ext cx="1450658" cy="290274"/>
          </a:xfrm>
          <a:prstGeom prst="rect">
            <a:avLst/>
          </a:prstGeom>
          <a:noFill/>
          <a:ln/>
        </p:spPr>
        <p:txBody>
          <a:bodyPr wrap="none" lIns="0" tIns="0" rIns="0" bIns="0" rtlCol="0" anchor="t"/>
          <a:lstStyle/>
          <a:p>
            <a:pPr algn="l" indent="0" marL="0">
              <a:lnSpc>
                <a:spcPts val="2250"/>
              </a:lnSpc>
              <a:buNone/>
            </a:pPr>
            <a:r>
              <a:rPr lang="en-US" sz="1400" dirty="0">
                <a:solidFill>
                  <a:srgbClr val="000000"/>
                </a:solidFill>
                <a:latin typeface="Noto Sans SC" pitchFamily="34" charset="0"/>
                <a:ea typeface="Noto Sans SC" pitchFamily="34" charset="-122"/>
                <a:cs typeface="Noto Sans SC" pitchFamily="34" charset="-120"/>
              </a:rPr>
              <a:t>工学硕士学位论文</a:t>
            </a:r>
            <a:endParaRPr lang="en-US" sz="1400" dirty="0"/>
          </a:p>
        </p:txBody>
      </p:sp>
      <p:sp>
        <p:nvSpPr>
          <p:cNvPr id="8" name="Shape 5"/>
          <p:cNvSpPr/>
          <p:nvPr/>
        </p:nvSpPr>
        <p:spPr>
          <a:xfrm>
            <a:off x="8116372" y="5436275"/>
            <a:ext cx="1556742" cy="441484"/>
          </a:xfrm>
          <a:prstGeom prst="roundRect">
            <a:avLst>
              <a:gd name="adj" fmla="val 17263"/>
            </a:avLst>
          </a:prstGeom>
          <a:noFill/>
          <a:ln w="7620">
            <a:solidFill>
              <a:srgbClr val="0EB4FC"/>
            </a:solidFill>
            <a:prstDash val="solid"/>
          </a:ln>
        </p:spPr>
      </p:sp>
      <p:sp>
        <p:nvSpPr>
          <p:cNvPr id="9" name="Text 6"/>
          <p:cNvSpPr/>
          <p:nvPr/>
        </p:nvSpPr>
        <p:spPr>
          <a:xfrm>
            <a:off x="8260080" y="5511879"/>
            <a:ext cx="1269325" cy="290274"/>
          </a:xfrm>
          <a:prstGeom prst="rect">
            <a:avLst/>
          </a:prstGeom>
          <a:noFill/>
          <a:ln/>
        </p:spPr>
        <p:txBody>
          <a:bodyPr wrap="none" lIns="0" tIns="0" rIns="0" bIns="0" rtlCol="0" anchor="t"/>
          <a:lstStyle/>
          <a:p>
            <a:pPr algn="l" indent="0" marL="0">
              <a:lnSpc>
                <a:spcPts val="2250"/>
              </a:lnSpc>
              <a:buNone/>
            </a:pPr>
            <a:r>
              <a:rPr lang="en-US" sz="1400" dirty="0">
                <a:solidFill>
                  <a:srgbClr val="0EB4FC"/>
                </a:solidFill>
                <a:latin typeface="Noto Sans SC" pitchFamily="34" charset="0"/>
                <a:ea typeface="Noto Sans SC" pitchFamily="34" charset="-122"/>
                <a:cs typeface="Noto Sans SC" pitchFamily="34" charset="-120"/>
              </a:rPr>
              <a:t>答辩人：何运璐</a:t>
            </a:r>
            <a:endParaRPr lang="en-US" sz="1400" dirty="0"/>
          </a:p>
        </p:txBody>
      </p:sp>
      <p:sp>
        <p:nvSpPr>
          <p:cNvPr id="10" name="Shape 7"/>
          <p:cNvSpPr/>
          <p:nvPr/>
        </p:nvSpPr>
        <p:spPr>
          <a:xfrm>
            <a:off x="9786461" y="5436275"/>
            <a:ext cx="1738074" cy="441484"/>
          </a:xfrm>
          <a:prstGeom prst="roundRect">
            <a:avLst>
              <a:gd name="adj" fmla="val 17263"/>
            </a:avLst>
          </a:prstGeom>
          <a:noFill/>
          <a:ln w="7620">
            <a:solidFill>
              <a:srgbClr val="0EB4FC"/>
            </a:solidFill>
            <a:prstDash val="solid"/>
          </a:ln>
        </p:spPr>
      </p:sp>
      <p:sp>
        <p:nvSpPr>
          <p:cNvPr id="11" name="Text 8"/>
          <p:cNvSpPr/>
          <p:nvPr/>
        </p:nvSpPr>
        <p:spPr>
          <a:xfrm>
            <a:off x="9930170" y="5511879"/>
            <a:ext cx="1450658" cy="290274"/>
          </a:xfrm>
          <a:prstGeom prst="rect">
            <a:avLst/>
          </a:prstGeom>
          <a:noFill/>
          <a:ln/>
        </p:spPr>
        <p:txBody>
          <a:bodyPr wrap="none" lIns="0" tIns="0" rIns="0" bIns="0" rtlCol="0" anchor="t"/>
          <a:lstStyle/>
          <a:p>
            <a:pPr algn="l" indent="0" marL="0">
              <a:lnSpc>
                <a:spcPts val="2250"/>
              </a:lnSpc>
              <a:buNone/>
            </a:pPr>
            <a:r>
              <a:rPr lang="en-US" sz="1400" dirty="0">
                <a:solidFill>
                  <a:srgbClr val="0EB4FC"/>
                </a:solidFill>
                <a:latin typeface="Noto Sans SC" pitchFamily="34" charset="0"/>
                <a:ea typeface="Noto Sans SC" pitchFamily="34" charset="-122"/>
                <a:cs typeface="Noto Sans SC" pitchFamily="34" charset="-120"/>
              </a:rPr>
              <a:t>导师：丁良辉教授</a:t>
            </a:r>
            <a:endParaRPr lang="en-US" sz="1400" dirty="0"/>
          </a:p>
        </p:txBody>
      </p:sp>
      <p:sp>
        <p:nvSpPr>
          <p:cNvPr id="12" name="Text 9"/>
          <p:cNvSpPr/>
          <p:nvPr/>
        </p:nvSpPr>
        <p:spPr>
          <a:xfrm>
            <a:off x="5645110" y="7716917"/>
            <a:ext cx="278606" cy="254079"/>
          </a:xfrm>
          <a:prstGeom prst="rect">
            <a:avLst/>
          </a:prstGeom>
          <a:noFill/>
          <a:ln/>
        </p:spPr>
        <p:txBody>
          <a:bodyPr wrap="none" lIns="0" tIns="0" rIns="0" bIns="0" rtlCol="0" anchor="t"/>
          <a:lstStyle/>
          <a:p>
            <a:pPr algn="l"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1</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42718"/>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论文概览</a:t>
            </a:r>
            <a:endParaRPr lang="en-US" sz="4450" dirty="0"/>
          </a:p>
        </p:txBody>
      </p:sp>
      <p:sp>
        <p:nvSpPr>
          <p:cNvPr id="3" name="Text 1"/>
          <p:cNvSpPr/>
          <p:nvPr/>
        </p:nvSpPr>
        <p:spPr>
          <a:xfrm>
            <a:off x="793790" y="2791658"/>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Light" pitchFamily="34" charset="0"/>
                <a:ea typeface="Noto Sans SC Light" pitchFamily="34" charset="-122"/>
                <a:cs typeface="Noto Sans SC Light" pitchFamily="34" charset="-120"/>
              </a:rPr>
              <a:t>01</a:t>
            </a:r>
            <a:endParaRPr lang="en-US" sz="1750" dirty="0"/>
          </a:p>
        </p:txBody>
      </p:sp>
      <p:sp>
        <p:nvSpPr>
          <p:cNvPr id="4" name="Shape 2"/>
          <p:cNvSpPr/>
          <p:nvPr/>
        </p:nvSpPr>
        <p:spPr>
          <a:xfrm>
            <a:off x="793790" y="3146703"/>
            <a:ext cx="4196358" cy="30480"/>
          </a:xfrm>
          <a:prstGeom prst="rect">
            <a:avLst/>
          </a:prstGeom>
          <a:solidFill>
            <a:srgbClr val="0EB4FC"/>
          </a:solidFill>
          <a:ln/>
        </p:spPr>
      </p:sp>
      <p:sp>
        <p:nvSpPr>
          <p:cNvPr id="5" name="Text 3"/>
          <p:cNvSpPr/>
          <p:nvPr/>
        </p:nvSpPr>
        <p:spPr>
          <a:xfrm>
            <a:off x="793790" y="332101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研究背景与问题</a:t>
            </a:r>
            <a:endParaRPr lang="en-US" sz="2200" dirty="0"/>
          </a:p>
        </p:txBody>
      </p:sp>
      <p:sp>
        <p:nvSpPr>
          <p:cNvPr id="6" name="Text 4"/>
          <p:cNvSpPr/>
          <p:nvPr/>
        </p:nvSpPr>
        <p:spPr>
          <a:xfrm>
            <a:off x="793790" y="3811429"/>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城市作战中无人机集群通信保持面临建筑遮挡与电磁干扰双重挑战</a:t>
            </a:r>
            <a:endParaRPr lang="en-US" sz="1750" dirty="0"/>
          </a:p>
        </p:txBody>
      </p:sp>
      <p:sp>
        <p:nvSpPr>
          <p:cNvPr id="7" name="Text 5"/>
          <p:cNvSpPr/>
          <p:nvPr/>
        </p:nvSpPr>
        <p:spPr>
          <a:xfrm>
            <a:off x="5216962" y="2791658"/>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Light" pitchFamily="34" charset="0"/>
                <a:ea typeface="Noto Sans SC Light" pitchFamily="34" charset="-122"/>
                <a:cs typeface="Noto Sans SC Light" pitchFamily="34" charset="-120"/>
              </a:rPr>
              <a:t>02</a:t>
            </a:r>
            <a:endParaRPr lang="en-US" sz="1750" dirty="0"/>
          </a:p>
        </p:txBody>
      </p:sp>
      <p:sp>
        <p:nvSpPr>
          <p:cNvPr id="8" name="Shape 6"/>
          <p:cNvSpPr/>
          <p:nvPr/>
        </p:nvSpPr>
        <p:spPr>
          <a:xfrm>
            <a:off x="5216962" y="3146703"/>
            <a:ext cx="4196358" cy="30480"/>
          </a:xfrm>
          <a:prstGeom prst="rect">
            <a:avLst/>
          </a:prstGeom>
          <a:solidFill>
            <a:srgbClr val="0EB4FC"/>
          </a:solidFill>
          <a:ln/>
        </p:spPr>
      </p:sp>
      <p:sp>
        <p:nvSpPr>
          <p:cNvPr id="9" name="Text 7"/>
          <p:cNvSpPr/>
          <p:nvPr/>
        </p:nvSpPr>
        <p:spPr>
          <a:xfrm>
            <a:off x="5216962" y="332101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理论基础</a:t>
            </a:r>
            <a:endParaRPr lang="en-US" sz="2200" dirty="0"/>
          </a:p>
        </p:txBody>
      </p:sp>
      <p:sp>
        <p:nvSpPr>
          <p:cNvPr id="10" name="Text 8"/>
          <p:cNvSpPr/>
          <p:nvPr/>
        </p:nvSpPr>
        <p:spPr>
          <a:xfrm>
            <a:off x="5216962" y="3811429"/>
            <a:ext cx="4196358"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RRT*、人工势场法、NSGA-II、图连通性理论</a:t>
            </a:r>
            <a:endParaRPr lang="en-US" sz="1750" dirty="0"/>
          </a:p>
        </p:txBody>
      </p:sp>
      <p:sp>
        <p:nvSpPr>
          <p:cNvPr id="11" name="Text 9"/>
          <p:cNvSpPr/>
          <p:nvPr/>
        </p:nvSpPr>
        <p:spPr>
          <a:xfrm>
            <a:off x="9640133" y="2791658"/>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Light" pitchFamily="34" charset="0"/>
                <a:ea typeface="Noto Sans SC Light" pitchFamily="34" charset="-122"/>
                <a:cs typeface="Noto Sans SC Light" pitchFamily="34" charset="-120"/>
              </a:rPr>
              <a:t>03</a:t>
            </a:r>
            <a:endParaRPr lang="en-US" sz="1750" dirty="0"/>
          </a:p>
        </p:txBody>
      </p:sp>
      <p:sp>
        <p:nvSpPr>
          <p:cNvPr id="12" name="Shape 10"/>
          <p:cNvSpPr/>
          <p:nvPr/>
        </p:nvSpPr>
        <p:spPr>
          <a:xfrm>
            <a:off x="9640133" y="3146703"/>
            <a:ext cx="4196358" cy="30480"/>
          </a:xfrm>
          <a:prstGeom prst="rect">
            <a:avLst/>
          </a:prstGeom>
          <a:solidFill>
            <a:srgbClr val="0EB4FC"/>
          </a:solidFill>
          <a:ln/>
        </p:spPr>
      </p:sp>
      <p:sp>
        <p:nvSpPr>
          <p:cNvPr id="13" name="Text 11"/>
          <p:cNvSpPr/>
          <p:nvPr/>
        </p:nvSpPr>
        <p:spPr>
          <a:xfrm>
            <a:off x="9640133" y="3321010"/>
            <a:ext cx="3320296"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核心算法一：C-RRT*-APF</a:t>
            </a:r>
            <a:endParaRPr lang="en-US" sz="2200" dirty="0"/>
          </a:p>
        </p:txBody>
      </p:sp>
      <p:sp>
        <p:nvSpPr>
          <p:cNvPr id="14" name="Text 12"/>
          <p:cNvSpPr/>
          <p:nvPr/>
        </p:nvSpPr>
        <p:spPr>
          <a:xfrm>
            <a:off x="9640133" y="3811429"/>
            <a:ext cx="4196358"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分层分簇通信保持路径规划算法</a:t>
            </a:r>
            <a:endParaRPr lang="en-US" sz="1750" dirty="0"/>
          </a:p>
        </p:txBody>
      </p:sp>
      <p:sp>
        <p:nvSpPr>
          <p:cNvPr id="15" name="Text 13"/>
          <p:cNvSpPr/>
          <p:nvPr/>
        </p:nvSpPr>
        <p:spPr>
          <a:xfrm>
            <a:off x="793790" y="4934069"/>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Light" pitchFamily="34" charset="0"/>
                <a:ea typeface="Noto Sans SC Light" pitchFamily="34" charset="-122"/>
                <a:cs typeface="Noto Sans SC Light" pitchFamily="34" charset="-120"/>
              </a:rPr>
              <a:t>04</a:t>
            </a:r>
            <a:endParaRPr lang="en-US" sz="1750" dirty="0"/>
          </a:p>
        </p:txBody>
      </p:sp>
      <p:sp>
        <p:nvSpPr>
          <p:cNvPr id="16" name="Shape 14"/>
          <p:cNvSpPr/>
          <p:nvPr/>
        </p:nvSpPr>
        <p:spPr>
          <a:xfrm>
            <a:off x="793790" y="5289113"/>
            <a:ext cx="6407944" cy="30480"/>
          </a:xfrm>
          <a:prstGeom prst="rect">
            <a:avLst/>
          </a:prstGeom>
          <a:solidFill>
            <a:srgbClr val="0EB4FC"/>
          </a:solidFill>
          <a:ln/>
        </p:spPr>
      </p:sp>
      <p:sp>
        <p:nvSpPr>
          <p:cNvPr id="17" name="Text 15"/>
          <p:cNvSpPr/>
          <p:nvPr/>
        </p:nvSpPr>
        <p:spPr>
          <a:xfrm>
            <a:off x="793790" y="5463421"/>
            <a:ext cx="350079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核心算法二：MPG-NSGA-II</a:t>
            </a:r>
            <a:endParaRPr lang="en-US" sz="2200" dirty="0"/>
          </a:p>
        </p:txBody>
      </p:sp>
      <p:sp>
        <p:nvSpPr>
          <p:cNvPr id="18" name="Text 16"/>
          <p:cNvSpPr/>
          <p:nvPr/>
        </p:nvSpPr>
        <p:spPr>
          <a:xfrm>
            <a:off x="793790" y="5953839"/>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多种群引导协同进化区域覆盖算法</a:t>
            </a:r>
            <a:endParaRPr lang="en-US" sz="1750" dirty="0"/>
          </a:p>
        </p:txBody>
      </p:sp>
      <p:sp>
        <p:nvSpPr>
          <p:cNvPr id="19" name="Text 17"/>
          <p:cNvSpPr/>
          <p:nvPr/>
        </p:nvSpPr>
        <p:spPr>
          <a:xfrm>
            <a:off x="7428548" y="4934069"/>
            <a:ext cx="453628" cy="283488"/>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Light" pitchFamily="34" charset="0"/>
                <a:ea typeface="Noto Sans SC Light" pitchFamily="34" charset="-122"/>
                <a:cs typeface="Noto Sans SC Light" pitchFamily="34" charset="-120"/>
              </a:rPr>
              <a:t>05</a:t>
            </a:r>
            <a:endParaRPr lang="en-US" sz="1750" dirty="0"/>
          </a:p>
        </p:txBody>
      </p:sp>
      <p:sp>
        <p:nvSpPr>
          <p:cNvPr id="20" name="Shape 18"/>
          <p:cNvSpPr/>
          <p:nvPr/>
        </p:nvSpPr>
        <p:spPr>
          <a:xfrm>
            <a:off x="7428548" y="5289113"/>
            <a:ext cx="6407944" cy="30480"/>
          </a:xfrm>
          <a:prstGeom prst="rect">
            <a:avLst/>
          </a:prstGeom>
          <a:solidFill>
            <a:srgbClr val="0EB4FC"/>
          </a:solidFill>
          <a:ln/>
        </p:spPr>
      </p:sp>
      <p:sp>
        <p:nvSpPr>
          <p:cNvPr id="21" name="Text 19"/>
          <p:cNvSpPr/>
          <p:nvPr/>
        </p:nvSpPr>
        <p:spPr>
          <a:xfrm>
            <a:off x="7428548" y="5463421"/>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仿真验证与总结</a:t>
            </a:r>
            <a:endParaRPr lang="en-US" sz="2200" dirty="0"/>
          </a:p>
        </p:txBody>
      </p:sp>
      <p:sp>
        <p:nvSpPr>
          <p:cNvPr id="22" name="Text 20"/>
          <p:cNvSpPr/>
          <p:nvPr/>
        </p:nvSpPr>
        <p:spPr>
          <a:xfrm>
            <a:off x="7428548" y="5953839"/>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多场景实验验证，性能显著优于对比算法</a:t>
            </a:r>
            <a:endParaRPr lang="en-US" sz="1750" dirty="0"/>
          </a:p>
        </p:txBody>
      </p:sp>
      <p:sp>
        <p:nvSpPr>
          <p:cNvPr id="23" name="Text 21"/>
          <p:cNvSpPr/>
          <p:nvPr/>
        </p:nvSpPr>
        <p:spPr>
          <a:xfrm>
            <a:off x="7199709" y="7716917"/>
            <a:ext cx="230981" cy="254079"/>
          </a:xfrm>
          <a:prstGeom prst="rect">
            <a:avLst/>
          </a:prstGeom>
          <a:noFill/>
          <a:ln/>
        </p:spPr>
        <p:txBody>
          <a:bodyPr wrap="none" lIns="0" tIns="0" rIns="0" bIns="0" rtlCol="0" anchor="t"/>
          <a:lstStyle/>
          <a:p>
            <a:pPr algn="ct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2</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280190" y="1301353"/>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研究背景与意义</a:t>
            </a:r>
            <a:endParaRPr lang="en-US" sz="4450" dirty="0"/>
          </a:p>
        </p:txBody>
      </p:sp>
      <p:sp>
        <p:nvSpPr>
          <p:cNvPr id="6" name="Text 2"/>
          <p:cNvSpPr/>
          <p:nvPr/>
        </p:nvSpPr>
        <p:spPr>
          <a:xfrm>
            <a:off x="6280190" y="2350294"/>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现代作战样式持续演进，无人机集群凭借</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强机动性、动态组网与高效协同</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优势，已成为城市作战的重要力量。城市环境具有建筑密集、电磁环境复杂等特点，导致集群通信链路面临严重衰减与中断风险。</a:t>
            </a:r>
            <a:endParaRPr lang="en-US" sz="1750" dirty="0"/>
          </a:p>
        </p:txBody>
      </p:sp>
      <p:sp>
        <p:nvSpPr>
          <p:cNvPr id="7" name="Shape 3"/>
          <p:cNvSpPr/>
          <p:nvPr/>
        </p:nvSpPr>
        <p:spPr>
          <a:xfrm>
            <a:off x="6280190" y="3694152"/>
            <a:ext cx="3664744" cy="1685092"/>
          </a:xfrm>
          <a:prstGeom prst="roundRect">
            <a:avLst>
              <a:gd name="adj" fmla="val 5654"/>
            </a:avLst>
          </a:prstGeom>
          <a:solidFill>
            <a:srgbClr val="CDEFFE"/>
          </a:solidFill>
          <a:ln w="7620">
            <a:solidFill>
              <a:srgbClr val="B3D5E4"/>
            </a:solidFill>
            <a:prstDash val="solid"/>
          </a:ln>
        </p:spPr>
      </p:sp>
      <p:sp>
        <p:nvSpPr>
          <p:cNvPr id="8" name="Text 4"/>
          <p:cNvSpPr/>
          <p:nvPr/>
        </p:nvSpPr>
        <p:spPr>
          <a:xfrm>
            <a:off x="6514624" y="392858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物理障碍</a:t>
            </a:r>
            <a:endParaRPr lang="en-US" sz="2200" dirty="0"/>
          </a:p>
        </p:txBody>
      </p:sp>
      <p:sp>
        <p:nvSpPr>
          <p:cNvPr id="9" name="Text 5"/>
          <p:cNvSpPr/>
          <p:nvPr/>
        </p:nvSpPr>
        <p:spPr>
          <a:xfrm>
            <a:off x="6514624" y="4419005"/>
            <a:ext cx="3195876"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高密度建筑群造成非视距传播，信号严重衰减</a:t>
            </a:r>
            <a:endParaRPr lang="en-US" sz="1750" dirty="0"/>
          </a:p>
        </p:txBody>
      </p:sp>
      <p:sp>
        <p:nvSpPr>
          <p:cNvPr id="10" name="Shape 6"/>
          <p:cNvSpPr/>
          <p:nvPr/>
        </p:nvSpPr>
        <p:spPr>
          <a:xfrm>
            <a:off x="10171748" y="3694152"/>
            <a:ext cx="3664863" cy="1685092"/>
          </a:xfrm>
          <a:prstGeom prst="roundRect">
            <a:avLst>
              <a:gd name="adj" fmla="val 5654"/>
            </a:avLst>
          </a:prstGeom>
          <a:solidFill>
            <a:srgbClr val="CDEFFE"/>
          </a:solidFill>
          <a:ln w="7620">
            <a:solidFill>
              <a:srgbClr val="B3D5E4"/>
            </a:solidFill>
            <a:prstDash val="solid"/>
          </a:ln>
        </p:spPr>
      </p:sp>
      <p:sp>
        <p:nvSpPr>
          <p:cNvPr id="11" name="Text 7"/>
          <p:cNvSpPr/>
          <p:nvPr/>
        </p:nvSpPr>
        <p:spPr>
          <a:xfrm>
            <a:off x="10406182" y="392858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电磁干扰</a:t>
            </a:r>
            <a:endParaRPr lang="en-US" sz="2200" dirty="0"/>
          </a:p>
        </p:txBody>
      </p:sp>
      <p:sp>
        <p:nvSpPr>
          <p:cNvPr id="12" name="Text 8"/>
          <p:cNvSpPr/>
          <p:nvPr/>
        </p:nvSpPr>
        <p:spPr>
          <a:xfrm>
            <a:off x="10406182" y="4419005"/>
            <a:ext cx="3195995"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敌对干扰、多径效应削弱通信稳定性</a:t>
            </a:r>
            <a:endParaRPr lang="en-US" sz="1750" dirty="0"/>
          </a:p>
        </p:txBody>
      </p:sp>
      <p:sp>
        <p:nvSpPr>
          <p:cNvPr id="13" name="Shape 9"/>
          <p:cNvSpPr/>
          <p:nvPr/>
        </p:nvSpPr>
        <p:spPr>
          <a:xfrm>
            <a:off x="6280190" y="5606058"/>
            <a:ext cx="7556421" cy="1322189"/>
          </a:xfrm>
          <a:prstGeom prst="roundRect">
            <a:avLst>
              <a:gd name="adj" fmla="val 7205"/>
            </a:avLst>
          </a:prstGeom>
          <a:solidFill>
            <a:srgbClr val="CDEFFE"/>
          </a:solidFill>
          <a:ln w="7620">
            <a:solidFill>
              <a:srgbClr val="B3D5E4"/>
            </a:solidFill>
            <a:prstDash val="solid"/>
          </a:ln>
        </p:spPr>
      </p:sp>
      <p:sp>
        <p:nvSpPr>
          <p:cNvPr id="14" name="Text 10"/>
          <p:cNvSpPr/>
          <p:nvPr/>
        </p:nvSpPr>
        <p:spPr>
          <a:xfrm>
            <a:off x="6514624" y="584049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规模挑战</a:t>
            </a:r>
            <a:endParaRPr lang="en-US" sz="2200" dirty="0"/>
          </a:p>
        </p:txBody>
      </p:sp>
      <p:sp>
        <p:nvSpPr>
          <p:cNvPr id="15" name="Text 11"/>
          <p:cNvSpPr/>
          <p:nvPr/>
        </p:nvSpPr>
        <p:spPr>
          <a:xfrm>
            <a:off x="6514624" y="6330910"/>
            <a:ext cx="7087553"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大规模集群协同使算法复杂度呈指数增长</a:t>
            </a:r>
            <a:endParaRPr lang="en-US" sz="1750" dirty="0"/>
          </a:p>
        </p:txBody>
      </p:sp>
      <p:sp>
        <p:nvSpPr>
          <p:cNvPr id="16" name="Text 12"/>
          <p:cNvSpPr/>
          <p:nvPr/>
        </p:nvSpPr>
        <p:spPr>
          <a:xfrm>
            <a:off x="5645110" y="7716917"/>
            <a:ext cx="278606" cy="254079"/>
          </a:xfrm>
          <a:prstGeom prst="rect">
            <a:avLst/>
          </a:prstGeom>
          <a:noFill/>
          <a:ln/>
        </p:spPr>
        <p:txBody>
          <a:bodyPr wrap="none" lIns="0" tIns="0" rIns="0" bIns="0" rtlCol="0" anchor="t"/>
          <a:lstStyle/>
          <a:p>
            <a:pPr algn="l"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3</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92731"/>
            <a:ext cx="6236732"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现有研究不足与本文动机</a:t>
            </a:r>
            <a:endParaRPr lang="en-US" sz="4450" dirty="0"/>
          </a:p>
        </p:txBody>
      </p:sp>
      <p:sp>
        <p:nvSpPr>
          <p:cNvPr id="3" name="Text 1"/>
          <p:cNvSpPr/>
          <p:nvPr/>
        </p:nvSpPr>
        <p:spPr>
          <a:xfrm>
            <a:off x="793790" y="216848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路径规划研究现状</a:t>
            </a:r>
            <a:endParaRPr lang="en-US" sz="22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8800" y="2789277"/>
            <a:ext cx="340162" cy="340162"/>
          </a:xfrm>
          <a:prstGeom prst="rect">
            <a:avLst/>
          </a:prstGeom>
        </p:spPr>
      </p:pic>
      <p:sp>
        <p:nvSpPr>
          <p:cNvPr id="5" name="Text 2"/>
          <p:cNvSpPr/>
          <p:nvPr/>
        </p:nvSpPr>
        <p:spPr>
          <a:xfrm>
            <a:off x="1530906" y="2777966"/>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冲突搜索类（CBS/K-CBS）</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：仅关注空间冲突，无法建模通信连通性</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00" y="3968710"/>
            <a:ext cx="340162" cy="340162"/>
          </a:xfrm>
          <a:prstGeom prst="rect">
            <a:avLst/>
          </a:prstGeom>
        </p:spPr>
      </p:pic>
      <p:sp>
        <p:nvSpPr>
          <p:cNvPr id="7" name="Text 3"/>
          <p:cNvSpPr/>
          <p:nvPr/>
        </p:nvSpPr>
        <p:spPr>
          <a:xfrm>
            <a:off x="1530906" y="3957399"/>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启发式优化类（PSO/MOEA）</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：全局搜索能力强，但大规模场景计算开销大</a:t>
            </a:r>
            <a:endParaRPr lang="en-US" sz="17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8800" y="5148143"/>
            <a:ext cx="340162" cy="340162"/>
          </a:xfrm>
          <a:prstGeom prst="rect">
            <a:avLst/>
          </a:prstGeom>
        </p:spPr>
      </p:pic>
      <p:sp>
        <p:nvSpPr>
          <p:cNvPr id="9" name="Text 4"/>
          <p:cNvSpPr/>
          <p:nvPr/>
        </p:nvSpPr>
        <p:spPr>
          <a:xfrm>
            <a:off x="1530906" y="5136833"/>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人工势场类（APF/CMUFC）</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：多源势场叠加导致震荡与死锁</a:t>
            </a:r>
            <a:endParaRPr lang="en-US" sz="1750" dirty="0"/>
          </a:p>
        </p:txBody>
      </p:sp>
      <p:sp>
        <p:nvSpPr>
          <p:cNvPr id="10" name="Text 5"/>
          <p:cNvSpPr/>
          <p:nvPr/>
        </p:nvSpPr>
        <p:spPr>
          <a:xfrm>
            <a:off x="7599521" y="216848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区域覆盖研究现状</a:t>
            </a:r>
            <a:endParaRPr lang="en-US" sz="2200" dirty="0"/>
          </a:p>
        </p:txBody>
      </p:sp>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84532" y="2789277"/>
            <a:ext cx="340162" cy="340162"/>
          </a:xfrm>
          <a:prstGeom prst="rect">
            <a:avLst/>
          </a:prstGeom>
        </p:spPr>
      </p:pic>
      <p:sp>
        <p:nvSpPr>
          <p:cNvPr id="12" name="Text 6"/>
          <p:cNvSpPr/>
          <p:nvPr/>
        </p:nvSpPr>
        <p:spPr>
          <a:xfrm>
            <a:off x="8336637" y="2777966"/>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确定性方法（虚拟力/网格/Voronoi）</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：难以显式建模通信拓扑约束</a:t>
            </a:r>
            <a:endParaRPr lang="en-US" sz="1750" dirty="0"/>
          </a:p>
        </p:txBody>
      </p:sp>
      <p:pic>
        <p:nvPicPr>
          <p:cNvPr id="1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84532" y="3968710"/>
            <a:ext cx="340162" cy="340162"/>
          </a:xfrm>
          <a:prstGeom prst="rect">
            <a:avLst/>
          </a:prstGeom>
        </p:spPr>
      </p:pic>
      <p:sp>
        <p:nvSpPr>
          <p:cNvPr id="14" name="Text 7"/>
          <p:cNvSpPr/>
          <p:nvPr/>
        </p:nvSpPr>
        <p:spPr>
          <a:xfrm>
            <a:off x="8336637" y="3957399"/>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单目标优化（GA/PSO/DE）</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：仅优化覆盖率，忽略连通性</a:t>
            </a:r>
            <a:endParaRPr lang="en-US" sz="1750" dirty="0"/>
          </a:p>
        </p:txBody>
      </p:sp>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84532" y="5148143"/>
            <a:ext cx="340162" cy="340162"/>
          </a:xfrm>
          <a:prstGeom prst="rect">
            <a:avLst/>
          </a:prstGeom>
        </p:spPr>
      </p:pic>
      <p:sp>
        <p:nvSpPr>
          <p:cNvPr id="16" name="Text 8"/>
          <p:cNvSpPr/>
          <p:nvPr/>
        </p:nvSpPr>
        <p:spPr>
          <a:xfrm>
            <a:off x="8336637" y="5136833"/>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多目标优化（NSGA-II）</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：通信建模简化，复杂场景搜索效率低</a:t>
            </a:r>
            <a:endParaRPr lang="en-US" sz="1750" dirty="0"/>
          </a:p>
        </p:txBody>
      </p:sp>
      <p:sp>
        <p:nvSpPr>
          <p:cNvPr id="17" name="Shape 9"/>
          <p:cNvSpPr/>
          <p:nvPr/>
        </p:nvSpPr>
        <p:spPr>
          <a:xfrm>
            <a:off x="793790" y="6372939"/>
            <a:ext cx="13042821" cy="963811"/>
          </a:xfrm>
          <a:prstGeom prst="roundRect">
            <a:avLst>
              <a:gd name="adj" fmla="val 9884"/>
            </a:avLst>
          </a:prstGeom>
          <a:solidFill>
            <a:srgbClr val="FCF2B5"/>
          </a:solidFill>
          <a:ln/>
        </p:spPr>
      </p:sp>
      <p:pic>
        <p:nvPicPr>
          <p:cNvPr id="18" name="Image 6" descr="preencoded.png">    </p:cNvPr>
          <p:cNvPicPr>
            <a:picLocks noChangeAspect="1"/>
          </p:cNvPicPr>
          <p:nvPr/>
        </p:nvPicPr>
        <p:blipFill>
          <a:blip r:embed="rId13"/>
          <a:stretch>
            <a:fillRect/>
          </a:stretch>
        </p:blipFill>
        <p:spPr>
          <a:xfrm>
            <a:off x="1020604" y="6732270"/>
            <a:ext cx="283488" cy="226814"/>
          </a:xfrm>
          <a:prstGeom prst="rect">
            <a:avLst/>
          </a:prstGeom>
        </p:spPr>
      </p:pic>
      <p:sp>
        <p:nvSpPr>
          <p:cNvPr id="19" name="Text 10"/>
          <p:cNvSpPr/>
          <p:nvPr/>
        </p:nvSpPr>
        <p:spPr>
          <a:xfrm>
            <a:off x="1530906" y="6656427"/>
            <a:ext cx="1207889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核心问题：现有方法缺乏对动态复杂通信拓扑的显式建模约束，难以满足大规模集群智能协同的通信需求。</a:t>
            </a:r>
            <a:endParaRPr lang="en-US" sz="1750" dirty="0"/>
          </a:p>
        </p:txBody>
      </p:sp>
      <p:sp>
        <p:nvSpPr>
          <p:cNvPr id="20" name="Text 11"/>
          <p:cNvSpPr/>
          <p:nvPr/>
        </p:nvSpPr>
        <p:spPr>
          <a:xfrm>
            <a:off x="7199709" y="7716917"/>
            <a:ext cx="230981" cy="254079"/>
          </a:xfrm>
          <a:prstGeom prst="rect">
            <a:avLst/>
          </a:prstGeom>
          <a:noFill/>
          <a:ln/>
        </p:spPr>
        <p:txBody>
          <a:bodyPr wrap="none" lIns="0" tIns="0" rIns="0" bIns="0" rtlCol="0" anchor="t"/>
          <a:lstStyle/>
          <a:p>
            <a:pPr algn="ct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4</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200513"/>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主要研究内容</a:t>
            </a:r>
            <a:endParaRPr lang="en-US" sz="4450" dirty="0"/>
          </a:p>
        </p:txBody>
      </p:sp>
      <p:sp>
        <p:nvSpPr>
          <p:cNvPr id="3" name="Shape 1"/>
          <p:cNvSpPr/>
          <p:nvPr/>
        </p:nvSpPr>
        <p:spPr>
          <a:xfrm>
            <a:off x="793790" y="3362920"/>
            <a:ext cx="6407944" cy="2047994"/>
          </a:xfrm>
          <a:prstGeom prst="roundRect">
            <a:avLst>
              <a:gd name="adj" fmla="val 4652"/>
            </a:avLst>
          </a:prstGeom>
          <a:solidFill>
            <a:srgbClr val="CDEFFE"/>
          </a:solidFill>
          <a:ln w="7620">
            <a:solidFill>
              <a:srgbClr val="B3D5E4"/>
            </a:solidFill>
            <a:prstDash val="solid"/>
          </a:ln>
        </p:spPr>
      </p:sp>
      <p:sp>
        <p:nvSpPr>
          <p:cNvPr id="4" name="Text 2"/>
          <p:cNvSpPr/>
          <p:nvPr/>
        </p:nvSpPr>
        <p:spPr>
          <a:xfrm>
            <a:off x="1028224" y="3597354"/>
            <a:ext cx="3400544"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任务一：通信保持路径规划</a:t>
            </a:r>
            <a:endParaRPr lang="en-US" sz="2200" dirty="0"/>
          </a:p>
        </p:txBody>
      </p:sp>
      <p:sp>
        <p:nvSpPr>
          <p:cNvPr id="5" name="Text 3"/>
          <p:cNvSpPr/>
          <p:nvPr/>
        </p:nvSpPr>
        <p:spPr>
          <a:xfrm>
            <a:off x="1028224" y="4087773"/>
            <a:ext cx="5939076"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提出 </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C-RRT*-APF</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 算法，解决大规模无人机集群在密集建筑与强电磁干扰下的协同路径规划问题，实现避障与通信连通的协同优化</a:t>
            </a:r>
            <a:endParaRPr lang="en-US" sz="1750" dirty="0"/>
          </a:p>
        </p:txBody>
      </p:sp>
      <p:sp>
        <p:nvSpPr>
          <p:cNvPr id="6" name="Shape 4"/>
          <p:cNvSpPr/>
          <p:nvPr/>
        </p:nvSpPr>
        <p:spPr>
          <a:xfrm>
            <a:off x="7428548" y="3362920"/>
            <a:ext cx="6408063" cy="2047994"/>
          </a:xfrm>
          <a:prstGeom prst="roundRect">
            <a:avLst>
              <a:gd name="adj" fmla="val 4652"/>
            </a:avLst>
          </a:prstGeom>
          <a:solidFill>
            <a:srgbClr val="CDEFFE"/>
          </a:solidFill>
          <a:ln w="7620">
            <a:solidFill>
              <a:srgbClr val="B3D5E4"/>
            </a:solidFill>
            <a:prstDash val="solid"/>
          </a:ln>
        </p:spPr>
      </p:sp>
      <p:sp>
        <p:nvSpPr>
          <p:cNvPr id="7" name="Text 5"/>
          <p:cNvSpPr/>
          <p:nvPr/>
        </p:nvSpPr>
        <p:spPr>
          <a:xfrm>
            <a:off x="7662982" y="3597354"/>
            <a:ext cx="3400544"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任务二：通信保持区域覆盖</a:t>
            </a:r>
            <a:endParaRPr lang="en-US" sz="2200" dirty="0"/>
          </a:p>
        </p:txBody>
      </p:sp>
      <p:sp>
        <p:nvSpPr>
          <p:cNvPr id="8" name="Text 6"/>
          <p:cNvSpPr/>
          <p:nvPr/>
        </p:nvSpPr>
        <p:spPr>
          <a:xfrm>
            <a:off x="7662982" y="4087773"/>
            <a:ext cx="5939195"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提出 </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MPG-NSGA-II</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 算法，解决复杂城市环境下无人机集群区域覆盖侦察部署问题，在多目标框架下平衡覆盖率与网络连通度</a:t>
            </a:r>
            <a:endParaRPr lang="en-US" sz="1750" dirty="0"/>
          </a:p>
        </p:txBody>
      </p:sp>
      <p:sp>
        <p:nvSpPr>
          <p:cNvPr id="9" name="Text 7"/>
          <p:cNvSpPr/>
          <p:nvPr/>
        </p:nvSpPr>
        <p:spPr>
          <a:xfrm>
            <a:off x="793790" y="5666065"/>
            <a:ext cx="13042821" cy="362903"/>
          </a:xfrm>
          <a:prstGeom prst="rect">
            <a:avLst/>
          </a:prstGeom>
          <a:noFill/>
          <a:ln/>
        </p:spPr>
        <p:txBody>
          <a:bodyPr wrap="none" lIns="0" tIns="0" rIns="0" bIns="0" rtlCol="0" anchor="t"/>
          <a:lstStyle/>
          <a:p>
            <a:pPr algn="ctr"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两类任务共同构成城市环境下无人机集群协同执行复杂任务的核心应用场景，均以</a:t>
            </a:r>
            <a:pPr algn="ctr" indent="0" marL="0">
              <a:lnSpc>
                <a:spcPts val="2850"/>
              </a:lnSpc>
              <a:buNone/>
            </a:pPr>
            <a:r>
              <a:rPr lang="en-US" sz="1750" b="1" dirty="0">
                <a:solidFill>
                  <a:srgbClr val="0EB4FC"/>
                </a:solidFill>
                <a:latin typeface="Noto Sans SC" pitchFamily="34" charset="0"/>
                <a:ea typeface="Noto Sans SC" pitchFamily="34" charset="-122"/>
                <a:cs typeface="Noto Sans SC" pitchFamily="34" charset="-120"/>
              </a:rPr>
              <a:t>通信连通保持</a:t>
            </a:r>
            <a:pPr algn="ctr"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为核心约束维度。</a:t>
            </a:r>
            <a:endParaRPr lang="en-US" sz="1750" dirty="0"/>
          </a:p>
        </p:txBody>
      </p:sp>
      <p:sp>
        <p:nvSpPr>
          <p:cNvPr id="10" name="Text 8"/>
          <p:cNvSpPr/>
          <p:nvPr/>
        </p:nvSpPr>
        <p:spPr>
          <a:xfrm>
            <a:off x="7199709" y="7716917"/>
            <a:ext cx="230981" cy="254079"/>
          </a:xfrm>
          <a:prstGeom prst="rect">
            <a:avLst/>
          </a:prstGeom>
          <a:noFill/>
          <a:ln/>
        </p:spPr>
        <p:txBody>
          <a:bodyPr wrap="none" lIns="0" tIns="0" rIns="0" bIns="0" rtlCol="0" anchor="t"/>
          <a:lstStyle/>
          <a:p>
            <a:pPr algn="ct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5</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25022"/>
            <a:ext cx="8504634"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理论基础：多智能体路径规划方法</a:t>
            </a:r>
            <a:endParaRPr lang="en-US" sz="4450" dirty="0"/>
          </a:p>
        </p:txBody>
      </p:sp>
      <p:sp>
        <p:nvSpPr>
          <p:cNvPr id="3" name="Shape 1"/>
          <p:cNvSpPr/>
          <p:nvPr/>
        </p:nvSpPr>
        <p:spPr>
          <a:xfrm>
            <a:off x="793790" y="3505081"/>
            <a:ext cx="4082891" cy="2268260"/>
          </a:xfrm>
          <a:prstGeom prst="roundRect">
            <a:avLst>
              <a:gd name="adj" fmla="val 4200"/>
            </a:avLst>
          </a:prstGeom>
          <a:solidFill>
            <a:srgbClr val="DFDFE0"/>
          </a:solidFill>
          <a:ln/>
        </p:spPr>
      </p:sp>
      <p:pic>
        <p:nvPicPr>
          <p:cNvPr id="4" name="Image 0" descr="preencoded.png">    </p:cNvPr>
          <p:cNvPicPr>
            <a:picLocks noChangeAspect="1"/>
          </p:cNvPicPr>
          <p:nvPr/>
        </p:nvPicPr>
        <p:blipFill>
          <a:blip r:embed="rId1"/>
          <a:stretch>
            <a:fillRect/>
          </a:stretch>
        </p:blipFill>
        <p:spPr>
          <a:xfrm>
            <a:off x="2720935" y="4437698"/>
            <a:ext cx="228600" cy="228600"/>
          </a:xfrm>
          <a:prstGeom prst="rect">
            <a:avLst/>
          </a:prstGeom>
        </p:spPr>
      </p:pic>
      <p:sp>
        <p:nvSpPr>
          <p:cNvPr id="5" name="Text 2"/>
          <p:cNvSpPr/>
          <p:nvPr/>
        </p:nvSpPr>
        <p:spPr>
          <a:xfrm>
            <a:off x="2301835" y="4752023"/>
            <a:ext cx="1066800" cy="170617"/>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Noto Sans SC" pitchFamily="34" charset="0"/>
                <a:ea typeface="Noto Sans SC" pitchFamily="34" charset="-122"/>
                <a:cs typeface="Noto Sans SC" pitchFamily="34" charset="-120"/>
              </a:rPr>
              <a:t>生成此图像时出现错误</a:t>
            </a:r>
            <a:endParaRPr lang="en-US" sz="800" dirty="0"/>
          </a:p>
        </p:txBody>
      </p:sp>
      <p:sp>
        <p:nvSpPr>
          <p:cNvPr id="6" name="Text 3"/>
          <p:cNvSpPr/>
          <p:nvPr/>
        </p:nvSpPr>
        <p:spPr>
          <a:xfrm>
            <a:off x="5559981" y="240077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RRT* 算法</a:t>
            </a:r>
            <a:endParaRPr lang="en-US" sz="2200" dirty="0"/>
          </a:p>
        </p:txBody>
      </p:sp>
      <p:sp>
        <p:nvSpPr>
          <p:cNvPr id="7" name="Text 4"/>
          <p:cNvSpPr/>
          <p:nvPr/>
        </p:nvSpPr>
        <p:spPr>
          <a:xfrm>
            <a:off x="5559981" y="2981920"/>
            <a:ext cx="828413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在 RRT 基础上引入</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最优父节点选择</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与</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重布线机制</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，在保持概率完备性的同时实现渐近最优性。邻域半径动态调整：</a:t>
            </a:r>
            <a:endParaRPr lang="en-US" sz="1750" dirty="0"/>
          </a:p>
        </p:txBody>
      </p:sp>
      <p:sp>
        <p:nvSpPr>
          <p:cNvPr id="8" name="Text 5"/>
          <p:cNvSpPr/>
          <p:nvPr/>
        </p:nvSpPr>
        <p:spPr>
          <a:xfrm>
            <a:off x="5559981" y="3994785"/>
            <a:ext cx="8284131" cy="926306"/>
          </a:xfrm>
          <a:prstGeom prst="rect">
            <a:avLst/>
          </a:prstGeom>
          <a:noFill/>
          <a:ln/>
        </p:spPr>
        <p:txBody>
          <a:bodyPr wrap="square" lIns="0" tIns="0" rIns="0" bIns="0" rtlCol="0" anchor="t"/>
          <a:lstStyle/>
          <a:p>
            <a:pPr algn="l" indent="0" marL="0">
              <a:lnSpc>
                <a:spcPts val="3200"/>
              </a:lnSpc>
              <a:buNone/>
            </a:pPr>
            <a:endParaRPr lang="en-US" sz="2000" dirty="0"/>
          </a:p>
        </p:txBody>
      </p:sp>
      <p:pic>
        <p:nvPicPr>
          <p:cNvPr id="9" name="Image 1" descr="preencoded.png">    </p:cNvPr>
          <p:cNvPicPr>
            <a:picLocks noChangeAspect="1"/>
          </p:cNvPicPr>
          <p:nvPr/>
        </p:nvPicPr>
        <p:blipFill>
          <a:blip r:embed="rId2"/>
          <a:stretch>
            <a:fillRect/>
          </a:stretch>
        </p:blipFill>
        <p:spPr>
          <a:xfrm>
            <a:off x="5559981" y="3994785"/>
            <a:ext cx="8284131" cy="926306"/>
          </a:xfrm>
          <a:prstGeom prst="rect">
            <a:avLst/>
          </a:prstGeom>
        </p:spPr>
      </p:pic>
      <p:sp>
        <p:nvSpPr>
          <p:cNvPr id="10" name="Shape 6"/>
          <p:cNvSpPr/>
          <p:nvPr/>
        </p:nvSpPr>
        <p:spPr>
          <a:xfrm>
            <a:off x="5559981" y="5264825"/>
            <a:ext cx="8284131" cy="16907"/>
          </a:xfrm>
          <a:prstGeom prst="rect">
            <a:avLst/>
          </a:prstGeom>
          <a:solidFill>
            <a:srgbClr val="000000">
              <a:alpha val="50000"/>
            </a:srgbClr>
          </a:solidFill>
          <a:ln/>
        </p:spPr>
      </p:sp>
      <p:sp>
        <p:nvSpPr>
          <p:cNvPr id="11" name="Text 7"/>
          <p:cNvSpPr/>
          <p:nvPr/>
        </p:nvSpPr>
        <p:spPr>
          <a:xfrm>
            <a:off x="5559981" y="559355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人工势场法（APF）</a:t>
            </a:r>
            <a:endParaRPr lang="en-US" sz="2200" dirty="0"/>
          </a:p>
        </p:txBody>
      </p:sp>
      <p:sp>
        <p:nvSpPr>
          <p:cNvPr id="12" name="Text 8"/>
          <p:cNvSpPr/>
          <p:nvPr/>
        </p:nvSpPr>
        <p:spPr>
          <a:xfrm>
            <a:off x="5559981" y="6174700"/>
            <a:ext cx="828413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目标点产生</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吸引势</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，障碍物产生</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排斥势</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，合力引导智能体运动。优势：实时性强；局限：易陷入局部极小点。</a:t>
            </a:r>
            <a:endParaRPr lang="en-US" sz="1750" dirty="0"/>
          </a:p>
        </p:txBody>
      </p:sp>
      <p:sp>
        <p:nvSpPr>
          <p:cNvPr id="13" name="Text 9"/>
          <p:cNvSpPr/>
          <p:nvPr/>
        </p:nvSpPr>
        <p:spPr>
          <a:xfrm>
            <a:off x="7199709" y="7716917"/>
            <a:ext cx="230981" cy="254079"/>
          </a:xfrm>
          <a:prstGeom prst="rect">
            <a:avLst/>
          </a:prstGeom>
          <a:noFill/>
          <a:ln/>
        </p:spPr>
        <p:txBody>
          <a:bodyPr wrap="none" lIns="0" tIns="0" rIns="0" bIns="0" rtlCol="0" anchor="t"/>
          <a:lstStyle/>
          <a:p>
            <a:pPr algn="ct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6</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04900"/>
            <a:ext cx="8504634"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理论基础：多目标优化与图连通性</a:t>
            </a:r>
            <a:endParaRPr lang="en-US" sz="4450" dirty="0"/>
          </a:p>
        </p:txBody>
      </p:sp>
      <p:sp>
        <p:nvSpPr>
          <p:cNvPr id="3" name="Text 1"/>
          <p:cNvSpPr/>
          <p:nvPr/>
        </p:nvSpPr>
        <p:spPr>
          <a:xfrm>
            <a:off x="793790" y="238065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NSGA-II 核心机制</a:t>
            </a:r>
            <a:endParaRPr lang="en-US" sz="2200" dirty="0"/>
          </a:p>
        </p:txBody>
      </p:sp>
      <p:sp>
        <p:nvSpPr>
          <p:cNvPr id="4" name="Shape 2"/>
          <p:cNvSpPr/>
          <p:nvPr/>
        </p:nvSpPr>
        <p:spPr>
          <a:xfrm>
            <a:off x="793790" y="2990136"/>
            <a:ext cx="3008948" cy="2193965"/>
          </a:xfrm>
          <a:prstGeom prst="roundRect">
            <a:avLst>
              <a:gd name="adj" fmla="val 4342"/>
            </a:avLst>
          </a:prstGeom>
          <a:solidFill>
            <a:srgbClr val="E6E9EB"/>
          </a:solidFill>
          <a:ln w="30480">
            <a:solidFill>
              <a:srgbClr val="B3D5E4"/>
            </a:solidFill>
            <a:prstDash val="solid"/>
          </a:ln>
        </p:spPr>
      </p:sp>
      <p:sp>
        <p:nvSpPr>
          <p:cNvPr id="5" name="Text 3"/>
          <p:cNvSpPr/>
          <p:nvPr/>
        </p:nvSpPr>
        <p:spPr>
          <a:xfrm>
            <a:off x="1051084" y="3247430"/>
            <a:ext cx="2494359"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快速非支配排序</a:t>
            </a:r>
            <a:endParaRPr lang="en-US" sz="2200" dirty="0"/>
          </a:p>
        </p:txBody>
      </p:sp>
      <p:sp>
        <p:nvSpPr>
          <p:cNvPr id="6" name="Text 4"/>
          <p:cNvSpPr/>
          <p:nvPr/>
        </p:nvSpPr>
        <p:spPr>
          <a:xfrm>
            <a:off x="1051084" y="3828574"/>
            <a:ext cx="2494359" cy="1098232"/>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将个体划分为多个帕累托前沿 </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F_1, F_2, \ldots</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，复杂度 </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O(MN^2)</a:t>
            </a:r>
            <a:endParaRPr lang="en-US" sz="1750" dirty="0"/>
          </a:p>
        </p:txBody>
      </p:sp>
      <p:sp>
        <p:nvSpPr>
          <p:cNvPr id="7" name="Shape 5"/>
          <p:cNvSpPr/>
          <p:nvPr/>
        </p:nvSpPr>
        <p:spPr>
          <a:xfrm>
            <a:off x="4029551" y="2990136"/>
            <a:ext cx="3008948" cy="2193965"/>
          </a:xfrm>
          <a:prstGeom prst="roundRect">
            <a:avLst>
              <a:gd name="adj" fmla="val 4342"/>
            </a:avLst>
          </a:prstGeom>
          <a:solidFill>
            <a:srgbClr val="E6E9EB"/>
          </a:solidFill>
          <a:ln w="30480">
            <a:solidFill>
              <a:srgbClr val="B3D5E4"/>
            </a:solidFill>
            <a:prstDash val="solid"/>
          </a:ln>
        </p:spPr>
      </p:sp>
      <p:sp>
        <p:nvSpPr>
          <p:cNvPr id="8" name="Text 6"/>
          <p:cNvSpPr/>
          <p:nvPr/>
        </p:nvSpPr>
        <p:spPr>
          <a:xfrm>
            <a:off x="4286845" y="3247430"/>
            <a:ext cx="2494359"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拥挤度距离</a:t>
            </a:r>
            <a:endParaRPr lang="en-US" sz="2200" dirty="0"/>
          </a:p>
        </p:txBody>
      </p:sp>
      <p:sp>
        <p:nvSpPr>
          <p:cNvPr id="9" name="Text 7"/>
          <p:cNvSpPr/>
          <p:nvPr/>
        </p:nvSpPr>
        <p:spPr>
          <a:xfrm>
            <a:off x="4286845" y="3828574"/>
            <a:ext cx="2494359"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衡量个体在目标空间的稀疏性，保证解集多样性</a:t>
            </a:r>
            <a:endParaRPr lang="en-US" sz="1750" dirty="0"/>
          </a:p>
        </p:txBody>
      </p:sp>
      <p:sp>
        <p:nvSpPr>
          <p:cNvPr id="10" name="Shape 8"/>
          <p:cNvSpPr/>
          <p:nvPr/>
        </p:nvSpPr>
        <p:spPr>
          <a:xfrm>
            <a:off x="793790" y="5410914"/>
            <a:ext cx="6244709" cy="1458635"/>
          </a:xfrm>
          <a:prstGeom prst="roundRect">
            <a:avLst>
              <a:gd name="adj" fmla="val 6531"/>
            </a:avLst>
          </a:prstGeom>
          <a:solidFill>
            <a:srgbClr val="E6E9EB"/>
          </a:solidFill>
          <a:ln w="30480">
            <a:solidFill>
              <a:srgbClr val="B3D5E4"/>
            </a:solidFill>
            <a:prstDash val="solid"/>
          </a:ln>
        </p:spPr>
      </p:sp>
      <p:sp>
        <p:nvSpPr>
          <p:cNvPr id="11" name="Text 9"/>
          <p:cNvSpPr/>
          <p:nvPr/>
        </p:nvSpPr>
        <p:spPr>
          <a:xfrm>
            <a:off x="1051084" y="566820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精英保留策略</a:t>
            </a:r>
            <a:endParaRPr lang="en-US" sz="2200" dirty="0"/>
          </a:p>
        </p:txBody>
      </p:sp>
      <p:sp>
        <p:nvSpPr>
          <p:cNvPr id="12" name="Text 10"/>
          <p:cNvSpPr/>
          <p:nvPr/>
        </p:nvSpPr>
        <p:spPr>
          <a:xfrm>
            <a:off x="1051084" y="6249353"/>
            <a:ext cx="5730121"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父代与子代合并选优，保证收敛性</a:t>
            </a:r>
            <a:endParaRPr lang="en-US" sz="1750" dirty="0"/>
          </a:p>
        </p:txBody>
      </p:sp>
      <p:sp>
        <p:nvSpPr>
          <p:cNvPr id="13" name="Text 11"/>
          <p:cNvSpPr/>
          <p:nvPr/>
        </p:nvSpPr>
        <p:spPr>
          <a:xfrm>
            <a:off x="7599521" y="238065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集群网络连通性理论</a:t>
            </a:r>
            <a:endParaRPr lang="en-US" sz="2200" dirty="0"/>
          </a:p>
        </p:txBody>
      </p:sp>
      <p:sp>
        <p:nvSpPr>
          <p:cNvPr id="14" name="Text 12"/>
          <p:cNvSpPr/>
          <p:nvPr/>
        </p:nvSpPr>
        <p:spPr>
          <a:xfrm>
            <a:off x="7599521" y="2961799"/>
            <a:ext cx="6244709" cy="730568"/>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代数连通度</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 </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\lambda_2(L)</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：图拉普拉斯矩阵第二小特征值，</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\lambda_2 &gt; 0</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 当且仅当图连通。</a:t>
            </a:r>
            <a:endParaRPr lang="en-US" sz="1750" dirty="0"/>
          </a:p>
        </p:txBody>
      </p:sp>
      <p:sp>
        <p:nvSpPr>
          <p:cNvPr id="15" name="Text 13"/>
          <p:cNvSpPr/>
          <p:nvPr/>
        </p:nvSpPr>
        <p:spPr>
          <a:xfrm>
            <a:off x="7599521" y="3896439"/>
            <a:ext cx="6244709"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最大瓶颈生成树（MBST）</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：最小化网络中最弱通信链路，通过降序 Kruskal 算法构建：</a:t>
            </a:r>
            <a:endParaRPr lang="en-US" sz="1750" dirty="0"/>
          </a:p>
        </p:txBody>
      </p:sp>
      <p:sp>
        <p:nvSpPr>
          <p:cNvPr id="16" name="Text 14"/>
          <p:cNvSpPr/>
          <p:nvPr/>
        </p:nvSpPr>
        <p:spPr>
          <a:xfrm>
            <a:off x="7599521" y="4909304"/>
            <a:ext cx="6244709" cy="520184"/>
          </a:xfrm>
          <a:prstGeom prst="rect">
            <a:avLst/>
          </a:prstGeom>
          <a:noFill/>
          <a:ln/>
        </p:spPr>
        <p:txBody>
          <a:bodyPr wrap="none" lIns="0" tIns="0" rIns="0" bIns="0" rtlCol="0" anchor="t"/>
          <a:lstStyle/>
          <a:p>
            <a:pPr algn="l" indent="0" marL="0">
              <a:lnSpc>
                <a:spcPts val="3200"/>
              </a:lnSpc>
              <a:buNone/>
            </a:pPr>
            <a:endParaRPr lang="en-US" sz="2000" dirty="0"/>
          </a:p>
        </p:txBody>
      </p:sp>
      <p:pic>
        <p:nvPicPr>
          <p:cNvPr id="17" name="Image 0" descr="preencoded.png">    </p:cNvPr>
          <p:cNvPicPr>
            <a:picLocks noChangeAspect="1"/>
          </p:cNvPicPr>
          <p:nvPr/>
        </p:nvPicPr>
        <p:blipFill>
          <a:blip r:embed="rId1"/>
          <a:stretch>
            <a:fillRect/>
          </a:stretch>
        </p:blipFill>
        <p:spPr>
          <a:xfrm>
            <a:off x="7599521" y="4909304"/>
            <a:ext cx="6244709" cy="520184"/>
          </a:xfrm>
          <a:prstGeom prst="rect">
            <a:avLst/>
          </a:prstGeom>
        </p:spPr>
      </p:pic>
      <p:sp>
        <p:nvSpPr>
          <p:cNvPr id="18" name="Text 15"/>
          <p:cNvSpPr/>
          <p:nvPr/>
        </p:nvSpPr>
        <p:spPr>
          <a:xfrm>
            <a:off x="7599521" y="5716548"/>
            <a:ext cx="6244709" cy="367665"/>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三者关系：</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\lambda_2(L) \leq k(G) \leq \delta(G)</a:t>
            </a:r>
            <a:endParaRPr lang="en-US" sz="1750" dirty="0"/>
          </a:p>
        </p:txBody>
      </p:sp>
      <p:sp>
        <p:nvSpPr>
          <p:cNvPr id="19" name="Text 16"/>
          <p:cNvSpPr/>
          <p:nvPr/>
        </p:nvSpPr>
        <p:spPr>
          <a:xfrm>
            <a:off x="7199709" y="7716917"/>
            <a:ext cx="230981" cy="254079"/>
          </a:xfrm>
          <a:prstGeom prst="rect">
            <a:avLst/>
          </a:prstGeom>
          <a:noFill/>
          <a:ln/>
        </p:spPr>
        <p:txBody>
          <a:bodyPr wrap="none" lIns="0" tIns="0" rIns="0" bIns="0" rtlCol="0" anchor="t"/>
          <a:lstStyle/>
          <a:p>
            <a:pPr algn="ct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7</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Shape 1"/>
          <p:cNvSpPr/>
          <p:nvPr/>
        </p:nvSpPr>
        <p:spPr>
          <a:xfrm>
            <a:off x="793790" y="2614493"/>
            <a:ext cx="816173" cy="426244"/>
          </a:xfrm>
          <a:prstGeom prst="roundRect">
            <a:avLst>
              <a:gd name="adj" fmla="val 17880"/>
            </a:avLst>
          </a:prstGeom>
          <a:solidFill>
            <a:srgbClr val="CDEFFE"/>
          </a:solidFill>
          <a:ln/>
        </p:spPr>
      </p:sp>
      <p:sp>
        <p:nvSpPr>
          <p:cNvPr id="6" name="Text 2"/>
          <p:cNvSpPr/>
          <p:nvPr/>
        </p:nvSpPr>
        <p:spPr>
          <a:xfrm>
            <a:off x="929878" y="2682478"/>
            <a:ext cx="543997" cy="290274"/>
          </a:xfrm>
          <a:prstGeom prst="rect">
            <a:avLst/>
          </a:prstGeom>
          <a:noFill/>
          <a:ln/>
        </p:spPr>
        <p:txBody>
          <a:bodyPr wrap="none" lIns="0" tIns="0" rIns="0" bIns="0" rtlCol="0" anchor="t"/>
          <a:lstStyle/>
          <a:p>
            <a:pPr algn="l" indent="0" marL="0">
              <a:lnSpc>
                <a:spcPts val="2250"/>
              </a:lnSpc>
              <a:buNone/>
            </a:pPr>
            <a:r>
              <a:rPr lang="en-US" sz="1400" dirty="0">
                <a:solidFill>
                  <a:srgbClr val="000000"/>
                </a:solidFill>
                <a:latin typeface="Noto Sans SC" pitchFamily="34" charset="0"/>
                <a:ea typeface="Noto Sans SC" pitchFamily="34" charset="-122"/>
                <a:cs typeface="Noto Sans SC" pitchFamily="34" charset="-120"/>
              </a:rPr>
              <a:t>第三章</a:t>
            </a:r>
            <a:endParaRPr lang="en-US" sz="1400" dirty="0"/>
          </a:p>
        </p:txBody>
      </p:sp>
      <p:sp>
        <p:nvSpPr>
          <p:cNvPr id="7" name="Text 3"/>
          <p:cNvSpPr/>
          <p:nvPr/>
        </p:nvSpPr>
        <p:spPr>
          <a:xfrm>
            <a:off x="793790" y="3131463"/>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C-RRT*-APF：分层分簇通信保持路径规划算法</a:t>
            </a:r>
            <a:endParaRPr lang="en-US" sz="4450" dirty="0"/>
          </a:p>
        </p:txBody>
      </p:sp>
      <p:sp>
        <p:nvSpPr>
          <p:cNvPr id="8" name="Text 4"/>
          <p:cNvSpPr/>
          <p:nvPr/>
        </p:nvSpPr>
        <p:spPr>
          <a:xfrm>
            <a:off x="793790" y="4889182"/>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针对大规模无人机集群在复杂城市环境下通信保持路径规划问题，提出融合全局采样规划与局部人工势场的分层分簇算法框架。</a:t>
            </a:r>
            <a:endParaRPr lang="en-US" sz="1750" dirty="0"/>
          </a:p>
        </p:txBody>
      </p:sp>
      <p:sp>
        <p:nvSpPr>
          <p:cNvPr id="9" name="Text 5"/>
          <p:cNvSpPr/>
          <p:nvPr/>
        </p:nvSpPr>
        <p:spPr>
          <a:xfrm>
            <a:off x="8706683" y="7716917"/>
            <a:ext cx="278606" cy="254079"/>
          </a:xfrm>
          <a:prstGeom prst="rect">
            <a:avLst/>
          </a:prstGeom>
          <a:noFill/>
          <a:ln/>
        </p:spPr>
        <p:txBody>
          <a:bodyPr wrap="none" lIns="0" tIns="0" rIns="0" bIns="0" rtlCol="0" anchor="t"/>
          <a:lstStyle/>
          <a:p>
            <a:pPr algn="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8</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34747"/>
            <a:ext cx="5783699" cy="602456"/>
          </a:xfrm>
          <a:prstGeom prst="rect">
            <a:avLst/>
          </a:prstGeom>
          <a:noFill/>
          <a:ln/>
        </p:spPr>
        <p:txBody>
          <a:bodyPr wrap="none" lIns="0" tIns="0" rIns="0" bIns="0" rtlCol="0" anchor="t"/>
          <a:lstStyle/>
          <a:p>
            <a:pPr algn="l" indent="0" marL="0">
              <a:lnSpc>
                <a:spcPts val="4700"/>
              </a:lnSpc>
              <a:buNone/>
            </a:pPr>
            <a:r>
              <a:rPr lang="en-US" sz="3750" b="1" dirty="0">
                <a:solidFill>
                  <a:srgbClr val="0A468C"/>
                </a:solidFill>
                <a:latin typeface="Noto Sans SC Bold" pitchFamily="34" charset="0"/>
                <a:ea typeface="Noto Sans SC Bold" pitchFamily="34" charset="-122"/>
                <a:cs typeface="Noto Sans SC Bold" pitchFamily="34" charset="-120"/>
              </a:rPr>
              <a:t>系统模型：场景与通信建模</a:t>
            </a:r>
            <a:endParaRPr lang="en-US" sz="3750" dirty="0"/>
          </a:p>
        </p:txBody>
      </p:sp>
      <p:sp>
        <p:nvSpPr>
          <p:cNvPr id="3" name="Text 1"/>
          <p:cNvSpPr/>
          <p:nvPr/>
        </p:nvSpPr>
        <p:spPr>
          <a:xfrm>
            <a:off x="793790" y="2530912"/>
            <a:ext cx="2409944" cy="301228"/>
          </a:xfrm>
          <a:prstGeom prst="rect">
            <a:avLst/>
          </a:prstGeom>
          <a:noFill/>
          <a:ln/>
        </p:spPr>
        <p:txBody>
          <a:bodyPr wrap="none" lIns="0" tIns="0" rIns="0" bIns="0" rtlCol="0" anchor="t"/>
          <a:lstStyle/>
          <a:p>
            <a:pPr algn="l" indent="0" marL="0">
              <a:lnSpc>
                <a:spcPts val="2350"/>
              </a:lnSpc>
              <a:buNone/>
            </a:pPr>
            <a:r>
              <a:rPr lang="en-US" sz="1850" b="1" dirty="0">
                <a:solidFill>
                  <a:srgbClr val="0A468C"/>
                </a:solidFill>
                <a:latin typeface="Noto Sans SC Bold" pitchFamily="34" charset="0"/>
                <a:ea typeface="Noto Sans SC Bold" pitchFamily="34" charset="-122"/>
                <a:cs typeface="Noto Sans SC Bold" pitchFamily="34" charset="-120"/>
              </a:rPr>
              <a:t>场景模型</a:t>
            </a:r>
            <a:endParaRPr lang="en-US" sz="1850" dirty="0"/>
          </a:p>
        </p:txBody>
      </p:sp>
      <p:sp>
        <p:nvSpPr>
          <p:cNvPr id="4" name="Text 2"/>
          <p:cNvSpPr/>
          <p:nvPr/>
        </p:nvSpPr>
        <p:spPr>
          <a:xfrm>
            <a:off x="793790" y="2995970"/>
            <a:ext cx="6286262" cy="859155"/>
          </a:xfrm>
          <a:prstGeom prst="rect">
            <a:avLst/>
          </a:prstGeom>
          <a:noFill/>
          <a:ln/>
        </p:spPr>
        <p:txBody>
          <a:bodyPr wrap="squar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二维矩形作战区域 </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[0,L_x]\times[0,L_y]</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，包含建筑物集合 </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\mathcal{O}</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、干扰节点 </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J</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 及无人机集群 </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\mathcal{U}=\{u_1,\ldots,u_N\}</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。每架无人机携带有限感知半径 </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l</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 的传感器，实时更新环境信息。</a:t>
            </a:r>
            <a:endParaRPr lang="en-US" sz="1500" dirty="0"/>
          </a:p>
        </p:txBody>
      </p:sp>
      <p:sp>
        <p:nvSpPr>
          <p:cNvPr id="5" name="Shape 3"/>
          <p:cNvSpPr/>
          <p:nvPr/>
        </p:nvSpPr>
        <p:spPr>
          <a:xfrm>
            <a:off x="793790" y="4087535"/>
            <a:ext cx="6286262" cy="14407"/>
          </a:xfrm>
          <a:prstGeom prst="rect">
            <a:avLst/>
          </a:prstGeom>
          <a:solidFill>
            <a:srgbClr val="000000">
              <a:alpha val="50000"/>
            </a:srgbClr>
          </a:solidFill>
          <a:ln/>
        </p:spPr>
      </p:sp>
      <p:sp>
        <p:nvSpPr>
          <p:cNvPr id="6" name="Text 4"/>
          <p:cNvSpPr/>
          <p:nvPr/>
        </p:nvSpPr>
        <p:spPr>
          <a:xfrm>
            <a:off x="793790" y="4334351"/>
            <a:ext cx="2409944" cy="301228"/>
          </a:xfrm>
          <a:prstGeom prst="rect">
            <a:avLst/>
          </a:prstGeom>
          <a:noFill/>
          <a:ln/>
        </p:spPr>
        <p:txBody>
          <a:bodyPr wrap="none" lIns="0" tIns="0" rIns="0" bIns="0" rtlCol="0" anchor="t"/>
          <a:lstStyle/>
          <a:p>
            <a:pPr algn="l" indent="0" marL="0">
              <a:lnSpc>
                <a:spcPts val="2350"/>
              </a:lnSpc>
              <a:buNone/>
            </a:pPr>
            <a:r>
              <a:rPr lang="en-US" sz="1850" b="1" dirty="0">
                <a:solidFill>
                  <a:srgbClr val="0A468C"/>
                </a:solidFill>
                <a:latin typeface="Noto Sans SC Bold" pitchFamily="34" charset="0"/>
                <a:ea typeface="Noto Sans SC Bold" pitchFamily="34" charset="-122"/>
                <a:cs typeface="Noto Sans SC Bold" pitchFamily="34" charset="-120"/>
              </a:rPr>
              <a:t>通信模型（SINR）</a:t>
            </a:r>
            <a:endParaRPr lang="en-US" sz="1850" dirty="0"/>
          </a:p>
        </p:txBody>
      </p:sp>
      <p:sp>
        <p:nvSpPr>
          <p:cNvPr id="7" name="Text 5"/>
          <p:cNvSpPr/>
          <p:nvPr/>
        </p:nvSpPr>
        <p:spPr>
          <a:xfrm>
            <a:off x="793790" y="4799409"/>
            <a:ext cx="6286262" cy="860822"/>
          </a:xfrm>
          <a:prstGeom prst="rect">
            <a:avLst/>
          </a:prstGeom>
          <a:noFill/>
          <a:ln/>
        </p:spPr>
        <p:txBody>
          <a:bodyPr wrap="squar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采用自由空间传播模型引入城市路径损耗补偿因子 </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\eta</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，区分视距（</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\eta_{\text{LOS}}=1.0</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）与非视距（</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\eta_{\text{NLOS}}=20.0</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）信道。双向 SINR 均满足门限 </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\gamma_{th}=10\text{ dB}</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 时，链路有效：</a:t>
            </a:r>
            <a:endParaRPr lang="en-US" sz="1500" dirty="0"/>
          </a:p>
        </p:txBody>
      </p:sp>
      <p:sp>
        <p:nvSpPr>
          <p:cNvPr id="8" name="Text 6"/>
          <p:cNvSpPr/>
          <p:nvPr/>
        </p:nvSpPr>
        <p:spPr>
          <a:xfrm>
            <a:off x="793790" y="5867638"/>
            <a:ext cx="6286262" cy="635675"/>
          </a:xfrm>
          <a:prstGeom prst="rect">
            <a:avLst/>
          </a:prstGeom>
          <a:noFill/>
          <a:ln/>
        </p:spPr>
        <p:txBody>
          <a:bodyPr wrap="square" lIns="0" tIns="0" rIns="0" bIns="0" rtlCol="0" anchor="t"/>
          <a:lstStyle/>
          <a:p>
            <a:pPr algn="l" indent="0" marL="0">
              <a:lnSpc>
                <a:spcPts val="2500"/>
              </a:lnSpc>
              <a:buNone/>
            </a:pPr>
            <a:endParaRPr lang="en-US" sz="1700" dirty="0"/>
          </a:p>
        </p:txBody>
      </p:sp>
      <p:pic>
        <p:nvPicPr>
          <p:cNvPr id="9" name="Image 0" descr="preencoded.png">    </p:cNvPr>
          <p:cNvPicPr>
            <a:picLocks noChangeAspect="1"/>
          </p:cNvPicPr>
          <p:nvPr/>
        </p:nvPicPr>
        <p:blipFill>
          <a:blip r:embed="rId1"/>
          <a:stretch>
            <a:fillRect/>
          </a:stretch>
        </p:blipFill>
        <p:spPr>
          <a:xfrm>
            <a:off x="793790" y="5867638"/>
            <a:ext cx="6286262" cy="635675"/>
          </a:xfrm>
          <a:prstGeom prst="rect">
            <a:avLst/>
          </a:prstGeom>
        </p:spPr>
      </p:pic>
      <p:pic>
        <p:nvPicPr>
          <p:cNvPr id="10" name="Image 1" descr="preencoded.png">    </p:cNvPr>
          <p:cNvPicPr>
            <a:picLocks noChangeAspect="1"/>
          </p:cNvPicPr>
          <p:nvPr/>
        </p:nvPicPr>
        <p:blipFill>
          <a:blip r:embed="rId2"/>
          <a:stretch>
            <a:fillRect/>
          </a:stretch>
        </p:blipFill>
        <p:spPr>
          <a:xfrm>
            <a:off x="7557968" y="1867257"/>
            <a:ext cx="5343287" cy="5343287"/>
          </a:xfrm>
          <a:prstGeom prst="rect">
            <a:avLst/>
          </a:prstGeom>
        </p:spPr>
      </p:pic>
      <p:pic>
        <p:nvPicPr>
          <p:cNvPr id="11" name="Image 2" descr="preencoded.png">    </p:cNvPr>
          <p:cNvPicPr>
            <a:picLocks noChangeAspect="1"/>
          </p:cNvPicPr>
          <p:nvPr/>
        </p:nvPicPr>
        <p:blipFill>
          <a:blip r:embed="rId3"/>
          <a:stretch>
            <a:fillRect/>
          </a:stretch>
        </p:blipFill>
        <p:spPr>
          <a:xfrm>
            <a:off x="7557968" y="1867257"/>
            <a:ext cx="5343287" cy="5343287"/>
          </a:xfrm>
          <a:prstGeom prst="rect">
            <a:avLst/>
          </a:prstGeom>
        </p:spPr>
      </p:pic>
      <p:sp>
        <p:nvSpPr>
          <p:cNvPr id="12" name="Text 7"/>
          <p:cNvSpPr/>
          <p:nvPr/>
        </p:nvSpPr>
        <p:spPr>
          <a:xfrm>
            <a:off x="7187089" y="7726442"/>
            <a:ext cx="256223" cy="235029"/>
          </a:xfrm>
          <a:prstGeom prst="rect">
            <a:avLst/>
          </a:prstGeom>
          <a:noFill/>
          <a:ln/>
        </p:spPr>
        <p:txBody>
          <a:bodyPr wrap="none" lIns="0" tIns="0" rIns="0" bIns="0" rtlCol="0" anchor="t"/>
          <a:lstStyle/>
          <a:p>
            <a:pPr algn="ctr" indent="0" marL="0">
              <a:lnSpc>
                <a:spcPts val="1850"/>
              </a:lnSpc>
              <a:buNone/>
            </a:pPr>
            <a:r>
              <a:rPr lang="en-US" sz="1250" dirty="0">
                <a:solidFill>
                  <a:srgbClr val="000000"/>
                </a:solidFill>
                <a:latin typeface="Noto Sans SC" pitchFamily="34" charset="0"/>
                <a:ea typeface="Noto Sans SC" pitchFamily="34" charset="-122"/>
                <a:cs typeface="Noto Sans SC" pitchFamily="34" charset="-120"/>
              </a:rPr>
              <a:t>9</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9025" y="782122"/>
            <a:ext cx="4944070" cy="618053"/>
          </a:xfrm>
          <a:prstGeom prst="rect">
            <a:avLst/>
          </a:prstGeom>
          <a:noFill/>
          <a:ln/>
        </p:spPr>
        <p:txBody>
          <a:bodyPr wrap="none" lIns="0" tIns="0" rIns="0" bIns="0" rtlCol="0" anchor="t"/>
          <a:lstStyle/>
          <a:p>
            <a:pPr algn="l" indent="0" marL="0">
              <a:lnSpc>
                <a:spcPts val="4850"/>
              </a:lnSpc>
              <a:buNone/>
            </a:pPr>
            <a:r>
              <a:rPr lang="en-US" sz="3850" b="1" dirty="0">
                <a:solidFill>
                  <a:srgbClr val="0A468C"/>
                </a:solidFill>
                <a:latin typeface="Noto Sans SC Bold" pitchFamily="34" charset="0"/>
                <a:ea typeface="Noto Sans SC Bold" pitchFamily="34" charset="-122"/>
                <a:cs typeface="Noto Sans SC Bold" pitchFamily="34" charset="-120"/>
              </a:rPr>
              <a:t>C-RRT*-APF 算法框架</a:t>
            </a:r>
            <a:endParaRPr lang="en-US" sz="3850" dirty="0"/>
          </a:p>
        </p:txBody>
      </p:sp>
      <p:pic>
        <p:nvPicPr>
          <p:cNvPr id="3" name="Image 0" descr="preencoded.png">    </p:cNvPr>
          <p:cNvPicPr>
            <a:picLocks noChangeAspect="1"/>
          </p:cNvPicPr>
          <p:nvPr/>
        </p:nvPicPr>
        <p:blipFill>
          <a:blip r:embed="rId1"/>
          <a:stretch>
            <a:fillRect/>
          </a:stretch>
        </p:blipFill>
        <p:spPr>
          <a:xfrm>
            <a:off x="3854887" y="1744980"/>
            <a:ext cx="6920508" cy="4107299"/>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96529" y="2748872"/>
            <a:ext cx="589131" cy="589131"/>
          </a:xfrm>
          <a:prstGeom prst="rect">
            <a:avLst/>
          </a:prstGeom>
        </p:spPr>
      </p:pic>
      <p:sp>
        <p:nvSpPr>
          <p:cNvPr id="5" name="Text 1"/>
          <p:cNvSpPr/>
          <p:nvPr/>
        </p:nvSpPr>
        <p:spPr>
          <a:xfrm>
            <a:off x="8671649" y="4899568"/>
            <a:ext cx="1720262" cy="331386"/>
          </a:xfrm>
          <a:prstGeom prst="rect">
            <a:avLst/>
          </a:prstGeom>
          <a:noFill/>
          <a:ln/>
        </p:spPr>
        <p:txBody>
          <a:bodyPr wrap="none" lIns="0" tIns="0" rIns="0" bIns="0" rtlCol="0" anchor="t"/>
          <a:lstStyle/>
          <a:p>
            <a:pPr algn="ctr" indent="0" marL="0">
              <a:lnSpc>
                <a:spcPts val="2600"/>
              </a:lnSpc>
              <a:buNone/>
            </a:pPr>
            <a:r>
              <a:rPr lang="en-US" sz="2050" b="1" dirty="0">
                <a:solidFill>
                  <a:srgbClr val="000000"/>
                </a:solidFill>
                <a:latin typeface="Noto Sans SC Bold" pitchFamily="34" charset="0"/>
                <a:ea typeface="Noto Sans SC Bold" pitchFamily="34" charset="-122"/>
                <a:cs typeface="Noto Sans SC Bold" pitchFamily="34" charset="-120"/>
              </a:rPr>
              <a:t>局部轨迹</a:t>
            </a:r>
            <a:endParaRPr lang="en-US" sz="20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39757" y="2749977"/>
            <a:ext cx="589131" cy="589131"/>
          </a:xfrm>
          <a:prstGeom prst="rect">
            <a:avLst/>
          </a:prstGeom>
        </p:spPr>
      </p:pic>
      <p:sp>
        <p:nvSpPr>
          <p:cNvPr id="7" name="Text 2"/>
          <p:cNvSpPr/>
          <p:nvPr/>
        </p:nvSpPr>
        <p:spPr>
          <a:xfrm>
            <a:off x="6503648" y="4899568"/>
            <a:ext cx="1720262" cy="331386"/>
          </a:xfrm>
          <a:prstGeom prst="rect">
            <a:avLst/>
          </a:prstGeom>
          <a:noFill/>
          <a:ln/>
        </p:spPr>
        <p:txBody>
          <a:bodyPr wrap="none" lIns="0" tIns="0" rIns="0" bIns="0" rtlCol="0" anchor="t"/>
          <a:lstStyle/>
          <a:p>
            <a:pPr algn="ctr" indent="0" marL="0">
              <a:lnSpc>
                <a:spcPts val="2600"/>
              </a:lnSpc>
              <a:buNone/>
            </a:pPr>
            <a:r>
              <a:rPr lang="en-US" sz="2050" b="1" dirty="0">
                <a:solidFill>
                  <a:srgbClr val="000000"/>
                </a:solidFill>
                <a:latin typeface="Noto Sans SC Bold" pitchFamily="34" charset="0"/>
                <a:ea typeface="Noto Sans SC Bold" pitchFamily="34" charset="-122"/>
                <a:cs typeface="Noto Sans SC Bold" pitchFamily="34" charset="-120"/>
              </a:rPr>
              <a:t>全局规划</a:t>
            </a:r>
            <a:endParaRPr lang="en-US" sz="20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71756" y="2749977"/>
            <a:ext cx="589131" cy="589131"/>
          </a:xfrm>
          <a:prstGeom prst="rect">
            <a:avLst/>
          </a:prstGeom>
        </p:spPr>
      </p:pic>
      <p:sp>
        <p:nvSpPr>
          <p:cNvPr id="9" name="Text 3"/>
          <p:cNvSpPr/>
          <p:nvPr/>
        </p:nvSpPr>
        <p:spPr>
          <a:xfrm>
            <a:off x="4300299" y="4899568"/>
            <a:ext cx="1720262" cy="331386"/>
          </a:xfrm>
          <a:prstGeom prst="rect">
            <a:avLst/>
          </a:prstGeom>
          <a:noFill/>
          <a:ln/>
        </p:spPr>
        <p:txBody>
          <a:bodyPr wrap="none" lIns="0" tIns="0" rIns="0" bIns="0" rtlCol="0" anchor="t"/>
          <a:lstStyle/>
          <a:p>
            <a:pPr algn="ctr" indent="0" marL="0">
              <a:lnSpc>
                <a:spcPts val="2600"/>
              </a:lnSpc>
              <a:buNone/>
            </a:pPr>
            <a:r>
              <a:rPr lang="en-US" sz="2050" b="1" dirty="0">
                <a:solidFill>
                  <a:srgbClr val="000000"/>
                </a:solidFill>
                <a:latin typeface="Noto Sans SC Bold" pitchFamily="34" charset="0"/>
                <a:ea typeface="Noto Sans SC Bold" pitchFamily="34" charset="-122"/>
                <a:cs typeface="Noto Sans SC Bold" pitchFamily="34" charset="-120"/>
              </a:rPr>
              <a:t>层次聚类</a:t>
            </a:r>
            <a:endParaRPr lang="en-US" sz="2050" dirty="0"/>
          </a:p>
        </p:txBody>
      </p:sp>
      <p:sp>
        <p:nvSpPr>
          <p:cNvPr id="10" name="Shape 4"/>
          <p:cNvSpPr/>
          <p:nvPr/>
        </p:nvSpPr>
        <p:spPr>
          <a:xfrm>
            <a:off x="626626" y="6046232"/>
            <a:ext cx="6589752" cy="1401128"/>
          </a:xfrm>
          <a:prstGeom prst="roundRect">
            <a:avLst>
              <a:gd name="adj" fmla="val 10163"/>
            </a:avLst>
          </a:prstGeom>
          <a:solidFill>
            <a:srgbClr val="0EB4FC"/>
          </a:solidFill>
          <a:ln/>
        </p:spPr>
      </p:sp>
      <p:sp>
        <p:nvSpPr>
          <p:cNvPr id="11" name="Text 5"/>
          <p:cNvSpPr/>
          <p:nvPr/>
        </p:nvSpPr>
        <p:spPr>
          <a:xfrm>
            <a:off x="824389" y="6218634"/>
            <a:ext cx="2887266" cy="308967"/>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Noto Sans SC Bold" pitchFamily="34" charset="0"/>
                <a:ea typeface="Noto Sans SC Bold" pitchFamily="34" charset="-122"/>
                <a:cs typeface="Noto Sans SC Bold" pitchFamily="34" charset="-120"/>
              </a:rPr>
              <a:t>全局层：C-RRT* 关键创新</a:t>
            </a:r>
            <a:endParaRPr lang="en-US" sz="1900" dirty="0"/>
          </a:p>
        </p:txBody>
      </p:sp>
      <p:sp>
        <p:nvSpPr>
          <p:cNvPr id="12" name="Text 6"/>
          <p:cNvSpPr/>
          <p:nvPr/>
        </p:nvSpPr>
        <p:spPr>
          <a:xfrm>
            <a:off x="824389" y="6700004"/>
            <a:ext cx="6194227" cy="592217"/>
          </a:xfrm>
          <a:prstGeom prst="rect">
            <a:avLst/>
          </a:prstGeom>
          <a:noFill/>
          <a:ln/>
        </p:spPr>
        <p:txBody>
          <a:bodyPr wrap="square" lIns="0" tIns="0" rIns="0" bIns="0" rtlCol="0" anchor="t"/>
          <a:lstStyle/>
          <a:p>
            <a:pPr algn="l" indent="0" marL="0">
              <a:lnSpc>
                <a:spcPts val="2300"/>
              </a:lnSpc>
              <a:buNone/>
            </a:pPr>
            <a:r>
              <a:rPr lang="en-US" sz="1550" dirty="0">
                <a:solidFill>
                  <a:srgbClr val="000000"/>
                </a:solidFill>
                <a:latin typeface="Noto Sans SC" pitchFamily="34" charset="0"/>
                <a:ea typeface="Noto Sans SC" pitchFamily="34" charset="-122"/>
                <a:cs typeface="Noto Sans SC" pitchFamily="34" charset="-120"/>
              </a:rPr>
              <a:t>引入 </a:t>
            </a:r>
            <a:pPr algn="l" indent="0" marL="0">
              <a:lnSpc>
                <a:spcPts val="2300"/>
              </a:lnSpc>
              <a:buNone/>
            </a:pPr>
            <a:r>
              <a:rPr lang="en-US" sz="1550" b="1" dirty="0">
                <a:solidFill>
                  <a:srgbClr val="000000"/>
                </a:solidFill>
                <a:latin typeface="Noto Sans SC" pitchFamily="34" charset="0"/>
                <a:ea typeface="Noto Sans SC" pitchFamily="34" charset="-122"/>
                <a:cs typeface="Noto Sans SC" pitchFamily="34" charset="-120"/>
              </a:rPr>
              <a:t>Fréchet 距离上界 U</a:t>
            </a:r>
            <a:pPr algn="l" indent="0" marL="0">
              <a:lnSpc>
                <a:spcPts val="2300"/>
              </a:lnSpc>
              <a:buNone/>
            </a:pPr>
            <a:r>
              <a:rPr lang="en-US" sz="1550" dirty="0">
                <a:solidFill>
                  <a:srgbClr val="000000"/>
                </a:solidFill>
                <a:latin typeface="Noto Sans SC" pitchFamily="34" charset="0"/>
                <a:ea typeface="Noto Sans SC" pitchFamily="34" charset="-122"/>
                <a:cs typeface="Noto Sans SC" pitchFamily="34" charset="-120"/>
              </a:rPr>
              <a:t> 防止簇间路径过远，</a:t>
            </a:r>
            <a:pPr algn="l" indent="0" marL="0">
              <a:lnSpc>
                <a:spcPts val="2300"/>
              </a:lnSpc>
              <a:buNone/>
            </a:pPr>
            <a:r>
              <a:rPr lang="en-US" sz="1550" b="1" dirty="0">
                <a:solidFill>
                  <a:srgbClr val="000000"/>
                </a:solidFill>
                <a:latin typeface="Noto Sans SC" pitchFamily="34" charset="0"/>
                <a:ea typeface="Noto Sans SC" pitchFamily="34" charset="-122"/>
                <a:cs typeface="Noto Sans SC" pitchFamily="34" charset="-120"/>
              </a:rPr>
              <a:t>欧氏距离下界 L</a:t>
            </a:r>
            <a:pPr algn="l" indent="0" marL="0">
              <a:lnSpc>
                <a:spcPts val="2300"/>
              </a:lnSpc>
              <a:buNone/>
            </a:pPr>
            <a:r>
              <a:rPr lang="en-US" sz="1550" dirty="0">
                <a:solidFill>
                  <a:srgbClr val="000000"/>
                </a:solidFill>
                <a:latin typeface="Noto Sans SC" pitchFamily="34" charset="0"/>
                <a:ea typeface="Noto Sans SC" pitchFamily="34" charset="-122"/>
                <a:cs typeface="Noto Sans SC" pitchFamily="34" charset="-120"/>
              </a:rPr>
              <a:t> 防止路径过近，确保跨簇通信可维护性</a:t>
            </a:r>
            <a:endParaRPr lang="en-US" sz="1550" dirty="0"/>
          </a:p>
        </p:txBody>
      </p:sp>
      <p:sp>
        <p:nvSpPr>
          <p:cNvPr id="13" name="Text 7"/>
          <p:cNvSpPr/>
          <p:nvPr/>
        </p:nvSpPr>
        <p:spPr>
          <a:xfrm>
            <a:off x="7564041" y="6218634"/>
            <a:ext cx="3247906" cy="308967"/>
          </a:xfrm>
          <a:prstGeom prst="rect">
            <a:avLst/>
          </a:prstGeom>
          <a:noFill/>
          <a:ln/>
        </p:spPr>
        <p:txBody>
          <a:bodyPr wrap="none" lIns="0" tIns="0" rIns="0" bIns="0" rtlCol="0" anchor="t"/>
          <a:lstStyle/>
          <a:p>
            <a:pPr algn="l" indent="0" marL="0">
              <a:lnSpc>
                <a:spcPts val="2400"/>
              </a:lnSpc>
              <a:buNone/>
            </a:pPr>
            <a:r>
              <a:rPr lang="en-US" sz="1900" b="1" dirty="0">
                <a:solidFill>
                  <a:srgbClr val="0A468C"/>
                </a:solidFill>
                <a:latin typeface="Noto Sans SC Bold" pitchFamily="34" charset="0"/>
                <a:ea typeface="Noto Sans SC Bold" pitchFamily="34" charset="-122"/>
                <a:cs typeface="Noto Sans SC Bold" pitchFamily="34" charset="-120"/>
              </a:rPr>
              <a:t>局部层：MBST-APF 关键创新</a:t>
            </a:r>
            <a:endParaRPr lang="en-US" sz="1900" dirty="0"/>
          </a:p>
        </p:txBody>
      </p:sp>
      <p:sp>
        <p:nvSpPr>
          <p:cNvPr id="14" name="Text 8"/>
          <p:cNvSpPr/>
          <p:nvPr/>
        </p:nvSpPr>
        <p:spPr>
          <a:xfrm>
            <a:off x="7564041" y="6700004"/>
            <a:ext cx="6304955" cy="592217"/>
          </a:xfrm>
          <a:prstGeom prst="rect">
            <a:avLst/>
          </a:prstGeom>
          <a:noFill/>
          <a:ln/>
        </p:spPr>
        <p:txBody>
          <a:bodyPr wrap="square" lIns="0" tIns="0" rIns="0" bIns="0" rtlCol="0" anchor="t"/>
          <a:lstStyle/>
          <a:p>
            <a:pPr algn="l" indent="0" marL="0">
              <a:lnSpc>
                <a:spcPts val="2300"/>
              </a:lnSpc>
              <a:buNone/>
            </a:pPr>
            <a:r>
              <a:rPr lang="en-US" sz="1550" dirty="0">
                <a:solidFill>
                  <a:srgbClr val="000000"/>
                </a:solidFill>
                <a:latin typeface="Noto Sans SC" pitchFamily="34" charset="0"/>
                <a:ea typeface="Noto Sans SC" pitchFamily="34" charset="-122"/>
                <a:cs typeface="Noto Sans SC" pitchFamily="34" charset="-120"/>
              </a:rPr>
              <a:t>仅对 MBST 主干链路构建通信保持引力，避免全连接势场叠加，显著降低复杂度并提升运动平滑性</a:t>
            </a:r>
            <a:endParaRPr lang="en-US" sz="1550" dirty="0"/>
          </a:p>
        </p:txBody>
      </p:sp>
      <p:sp>
        <p:nvSpPr>
          <p:cNvPr id="15" name="Text 9"/>
          <p:cNvSpPr/>
          <p:nvPr/>
        </p:nvSpPr>
        <p:spPr>
          <a:xfrm>
            <a:off x="7153037" y="7740968"/>
            <a:ext cx="324326" cy="230267"/>
          </a:xfrm>
          <a:prstGeom prst="rect">
            <a:avLst/>
          </a:prstGeom>
          <a:noFill/>
          <a:ln/>
        </p:spPr>
        <p:txBody>
          <a:bodyPr wrap="none" lIns="0" tIns="0" rIns="0" bIns="0" rtlCol="0" anchor="t"/>
          <a:lstStyle/>
          <a:p>
            <a:pPr algn="ctr" indent="0" marL="0">
              <a:lnSpc>
                <a:spcPts val="1800"/>
              </a:lnSpc>
              <a:buNone/>
            </a:pPr>
            <a:r>
              <a:rPr lang="en-US" sz="1200" dirty="0">
                <a:solidFill>
                  <a:srgbClr val="000000"/>
                </a:solidFill>
                <a:latin typeface="Noto Sans SC" pitchFamily="34" charset="0"/>
                <a:ea typeface="Noto Sans SC" pitchFamily="34" charset="-122"/>
                <a:cs typeface="Noto Sans SC"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955834"/>
            <a:ext cx="7616428" cy="673418"/>
          </a:xfrm>
          <a:prstGeom prst="rect">
            <a:avLst/>
          </a:prstGeom>
          <a:noFill/>
          <a:ln/>
        </p:spPr>
        <p:txBody>
          <a:bodyPr wrap="none" lIns="0" tIns="0" rIns="0" bIns="0" rtlCol="0" anchor="t"/>
          <a:lstStyle/>
          <a:p>
            <a:pPr algn="l" indent="0" marL="0">
              <a:lnSpc>
                <a:spcPts val="5300"/>
              </a:lnSpc>
              <a:buNone/>
            </a:pPr>
            <a:r>
              <a:rPr lang="en-US" sz="4200" b="1" dirty="0">
                <a:solidFill>
                  <a:srgbClr val="0A468C"/>
                </a:solidFill>
                <a:latin typeface="Noto Sans SC Bold" pitchFamily="34" charset="0"/>
                <a:ea typeface="Noto Sans SC Bold" pitchFamily="34" charset="-122"/>
                <a:cs typeface="Noto Sans SC Bold" pitchFamily="34" charset="-120"/>
              </a:rPr>
              <a:t>MBST-APF 局部规划：力场分解</a:t>
            </a:r>
            <a:endParaRPr lang="en-US" sz="4200" dirty="0"/>
          </a:p>
        </p:txBody>
      </p:sp>
      <p:sp>
        <p:nvSpPr>
          <p:cNvPr id="3" name="Text 1"/>
          <p:cNvSpPr/>
          <p:nvPr/>
        </p:nvSpPr>
        <p:spPr>
          <a:xfrm>
            <a:off x="793790" y="2140982"/>
            <a:ext cx="2693551" cy="336590"/>
          </a:xfrm>
          <a:prstGeom prst="rect">
            <a:avLst/>
          </a:prstGeom>
          <a:noFill/>
          <a:ln/>
        </p:spPr>
        <p:txBody>
          <a:bodyPr wrap="none" lIns="0" tIns="0" rIns="0" bIns="0" rtlCol="0" anchor="t"/>
          <a:lstStyle/>
          <a:p>
            <a:pPr algn="l" indent="0" marL="0">
              <a:lnSpc>
                <a:spcPts val="2650"/>
              </a:lnSpc>
              <a:buNone/>
            </a:pPr>
            <a:r>
              <a:rPr lang="en-US" sz="2100" b="1" dirty="0">
                <a:solidFill>
                  <a:srgbClr val="0A468C"/>
                </a:solidFill>
                <a:latin typeface="Noto Sans SC Bold" pitchFamily="34" charset="0"/>
                <a:ea typeface="Noto Sans SC Bold" pitchFamily="34" charset="-122"/>
                <a:cs typeface="Noto Sans SC Bold" pitchFamily="34" charset="-120"/>
              </a:rPr>
              <a:t>三分量合力模型</a:t>
            </a:r>
            <a:endParaRPr lang="en-US" sz="2100" dirty="0"/>
          </a:p>
        </p:txBody>
      </p:sp>
      <p:sp>
        <p:nvSpPr>
          <p:cNvPr id="4" name="Text 2"/>
          <p:cNvSpPr/>
          <p:nvPr/>
        </p:nvSpPr>
        <p:spPr>
          <a:xfrm>
            <a:off x="793790" y="2736652"/>
            <a:ext cx="8293775" cy="367189"/>
          </a:xfrm>
          <a:prstGeom prst="rect">
            <a:avLst/>
          </a:prstGeom>
          <a:noFill/>
          <a:ln/>
        </p:spPr>
        <p:txBody>
          <a:bodyPr wrap="none" lIns="0" tIns="0" rIns="0" bIns="0" rtlCol="0" anchor="t"/>
          <a:lstStyle/>
          <a:p>
            <a:pPr algn="l" indent="0" marL="0">
              <a:lnSpc>
                <a:spcPts val="2950"/>
              </a:lnSpc>
              <a:buNone/>
            </a:pPr>
            <a:endParaRPr lang="en-US" sz="1900" dirty="0"/>
          </a:p>
        </p:txBody>
      </p:sp>
      <p:pic>
        <p:nvPicPr>
          <p:cNvPr id="5" name="Image 0" descr="preencoded.png">    </p:cNvPr>
          <p:cNvPicPr>
            <a:picLocks noChangeAspect="1"/>
          </p:cNvPicPr>
          <p:nvPr/>
        </p:nvPicPr>
        <p:blipFill>
          <a:blip r:embed="rId1"/>
          <a:stretch>
            <a:fillRect/>
          </a:stretch>
        </p:blipFill>
        <p:spPr>
          <a:xfrm>
            <a:off x="793790" y="2736652"/>
            <a:ext cx="8293775" cy="367189"/>
          </a:xfrm>
          <a:prstGeom prst="rect">
            <a:avLst/>
          </a:prstGeom>
        </p:spPr>
      </p:pic>
      <p:sp>
        <p:nvSpPr>
          <p:cNvPr id="6" name="Text 3"/>
          <p:cNvSpPr/>
          <p:nvPr/>
        </p:nvSpPr>
        <p:spPr>
          <a:xfrm>
            <a:off x="793790" y="3362920"/>
            <a:ext cx="8293775" cy="342067"/>
          </a:xfrm>
          <a:prstGeom prst="rect">
            <a:avLst/>
          </a:prstGeom>
          <a:noFill/>
          <a:ln/>
        </p:spPr>
        <p:txBody>
          <a:bodyPr wrap="none" lIns="0" tIns="0" rIns="0" bIns="0" rtlCol="0" anchor="t"/>
          <a:lstStyle/>
          <a:p>
            <a:pPr algn="l" indent="0" marL="0">
              <a:lnSpc>
                <a:spcPts val="2600"/>
              </a:lnSpc>
              <a:buNone/>
            </a:pPr>
            <a:r>
              <a:rPr lang="en-US" sz="1650" dirty="0">
                <a:solidFill>
                  <a:srgbClr val="000000"/>
                </a:solidFill>
                <a:latin typeface="Noto Sans SC" pitchFamily="34" charset="0"/>
                <a:ea typeface="Noto Sans SC" pitchFamily="34" charset="-122"/>
                <a:cs typeface="Noto Sans SC" pitchFamily="34" charset="-120"/>
              </a:rPr>
              <a:t>优先级设计：</a:t>
            </a:r>
            <a:pPr algn="l" indent="0" marL="0">
              <a:lnSpc>
                <a:spcPts val="2600"/>
              </a:lnSpc>
              <a:buNone/>
            </a:pPr>
            <a:r>
              <a:rPr lang="en-US" sz="1650" i="1" dirty="0">
                <a:solidFill>
                  <a:srgbClr val="000000"/>
                </a:solidFill>
                <a:latin typeface="Noto Sans SC" pitchFamily="34" charset="0"/>
                <a:ea typeface="Noto Sans SC" pitchFamily="34" charset="-122"/>
                <a:cs typeface="Noto Sans SC" pitchFamily="34" charset="-120"/>
              </a:rPr>
              <a:t>\beta \gg \eta \approx \alpha</a:t>
            </a:r>
            <a:pPr algn="l" indent="0" marL="0">
              <a:lnSpc>
                <a:spcPts val="2600"/>
              </a:lnSpc>
              <a:buNone/>
            </a:pPr>
            <a:r>
              <a:rPr lang="en-US" sz="1650" dirty="0">
                <a:solidFill>
                  <a:srgbClr val="000000"/>
                </a:solidFill>
                <a:latin typeface="Noto Sans SC" pitchFamily="34" charset="0"/>
                <a:ea typeface="Noto Sans SC" pitchFamily="34" charset="-122"/>
                <a:cs typeface="Noto Sans SC" pitchFamily="34" charset="-120"/>
              </a:rPr>
              <a:t>（斥力优先保障物理安全）</a:t>
            </a:r>
            <a:endParaRPr lang="en-US" sz="1650" dirty="0"/>
          </a:p>
        </p:txBody>
      </p:sp>
      <p:sp>
        <p:nvSpPr>
          <p:cNvPr id="7" name="Shape 4"/>
          <p:cNvSpPr/>
          <p:nvPr/>
        </p:nvSpPr>
        <p:spPr>
          <a:xfrm>
            <a:off x="793790" y="3989070"/>
            <a:ext cx="8293775" cy="16073"/>
          </a:xfrm>
          <a:prstGeom prst="rect">
            <a:avLst/>
          </a:prstGeom>
          <a:solidFill>
            <a:srgbClr val="000000">
              <a:alpha val="50000"/>
            </a:srgbClr>
          </a:solidFill>
          <a:ln/>
        </p:spPr>
      </p:sp>
      <p:sp>
        <p:nvSpPr>
          <p:cNvPr id="8" name="Shape 5"/>
          <p:cNvSpPr/>
          <p:nvPr/>
        </p:nvSpPr>
        <p:spPr>
          <a:xfrm>
            <a:off x="793790" y="4289227"/>
            <a:ext cx="2628067" cy="2754154"/>
          </a:xfrm>
          <a:prstGeom prst="roundRect">
            <a:avLst>
              <a:gd name="adj" fmla="val 5567"/>
            </a:avLst>
          </a:prstGeom>
          <a:solidFill>
            <a:srgbClr val="E6E9EB"/>
          </a:solidFill>
          <a:ln w="30480">
            <a:solidFill>
              <a:srgbClr val="B3D5E4"/>
            </a:solidFill>
            <a:prstDash val="solid"/>
          </a:ln>
        </p:spPr>
      </p:sp>
      <p:sp>
        <p:nvSpPr>
          <p:cNvPr id="9" name="Shape 6"/>
          <p:cNvSpPr/>
          <p:nvPr/>
        </p:nvSpPr>
        <p:spPr>
          <a:xfrm>
            <a:off x="763310" y="4289227"/>
            <a:ext cx="121920" cy="2754154"/>
          </a:xfrm>
          <a:prstGeom prst="roundRect">
            <a:avLst>
              <a:gd name="adj" fmla="val 74233"/>
            </a:avLst>
          </a:prstGeom>
          <a:solidFill>
            <a:srgbClr val="0EB4FC"/>
          </a:solidFill>
          <a:ln/>
        </p:spPr>
      </p:sp>
      <p:sp>
        <p:nvSpPr>
          <p:cNvPr id="10" name="Text 7"/>
          <p:cNvSpPr/>
          <p:nvPr/>
        </p:nvSpPr>
        <p:spPr>
          <a:xfrm>
            <a:off x="1131094" y="4535091"/>
            <a:ext cx="2044898" cy="713303"/>
          </a:xfrm>
          <a:prstGeom prst="rect">
            <a:avLst/>
          </a:prstGeom>
          <a:noFill/>
          <a:ln/>
        </p:spPr>
        <p:txBody>
          <a:bodyPr wrap="square" lIns="0" tIns="0" rIns="0" bIns="0" rtlCol="0" anchor="t"/>
          <a:lstStyle/>
          <a:p>
            <a:pPr algn="l" indent="0" marL="0">
              <a:lnSpc>
                <a:spcPts val="2650"/>
              </a:lnSpc>
              <a:buNone/>
            </a:pPr>
            <a:r>
              <a:rPr lang="en-US" sz="2100" b="1" dirty="0">
                <a:solidFill>
                  <a:srgbClr val="000000"/>
                </a:solidFill>
                <a:latin typeface="Noto Sans SC Bold" pitchFamily="34" charset="0"/>
                <a:ea typeface="Noto Sans SC Bold" pitchFamily="34" charset="-122"/>
                <a:cs typeface="Noto Sans SC Bold" pitchFamily="34" charset="-120"/>
              </a:rPr>
              <a:t>目标导向引力 </a:t>
            </a:r>
            <a:pPr algn="l" indent="0" marL="0">
              <a:lnSpc>
                <a:spcPts val="2650"/>
              </a:lnSpc>
              <a:buNone/>
            </a:pPr>
            <a:r>
              <a:rPr lang="en-US" sz="2100" b="1" i="1" dirty="0">
                <a:solidFill>
                  <a:srgbClr val="000000"/>
                </a:solidFill>
                <a:latin typeface="Noto Sans SC Bold" pitchFamily="34" charset="0"/>
                <a:ea typeface="Noto Sans SC Bold" pitchFamily="34" charset="-122"/>
                <a:cs typeface="Noto Sans SC Bold" pitchFamily="34" charset="-120"/>
              </a:rPr>
              <a:t>f_{\text{att}}</a:t>
            </a:r>
            <a:endParaRPr lang="en-US" sz="2100" dirty="0"/>
          </a:p>
        </p:txBody>
      </p:sp>
      <p:sp>
        <p:nvSpPr>
          <p:cNvPr id="11" name="Text 8"/>
          <p:cNvSpPr/>
          <p:nvPr/>
        </p:nvSpPr>
        <p:spPr>
          <a:xfrm>
            <a:off x="1131094" y="5453063"/>
            <a:ext cx="2044898" cy="672227"/>
          </a:xfrm>
          <a:prstGeom prst="rect">
            <a:avLst/>
          </a:prstGeom>
          <a:noFill/>
          <a:ln/>
        </p:spPr>
        <p:txBody>
          <a:bodyPr wrap="square" lIns="0" tIns="0" rIns="0" bIns="0" rtlCol="0" anchor="t"/>
          <a:lstStyle/>
          <a:p>
            <a:pPr algn="l" indent="0" marL="0">
              <a:lnSpc>
                <a:spcPts val="2600"/>
              </a:lnSpc>
              <a:buNone/>
            </a:pPr>
            <a:r>
              <a:rPr lang="en-US" sz="1650" dirty="0">
                <a:solidFill>
                  <a:srgbClr val="000000"/>
                </a:solidFill>
                <a:latin typeface="Noto Sans SC" pitchFamily="34" charset="0"/>
                <a:ea typeface="Noto Sans SC" pitchFamily="34" charset="-122"/>
                <a:cs typeface="Noto Sans SC" pitchFamily="34" charset="-120"/>
              </a:rPr>
              <a:t>指向全局 C-RRT* 规划的下一关键路径点</a:t>
            </a:r>
            <a:endParaRPr lang="en-US" sz="1650" dirty="0"/>
          </a:p>
        </p:txBody>
      </p:sp>
      <p:sp>
        <p:nvSpPr>
          <p:cNvPr id="12" name="Shape 9"/>
          <p:cNvSpPr/>
          <p:nvPr/>
        </p:nvSpPr>
        <p:spPr>
          <a:xfrm>
            <a:off x="3626525" y="4289227"/>
            <a:ext cx="2628186" cy="2754154"/>
          </a:xfrm>
          <a:prstGeom prst="roundRect">
            <a:avLst>
              <a:gd name="adj" fmla="val 5567"/>
            </a:avLst>
          </a:prstGeom>
          <a:solidFill>
            <a:srgbClr val="E6E9EB"/>
          </a:solidFill>
          <a:ln w="30480">
            <a:solidFill>
              <a:srgbClr val="B3D5E4"/>
            </a:solidFill>
            <a:prstDash val="solid"/>
          </a:ln>
        </p:spPr>
      </p:sp>
      <p:sp>
        <p:nvSpPr>
          <p:cNvPr id="13" name="Shape 10"/>
          <p:cNvSpPr/>
          <p:nvPr/>
        </p:nvSpPr>
        <p:spPr>
          <a:xfrm>
            <a:off x="3596045" y="4289227"/>
            <a:ext cx="121920" cy="2754154"/>
          </a:xfrm>
          <a:prstGeom prst="roundRect">
            <a:avLst>
              <a:gd name="adj" fmla="val 74233"/>
            </a:avLst>
          </a:prstGeom>
          <a:solidFill>
            <a:srgbClr val="0EB4FC"/>
          </a:solidFill>
          <a:ln/>
        </p:spPr>
      </p:sp>
      <p:sp>
        <p:nvSpPr>
          <p:cNvPr id="14" name="Text 11"/>
          <p:cNvSpPr/>
          <p:nvPr/>
        </p:nvSpPr>
        <p:spPr>
          <a:xfrm>
            <a:off x="3963829" y="4535091"/>
            <a:ext cx="2045018" cy="713303"/>
          </a:xfrm>
          <a:prstGeom prst="rect">
            <a:avLst/>
          </a:prstGeom>
          <a:noFill/>
          <a:ln/>
        </p:spPr>
        <p:txBody>
          <a:bodyPr wrap="square" lIns="0" tIns="0" rIns="0" bIns="0" rtlCol="0" anchor="t"/>
          <a:lstStyle/>
          <a:p>
            <a:pPr algn="l" indent="0" marL="0">
              <a:lnSpc>
                <a:spcPts val="2650"/>
              </a:lnSpc>
              <a:buNone/>
            </a:pPr>
            <a:r>
              <a:rPr lang="en-US" sz="2100" b="1" dirty="0">
                <a:solidFill>
                  <a:srgbClr val="000000"/>
                </a:solidFill>
                <a:latin typeface="Noto Sans SC Bold" pitchFamily="34" charset="0"/>
                <a:ea typeface="Noto Sans SC Bold" pitchFamily="34" charset="-122"/>
                <a:cs typeface="Noto Sans SC Bold" pitchFamily="34" charset="-120"/>
              </a:rPr>
              <a:t>碰撞避免斥力 </a:t>
            </a:r>
            <a:pPr algn="l" indent="0" marL="0">
              <a:lnSpc>
                <a:spcPts val="2650"/>
              </a:lnSpc>
              <a:buNone/>
            </a:pPr>
            <a:r>
              <a:rPr lang="en-US" sz="2100" b="1" i="1" dirty="0">
                <a:solidFill>
                  <a:srgbClr val="000000"/>
                </a:solidFill>
                <a:latin typeface="Noto Sans SC Bold" pitchFamily="34" charset="0"/>
                <a:ea typeface="Noto Sans SC Bold" pitchFamily="34" charset="-122"/>
                <a:cs typeface="Noto Sans SC Bold" pitchFamily="34" charset="-120"/>
              </a:rPr>
              <a:t>f_{\text{rep}}</a:t>
            </a:r>
            <a:endParaRPr lang="en-US" sz="2100" dirty="0"/>
          </a:p>
        </p:txBody>
      </p:sp>
      <p:sp>
        <p:nvSpPr>
          <p:cNvPr id="15" name="Text 12"/>
          <p:cNvSpPr/>
          <p:nvPr/>
        </p:nvSpPr>
        <p:spPr>
          <a:xfrm>
            <a:off x="3963829" y="5453063"/>
            <a:ext cx="2045018" cy="1008340"/>
          </a:xfrm>
          <a:prstGeom prst="rect">
            <a:avLst/>
          </a:prstGeom>
          <a:noFill/>
          <a:ln/>
        </p:spPr>
        <p:txBody>
          <a:bodyPr wrap="square" lIns="0" tIns="0" rIns="0" bIns="0" rtlCol="0" anchor="t"/>
          <a:lstStyle/>
          <a:p>
            <a:pPr algn="l" indent="0" marL="0">
              <a:lnSpc>
                <a:spcPts val="2600"/>
              </a:lnSpc>
              <a:buNone/>
            </a:pPr>
            <a:r>
              <a:rPr lang="en-US" sz="1650" dirty="0">
                <a:solidFill>
                  <a:srgbClr val="000000"/>
                </a:solidFill>
                <a:latin typeface="Noto Sans SC" pitchFamily="34" charset="0"/>
                <a:ea typeface="Noto Sans SC" pitchFamily="34" charset="-122"/>
                <a:cs typeface="Noto Sans SC" pitchFamily="34" charset="-120"/>
              </a:rPr>
              <a:t>对建筑物、干扰禁区及邻近无人机施加非线性排斥</a:t>
            </a:r>
            <a:endParaRPr lang="en-US" sz="1650" dirty="0"/>
          </a:p>
        </p:txBody>
      </p:sp>
      <p:sp>
        <p:nvSpPr>
          <p:cNvPr id="16" name="Shape 13"/>
          <p:cNvSpPr/>
          <p:nvPr/>
        </p:nvSpPr>
        <p:spPr>
          <a:xfrm>
            <a:off x="6459379" y="4289227"/>
            <a:ext cx="2628067" cy="2754154"/>
          </a:xfrm>
          <a:prstGeom prst="roundRect">
            <a:avLst>
              <a:gd name="adj" fmla="val 5567"/>
            </a:avLst>
          </a:prstGeom>
          <a:solidFill>
            <a:srgbClr val="E6E9EB"/>
          </a:solidFill>
          <a:ln w="30480">
            <a:solidFill>
              <a:srgbClr val="B3D5E4"/>
            </a:solidFill>
            <a:prstDash val="solid"/>
          </a:ln>
        </p:spPr>
      </p:sp>
      <p:sp>
        <p:nvSpPr>
          <p:cNvPr id="17" name="Shape 14"/>
          <p:cNvSpPr/>
          <p:nvPr/>
        </p:nvSpPr>
        <p:spPr>
          <a:xfrm>
            <a:off x="6428899" y="4289227"/>
            <a:ext cx="121920" cy="2754154"/>
          </a:xfrm>
          <a:prstGeom prst="roundRect">
            <a:avLst>
              <a:gd name="adj" fmla="val 74233"/>
            </a:avLst>
          </a:prstGeom>
          <a:solidFill>
            <a:srgbClr val="0EB4FC"/>
          </a:solidFill>
          <a:ln/>
        </p:spPr>
      </p:sp>
      <p:sp>
        <p:nvSpPr>
          <p:cNvPr id="18" name="Text 15"/>
          <p:cNvSpPr/>
          <p:nvPr/>
        </p:nvSpPr>
        <p:spPr>
          <a:xfrm>
            <a:off x="6796683" y="4535091"/>
            <a:ext cx="2044898" cy="713303"/>
          </a:xfrm>
          <a:prstGeom prst="rect">
            <a:avLst/>
          </a:prstGeom>
          <a:noFill/>
          <a:ln/>
        </p:spPr>
        <p:txBody>
          <a:bodyPr wrap="square" lIns="0" tIns="0" rIns="0" bIns="0" rtlCol="0" anchor="t"/>
          <a:lstStyle/>
          <a:p>
            <a:pPr algn="l" indent="0" marL="0">
              <a:lnSpc>
                <a:spcPts val="2650"/>
              </a:lnSpc>
              <a:buNone/>
            </a:pPr>
            <a:r>
              <a:rPr lang="en-US" sz="2100" b="1" dirty="0">
                <a:solidFill>
                  <a:srgbClr val="000000"/>
                </a:solidFill>
                <a:latin typeface="Noto Sans SC Bold" pitchFamily="34" charset="0"/>
                <a:ea typeface="Noto Sans SC Bold" pitchFamily="34" charset="-122"/>
                <a:cs typeface="Noto Sans SC Bold" pitchFamily="34" charset="-120"/>
              </a:rPr>
              <a:t>MBST 通信保持引力 </a:t>
            </a:r>
            <a:pPr algn="l" indent="0" marL="0">
              <a:lnSpc>
                <a:spcPts val="2650"/>
              </a:lnSpc>
              <a:buNone/>
            </a:pPr>
            <a:r>
              <a:rPr lang="en-US" sz="2100" b="1" i="1" dirty="0">
                <a:solidFill>
                  <a:srgbClr val="000000"/>
                </a:solidFill>
                <a:latin typeface="Noto Sans SC Bold" pitchFamily="34" charset="0"/>
                <a:ea typeface="Noto Sans SC Bold" pitchFamily="34" charset="-122"/>
                <a:cs typeface="Noto Sans SC Bold" pitchFamily="34" charset="-120"/>
              </a:rPr>
              <a:t>f_{\text{coh}}</a:t>
            </a:r>
            <a:endParaRPr lang="en-US" sz="2100" dirty="0"/>
          </a:p>
        </p:txBody>
      </p:sp>
      <p:sp>
        <p:nvSpPr>
          <p:cNvPr id="19" name="Text 16"/>
          <p:cNvSpPr/>
          <p:nvPr/>
        </p:nvSpPr>
        <p:spPr>
          <a:xfrm>
            <a:off x="6796683" y="5453063"/>
            <a:ext cx="2044898" cy="1344454"/>
          </a:xfrm>
          <a:prstGeom prst="rect">
            <a:avLst/>
          </a:prstGeom>
          <a:noFill/>
          <a:ln/>
        </p:spPr>
        <p:txBody>
          <a:bodyPr wrap="square" lIns="0" tIns="0" rIns="0" bIns="0" rtlCol="0" anchor="t"/>
          <a:lstStyle/>
          <a:p>
            <a:pPr algn="l" indent="0" marL="0">
              <a:lnSpc>
                <a:spcPts val="2600"/>
              </a:lnSpc>
              <a:buNone/>
            </a:pPr>
            <a:r>
              <a:rPr lang="en-US" sz="1650" dirty="0">
                <a:solidFill>
                  <a:srgbClr val="000000"/>
                </a:solidFill>
                <a:latin typeface="Noto Sans SC" pitchFamily="34" charset="0"/>
                <a:ea typeface="Noto Sans SC" pitchFamily="34" charset="-122"/>
                <a:cs typeface="Noto Sans SC" pitchFamily="34" charset="-120"/>
              </a:rPr>
              <a:t>仅对 MBST 主干链路邻居施加自适应引力，链路质量充足时引力消失</a:t>
            </a:r>
            <a:endParaRPr lang="en-US" sz="1650" dirty="0"/>
          </a:p>
        </p:txBody>
      </p:sp>
      <p:sp>
        <p:nvSpPr>
          <p:cNvPr id="20" name="Shape 17"/>
          <p:cNvSpPr/>
          <p:nvPr/>
        </p:nvSpPr>
        <p:spPr>
          <a:xfrm>
            <a:off x="9620964" y="3527584"/>
            <a:ext cx="3878699" cy="2154793"/>
          </a:xfrm>
          <a:prstGeom prst="roundRect">
            <a:avLst>
              <a:gd name="adj" fmla="val 4200"/>
            </a:avLst>
          </a:prstGeom>
          <a:solidFill>
            <a:srgbClr val="DFDFE0"/>
          </a:solidFill>
          <a:ln/>
        </p:spPr>
      </p:sp>
      <p:pic>
        <p:nvPicPr>
          <p:cNvPr id="21" name="Image 1" descr="preencoded.png">    </p:cNvPr>
          <p:cNvPicPr>
            <a:picLocks noChangeAspect="1"/>
          </p:cNvPicPr>
          <p:nvPr/>
        </p:nvPicPr>
        <p:blipFill>
          <a:blip r:embed="rId2"/>
          <a:stretch>
            <a:fillRect/>
          </a:stretch>
        </p:blipFill>
        <p:spPr>
          <a:xfrm>
            <a:off x="11445954" y="4402574"/>
            <a:ext cx="228600" cy="228600"/>
          </a:xfrm>
          <a:prstGeom prst="rect">
            <a:avLst/>
          </a:prstGeom>
        </p:spPr>
      </p:pic>
      <p:sp>
        <p:nvSpPr>
          <p:cNvPr id="22" name="Text 18"/>
          <p:cNvSpPr/>
          <p:nvPr/>
        </p:nvSpPr>
        <p:spPr>
          <a:xfrm>
            <a:off x="11026854" y="4715351"/>
            <a:ext cx="1066800" cy="166330"/>
          </a:xfrm>
          <a:prstGeom prst="rect">
            <a:avLst/>
          </a:prstGeom>
          <a:noFill/>
          <a:ln/>
        </p:spPr>
        <p:txBody>
          <a:bodyPr wrap="none" lIns="0" tIns="0" rIns="0" bIns="0" rtlCol="0" anchor="t"/>
          <a:lstStyle/>
          <a:p>
            <a:pPr algn="ctr" indent="0" marL="0">
              <a:lnSpc>
                <a:spcPts val="1300"/>
              </a:lnSpc>
              <a:buNone/>
            </a:pPr>
            <a:r>
              <a:rPr lang="en-US" sz="800" dirty="0">
                <a:solidFill>
                  <a:srgbClr val="AEAEB2"/>
                </a:solidFill>
                <a:latin typeface="Noto Sans SC" pitchFamily="34" charset="0"/>
                <a:ea typeface="Noto Sans SC" pitchFamily="34" charset="-122"/>
                <a:cs typeface="Noto Sans SC" pitchFamily="34" charset="-120"/>
              </a:rPr>
              <a:t>生成此图像时出现错误</a:t>
            </a:r>
            <a:endParaRPr lang="en-US" sz="800" dirty="0"/>
          </a:p>
        </p:txBody>
      </p:sp>
      <p:sp>
        <p:nvSpPr>
          <p:cNvPr id="23" name="Text 19"/>
          <p:cNvSpPr/>
          <p:nvPr/>
        </p:nvSpPr>
        <p:spPr>
          <a:xfrm>
            <a:off x="7151965" y="7720132"/>
            <a:ext cx="326469" cy="247769"/>
          </a:xfrm>
          <a:prstGeom prst="rect">
            <a:avLst/>
          </a:prstGeom>
          <a:noFill/>
          <a:ln/>
        </p:spPr>
        <p:txBody>
          <a:bodyPr wrap="none" lIns="0" tIns="0" rIns="0" bIns="0" rtlCol="0" anchor="t"/>
          <a:lstStyle/>
          <a:p>
            <a:pPr algn="ctr" indent="0" marL="0">
              <a:lnSpc>
                <a:spcPts val="1950"/>
              </a:lnSpc>
              <a:buNone/>
            </a:pPr>
            <a:r>
              <a:rPr lang="en-US" sz="1250" dirty="0">
                <a:solidFill>
                  <a:srgbClr val="000000"/>
                </a:solidFill>
                <a:latin typeface="Noto Sans SC" pitchFamily="34" charset="0"/>
                <a:ea typeface="Noto Sans SC" pitchFamily="34" charset="-122"/>
                <a:cs typeface="Noto Sans SC" pitchFamily="34" charset="-120"/>
              </a:rPr>
              <a:t>11</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881658"/>
            <a:ext cx="5756672" cy="602456"/>
          </a:xfrm>
          <a:prstGeom prst="rect">
            <a:avLst/>
          </a:prstGeom>
          <a:noFill/>
          <a:ln/>
        </p:spPr>
        <p:txBody>
          <a:bodyPr wrap="none" lIns="0" tIns="0" rIns="0" bIns="0" rtlCol="0" anchor="t"/>
          <a:lstStyle/>
          <a:p>
            <a:pPr algn="l" indent="0" marL="0">
              <a:lnSpc>
                <a:spcPts val="4700"/>
              </a:lnSpc>
              <a:buNone/>
            </a:pPr>
            <a:r>
              <a:rPr lang="en-US" sz="3750" b="1" dirty="0">
                <a:solidFill>
                  <a:srgbClr val="0A468C"/>
                </a:solidFill>
                <a:latin typeface="Noto Sans SC Bold" pitchFamily="34" charset="0"/>
                <a:ea typeface="Noto Sans SC Bold" pitchFamily="34" charset="-122"/>
                <a:cs typeface="Noto Sans SC Bold" pitchFamily="34" charset="-120"/>
              </a:rPr>
              <a:t>C-RRT*-APF 仿真实验结果</a:t>
            </a:r>
            <a:endParaRPr lang="en-US" sz="3750" dirty="0"/>
          </a:p>
        </p:txBody>
      </p:sp>
      <p:sp>
        <p:nvSpPr>
          <p:cNvPr id="3" name="Text 1"/>
          <p:cNvSpPr/>
          <p:nvPr/>
        </p:nvSpPr>
        <p:spPr>
          <a:xfrm>
            <a:off x="1109663" y="1908096"/>
            <a:ext cx="3579257" cy="636151"/>
          </a:xfrm>
          <a:prstGeom prst="rect">
            <a:avLst/>
          </a:prstGeom>
          <a:noFill/>
          <a:ln/>
        </p:spPr>
        <p:txBody>
          <a:bodyPr wrap="none" lIns="0" tIns="0" rIns="0" bIns="0" rtlCol="0" anchor="t"/>
          <a:lstStyle/>
          <a:p>
            <a:pPr algn="ctr" indent="0" marL="0">
              <a:lnSpc>
                <a:spcPts val="5000"/>
              </a:lnSpc>
              <a:buNone/>
            </a:pPr>
            <a:r>
              <a:rPr lang="en-US" sz="5000" b="1" dirty="0">
                <a:solidFill>
                  <a:srgbClr val="000000"/>
                </a:solidFill>
                <a:latin typeface="Noto Sans SC Bold" pitchFamily="34" charset="0"/>
                <a:ea typeface="Noto Sans SC Bold" pitchFamily="34" charset="-122"/>
                <a:cs typeface="Noto Sans SC Bold" pitchFamily="34" charset="-120"/>
              </a:rPr>
              <a:t>29%</a:t>
            </a:r>
            <a:endParaRPr lang="en-US" sz="5000" dirty="0"/>
          </a:p>
        </p:txBody>
      </p:sp>
      <p:sp>
        <p:nvSpPr>
          <p:cNvPr id="4" name="Text 2"/>
          <p:cNvSpPr/>
          <p:nvPr/>
        </p:nvSpPr>
        <p:spPr>
          <a:xfrm>
            <a:off x="1694259" y="2763441"/>
            <a:ext cx="2409944" cy="301228"/>
          </a:xfrm>
          <a:prstGeom prst="rect">
            <a:avLst/>
          </a:prstGeom>
          <a:noFill/>
          <a:ln/>
        </p:spPr>
        <p:txBody>
          <a:bodyPr wrap="none" lIns="0" tIns="0" rIns="0" bIns="0" rtlCol="0" anchor="t"/>
          <a:lstStyle/>
          <a:p>
            <a:pPr algn="ctr" indent="0" marL="0">
              <a:lnSpc>
                <a:spcPts val="2350"/>
              </a:lnSpc>
              <a:buNone/>
            </a:pPr>
            <a:r>
              <a:rPr lang="en-US" sz="1850" b="1" dirty="0">
                <a:solidFill>
                  <a:srgbClr val="000000"/>
                </a:solidFill>
                <a:latin typeface="Noto Sans SC Bold" pitchFamily="34" charset="0"/>
                <a:ea typeface="Noto Sans SC Bold" pitchFamily="34" charset="-122"/>
                <a:cs typeface="Noto Sans SC Bold" pitchFamily="34" charset="-120"/>
              </a:rPr>
              <a:t>平均到达时间降低</a:t>
            </a:r>
            <a:endParaRPr lang="en-US" sz="1850" dirty="0"/>
          </a:p>
        </p:txBody>
      </p:sp>
      <p:sp>
        <p:nvSpPr>
          <p:cNvPr id="5" name="Text 3"/>
          <p:cNvSpPr/>
          <p:nvPr/>
        </p:nvSpPr>
        <p:spPr>
          <a:xfrm>
            <a:off x="793790" y="3162895"/>
            <a:ext cx="4211003" cy="570548"/>
          </a:xfrm>
          <a:prstGeom prst="rect">
            <a:avLst/>
          </a:prstGeom>
          <a:noFill/>
          <a:ln/>
        </p:spPr>
        <p:txBody>
          <a:bodyPr wrap="square" lIns="0" tIns="0" rIns="0" bIns="0" rtlCol="0" anchor="t"/>
          <a:lstStyle/>
          <a:p>
            <a:pPr algn="ctr"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相较于 CMUFC 算法，典型场景下（36架无人机，20栋建筑）</a:t>
            </a:r>
            <a:endParaRPr lang="en-US" sz="1500" dirty="0"/>
          </a:p>
        </p:txBody>
      </p:sp>
      <p:sp>
        <p:nvSpPr>
          <p:cNvPr id="6" name="Text 4"/>
          <p:cNvSpPr/>
          <p:nvPr/>
        </p:nvSpPr>
        <p:spPr>
          <a:xfrm>
            <a:off x="5525453" y="1908096"/>
            <a:ext cx="3579376" cy="636151"/>
          </a:xfrm>
          <a:prstGeom prst="rect">
            <a:avLst/>
          </a:prstGeom>
          <a:noFill/>
          <a:ln/>
        </p:spPr>
        <p:txBody>
          <a:bodyPr wrap="none" lIns="0" tIns="0" rIns="0" bIns="0" rtlCol="0" anchor="t"/>
          <a:lstStyle/>
          <a:p>
            <a:pPr algn="ctr" indent="0" marL="0">
              <a:lnSpc>
                <a:spcPts val="5000"/>
              </a:lnSpc>
              <a:buNone/>
            </a:pPr>
            <a:r>
              <a:rPr lang="en-US" sz="5000" b="1" dirty="0">
                <a:solidFill>
                  <a:srgbClr val="000000"/>
                </a:solidFill>
                <a:latin typeface="Noto Sans SC Bold" pitchFamily="34" charset="0"/>
                <a:ea typeface="Noto Sans SC Bold" pitchFamily="34" charset="-122"/>
                <a:cs typeface="Noto Sans SC Bold" pitchFamily="34" charset="-120"/>
              </a:rPr>
              <a:t>17%</a:t>
            </a:r>
            <a:endParaRPr lang="en-US" sz="5000" dirty="0"/>
          </a:p>
        </p:txBody>
      </p:sp>
      <p:sp>
        <p:nvSpPr>
          <p:cNvPr id="7" name="Text 5"/>
          <p:cNvSpPr/>
          <p:nvPr/>
        </p:nvSpPr>
        <p:spPr>
          <a:xfrm>
            <a:off x="6110168" y="2763441"/>
            <a:ext cx="2409944" cy="301228"/>
          </a:xfrm>
          <a:prstGeom prst="rect">
            <a:avLst/>
          </a:prstGeom>
          <a:noFill/>
          <a:ln/>
        </p:spPr>
        <p:txBody>
          <a:bodyPr wrap="none" lIns="0" tIns="0" rIns="0" bIns="0" rtlCol="0" anchor="t"/>
          <a:lstStyle/>
          <a:p>
            <a:pPr algn="ctr" indent="0" marL="0">
              <a:lnSpc>
                <a:spcPts val="2350"/>
              </a:lnSpc>
              <a:buNone/>
            </a:pPr>
            <a:r>
              <a:rPr lang="en-US" sz="1850" b="1" dirty="0">
                <a:solidFill>
                  <a:srgbClr val="000000"/>
                </a:solidFill>
                <a:latin typeface="Noto Sans SC Bold" pitchFamily="34" charset="0"/>
                <a:ea typeface="Noto Sans SC Bold" pitchFamily="34" charset="-122"/>
                <a:cs typeface="Noto Sans SC Bold" pitchFamily="34" charset="-120"/>
              </a:rPr>
              <a:t>通信连通率提升</a:t>
            </a:r>
            <a:endParaRPr lang="en-US" sz="1850" dirty="0"/>
          </a:p>
        </p:txBody>
      </p:sp>
      <p:sp>
        <p:nvSpPr>
          <p:cNvPr id="8" name="Text 6"/>
          <p:cNvSpPr/>
          <p:nvPr/>
        </p:nvSpPr>
        <p:spPr>
          <a:xfrm>
            <a:off x="5209580" y="3162895"/>
            <a:ext cx="4211122" cy="570548"/>
          </a:xfrm>
          <a:prstGeom prst="rect">
            <a:avLst/>
          </a:prstGeom>
          <a:noFill/>
          <a:ln/>
        </p:spPr>
        <p:txBody>
          <a:bodyPr wrap="square" lIns="0" tIns="0" rIns="0" bIns="0" rtlCol="0" anchor="t"/>
          <a:lstStyle/>
          <a:p>
            <a:pPr algn="ctr"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相较于 CMUFC 算法，强干扰环境下连通率达 95%</a:t>
            </a:r>
            <a:endParaRPr lang="en-US" sz="1500" dirty="0"/>
          </a:p>
        </p:txBody>
      </p:sp>
      <p:sp>
        <p:nvSpPr>
          <p:cNvPr id="9" name="Text 7"/>
          <p:cNvSpPr/>
          <p:nvPr/>
        </p:nvSpPr>
        <p:spPr>
          <a:xfrm>
            <a:off x="9941362" y="1908096"/>
            <a:ext cx="3579257" cy="636151"/>
          </a:xfrm>
          <a:prstGeom prst="rect">
            <a:avLst/>
          </a:prstGeom>
          <a:noFill/>
          <a:ln/>
        </p:spPr>
        <p:txBody>
          <a:bodyPr wrap="none" lIns="0" tIns="0" rIns="0" bIns="0" rtlCol="0" anchor="t"/>
          <a:lstStyle/>
          <a:p>
            <a:pPr algn="ctr" indent="0" marL="0">
              <a:lnSpc>
                <a:spcPts val="5000"/>
              </a:lnSpc>
              <a:buNone/>
            </a:pPr>
            <a:r>
              <a:rPr lang="en-US" sz="5000" b="1" dirty="0">
                <a:solidFill>
                  <a:srgbClr val="000000"/>
                </a:solidFill>
                <a:latin typeface="Noto Sans SC Bold" pitchFamily="34" charset="0"/>
                <a:ea typeface="Noto Sans SC Bold" pitchFamily="34" charset="-122"/>
                <a:cs typeface="Noto Sans SC Bold" pitchFamily="34" charset="-120"/>
              </a:rPr>
              <a:t>95%</a:t>
            </a:r>
            <a:endParaRPr lang="en-US" sz="5000" dirty="0"/>
          </a:p>
        </p:txBody>
      </p:sp>
      <p:sp>
        <p:nvSpPr>
          <p:cNvPr id="10" name="Text 8"/>
          <p:cNvSpPr/>
          <p:nvPr/>
        </p:nvSpPr>
        <p:spPr>
          <a:xfrm>
            <a:off x="10525958" y="2763441"/>
            <a:ext cx="2409944" cy="301228"/>
          </a:xfrm>
          <a:prstGeom prst="rect">
            <a:avLst/>
          </a:prstGeom>
          <a:noFill/>
          <a:ln/>
        </p:spPr>
        <p:txBody>
          <a:bodyPr wrap="none" lIns="0" tIns="0" rIns="0" bIns="0" rtlCol="0" anchor="t"/>
          <a:lstStyle/>
          <a:p>
            <a:pPr algn="ctr" indent="0" marL="0">
              <a:lnSpc>
                <a:spcPts val="2350"/>
              </a:lnSpc>
              <a:buNone/>
            </a:pPr>
            <a:r>
              <a:rPr lang="en-US" sz="1850" b="1" dirty="0">
                <a:solidFill>
                  <a:srgbClr val="000000"/>
                </a:solidFill>
                <a:latin typeface="Noto Sans SC Bold" pitchFamily="34" charset="0"/>
                <a:ea typeface="Noto Sans SC Bold" pitchFamily="34" charset="-122"/>
                <a:cs typeface="Noto Sans SC Bold" pitchFamily="34" charset="-120"/>
              </a:rPr>
              <a:t>通信连通率中位数</a:t>
            </a:r>
            <a:endParaRPr lang="en-US" sz="1850" dirty="0"/>
          </a:p>
        </p:txBody>
      </p:sp>
      <p:sp>
        <p:nvSpPr>
          <p:cNvPr id="11" name="Text 9"/>
          <p:cNvSpPr/>
          <p:nvPr/>
        </p:nvSpPr>
        <p:spPr>
          <a:xfrm>
            <a:off x="9625489" y="3162895"/>
            <a:ext cx="4211003" cy="285274"/>
          </a:xfrm>
          <a:prstGeom prst="rect">
            <a:avLst/>
          </a:prstGeom>
          <a:noFill/>
          <a:ln/>
        </p:spPr>
        <p:txBody>
          <a:bodyPr wrap="none" lIns="0" tIns="0" rIns="0" bIns="0" rtlCol="0" anchor="t"/>
          <a:lstStyle/>
          <a:p>
            <a:pPr algn="ctr"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40次独立重复实验统计，分布高度集中</a:t>
            </a:r>
            <a:endParaRPr lang="en-US" sz="1500" dirty="0"/>
          </a:p>
        </p:txBody>
      </p:sp>
      <p:sp>
        <p:nvSpPr>
          <p:cNvPr id="12" name="Text 10"/>
          <p:cNvSpPr/>
          <p:nvPr/>
        </p:nvSpPr>
        <p:spPr>
          <a:xfrm>
            <a:off x="793790" y="4081582"/>
            <a:ext cx="2409944" cy="301228"/>
          </a:xfrm>
          <a:prstGeom prst="rect">
            <a:avLst/>
          </a:prstGeom>
          <a:noFill/>
          <a:ln/>
        </p:spPr>
        <p:txBody>
          <a:bodyPr wrap="none" lIns="0" tIns="0" rIns="0" bIns="0" rtlCol="0" anchor="t"/>
          <a:lstStyle/>
          <a:p>
            <a:pPr algn="l" indent="0" marL="0">
              <a:lnSpc>
                <a:spcPts val="2350"/>
              </a:lnSpc>
              <a:buNone/>
            </a:pPr>
            <a:r>
              <a:rPr lang="en-US" sz="1850" b="1" dirty="0">
                <a:solidFill>
                  <a:srgbClr val="0A468C"/>
                </a:solidFill>
                <a:latin typeface="Noto Sans SC Bold" pitchFamily="34" charset="0"/>
                <a:ea typeface="Noto Sans SC Bold" pitchFamily="34" charset="-122"/>
                <a:cs typeface="Noto Sans SC Bold" pitchFamily="34" charset="-120"/>
              </a:rPr>
              <a:t>消融实验对比</a:t>
            </a:r>
            <a:endParaRPr lang="en-US" sz="1850" dirty="0"/>
          </a:p>
        </p:txBody>
      </p:sp>
      <p:sp>
        <p:nvSpPr>
          <p:cNvPr id="13" name="Shape 11"/>
          <p:cNvSpPr/>
          <p:nvPr/>
        </p:nvSpPr>
        <p:spPr>
          <a:xfrm>
            <a:off x="793790" y="4567118"/>
            <a:ext cx="6286262" cy="2596515"/>
          </a:xfrm>
          <a:prstGeom prst="roundRect">
            <a:avLst>
              <a:gd name="adj" fmla="val 3119"/>
            </a:avLst>
          </a:prstGeom>
          <a:noFill/>
          <a:ln w="7620">
            <a:solidFill>
              <a:srgbClr val="000000">
                <a:alpha val="8000"/>
              </a:srgbClr>
            </a:solidFill>
            <a:prstDash val="solid"/>
          </a:ln>
        </p:spPr>
      </p:sp>
      <p:sp>
        <p:nvSpPr>
          <p:cNvPr id="14" name="Text 12"/>
          <p:cNvSpPr/>
          <p:nvPr/>
        </p:nvSpPr>
        <p:spPr>
          <a:xfrm>
            <a:off x="995124" y="4680585"/>
            <a:ext cx="1700451" cy="285274"/>
          </a:xfrm>
          <a:prstGeom prst="rect">
            <a:avLst/>
          </a:prstGeom>
          <a:noFill/>
          <a:ln/>
        </p:spPr>
        <p:txBody>
          <a:bodyPr wrap="none" lIns="0" tIns="0" rIns="0" bIns="0" rtlCol="0" anchor="t"/>
          <a:lstStyle/>
          <a:p>
            <a:pPr algn="l" indent="0" marL="0">
              <a:lnSpc>
                <a:spcPts val="2200"/>
              </a:lnSpc>
              <a:buNone/>
            </a:pPr>
            <a:r>
              <a:rPr lang="en-US" sz="1500" b="1" dirty="0">
                <a:solidFill>
                  <a:srgbClr val="000000"/>
                </a:solidFill>
                <a:latin typeface="Noto Sans SC" pitchFamily="34" charset="0"/>
                <a:ea typeface="Noto Sans SC" pitchFamily="34" charset="-122"/>
                <a:cs typeface="Noto Sans SC" pitchFamily="34" charset="-120"/>
              </a:rPr>
              <a:t>算法变体</a:t>
            </a:r>
            <a:endParaRPr lang="en-US" sz="1500" dirty="0"/>
          </a:p>
        </p:txBody>
      </p:sp>
      <p:sp>
        <p:nvSpPr>
          <p:cNvPr id="15" name="Text 13"/>
          <p:cNvSpPr/>
          <p:nvPr/>
        </p:nvSpPr>
        <p:spPr>
          <a:xfrm>
            <a:off x="3088719" y="4680585"/>
            <a:ext cx="1696641" cy="285274"/>
          </a:xfrm>
          <a:prstGeom prst="rect">
            <a:avLst/>
          </a:prstGeom>
          <a:noFill/>
          <a:ln/>
        </p:spPr>
        <p:txBody>
          <a:bodyPr wrap="none" lIns="0" tIns="0" rIns="0" bIns="0" rtlCol="0" anchor="t"/>
          <a:lstStyle/>
          <a:p>
            <a:pPr algn="l" indent="0" marL="0">
              <a:lnSpc>
                <a:spcPts val="2200"/>
              </a:lnSpc>
              <a:buNone/>
            </a:pPr>
            <a:r>
              <a:rPr lang="en-US" sz="1500" b="1" dirty="0">
                <a:solidFill>
                  <a:srgbClr val="000000"/>
                </a:solidFill>
                <a:latin typeface="Noto Sans SC" pitchFamily="34" charset="0"/>
                <a:ea typeface="Noto Sans SC" pitchFamily="34" charset="-122"/>
                <a:cs typeface="Noto Sans SC" pitchFamily="34" charset="-120"/>
              </a:rPr>
              <a:t>通信连通率</a:t>
            </a:r>
            <a:endParaRPr lang="en-US" sz="1500" dirty="0"/>
          </a:p>
        </p:txBody>
      </p:sp>
      <p:sp>
        <p:nvSpPr>
          <p:cNvPr id="16" name="Text 14"/>
          <p:cNvSpPr/>
          <p:nvPr/>
        </p:nvSpPr>
        <p:spPr>
          <a:xfrm>
            <a:off x="5178504" y="4680585"/>
            <a:ext cx="1700451" cy="285274"/>
          </a:xfrm>
          <a:prstGeom prst="rect">
            <a:avLst/>
          </a:prstGeom>
          <a:noFill/>
          <a:ln/>
        </p:spPr>
        <p:txBody>
          <a:bodyPr wrap="none" lIns="0" tIns="0" rIns="0" bIns="0" rtlCol="0" anchor="t"/>
          <a:lstStyle/>
          <a:p>
            <a:pPr algn="l" indent="0" marL="0">
              <a:lnSpc>
                <a:spcPts val="2200"/>
              </a:lnSpc>
              <a:buNone/>
            </a:pPr>
            <a:r>
              <a:rPr lang="en-US" sz="1500" b="1" dirty="0">
                <a:solidFill>
                  <a:srgbClr val="000000"/>
                </a:solidFill>
                <a:latin typeface="Noto Sans SC" pitchFamily="34" charset="0"/>
                <a:ea typeface="Noto Sans SC" pitchFamily="34" charset="-122"/>
                <a:cs typeface="Noto Sans SC" pitchFamily="34" charset="-120"/>
              </a:rPr>
              <a:t>平均到达时间</a:t>
            </a:r>
            <a:endParaRPr lang="en-US" sz="1500" dirty="0"/>
          </a:p>
        </p:txBody>
      </p:sp>
      <p:sp>
        <p:nvSpPr>
          <p:cNvPr id="17" name="Text 15"/>
          <p:cNvSpPr/>
          <p:nvPr/>
        </p:nvSpPr>
        <p:spPr>
          <a:xfrm>
            <a:off x="995124" y="5185172"/>
            <a:ext cx="1700451" cy="570548"/>
          </a:xfrm>
          <a:prstGeom prst="rect">
            <a:avLst/>
          </a:prstGeom>
          <a:noFill/>
          <a:ln/>
        </p:spPr>
        <p:txBody>
          <a:bodyPr wrap="squar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C-RRT*-APF（完整）</a:t>
            </a:r>
            <a:endParaRPr lang="en-US" sz="1500" dirty="0"/>
          </a:p>
        </p:txBody>
      </p:sp>
      <p:sp>
        <p:nvSpPr>
          <p:cNvPr id="18" name="Text 16"/>
          <p:cNvSpPr/>
          <p:nvPr/>
        </p:nvSpPr>
        <p:spPr>
          <a:xfrm>
            <a:off x="3088719" y="5185172"/>
            <a:ext cx="1696641" cy="285274"/>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95%</a:t>
            </a:r>
            <a:endParaRPr lang="en-US" sz="1500" dirty="0"/>
          </a:p>
        </p:txBody>
      </p:sp>
      <p:sp>
        <p:nvSpPr>
          <p:cNvPr id="19" name="Text 17"/>
          <p:cNvSpPr/>
          <p:nvPr/>
        </p:nvSpPr>
        <p:spPr>
          <a:xfrm>
            <a:off x="5178504" y="5185172"/>
            <a:ext cx="1700451" cy="285274"/>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297 S</a:t>
            </a:r>
            <a:endParaRPr lang="en-US" sz="1500" dirty="0"/>
          </a:p>
        </p:txBody>
      </p:sp>
      <p:sp>
        <p:nvSpPr>
          <p:cNvPr id="20" name="Text 18"/>
          <p:cNvSpPr/>
          <p:nvPr/>
        </p:nvSpPr>
        <p:spPr>
          <a:xfrm>
            <a:off x="995124" y="5975033"/>
            <a:ext cx="1700451" cy="570548"/>
          </a:xfrm>
          <a:prstGeom prst="rect">
            <a:avLst/>
          </a:prstGeom>
          <a:noFill/>
          <a:ln/>
        </p:spPr>
        <p:txBody>
          <a:bodyPr wrap="squar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去除局部 MBST 引力</a:t>
            </a:r>
            <a:endParaRPr lang="en-US" sz="1500" dirty="0"/>
          </a:p>
        </p:txBody>
      </p:sp>
      <p:sp>
        <p:nvSpPr>
          <p:cNvPr id="21" name="Text 19"/>
          <p:cNvSpPr/>
          <p:nvPr/>
        </p:nvSpPr>
        <p:spPr>
          <a:xfrm>
            <a:off x="3088719" y="5975033"/>
            <a:ext cx="1696641" cy="285274"/>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64%</a:t>
            </a:r>
            <a:endParaRPr lang="en-US" sz="1500" dirty="0"/>
          </a:p>
        </p:txBody>
      </p:sp>
      <p:sp>
        <p:nvSpPr>
          <p:cNvPr id="22" name="Text 20"/>
          <p:cNvSpPr/>
          <p:nvPr/>
        </p:nvSpPr>
        <p:spPr>
          <a:xfrm>
            <a:off x="5178504" y="5975033"/>
            <a:ext cx="1700451" cy="285274"/>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308 S</a:t>
            </a:r>
            <a:endParaRPr lang="en-US" sz="1500" dirty="0"/>
          </a:p>
        </p:txBody>
      </p:sp>
      <p:sp>
        <p:nvSpPr>
          <p:cNvPr id="23" name="Text 21"/>
          <p:cNvSpPr/>
          <p:nvPr/>
        </p:nvSpPr>
        <p:spPr>
          <a:xfrm>
            <a:off x="995124" y="6764893"/>
            <a:ext cx="1700451" cy="285274"/>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去除簇间距离约束</a:t>
            </a:r>
            <a:endParaRPr lang="en-US" sz="1500" dirty="0"/>
          </a:p>
        </p:txBody>
      </p:sp>
      <p:sp>
        <p:nvSpPr>
          <p:cNvPr id="24" name="Text 22"/>
          <p:cNvSpPr/>
          <p:nvPr/>
        </p:nvSpPr>
        <p:spPr>
          <a:xfrm>
            <a:off x="3088719" y="6764893"/>
            <a:ext cx="1696641" cy="285274"/>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59%</a:t>
            </a:r>
            <a:endParaRPr lang="en-US" sz="1500" dirty="0"/>
          </a:p>
        </p:txBody>
      </p:sp>
      <p:sp>
        <p:nvSpPr>
          <p:cNvPr id="25" name="Text 23"/>
          <p:cNvSpPr/>
          <p:nvPr/>
        </p:nvSpPr>
        <p:spPr>
          <a:xfrm>
            <a:off x="5178504" y="6764893"/>
            <a:ext cx="1700451" cy="285274"/>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351 S</a:t>
            </a:r>
            <a:endParaRPr lang="en-US" sz="1500" dirty="0"/>
          </a:p>
        </p:txBody>
      </p:sp>
      <p:sp>
        <p:nvSpPr>
          <p:cNvPr id="26" name="Shape 24"/>
          <p:cNvSpPr/>
          <p:nvPr/>
        </p:nvSpPr>
        <p:spPr>
          <a:xfrm>
            <a:off x="7557968" y="4102060"/>
            <a:ext cx="6286262" cy="1311473"/>
          </a:xfrm>
          <a:prstGeom prst="roundRect">
            <a:avLst>
              <a:gd name="adj" fmla="val 6175"/>
            </a:avLst>
          </a:prstGeom>
          <a:solidFill>
            <a:srgbClr val="B6FCB8"/>
          </a:solidFill>
          <a:ln/>
        </p:spPr>
      </p:sp>
      <p:pic>
        <p:nvPicPr>
          <p:cNvPr id="27" name="Image 0" descr="preencoded.png">    </p:cNvPr>
          <p:cNvPicPr>
            <a:picLocks noChangeAspect="1"/>
          </p:cNvPicPr>
          <p:nvPr/>
        </p:nvPicPr>
        <p:blipFill>
          <a:blip r:embed="rId1"/>
          <a:stretch>
            <a:fillRect/>
          </a:stretch>
        </p:blipFill>
        <p:spPr>
          <a:xfrm>
            <a:off x="7750731" y="4395192"/>
            <a:ext cx="240983" cy="192762"/>
          </a:xfrm>
          <a:prstGeom prst="rect">
            <a:avLst/>
          </a:prstGeom>
        </p:spPr>
      </p:pic>
      <p:sp>
        <p:nvSpPr>
          <p:cNvPr id="28" name="Text 25"/>
          <p:cNvSpPr/>
          <p:nvPr/>
        </p:nvSpPr>
        <p:spPr>
          <a:xfrm>
            <a:off x="8184475" y="4313992"/>
            <a:ext cx="5466993" cy="855821"/>
          </a:xfrm>
          <a:prstGeom prst="rect">
            <a:avLst/>
          </a:prstGeom>
          <a:noFill/>
          <a:ln/>
        </p:spPr>
        <p:txBody>
          <a:bodyPr wrap="squar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多场景适应性：在不同建筑密度（10/20/30栋）、无人机规模（12/24/36架）及干扰功率（20–30 dBm）下，C-RRT*-APF 始终保持最高通信连通率，且随规模增大性能退化最小。</a:t>
            </a:r>
            <a:endParaRPr lang="en-US" sz="1500" dirty="0"/>
          </a:p>
        </p:txBody>
      </p:sp>
      <p:sp>
        <p:nvSpPr>
          <p:cNvPr id="29" name="Text 26"/>
          <p:cNvSpPr/>
          <p:nvPr/>
        </p:nvSpPr>
        <p:spPr>
          <a:xfrm>
            <a:off x="7143036" y="7726442"/>
            <a:ext cx="344329" cy="235029"/>
          </a:xfrm>
          <a:prstGeom prst="rect">
            <a:avLst/>
          </a:prstGeom>
          <a:noFill/>
          <a:ln/>
        </p:spPr>
        <p:txBody>
          <a:bodyPr wrap="none" lIns="0" tIns="0" rIns="0" bIns="0" rtlCol="0" anchor="t"/>
          <a:lstStyle/>
          <a:p>
            <a:pPr algn="ctr" indent="0" marL="0">
              <a:lnSpc>
                <a:spcPts val="1850"/>
              </a:lnSpc>
              <a:buNone/>
            </a:pPr>
            <a:r>
              <a:rPr lang="en-US" sz="1250" dirty="0">
                <a:solidFill>
                  <a:srgbClr val="000000"/>
                </a:solidFill>
                <a:latin typeface="Noto Sans SC" pitchFamily="34" charset="0"/>
                <a:ea typeface="Noto Sans SC" pitchFamily="34" charset="-122"/>
                <a:cs typeface="Noto Sans SC" pitchFamily="34" charset="-120"/>
              </a:rPr>
              <a:t>12</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Shape 1"/>
          <p:cNvSpPr/>
          <p:nvPr/>
        </p:nvSpPr>
        <p:spPr>
          <a:xfrm>
            <a:off x="6280190" y="2614493"/>
            <a:ext cx="816173" cy="426244"/>
          </a:xfrm>
          <a:prstGeom prst="roundRect">
            <a:avLst>
              <a:gd name="adj" fmla="val 17880"/>
            </a:avLst>
          </a:prstGeom>
          <a:solidFill>
            <a:srgbClr val="CDEFFE"/>
          </a:solidFill>
          <a:ln/>
        </p:spPr>
      </p:sp>
      <p:sp>
        <p:nvSpPr>
          <p:cNvPr id="6" name="Text 2"/>
          <p:cNvSpPr/>
          <p:nvPr/>
        </p:nvSpPr>
        <p:spPr>
          <a:xfrm>
            <a:off x="6416278" y="2682478"/>
            <a:ext cx="543997" cy="290274"/>
          </a:xfrm>
          <a:prstGeom prst="rect">
            <a:avLst/>
          </a:prstGeom>
          <a:noFill/>
          <a:ln/>
        </p:spPr>
        <p:txBody>
          <a:bodyPr wrap="none" lIns="0" tIns="0" rIns="0" bIns="0" rtlCol="0" anchor="t"/>
          <a:lstStyle/>
          <a:p>
            <a:pPr algn="l" indent="0" marL="0">
              <a:lnSpc>
                <a:spcPts val="2250"/>
              </a:lnSpc>
              <a:buNone/>
            </a:pPr>
            <a:r>
              <a:rPr lang="en-US" sz="1400" dirty="0">
                <a:solidFill>
                  <a:srgbClr val="000000"/>
                </a:solidFill>
                <a:latin typeface="Noto Sans SC" pitchFamily="34" charset="0"/>
                <a:ea typeface="Noto Sans SC" pitchFamily="34" charset="-122"/>
                <a:cs typeface="Noto Sans SC" pitchFamily="34" charset="-120"/>
              </a:rPr>
              <a:t>第四章</a:t>
            </a:r>
            <a:endParaRPr lang="en-US" sz="1400" dirty="0"/>
          </a:p>
        </p:txBody>
      </p:sp>
      <p:sp>
        <p:nvSpPr>
          <p:cNvPr id="7" name="Text 3"/>
          <p:cNvSpPr/>
          <p:nvPr/>
        </p:nvSpPr>
        <p:spPr>
          <a:xfrm>
            <a:off x="6280190" y="3131463"/>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MPG-NSGA-II：多种群引导协同进化区域覆盖算法</a:t>
            </a:r>
            <a:endParaRPr lang="en-US" sz="4450" dirty="0"/>
          </a:p>
        </p:txBody>
      </p:sp>
      <p:sp>
        <p:nvSpPr>
          <p:cNvPr id="8" name="Text 4"/>
          <p:cNvSpPr/>
          <p:nvPr/>
        </p:nvSpPr>
        <p:spPr>
          <a:xfrm>
            <a:off x="6280190" y="4889182"/>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针对大规模无人机集群在复杂城市环境下区域覆盖侦察部署问题，提出融合领域先验知识的多种群协同进化多目标优化算法。</a:t>
            </a:r>
            <a:endParaRPr lang="en-US" sz="1750" dirty="0"/>
          </a:p>
        </p:txBody>
      </p:sp>
      <p:sp>
        <p:nvSpPr>
          <p:cNvPr id="9" name="Text 5"/>
          <p:cNvSpPr/>
          <p:nvPr/>
        </p:nvSpPr>
        <p:spPr>
          <a:xfrm>
            <a:off x="5645110" y="7716917"/>
            <a:ext cx="366712" cy="254079"/>
          </a:xfrm>
          <a:prstGeom prst="rect">
            <a:avLst/>
          </a:prstGeom>
          <a:noFill/>
          <a:ln/>
        </p:spPr>
        <p:txBody>
          <a:bodyPr wrap="none" lIns="0" tIns="0" rIns="0" bIns="0" rtlCol="0" anchor="t"/>
          <a:lstStyle/>
          <a:p>
            <a:pPr algn="l"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13</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834747"/>
            <a:ext cx="4820007" cy="602456"/>
          </a:xfrm>
          <a:prstGeom prst="rect">
            <a:avLst/>
          </a:prstGeom>
          <a:noFill/>
          <a:ln/>
        </p:spPr>
        <p:txBody>
          <a:bodyPr wrap="none" lIns="0" tIns="0" rIns="0" bIns="0" rtlCol="0" anchor="t"/>
          <a:lstStyle/>
          <a:p>
            <a:pPr algn="l" indent="0" marL="0">
              <a:lnSpc>
                <a:spcPts val="4700"/>
              </a:lnSpc>
              <a:buNone/>
            </a:pPr>
            <a:r>
              <a:rPr lang="en-US" sz="3750" b="1" dirty="0">
                <a:solidFill>
                  <a:srgbClr val="0A468C"/>
                </a:solidFill>
                <a:latin typeface="Noto Sans SC Bold" pitchFamily="34" charset="0"/>
                <a:ea typeface="Noto Sans SC Bold" pitchFamily="34" charset="-122"/>
                <a:cs typeface="Noto Sans SC Bold" pitchFamily="34" charset="-120"/>
              </a:rPr>
              <a:t>优化问题建模</a:t>
            </a:r>
            <a:endParaRPr lang="en-US" sz="3750" dirty="0"/>
          </a:p>
        </p:txBody>
      </p:sp>
      <p:sp>
        <p:nvSpPr>
          <p:cNvPr id="3" name="Text 1"/>
          <p:cNvSpPr/>
          <p:nvPr/>
        </p:nvSpPr>
        <p:spPr>
          <a:xfrm>
            <a:off x="793790" y="2497931"/>
            <a:ext cx="2409944" cy="301228"/>
          </a:xfrm>
          <a:prstGeom prst="rect">
            <a:avLst/>
          </a:prstGeom>
          <a:noFill/>
          <a:ln/>
        </p:spPr>
        <p:txBody>
          <a:bodyPr wrap="none" lIns="0" tIns="0" rIns="0" bIns="0" rtlCol="0" anchor="t"/>
          <a:lstStyle/>
          <a:p>
            <a:pPr algn="l" indent="0" marL="0">
              <a:lnSpc>
                <a:spcPts val="2350"/>
              </a:lnSpc>
              <a:buNone/>
            </a:pPr>
            <a:r>
              <a:rPr lang="en-US" sz="1850" b="1" dirty="0">
                <a:solidFill>
                  <a:srgbClr val="0A468C"/>
                </a:solidFill>
                <a:latin typeface="Noto Sans SC Bold" pitchFamily="34" charset="0"/>
                <a:ea typeface="Noto Sans SC Bold" pitchFamily="34" charset="-122"/>
                <a:cs typeface="Noto Sans SC Bold" pitchFamily="34" charset="-120"/>
              </a:rPr>
              <a:t>多目标优化模型</a:t>
            </a:r>
            <a:endParaRPr lang="en-US" sz="1850" dirty="0"/>
          </a:p>
        </p:txBody>
      </p:sp>
      <p:sp>
        <p:nvSpPr>
          <p:cNvPr id="4" name="Text 2"/>
          <p:cNvSpPr/>
          <p:nvPr/>
        </p:nvSpPr>
        <p:spPr>
          <a:xfrm>
            <a:off x="793790" y="2962989"/>
            <a:ext cx="6286262" cy="286941"/>
          </a:xfrm>
          <a:prstGeom prst="rect">
            <a:avLst/>
          </a:prstGeom>
          <a:noFill/>
          <a:ln/>
        </p:spPr>
        <p:txBody>
          <a:bodyPr wrap="none" lIns="0" tIns="0" rIns="0" bIns="0" rtlCol="0" anchor="t"/>
          <a:lstStyle/>
          <a:p>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决策变量：无人机集群二维部署坐标集合 </a:t>
            </a:r>
            <a:pPr algn="l" indent="0" marL="0">
              <a:lnSpc>
                <a:spcPts val="2200"/>
              </a:lnSpc>
              <a:buNone/>
            </a:pPr>
            <a:r>
              <a:rPr lang="en-US" sz="1500" i="1" dirty="0">
                <a:solidFill>
                  <a:srgbClr val="000000"/>
                </a:solidFill>
                <a:latin typeface="Noto Sans SC" pitchFamily="34" charset="0"/>
                <a:ea typeface="Noto Sans SC" pitchFamily="34" charset="-122"/>
                <a:cs typeface="Noto Sans SC" pitchFamily="34" charset="-120"/>
              </a:rPr>
              <a:t>X = \{o_1, o_2, \ldots, o_N\}</a:t>
            </a:r>
            <a:endParaRPr lang="en-US" sz="1500" dirty="0"/>
          </a:p>
        </p:txBody>
      </p:sp>
      <p:sp>
        <p:nvSpPr>
          <p:cNvPr id="5" name="Text 3"/>
          <p:cNvSpPr/>
          <p:nvPr/>
        </p:nvSpPr>
        <p:spPr>
          <a:xfrm>
            <a:off x="793790" y="3457337"/>
            <a:ext cx="6286262" cy="330041"/>
          </a:xfrm>
          <a:prstGeom prst="rect">
            <a:avLst/>
          </a:prstGeom>
          <a:noFill/>
          <a:ln/>
        </p:spPr>
        <p:txBody>
          <a:bodyPr wrap="none" lIns="0" tIns="0" rIns="0" bIns="0" rtlCol="0" anchor="t"/>
          <a:lstStyle/>
          <a:p>
            <a:pPr algn="l" indent="0" marL="0">
              <a:lnSpc>
                <a:spcPts val="2500"/>
              </a:lnSpc>
              <a:buNone/>
            </a:pPr>
            <a:endParaRPr lang="en-US" sz="1700" dirty="0"/>
          </a:p>
        </p:txBody>
      </p:sp>
      <p:pic>
        <p:nvPicPr>
          <p:cNvPr id="6" name="Image 0" descr="preencoded.png">    </p:cNvPr>
          <p:cNvPicPr>
            <a:picLocks noChangeAspect="1"/>
          </p:cNvPicPr>
          <p:nvPr/>
        </p:nvPicPr>
        <p:blipFill>
          <a:blip r:embed="rId1"/>
          <a:stretch>
            <a:fillRect/>
          </a:stretch>
        </p:blipFill>
        <p:spPr>
          <a:xfrm>
            <a:off x="793790" y="3457337"/>
            <a:ext cx="6286262" cy="330041"/>
          </a:xfrm>
          <a:prstGeom prst="rect">
            <a:avLst/>
          </a:prstGeom>
        </p:spPr>
      </p:pic>
      <p:sp>
        <p:nvSpPr>
          <p:cNvPr id="7" name="Text 4"/>
          <p:cNvSpPr/>
          <p:nvPr/>
        </p:nvSpPr>
        <p:spPr>
          <a:xfrm>
            <a:off x="793790" y="3994785"/>
            <a:ext cx="6286262" cy="285274"/>
          </a:xfrm>
          <a:prstGeom prst="rect">
            <a:avLst/>
          </a:prstGeom>
          <a:noFill/>
          <a:ln/>
        </p:spPr>
        <p:txBody>
          <a:bodyPr wrap="none" lIns="0" tIns="0" rIns="0" bIns="0" rtlCol="0" anchor="t"/>
          <a:lstStyle/>
          <a:p>
            <a:pPr algn="l" indent="0" marL="0">
              <a:lnSpc>
                <a:spcPts val="2200"/>
              </a:lnSpc>
              <a:buNone/>
            </a:pPr>
            <a:r>
              <a:rPr lang="en-US" sz="1500" b="1" dirty="0">
                <a:solidFill>
                  <a:srgbClr val="000000"/>
                </a:solidFill>
                <a:latin typeface="Noto Sans SC" pitchFamily="34" charset="0"/>
                <a:ea typeface="Noto Sans SC" pitchFamily="34" charset="-122"/>
                <a:cs typeface="Noto Sans SC" pitchFamily="34" charset="-120"/>
              </a:rPr>
              <a:t>覆盖率</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：联合有效覆盖面积（含视距约束）与有效任务区域之比</a:t>
            </a:r>
            <a:endParaRPr lang="en-US" sz="1500" dirty="0"/>
          </a:p>
        </p:txBody>
      </p:sp>
      <p:sp>
        <p:nvSpPr>
          <p:cNvPr id="8" name="Text 5"/>
          <p:cNvSpPr/>
          <p:nvPr/>
        </p:nvSpPr>
        <p:spPr>
          <a:xfrm>
            <a:off x="793790" y="4487466"/>
            <a:ext cx="6286262" cy="794147"/>
          </a:xfrm>
          <a:prstGeom prst="rect">
            <a:avLst/>
          </a:prstGeom>
          <a:noFill/>
          <a:ln/>
        </p:spPr>
        <p:txBody>
          <a:bodyPr wrap="square" lIns="0" tIns="0" rIns="0" bIns="0" rtlCol="0" anchor="t"/>
          <a:lstStyle/>
          <a:p>
            <a:pPr algn="l" indent="0" marL="0">
              <a:lnSpc>
                <a:spcPts val="2500"/>
              </a:lnSpc>
              <a:buNone/>
            </a:pPr>
            <a:endParaRPr lang="en-US" sz="1700" dirty="0"/>
          </a:p>
        </p:txBody>
      </p:sp>
      <p:pic>
        <p:nvPicPr>
          <p:cNvPr id="9" name="Image 1" descr="preencoded.png">    </p:cNvPr>
          <p:cNvPicPr>
            <a:picLocks noChangeAspect="1"/>
          </p:cNvPicPr>
          <p:nvPr/>
        </p:nvPicPr>
        <p:blipFill>
          <a:blip r:embed="rId2"/>
          <a:stretch>
            <a:fillRect/>
          </a:stretch>
        </p:blipFill>
        <p:spPr>
          <a:xfrm>
            <a:off x="793790" y="4487466"/>
            <a:ext cx="6286262" cy="794147"/>
          </a:xfrm>
          <a:prstGeom prst="rect">
            <a:avLst/>
          </a:prstGeom>
        </p:spPr>
      </p:pic>
      <p:sp>
        <p:nvSpPr>
          <p:cNvPr id="10" name="Text 6"/>
          <p:cNvSpPr/>
          <p:nvPr/>
        </p:nvSpPr>
        <p:spPr>
          <a:xfrm>
            <a:off x="793790" y="5489019"/>
            <a:ext cx="6286262" cy="285274"/>
          </a:xfrm>
          <a:prstGeom prst="rect">
            <a:avLst/>
          </a:prstGeom>
          <a:noFill/>
          <a:ln/>
        </p:spPr>
        <p:txBody>
          <a:bodyPr wrap="none" lIns="0" tIns="0" rIns="0" bIns="0" rtlCol="0" anchor="t"/>
          <a:lstStyle/>
          <a:p>
            <a:pPr algn="l" indent="0" marL="0">
              <a:lnSpc>
                <a:spcPts val="2200"/>
              </a:lnSpc>
              <a:buNone/>
            </a:pPr>
            <a:r>
              <a:rPr lang="en-US" sz="1500" b="1" dirty="0">
                <a:solidFill>
                  <a:srgbClr val="000000"/>
                </a:solidFill>
                <a:latin typeface="Noto Sans SC" pitchFamily="34" charset="0"/>
                <a:ea typeface="Noto Sans SC" pitchFamily="34" charset="-122"/>
                <a:cs typeface="Noto Sans SC" pitchFamily="34" charset="-120"/>
              </a:rPr>
              <a:t>归一化代数连通度</a:t>
            </a:r>
            <a:pPr algn="l" indent="0" marL="0">
              <a:lnSpc>
                <a:spcPts val="2200"/>
              </a:lnSpc>
              <a:buNone/>
            </a:pPr>
            <a:r>
              <a:rPr lang="en-US" sz="1500" dirty="0">
                <a:solidFill>
                  <a:srgbClr val="000000"/>
                </a:solidFill>
                <a:latin typeface="Noto Sans SC" pitchFamily="34" charset="0"/>
                <a:ea typeface="Noto Sans SC" pitchFamily="34" charset="-122"/>
                <a:cs typeface="Noto Sans SC" pitchFamily="34" charset="-120"/>
              </a:rPr>
              <a:t>：消除规模量级影响</a:t>
            </a:r>
            <a:endParaRPr lang="en-US" sz="1500" dirty="0"/>
          </a:p>
        </p:txBody>
      </p:sp>
      <p:sp>
        <p:nvSpPr>
          <p:cNvPr id="11" name="Text 7"/>
          <p:cNvSpPr/>
          <p:nvPr/>
        </p:nvSpPr>
        <p:spPr>
          <a:xfrm>
            <a:off x="793790" y="5981700"/>
            <a:ext cx="6286262" cy="554474"/>
          </a:xfrm>
          <a:prstGeom prst="rect">
            <a:avLst/>
          </a:prstGeom>
          <a:noFill/>
          <a:ln/>
        </p:spPr>
        <p:txBody>
          <a:bodyPr wrap="square" lIns="0" tIns="0" rIns="0" bIns="0" rtlCol="0" anchor="t"/>
          <a:lstStyle/>
          <a:p>
            <a:pPr algn="l" indent="0" marL="0">
              <a:lnSpc>
                <a:spcPts val="2500"/>
              </a:lnSpc>
              <a:buNone/>
            </a:pPr>
            <a:endParaRPr lang="en-US" sz="1700" dirty="0"/>
          </a:p>
        </p:txBody>
      </p:sp>
      <p:pic>
        <p:nvPicPr>
          <p:cNvPr id="12" name="Image 2" descr="preencoded.png">    </p:cNvPr>
          <p:cNvPicPr>
            <a:picLocks noChangeAspect="1"/>
          </p:cNvPicPr>
          <p:nvPr/>
        </p:nvPicPr>
        <p:blipFill>
          <a:blip r:embed="rId3"/>
          <a:stretch>
            <a:fillRect/>
          </a:stretch>
        </p:blipFill>
        <p:spPr>
          <a:xfrm>
            <a:off x="793790" y="5981700"/>
            <a:ext cx="6286262" cy="554474"/>
          </a:xfrm>
          <a:prstGeom prst="rect">
            <a:avLst/>
          </a:prstGeom>
        </p:spPr>
      </p:pic>
      <p:pic>
        <p:nvPicPr>
          <p:cNvPr id="13" name="Image 3" descr="preencoded.png">    </p:cNvPr>
          <p:cNvPicPr>
            <a:picLocks noChangeAspect="1"/>
          </p:cNvPicPr>
          <p:nvPr/>
        </p:nvPicPr>
        <p:blipFill>
          <a:blip r:embed="rId4"/>
          <a:stretch>
            <a:fillRect/>
          </a:stretch>
        </p:blipFill>
        <p:spPr>
          <a:xfrm>
            <a:off x="7557968" y="1867257"/>
            <a:ext cx="5343287" cy="5343287"/>
          </a:xfrm>
          <a:prstGeom prst="rect">
            <a:avLst/>
          </a:prstGeom>
        </p:spPr>
      </p:pic>
      <p:pic>
        <p:nvPicPr>
          <p:cNvPr id="14" name="Image 4" descr="preencoded.png">    </p:cNvPr>
          <p:cNvPicPr>
            <a:picLocks noChangeAspect="1"/>
          </p:cNvPicPr>
          <p:nvPr/>
        </p:nvPicPr>
        <p:blipFill>
          <a:blip r:embed="rId5"/>
          <a:stretch>
            <a:fillRect/>
          </a:stretch>
        </p:blipFill>
        <p:spPr>
          <a:xfrm>
            <a:off x="7557968" y="1867257"/>
            <a:ext cx="5343287" cy="5343287"/>
          </a:xfrm>
          <a:prstGeom prst="rect">
            <a:avLst/>
          </a:prstGeom>
        </p:spPr>
      </p:pic>
      <p:sp>
        <p:nvSpPr>
          <p:cNvPr id="15" name="Text 8"/>
          <p:cNvSpPr/>
          <p:nvPr/>
        </p:nvSpPr>
        <p:spPr>
          <a:xfrm>
            <a:off x="7143036" y="7726442"/>
            <a:ext cx="344329" cy="235029"/>
          </a:xfrm>
          <a:prstGeom prst="rect">
            <a:avLst/>
          </a:prstGeom>
          <a:noFill/>
          <a:ln/>
        </p:spPr>
        <p:txBody>
          <a:bodyPr wrap="none" lIns="0" tIns="0" rIns="0" bIns="0" rtlCol="0" anchor="t"/>
          <a:lstStyle/>
          <a:p>
            <a:pPr algn="ctr" indent="0" marL="0">
              <a:lnSpc>
                <a:spcPts val="1850"/>
              </a:lnSpc>
              <a:buNone/>
            </a:pPr>
            <a:r>
              <a:rPr lang="en-US" sz="1250" dirty="0">
                <a:solidFill>
                  <a:srgbClr val="000000"/>
                </a:solidFill>
                <a:latin typeface="Noto Sans SC" pitchFamily="34" charset="0"/>
                <a:ea typeface="Noto Sans SC" pitchFamily="34" charset="-122"/>
                <a:cs typeface="Noto Sans SC" pitchFamily="34" charset="-120"/>
              </a:rPr>
              <a:t>14</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856536"/>
            <a:ext cx="3899178" cy="460772"/>
          </a:xfrm>
          <a:prstGeom prst="rect">
            <a:avLst/>
          </a:prstGeom>
          <a:noFill/>
          <a:ln/>
        </p:spPr>
        <p:txBody>
          <a:bodyPr wrap="none" lIns="0" tIns="0" rIns="0" bIns="0" rtlCol="0" anchor="t"/>
          <a:lstStyle/>
          <a:p>
            <a:pPr algn="l" indent="0" marL="0">
              <a:lnSpc>
                <a:spcPts val="3600"/>
              </a:lnSpc>
              <a:buNone/>
            </a:pPr>
            <a:r>
              <a:rPr lang="en-US" sz="2900" b="1" dirty="0">
                <a:solidFill>
                  <a:srgbClr val="0A468C"/>
                </a:solidFill>
                <a:latin typeface="Noto Sans SC Bold" pitchFamily="34" charset="0"/>
                <a:ea typeface="Noto Sans SC Bold" pitchFamily="34" charset="-122"/>
                <a:cs typeface="Noto Sans SC Bold" pitchFamily="34" charset="-120"/>
              </a:rPr>
              <a:t>MPG-NSGA-II 算法架构</a:t>
            </a:r>
            <a:endParaRPr lang="en-US" sz="2900" dirty="0"/>
          </a:p>
        </p:txBody>
      </p:sp>
      <p:pic>
        <p:nvPicPr>
          <p:cNvPr id="3" name="Image 0" descr="preencoded.png">    </p:cNvPr>
          <p:cNvPicPr>
            <a:picLocks noChangeAspect="1"/>
          </p:cNvPicPr>
          <p:nvPr/>
        </p:nvPicPr>
        <p:blipFill>
          <a:blip r:embed="rId1"/>
          <a:stretch>
            <a:fillRect/>
          </a:stretch>
        </p:blipFill>
        <p:spPr>
          <a:xfrm>
            <a:off x="3100745" y="1508879"/>
            <a:ext cx="8428911" cy="4186952"/>
          </a:xfrm>
          <a:prstGeom prst="rect">
            <a:avLst/>
          </a:prstGeom>
        </p:spPr>
      </p:pic>
      <p:sp>
        <p:nvSpPr>
          <p:cNvPr id="4" name="Text 1"/>
          <p:cNvSpPr/>
          <p:nvPr/>
        </p:nvSpPr>
        <p:spPr>
          <a:xfrm>
            <a:off x="9320119" y="2689204"/>
            <a:ext cx="1907451" cy="238431"/>
          </a:xfrm>
          <a:prstGeom prst="rect">
            <a:avLst/>
          </a:prstGeom>
          <a:noFill/>
          <a:ln/>
        </p:spPr>
        <p:txBody>
          <a:bodyPr wrap="none" lIns="0" tIns="0" rIns="0" bIns="0" rtlCol="0" anchor="t"/>
          <a:lstStyle/>
          <a:p>
            <a:pPr algn="l" indent="0" marL="0">
              <a:lnSpc>
                <a:spcPts val="1850"/>
              </a:lnSpc>
              <a:buNone/>
            </a:pPr>
            <a:r>
              <a:rPr lang="en-US" sz="1500" b="1" dirty="0">
                <a:solidFill>
                  <a:srgbClr val="000000"/>
                </a:solidFill>
                <a:latin typeface="Noto Sans SC Bold" pitchFamily="34" charset="0"/>
                <a:ea typeface="Noto Sans SC Bold" pitchFamily="34" charset="-122"/>
                <a:cs typeface="Noto Sans SC Bold" pitchFamily="34" charset="-120"/>
              </a:rPr>
              <a:t>P3 DCGO 连通引导</a:t>
            </a:r>
            <a:endParaRPr lang="en-US" sz="15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56009" y="2583765"/>
            <a:ext cx="423878" cy="423878"/>
          </a:xfrm>
          <a:prstGeom prst="rect">
            <a:avLst/>
          </a:prstGeom>
        </p:spPr>
      </p:pic>
      <p:sp>
        <p:nvSpPr>
          <p:cNvPr id="6" name="Text 2"/>
          <p:cNvSpPr/>
          <p:nvPr/>
        </p:nvSpPr>
        <p:spPr>
          <a:xfrm>
            <a:off x="9320119" y="4266163"/>
            <a:ext cx="1907451" cy="238431"/>
          </a:xfrm>
          <a:prstGeom prst="rect">
            <a:avLst/>
          </a:prstGeom>
          <a:noFill/>
          <a:ln/>
        </p:spPr>
        <p:txBody>
          <a:bodyPr wrap="none" lIns="0" tIns="0" rIns="0" bIns="0" rtlCol="0" anchor="t"/>
          <a:lstStyle/>
          <a:p>
            <a:pPr algn="l" indent="0" marL="0">
              <a:lnSpc>
                <a:spcPts val="1850"/>
              </a:lnSpc>
              <a:buNone/>
            </a:pPr>
            <a:r>
              <a:rPr lang="en-US" sz="1500" b="1" dirty="0">
                <a:solidFill>
                  <a:srgbClr val="000000"/>
                </a:solidFill>
                <a:latin typeface="Noto Sans SC Bold" pitchFamily="34" charset="0"/>
                <a:ea typeface="Noto Sans SC Bold" pitchFamily="34" charset="-122"/>
                <a:cs typeface="Noto Sans SC Bold" pitchFamily="34" charset="-120"/>
              </a:rPr>
              <a:t>P2 VCGO 覆盖引导</a:t>
            </a:r>
            <a:endParaRPr lang="en-US" sz="15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6009" y="4160723"/>
            <a:ext cx="423878" cy="423878"/>
          </a:xfrm>
          <a:prstGeom prst="rect">
            <a:avLst/>
          </a:prstGeom>
        </p:spPr>
      </p:pic>
      <p:sp>
        <p:nvSpPr>
          <p:cNvPr id="8" name="Text 3"/>
          <p:cNvSpPr/>
          <p:nvPr/>
        </p:nvSpPr>
        <p:spPr>
          <a:xfrm>
            <a:off x="3402782" y="4266163"/>
            <a:ext cx="1907451" cy="238431"/>
          </a:xfrm>
          <a:prstGeom prst="rect">
            <a:avLst/>
          </a:prstGeom>
          <a:noFill/>
          <a:ln/>
        </p:spPr>
        <p:txBody>
          <a:bodyPr wrap="none" lIns="0" tIns="0" rIns="0" bIns="0" rtlCol="0" anchor="t"/>
          <a:lstStyle/>
          <a:p>
            <a:pPr algn="r" indent="0" marL="0">
              <a:lnSpc>
                <a:spcPts val="1850"/>
              </a:lnSpc>
              <a:buNone/>
            </a:pPr>
            <a:r>
              <a:rPr lang="en-US" sz="1500" b="1" dirty="0">
                <a:solidFill>
                  <a:srgbClr val="000000"/>
                </a:solidFill>
                <a:latin typeface="Noto Sans SC Bold" pitchFamily="34" charset="0"/>
                <a:ea typeface="Noto Sans SC Bold" pitchFamily="34" charset="-122"/>
                <a:cs typeface="Noto Sans SC Bold" pitchFamily="34" charset="-120"/>
              </a:rPr>
              <a:t>P1 多项式变异</a:t>
            </a:r>
            <a:endParaRPr lang="en-US" sz="150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62228" y="4262454"/>
            <a:ext cx="423878" cy="423878"/>
          </a:xfrm>
          <a:prstGeom prst="rect">
            <a:avLst/>
          </a:prstGeom>
        </p:spPr>
      </p:pic>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63023" y="2685628"/>
            <a:ext cx="423877" cy="423878"/>
          </a:xfrm>
          <a:prstGeom prst="rect">
            <a:avLst/>
          </a:prstGeom>
        </p:spPr>
      </p:pic>
      <p:sp>
        <p:nvSpPr>
          <p:cNvPr id="11" name="Text 4"/>
          <p:cNvSpPr/>
          <p:nvPr/>
        </p:nvSpPr>
        <p:spPr>
          <a:xfrm>
            <a:off x="3403577" y="2685098"/>
            <a:ext cx="1907451" cy="238431"/>
          </a:xfrm>
          <a:prstGeom prst="rect">
            <a:avLst/>
          </a:prstGeom>
          <a:noFill/>
          <a:ln/>
        </p:spPr>
        <p:txBody>
          <a:bodyPr wrap="none" lIns="0" tIns="0" rIns="0" bIns="0" rtlCol="0" anchor="t"/>
          <a:lstStyle/>
          <a:p>
            <a:pPr algn="r" indent="0" marL="0">
              <a:lnSpc>
                <a:spcPts val="1850"/>
              </a:lnSpc>
              <a:buNone/>
            </a:pPr>
            <a:r>
              <a:rPr lang="en-US" sz="1500" b="1" dirty="0">
                <a:solidFill>
                  <a:srgbClr val="000000"/>
                </a:solidFill>
                <a:latin typeface="Noto Sans SC Bold" pitchFamily="34" charset="0"/>
                <a:ea typeface="Noto Sans SC Bold" pitchFamily="34" charset="-122"/>
                <a:cs typeface="Noto Sans SC Bold" pitchFamily="34" charset="-120"/>
              </a:rPr>
              <a:t>CGCI 混合初始化</a:t>
            </a:r>
            <a:endParaRPr lang="en-US" sz="1500" dirty="0"/>
          </a:p>
        </p:txBody>
      </p:sp>
      <p:sp>
        <p:nvSpPr>
          <p:cNvPr id="12" name="Shape 5"/>
          <p:cNvSpPr/>
          <p:nvPr/>
        </p:nvSpPr>
        <p:spPr>
          <a:xfrm>
            <a:off x="793790" y="5803583"/>
            <a:ext cx="13042821" cy="1569482"/>
          </a:xfrm>
          <a:prstGeom prst="roundRect">
            <a:avLst>
              <a:gd name="adj" fmla="val 3946"/>
            </a:avLst>
          </a:prstGeom>
          <a:solidFill>
            <a:srgbClr val="CDEFFE"/>
          </a:solidFill>
          <a:ln w="7620">
            <a:solidFill>
              <a:srgbClr val="B3D5E4"/>
            </a:solidFill>
            <a:prstDash val="solid"/>
          </a:ln>
        </p:spPr>
      </p:sp>
      <p:sp>
        <p:nvSpPr>
          <p:cNvPr id="13" name="Shape 6"/>
          <p:cNvSpPr/>
          <p:nvPr/>
        </p:nvSpPr>
        <p:spPr>
          <a:xfrm>
            <a:off x="801410" y="5811203"/>
            <a:ext cx="6513790" cy="777121"/>
          </a:xfrm>
          <a:prstGeom prst="roundRect">
            <a:avLst>
              <a:gd name="adj" fmla="val 7968"/>
            </a:avLst>
          </a:prstGeom>
          <a:solidFill>
            <a:srgbClr val="CDEFFE"/>
          </a:solidFill>
          <a:ln/>
        </p:spPr>
      </p:sp>
      <p:sp>
        <p:nvSpPr>
          <p:cNvPr id="14" name="Text 7"/>
          <p:cNvSpPr/>
          <p:nvPr/>
        </p:nvSpPr>
        <p:spPr>
          <a:xfrm>
            <a:off x="948809" y="5958602"/>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Noto Sans SC Bold" pitchFamily="34" charset="0"/>
                <a:ea typeface="Noto Sans SC Bold" pitchFamily="34" charset="-122"/>
                <a:cs typeface="Noto Sans SC Bold" pitchFamily="34" charset="-120"/>
              </a:rPr>
              <a:t>CGCI 混合初始化</a:t>
            </a:r>
            <a:endParaRPr lang="en-US" sz="1450" dirty="0"/>
          </a:p>
        </p:txBody>
      </p:sp>
      <p:sp>
        <p:nvSpPr>
          <p:cNvPr id="15" name="Text 8"/>
          <p:cNvSpPr/>
          <p:nvPr/>
        </p:nvSpPr>
        <p:spPr>
          <a:xfrm>
            <a:off x="948809" y="6246376"/>
            <a:ext cx="6218992" cy="194548"/>
          </a:xfrm>
          <a:prstGeom prst="rect">
            <a:avLst/>
          </a:prstGeom>
          <a:noFill/>
          <a:ln/>
        </p:spPr>
        <p:txBody>
          <a:bodyPr wrap="none" lIns="0" tIns="0" rIns="0" bIns="0" rtlCol="0" anchor="t"/>
          <a:lstStyle/>
          <a:p>
            <a:pPr algn="l" indent="0" marL="0">
              <a:lnSpc>
                <a:spcPts val="1500"/>
              </a:lnSpc>
              <a:buNone/>
            </a:pPr>
            <a:r>
              <a:rPr lang="en-US" sz="1150" dirty="0">
                <a:solidFill>
                  <a:srgbClr val="000000"/>
                </a:solidFill>
                <a:latin typeface="Noto Sans SC" pitchFamily="34" charset="0"/>
                <a:ea typeface="Noto Sans SC" pitchFamily="34" charset="-122"/>
                <a:cs typeface="Noto Sans SC" pitchFamily="34" charset="-120"/>
              </a:rPr>
              <a:t>按权重向量动态切换贪心覆盖与聚集连通初始化策略，提升初始种群质量</a:t>
            </a:r>
            <a:endParaRPr lang="en-US" sz="1150" dirty="0"/>
          </a:p>
        </p:txBody>
      </p:sp>
      <p:sp>
        <p:nvSpPr>
          <p:cNvPr id="16" name="Shape 9"/>
          <p:cNvSpPr/>
          <p:nvPr/>
        </p:nvSpPr>
        <p:spPr>
          <a:xfrm>
            <a:off x="7315200" y="5811203"/>
            <a:ext cx="6513790" cy="777121"/>
          </a:xfrm>
          <a:prstGeom prst="rect">
            <a:avLst/>
          </a:prstGeom>
          <a:solidFill>
            <a:srgbClr val="CDEFFE"/>
          </a:solidFill>
          <a:ln/>
        </p:spPr>
      </p:sp>
      <p:sp>
        <p:nvSpPr>
          <p:cNvPr id="17" name="Shape 10"/>
          <p:cNvSpPr/>
          <p:nvPr/>
        </p:nvSpPr>
        <p:spPr>
          <a:xfrm>
            <a:off x="7315200" y="5811203"/>
            <a:ext cx="15240" cy="777121"/>
          </a:xfrm>
          <a:prstGeom prst="roundRect">
            <a:avLst>
              <a:gd name="adj" fmla="val 406325"/>
            </a:avLst>
          </a:prstGeom>
          <a:solidFill>
            <a:srgbClr val="B3D5E4"/>
          </a:solidFill>
          <a:ln/>
        </p:spPr>
      </p:sp>
      <p:sp>
        <p:nvSpPr>
          <p:cNvPr id="18" name="Text 11"/>
          <p:cNvSpPr/>
          <p:nvPr/>
        </p:nvSpPr>
        <p:spPr>
          <a:xfrm>
            <a:off x="7462599" y="5958602"/>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Noto Sans SC Bold" pitchFamily="34" charset="0"/>
                <a:ea typeface="Noto Sans SC Bold" pitchFamily="34" charset="-122"/>
                <a:cs typeface="Noto Sans SC Bold" pitchFamily="34" charset="-120"/>
              </a:rPr>
              <a:t>VCGO 覆盖引导算子</a:t>
            </a:r>
            <a:endParaRPr lang="en-US" sz="1450" dirty="0"/>
          </a:p>
        </p:txBody>
      </p:sp>
      <p:sp>
        <p:nvSpPr>
          <p:cNvPr id="19" name="Text 12"/>
          <p:cNvSpPr/>
          <p:nvPr/>
        </p:nvSpPr>
        <p:spPr>
          <a:xfrm>
            <a:off x="7462599" y="6246376"/>
            <a:ext cx="6218992" cy="194548"/>
          </a:xfrm>
          <a:prstGeom prst="rect">
            <a:avLst/>
          </a:prstGeom>
          <a:noFill/>
          <a:ln/>
        </p:spPr>
        <p:txBody>
          <a:bodyPr wrap="none" lIns="0" tIns="0" rIns="0" bIns="0" rtlCol="0" anchor="t"/>
          <a:lstStyle/>
          <a:p>
            <a:pPr algn="l" indent="0" marL="0">
              <a:lnSpc>
                <a:spcPts val="1500"/>
              </a:lnSpc>
              <a:buNone/>
            </a:pPr>
            <a:r>
              <a:rPr lang="en-US" sz="1150" dirty="0">
                <a:solidFill>
                  <a:srgbClr val="000000"/>
                </a:solidFill>
                <a:latin typeface="Noto Sans SC" pitchFamily="34" charset="0"/>
                <a:ea typeface="Noto Sans SC" pitchFamily="34" charset="-122"/>
                <a:cs typeface="Noto Sans SC" pitchFamily="34" charset="-120"/>
              </a:rPr>
              <a:t>计算视距 Voronoi 责任区域质心，引导无人机填补覆盖盲区</a:t>
            </a:r>
            <a:endParaRPr lang="en-US" sz="1150" dirty="0"/>
          </a:p>
        </p:txBody>
      </p:sp>
      <p:sp>
        <p:nvSpPr>
          <p:cNvPr id="20" name="Shape 13"/>
          <p:cNvSpPr/>
          <p:nvPr/>
        </p:nvSpPr>
        <p:spPr>
          <a:xfrm>
            <a:off x="801410" y="6588323"/>
            <a:ext cx="6513790" cy="777121"/>
          </a:xfrm>
          <a:prstGeom prst="rect">
            <a:avLst/>
          </a:prstGeom>
          <a:solidFill>
            <a:srgbClr val="CDEFFE"/>
          </a:solidFill>
          <a:ln/>
        </p:spPr>
      </p:sp>
      <p:sp>
        <p:nvSpPr>
          <p:cNvPr id="21" name="Shape 14"/>
          <p:cNvSpPr/>
          <p:nvPr/>
        </p:nvSpPr>
        <p:spPr>
          <a:xfrm>
            <a:off x="801410" y="6588323"/>
            <a:ext cx="6513790" cy="15240"/>
          </a:xfrm>
          <a:prstGeom prst="roundRect">
            <a:avLst>
              <a:gd name="adj" fmla="val 406325"/>
            </a:avLst>
          </a:prstGeom>
          <a:solidFill>
            <a:srgbClr val="B3D5E4"/>
          </a:solidFill>
          <a:ln/>
        </p:spPr>
      </p:sp>
      <p:sp>
        <p:nvSpPr>
          <p:cNvPr id="22" name="Text 15"/>
          <p:cNvSpPr/>
          <p:nvPr/>
        </p:nvSpPr>
        <p:spPr>
          <a:xfrm>
            <a:off x="948809" y="6735723"/>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Noto Sans SC Bold" pitchFamily="34" charset="0"/>
                <a:ea typeface="Noto Sans SC Bold" pitchFamily="34" charset="-122"/>
                <a:cs typeface="Noto Sans SC Bold" pitchFamily="34" charset="-120"/>
              </a:rPr>
              <a:t>DCGO 连通引导算子</a:t>
            </a:r>
            <a:endParaRPr lang="en-US" sz="1450" dirty="0"/>
          </a:p>
        </p:txBody>
      </p:sp>
      <p:sp>
        <p:nvSpPr>
          <p:cNvPr id="23" name="Text 16"/>
          <p:cNvSpPr/>
          <p:nvPr/>
        </p:nvSpPr>
        <p:spPr>
          <a:xfrm>
            <a:off x="948809" y="7023497"/>
            <a:ext cx="6218992" cy="194548"/>
          </a:xfrm>
          <a:prstGeom prst="rect">
            <a:avLst/>
          </a:prstGeom>
          <a:noFill/>
          <a:ln/>
        </p:spPr>
        <p:txBody>
          <a:bodyPr wrap="none" lIns="0" tIns="0" rIns="0" bIns="0" rtlCol="0" anchor="t"/>
          <a:lstStyle/>
          <a:p>
            <a:pPr algn="l" indent="0" marL="0">
              <a:lnSpc>
                <a:spcPts val="1500"/>
              </a:lnSpc>
              <a:buNone/>
            </a:pPr>
            <a:r>
              <a:rPr lang="en-US" sz="1150" dirty="0">
                <a:solidFill>
                  <a:srgbClr val="000000"/>
                </a:solidFill>
                <a:latin typeface="Noto Sans SC" pitchFamily="34" charset="0"/>
                <a:ea typeface="Noto Sans SC" pitchFamily="34" charset="-122"/>
                <a:cs typeface="Noto Sans SC" pitchFamily="34" charset="-120"/>
              </a:rPr>
              <a:t>识别低度数节点，引导其向 SINR 接近阈值的非邻接节点定向变异</a:t>
            </a:r>
            <a:endParaRPr lang="en-US" sz="1150" dirty="0"/>
          </a:p>
        </p:txBody>
      </p:sp>
      <p:sp>
        <p:nvSpPr>
          <p:cNvPr id="24" name="Shape 17"/>
          <p:cNvSpPr/>
          <p:nvPr/>
        </p:nvSpPr>
        <p:spPr>
          <a:xfrm>
            <a:off x="7315200" y="6588323"/>
            <a:ext cx="6513790" cy="777121"/>
          </a:xfrm>
          <a:prstGeom prst="rect">
            <a:avLst/>
          </a:prstGeom>
          <a:solidFill>
            <a:srgbClr val="CDEFFE"/>
          </a:solidFill>
          <a:ln/>
        </p:spPr>
      </p:sp>
      <p:sp>
        <p:nvSpPr>
          <p:cNvPr id="25" name="Shape 18"/>
          <p:cNvSpPr/>
          <p:nvPr/>
        </p:nvSpPr>
        <p:spPr>
          <a:xfrm>
            <a:off x="7315200" y="6588323"/>
            <a:ext cx="15240" cy="777121"/>
          </a:xfrm>
          <a:prstGeom prst="roundRect">
            <a:avLst>
              <a:gd name="adj" fmla="val 406325"/>
            </a:avLst>
          </a:prstGeom>
          <a:solidFill>
            <a:srgbClr val="B3D5E4"/>
          </a:solidFill>
          <a:ln/>
        </p:spPr>
      </p:sp>
      <p:sp>
        <p:nvSpPr>
          <p:cNvPr id="26" name="Shape 19"/>
          <p:cNvSpPr/>
          <p:nvPr/>
        </p:nvSpPr>
        <p:spPr>
          <a:xfrm>
            <a:off x="7315200" y="6588323"/>
            <a:ext cx="6513790" cy="15240"/>
          </a:xfrm>
          <a:prstGeom prst="roundRect">
            <a:avLst>
              <a:gd name="adj" fmla="val 406325"/>
            </a:avLst>
          </a:prstGeom>
          <a:solidFill>
            <a:srgbClr val="B3D5E4"/>
          </a:solidFill>
          <a:ln/>
        </p:spPr>
      </p:sp>
      <p:sp>
        <p:nvSpPr>
          <p:cNvPr id="27" name="Text 20"/>
          <p:cNvSpPr/>
          <p:nvPr/>
        </p:nvSpPr>
        <p:spPr>
          <a:xfrm>
            <a:off x="7462599" y="6735723"/>
            <a:ext cx="1842968" cy="230386"/>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Noto Sans SC Bold" pitchFamily="34" charset="0"/>
                <a:ea typeface="Noto Sans SC Bold" pitchFamily="34" charset="-122"/>
                <a:cs typeface="Noto Sans SC Bold" pitchFamily="34" charset="-120"/>
              </a:rPr>
              <a:t>精英迁移机制</a:t>
            </a:r>
            <a:endParaRPr lang="en-US" sz="1450" dirty="0"/>
          </a:p>
        </p:txBody>
      </p:sp>
      <p:sp>
        <p:nvSpPr>
          <p:cNvPr id="28" name="Text 21"/>
          <p:cNvSpPr/>
          <p:nvPr/>
        </p:nvSpPr>
        <p:spPr>
          <a:xfrm>
            <a:off x="7462599" y="7023497"/>
            <a:ext cx="6218992" cy="194548"/>
          </a:xfrm>
          <a:prstGeom prst="rect">
            <a:avLst/>
          </a:prstGeom>
          <a:noFill/>
          <a:ln/>
        </p:spPr>
        <p:txBody>
          <a:bodyPr wrap="none" lIns="0" tIns="0" rIns="0" bIns="0" rtlCol="0" anchor="t"/>
          <a:lstStyle/>
          <a:p>
            <a:pPr algn="l" indent="0" marL="0">
              <a:lnSpc>
                <a:spcPts val="1500"/>
              </a:lnSpc>
              <a:buNone/>
            </a:pPr>
            <a:r>
              <a:rPr lang="en-US" sz="1150" dirty="0">
                <a:solidFill>
                  <a:srgbClr val="000000"/>
                </a:solidFill>
                <a:latin typeface="Noto Sans SC" pitchFamily="34" charset="0"/>
                <a:ea typeface="Noto Sans SC" pitchFamily="34" charset="-122"/>
                <a:cs typeface="Noto Sans SC" pitchFamily="34" charset="-120"/>
              </a:rPr>
              <a:t>岛模型三向迁移，平衡全局探索与局部开发，防止早熟收敛</a:t>
            </a:r>
            <a:endParaRPr lang="en-US" sz="1150" dirty="0"/>
          </a:p>
        </p:txBody>
      </p:sp>
      <p:sp>
        <p:nvSpPr>
          <p:cNvPr id="29" name="Text 22"/>
          <p:cNvSpPr/>
          <p:nvPr/>
        </p:nvSpPr>
        <p:spPr>
          <a:xfrm>
            <a:off x="7117199" y="7739182"/>
            <a:ext cx="396002" cy="209550"/>
          </a:xfrm>
          <a:prstGeom prst="rect">
            <a:avLst/>
          </a:prstGeom>
          <a:noFill/>
          <a:ln/>
        </p:spPr>
        <p:txBody>
          <a:bodyPr wrap="none" lIns="0" tIns="0" rIns="0" bIns="0" rtlCol="0" anchor="t"/>
          <a:lstStyle/>
          <a:p>
            <a:pPr algn="ctr" indent="0" marL="0">
              <a:lnSpc>
                <a:spcPts val="1650"/>
              </a:lnSpc>
              <a:buNone/>
            </a:pPr>
            <a:r>
              <a:rPr lang="en-US" sz="1250" dirty="0">
                <a:solidFill>
                  <a:srgbClr val="000000"/>
                </a:solidFill>
                <a:latin typeface="Noto Sans SC" pitchFamily="34" charset="0"/>
                <a:ea typeface="Noto Sans SC" pitchFamily="34" charset="-122"/>
                <a:cs typeface="Noto Sans SC" pitchFamily="34" charset="-120"/>
              </a:rPr>
              <a:t>15</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182886"/>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引导变异算子原理</a:t>
            </a:r>
            <a:endParaRPr lang="en-US" sz="4450" dirty="0"/>
          </a:p>
        </p:txBody>
      </p:sp>
      <p:sp>
        <p:nvSpPr>
          <p:cNvPr id="3" name="Text 1"/>
          <p:cNvSpPr/>
          <p:nvPr/>
        </p:nvSpPr>
        <p:spPr>
          <a:xfrm>
            <a:off x="793790" y="2458641"/>
            <a:ext cx="3900607"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VCGO：Voronoi 覆盖引导算子</a:t>
            </a:r>
            <a:endParaRPr lang="en-US" sz="2200" dirty="0"/>
          </a:p>
        </p:txBody>
      </p:sp>
      <p:sp>
        <p:nvSpPr>
          <p:cNvPr id="4" name="Text 2"/>
          <p:cNvSpPr/>
          <p:nvPr/>
        </p:nvSpPr>
        <p:spPr>
          <a:xfrm>
            <a:off x="793790" y="3039785"/>
            <a:ext cx="6244709" cy="367665"/>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为每个无人机 </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u_i</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 构建视距修正 Voronoi 责任区域：</a:t>
            </a:r>
            <a:endParaRPr lang="en-US" sz="1750" dirty="0"/>
          </a:p>
        </p:txBody>
      </p:sp>
      <p:sp>
        <p:nvSpPr>
          <p:cNvPr id="5" name="Text 3"/>
          <p:cNvSpPr/>
          <p:nvPr/>
        </p:nvSpPr>
        <p:spPr>
          <a:xfrm>
            <a:off x="793790" y="3694509"/>
            <a:ext cx="6244709" cy="395407"/>
          </a:xfrm>
          <a:prstGeom prst="rect">
            <a:avLst/>
          </a:prstGeom>
          <a:noFill/>
          <a:ln/>
        </p:spPr>
        <p:txBody>
          <a:bodyPr wrap="none" lIns="0" tIns="0" rIns="0" bIns="0" rtlCol="0" anchor="t"/>
          <a:lstStyle/>
          <a:p>
            <a:pPr algn="l" indent="0" marL="0">
              <a:lnSpc>
                <a:spcPts val="3200"/>
              </a:lnSpc>
              <a:buNone/>
            </a:pPr>
            <a:endParaRPr lang="en-US" sz="2000" dirty="0"/>
          </a:p>
        </p:txBody>
      </p:sp>
      <p:pic>
        <p:nvPicPr>
          <p:cNvPr id="6" name="Image 0" descr="preencoded.png">    </p:cNvPr>
          <p:cNvPicPr>
            <a:picLocks noChangeAspect="1"/>
          </p:cNvPicPr>
          <p:nvPr/>
        </p:nvPicPr>
        <p:blipFill>
          <a:blip r:embed="rId1"/>
          <a:stretch>
            <a:fillRect/>
          </a:stretch>
        </p:blipFill>
        <p:spPr>
          <a:xfrm>
            <a:off x="793790" y="3694509"/>
            <a:ext cx="6244709" cy="395407"/>
          </a:xfrm>
          <a:prstGeom prst="rect">
            <a:avLst/>
          </a:prstGeom>
        </p:spPr>
      </p:pic>
      <p:sp>
        <p:nvSpPr>
          <p:cNvPr id="7" name="Text 4"/>
          <p:cNvSpPr/>
          <p:nvPr/>
        </p:nvSpPr>
        <p:spPr>
          <a:xfrm>
            <a:off x="793790" y="4376976"/>
            <a:ext cx="6244709" cy="73056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计算有效责任区域质心 </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c_i</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 作为变异方向，驱使无人机主动向未覆盖区域移动，高效消除覆盖盲区。</a:t>
            </a:r>
            <a:endParaRPr lang="en-US" sz="1750" dirty="0"/>
          </a:p>
        </p:txBody>
      </p:sp>
      <p:sp>
        <p:nvSpPr>
          <p:cNvPr id="8" name="Text 5"/>
          <p:cNvSpPr/>
          <p:nvPr/>
        </p:nvSpPr>
        <p:spPr>
          <a:xfrm>
            <a:off x="7599521" y="2458641"/>
            <a:ext cx="3630811"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DCGO：节点度连通引导算子</a:t>
            </a:r>
            <a:endParaRPr lang="en-US" sz="2200" dirty="0"/>
          </a:p>
        </p:txBody>
      </p:sp>
      <p:sp>
        <p:nvSpPr>
          <p:cNvPr id="9" name="Text 6"/>
          <p:cNvSpPr/>
          <p:nvPr/>
        </p:nvSpPr>
        <p:spPr>
          <a:xfrm>
            <a:off x="7599521" y="3039785"/>
            <a:ext cx="6244709" cy="367665"/>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搜索 SINR 接近阈值的非邻接节点 </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u_j</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 作为修复目标：</a:t>
            </a:r>
            <a:endParaRPr lang="en-US" sz="1750" dirty="0"/>
          </a:p>
        </p:txBody>
      </p:sp>
      <p:sp>
        <p:nvSpPr>
          <p:cNvPr id="10" name="Text 7"/>
          <p:cNvSpPr/>
          <p:nvPr/>
        </p:nvSpPr>
        <p:spPr>
          <a:xfrm>
            <a:off x="7599521" y="3694509"/>
            <a:ext cx="6244709" cy="548640"/>
          </a:xfrm>
          <a:prstGeom prst="rect">
            <a:avLst/>
          </a:prstGeom>
          <a:noFill/>
          <a:ln/>
        </p:spPr>
        <p:txBody>
          <a:bodyPr wrap="none" lIns="0" tIns="0" rIns="0" bIns="0" rtlCol="0" anchor="t"/>
          <a:lstStyle/>
          <a:p>
            <a:pPr algn="l" indent="0" marL="0">
              <a:lnSpc>
                <a:spcPts val="3200"/>
              </a:lnSpc>
              <a:buNone/>
            </a:pPr>
            <a:endParaRPr lang="en-US" sz="2000" dirty="0"/>
          </a:p>
        </p:txBody>
      </p:sp>
      <p:pic>
        <p:nvPicPr>
          <p:cNvPr id="11" name="Image 1" descr="preencoded.png">    </p:cNvPr>
          <p:cNvPicPr>
            <a:picLocks noChangeAspect="1"/>
          </p:cNvPicPr>
          <p:nvPr/>
        </p:nvPicPr>
        <p:blipFill>
          <a:blip r:embed="rId2"/>
          <a:stretch>
            <a:fillRect/>
          </a:stretch>
        </p:blipFill>
        <p:spPr>
          <a:xfrm>
            <a:off x="7599521" y="3694509"/>
            <a:ext cx="6244709" cy="548640"/>
          </a:xfrm>
          <a:prstGeom prst="rect">
            <a:avLst/>
          </a:prstGeom>
        </p:spPr>
      </p:pic>
      <p:sp>
        <p:nvSpPr>
          <p:cNvPr id="12" name="Text 8"/>
          <p:cNvSpPr/>
          <p:nvPr/>
        </p:nvSpPr>
        <p:spPr>
          <a:xfrm>
            <a:off x="7599521" y="4530209"/>
            <a:ext cx="6244709" cy="73056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连通梯度指向修复目标，若无修复目标则指向集群虚拟中心 </a:t>
            </a:r>
            <a:pPr algn="l" indent="0" marL="0">
              <a:lnSpc>
                <a:spcPts val="2850"/>
              </a:lnSpc>
              <a:buNone/>
            </a:pPr>
            <a:r>
              <a:rPr lang="en-US" sz="1750" i="1" dirty="0">
                <a:solidFill>
                  <a:srgbClr val="000000"/>
                </a:solidFill>
                <a:latin typeface="Noto Sans SC" pitchFamily="34" charset="0"/>
                <a:ea typeface="Noto Sans SC" pitchFamily="34" charset="-122"/>
                <a:cs typeface="Noto Sans SC" pitchFamily="34" charset="-120"/>
              </a:rPr>
              <a:t>\bar{p}</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，定向修复断裂链路。</a:t>
            </a:r>
            <a:endParaRPr lang="en-US" sz="1750" dirty="0"/>
          </a:p>
        </p:txBody>
      </p:sp>
      <p:sp>
        <p:nvSpPr>
          <p:cNvPr id="13" name="Shape 9"/>
          <p:cNvSpPr/>
          <p:nvPr/>
        </p:nvSpPr>
        <p:spPr>
          <a:xfrm>
            <a:off x="793790" y="5720001"/>
            <a:ext cx="13042821" cy="1326713"/>
          </a:xfrm>
          <a:prstGeom prst="roundRect">
            <a:avLst>
              <a:gd name="adj" fmla="val 7181"/>
            </a:avLst>
          </a:prstGeom>
          <a:solidFill>
            <a:srgbClr val="B6D6FC"/>
          </a:solidFill>
          <a:ln/>
        </p:spPr>
      </p:sp>
      <p:pic>
        <p:nvPicPr>
          <p:cNvPr id="14" name="Image 2" descr="preencoded.png">    </p:cNvPr>
          <p:cNvPicPr>
            <a:picLocks noChangeAspect="1"/>
          </p:cNvPicPr>
          <p:nvPr/>
        </p:nvPicPr>
        <p:blipFill>
          <a:blip r:embed="rId3"/>
          <a:stretch>
            <a:fillRect/>
          </a:stretch>
        </p:blipFill>
        <p:spPr>
          <a:xfrm>
            <a:off x="1020604" y="6079331"/>
            <a:ext cx="283488" cy="226814"/>
          </a:xfrm>
          <a:prstGeom prst="rect">
            <a:avLst/>
          </a:prstGeom>
        </p:spPr>
      </p:pic>
      <p:sp>
        <p:nvSpPr>
          <p:cNvPr id="15" name="Text 10"/>
          <p:cNvSpPr/>
          <p:nvPr/>
        </p:nvSpPr>
        <p:spPr>
          <a:xfrm>
            <a:off x="1530906" y="6003488"/>
            <a:ext cx="1207889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两种引导算子结合领域先验知识，相较于随机多项式变异，显著加快了种群向真实帕累托前沿逼近的速度，避免高维空间中的无效随机试探。</a:t>
            </a:r>
            <a:endParaRPr lang="en-US" sz="1750" dirty="0"/>
          </a:p>
        </p:txBody>
      </p:sp>
      <p:sp>
        <p:nvSpPr>
          <p:cNvPr id="16" name="Text 11"/>
          <p:cNvSpPr/>
          <p:nvPr/>
        </p:nvSpPr>
        <p:spPr>
          <a:xfrm>
            <a:off x="7155656" y="7716917"/>
            <a:ext cx="319088" cy="254079"/>
          </a:xfrm>
          <a:prstGeom prst="rect">
            <a:avLst/>
          </a:prstGeom>
          <a:noFill/>
          <a:ln/>
        </p:spPr>
        <p:txBody>
          <a:bodyPr wrap="none" lIns="0" tIns="0" rIns="0" bIns="0" rtlCol="0" anchor="t"/>
          <a:lstStyle/>
          <a:p>
            <a:pPr algn="ct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16</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816769"/>
            <a:ext cx="6420207" cy="637937"/>
          </a:xfrm>
          <a:prstGeom prst="rect">
            <a:avLst/>
          </a:prstGeom>
          <a:noFill/>
          <a:ln/>
        </p:spPr>
        <p:txBody>
          <a:bodyPr wrap="none" lIns="0" tIns="0" rIns="0" bIns="0" rtlCol="0" anchor="t"/>
          <a:lstStyle/>
          <a:p>
            <a:pPr algn="l" indent="0" marL="0">
              <a:lnSpc>
                <a:spcPts val="5000"/>
              </a:lnSpc>
              <a:buNone/>
            </a:pPr>
            <a:r>
              <a:rPr lang="en-US" sz="4000" b="1" dirty="0">
                <a:solidFill>
                  <a:srgbClr val="0A468C"/>
                </a:solidFill>
                <a:latin typeface="Noto Sans SC Bold" pitchFamily="34" charset="0"/>
                <a:ea typeface="Noto Sans SC Bold" pitchFamily="34" charset="-122"/>
                <a:cs typeface="Noto Sans SC Bold" pitchFamily="34" charset="-120"/>
              </a:rPr>
              <a:t>MPG-NSGA-II 仿真实验结果</a:t>
            </a:r>
            <a:endParaRPr lang="en-US" sz="4000" dirty="0"/>
          </a:p>
        </p:txBody>
      </p:sp>
      <p:sp>
        <p:nvSpPr>
          <p:cNvPr id="3" name="Text 1"/>
          <p:cNvSpPr/>
          <p:nvPr/>
        </p:nvSpPr>
        <p:spPr>
          <a:xfrm>
            <a:off x="793790" y="1913930"/>
            <a:ext cx="3315414" cy="318849"/>
          </a:xfrm>
          <a:prstGeom prst="rect">
            <a:avLst/>
          </a:prstGeom>
          <a:noFill/>
          <a:ln/>
        </p:spPr>
        <p:txBody>
          <a:bodyPr wrap="none" lIns="0" tIns="0" rIns="0" bIns="0" rtlCol="0" anchor="t"/>
          <a:lstStyle/>
          <a:p>
            <a:pPr algn="l" indent="0" marL="0">
              <a:lnSpc>
                <a:spcPts val="2500"/>
              </a:lnSpc>
              <a:buNone/>
            </a:pPr>
            <a:r>
              <a:rPr lang="en-US" sz="2000" b="1" dirty="0">
                <a:solidFill>
                  <a:srgbClr val="0A468C"/>
                </a:solidFill>
                <a:latin typeface="Noto Sans SC Bold" pitchFamily="34" charset="0"/>
                <a:ea typeface="Noto Sans SC Bold" pitchFamily="34" charset="-122"/>
                <a:cs typeface="Noto Sans SC Bold" pitchFamily="34" charset="-120"/>
              </a:rPr>
              <a:t>不同节点规模下性能指标对比</a:t>
            </a:r>
            <a:endParaRPr lang="en-US" sz="2000" dirty="0"/>
          </a:p>
        </p:txBody>
      </p:sp>
      <p:sp>
        <p:nvSpPr>
          <p:cNvPr id="4" name="Shape 2"/>
          <p:cNvSpPr/>
          <p:nvPr/>
        </p:nvSpPr>
        <p:spPr>
          <a:xfrm>
            <a:off x="793790" y="2439472"/>
            <a:ext cx="6272451" cy="4766548"/>
          </a:xfrm>
          <a:prstGeom prst="roundRect">
            <a:avLst>
              <a:gd name="adj" fmla="val 1799"/>
            </a:avLst>
          </a:prstGeom>
          <a:noFill/>
          <a:ln w="7620">
            <a:solidFill>
              <a:srgbClr val="000000">
                <a:alpha val="8000"/>
              </a:srgbClr>
            </a:solidFill>
            <a:prstDash val="solid"/>
          </a:ln>
        </p:spPr>
      </p:sp>
      <p:sp>
        <p:nvSpPr>
          <p:cNvPr id="5" name="Shape 3"/>
          <p:cNvSpPr/>
          <p:nvPr/>
        </p:nvSpPr>
        <p:spPr>
          <a:xfrm>
            <a:off x="801410" y="2447092"/>
            <a:ext cx="6257211" cy="545783"/>
          </a:xfrm>
          <a:prstGeom prst="rect">
            <a:avLst/>
          </a:prstGeom>
          <a:solidFill>
            <a:srgbClr val="FFFFFF">
              <a:alpha val="4000"/>
            </a:srgbClr>
          </a:solidFill>
          <a:ln/>
        </p:spPr>
      </p:sp>
      <p:sp>
        <p:nvSpPr>
          <p:cNvPr id="6" name="Text 4"/>
          <p:cNvSpPr/>
          <p:nvPr/>
        </p:nvSpPr>
        <p:spPr>
          <a:xfrm>
            <a:off x="1005721" y="2564844"/>
            <a:ext cx="115228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节点数</a:t>
            </a:r>
            <a:endParaRPr lang="en-US" sz="1600" dirty="0"/>
          </a:p>
        </p:txBody>
      </p:sp>
      <p:sp>
        <p:nvSpPr>
          <p:cNvPr id="7" name="Text 5"/>
          <p:cNvSpPr/>
          <p:nvPr/>
        </p:nvSpPr>
        <p:spPr>
          <a:xfrm>
            <a:off x="2573774" y="2564844"/>
            <a:ext cx="114847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算法</a:t>
            </a:r>
            <a:endParaRPr lang="en-US" sz="1600" dirty="0"/>
          </a:p>
        </p:txBody>
      </p:sp>
      <p:sp>
        <p:nvSpPr>
          <p:cNvPr id="8" name="Text 6"/>
          <p:cNvSpPr/>
          <p:nvPr/>
        </p:nvSpPr>
        <p:spPr>
          <a:xfrm>
            <a:off x="4138017" y="2564844"/>
            <a:ext cx="114847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HV</a:t>
            </a:r>
            <a:endParaRPr lang="en-US" sz="1600" dirty="0"/>
          </a:p>
        </p:txBody>
      </p:sp>
      <p:sp>
        <p:nvSpPr>
          <p:cNvPr id="9" name="Text 7"/>
          <p:cNvSpPr/>
          <p:nvPr/>
        </p:nvSpPr>
        <p:spPr>
          <a:xfrm>
            <a:off x="5702260" y="2564844"/>
            <a:ext cx="115228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Spread(Δ)</a:t>
            </a:r>
            <a:endParaRPr lang="en-US" sz="1600" dirty="0"/>
          </a:p>
        </p:txBody>
      </p:sp>
      <p:sp>
        <p:nvSpPr>
          <p:cNvPr id="10" name="Shape 8"/>
          <p:cNvSpPr/>
          <p:nvPr/>
        </p:nvSpPr>
        <p:spPr>
          <a:xfrm>
            <a:off x="801410" y="2992874"/>
            <a:ext cx="6257211" cy="856059"/>
          </a:xfrm>
          <a:prstGeom prst="rect">
            <a:avLst/>
          </a:prstGeom>
          <a:solidFill>
            <a:srgbClr val="000000">
              <a:alpha val="4000"/>
            </a:srgbClr>
          </a:solidFill>
          <a:ln/>
        </p:spPr>
      </p:sp>
      <p:sp>
        <p:nvSpPr>
          <p:cNvPr id="11" name="Text 9"/>
          <p:cNvSpPr/>
          <p:nvPr/>
        </p:nvSpPr>
        <p:spPr>
          <a:xfrm>
            <a:off x="1005721" y="3110627"/>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15</a:t>
            </a:r>
            <a:endParaRPr lang="en-US" sz="1600" dirty="0"/>
          </a:p>
        </p:txBody>
      </p:sp>
      <p:sp>
        <p:nvSpPr>
          <p:cNvPr id="12" name="Text 10"/>
          <p:cNvSpPr/>
          <p:nvPr/>
        </p:nvSpPr>
        <p:spPr>
          <a:xfrm>
            <a:off x="2573774" y="3110627"/>
            <a:ext cx="1148477" cy="620554"/>
          </a:xfrm>
          <a:prstGeom prst="rect">
            <a:avLst/>
          </a:prstGeom>
          <a:noFill/>
          <a:ln/>
        </p:spPr>
        <p:txBody>
          <a:bodyPr wrap="squar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MPG-NSGA-II</a:t>
            </a:r>
            <a:endParaRPr lang="en-US" sz="1600" dirty="0"/>
          </a:p>
        </p:txBody>
      </p:sp>
      <p:sp>
        <p:nvSpPr>
          <p:cNvPr id="13" name="Text 11"/>
          <p:cNvSpPr/>
          <p:nvPr/>
        </p:nvSpPr>
        <p:spPr>
          <a:xfrm>
            <a:off x="4138017" y="3110627"/>
            <a:ext cx="114847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0.9309</a:t>
            </a:r>
            <a:endParaRPr lang="en-US" sz="1600" dirty="0"/>
          </a:p>
        </p:txBody>
      </p:sp>
      <p:sp>
        <p:nvSpPr>
          <p:cNvPr id="14" name="Text 12"/>
          <p:cNvSpPr/>
          <p:nvPr/>
        </p:nvSpPr>
        <p:spPr>
          <a:xfrm>
            <a:off x="5702260" y="3110627"/>
            <a:ext cx="115228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0.9672</a:t>
            </a:r>
            <a:endParaRPr lang="en-US" sz="1600" dirty="0"/>
          </a:p>
        </p:txBody>
      </p:sp>
      <p:sp>
        <p:nvSpPr>
          <p:cNvPr id="15" name="Shape 13"/>
          <p:cNvSpPr/>
          <p:nvPr/>
        </p:nvSpPr>
        <p:spPr>
          <a:xfrm>
            <a:off x="801410" y="3848933"/>
            <a:ext cx="6257211" cy="545783"/>
          </a:xfrm>
          <a:prstGeom prst="rect">
            <a:avLst/>
          </a:prstGeom>
          <a:solidFill>
            <a:srgbClr val="FFFFFF">
              <a:alpha val="4000"/>
            </a:srgbClr>
          </a:solidFill>
          <a:ln/>
        </p:spPr>
      </p:sp>
      <p:sp>
        <p:nvSpPr>
          <p:cNvPr id="16" name="Text 14"/>
          <p:cNvSpPr/>
          <p:nvPr/>
        </p:nvSpPr>
        <p:spPr>
          <a:xfrm>
            <a:off x="1005721" y="3966686"/>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15</a:t>
            </a:r>
            <a:endParaRPr lang="en-US" sz="1600" dirty="0"/>
          </a:p>
        </p:txBody>
      </p:sp>
      <p:sp>
        <p:nvSpPr>
          <p:cNvPr id="17" name="Text 15"/>
          <p:cNvSpPr/>
          <p:nvPr/>
        </p:nvSpPr>
        <p:spPr>
          <a:xfrm>
            <a:off x="2573774" y="3966686"/>
            <a:ext cx="114847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NSGA-II</a:t>
            </a:r>
            <a:endParaRPr lang="en-US" sz="1600" dirty="0"/>
          </a:p>
        </p:txBody>
      </p:sp>
      <p:sp>
        <p:nvSpPr>
          <p:cNvPr id="18" name="Text 16"/>
          <p:cNvSpPr/>
          <p:nvPr/>
        </p:nvSpPr>
        <p:spPr>
          <a:xfrm>
            <a:off x="4138017" y="3966686"/>
            <a:ext cx="114847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0.8478</a:t>
            </a:r>
            <a:endParaRPr lang="en-US" sz="1600" dirty="0"/>
          </a:p>
        </p:txBody>
      </p:sp>
      <p:sp>
        <p:nvSpPr>
          <p:cNvPr id="19" name="Text 17"/>
          <p:cNvSpPr/>
          <p:nvPr/>
        </p:nvSpPr>
        <p:spPr>
          <a:xfrm>
            <a:off x="5702260" y="3966686"/>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0.9831</a:t>
            </a:r>
            <a:endParaRPr lang="en-US" sz="1600" dirty="0"/>
          </a:p>
        </p:txBody>
      </p:sp>
      <p:sp>
        <p:nvSpPr>
          <p:cNvPr id="20" name="Shape 18"/>
          <p:cNvSpPr/>
          <p:nvPr/>
        </p:nvSpPr>
        <p:spPr>
          <a:xfrm>
            <a:off x="801410" y="4394716"/>
            <a:ext cx="6257211" cy="856059"/>
          </a:xfrm>
          <a:prstGeom prst="rect">
            <a:avLst/>
          </a:prstGeom>
          <a:solidFill>
            <a:srgbClr val="000000">
              <a:alpha val="4000"/>
            </a:srgbClr>
          </a:solidFill>
          <a:ln/>
        </p:spPr>
      </p:sp>
      <p:sp>
        <p:nvSpPr>
          <p:cNvPr id="21" name="Text 19"/>
          <p:cNvSpPr/>
          <p:nvPr/>
        </p:nvSpPr>
        <p:spPr>
          <a:xfrm>
            <a:off x="1005721" y="4512469"/>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20</a:t>
            </a:r>
            <a:endParaRPr lang="en-US" sz="1600" dirty="0"/>
          </a:p>
        </p:txBody>
      </p:sp>
      <p:sp>
        <p:nvSpPr>
          <p:cNvPr id="22" name="Text 20"/>
          <p:cNvSpPr/>
          <p:nvPr/>
        </p:nvSpPr>
        <p:spPr>
          <a:xfrm>
            <a:off x="2573774" y="4512469"/>
            <a:ext cx="1148477" cy="620554"/>
          </a:xfrm>
          <a:prstGeom prst="rect">
            <a:avLst/>
          </a:prstGeom>
          <a:noFill/>
          <a:ln/>
        </p:spPr>
        <p:txBody>
          <a:bodyPr wrap="squar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MPG-NSGA-II</a:t>
            </a:r>
            <a:endParaRPr lang="en-US" sz="1600" dirty="0"/>
          </a:p>
        </p:txBody>
      </p:sp>
      <p:sp>
        <p:nvSpPr>
          <p:cNvPr id="23" name="Text 21"/>
          <p:cNvSpPr/>
          <p:nvPr/>
        </p:nvSpPr>
        <p:spPr>
          <a:xfrm>
            <a:off x="4138017" y="4512469"/>
            <a:ext cx="114847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0.9112</a:t>
            </a:r>
            <a:endParaRPr lang="en-US" sz="1600" dirty="0"/>
          </a:p>
        </p:txBody>
      </p:sp>
      <p:sp>
        <p:nvSpPr>
          <p:cNvPr id="24" name="Text 22"/>
          <p:cNvSpPr/>
          <p:nvPr/>
        </p:nvSpPr>
        <p:spPr>
          <a:xfrm>
            <a:off x="5702260" y="4512469"/>
            <a:ext cx="115228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0.9471</a:t>
            </a:r>
            <a:endParaRPr lang="en-US" sz="1600" dirty="0"/>
          </a:p>
        </p:txBody>
      </p:sp>
      <p:sp>
        <p:nvSpPr>
          <p:cNvPr id="25" name="Shape 23"/>
          <p:cNvSpPr/>
          <p:nvPr/>
        </p:nvSpPr>
        <p:spPr>
          <a:xfrm>
            <a:off x="801410" y="5250775"/>
            <a:ext cx="6257211" cy="545783"/>
          </a:xfrm>
          <a:prstGeom prst="rect">
            <a:avLst/>
          </a:prstGeom>
          <a:solidFill>
            <a:srgbClr val="FFFFFF">
              <a:alpha val="4000"/>
            </a:srgbClr>
          </a:solidFill>
          <a:ln/>
        </p:spPr>
      </p:sp>
      <p:sp>
        <p:nvSpPr>
          <p:cNvPr id="26" name="Text 24"/>
          <p:cNvSpPr/>
          <p:nvPr/>
        </p:nvSpPr>
        <p:spPr>
          <a:xfrm>
            <a:off x="1005721" y="5368528"/>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20</a:t>
            </a:r>
            <a:endParaRPr lang="en-US" sz="1600" dirty="0"/>
          </a:p>
        </p:txBody>
      </p:sp>
      <p:sp>
        <p:nvSpPr>
          <p:cNvPr id="27" name="Text 25"/>
          <p:cNvSpPr/>
          <p:nvPr/>
        </p:nvSpPr>
        <p:spPr>
          <a:xfrm>
            <a:off x="2573774" y="5368528"/>
            <a:ext cx="114847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NSGA-II</a:t>
            </a:r>
            <a:endParaRPr lang="en-US" sz="1600" dirty="0"/>
          </a:p>
        </p:txBody>
      </p:sp>
      <p:sp>
        <p:nvSpPr>
          <p:cNvPr id="28" name="Text 26"/>
          <p:cNvSpPr/>
          <p:nvPr/>
        </p:nvSpPr>
        <p:spPr>
          <a:xfrm>
            <a:off x="4138017" y="5368528"/>
            <a:ext cx="114847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0.8597</a:t>
            </a:r>
            <a:endParaRPr lang="en-US" sz="1600" dirty="0"/>
          </a:p>
        </p:txBody>
      </p:sp>
      <p:sp>
        <p:nvSpPr>
          <p:cNvPr id="29" name="Text 27"/>
          <p:cNvSpPr/>
          <p:nvPr/>
        </p:nvSpPr>
        <p:spPr>
          <a:xfrm>
            <a:off x="5702260" y="5368528"/>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0.9800</a:t>
            </a:r>
            <a:endParaRPr lang="en-US" sz="1600" dirty="0"/>
          </a:p>
        </p:txBody>
      </p:sp>
      <p:sp>
        <p:nvSpPr>
          <p:cNvPr id="30" name="Shape 28"/>
          <p:cNvSpPr/>
          <p:nvPr/>
        </p:nvSpPr>
        <p:spPr>
          <a:xfrm>
            <a:off x="801410" y="5796558"/>
            <a:ext cx="6257211" cy="856059"/>
          </a:xfrm>
          <a:prstGeom prst="rect">
            <a:avLst/>
          </a:prstGeom>
          <a:solidFill>
            <a:srgbClr val="000000">
              <a:alpha val="4000"/>
            </a:srgbClr>
          </a:solidFill>
          <a:ln/>
        </p:spPr>
      </p:sp>
      <p:sp>
        <p:nvSpPr>
          <p:cNvPr id="31" name="Text 29"/>
          <p:cNvSpPr/>
          <p:nvPr/>
        </p:nvSpPr>
        <p:spPr>
          <a:xfrm>
            <a:off x="1005721" y="5914311"/>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25</a:t>
            </a:r>
            <a:endParaRPr lang="en-US" sz="1600" dirty="0"/>
          </a:p>
        </p:txBody>
      </p:sp>
      <p:sp>
        <p:nvSpPr>
          <p:cNvPr id="32" name="Text 30"/>
          <p:cNvSpPr/>
          <p:nvPr/>
        </p:nvSpPr>
        <p:spPr>
          <a:xfrm>
            <a:off x="2573774" y="5914311"/>
            <a:ext cx="1148477" cy="620554"/>
          </a:xfrm>
          <a:prstGeom prst="rect">
            <a:avLst/>
          </a:prstGeom>
          <a:noFill/>
          <a:ln/>
        </p:spPr>
        <p:txBody>
          <a:bodyPr wrap="squar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MPG-NSGA-II</a:t>
            </a:r>
            <a:endParaRPr lang="en-US" sz="1600" dirty="0"/>
          </a:p>
        </p:txBody>
      </p:sp>
      <p:sp>
        <p:nvSpPr>
          <p:cNvPr id="33" name="Text 31"/>
          <p:cNvSpPr/>
          <p:nvPr/>
        </p:nvSpPr>
        <p:spPr>
          <a:xfrm>
            <a:off x="4138017" y="5914311"/>
            <a:ext cx="114847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0.9342</a:t>
            </a:r>
            <a:endParaRPr lang="en-US" sz="1600" dirty="0"/>
          </a:p>
        </p:txBody>
      </p:sp>
      <p:sp>
        <p:nvSpPr>
          <p:cNvPr id="34" name="Text 32"/>
          <p:cNvSpPr/>
          <p:nvPr/>
        </p:nvSpPr>
        <p:spPr>
          <a:xfrm>
            <a:off x="5702260" y="5914311"/>
            <a:ext cx="1152287" cy="310277"/>
          </a:xfrm>
          <a:prstGeom prst="rect">
            <a:avLst/>
          </a:prstGeom>
          <a:noFill/>
          <a:ln/>
        </p:spPr>
        <p:txBody>
          <a:bodyPr wrap="none" lIns="0" tIns="0" rIns="0" bIns="0" rtlCol="0" anchor="t"/>
          <a:lstStyle/>
          <a:p>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0.9449</a:t>
            </a:r>
            <a:endParaRPr lang="en-US" sz="1600" dirty="0"/>
          </a:p>
        </p:txBody>
      </p:sp>
      <p:sp>
        <p:nvSpPr>
          <p:cNvPr id="35" name="Shape 33"/>
          <p:cNvSpPr/>
          <p:nvPr/>
        </p:nvSpPr>
        <p:spPr>
          <a:xfrm>
            <a:off x="801410" y="6652617"/>
            <a:ext cx="6257211" cy="545783"/>
          </a:xfrm>
          <a:prstGeom prst="rect">
            <a:avLst/>
          </a:prstGeom>
          <a:solidFill>
            <a:srgbClr val="FFFFFF">
              <a:alpha val="4000"/>
            </a:srgbClr>
          </a:solidFill>
          <a:ln/>
        </p:spPr>
      </p:sp>
      <p:sp>
        <p:nvSpPr>
          <p:cNvPr id="36" name="Text 34"/>
          <p:cNvSpPr/>
          <p:nvPr/>
        </p:nvSpPr>
        <p:spPr>
          <a:xfrm>
            <a:off x="1005721" y="6770370"/>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25</a:t>
            </a:r>
            <a:endParaRPr lang="en-US" sz="1600" dirty="0"/>
          </a:p>
        </p:txBody>
      </p:sp>
      <p:sp>
        <p:nvSpPr>
          <p:cNvPr id="37" name="Text 35"/>
          <p:cNvSpPr/>
          <p:nvPr/>
        </p:nvSpPr>
        <p:spPr>
          <a:xfrm>
            <a:off x="2573774" y="6770370"/>
            <a:ext cx="114847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NSGA-II</a:t>
            </a:r>
            <a:endParaRPr lang="en-US" sz="1600" dirty="0"/>
          </a:p>
        </p:txBody>
      </p:sp>
      <p:sp>
        <p:nvSpPr>
          <p:cNvPr id="38" name="Text 36"/>
          <p:cNvSpPr/>
          <p:nvPr/>
        </p:nvSpPr>
        <p:spPr>
          <a:xfrm>
            <a:off x="4138017" y="6770370"/>
            <a:ext cx="114847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0.8710</a:t>
            </a:r>
            <a:endParaRPr lang="en-US" sz="1600" dirty="0"/>
          </a:p>
        </p:txBody>
      </p:sp>
      <p:sp>
        <p:nvSpPr>
          <p:cNvPr id="39" name="Text 37"/>
          <p:cNvSpPr/>
          <p:nvPr/>
        </p:nvSpPr>
        <p:spPr>
          <a:xfrm>
            <a:off x="5702260" y="6770370"/>
            <a:ext cx="1152287"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0.9912</a:t>
            </a:r>
            <a:endParaRPr lang="en-US" sz="1600" dirty="0"/>
          </a:p>
        </p:txBody>
      </p:sp>
      <p:sp>
        <p:nvSpPr>
          <p:cNvPr id="40" name="Text 38"/>
          <p:cNvSpPr/>
          <p:nvPr/>
        </p:nvSpPr>
        <p:spPr>
          <a:xfrm>
            <a:off x="7571780" y="1913930"/>
            <a:ext cx="2551748" cy="318849"/>
          </a:xfrm>
          <a:prstGeom prst="rect">
            <a:avLst/>
          </a:prstGeom>
          <a:noFill/>
          <a:ln/>
        </p:spPr>
        <p:txBody>
          <a:bodyPr wrap="none" lIns="0" tIns="0" rIns="0" bIns="0" rtlCol="0" anchor="t"/>
          <a:lstStyle/>
          <a:p>
            <a:pPr algn="l" indent="0" marL="0">
              <a:lnSpc>
                <a:spcPts val="2500"/>
              </a:lnSpc>
              <a:buNone/>
            </a:pPr>
            <a:r>
              <a:rPr lang="en-US" sz="2000" b="1" dirty="0">
                <a:solidFill>
                  <a:srgbClr val="0A468C"/>
                </a:solidFill>
                <a:latin typeface="Noto Sans SC Bold" pitchFamily="34" charset="0"/>
                <a:ea typeface="Noto Sans SC Bold" pitchFamily="34" charset="-122"/>
                <a:cs typeface="Noto Sans SC Bold" pitchFamily="34" charset="-120"/>
              </a:rPr>
              <a:t>关键结论</a:t>
            </a:r>
            <a:endParaRPr lang="en-US" sz="2000" dirty="0"/>
          </a:p>
        </p:txBody>
      </p:sp>
      <p:pic>
        <p:nvPicPr>
          <p:cNvPr id="4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48337" y="2449532"/>
            <a:ext cx="306110" cy="306110"/>
          </a:xfrm>
          <a:prstGeom prst="rect">
            <a:avLst/>
          </a:prstGeom>
        </p:spPr>
      </p:pic>
      <p:sp>
        <p:nvSpPr>
          <p:cNvPr id="42" name="Text 39"/>
          <p:cNvSpPr/>
          <p:nvPr/>
        </p:nvSpPr>
        <p:spPr>
          <a:xfrm>
            <a:off x="8235077" y="2439472"/>
            <a:ext cx="5609153"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各顶点连通度目标下，覆盖率平均提升约 </a:t>
            </a:r>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7%</a:t>
            </a:r>
            <a:endParaRPr lang="en-US" sz="1600" dirty="0"/>
          </a:p>
        </p:txBody>
      </p:sp>
      <p:pic>
        <p:nvPicPr>
          <p:cNvPr id="4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8337" y="3439418"/>
            <a:ext cx="306110" cy="306110"/>
          </a:xfrm>
          <a:prstGeom prst="rect">
            <a:avLst/>
          </a:prstGeom>
        </p:spPr>
      </p:pic>
      <p:sp>
        <p:nvSpPr>
          <p:cNvPr id="44" name="Text 40"/>
          <p:cNvSpPr/>
          <p:nvPr/>
        </p:nvSpPr>
        <p:spPr>
          <a:xfrm>
            <a:off x="8235077" y="3429357"/>
            <a:ext cx="5609153"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多参数场景下能在</a:t>
            </a:r>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更少节点</a:t>
            </a:r>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下实现区域全覆盖</a:t>
            </a:r>
            <a:endParaRPr lang="en-US" sz="1600" dirty="0"/>
          </a:p>
        </p:txBody>
      </p:sp>
      <p:pic>
        <p:nvPicPr>
          <p:cNvPr id="4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48337" y="4429304"/>
            <a:ext cx="306110" cy="306110"/>
          </a:xfrm>
          <a:prstGeom prst="rect">
            <a:avLst/>
          </a:prstGeom>
        </p:spPr>
      </p:pic>
      <p:sp>
        <p:nvSpPr>
          <p:cNvPr id="46" name="Text 41"/>
          <p:cNvSpPr/>
          <p:nvPr/>
        </p:nvSpPr>
        <p:spPr>
          <a:xfrm>
            <a:off x="8235077" y="4419243"/>
            <a:ext cx="5609153"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高建筑密度、强干扰、大规模场景下均保持稳定优势</a:t>
            </a:r>
            <a:endParaRPr lang="en-US" sz="1600" dirty="0"/>
          </a:p>
        </p:txBody>
      </p:sp>
      <p:pic>
        <p:nvPicPr>
          <p:cNvPr id="4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48337" y="5419189"/>
            <a:ext cx="306110" cy="306110"/>
          </a:xfrm>
          <a:prstGeom prst="rect">
            <a:avLst/>
          </a:prstGeom>
        </p:spPr>
      </p:pic>
      <p:sp>
        <p:nvSpPr>
          <p:cNvPr id="48" name="Text 42"/>
          <p:cNvSpPr/>
          <p:nvPr/>
        </p:nvSpPr>
        <p:spPr>
          <a:xfrm>
            <a:off x="8235077" y="5409128"/>
            <a:ext cx="5609153" cy="310277"/>
          </a:xfrm>
          <a:prstGeom prst="rect">
            <a:avLst/>
          </a:prstGeom>
          <a:noFill/>
          <a:ln/>
        </p:spPr>
        <p:txBody>
          <a:bodyPr wrap="none" lIns="0" tIns="0" rIns="0" bIns="0" rtlCol="0" anchor="t"/>
          <a:lstStyle/>
          <a:p>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N=25时，k=10高连通约束下仍可维持 </a:t>
            </a:r>
            <a:pPr algn="l" indent="0" marL="0">
              <a:lnSpc>
                <a:spcPts val="2400"/>
              </a:lnSpc>
              <a:buNone/>
            </a:pPr>
            <a:r>
              <a:rPr lang="en-US" sz="1600" b="1" dirty="0">
                <a:solidFill>
                  <a:srgbClr val="000000"/>
                </a:solidFill>
                <a:latin typeface="Noto Sans SC" pitchFamily="34" charset="0"/>
                <a:ea typeface="Noto Sans SC" pitchFamily="34" charset="-122"/>
                <a:cs typeface="Noto Sans SC" pitchFamily="34" charset="-120"/>
              </a:rPr>
              <a:t>99%</a:t>
            </a:r>
            <a:pPr algn="l" indent="0" marL="0">
              <a:lnSpc>
                <a:spcPts val="2400"/>
              </a:lnSpc>
              <a:buNone/>
            </a:pPr>
            <a:r>
              <a:rPr lang="en-US" sz="1600" dirty="0">
                <a:solidFill>
                  <a:srgbClr val="000000"/>
                </a:solidFill>
                <a:latin typeface="Noto Sans SC" pitchFamily="34" charset="0"/>
                <a:ea typeface="Noto Sans SC" pitchFamily="34" charset="-122"/>
                <a:cs typeface="Noto Sans SC" pitchFamily="34" charset="-120"/>
              </a:rPr>
              <a:t> 覆盖率</a:t>
            </a:r>
            <a:endParaRPr lang="en-US" sz="1600" dirty="0"/>
          </a:p>
        </p:txBody>
      </p:sp>
      <p:sp>
        <p:nvSpPr>
          <p:cNvPr id="49" name="Text 43"/>
          <p:cNvSpPr/>
          <p:nvPr/>
        </p:nvSpPr>
        <p:spPr>
          <a:xfrm>
            <a:off x="7147798" y="7723346"/>
            <a:ext cx="334804" cy="241340"/>
          </a:xfrm>
          <a:prstGeom prst="rect">
            <a:avLst/>
          </a:prstGeom>
          <a:noFill/>
          <a:ln/>
        </p:spPr>
        <p:txBody>
          <a:bodyPr wrap="none" lIns="0" tIns="0" rIns="0" bIns="0" rtlCol="0" anchor="t"/>
          <a:lstStyle/>
          <a:p>
            <a:pPr algn="ctr" indent="0" marL="0">
              <a:lnSpc>
                <a:spcPts val="1900"/>
              </a:lnSpc>
              <a:buNone/>
            </a:pPr>
            <a:r>
              <a:rPr lang="en-US" sz="1250" dirty="0">
                <a:solidFill>
                  <a:srgbClr val="000000"/>
                </a:solidFill>
                <a:latin typeface="Noto Sans SC" pitchFamily="34" charset="0"/>
                <a:ea typeface="Noto Sans SC" pitchFamily="34" charset="-122"/>
                <a:cs typeface="Noto Sans SC" pitchFamily="34" charset="-120"/>
              </a:rPr>
              <a:t>17</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2318742"/>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多参数场景稳定性验证</a:t>
            </a:r>
            <a:endParaRPr lang="en-US" sz="4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481149"/>
            <a:ext cx="566976" cy="566976"/>
          </a:xfrm>
          <a:prstGeom prst="rect">
            <a:avLst/>
          </a:prstGeom>
        </p:spPr>
      </p:pic>
      <p:sp>
        <p:nvSpPr>
          <p:cNvPr id="4" name="Text 1"/>
          <p:cNvSpPr/>
          <p:nvPr/>
        </p:nvSpPr>
        <p:spPr>
          <a:xfrm>
            <a:off x="793790" y="433161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高建筑密度场景</a:t>
            </a:r>
            <a:endParaRPr lang="en-US" sz="2200" dirty="0"/>
          </a:p>
        </p:txBody>
      </p:sp>
      <p:sp>
        <p:nvSpPr>
          <p:cNvPr id="5" name="Text 2"/>
          <p:cNvSpPr/>
          <p:nvPr/>
        </p:nvSpPr>
        <p:spPr>
          <a:xfrm>
            <a:off x="793790" y="4822031"/>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建筑数量增至 40 栋，MPG-NSGA-II 在高连通约束（k≥3）下覆盖优势更加显著，有效识别关键连通节点并优化部署位置</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893" y="3481149"/>
            <a:ext cx="566976" cy="566976"/>
          </a:xfrm>
          <a:prstGeom prst="rect">
            <a:avLst/>
          </a:prstGeom>
        </p:spPr>
      </p:pic>
      <p:sp>
        <p:nvSpPr>
          <p:cNvPr id="7" name="Text 3"/>
          <p:cNvSpPr/>
          <p:nvPr/>
        </p:nvSpPr>
        <p:spPr>
          <a:xfrm>
            <a:off x="5235893" y="433161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强干扰场景</a:t>
            </a:r>
            <a:endParaRPr lang="en-US" sz="2200" dirty="0"/>
          </a:p>
        </p:txBody>
      </p:sp>
      <p:sp>
        <p:nvSpPr>
          <p:cNvPr id="8" name="Text 4"/>
          <p:cNvSpPr/>
          <p:nvPr/>
        </p:nvSpPr>
        <p:spPr>
          <a:xfrm>
            <a:off x="5235893" y="4822031"/>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干扰源增至 3 个，DCGO 算子引导节点主动远离强干扰区域并重建链路，在相同顶点连通度下保持更高覆盖率</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7995" y="3481149"/>
            <a:ext cx="566976" cy="566976"/>
          </a:xfrm>
          <a:prstGeom prst="rect">
            <a:avLst/>
          </a:prstGeom>
        </p:spPr>
      </p:pic>
      <p:sp>
        <p:nvSpPr>
          <p:cNvPr id="10" name="Text 5"/>
          <p:cNvSpPr/>
          <p:nvPr/>
        </p:nvSpPr>
        <p:spPr>
          <a:xfrm>
            <a:off x="9677995" y="433161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大规模场景</a:t>
            </a:r>
            <a:endParaRPr lang="en-US" sz="2200" dirty="0"/>
          </a:p>
        </p:txBody>
      </p:sp>
      <p:sp>
        <p:nvSpPr>
          <p:cNvPr id="11" name="Text 6"/>
          <p:cNvSpPr/>
          <p:nvPr/>
        </p:nvSpPr>
        <p:spPr>
          <a:xfrm>
            <a:off x="9677995" y="4822031"/>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区域扩展至 1.5km×1.5km，无人机增至 50 架（100维优化变量），多种群协同进化机制有效防止高维空间早熟收敛</a:t>
            </a:r>
            <a:endParaRPr lang="en-US" sz="1750" dirty="0"/>
          </a:p>
        </p:txBody>
      </p:sp>
      <p:sp>
        <p:nvSpPr>
          <p:cNvPr id="12" name="Text 7"/>
          <p:cNvSpPr/>
          <p:nvPr/>
        </p:nvSpPr>
        <p:spPr>
          <a:xfrm>
            <a:off x="7155656" y="7716917"/>
            <a:ext cx="319088" cy="254079"/>
          </a:xfrm>
          <a:prstGeom prst="rect">
            <a:avLst/>
          </a:prstGeom>
          <a:noFill/>
          <a:ln/>
        </p:spPr>
        <p:txBody>
          <a:bodyPr wrap="none" lIns="0" tIns="0" rIns="0" bIns="0" rtlCol="0" anchor="t"/>
          <a:lstStyle/>
          <a:p>
            <a:pPr algn="ct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18</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511022"/>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全文总结</a:t>
            </a:r>
            <a:endParaRPr lang="en-US" sz="4450" dirty="0"/>
          </a:p>
        </p:txBody>
      </p:sp>
      <p:sp>
        <p:nvSpPr>
          <p:cNvPr id="3" name="Shape 1"/>
          <p:cNvSpPr/>
          <p:nvPr/>
        </p:nvSpPr>
        <p:spPr>
          <a:xfrm>
            <a:off x="630436" y="2559963"/>
            <a:ext cx="6571417" cy="2576751"/>
          </a:xfrm>
          <a:prstGeom prst="roundRect">
            <a:avLst>
              <a:gd name="adj" fmla="val 6338"/>
            </a:avLst>
          </a:prstGeom>
          <a:solidFill>
            <a:srgbClr val="0B498F"/>
          </a:solidFill>
          <a:ln/>
        </p:spPr>
      </p:sp>
      <p:sp>
        <p:nvSpPr>
          <p:cNvPr id="4" name="Text 2"/>
          <p:cNvSpPr/>
          <p:nvPr/>
        </p:nvSpPr>
        <p:spPr>
          <a:xfrm>
            <a:off x="857250" y="278677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FFFFF"/>
                </a:solidFill>
                <a:latin typeface="Noto Sans SC Bold" pitchFamily="34" charset="0"/>
                <a:ea typeface="Noto Sans SC Bold" pitchFamily="34" charset="-122"/>
                <a:cs typeface="Noto Sans SC Bold" pitchFamily="34" charset="-120"/>
              </a:rPr>
              <a:t>C-RRT*-APF 核心贡献</a:t>
            </a:r>
            <a:endParaRPr lang="en-US" sz="2200" dirty="0"/>
          </a:p>
        </p:txBody>
      </p:sp>
      <p:sp>
        <p:nvSpPr>
          <p:cNvPr id="5" name="Text 3"/>
          <p:cNvSpPr/>
          <p:nvPr/>
        </p:nvSpPr>
        <p:spPr>
          <a:xfrm>
            <a:off x="857250" y="3367921"/>
            <a:ext cx="6117788"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FFFFFF"/>
                </a:solidFill>
                <a:latin typeface="Noto Sans SC" pitchFamily="34" charset="0"/>
                <a:ea typeface="Noto Sans SC" pitchFamily="34" charset="-122"/>
                <a:cs typeface="Noto Sans SC" pitchFamily="34" charset="-120"/>
              </a:rPr>
              <a:t>分层分簇机制降低大规模势场复杂度</a:t>
            </a:r>
            <a:endParaRPr lang="en-US" sz="1750" dirty="0"/>
          </a:p>
          <a:p>
            <a:pPr algn="l" marL="342900" indent="-342900">
              <a:lnSpc>
                <a:spcPts val="2850"/>
              </a:lnSpc>
              <a:buSzPct val="100000"/>
              <a:buChar char="•"/>
            </a:pPr>
            <a:r>
              <a:rPr lang="en-US" sz="1750" dirty="0">
                <a:solidFill>
                  <a:srgbClr val="FFFFFF"/>
                </a:solidFill>
                <a:latin typeface="Noto Sans SC" pitchFamily="34" charset="0"/>
                <a:ea typeface="Noto Sans SC" pitchFamily="34" charset="-122"/>
                <a:cs typeface="Noto Sans SC" pitchFamily="34" charset="-120"/>
              </a:rPr>
              <a:t>簇间 Fréchet 距离约束保障跨簇通信基础</a:t>
            </a:r>
            <a:endParaRPr lang="en-US" sz="1750" dirty="0"/>
          </a:p>
          <a:p>
            <a:pPr algn="l" marL="342900" indent="-342900">
              <a:lnSpc>
                <a:spcPts val="2850"/>
              </a:lnSpc>
              <a:buSzPct val="100000"/>
              <a:buChar char="•"/>
            </a:pPr>
            <a:r>
              <a:rPr lang="en-US" sz="1750" dirty="0">
                <a:solidFill>
                  <a:srgbClr val="FFFFFF"/>
                </a:solidFill>
                <a:latin typeface="Noto Sans SC" pitchFamily="34" charset="0"/>
                <a:ea typeface="Noto Sans SC" pitchFamily="34" charset="-122"/>
                <a:cs typeface="Noto Sans SC" pitchFamily="34" charset="-120"/>
              </a:rPr>
              <a:t>MBST 主干链路引力避免全连接势场震荡</a:t>
            </a:r>
            <a:endParaRPr lang="en-US" sz="1750" dirty="0"/>
          </a:p>
          <a:p>
            <a:pPr algn="l" marL="342900" indent="-342900">
              <a:lnSpc>
                <a:spcPts val="2850"/>
              </a:lnSpc>
              <a:buSzPct val="100000"/>
              <a:buChar char="•"/>
            </a:pPr>
            <a:r>
              <a:rPr lang="en-US" sz="1750" dirty="0">
                <a:solidFill>
                  <a:srgbClr val="FFFFFF"/>
                </a:solidFill>
                <a:latin typeface="Noto Sans SC" pitchFamily="34" charset="0"/>
                <a:ea typeface="Noto Sans SC" pitchFamily="34" charset="-122"/>
                <a:cs typeface="Noto Sans SC" pitchFamily="34" charset="-120"/>
              </a:rPr>
              <a:t>平均到达时间降低 29%，连通率提升 17%</a:t>
            </a:r>
            <a:endParaRPr lang="en-US" sz="1750" dirty="0"/>
          </a:p>
        </p:txBody>
      </p:sp>
      <p:sp>
        <p:nvSpPr>
          <p:cNvPr id="6" name="Text 4"/>
          <p:cNvSpPr/>
          <p:nvPr/>
        </p:nvSpPr>
        <p:spPr>
          <a:xfrm>
            <a:off x="7599521" y="2786777"/>
            <a:ext cx="2998351" cy="354330"/>
          </a:xfrm>
          <a:prstGeom prst="rect">
            <a:avLst/>
          </a:prstGeom>
          <a:noFill/>
          <a:ln/>
        </p:spPr>
        <p:txBody>
          <a:bodyPr wrap="none" lIns="0" tIns="0" rIns="0" bIns="0" rtlCol="0" anchor="t"/>
          <a:lstStyle/>
          <a:p>
            <a:pPr algn="l" indent="0" marL="0">
              <a:lnSpc>
                <a:spcPts val="2750"/>
              </a:lnSpc>
              <a:buNone/>
            </a:pPr>
            <a:r>
              <a:rPr lang="en-US" sz="2200" b="1" dirty="0">
                <a:solidFill>
                  <a:srgbClr val="0A468C"/>
                </a:solidFill>
                <a:latin typeface="Noto Sans SC Bold" pitchFamily="34" charset="0"/>
                <a:ea typeface="Noto Sans SC Bold" pitchFamily="34" charset="-122"/>
                <a:cs typeface="Noto Sans SC Bold" pitchFamily="34" charset="-120"/>
              </a:rPr>
              <a:t>MPG-NSGA-II 核心贡献</a:t>
            </a:r>
            <a:endParaRPr lang="en-US" sz="2200" dirty="0"/>
          </a:p>
        </p:txBody>
      </p:sp>
      <p:sp>
        <p:nvSpPr>
          <p:cNvPr id="7" name="Text 5"/>
          <p:cNvSpPr/>
          <p:nvPr/>
        </p:nvSpPr>
        <p:spPr>
          <a:xfrm>
            <a:off x="7599521" y="3367921"/>
            <a:ext cx="6244709"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000000"/>
                </a:solidFill>
                <a:latin typeface="Noto Sans SC" pitchFamily="34" charset="0"/>
                <a:ea typeface="Noto Sans SC" pitchFamily="34" charset="-122"/>
                <a:cs typeface="Noto Sans SC" pitchFamily="34" charset="-120"/>
              </a:rPr>
              <a:t>CGCI 混合初始化提升初始种群质量</a:t>
            </a:r>
            <a:endParaRPr lang="en-US" sz="1750" dirty="0"/>
          </a:p>
          <a:p>
            <a:pPr algn="l" marL="342900" indent="-342900">
              <a:lnSpc>
                <a:spcPts val="2850"/>
              </a:lnSpc>
              <a:buSzPct val="100000"/>
              <a:buChar char="•"/>
            </a:pPr>
            <a:r>
              <a:rPr lang="en-US" sz="1750" dirty="0">
                <a:solidFill>
                  <a:srgbClr val="000000"/>
                </a:solidFill>
                <a:latin typeface="Noto Sans SC" pitchFamily="34" charset="0"/>
                <a:ea typeface="Noto Sans SC" pitchFamily="34" charset="-122"/>
                <a:cs typeface="Noto Sans SC" pitchFamily="34" charset="-120"/>
              </a:rPr>
              <a:t>VCGO/DCGO 引导算子融合领域先验知识</a:t>
            </a:r>
            <a:endParaRPr lang="en-US" sz="1750" dirty="0"/>
          </a:p>
          <a:p>
            <a:pPr algn="l" marL="342900" indent="-342900">
              <a:lnSpc>
                <a:spcPts val="2850"/>
              </a:lnSpc>
              <a:buSzPct val="100000"/>
              <a:buChar char="•"/>
            </a:pPr>
            <a:r>
              <a:rPr lang="en-US" sz="1750" dirty="0">
                <a:solidFill>
                  <a:srgbClr val="000000"/>
                </a:solidFill>
                <a:latin typeface="Noto Sans SC" pitchFamily="34" charset="0"/>
                <a:ea typeface="Noto Sans SC" pitchFamily="34" charset="-122"/>
                <a:cs typeface="Noto Sans SC" pitchFamily="34" charset="-120"/>
              </a:rPr>
              <a:t>多种群精英迁移平衡探索与开发</a:t>
            </a:r>
            <a:endParaRPr lang="en-US" sz="1750" dirty="0"/>
          </a:p>
          <a:p>
            <a:pPr algn="l" marL="342900" indent="-342900">
              <a:lnSpc>
                <a:spcPts val="2850"/>
              </a:lnSpc>
              <a:buSzPct val="100000"/>
              <a:buChar char="•"/>
            </a:pPr>
            <a:r>
              <a:rPr lang="en-US" sz="1750" dirty="0">
                <a:solidFill>
                  <a:srgbClr val="000000"/>
                </a:solidFill>
                <a:latin typeface="Noto Sans SC" pitchFamily="34" charset="0"/>
                <a:ea typeface="Noto Sans SC" pitchFamily="34" charset="-122"/>
                <a:cs typeface="Noto Sans SC" pitchFamily="34" charset="-120"/>
              </a:rPr>
              <a:t>各连通度目标下覆盖率平均提升约 7%</a:t>
            </a:r>
            <a:endParaRPr lang="en-US" sz="1750" dirty="0"/>
          </a:p>
        </p:txBody>
      </p:sp>
      <p:sp>
        <p:nvSpPr>
          <p:cNvPr id="8" name="Shape 6"/>
          <p:cNvSpPr/>
          <p:nvPr/>
        </p:nvSpPr>
        <p:spPr>
          <a:xfrm>
            <a:off x="793790" y="5391864"/>
            <a:ext cx="13042821" cy="1326713"/>
          </a:xfrm>
          <a:prstGeom prst="roundRect">
            <a:avLst>
              <a:gd name="adj" fmla="val 7181"/>
            </a:avLst>
          </a:prstGeom>
          <a:solidFill>
            <a:srgbClr val="B6FCB8"/>
          </a:solidFill>
          <a:ln/>
        </p:spPr>
      </p:sp>
      <p:pic>
        <p:nvPicPr>
          <p:cNvPr id="9" name="Image 0" descr="preencoded.png">    </p:cNvPr>
          <p:cNvPicPr>
            <a:picLocks noChangeAspect="1"/>
          </p:cNvPicPr>
          <p:nvPr/>
        </p:nvPicPr>
        <p:blipFill>
          <a:blip r:embed="rId1"/>
          <a:stretch>
            <a:fillRect/>
          </a:stretch>
        </p:blipFill>
        <p:spPr>
          <a:xfrm>
            <a:off x="1020604" y="5751195"/>
            <a:ext cx="283488" cy="226814"/>
          </a:xfrm>
          <a:prstGeom prst="rect">
            <a:avLst/>
          </a:prstGeom>
        </p:spPr>
      </p:pic>
      <p:sp>
        <p:nvSpPr>
          <p:cNvPr id="10" name="Text 7"/>
          <p:cNvSpPr/>
          <p:nvPr/>
        </p:nvSpPr>
        <p:spPr>
          <a:xfrm>
            <a:off x="1530906" y="5675352"/>
            <a:ext cx="1207889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本文所提方法在强电磁干扰与密集建筑环境下实现了高通信保持效果，为城市作战场景下无人机集群协同任务能力提升提供了系统性解决方案，也为未来智能化无人机网络组网提供了扎实的理论与方法支撑。</a:t>
            </a:r>
            <a:endParaRPr lang="en-US" sz="1750" dirty="0"/>
          </a:p>
        </p:txBody>
      </p:sp>
      <p:sp>
        <p:nvSpPr>
          <p:cNvPr id="11" name="Text 8"/>
          <p:cNvSpPr/>
          <p:nvPr/>
        </p:nvSpPr>
        <p:spPr>
          <a:xfrm>
            <a:off x="7155656" y="7716917"/>
            <a:ext cx="319088" cy="254079"/>
          </a:xfrm>
          <a:prstGeom prst="rect">
            <a:avLst/>
          </a:prstGeom>
          <a:noFill/>
          <a:ln/>
        </p:spPr>
        <p:txBody>
          <a:bodyPr wrap="none" lIns="0" tIns="0" rIns="0" bIns="0" rtlCol="0" anchor="t"/>
          <a:lstStyle/>
          <a:p>
            <a:pPr algn="ctr"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19</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Shape 0"/>
          <p:cNvSpPr/>
          <p:nvPr/>
        </p:nvSpPr>
        <p:spPr>
          <a:xfrm>
            <a:off x="0" y="0"/>
            <a:ext cx="5486400" cy="8229600"/>
          </a:xfrm>
          <a:prstGeom prst="rect">
            <a:avLst/>
          </a:prstGeom>
          <a:solidFill>
            <a:srgbClr val="DFDFE0"/>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280190" y="886539"/>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A468C"/>
                </a:solidFill>
                <a:latin typeface="Noto Sans SC Bold" pitchFamily="34" charset="0"/>
                <a:ea typeface="Noto Sans SC Bold" pitchFamily="34" charset="-122"/>
                <a:cs typeface="Noto Sans SC Bold" pitchFamily="34" charset="-120"/>
              </a:rPr>
              <a:t>不足与展望</a:t>
            </a:r>
            <a:endParaRPr lang="en-US" sz="4450" dirty="0"/>
          </a:p>
        </p:txBody>
      </p:sp>
      <p:sp>
        <p:nvSpPr>
          <p:cNvPr id="6" name="Shape 2"/>
          <p:cNvSpPr/>
          <p:nvPr/>
        </p:nvSpPr>
        <p:spPr>
          <a:xfrm>
            <a:off x="6280190" y="1935480"/>
            <a:ext cx="510302" cy="510302"/>
          </a:xfrm>
          <a:prstGeom prst="roundRect">
            <a:avLst>
              <a:gd name="adj" fmla="val 18669"/>
            </a:avLst>
          </a:prstGeom>
          <a:solidFill>
            <a:srgbClr val="CDEFFE"/>
          </a:solidFill>
          <a:ln w="7620">
            <a:solidFill>
              <a:srgbClr val="B3D5E4"/>
            </a:solidFill>
            <a:prstDash val="solid"/>
          </a:ln>
        </p:spPr>
      </p:sp>
      <p:sp>
        <p:nvSpPr>
          <p:cNvPr id="7" name="Text 3"/>
          <p:cNvSpPr/>
          <p:nvPr/>
        </p:nvSpPr>
        <p:spPr>
          <a:xfrm>
            <a:off x="6365260" y="1977985"/>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Noto Sans SC Bold" pitchFamily="34" charset="0"/>
                <a:ea typeface="Noto Sans SC Bold" pitchFamily="34" charset="-122"/>
                <a:cs typeface="Noto Sans SC Bold" pitchFamily="34" charset="-120"/>
              </a:rPr>
              <a:t>1</a:t>
            </a:r>
            <a:endParaRPr lang="en-US" sz="2650" dirty="0"/>
          </a:p>
        </p:txBody>
      </p:sp>
      <p:sp>
        <p:nvSpPr>
          <p:cNvPr id="8" name="Text 4"/>
          <p:cNvSpPr/>
          <p:nvPr/>
        </p:nvSpPr>
        <p:spPr>
          <a:xfrm>
            <a:off x="7017306" y="201334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环境拓展</a:t>
            </a:r>
            <a:endParaRPr lang="en-US" sz="2200" dirty="0"/>
          </a:p>
        </p:txBody>
      </p:sp>
      <p:sp>
        <p:nvSpPr>
          <p:cNvPr id="9" name="Text 5"/>
          <p:cNvSpPr/>
          <p:nvPr/>
        </p:nvSpPr>
        <p:spPr>
          <a:xfrm>
            <a:off x="7017306" y="2503765"/>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将二维静态场景拓展至</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三维连续空间</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，引入高机动动态干扰源，C-RRT* 搜索空间向高度轴延伸，MBST-APF 升级为三维模型</a:t>
            </a:r>
            <a:endParaRPr lang="en-US" sz="1750" dirty="0"/>
          </a:p>
        </p:txBody>
      </p:sp>
      <p:sp>
        <p:nvSpPr>
          <p:cNvPr id="10" name="Shape 6"/>
          <p:cNvSpPr/>
          <p:nvPr/>
        </p:nvSpPr>
        <p:spPr>
          <a:xfrm>
            <a:off x="6280190" y="3683198"/>
            <a:ext cx="510302" cy="510302"/>
          </a:xfrm>
          <a:prstGeom prst="roundRect">
            <a:avLst>
              <a:gd name="adj" fmla="val 18669"/>
            </a:avLst>
          </a:prstGeom>
          <a:solidFill>
            <a:srgbClr val="CDEFFE"/>
          </a:solidFill>
          <a:ln w="7620">
            <a:solidFill>
              <a:srgbClr val="B3D5E4"/>
            </a:solidFill>
            <a:prstDash val="solid"/>
          </a:ln>
        </p:spPr>
      </p:sp>
      <p:sp>
        <p:nvSpPr>
          <p:cNvPr id="11" name="Text 7"/>
          <p:cNvSpPr/>
          <p:nvPr/>
        </p:nvSpPr>
        <p:spPr>
          <a:xfrm>
            <a:off x="6365260" y="3725704"/>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Noto Sans SC Bold" pitchFamily="34" charset="0"/>
                <a:ea typeface="Noto Sans SC Bold" pitchFamily="34" charset="-122"/>
                <a:cs typeface="Noto Sans SC Bold" pitchFamily="34" charset="-120"/>
              </a:rPr>
              <a:t>2</a:t>
            </a:r>
            <a:endParaRPr lang="en-US" sz="2650" dirty="0"/>
          </a:p>
        </p:txBody>
      </p:sp>
      <p:sp>
        <p:nvSpPr>
          <p:cNvPr id="12" name="Text 8"/>
          <p:cNvSpPr/>
          <p:nvPr/>
        </p:nvSpPr>
        <p:spPr>
          <a:xfrm>
            <a:off x="7017306" y="376106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目标与约束增加</a:t>
            </a:r>
            <a:endParaRPr lang="en-US" sz="2200" dirty="0"/>
          </a:p>
        </p:txBody>
      </p:sp>
      <p:sp>
        <p:nvSpPr>
          <p:cNvPr id="13" name="Text 9"/>
          <p:cNvSpPr/>
          <p:nvPr/>
        </p:nvSpPr>
        <p:spPr>
          <a:xfrm>
            <a:off x="7017306" y="4251484"/>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建立综合</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能耗模型</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，将能量均衡度纳入 MPG-NSGA-II 优化目标，在局部引导算子中增加剩余电量评估</a:t>
            </a:r>
            <a:endParaRPr lang="en-US" sz="1750" dirty="0"/>
          </a:p>
        </p:txBody>
      </p:sp>
      <p:sp>
        <p:nvSpPr>
          <p:cNvPr id="14" name="Shape 10"/>
          <p:cNvSpPr/>
          <p:nvPr/>
        </p:nvSpPr>
        <p:spPr>
          <a:xfrm>
            <a:off x="6280190" y="5430917"/>
            <a:ext cx="510302" cy="510302"/>
          </a:xfrm>
          <a:prstGeom prst="roundRect">
            <a:avLst>
              <a:gd name="adj" fmla="val 18669"/>
            </a:avLst>
          </a:prstGeom>
          <a:solidFill>
            <a:srgbClr val="CDEFFE"/>
          </a:solidFill>
          <a:ln w="7620">
            <a:solidFill>
              <a:srgbClr val="B3D5E4"/>
            </a:solidFill>
            <a:prstDash val="solid"/>
          </a:ln>
        </p:spPr>
      </p:sp>
      <p:sp>
        <p:nvSpPr>
          <p:cNvPr id="15" name="Text 11"/>
          <p:cNvSpPr/>
          <p:nvPr/>
        </p:nvSpPr>
        <p:spPr>
          <a:xfrm>
            <a:off x="6365260" y="5473422"/>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000000"/>
                </a:solidFill>
                <a:latin typeface="Noto Sans SC Bold" pitchFamily="34" charset="0"/>
                <a:ea typeface="Noto Sans SC Bold" pitchFamily="34" charset="-122"/>
                <a:cs typeface="Noto Sans SC Bold" pitchFamily="34" charset="-120"/>
              </a:rPr>
              <a:t>3</a:t>
            </a:r>
            <a:endParaRPr lang="en-US" sz="2650" dirty="0"/>
          </a:p>
        </p:txBody>
      </p:sp>
      <p:sp>
        <p:nvSpPr>
          <p:cNvPr id="16" name="Text 12"/>
          <p:cNvSpPr/>
          <p:nvPr/>
        </p:nvSpPr>
        <p:spPr>
          <a:xfrm>
            <a:off x="7017306" y="550878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Noto Sans SC Bold" pitchFamily="34" charset="0"/>
                <a:ea typeface="Noto Sans SC Bold" pitchFamily="34" charset="-122"/>
                <a:cs typeface="Noto Sans SC Bold" pitchFamily="34" charset="-120"/>
              </a:rPr>
              <a:t>实物验证</a:t>
            </a:r>
            <a:endParaRPr lang="en-US" sz="2200" dirty="0"/>
          </a:p>
        </p:txBody>
      </p:sp>
      <p:sp>
        <p:nvSpPr>
          <p:cNvPr id="17" name="Text 13"/>
          <p:cNvSpPr/>
          <p:nvPr/>
        </p:nvSpPr>
        <p:spPr>
          <a:xfrm>
            <a:off x="7017306" y="5999202"/>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结合 ROS 飞控系统开展</a:t>
            </a:r>
            <a:pPr algn="l"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半物理仿真或多机实飞测试</a:t>
            </a:r>
            <a:pPr algn="l" indent="0" marL="0">
              <a:lnSpc>
                <a:spcPts val="2850"/>
              </a:lnSpc>
              <a:buNone/>
            </a:pPr>
            <a:r>
              <a:rPr lang="en-US" sz="1750" dirty="0">
                <a:solidFill>
                  <a:srgbClr val="000000"/>
                </a:solidFill>
                <a:latin typeface="Noto Sans SC" pitchFamily="34" charset="0"/>
                <a:ea typeface="Noto Sans SC" pitchFamily="34" charset="-122"/>
                <a:cs typeface="Noto Sans SC" pitchFamily="34" charset="-120"/>
              </a:rPr>
              <a:t>，利用真实信道实测数据校准算法判定阈值，弥补仿真与物理环境差异</a:t>
            </a:r>
            <a:endParaRPr lang="en-US" sz="1750" dirty="0"/>
          </a:p>
        </p:txBody>
      </p:sp>
      <p:sp>
        <p:nvSpPr>
          <p:cNvPr id="18" name="Text 14"/>
          <p:cNvSpPr/>
          <p:nvPr/>
        </p:nvSpPr>
        <p:spPr>
          <a:xfrm>
            <a:off x="6280190" y="6980158"/>
            <a:ext cx="7556421" cy="362903"/>
          </a:xfrm>
          <a:prstGeom prst="rect">
            <a:avLst/>
          </a:prstGeom>
          <a:noFill/>
          <a:ln/>
        </p:spPr>
        <p:txBody>
          <a:bodyPr wrap="none" lIns="0" tIns="0" rIns="0" bIns="0" rtlCol="0" anchor="t"/>
          <a:lstStyle/>
          <a:p>
            <a:pPr algn="ctr" indent="0" marL="0">
              <a:lnSpc>
                <a:spcPts val="2850"/>
              </a:lnSpc>
              <a:buNone/>
            </a:pPr>
            <a:r>
              <a:rPr lang="en-US" sz="1750" b="1" dirty="0">
                <a:solidFill>
                  <a:srgbClr val="000000"/>
                </a:solidFill>
                <a:latin typeface="Noto Sans SC" pitchFamily="34" charset="0"/>
                <a:ea typeface="Noto Sans SC" pitchFamily="34" charset="-122"/>
                <a:cs typeface="Noto Sans SC" pitchFamily="34" charset="-120"/>
              </a:rPr>
              <a:t>感谢导师丁良辉教授及课题组全体成员的指导与支持！</a:t>
            </a:r>
            <a:endParaRPr lang="en-US" sz="1750" dirty="0"/>
          </a:p>
        </p:txBody>
      </p:sp>
      <p:sp>
        <p:nvSpPr>
          <p:cNvPr id="19" name="Text 15"/>
          <p:cNvSpPr/>
          <p:nvPr/>
        </p:nvSpPr>
        <p:spPr>
          <a:xfrm>
            <a:off x="5645110" y="7716917"/>
            <a:ext cx="366712" cy="254079"/>
          </a:xfrm>
          <a:prstGeom prst="rect">
            <a:avLst/>
          </a:prstGeom>
          <a:noFill/>
          <a:ln/>
        </p:spPr>
        <p:txBody>
          <a:bodyPr wrap="none" lIns="0" tIns="0" rIns="0" bIns="0" rtlCol="0" anchor="t"/>
          <a:lstStyle/>
          <a:p>
            <a:pPr algn="l" indent="0" marL="0">
              <a:lnSpc>
                <a:spcPts val="2000"/>
              </a:lnSpc>
              <a:buNone/>
            </a:pPr>
            <a:r>
              <a:rPr lang="en-US" sz="1250" dirty="0">
                <a:solidFill>
                  <a:srgbClr val="000000"/>
                </a:solidFill>
                <a:latin typeface="Noto Sans SC" pitchFamily="34" charset="0"/>
                <a:ea typeface="Noto Sans SC" pitchFamily="34" charset="-122"/>
                <a:cs typeface="Noto Sans SC" pitchFamily="34" charset="-120"/>
              </a:rPr>
              <a:t>20</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2026-04-27T08:15:40Z</dcterms:created>
  <dcterms:modified xsi:type="dcterms:W3CDTF">2026-04-27T08:15:40Z</dcterms:modified>
</cp:coreProperties>
</file>