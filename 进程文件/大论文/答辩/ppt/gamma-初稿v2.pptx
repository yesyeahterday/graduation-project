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svg"/><Relationship Id="rId4" Type="http://schemas.openxmlformats.org/officeDocument/2006/relationships/image" Target="../media/image-12-4.png"/><Relationship Id="rId5" Type="http://schemas.openxmlformats.org/officeDocument/2006/relationships/image" Target="../media/image-12-5.svg"/><Relationship Id="rId6" Type="http://schemas.openxmlformats.org/officeDocument/2006/relationships/image" Target="../media/image-12-6.png"/><Relationship Id="rId7" Type="http://schemas.openxmlformats.org/officeDocument/2006/relationships/image" Target="../media/image-12-7.svg"/><Relationship Id="rId8" Type="http://schemas.openxmlformats.org/officeDocument/2006/relationships/image" Target="../media/image-12-8.png"/><Relationship Id="rId9" Type="http://schemas.openxmlformats.org/officeDocument/2006/relationships/image" Target="../media/image-12-9.svg"/><Relationship Id="rId10" Type="http://schemas.openxmlformats.org/officeDocument/2006/relationships/image" Target="../media/image-12-10.png"/><Relationship Id="rId11" Type="http://schemas.openxmlformats.org/officeDocument/2006/relationships/slideLayout" Target="../slideLayouts/slideLayout13.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5.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6.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7.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8.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9.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0.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3.png"/><Relationship Id="rId4" Type="http://schemas.openxmlformats.org/officeDocument/2006/relationships/image" Target="../media/image-21-4.svg"/><Relationship Id="rId5" Type="http://schemas.openxmlformats.org/officeDocument/2006/relationships/image" Target="../media/image-21-5.png"/><Relationship Id="rId6" Type="http://schemas.openxmlformats.org/officeDocument/2006/relationships/image" Target="../media/image-21-6.svg"/><Relationship Id="rId7" Type="http://schemas.openxmlformats.org/officeDocument/2006/relationships/image" Target="../media/image-21-7.png"/><Relationship Id="rId8" Type="http://schemas.openxmlformats.org/officeDocument/2006/relationships/slideLayout" Target="../slideLayouts/slideLayout22.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23.xml"/><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495907" y="1594485"/>
            <a:ext cx="9638586" cy="708779"/>
          </a:xfrm>
          <a:prstGeom prst="rect">
            <a:avLst/>
          </a:prstGeom>
          <a:noFill/>
          <a:ln/>
        </p:spPr>
        <p:txBody>
          <a:bodyPr wrap="none" lIns="0" tIns="0" rIns="0" bIns="0" rtlCol="0" anchor="t"/>
          <a:lstStyle/>
          <a:p>
            <a:pPr algn="ctr" indent="0" marL="0">
              <a:lnSpc>
                <a:spcPts val="5550"/>
              </a:lnSpc>
              <a:buNone/>
            </a:pPr>
            <a:r>
              <a:rPr lang="en-US" sz="4450" b="1" dirty="0">
                <a:solidFill>
                  <a:srgbClr val="3257B8"/>
                </a:solidFill>
                <a:latin typeface="Microsoft YaHei" pitchFamily="34" charset="0"/>
                <a:ea typeface="Microsoft YaHei" pitchFamily="34" charset="-122"/>
                <a:cs typeface="Microsoft YaHei" pitchFamily="34" charset="-120"/>
              </a:rPr>
              <a:t>复杂城市作战环境下大规模无人机集群</a:t>
            </a:r>
            <a:endParaRPr lang="en-US" sz="4450" dirty="0"/>
          </a:p>
        </p:txBody>
      </p:sp>
      <p:sp>
        <p:nvSpPr>
          <p:cNvPr id="3" name="Text 1"/>
          <p:cNvSpPr/>
          <p:nvPr/>
        </p:nvSpPr>
        <p:spPr>
          <a:xfrm>
            <a:off x="4479846" y="2393990"/>
            <a:ext cx="5670590" cy="708779"/>
          </a:xfrm>
          <a:prstGeom prst="rect">
            <a:avLst/>
          </a:prstGeom>
          <a:noFill/>
          <a:ln/>
        </p:spPr>
        <p:txBody>
          <a:bodyPr wrap="none" lIns="0" tIns="0" rIns="0" bIns="0" rtlCol="0" anchor="t"/>
          <a:lstStyle/>
          <a:p>
            <a:pPr algn="ctr" indent="0" marL="0">
              <a:lnSpc>
                <a:spcPts val="5550"/>
              </a:lnSpc>
              <a:buNone/>
            </a:pPr>
            <a:r>
              <a:rPr lang="en-US" sz="4450" b="1" dirty="0">
                <a:solidFill>
                  <a:srgbClr val="3257B8"/>
                </a:solidFill>
                <a:latin typeface="Microsoft YaHei" pitchFamily="34" charset="0"/>
                <a:ea typeface="Microsoft YaHei" pitchFamily="34" charset="-122"/>
                <a:cs typeface="Microsoft YaHei" pitchFamily="34" charset="-120"/>
              </a:rPr>
              <a:t>通信保持任务规划研究</a:t>
            </a:r>
            <a:endParaRPr lang="en-US" sz="4450" dirty="0"/>
          </a:p>
        </p:txBody>
      </p:sp>
      <p:sp>
        <p:nvSpPr>
          <p:cNvPr id="4" name="Text 2"/>
          <p:cNvSpPr/>
          <p:nvPr/>
        </p:nvSpPr>
        <p:spPr>
          <a:xfrm>
            <a:off x="793790" y="3442930"/>
            <a:ext cx="13042821" cy="362903"/>
          </a:xfrm>
          <a:prstGeom prst="rect">
            <a:avLst/>
          </a:prstGeom>
          <a:noFill/>
          <a:ln/>
        </p:spPr>
        <p:txBody>
          <a:bodyPr wrap="none" lIns="0" tIns="0" rIns="0" bIns="0" rtlCol="0" anchor="t"/>
          <a:lstStyle/>
          <a:p>
            <a:pPr algn="ctr" indent="0" marL="0">
              <a:lnSpc>
                <a:spcPts val="2850"/>
              </a:lnSpc>
              <a:buNone/>
            </a:pPr>
            <a:r>
              <a:rPr lang="en-US" sz="1750" i="1" dirty="0">
                <a:solidFill>
                  <a:srgbClr val="15213F"/>
                </a:solidFill>
                <a:latin typeface="Microsoft YaHei" pitchFamily="34" charset="0"/>
                <a:ea typeface="Microsoft YaHei" pitchFamily="34" charset="-122"/>
                <a:cs typeface="Microsoft YaHei" pitchFamily="34" charset="-120"/>
              </a:rPr>
              <a:t>Connectivity-Preserving Mission Planning for Large-Scale UAV Swarms in Complex Urban Combat Environments</a:t>
            </a:r>
            <a:endParaRPr lang="en-US" sz="1750" dirty="0"/>
          </a:p>
        </p:txBody>
      </p:sp>
      <p:sp>
        <p:nvSpPr>
          <p:cNvPr id="5" name="Text 3"/>
          <p:cNvSpPr/>
          <p:nvPr/>
        </p:nvSpPr>
        <p:spPr>
          <a:xfrm>
            <a:off x="793790" y="4060984"/>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 </a:t>
            </a:r>
            <a:endParaRPr lang="en-US" sz="1750" dirty="0"/>
          </a:p>
        </p:txBody>
      </p:sp>
      <p:sp>
        <p:nvSpPr>
          <p:cNvPr id="6" name="Text 4"/>
          <p:cNvSpPr/>
          <p:nvPr/>
        </p:nvSpPr>
        <p:spPr>
          <a:xfrm>
            <a:off x="793790" y="4883110"/>
            <a:ext cx="6244709" cy="362903"/>
          </a:xfrm>
          <a:prstGeom prst="rect">
            <a:avLst/>
          </a:prstGeom>
          <a:noFill/>
          <a:ln/>
        </p:spPr>
        <p:txBody>
          <a:bodyPr wrap="none" lIns="0" tIns="0" rIns="0" bIns="0" rtlCol="0" anchor="t"/>
          <a:lstStyle/>
          <a:p>
            <a:pPr algn="ctr" indent="0" marL="0">
              <a:lnSpc>
                <a:spcPts val="2850"/>
              </a:lnSpc>
              <a:buNone/>
            </a:pPr>
            <a:r>
              <a:rPr lang="en-US" sz="1750" b="1" dirty="0">
                <a:solidFill>
                  <a:srgbClr val="1B3A6B"/>
                </a:solidFill>
                <a:latin typeface="Microsoft YaHei" pitchFamily="34" charset="0"/>
                <a:ea typeface="Microsoft YaHei" pitchFamily="34" charset="-122"/>
                <a:cs typeface="Microsoft YaHei" pitchFamily="34" charset="-120"/>
              </a:rPr>
              <a:t>答辩人：</a:t>
            </a:r>
            <a:pPr algn="ctr"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何运璐</a:t>
            </a:r>
            <a:endParaRPr lang="en-US" sz="1750" dirty="0"/>
          </a:p>
        </p:txBody>
      </p:sp>
      <p:sp>
        <p:nvSpPr>
          <p:cNvPr id="7" name="Text 5"/>
          <p:cNvSpPr/>
          <p:nvPr/>
        </p:nvSpPr>
        <p:spPr>
          <a:xfrm>
            <a:off x="793790" y="5450086"/>
            <a:ext cx="6244709" cy="362903"/>
          </a:xfrm>
          <a:prstGeom prst="rect">
            <a:avLst/>
          </a:prstGeom>
          <a:noFill/>
          <a:ln/>
        </p:spPr>
        <p:txBody>
          <a:bodyPr wrap="none" lIns="0" tIns="0" rIns="0" bIns="0" rtlCol="0" anchor="t"/>
          <a:lstStyle/>
          <a:p>
            <a:pPr algn="ctr" indent="0" marL="0">
              <a:lnSpc>
                <a:spcPts val="2850"/>
              </a:lnSpc>
              <a:buNone/>
            </a:pPr>
            <a:r>
              <a:rPr lang="en-US" sz="1750" b="1" dirty="0">
                <a:solidFill>
                  <a:srgbClr val="1B3A6B"/>
                </a:solidFill>
                <a:latin typeface="Microsoft YaHei" pitchFamily="34" charset="0"/>
                <a:ea typeface="Microsoft YaHei" pitchFamily="34" charset="-122"/>
                <a:cs typeface="Microsoft YaHei" pitchFamily="34" charset="-120"/>
              </a:rPr>
              <a:t>       导　师：</a:t>
            </a:r>
            <a:pPr algn="ctr"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丁良辉 教授</a:t>
            </a:r>
            <a:endParaRPr lang="en-US" sz="1750" dirty="0"/>
          </a:p>
        </p:txBody>
      </p:sp>
      <p:sp>
        <p:nvSpPr>
          <p:cNvPr id="8" name="Text 6"/>
          <p:cNvSpPr/>
          <p:nvPr/>
        </p:nvSpPr>
        <p:spPr>
          <a:xfrm>
            <a:off x="7599521" y="4883110"/>
            <a:ext cx="6244709" cy="362903"/>
          </a:xfrm>
          <a:prstGeom prst="rect">
            <a:avLst/>
          </a:prstGeom>
          <a:noFill/>
          <a:ln/>
        </p:spPr>
        <p:txBody>
          <a:bodyPr wrap="none" lIns="0" tIns="0" rIns="0" bIns="0" rtlCol="0" anchor="t"/>
          <a:lstStyle/>
          <a:p>
            <a:pPr algn="ctr" indent="0" marL="0">
              <a:lnSpc>
                <a:spcPts val="2850"/>
              </a:lnSpc>
              <a:buNone/>
            </a:pPr>
            <a:r>
              <a:rPr lang="en-US" sz="1750" b="1" dirty="0">
                <a:solidFill>
                  <a:srgbClr val="1B3A6B"/>
                </a:solidFill>
                <a:latin typeface="Microsoft YaHei" pitchFamily="34" charset="0"/>
                <a:ea typeface="Microsoft YaHei" pitchFamily="34" charset="-122"/>
                <a:cs typeface="Microsoft YaHei" pitchFamily="34" charset="-120"/>
              </a:rPr>
              <a:t>    院　系：</a:t>
            </a:r>
            <a:pPr algn="ctr"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集成电路学院</a:t>
            </a:r>
            <a:endParaRPr lang="en-US" sz="1750" dirty="0"/>
          </a:p>
        </p:txBody>
      </p:sp>
      <p:sp>
        <p:nvSpPr>
          <p:cNvPr id="9" name="Text 7"/>
          <p:cNvSpPr/>
          <p:nvPr/>
        </p:nvSpPr>
        <p:spPr>
          <a:xfrm>
            <a:off x="7599521" y="5450086"/>
            <a:ext cx="6244709" cy="362903"/>
          </a:xfrm>
          <a:prstGeom prst="rect">
            <a:avLst/>
          </a:prstGeom>
          <a:noFill/>
          <a:ln/>
        </p:spPr>
        <p:txBody>
          <a:bodyPr wrap="none" lIns="0" tIns="0" rIns="0" bIns="0" rtlCol="0" anchor="t"/>
          <a:lstStyle/>
          <a:p>
            <a:pPr algn="ctr" indent="0" marL="0">
              <a:lnSpc>
                <a:spcPts val="2850"/>
              </a:lnSpc>
              <a:buNone/>
            </a:pPr>
            <a:r>
              <a:rPr lang="en-US" sz="1750" b="1" dirty="0">
                <a:solidFill>
                  <a:srgbClr val="1B3A6B"/>
                </a:solidFill>
                <a:latin typeface="Microsoft YaHei" pitchFamily="34" charset="0"/>
                <a:ea typeface="Microsoft YaHei" pitchFamily="34" charset="-122"/>
                <a:cs typeface="Microsoft YaHei" pitchFamily="34" charset="-120"/>
              </a:rPr>
              <a:t>日　期：</a:t>
            </a:r>
            <a:pPr algn="ctr"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2026年4月</a:t>
            </a:r>
            <a:endParaRPr lang="en-US" sz="1750" dirty="0"/>
          </a:p>
        </p:txBody>
      </p:sp>
      <p:sp>
        <p:nvSpPr>
          <p:cNvPr id="10" name="Text 8"/>
          <p:cNvSpPr/>
          <p:nvPr/>
        </p:nvSpPr>
        <p:spPr>
          <a:xfrm>
            <a:off x="793790" y="6272212"/>
            <a:ext cx="13042821" cy="362903"/>
          </a:xfrm>
          <a:prstGeom prst="rect">
            <a:avLst/>
          </a:prstGeom>
          <a:noFill/>
          <a:ln/>
        </p:spPr>
        <p:txBody>
          <a:bodyPr wrap="none" lIns="0" tIns="0" rIns="0" bIns="0" rtlCol="0" anchor="t"/>
          <a:lstStyle/>
          <a:p>
            <a:pPr algn="ctr" indent="0" marL="0">
              <a:lnSpc>
                <a:spcPts val="2850"/>
              </a:lnSpc>
              <a:buNone/>
            </a:pPr>
            <a:r>
              <a:rPr lang="en-US" sz="1750" dirty="0">
                <a:solidFill>
                  <a:srgbClr val="1B3A6B"/>
                </a:solidFill>
                <a:latin typeface="Microsoft YaHei" pitchFamily="34" charset="0"/>
                <a:ea typeface="Microsoft YaHei" pitchFamily="34" charset="-122"/>
                <a:cs typeface="Microsoft YaHei" pitchFamily="34" charset="-120"/>
              </a:rPr>
              <a:t>上海交通大学 · 电子与通信工程 · 工学硕士</a:t>
            </a:r>
            <a:endParaRPr lang="en-US" sz="1750" dirty="0"/>
          </a:p>
        </p:txBody>
      </p:sp>
      <p:pic>
        <p:nvPicPr>
          <p:cNvPr id="11" name="Image 0" descr="preencoded.png">    </p:cNvPr>
          <p:cNvPicPr>
            <a:picLocks noChangeAspect="1"/>
          </p:cNvPicPr>
          <p:nvPr/>
        </p:nvPicPr>
        <p:blipFill>
          <a:blip r:embed="rId1"/>
          <a:stretch>
            <a:fillRect/>
          </a:stretch>
        </p:blipFill>
        <p:spPr>
          <a:xfrm>
            <a:off x="136088" y="208955"/>
            <a:ext cx="1351836" cy="307896"/>
          </a:xfrm>
          <a:prstGeom prst="rect">
            <a:avLst/>
          </a:prstGeom>
        </p:spPr>
      </p:pic>
      <p:sp>
        <p:nvSpPr>
          <p:cNvPr id="12" name="Text 9"/>
          <p:cNvSpPr/>
          <p:nvPr/>
        </p:nvSpPr>
        <p:spPr>
          <a:xfrm>
            <a:off x="7206734" y="7739658"/>
            <a:ext cx="216932" cy="254079"/>
          </a:xfrm>
          <a:prstGeom prst="rect">
            <a:avLst/>
          </a:prstGeom>
          <a:noFill/>
          <a:ln/>
        </p:spPr>
        <p:txBody>
          <a:bodyPr wrap="none" lIns="0" tIns="0" rIns="0" bIns="0" rtlCol="0" anchor="t"/>
          <a:lstStyle/>
          <a:p>
            <a:pPr algn="ctr" indent="0" marL="0">
              <a:lnSpc>
                <a:spcPts val="2000"/>
              </a:lnSpc>
              <a:buNone/>
            </a:pPr>
            <a:r>
              <a:rPr lang="en-US" sz="1250" dirty="0">
                <a:solidFill>
                  <a:srgbClr val="15213F"/>
                </a:solidFill>
                <a:latin typeface="Microsoft YaHei" pitchFamily="34" charset="0"/>
                <a:ea typeface="Microsoft YaHei" pitchFamily="34" charset="-122"/>
                <a:cs typeface="Microsoft YaHei" pitchFamily="34" charset="-120"/>
              </a:rPr>
              <a:t>1</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30436" y="2210872"/>
            <a:ext cx="4531876" cy="3807857"/>
          </a:xfrm>
          <a:prstGeom prst="roundRect">
            <a:avLst>
              <a:gd name="adj" fmla="val 894"/>
            </a:avLst>
          </a:prstGeom>
          <a:solidFill>
            <a:srgbClr val="1A3A8F">
              <a:alpha val="95000"/>
            </a:srgbClr>
          </a:solidFill>
          <a:ln/>
        </p:spPr>
      </p:sp>
      <p:sp>
        <p:nvSpPr>
          <p:cNvPr id="3" name="Text 1"/>
          <p:cNvSpPr/>
          <p:nvPr/>
        </p:nvSpPr>
        <p:spPr>
          <a:xfrm>
            <a:off x="857250" y="2414945"/>
            <a:ext cx="4078248" cy="290274"/>
          </a:xfrm>
          <a:prstGeom prst="rect">
            <a:avLst/>
          </a:prstGeom>
          <a:noFill/>
          <a:ln/>
        </p:spPr>
        <p:txBody>
          <a:bodyPr wrap="none" lIns="0" tIns="0" rIns="0" bIns="0" rtlCol="0" anchor="t"/>
          <a:lstStyle/>
          <a:p>
            <a:pPr algn="ctr" indent="0" marL="0">
              <a:lnSpc>
                <a:spcPts val="2250"/>
              </a:lnSpc>
              <a:buNone/>
            </a:pPr>
            <a:endParaRPr lang="en-US" sz="1400" dirty="0"/>
          </a:p>
        </p:txBody>
      </p:sp>
      <p:sp>
        <p:nvSpPr>
          <p:cNvPr id="4" name="Text 2"/>
          <p:cNvSpPr/>
          <p:nvPr/>
        </p:nvSpPr>
        <p:spPr>
          <a:xfrm>
            <a:off x="857250" y="2932033"/>
            <a:ext cx="4078248" cy="708779"/>
          </a:xfrm>
          <a:prstGeom prst="rect">
            <a:avLst/>
          </a:prstGeom>
          <a:noFill/>
          <a:ln/>
        </p:spPr>
        <p:txBody>
          <a:bodyPr wrap="none" lIns="0" tIns="0" rIns="0" bIns="0" rtlCol="0" anchor="t"/>
          <a:lstStyle/>
          <a:p>
            <a:pPr algn="ctr" indent="0" marL="0">
              <a:lnSpc>
                <a:spcPts val="5550"/>
              </a:lnSpc>
              <a:buNone/>
            </a:pPr>
            <a:r>
              <a:rPr lang="en-US" sz="4450" b="1" dirty="0">
                <a:solidFill>
                  <a:srgbClr val="FFFFFF"/>
                </a:solidFill>
                <a:latin typeface="Microsoft YaHei" pitchFamily="34" charset="0"/>
                <a:ea typeface="Microsoft YaHei" pitchFamily="34" charset="-122"/>
                <a:cs typeface="Microsoft YaHei" pitchFamily="34" charset="-120"/>
              </a:rPr>
              <a:t>答辩</a:t>
            </a:r>
            <a:endParaRPr lang="en-US" sz="4450" dirty="0"/>
          </a:p>
        </p:txBody>
      </p:sp>
      <p:sp>
        <p:nvSpPr>
          <p:cNvPr id="5" name="Text 3"/>
          <p:cNvSpPr/>
          <p:nvPr/>
        </p:nvSpPr>
        <p:spPr>
          <a:xfrm>
            <a:off x="857250" y="3731538"/>
            <a:ext cx="4078248" cy="708779"/>
          </a:xfrm>
          <a:prstGeom prst="rect">
            <a:avLst/>
          </a:prstGeom>
          <a:noFill/>
          <a:ln/>
        </p:spPr>
        <p:txBody>
          <a:bodyPr wrap="none" lIns="0" tIns="0" rIns="0" bIns="0" rtlCol="0" anchor="t"/>
          <a:lstStyle/>
          <a:p>
            <a:pPr algn="ctr" indent="0" marL="0">
              <a:lnSpc>
                <a:spcPts val="5550"/>
              </a:lnSpc>
              <a:buNone/>
            </a:pPr>
            <a:r>
              <a:rPr lang="en-US" sz="4450" b="1" dirty="0">
                <a:solidFill>
                  <a:srgbClr val="FFFFFF"/>
                </a:solidFill>
                <a:latin typeface="Microsoft YaHei" pitchFamily="34" charset="0"/>
                <a:ea typeface="Microsoft YaHei" pitchFamily="34" charset="-122"/>
                <a:cs typeface="Microsoft YaHei" pitchFamily="34" charset="-120"/>
              </a:rPr>
              <a:t>目录</a:t>
            </a:r>
            <a:endParaRPr lang="en-US" sz="4450" dirty="0"/>
          </a:p>
        </p:txBody>
      </p:sp>
      <p:sp>
        <p:nvSpPr>
          <p:cNvPr id="6" name="Text 4"/>
          <p:cNvSpPr/>
          <p:nvPr/>
        </p:nvSpPr>
        <p:spPr>
          <a:xfrm>
            <a:off x="857250" y="4667131"/>
            <a:ext cx="4078248" cy="362903"/>
          </a:xfrm>
          <a:prstGeom prst="rect">
            <a:avLst/>
          </a:prstGeom>
          <a:noFill/>
          <a:ln/>
        </p:spPr>
        <p:txBody>
          <a:bodyPr wrap="none" lIns="0" tIns="0" rIns="0" bIns="0" rtlCol="0" anchor="t"/>
          <a:lstStyle/>
          <a:p>
            <a:pPr algn="ctr" indent="0" marL="0">
              <a:lnSpc>
                <a:spcPts val="2850"/>
              </a:lnSpc>
              <a:buNone/>
            </a:pPr>
            <a:r>
              <a:rPr lang="en-US" sz="1750" dirty="0">
                <a:solidFill>
                  <a:srgbClr val="FFFFFF"/>
                </a:solidFill>
                <a:latin typeface="Microsoft YaHei" pitchFamily="34" charset="0"/>
                <a:ea typeface="Microsoft YaHei" pitchFamily="34" charset="-122"/>
                <a:cs typeface="Microsoft YaHei" pitchFamily="34" charset="-120"/>
              </a:rPr>
              <a:t>━━━━━</a:t>
            </a:r>
            <a:endParaRPr lang="en-US" sz="1750" dirty="0"/>
          </a:p>
        </p:txBody>
      </p:sp>
      <p:sp>
        <p:nvSpPr>
          <p:cNvPr id="7" name="Text 5"/>
          <p:cNvSpPr/>
          <p:nvPr/>
        </p:nvSpPr>
        <p:spPr>
          <a:xfrm>
            <a:off x="857250" y="5234107"/>
            <a:ext cx="4078248" cy="580549"/>
          </a:xfrm>
          <a:prstGeom prst="rect">
            <a:avLst/>
          </a:prstGeom>
          <a:noFill/>
          <a:ln/>
        </p:spPr>
        <p:txBody>
          <a:bodyPr wrap="square" lIns="0" tIns="0" rIns="0" bIns="0" rtlCol="0" anchor="t"/>
          <a:lstStyle/>
          <a:p>
            <a:pPr algn="ctr" indent="0" marL="0">
              <a:lnSpc>
                <a:spcPts val="2250"/>
              </a:lnSpc>
              <a:buNone/>
            </a:pPr>
            <a:r>
              <a:rPr lang="en-US" sz="1400" dirty="0">
                <a:solidFill>
                  <a:srgbClr val="FFFFFF"/>
                </a:solidFill>
                <a:latin typeface="Microsoft YaHei" pitchFamily="34" charset="0"/>
                <a:ea typeface="Microsoft YaHei" pitchFamily="34" charset="-122"/>
                <a:cs typeface="Microsoft YaHei" pitchFamily="34" charset="-120"/>
              </a:rPr>
              <a:t>复杂城市作战环境下大规模无人机集群通信保持任务规划研究</a:t>
            </a:r>
            <a:endParaRPr lang="en-US" sz="1400" dirty="0"/>
          </a:p>
        </p:txBody>
      </p:sp>
      <p:pic>
        <p:nvPicPr>
          <p:cNvPr id="8" name="Image 0" descr="preencoded.png">    </p:cNvPr>
          <p:cNvPicPr>
            <a:picLocks noChangeAspect="1"/>
          </p:cNvPicPr>
          <p:nvPr/>
        </p:nvPicPr>
        <p:blipFill>
          <a:blip r:embed="rId1"/>
          <a:stretch>
            <a:fillRect/>
          </a:stretch>
        </p:blipFill>
        <p:spPr>
          <a:xfrm>
            <a:off x="5529501" y="2922032"/>
            <a:ext cx="60960" cy="415290"/>
          </a:xfrm>
          <a:prstGeom prst="rect">
            <a:avLst/>
          </a:prstGeom>
        </p:spPr>
      </p:pic>
      <p:sp>
        <p:nvSpPr>
          <p:cNvPr id="9" name="Text 6"/>
          <p:cNvSpPr/>
          <p:nvPr/>
        </p:nvSpPr>
        <p:spPr>
          <a:xfrm>
            <a:off x="5847755" y="295251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01 研究背景与动机</a:t>
            </a:r>
            <a:endParaRPr lang="en-US" sz="2200" dirty="0"/>
          </a:p>
        </p:txBody>
      </p:sp>
      <p:pic>
        <p:nvPicPr>
          <p:cNvPr id="10" name="Image 1" descr="preencoded.png">    </p:cNvPr>
          <p:cNvPicPr>
            <a:picLocks noChangeAspect="1"/>
          </p:cNvPicPr>
          <p:nvPr/>
        </p:nvPicPr>
        <p:blipFill>
          <a:blip r:embed="rId2"/>
          <a:stretch>
            <a:fillRect/>
          </a:stretch>
        </p:blipFill>
        <p:spPr>
          <a:xfrm>
            <a:off x="9813250" y="2922032"/>
            <a:ext cx="60960" cy="415290"/>
          </a:xfrm>
          <a:prstGeom prst="rect">
            <a:avLst/>
          </a:prstGeom>
        </p:spPr>
      </p:pic>
      <p:sp>
        <p:nvSpPr>
          <p:cNvPr id="11" name="Text 7"/>
          <p:cNvSpPr/>
          <p:nvPr/>
        </p:nvSpPr>
        <p:spPr>
          <a:xfrm>
            <a:off x="10131504" y="295251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02 国内外研究现状</a:t>
            </a:r>
            <a:endParaRPr lang="en-US" sz="2200" dirty="0"/>
          </a:p>
        </p:txBody>
      </p:sp>
      <p:pic>
        <p:nvPicPr>
          <p:cNvPr id="12" name="Image 2" descr="preencoded.png">    </p:cNvPr>
          <p:cNvPicPr>
            <a:picLocks noChangeAspect="1"/>
          </p:cNvPicPr>
          <p:nvPr/>
        </p:nvPicPr>
        <p:blipFill>
          <a:blip r:embed="rId3"/>
          <a:stretch>
            <a:fillRect/>
          </a:stretch>
        </p:blipFill>
        <p:spPr>
          <a:xfrm>
            <a:off x="5529501" y="3729990"/>
            <a:ext cx="60960" cy="769620"/>
          </a:xfrm>
          <a:prstGeom prst="rect">
            <a:avLst/>
          </a:prstGeom>
        </p:spPr>
      </p:pic>
      <p:sp>
        <p:nvSpPr>
          <p:cNvPr id="13" name="Text 8"/>
          <p:cNvSpPr/>
          <p:nvPr/>
        </p:nvSpPr>
        <p:spPr>
          <a:xfrm>
            <a:off x="5847755" y="3760470"/>
            <a:ext cx="3712488" cy="708660"/>
          </a:xfrm>
          <a:prstGeom prst="rect">
            <a:avLst/>
          </a:prstGeom>
          <a:noFill/>
          <a:ln/>
        </p:spPr>
        <p:txBody>
          <a:bodyPr wrap="squar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03 C-RRT*-APF 通信保持路径规划算法</a:t>
            </a:r>
            <a:endParaRPr lang="en-US" sz="2200" dirty="0"/>
          </a:p>
        </p:txBody>
      </p:sp>
      <p:pic>
        <p:nvPicPr>
          <p:cNvPr id="14" name="Image 3" descr="preencoded.png">    </p:cNvPr>
          <p:cNvPicPr>
            <a:picLocks noChangeAspect="1"/>
          </p:cNvPicPr>
          <p:nvPr/>
        </p:nvPicPr>
        <p:blipFill>
          <a:blip r:embed="rId4"/>
          <a:stretch>
            <a:fillRect/>
          </a:stretch>
        </p:blipFill>
        <p:spPr>
          <a:xfrm>
            <a:off x="9813250" y="3729990"/>
            <a:ext cx="60960" cy="769620"/>
          </a:xfrm>
          <a:prstGeom prst="rect">
            <a:avLst/>
          </a:prstGeom>
        </p:spPr>
      </p:pic>
      <p:sp>
        <p:nvSpPr>
          <p:cNvPr id="15" name="Text 9"/>
          <p:cNvSpPr/>
          <p:nvPr/>
        </p:nvSpPr>
        <p:spPr>
          <a:xfrm>
            <a:off x="10131504" y="3760470"/>
            <a:ext cx="3712607" cy="708660"/>
          </a:xfrm>
          <a:prstGeom prst="rect">
            <a:avLst/>
          </a:prstGeom>
          <a:noFill/>
          <a:ln/>
        </p:spPr>
        <p:txBody>
          <a:bodyPr wrap="squar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04 MPG-NSGA-II 通信保持区域覆盖算法</a:t>
            </a:r>
            <a:endParaRPr lang="en-US" sz="2200" dirty="0"/>
          </a:p>
        </p:txBody>
      </p:sp>
      <p:pic>
        <p:nvPicPr>
          <p:cNvPr id="16" name="Image 4" descr="preencoded.png">    </p:cNvPr>
          <p:cNvPicPr>
            <a:picLocks noChangeAspect="1"/>
          </p:cNvPicPr>
          <p:nvPr/>
        </p:nvPicPr>
        <p:blipFill>
          <a:blip r:embed="rId5"/>
          <a:stretch>
            <a:fillRect/>
          </a:stretch>
        </p:blipFill>
        <p:spPr>
          <a:xfrm>
            <a:off x="5529501" y="4892278"/>
            <a:ext cx="60960" cy="415290"/>
          </a:xfrm>
          <a:prstGeom prst="rect">
            <a:avLst/>
          </a:prstGeom>
        </p:spPr>
      </p:pic>
      <p:sp>
        <p:nvSpPr>
          <p:cNvPr id="17" name="Text 10"/>
          <p:cNvSpPr/>
          <p:nvPr/>
        </p:nvSpPr>
        <p:spPr>
          <a:xfrm>
            <a:off x="5847755" y="492275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05 总结与展望</a:t>
            </a:r>
            <a:endParaRPr lang="en-US" sz="2200" dirty="0"/>
          </a:p>
        </p:txBody>
      </p:sp>
      <p:pic>
        <p:nvPicPr>
          <p:cNvPr id="18" name="Image 5" descr="preencoded.png">    </p:cNvPr>
          <p:cNvPicPr>
            <a:picLocks noChangeAspect="1"/>
          </p:cNvPicPr>
          <p:nvPr/>
        </p:nvPicPr>
        <p:blipFill>
          <a:blip r:embed="rId6"/>
          <a:stretch>
            <a:fillRect/>
          </a:stretch>
        </p:blipFill>
        <p:spPr>
          <a:xfrm>
            <a:off x="9813250" y="4892278"/>
            <a:ext cx="60960" cy="415290"/>
          </a:xfrm>
          <a:prstGeom prst="rect">
            <a:avLst/>
          </a:prstGeom>
        </p:spPr>
      </p:pic>
      <p:sp>
        <p:nvSpPr>
          <p:cNvPr id="19" name="Text 11"/>
          <p:cNvSpPr/>
          <p:nvPr/>
        </p:nvSpPr>
        <p:spPr>
          <a:xfrm>
            <a:off x="10131504" y="492275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06 致谢</a:t>
            </a:r>
            <a:endParaRPr lang="en-US" sz="2200" dirty="0"/>
          </a:p>
        </p:txBody>
      </p:sp>
      <p:pic>
        <p:nvPicPr>
          <p:cNvPr id="20" name="Image 6" descr="preencoded.png">    </p:cNvPr>
          <p:cNvPicPr>
            <a:picLocks noChangeAspect="1"/>
          </p:cNvPicPr>
          <p:nvPr/>
        </p:nvPicPr>
        <p:blipFill>
          <a:blip r:embed="rId7"/>
          <a:stretch>
            <a:fillRect/>
          </a:stretch>
        </p:blipFill>
        <p:spPr>
          <a:xfrm>
            <a:off x="136088" y="208955"/>
            <a:ext cx="1351836" cy="307896"/>
          </a:xfrm>
          <a:prstGeom prst="rect">
            <a:avLst/>
          </a:prstGeom>
        </p:spPr>
      </p:pic>
      <p:sp>
        <p:nvSpPr>
          <p:cNvPr id="21" name="Text 12"/>
          <p:cNvSpPr/>
          <p:nvPr/>
        </p:nvSpPr>
        <p:spPr>
          <a:xfrm>
            <a:off x="7206734" y="7739658"/>
            <a:ext cx="216932" cy="254079"/>
          </a:xfrm>
          <a:prstGeom prst="rect">
            <a:avLst/>
          </a:prstGeom>
          <a:noFill/>
          <a:ln/>
        </p:spPr>
        <p:txBody>
          <a:bodyPr wrap="none" lIns="0" tIns="0" rIns="0" bIns="0" rtlCol="0" anchor="t"/>
          <a:lstStyle/>
          <a:p>
            <a:pPr algn="ctr" indent="0" marL="0">
              <a:lnSpc>
                <a:spcPts val="2000"/>
              </a:lnSpc>
              <a:buNone/>
            </a:pPr>
            <a:r>
              <a:rPr lang="en-US" sz="1250" dirty="0">
                <a:solidFill>
                  <a:srgbClr val="15213F"/>
                </a:solidFill>
                <a:latin typeface="Microsoft YaHei" pitchFamily="34" charset="0"/>
                <a:ea typeface="Microsoft YaHei" pitchFamily="34" charset="-122"/>
                <a:cs typeface="Microsoft YaHei" pitchFamily="34" charset="-120"/>
              </a:rPr>
              <a:t>2</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56642" y="765929"/>
            <a:ext cx="1120497" cy="229910"/>
          </a:xfrm>
          <a:prstGeom prst="roundRect">
            <a:avLst>
              <a:gd name="adj" fmla="val 3977"/>
            </a:avLst>
          </a:prstGeom>
          <a:solidFill>
            <a:srgbClr val="D7DFF4"/>
          </a:solidFill>
          <a:ln/>
        </p:spPr>
      </p:sp>
      <p:sp>
        <p:nvSpPr>
          <p:cNvPr id="3" name="Text 1"/>
          <p:cNvSpPr/>
          <p:nvPr/>
        </p:nvSpPr>
        <p:spPr>
          <a:xfrm>
            <a:off x="840938" y="808077"/>
            <a:ext cx="951905" cy="145613"/>
          </a:xfrm>
          <a:prstGeom prst="rect">
            <a:avLst/>
          </a:prstGeom>
          <a:noFill/>
          <a:ln/>
        </p:spPr>
        <p:txBody>
          <a:bodyPr wrap="none" lIns="0" tIns="0" rIns="0" bIns="0" rtlCol="0" anchor="t"/>
          <a:lstStyle/>
          <a:p>
            <a:pPr algn="l" indent="0" marL="0">
              <a:lnSpc>
                <a:spcPts val="1100"/>
              </a:lnSpc>
              <a:buNone/>
            </a:pPr>
            <a:r>
              <a:rPr lang="en-US" sz="850" dirty="0">
                <a:solidFill>
                  <a:srgbClr val="15213F"/>
                </a:solidFill>
                <a:latin typeface="Microsoft YaHei" pitchFamily="34" charset="0"/>
                <a:ea typeface="Microsoft YaHei" pitchFamily="34" charset="-122"/>
                <a:cs typeface="Microsoft YaHei" pitchFamily="34" charset="-120"/>
              </a:rPr>
              <a:t>01 研究背景与动机</a:t>
            </a:r>
            <a:endParaRPr lang="en-US" sz="850" dirty="0"/>
          </a:p>
        </p:txBody>
      </p:sp>
      <p:sp>
        <p:nvSpPr>
          <p:cNvPr id="4" name="Text 2"/>
          <p:cNvSpPr/>
          <p:nvPr/>
        </p:nvSpPr>
        <p:spPr>
          <a:xfrm>
            <a:off x="756642" y="1030605"/>
            <a:ext cx="5268516" cy="439102"/>
          </a:xfrm>
          <a:prstGeom prst="rect">
            <a:avLst/>
          </a:prstGeom>
          <a:noFill/>
          <a:ln/>
        </p:spPr>
        <p:txBody>
          <a:bodyPr wrap="none" lIns="0" tIns="0" rIns="0" bIns="0" rtlCol="0" anchor="t"/>
          <a:lstStyle/>
          <a:p>
            <a:pPr algn="l" indent="0" marL="0">
              <a:lnSpc>
                <a:spcPts val="3450"/>
              </a:lnSpc>
              <a:buNone/>
            </a:pPr>
            <a:r>
              <a:rPr lang="en-US" sz="2750" dirty="0">
                <a:solidFill>
                  <a:srgbClr val="3257B8"/>
                </a:solidFill>
                <a:latin typeface="Microsoft YaHei" pitchFamily="34" charset="0"/>
                <a:ea typeface="Microsoft YaHei" pitchFamily="34" charset="-122"/>
                <a:cs typeface="Microsoft YaHei" pitchFamily="34" charset="-120"/>
              </a:rPr>
              <a:t>城市作战中的无人机集群通信挑战</a:t>
            </a:r>
            <a:endParaRPr lang="en-US" sz="2750" dirty="0"/>
          </a:p>
        </p:txBody>
      </p:sp>
      <p:sp>
        <p:nvSpPr>
          <p:cNvPr id="5" name="Text 3"/>
          <p:cNvSpPr/>
          <p:nvPr/>
        </p:nvSpPr>
        <p:spPr>
          <a:xfrm>
            <a:off x="756642" y="1687235"/>
            <a:ext cx="1756529" cy="219432"/>
          </a:xfrm>
          <a:prstGeom prst="rect">
            <a:avLst/>
          </a:prstGeom>
          <a:noFill/>
          <a:ln/>
        </p:spPr>
        <p:txBody>
          <a:bodyPr wrap="none" lIns="0" tIns="0" rIns="0" bIns="0" rtlCol="0" anchor="t"/>
          <a:lstStyle/>
          <a:p>
            <a:pPr algn="l" indent="0" marL="0">
              <a:lnSpc>
                <a:spcPts val="1700"/>
              </a:lnSpc>
              <a:buNone/>
            </a:pPr>
            <a:r>
              <a:rPr lang="en-US" sz="1350" b="1" dirty="0">
                <a:solidFill>
                  <a:srgbClr val="3257B8"/>
                </a:solidFill>
                <a:latin typeface="Microsoft YaHei" pitchFamily="34" charset="0"/>
                <a:ea typeface="Microsoft YaHei" pitchFamily="34" charset="-122"/>
                <a:cs typeface="Microsoft YaHei" pitchFamily="34" charset="-120"/>
              </a:rPr>
              <a:t>城市作战场景特点</a:t>
            </a:r>
            <a:endParaRPr lang="en-US" sz="1350" dirty="0"/>
          </a:p>
        </p:txBody>
      </p:sp>
      <p:pic>
        <p:nvPicPr>
          <p:cNvPr id="6" name="Image 0" descr="preencoded.png">    </p:cNvPr>
          <p:cNvPicPr>
            <a:picLocks noChangeAspect="1"/>
          </p:cNvPicPr>
          <p:nvPr/>
        </p:nvPicPr>
        <p:blipFill>
          <a:blip r:embed="rId1"/>
          <a:stretch>
            <a:fillRect/>
          </a:stretch>
        </p:blipFill>
        <p:spPr>
          <a:xfrm>
            <a:off x="756642" y="2004536"/>
            <a:ext cx="4754285" cy="2077522"/>
          </a:xfrm>
          <a:prstGeom prst="rect">
            <a:avLst/>
          </a:prstGeom>
        </p:spPr>
      </p:pic>
      <p:sp>
        <p:nvSpPr>
          <p:cNvPr id="7" name="Text 4"/>
          <p:cNvSpPr/>
          <p:nvPr/>
        </p:nvSpPr>
        <p:spPr>
          <a:xfrm>
            <a:off x="756642" y="4179927"/>
            <a:ext cx="7867769" cy="394216"/>
          </a:xfrm>
          <a:prstGeom prst="rect">
            <a:avLst/>
          </a:prstGeom>
          <a:noFill/>
          <a:ln/>
        </p:spPr>
        <p:txBody>
          <a:bodyPr wrap="square" lIns="0" tIns="0" rIns="0" bIns="0" rtlCol="0" anchor="t"/>
          <a:lstStyle/>
          <a:p>
            <a:pPr algn="l" marL="342900" indent="-342900">
              <a:lnSpc>
                <a:spcPts val="1400"/>
              </a:lnSpc>
              <a:buSzPct val="100000"/>
              <a:buChar char="•"/>
            </a:pPr>
            <a:r>
              <a:rPr lang="en-US" sz="1100" dirty="0">
                <a:solidFill>
                  <a:srgbClr val="15213F"/>
                </a:solidFill>
                <a:latin typeface="Microsoft YaHei" pitchFamily="34" charset="0"/>
                <a:ea typeface="Microsoft YaHei" pitchFamily="34" charset="-122"/>
                <a:cs typeface="Microsoft YaHei" pitchFamily="34" charset="-120"/>
              </a:rPr>
              <a:t>任务类型：路径规划、区域侦察、协同打击</a:t>
            </a:r>
            <a:endParaRPr lang="en-US" sz="1100" dirty="0"/>
          </a:p>
          <a:p>
            <a:pPr algn="l" marL="342900" indent="-342900">
              <a:lnSpc>
                <a:spcPts val="1400"/>
              </a:lnSpc>
              <a:buSzPct val="100000"/>
              <a:buChar char="•"/>
            </a:pPr>
            <a:r>
              <a:rPr lang="en-US" sz="1100" dirty="0">
                <a:solidFill>
                  <a:srgbClr val="15213F"/>
                </a:solidFill>
                <a:latin typeface="Microsoft YaHei" pitchFamily="34" charset="0"/>
                <a:ea typeface="Microsoft YaHei" pitchFamily="34" charset="-122"/>
                <a:cs typeface="Microsoft YaHei" pitchFamily="34" charset="-120"/>
              </a:rPr>
              <a:t>场景特点：建筑物密集、空间尺度受限、通信遮挡与多径效应显著以及敌对干扰信号</a:t>
            </a:r>
            <a:endParaRPr lang="en-US" sz="1100" dirty="0"/>
          </a:p>
        </p:txBody>
      </p:sp>
      <p:sp>
        <p:nvSpPr>
          <p:cNvPr id="8" name="Text 5"/>
          <p:cNvSpPr/>
          <p:nvPr/>
        </p:nvSpPr>
        <p:spPr>
          <a:xfrm>
            <a:off x="756642" y="4661178"/>
            <a:ext cx="1756529" cy="219432"/>
          </a:xfrm>
          <a:prstGeom prst="rect">
            <a:avLst/>
          </a:prstGeom>
          <a:noFill/>
          <a:ln/>
        </p:spPr>
        <p:txBody>
          <a:bodyPr wrap="none" lIns="0" tIns="0" rIns="0" bIns="0" rtlCol="0" anchor="t"/>
          <a:lstStyle/>
          <a:p>
            <a:pPr algn="l" indent="0" marL="0">
              <a:lnSpc>
                <a:spcPts val="1700"/>
              </a:lnSpc>
              <a:buNone/>
            </a:pPr>
            <a:r>
              <a:rPr lang="en-US" sz="1350" b="1" dirty="0">
                <a:solidFill>
                  <a:srgbClr val="1A3A8F"/>
                </a:solidFill>
                <a:latin typeface="Microsoft YaHei" pitchFamily="34" charset="0"/>
                <a:ea typeface="Microsoft YaHei" pitchFamily="34" charset="-122"/>
                <a:cs typeface="Microsoft YaHei" pitchFamily="34" charset="-120"/>
              </a:rPr>
              <a:t>关键挑战</a:t>
            </a:r>
            <a:endParaRPr lang="en-US" sz="1350" dirty="0"/>
          </a:p>
        </p:txBody>
      </p:sp>
      <p:sp>
        <p:nvSpPr>
          <p:cNvPr id="9" name="Shape 6"/>
          <p:cNvSpPr/>
          <p:nvPr/>
        </p:nvSpPr>
        <p:spPr>
          <a:xfrm>
            <a:off x="756642" y="4978479"/>
            <a:ext cx="7867769" cy="538996"/>
          </a:xfrm>
          <a:prstGeom prst="roundRect">
            <a:avLst>
              <a:gd name="adj" fmla="val 1696"/>
            </a:avLst>
          </a:prstGeom>
          <a:solidFill>
            <a:srgbClr val="FBFCFE">
              <a:alpha val="95000"/>
            </a:srgbClr>
          </a:solidFill>
          <a:ln w="15240">
            <a:solidFill>
              <a:srgbClr val="CFD2D8"/>
            </a:solidFill>
            <a:prstDash val="solid"/>
          </a:ln>
        </p:spPr>
      </p:sp>
      <p:sp>
        <p:nvSpPr>
          <p:cNvPr id="10" name="Text 7"/>
          <p:cNvSpPr/>
          <p:nvPr/>
        </p:nvSpPr>
        <p:spPr>
          <a:xfrm>
            <a:off x="912376" y="5134213"/>
            <a:ext cx="7556302" cy="227528"/>
          </a:xfrm>
          <a:prstGeom prst="rect">
            <a:avLst/>
          </a:prstGeom>
          <a:noFill/>
          <a:ln/>
        </p:spPr>
        <p:txBody>
          <a:bodyPr wrap="none" lIns="0" tIns="0" rIns="0" bIns="0" rtlCol="0" anchor="t"/>
          <a:lstStyle/>
          <a:p>
            <a:pPr algn="l" indent="0" marL="0">
              <a:lnSpc>
                <a:spcPts val="1750"/>
              </a:lnSpc>
              <a:buNone/>
            </a:pPr>
            <a:r>
              <a:rPr lang="en-US" sz="1350" dirty="0">
                <a:solidFill>
                  <a:srgbClr val="15213F"/>
                </a:solidFill>
                <a:latin typeface="Microsoft YaHei" pitchFamily="34" charset="0"/>
                <a:ea typeface="Microsoft YaHei" pitchFamily="34" charset="-122"/>
                <a:cs typeface="Microsoft YaHei" pitchFamily="34" charset="-120"/>
              </a:rPr>
              <a:t>高密度建筑群造成通信信号非视距衰减</a:t>
            </a:r>
            <a:endParaRPr lang="en-US" sz="1350" dirty="0"/>
          </a:p>
        </p:txBody>
      </p:sp>
      <p:sp>
        <p:nvSpPr>
          <p:cNvPr id="11" name="Shape 8"/>
          <p:cNvSpPr/>
          <p:nvPr/>
        </p:nvSpPr>
        <p:spPr>
          <a:xfrm>
            <a:off x="756642" y="5604510"/>
            <a:ext cx="7867769" cy="538996"/>
          </a:xfrm>
          <a:prstGeom prst="roundRect">
            <a:avLst>
              <a:gd name="adj" fmla="val 1696"/>
            </a:avLst>
          </a:prstGeom>
          <a:solidFill>
            <a:srgbClr val="FBFCFE">
              <a:alpha val="95000"/>
            </a:srgbClr>
          </a:solidFill>
          <a:ln w="15240">
            <a:solidFill>
              <a:srgbClr val="CFD2D8"/>
            </a:solidFill>
            <a:prstDash val="solid"/>
          </a:ln>
        </p:spPr>
      </p:sp>
      <p:sp>
        <p:nvSpPr>
          <p:cNvPr id="12" name="Text 9"/>
          <p:cNvSpPr/>
          <p:nvPr/>
        </p:nvSpPr>
        <p:spPr>
          <a:xfrm>
            <a:off x="912376" y="5760244"/>
            <a:ext cx="7556302" cy="227528"/>
          </a:xfrm>
          <a:prstGeom prst="rect">
            <a:avLst/>
          </a:prstGeom>
          <a:noFill/>
          <a:ln/>
        </p:spPr>
        <p:txBody>
          <a:bodyPr wrap="none" lIns="0" tIns="0" rIns="0" bIns="0" rtlCol="0" anchor="t"/>
          <a:lstStyle/>
          <a:p>
            <a:pPr algn="l" indent="0" marL="0">
              <a:lnSpc>
                <a:spcPts val="1750"/>
              </a:lnSpc>
              <a:buNone/>
            </a:pPr>
            <a:r>
              <a:rPr lang="en-US" sz="1350" dirty="0">
                <a:solidFill>
                  <a:srgbClr val="15213F"/>
                </a:solidFill>
                <a:latin typeface="Microsoft YaHei" pitchFamily="34" charset="0"/>
                <a:ea typeface="Microsoft YaHei" pitchFamily="34" charset="-122"/>
                <a:cs typeface="Microsoft YaHei" pitchFamily="34" charset="-120"/>
              </a:rPr>
              <a:t>敌对信号干扰使通信链路受影响</a:t>
            </a:r>
            <a:endParaRPr lang="en-US" sz="1350" dirty="0"/>
          </a:p>
        </p:txBody>
      </p:sp>
      <p:sp>
        <p:nvSpPr>
          <p:cNvPr id="13" name="Shape 10"/>
          <p:cNvSpPr/>
          <p:nvPr/>
        </p:nvSpPr>
        <p:spPr>
          <a:xfrm>
            <a:off x="756642" y="6230541"/>
            <a:ext cx="7867769" cy="538996"/>
          </a:xfrm>
          <a:prstGeom prst="roundRect">
            <a:avLst>
              <a:gd name="adj" fmla="val 1696"/>
            </a:avLst>
          </a:prstGeom>
          <a:solidFill>
            <a:srgbClr val="FBFCFE">
              <a:alpha val="95000"/>
            </a:srgbClr>
          </a:solidFill>
          <a:ln w="15240">
            <a:solidFill>
              <a:srgbClr val="CFD2D8"/>
            </a:solidFill>
            <a:prstDash val="solid"/>
          </a:ln>
        </p:spPr>
      </p:sp>
      <p:sp>
        <p:nvSpPr>
          <p:cNvPr id="14" name="Text 11"/>
          <p:cNvSpPr/>
          <p:nvPr/>
        </p:nvSpPr>
        <p:spPr>
          <a:xfrm>
            <a:off x="912376" y="6386274"/>
            <a:ext cx="7556302" cy="227528"/>
          </a:xfrm>
          <a:prstGeom prst="rect">
            <a:avLst/>
          </a:prstGeom>
          <a:noFill/>
          <a:ln/>
        </p:spPr>
        <p:txBody>
          <a:bodyPr wrap="none" lIns="0" tIns="0" rIns="0" bIns="0" rtlCol="0" anchor="t"/>
          <a:lstStyle/>
          <a:p>
            <a:pPr algn="l" indent="0" marL="0">
              <a:lnSpc>
                <a:spcPts val="1750"/>
              </a:lnSpc>
              <a:buNone/>
            </a:pPr>
            <a:r>
              <a:rPr lang="en-US" sz="1350" dirty="0">
                <a:solidFill>
                  <a:srgbClr val="15213F"/>
                </a:solidFill>
                <a:latin typeface="Microsoft YaHei" pitchFamily="34" charset="0"/>
                <a:ea typeface="Microsoft YaHei" pitchFamily="34" charset="-122"/>
                <a:cs typeface="Microsoft YaHei" pitchFamily="34" charset="-120"/>
              </a:rPr>
              <a:t>空间受限使无人机机动与感知不确定性增强</a:t>
            </a:r>
            <a:endParaRPr lang="en-US" sz="1350" dirty="0"/>
          </a:p>
        </p:txBody>
      </p:sp>
      <p:sp>
        <p:nvSpPr>
          <p:cNvPr id="15" name="Text 12"/>
          <p:cNvSpPr/>
          <p:nvPr/>
        </p:nvSpPr>
        <p:spPr>
          <a:xfrm>
            <a:off x="8974693" y="1687235"/>
            <a:ext cx="1756529" cy="219432"/>
          </a:xfrm>
          <a:prstGeom prst="rect">
            <a:avLst/>
          </a:prstGeom>
          <a:noFill/>
          <a:ln/>
        </p:spPr>
        <p:txBody>
          <a:bodyPr wrap="none" lIns="0" tIns="0" rIns="0" bIns="0" rtlCol="0" anchor="t"/>
          <a:lstStyle/>
          <a:p>
            <a:pPr algn="l" indent="0" marL="0">
              <a:lnSpc>
                <a:spcPts val="1700"/>
              </a:lnSpc>
              <a:buNone/>
            </a:pPr>
            <a:r>
              <a:rPr lang="en-US" sz="1350" b="1" dirty="0">
                <a:solidFill>
                  <a:srgbClr val="3257B8"/>
                </a:solidFill>
                <a:latin typeface="Microsoft YaHei" pitchFamily="34" charset="0"/>
                <a:ea typeface="Microsoft YaHei" pitchFamily="34" charset="-122"/>
                <a:cs typeface="Microsoft YaHei" pitchFamily="34" charset="-120"/>
              </a:rPr>
              <a:t>智能蜂群组网需求</a:t>
            </a:r>
            <a:endParaRPr lang="en-US" sz="1350" dirty="0"/>
          </a:p>
        </p:txBody>
      </p:sp>
      <p:pic>
        <p:nvPicPr>
          <p:cNvPr id="16" name="Image 1" descr="preencoded.png">    </p:cNvPr>
          <p:cNvPicPr>
            <a:picLocks noChangeAspect="1"/>
          </p:cNvPicPr>
          <p:nvPr/>
        </p:nvPicPr>
        <p:blipFill>
          <a:blip r:embed="rId2"/>
          <a:stretch>
            <a:fillRect/>
          </a:stretch>
        </p:blipFill>
        <p:spPr>
          <a:xfrm>
            <a:off x="8974693" y="2004536"/>
            <a:ext cx="3015139" cy="3241238"/>
          </a:xfrm>
          <a:prstGeom prst="rect">
            <a:avLst/>
          </a:prstGeom>
        </p:spPr>
      </p:pic>
      <p:sp>
        <p:nvSpPr>
          <p:cNvPr id="17" name="Text 13"/>
          <p:cNvSpPr/>
          <p:nvPr/>
        </p:nvSpPr>
        <p:spPr>
          <a:xfrm>
            <a:off x="8974693" y="5343644"/>
            <a:ext cx="4906566" cy="606504"/>
          </a:xfrm>
          <a:prstGeom prst="rect">
            <a:avLst/>
          </a:prstGeom>
          <a:noFill/>
          <a:ln/>
        </p:spPr>
        <p:txBody>
          <a:bodyPr wrap="square" lIns="0" tIns="0" rIns="0" bIns="0" rtlCol="0" anchor="t"/>
          <a:lstStyle/>
          <a:p>
            <a:pPr algn="l" marL="342900" indent="-342900">
              <a:lnSpc>
                <a:spcPts val="1400"/>
              </a:lnSpc>
              <a:buSzPct val="100000"/>
              <a:buChar char="•"/>
            </a:pPr>
            <a:r>
              <a:rPr lang="en-US" sz="1100" dirty="0">
                <a:solidFill>
                  <a:srgbClr val="15213F"/>
                </a:solidFill>
                <a:latin typeface="Microsoft YaHei" pitchFamily="34" charset="0"/>
                <a:ea typeface="Microsoft YaHei" pitchFamily="34" charset="-122"/>
                <a:cs typeface="Microsoft YaHei" pitchFamily="34" charset="-120"/>
              </a:rPr>
              <a:t>无人机集群智能协同依赖实时稳定的通信网络</a:t>
            </a:r>
            <a:endParaRPr lang="en-US" sz="1100" dirty="0"/>
          </a:p>
          <a:p>
            <a:pPr algn="l" marL="342900" indent="-342900">
              <a:lnSpc>
                <a:spcPts val="1400"/>
              </a:lnSpc>
              <a:buSzPct val="100000"/>
              <a:buChar char="•"/>
            </a:pPr>
            <a:r>
              <a:rPr lang="en-US" sz="1100" dirty="0">
                <a:solidFill>
                  <a:srgbClr val="15213F"/>
                </a:solidFill>
                <a:latin typeface="Microsoft YaHei" pitchFamily="34" charset="0"/>
                <a:ea typeface="Microsoft YaHei" pitchFamily="34" charset="-122"/>
                <a:cs typeface="Microsoft YaHei" pitchFamily="34" charset="-120"/>
              </a:rPr>
              <a:t>KDN等智能组网技术使通信成为集群智能交互的核心纽带</a:t>
            </a:r>
            <a:endParaRPr lang="en-US" sz="1100" dirty="0"/>
          </a:p>
          <a:p>
            <a:pPr algn="l" marL="342900" indent="-342900">
              <a:lnSpc>
                <a:spcPts val="1400"/>
              </a:lnSpc>
              <a:buSzPct val="100000"/>
              <a:buChar char="•"/>
            </a:pPr>
            <a:r>
              <a:rPr lang="en-US" sz="1100" dirty="0">
                <a:solidFill>
                  <a:srgbClr val="15213F"/>
                </a:solidFill>
                <a:latin typeface="Microsoft YaHei" pitchFamily="34" charset="0"/>
                <a:ea typeface="Microsoft YaHei" pitchFamily="34" charset="-122"/>
                <a:cs typeface="Microsoft YaHei" pitchFamily="34" charset="-120"/>
              </a:rPr>
              <a:t>通信保持是协同作战任务的必要要求</a:t>
            </a:r>
            <a:endParaRPr lang="en-US" sz="1100" dirty="0"/>
          </a:p>
        </p:txBody>
      </p:sp>
      <p:sp>
        <p:nvSpPr>
          <p:cNvPr id="18" name="Text 14"/>
          <p:cNvSpPr/>
          <p:nvPr/>
        </p:nvSpPr>
        <p:spPr>
          <a:xfrm>
            <a:off x="8974693" y="6028492"/>
            <a:ext cx="4906566" cy="181928"/>
          </a:xfrm>
          <a:prstGeom prst="rect">
            <a:avLst/>
          </a:prstGeom>
          <a:noFill/>
          <a:ln/>
        </p:spPr>
        <p:txBody>
          <a:bodyPr wrap="none" lIns="0" tIns="0" rIns="0" bIns="0" rtlCol="0" anchor="t"/>
          <a:lstStyle/>
          <a:p>
            <a:pPr algn="l" indent="0" marL="0">
              <a:lnSpc>
                <a:spcPts val="1400"/>
              </a:lnSpc>
              <a:buNone/>
            </a:pPr>
            <a:endParaRPr lang="en-US" sz="1100" dirty="0"/>
          </a:p>
        </p:txBody>
      </p:sp>
      <p:sp>
        <p:nvSpPr>
          <p:cNvPr id="19" name="Shape 15"/>
          <p:cNvSpPr/>
          <p:nvPr/>
        </p:nvSpPr>
        <p:spPr>
          <a:xfrm>
            <a:off x="756642" y="6965275"/>
            <a:ext cx="13117116" cy="498277"/>
          </a:xfrm>
          <a:prstGeom prst="roundRect">
            <a:avLst>
              <a:gd name="adj" fmla="val 1835"/>
            </a:avLst>
          </a:prstGeom>
          <a:solidFill>
            <a:srgbClr val="B6D6FC"/>
          </a:solidFill>
          <a:ln/>
        </p:spPr>
      </p:sp>
      <p:pic>
        <p:nvPicPr>
          <p:cNvPr id="20" name="Image 2" descr="preencoded.png">    </p:cNvPr>
          <p:cNvPicPr>
            <a:picLocks noChangeAspect="1"/>
          </p:cNvPicPr>
          <p:nvPr/>
        </p:nvPicPr>
        <p:blipFill>
          <a:blip r:embed="rId3"/>
          <a:stretch>
            <a:fillRect/>
          </a:stretch>
        </p:blipFill>
        <p:spPr>
          <a:xfrm>
            <a:off x="897136" y="7108984"/>
            <a:ext cx="219551" cy="175617"/>
          </a:xfrm>
          <a:prstGeom prst="rect">
            <a:avLst/>
          </a:prstGeom>
        </p:spPr>
      </p:pic>
      <p:sp>
        <p:nvSpPr>
          <p:cNvPr id="21" name="Text 16"/>
          <p:cNvSpPr/>
          <p:nvPr/>
        </p:nvSpPr>
        <p:spPr>
          <a:xfrm>
            <a:off x="1257181" y="7087433"/>
            <a:ext cx="12476083" cy="227528"/>
          </a:xfrm>
          <a:prstGeom prst="rect">
            <a:avLst/>
          </a:prstGeom>
          <a:noFill/>
          <a:ln/>
        </p:spPr>
        <p:txBody>
          <a:bodyPr wrap="none" lIns="0" tIns="0" rIns="0" bIns="0" rtlCol="0" anchor="t"/>
          <a:lstStyle/>
          <a:p>
            <a:pPr algn="ctr" indent="0" marL="0">
              <a:lnSpc>
                <a:spcPts val="1750"/>
              </a:lnSpc>
              <a:buNone/>
            </a:pPr>
            <a:r>
              <a:rPr lang="en-US" sz="1350" dirty="0">
                <a:solidFill>
                  <a:srgbClr val="000000"/>
                </a:solidFill>
                <a:latin typeface="Microsoft YaHei" pitchFamily="34" charset="0"/>
                <a:ea typeface="Microsoft YaHei" pitchFamily="34" charset="-122"/>
                <a:cs typeface="Microsoft YaHei" pitchFamily="34" charset="-120"/>
              </a:rPr>
              <a:t>本文针对上述需求与挑战，在城市作战场景下分别研究通信保持路径规划与区域覆盖部署两个核心作战任务，以满足智能无人机集群组网的通信需求。</a:t>
            </a:r>
            <a:endParaRPr lang="en-US" sz="1350" dirty="0"/>
          </a:p>
        </p:txBody>
      </p:sp>
      <p:pic>
        <p:nvPicPr>
          <p:cNvPr id="22" name="Image 3" descr="preencoded.png">    </p:cNvPr>
          <p:cNvPicPr>
            <a:picLocks noChangeAspect="1"/>
          </p:cNvPicPr>
          <p:nvPr/>
        </p:nvPicPr>
        <p:blipFill>
          <a:blip r:embed="rId4"/>
          <a:stretch>
            <a:fillRect/>
          </a:stretch>
        </p:blipFill>
        <p:spPr>
          <a:xfrm>
            <a:off x="129659" y="199073"/>
            <a:ext cx="1288733" cy="293489"/>
          </a:xfrm>
          <a:prstGeom prst="rect">
            <a:avLst/>
          </a:prstGeom>
        </p:spPr>
      </p:pic>
      <p:sp>
        <p:nvSpPr>
          <p:cNvPr id="23" name="Text 17"/>
          <p:cNvSpPr/>
          <p:nvPr/>
        </p:nvSpPr>
        <p:spPr>
          <a:xfrm>
            <a:off x="7180064" y="7785735"/>
            <a:ext cx="270272" cy="195977"/>
          </a:xfrm>
          <a:prstGeom prst="rect">
            <a:avLst/>
          </a:prstGeom>
          <a:noFill/>
          <a:ln/>
        </p:spPr>
        <p:txBody>
          <a:bodyPr wrap="none" lIns="0" tIns="0" rIns="0" bIns="0" rtlCol="0" anchor="t"/>
          <a:lstStyle/>
          <a:p>
            <a:pPr algn="ctr" indent="0" marL="0">
              <a:lnSpc>
                <a:spcPts val="1500"/>
              </a:lnSpc>
              <a:buNone/>
            </a:pPr>
            <a:r>
              <a:rPr lang="en-US" sz="1150" dirty="0">
                <a:solidFill>
                  <a:srgbClr val="15213F"/>
                </a:solidFill>
                <a:latin typeface="Microsoft YaHei" pitchFamily="34" charset="0"/>
                <a:ea typeface="Microsoft YaHei" pitchFamily="34" charset="-122"/>
                <a:cs typeface="Microsoft YaHei" pitchFamily="34" charset="-120"/>
              </a:rPr>
              <a:t>3</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755333"/>
            <a:ext cx="1627227" cy="370642"/>
          </a:xfrm>
          <a:prstGeom prst="roundRect">
            <a:avLst>
              <a:gd name="adj" fmla="val 2467"/>
            </a:avLst>
          </a:prstGeom>
          <a:solidFill>
            <a:srgbClr val="D7DFF4"/>
          </a:solidFill>
          <a:ln/>
        </p:spPr>
      </p:sp>
      <p:sp>
        <p:nvSpPr>
          <p:cNvPr id="3" name="Text 1"/>
          <p:cNvSpPr/>
          <p:nvPr/>
        </p:nvSpPr>
        <p:spPr>
          <a:xfrm>
            <a:off x="916186" y="816531"/>
            <a:ext cx="1382435" cy="248245"/>
          </a:xfrm>
          <a:prstGeom prst="rect">
            <a:avLst/>
          </a:prstGeom>
          <a:noFill/>
          <a:ln/>
        </p:spPr>
        <p:txBody>
          <a:bodyPr wrap="none" lIns="0" tIns="0" rIns="0" bIns="0" rtlCol="0" anchor="t"/>
          <a:lstStyle/>
          <a:p>
            <a:pPr algn="l" indent="0" marL="0">
              <a:lnSpc>
                <a:spcPts val="1950"/>
              </a:lnSpc>
              <a:buNone/>
            </a:pPr>
            <a:r>
              <a:rPr lang="en-US" sz="1250" dirty="0">
                <a:solidFill>
                  <a:srgbClr val="15213F"/>
                </a:solidFill>
                <a:latin typeface="Microsoft YaHei" pitchFamily="34" charset="0"/>
                <a:ea typeface="Microsoft YaHei" pitchFamily="34" charset="-122"/>
                <a:cs typeface="Microsoft YaHei" pitchFamily="34" charset="-120"/>
              </a:rPr>
              <a:t>02 国内外研究现状</a:t>
            </a:r>
            <a:endParaRPr lang="en-US" sz="1250" dirty="0"/>
          </a:p>
        </p:txBody>
      </p:sp>
      <p:sp>
        <p:nvSpPr>
          <p:cNvPr id="4" name="Text 2"/>
          <p:cNvSpPr/>
          <p:nvPr/>
        </p:nvSpPr>
        <p:spPr>
          <a:xfrm>
            <a:off x="793790" y="1199436"/>
            <a:ext cx="5103614" cy="637937"/>
          </a:xfrm>
          <a:prstGeom prst="rect">
            <a:avLst/>
          </a:prstGeom>
          <a:noFill/>
          <a:ln/>
        </p:spPr>
        <p:txBody>
          <a:bodyPr wrap="none" lIns="0" tIns="0" rIns="0" bIns="0" rtlCol="0" anchor="t"/>
          <a:lstStyle/>
          <a:p>
            <a:pPr algn="l" indent="0" marL="0">
              <a:lnSpc>
                <a:spcPts val="5000"/>
              </a:lnSpc>
              <a:buNone/>
            </a:pPr>
            <a:r>
              <a:rPr lang="en-US" sz="4000" dirty="0">
                <a:solidFill>
                  <a:srgbClr val="3257B8"/>
                </a:solidFill>
                <a:latin typeface="Microsoft YaHei" pitchFamily="34" charset="0"/>
                <a:ea typeface="Microsoft YaHei" pitchFamily="34" charset="-122"/>
                <a:cs typeface="Microsoft YaHei" pitchFamily="34" charset="-120"/>
              </a:rPr>
              <a:t>现有方法分类</a:t>
            </a:r>
            <a:endParaRPr lang="en-US" sz="4000" dirty="0"/>
          </a:p>
        </p:txBody>
      </p:sp>
      <p:sp>
        <p:nvSpPr>
          <p:cNvPr id="5" name="Text 3"/>
          <p:cNvSpPr/>
          <p:nvPr/>
        </p:nvSpPr>
        <p:spPr>
          <a:xfrm>
            <a:off x="793790" y="2302312"/>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257B8"/>
                </a:solidFill>
                <a:latin typeface="Microsoft YaHei" pitchFamily="34" charset="0"/>
                <a:ea typeface="Microsoft YaHei" pitchFamily="34" charset="-122"/>
                <a:cs typeface="Microsoft YaHei" pitchFamily="34" charset="-120"/>
              </a:rPr>
              <a:t>通信保持路径规划</a:t>
            </a:r>
            <a:endParaRPr lang="en-US" sz="2000" dirty="0"/>
          </a:p>
        </p:txBody>
      </p:sp>
      <p:pic>
        <p:nvPicPr>
          <p:cNvPr id="6" name="Image 0" descr="preencoded.png">    </p:cNvPr>
          <p:cNvPicPr>
            <a:picLocks noChangeAspect="1"/>
          </p:cNvPicPr>
          <p:nvPr/>
        </p:nvPicPr>
        <p:blipFill>
          <a:blip r:embed="rId1"/>
          <a:stretch>
            <a:fillRect/>
          </a:stretch>
        </p:blipFill>
        <p:spPr>
          <a:xfrm>
            <a:off x="793790" y="2827853"/>
            <a:ext cx="5629870" cy="3648075"/>
          </a:xfrm>
          <a:prstGeom prst="rect">
            <a:avLst/>
          </a:prstGeom>
        </p:spPr>
      </p:pic>
      <p:sp>
        <p:nvSpPr>
          <p:cNvPr id="7" name="Text 4"/>
          <p:cNvSpPr/>
          <p:nvPr/>
        </p:nvSpPr>
        <p:spPr>
          <a:xfrm>
            <a:off x="793790" y="6682621"/>
            <a:ext cx="6678573" cy="620554"/>
          </a:xfrm>
          <a:prstGeom prst="rect">
            <a:avLst/>
          </a:prstGeom>
          <a:noFill/>
          <a:ln/>
        </p:spPr>
        <p:txBody>
          <a:bodyPr wrap="square" lIns="0" tIns="0" rIns="0" bIns="0" rtlCol="0" anchor="t"/>
          <a:lstStyle/>
          <a:p>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涵盖</a:t>
            </a:r>
            <a:pPr algn="l" indent="0" marL="0">
              <a:lnSpc>
                <a:spcPts val="2400"/>
              </a:lnSpc>
              <a:buNone/>
            </a:pPr>
            <a:r>
              <a:rPr lang="en-US" sz="1600" b="1" dirty="0">
                <a:solidFill>
                  <a:srgbClr val="15213F"/>
                </a:solidFill>
                <a:latin typeface="Microsoft YaHei" pitchFamily="34" charset="0"/>
                <a:ea typeface="Microsoft YaHei" pitchFamily="34" charset="-122"/>
                <a:cs typeface="Microsoft YaHei" pitchFamily="34" charset="-120"/>
              </a:rPr>
              <a:t>基于启发式优化、强化学习与改进人工势场法</a:t>
            </a:r>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三类主要方向，各有侧重但均存在通信建模不足的问题</a:t>
            </a:r>
            <a:endParaRPr lang="en-US" sz="1600" dirty="0"/>
          </a:p>
        </p:txBody>
      </p:sp>
      <p:sp>
        <p:nvSpPr>
          <p:cNvPr id="8" name="Text 5"/>
          <p:cNvSpPr/>
          <p:nvPr/>
        </p:nvSpPr>
        <p:spPr>
          <a:xfrm>
            <a:off x="7977902" y="2296597"/>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257B8"/>
                </a:solidFill>
                <a:latin typeface="Microsoft YaHei" pitchFamily="34" charset="0"/>
                <a:ea typeface="Microsoft YaHei" pitchFamily="34" charset="-122"/>
                <a:cs typeface="Microsoft YaHei" pitchFamily="34" charset="-120"/>
              </a:rPr>
              <a:t>区域覆盖侦察部署</a:t>
            </a:r>
            <a:endParaRPr lang="en-US" sz="2000" dirty="0"/>
          </a:p>
        </p:txBody>
      </p:sp>
      <p:pic>
        <p:nvPicPr>
          <p:cNvPr id="9" name="Image 1" descr="preencoded.png">    </p:cNvPr>
          <p:cNvPicPr>
            <a:picLocks noChangeAspect="1"/>
          </p:cNvPicPr>
          <p:nvPr/>
        </p:nvPicPr>
        <p:blipFill>
          <a:blip r:embed="rId2"/>
          <a:stretch>
            <a:fillRect/>
          </a:stretch>
        </p:blipFill>
        <p:spPr>
          <a:xfrm>
            <a:off x="8570952" y="2822138"/>
            <a:ext cx="5273159" cy="3659505"/>
          </a:xfrm>
          <a:prstGeom prst="rect">
            <a:avLst/>
          </a:prstGeom>
        </p:spPr>
      </p:pic>
      <p:sp>
        <p:nvSpPr>
          <p:cNvPr id="10" name="Text 6"/>
          <p:cNvSpPr/>
          <p:nvPr/>
        </p:nvSpPr>
        <p:spPr>
          <a:xfrm>
            <a:off x="7977902" y="6688336"/>
            <a:ext cx="5866209" cy="620554"/>
          </a:xfrm>
          <a:prstGeom prst="rect">
            <a:avLst/>
          </a:prstGeom>
          <a:noFill/>
          <a:ln/>
        </p:spPr>
        <p:txBody>
          <a:bodyPr wrap="square" lIns="0" tIns="0" rIns="0" bIns="0" rtlCol="0" anchor="t"/>
          <a:lstStyle/>
          <a:p>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涵盖</a:t>
            </a:r>
            <a:pPr algn="l" indent="0" marL="0">
              <a:lnSpc>
                <a:spcPts val="2400"/>
              </a:lnSpc>
              <a:buNone/>
            </a:pPr>
            <a:r>
              <a:rPr lang="en-US" sz="1600" b="1" dirty="0">
                <a:solidFill>
                  <a:srgbClr val="15213F"/>
                </a:solidFill>
                <a:latin typeface="Microsoft YaHei" pitchFamily="34" charset="0"/>
                <a:ea typeface="Microsoft YaHei" pitchFamily="34" charset="-122"/>
                <a:cs typeface="Microsoft YaHei" pitchFamily="34" charset="-120"/>
              </a:rPr>
              <a:t>虚拟力法、网格法、Voronoi图法与元启发式优化法</a:t>
            </a:r>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四类方向，在复杂约束场景下全局搜索能力有限</a:t>
            </a:r>
            <a:endParaRPr lang="en-US" sz="1600" dirty="0"/>
          </a:p>
        </p:txBody>
      </p:sp>
      <p:pic>
        <p:nvPicPr>
          <p:cNvPr id="11" name="Image 2" descr="preencoded.png">    </p:cNvPr>
          <p:cNvPicPr>
            <a:picLocks noChangeAspect="1"/>
          </p:cNvPicPr>
          <p:nvPr/>
        </p:nvPicPr>
        <p:blipFill>
          <a:blip r:embed="rId3"/>
          <a:stretch>
            <a:fillRect/>
          </a:stretch>
        </p:blipFill>
        <p:spPr>
          <a:xfrm>
            <a:off x="136088" y="208955"/>
            <a:ext cx="1351836" cy="307896"/>
          </a:xfrm>
          <a:prstGeom prst="rect">
            <a:avLst/>
          </a:prstGeom>
        </p:spPr>
      </p:pic>
      <p:sp>
        <p:nvSpPr>
          <p:cNvPr id="12" name="Text 7"/>
          <p:cNvSpPr/>
          <p:nvPr/>
        </p:nvSpPr>
        <p:spPr>
          <a:xfrm>
            <a:off x="7199948" y="7745968"/>
            <a:ext cx="230505" cy="241340"/>
          </a:xfrm>
          <a:prstGeom prst="rect">
            <a:avLst/>
          </a:prstGeom>
          <a:noFill/>
          <a:ln/>
        </p:spPr>
        <p:txBody>
          <a:bodyPr wrap="none" lIns="0" tIns="0" rIns="0" bIns="0" rtlCol="0" anchor="t"/>
          <a:lstStyle/>
          <a:p>
            <a:pPr algn="ctr" indent="0" marL="0">
              <a:lnSpc>
                <a:spcPts val="1900"/>
              </a:lnSpc>
              <a:buNone/>
            </a:pPr>
            <a:r>
              <a:rPr lang="en-US" sz="1250" dirty="0">
                <a:solidFill>
                  <a:srgbClr val="15213F"/>
                </a:solidFill>
                <a:latin typeface="Microsoft YaHei" pitchFamily="34" charset="0"/>
                <a:ea typeface="Microsoft YaHei" pitchFamily="34" charset="-122"/>
                <a:cs typeface="Microsoft YaHei" pitchFamily="34" charset="-120"/>
              </a:rPr>
              <a:t>4</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3790" y="859393"/>
            <a:ext cx="1627227" cy="370642"/>
          </a:xfrm>
          <a:prstGeom prst="roundRect">
            <a:avLst>
              <a:gd name="adj" fmla="val 2467"/>
            </a:avLst>
          </a:prstGeom>
          <a:solidFill>
            <a:srgbClr val="D7DFF4"/>
          </a:solidFill>
          <a:ln/>
        </p:spPr>
      </p:sp>
      <p:sp>
        <p:nvSpPr>
          <p:cNvPr id="3" name="Text 1"/>
          <p:cNvSpPr/>
          <p:nvPr/>
        </p:nvSpPr>
        <p:spPr>
          <a:xfrm>
            <a:off x="916186" y="920591"/>
            <a:ext cx="1382435" cy="248245"/>
          </a:xfrm>
          <a:prstGeom prst="rect">
            <a:avLst/>
          </a:prstGeom>
          <a:noFill/>
          <a:ln/>
        </p:spPr>
        <p:txBody>
          <a:bodyPr wrap="none" lIns="0" tIns="0" rIns="0" bIns="0" rtlCol="0" anchor="t"/>
          <a:lstStyle/>
          <a:p>
            <a:pPr algn="l" indent="0" marL="0">
              <a:lnSpc>
                <a:spcPts val="1950"/>
              </a:lnSpc>
              <a:buNone/>
            </a:pPr>
            <a:r>
              <a:rPr lang="en-US" sz="1250" dirty="0">
                <a:solidFill>
                  <a:srgbClr val="15213F"/>
                </a:solidFill>
                <a:latin typeface="Microsoft YaHei" pitchFamily="34" charset="0"/>
                <a:ea typeface="Microsoft YaHei" pitchFamily="34" charset="-122"/>
                <a:cs typeface="Microsoft YaHei" pitchFamily="34" charset="-120"/>
              </a:rPr>
              <a:t>02 国内外研究现状</a:t>
            </a:r>
            <a:endParaRPr lang="en-US" sz="1250" dirty="0"/>
          </a:p>
        </p:txBody>
      </p:sp>
      <p:sp>
        <p:nvSpPr>
          <p:cNvPr id="4" name="Text 2"/>
          <p:cNvSpPr/>
          <p:nvPr/>
        </p:nvSpPr>
        <p:spPr>
          <a:xfrm>
            <a:off x="793790" y="1303496"/>
            <a:ext cx="5103614" cy="637937"/>
          </a:xfrm>
          <a:prstGeom prst="rect">
            <a:avLst/>
          </a:prstGeom>
          <a:noFill/>
          <a:ln/>
        </p:spPr>
        <p:txBody>
          <a:bodyPr wrap="none" lIns="0" tIns="0" rIns="0" bIns="0" rtlCol="0" anchor="t"/>
          <a:lstStyle/>
          <a:p>
            <a:pPr algn="l" indent="0" marL="0">
              <a:lnSpc>
                <a:spcPts val="5000"/>
              </a:lnSpc>
              <a:buNone/>
            </a:pPr>
            <a:r>
              <a:rPr lang="en-US" sz="4000" dirty="0">
                <a:solidFill>
                  <a:srgbClr val="3257B8"/>
                </a:solidFill>
                <a:latin typeface="Microsoft YaHei" pitchFamily="34" charset="0"/>
                <a:ea typeface="Microsoft YaHei" pitchFamily="34" charset="-122"/>
                <a:cs typeface="Microsoft YaHei" pitchFamily="34" charset="-120"/>
              </a:rPr>
              <a:t>现有方法不足</a:t>
            </a:r>
            <a:endParaRPr lang="en-US" sz="4000" dirty="0"/>
          </a:p>
        </p:txBody>
      </p:sp>
      <p:sp>
        <p:nvSpPr>
          <p:cNvPr id="5" name="Shape 3"/>
          <p:cNvSpPr/>
          <p:nvPr/>
        </p:nvSpPr>
        <p:spPr>
          <a:xfrm>
            <a:off x="793790" y="2216944"/>
            <a:ext cx="13042821" cy="1122521"/>
          </a:xfrm>
          <a:prstGeom prst="roundRect">
            <a:avLst>
              <a:gd name="adj" fmla="val 815"/>
            </a:avLst>
          </a:prstGeom>
          <a:solidFill>
            <a:srgbClr val="FCF2B5"/>
          </a:solidFill>
          <a:ln/>
        </p:spPr>
      </p:sp>
      <p:pic>
        <p:nvPicPr>
          <p:cNvPr id="6" name="Image 0" descr="preencoded.png">    </p:cNvPr>
          <p:cNvPicPr>
            <a:picLocks noChangeAspect="1"/>
          </p:cNvPicPr>
          <p:nvPr/>
        </p:nvPicPr>
        <p:blipFill>
          <a:blip r:embed="rId1"/>
          <a:stretch>
            <a:fillRect/>
          </a:stretch>
        </p:blipFill>
        <p:spPr>
          <a:xfrm>
            <a:off x="997863" y="2521982"/>
            <a:ext cx="255151" cy="204073"/>
          </a:xfrm>
          <a:prstGeom prst="rect">
            <a:avLst/>
          </a:prstGeom>
        </p:spPr>
      </p:pic>
      <p:sp>
        <p:nvSpPr>
          <p:cNvPr id="7" name="Text 4"/>
          <p:cNvSpPr/>
          <p:nvPr/>
        </p:nvSpPr>
        <p:spPr>
          <a:xfrm>
            <a:off x="1457087" y="2451616"/>
            <a:ext cx="12175450" cy="620554"/>
          </a:xfrm>
          <a:prstGeom prst="rect">
            <a:avLst/>
          </a:prstGeom>
          <a:noFill/>
          <a:ln/>
        </p:spPr>
        <p:txBody>
          <a:bodyPr wrap="square" lIns="0" tIns="0" rIns="0" bIns="0" rtlCol="0" anchor="t"/>
          <a:lstStyle/>
          <a:p>
            <a:pPr algn="l" indent="0" marL="0">
              <a:lnSpc>
                <a:spcPts val="2400"/>
              </a:lnSpc>
              <a:buNone/>
            </a:pPr>
            <a:r>
              <a:rPr lang="en-US" sz="1600" b="1" dirty="0">
                <a:solidFill>
                  <a:srgbClr val="000000"/>
                </a:solidFill>
                <a:latin typeface="Microsoft YaHei" pitchFamily="34" charset="0"/>
                <a:ea typeface="Microsoft YaHei" pitchFamily="34" charset="-122"/>
                <a:cs typeface="Microsoft YaHei" pitchFamily="34" charset="-120"/>
              </a:rPr>
              <a:t>核心结论</a:t>
            </a:r>
            <a:pPr algn="l" indent="0" marL="0">
              <a:lnSpc>
                <a:spcPts val="2400"/>
              </a:lnSpc>
              <a:buNone/>
            </a:pPr>
            <a:r>
              <a:rPr lang="en-US" sz="1600" dirty="0">
                <a:solidFill>
                  <a:srgbClr val="000000"/>
                </a:solidFill>
                <a:latin typeface="Microsoft YaHei" pitchFamily="34" charset="0"/>
                <a:ea typeface="Microsoft YaHei" pitchFamily="34" charset="-122"/>
                <a:cs typeface="Microsoft YaHei" pitchFamily="34" charset="-120"/>
              </a:rPr>
              <a:t>现有方法缺乏对动态复杂通信拓扑的显式建模约束，在大规模集群协同中面临计算效率低、易陷入局部最优等问题，难以满足城市作战对通信保持的基本需求。</a:t>
            </a:r>
            <a:endParaRPr lang="en-US" sz="1600" dirty="0"/>
          </a:p>
        </p:txBody>
      </p:sp>
      <p:sp>
        <p:nvSpPr>
          <p:cNvPr id="8" name="Text 5"/>
          <p:cNvSpPr/>
          <p:nvPr/>
        </p:nvSpPr>
        <p:spPr>
          <a:xfrm>
            <a:off x="793790" y="3729871"/>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257B8"/>
                </a:solidFill>
                <a:latin typeface="Microsoft YaHei" pitchFamily="34" charset="0"/>
                <a:ea typeface="Microsoft YaHei" pitchFamily="34" charset="-122"/>
                <a:cs typeface="Microsoft YaHei" pitchFamily="34" charset="-120"/>
              </a:rPr>
              <a:t>路径规划方向的不足</a:t>
            </a:r>
            <a:endParaRPr lang="en-US" sz="2000" dirty="0"/>
          </a:p>
        </p:txBody>
      </p:sp>
      <p:sp>
        <p:nvSpPr>
          <p:cNvPr id="9" name="Text 6"/>
          <p:cNvSpPr/>
          <p:nvPr/>
        </p:nvSpPr>
        <p:spPr>
          <a:xfrm>
            <a:off x="793790" y="4232434"/>
            <a:ext cx="6272451" cy="1433989"/>
          </a:xfrm>
          <a:prstGeom prst="rect">
            <a:avLst/>
          </a:prstGeom>
          <a:noFill/>
          <a:ln/>
        </p:spPr>
        <p:txBody>
          <a:bodyPr wrap="square" lIns="0" tIns="0" rIns="0" bIns="0" rtlCol="0" anchor="t"/>
          <a:lstStyle/>
          <a:p>
            <a:pPr algn="l" marL="342900" indent="-342900">
              <a:lnSpc>
                <a:spcPts val="2400"/>
              </a:lnSpc>
              <a:buSzPct val="100000"/>
              <a:buChar char="•"/>
            </a:pPr>
            <a:r>
              <a:rPr lang="en-US" sz="1600" dirty="0">
                <a:solidFill>
                  <a:srgbClr val="15213F"/>
                </a:solidFill>
                <a:latin typeface="Microsoft YaHei" pitchFamily="34" charset="0"/>
                <a:ea typeface="Microsoft YaHei" pitchFamily="34" charset="-122"/>
                <a:cs typeface="Microsoft YaHei" pitchFamily="34" charset="-120"/>
              </a:rPr>
              <a:t>改进人工势场法在大规模场景下多源势场叠加导致</a:t>
            </a:r>
            <a:pPr algn="l" indent="0" marL="0">
              <a:lnSpc>
                <a:spcPts val="2400"/>
              </a:lnSpc>
              <a:buNone/>
            </a:pPr>
            <a:r>
              <a:rPr lang="en-US" sz="1600" b="1" dirty="0">
                <a:solidFill>
                  <a:srgbClr val="15213F"/>
                </a:solidFill>
                <a:latin typeface="Microsoft YaHei" pitchFamily="34" charset="0"/>
                <a:ea typeface="Microsoft YaHei" pitchFamily="34" charset="-122"/>
                <a:cs typeface="Microsoft YaHei" pitchFamily="34" charset="-120"/>
              </a:rPr>
              <a:t>局部震荡与死锁</a:t>
            </a:r>
            <a:endParaRPr lang="en-US" sz="1600" dirty="0"/>
          </a:p>
          <a:p>
            <a:pPr algn="l" marL="342900" indent="-342900">
              <a:lnSpc>
                <a:spcPts val="2400"/>
              </a:lnSpc>
              <a:buSzPct val="100000"/>
              <a:buChar char="•"/>
            </a:pPr>
            <a:r>
              <a:rPr lang="en-US" sz="1600" dirty="0">
                <a:solidFill>
                  <a:srgbClr val="15213F"/>
                </a:solidFill>
                <a:latin typeface="Microsoft YaHei" pitchFamily="34" charset="0"/>
                <a:ea typeface="Microsoft YaHei" pitchFamily="34" charset="-122"/>
                <a:cs typeface="Microsoft YaHei" pitchFamily="34" charset="-120"/>
              </a:rPr>
              <a:t>启发式与强化学习方法计算复杂度随集群规模</a:t>
            </a:r>
            <a:pPr algn="l" indent="0" marL="0">
              <a:lnSpc>
                <a:spcPts val="2400"/>
              </a:lnSpc>
              <a:buNone/>
            </a:pPr>
            <a:r>
              <a:rPr lang="en-US" sz="1600" b="1" dirty="0">
                <a:solidFill>
                  <a:srgbClr val="15213F"/>
                </a:solidFill>
                <a:latin typeface="Microsoft YaHei" pitchFamily="34" charset="0"/>
                <a:ea typeface="Microsoft YaHei" pitchFamily="34" charset="-122"/>
                <a:cs typeface="Microsoft YaHei" pitchFamily="34" charset="-120"/>
              </a:rPr>
              <a:t>指数级增长</a:t>
            </a:r>
            <a:endParaRPr lang="en-US" sz="1600" dirty="0"/>
          </a:p>
          <a:p>
            <a:pPr algn="l" marL="342900" indent="-342900">
              <a:lnSpc>
                <a:spcPts val="2400"/>
              </a:lnSpc>
              <a:buSzPct val="100000"/>
              <a:buChar char="•"/>
            </a:pPr>
            <a:r>
              <a:rPr lang="en-US" sz="1600" dirty="0">
                <a:solidFill>
                  <a:srgbClr val="15213F"/>
                </a:solidFill>
                <a:latin typeface="Microsoft YaHei" pitchFamily="34" charset="0"/>
                <a:ea typeface="Microsoft YaHei" pitchFamily="34" charset="-122"/>
                <a:cs typeface="Microsoft YaHei" pitchFamily="34" charset="-120"/>
              </a:rPr>
              <a:t>缺少对城市复杂电磁信道的精细化</a:t>
            </a:r>
            <a:pPr algn="l" indent="0" marL="0">
              <a:lnSpc>
                <a:spcPts val="2400"/>
              </a:lnSpc>
              <a:buNone/>
            </a:pPr>
            <a:r>
              <a:rPr lang="en-US" sz="1600" b="1" dirty="0">
                <a:solidFill>
                  <a:srgbClr val="15213F"/>
                </a:solidFill>
                <a:latin typeface="Microsoft YaHei" pitchFamily="34" charset="0"/>
                <a:ea typeface="Microsoft YaHei" pitchFamily="34" charset="-122"/>
                <a:cs typeface="Microsoft YaHei" pitchFamily="34" charset="-120"/>
              </a:rPr>
              <a:t>通信约束建模</a:t>
            </a:r>
            <a:endParaRPr lang="en-US" sz="1600" dirty="0"/>
          </a:p>
          <a:p>
            <a:pPr algn="l" marL="342900" indent="-342900">
              <a:lnSpc>
                <a:spcPts val="2400"/>
              </a:lnSpc>
              <a:buSzPct val="100000"/>
              <a:buChar char="•"/>
            </a:pPr>
            <a:r>
              <a:rPr lang="en-US" sz="1600" dirty="0">
                <a:solidFill>
                  <a:srgbClr val="15213F"/>
                </a:solidFill>
                <a:latin typeface="Microsoft YaHei" pitchFamily="34" charset="0"/>
                <a:ea typeface="Microsoft YaHei" pitchFamily="34" charset="-122"/>
                <a:cs typeface="Microsoft YaHei" pitchFamily="34" charset="-120"/>
              </a:rPr>
              <a:t>现有方法难以同时兼顾大规模集群的</a:t>
            </a:r>
            <a:pPr algn="l" indent="0" marL="0">
              <a:lnSpc>
                <a:spcPts val="2400"/>
              </a:lnSpc>
              <a:buNone/>
            </a:pPr>
            <a:r>
              <a:rPr lang="en-US" sz="1600" b="1" dirty="0">
                <a:solidFill>
                  <a:srgbClr val="15213F"/>
                </a:solidFill>
                <a:latin typeface="Microsoft YaHei" pitchFamily="34" charset="0"/>
                <a:ea typeface="Microsoft YaHei" pitchFamily="34" charset="-122"/>
                <a:cs typeface="Microsoft YaHei" pitchFamily="34" charset="-120"/>
              </a:rPr>
              <a:t>实时性与通信保持效果</a:t>
            </a:r>
            <a:endParaRPr lang="en-US" sz="1600" dirty="0"/>
          </a:p>
        </p:txBody>
      </p:sp>
      <p:sp>
        <p:nvSpPr>
          <p:cNvPr id="10" name="Text 7"/>
          <p:cNvSpPr/>
          <p:nvPr/>
        </p:nvSpPr>
        <p:spPr>
          <a:xfrm>
            <a:off x="7571780" y="3729871"/>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257B8"/>
                </a:solidFill>
                <a:latin typeface="Microsoft YaHei" pitchFamily="34" charset="0"/>
                <a:ea typeface="Microsoft YaHei" pitchFamily="34" charset="-122"/>
                <a:cs typeface="Microsoft YaHei" pitchFamily="34" charset="-120"/>
              </a:rPr>
              <a:t>区域覆盖方向的不足</a:t>
            </a:r>
            <a:endParaRPr lang="en-US" sz="2000" dirty="0"/>
          </a:p>
        </p:txBody>
      </p:sp>
      <p:sp>
        <p:nvSpPr>
          <p:cNvPr id="11" name="Text 8"/>
          <p:cNvSpPr/>
          <p:nvPr/>
        </p:nvSpPr>
        <p:spPr>
          <a:xfrm>
            <a:off x="7571780" y="4232434"/>
            <a:ext cx="6272451" cy="2054543"/>
          </a:xfrm>
          <a:prstGeom prst="rect">
            <a:avLst/>
          </a:prstGeom>
          <a:noFill/>
          <a:ln/>
        </p:spPr>
        <p:txBody>
          <a:bodyPr wrap="square" lIns="0" tIns="0" rIns="0" bIns="0" rtlCol="0" anchor="t"/>
          <a:lstStyle/>
          <a:p>
            <a:pPr algn="l" marL="342900" indent="-342900">
              <a:lnSpc>
                <a:spcPts val="2400"/>
              </a:lnSpc>
              <a:buSzPct val="100000"/>
              <a:buChar char="•"/>
            </a:pPr>
            <a:r>
              <a:rPr lang="en-US" sz="1600" dirty="0">
                <a:solidFill>
                  <a:srgbClr val="15213F"/>
                </a:solidFill>
                <a:latin typeface="Microsoft YaHei" pitchFamily="34" charset="0"/>
                <a:ea typeface="Microsoft YaHei" pitchFamily="34" charset="-122"/>
                <a:cs typeface="Microsoft YaHei" pitchFamily="34" charset="-120"/>
              </a:rPr>
              <a:t>传统方法通信约束建模简单（理想半径模型），无法刻画</a:t>
            </a:r>
            <a:pPr algn="l" indent="0" marL="0">
              <a:lnSpc>
                <a:spcPts val="2400"/>
              </a:lnSpc>
              <a:buNone/>
            </a:pPr>
            <a:r>
              <a:rPr lang="en-US" sz="1600" b="1" dirty="0">
                <a:solidFill>
                  <a:srgbClr val="15213F"/>
                </a:solidFill>
                <a:latin typeface="Microsoft YaHei" pitchFamily="34" charset="0"/>
                <a:ea typeface="Microsoft YaHei" pitchFamily="34" charset="-122"/>
                <a:cs typeface="Microsoft YaHei" pitchFamily="34" charset="-120"/>
              </a:rPr>
              <a:t>建筑遮挡与干扰的综合影响</a:t>
            </a:r>
            <a:endParaRPr lang="en-US" sz="1600" dirty="0"/>
          </a:p>
          <a:p>
            <a:pPr algn="l" marL="342900" indent="-342900">
              <a:lnSpc>
                <a:spcPts val="2400"/>
              </a:lnSpc>
              <a:buSzPct val="100000"/>
              <a:buChar char="•"/>
            </a:pPr>
            <a:r>
              <a:rPr lang="en-US" sz="1600" dirty="0">
                <a:solidFill>
                  <a:srgbClr val="15213F"/>
                </a:solidFill>
                <a:latin typeface="Microsoft YaHei" pitchFamily="34" charset="0"/>
                <a:ea typeface="Microsoft YaHei" pitchFamily="34" charset="-122"/>
                <a:cs typeface="Microsoft YaHei" pitchFamily="34" charset="-120"/>
              </a:rPr>
              <a:t>现有多目标优化算法缺乏领域知识引导，高维复杂场景下</a:t>
            </a:r>
            <a:pPr algn="l" indent="0" marL="0">
              <a:lnSpc>
                <a:spcPts val="2400"/>
              </a:lnSpc>
              <a:buNone/>
            </a:pPr>
            <a:r>
              <a:rPr lang="en-US" sz="1600" b="1" dirty="0">
                <a:solidFill>
                  <a:srgbClr val="15213F"/>
                </a:solidFill>
                <a:latin typeface="Microsoft YaHei" pitchFamily="34" charset="0"/>
                <a:ea typeface="Microsoft YaHei" pitchFamily="34" charset="-122"/>
                <a:cs typeface="Microsoft YaHei" pitchFamily="34" charset="-120"/>
              </a:rPr>
              <a:t>搜索效率下降显著</a:t>
            </a:r>
            <a:endParaRPr lang="en-US" sz="1600" dirty="0"/>
          </a:p>
          <a:p>
            <a:pPr algn="l" marL="342900" indent="-342900">
              <a:lnSpc>
                <a:spcPts val="2400"/>
              </a:lnSpc>
              <a:buSzPct val="100000"/>
              <a:buChar char="•"/>
            </a:pPr>
            <a:r>
              <a:rPr lang="en-US" sz="1600" dirty="0">
                <a:solidFill>
                  <a:srgbClr val="15213F"/>
                </a:solidFill>
                <a:latin typeface="Microsoft YaHei" pitchFamily="34" charset="0"/>
                <a:ea typeface="Microsoft YaHei" pitchFamily="34" charset="-122"/>
                <a:cs typeface="Microsoft YaHei" pitchFamily="34" charset="-120"/>
              </a:rPr>
              <a:t>单目标方法无法兼顾覆盖率与网络连通性的</a:t>
            </a:r>
            <a:pPr algn="l" indent="0" marL="0">
              <a:lnSpc>
                <a:spcPts val="2400"/>
              </a:lnSpc>
              <a:buNone/>
            </a:pPr>
            <a:r>
              <a:rPr lang="en-US" sz="1600" b="1" dirty="0">
                <a:solidFill>
                  <a:srgbClr val="15213F"/>
                </a:solidFill>
                <a:latin typeface="Microsoft YaHei" pitchFamily="34" charset="0"/>
                <a:ea typeface="Microsoft YaHei" pitchFamily="34" charset="-122"/>
                <a:cs typeface="Microsoft YaHei" pitchFamily="34" charset="-120"/>
              </a:rPr>
              <a:t>多维权衡</a:t>
            </a:r>
            <a:endParaRPr lang="en-US" sz="1600" dirty="0"/>
          </a:p>
          <a:p>
            <a:pPr algn="l" marL="342900" indent="-342900">
              <a:lnSpc>
                <a:spcPts val="2400"/>
              </a:lnSpc>
              <a:buSzPct val="100000"/>
              <a:buChar char="•"/>
            </a:pPr>
            <a:r>
              <a:rPr lang="en-US" sz="1600" dirty="0">
                <a:solidFill>
                  <a:srgbClr val="15213F"/>
                </a:solidFill>
                <a:latin typeface="Microsoft YaHei" pitchFamily="34" charset="0"/>
                <a:ea typeface="Microsoft YaHei" pitchFamily="34" charset="-122"/>
                <a:cs typeface="Microsoft YaHei" pitchFamily="34" charset="-120"/>
              </a:rPr>
              <a:t>算法在引入干扰信号后</a:t>
            </a:r>
            <a:pPr algn="l" indent="0" marL="0">
              <a:lnSpc>
                <a:spcPts val="2400"/>
              </a:lnSpc>
              <a:buNone/>
            </a:pPr>
            <a:r>
              <a:rPr lang="en-US" sz="1600" b="1" dirty="0">
                <a:solidFill>
                  <a:srgbClr val="15213F"/>
                </a:solidFill>
                <a:latin typeface="Microsoft YaHei" pitchFamily="34" charset="0"/>
                <a:ea typeface="Microsoft YaHei" pitchFamily="34" charset="-122"/>
                <a:cs typeface="Microsoft YaHei" pitchFamily="34" charset="-120"/>
              </a:rPr>
              <a:t>早熟收敛</a:t>
            </a:r>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问题突出</a:t>
            </a:r>
            <a:endParaRPr lang="en-US" sz="1600" dirty="0"/>
          </a:p>
        </p:txBody>
      </p:sp>
      <p:sp>
        <p:nvSpPr>
          <p:cNvPr id="12" name="Shape 9"/>
          <p:cNvSpPr/>
          <p:nvPr/>
        </p:nvSpPr>
        <p:spPr>
          <a:xfrm>
            <a:off x="793790" y="6557963"/>
            <a:ext cx="13042821" cy="812244"/>
          </a:xfrm>
          <a:prstGeom prst="roundRect">
            <a:avLst>
              <a:gd name="adj" fmla="val 1126"/>
            </a:avLst>
          </a:prstGeom>
          <a:solidFill>
            <a:srgbClr val="B6FCB8"/>
          </a:solidFill>
          <a:ln/>
        </p:spPr>
      </p:sp>
      <p:pic>
        <p:nvPicPr>
          <p:cNvPr id="13" name="Image 1" descr="preencoded.png">    </p:cNvPr>
          <p:cNvPicPr>
            <a:picLocks noChangeAspect="1"/>
          </p:cNvPicPr>
          <p:nvPr/>
        </p:nvPicPr>
        <p:blipFill>
          <a:blip r:embed="rId2"/>
          <a:stretch>
            <a:fillRect/>
          </a:stretch>
        </p:blipFill>
        <p:spPr>
          <a:xfrm>
            <a:off x="997863" y="6863001"/>
            <a:ext cx="255151" cy="204073"/>
          </a:xfrm>
          <a:prstGeom prst="rect">
            <a:avLst/>
          </a:prstGeom>
        </p:spPr>
      </p:pic>
      <p:sp>
        <p:nvSpPr>
          <p:cNvPr id="14" name="Text 10"/>
          <p:cNvSpPr/>
          <p:nvPr/>
        </p:nvSpPr>
        <p:spPr>
          <a:xfrm>
            <a:off x="1457087" y="6792635"/>
            <a:ext cx="12175450" cy="310277"/>
          </a:xfrm>
          <a:prstGeom prst="rect">
            <a:avLst/>
          </a:prstGeom>
          <a:noFill/>
          <a:ln/>
        </p:spPr>
        <p:txBody>
          <a:bodyPr wrap="none" lIns="0" tIns="0" rIns="0" bIns="0" rtlCol="0" anchor="t"/>
          <a:lstStyle/>
          <a:p>
            <a:pPr algn="l" indent="0" marL="0">
              <a:lnSpc>
                <a:spcPts val="2400"/>
              </a:lnSpc>
              <a:buNone/>
            </a:pPr>
            <a:r>
              <a:rPr lang="en-US" sz="1600" b="1" dirty="0">
                <a:solidFill>
                  <a:srgbClr val="000000"/>
                </a:solidFill>
                <a:latin typeface="Microsoft YaHei" pitchFamily="34" charset="0"/>
                <a:ea typeface="Microsoft YaHei" pitchFamily="34" charset="-122"/>
                <a:cs typeface="Microsoft YaHei" pitchFamily="34" charset="-120"/>
              </a:rPr>
              <a:t>本文研究目标：</a:t>
            </a:r>
            <a:pPr algn="l" indent="0" marL="0">
              <a:lnSpc>
                <a:spcPts val="2400"/>
              </a:lnSpc>
              <a:buNone/>
            </a:pPr>
            <a:r>
              <a:rPr lang="en-US" sz="1600" dirty="0">
                <a:solidFill>
                  <a:srgbClr val="000000"/>
                </a:solidFill>
                <a:latin typeface="Microsoft YaHei" pitchFamily="34" charset="0"/>
                <a:ea typeface="Microsoft YaHei" pitchFamily="34" charset="-122"/>
                <a:cs typeface="Microsoft YaHei" pitchFamily="34" charset="-120"/>
              </a:rPr>
              <a:t>针对上述两类核心任务，分别提出 </a:t>
            </a:r>
            <a:pPr algn="l" indent="0" marL="0">
              <a:lnSpc>
                <a:spcPts val="2400"/>
              </a:lnSpc>
              <a:buNone/>
            </a:pPr>
            <a:r>
              <a:rPr lang="en-US" sz="1600" b="1" dirty="0">
                <a:solidFill>
                  <a:srgbClr val="000000"/>
                </a:solidFill>
                <a:latin typeface="Microsoft YaHei" pitchFamily="34" charset="0"/>
                <a:ea typeface="Microsoft YaHei" pitchFamily="34" charset="-122"/>
                <a:cs typeface="Microsoft YaHei" pitchFamily="34" charset="-120"/>
              </a:rPr>
              <a:t>C-RRT*-APF 路径规划算法</a:t>
            </a:r>
            <a:pPr algn="l" indent="0" marL="0">
              <a:lnSpc>
                <a:spcPts val="2400"/>
              </a:lnSpc>
              <a:buNone/>
            </a:pPr>
            <a:r>
              <a:rPr lang="en-US" sz="1600" dirty="0">
                <a:solidFill>
                  <a:srgbClr val="000000"/>
                </a:solidFill>
                <a:latin typeface="Microsoft YaHei" pitchFamily="34" charset="0"/>
                <a:ea typeface="Microsoft YaHei" pitchFamily="34" charset="-122"/>
                <a:cs typeface="Microsoft YaHei" pitchFamily="34" charset="-120"/>
              </a:rPr>
              <a:t> 与 </a:t>
            </a:r>
            <a:pPr algn="l" indent="0" marL="0">
              <a:lnSpc>
                <a:spcPts val="2400"/>
              </a:lnSpc>
              <a:buNone/>
            </a:pPr>
            <a:r>
              <a:rPr lang="en-US" sz="1600" b="1" dirty="0">
                <a:solidFill>
                  <a:srgbClr val="000000"/>
                </a:solidFill>
                <a:latin typeface="Microsoft YaHei" pitchFamily="34" charset="0"/>
                <a:ea typeface="Microsoft YaHei" pitchFamily="34" charset="-122"/>
                <a:cs typeface="Microsoft YaHei" pitchFamily="34" charset="-120"/>
              </a:rPr>
              <a:t>MPG-NSGA-II 区域覆盖算法</a:t>
            </a:r>
            <a:pPr algn="l" indent="0" marL="0">
              <a:lnSpc>
                <a:spcPts val="2400"/>
              </a:lnSpc>
              <a:buNone/>
            </a:pPr>
            <a:r>
              <a:rPr lang="en-US" sz="1600" dirty="0">
                <a:solidFill>
                  <a:srgbClr val="000000"/>
                </a:solidFill>
                <a:latin typeface="Microsoft YaHei" pitchFamily="34" charset="0"/>
                <a:ea typeface="Microsoft YaHei" pitchFamily="34" charset="-122"/>
                <a:cs typeface="Microsoft YaHei" pitchFamily="34" charset="-120"/>
              </a:rPr>
              <a:t>，以解决上述不足。</a:t>
            </a:r>
            <a:endParaRPr lang="en-US" sz="1600" dirty="0"/>
          </a:p>
        </p:txBody>
      </p:sp>
      <p:pic>
        <p:nvPicPr>
          <p:cNvPr id="15" name="Image 2" descr="preencoded.png">    </p:cNvPr>
          <p:cNvPicPr>
            <a:picLocks noChangeAspect="1"/>
          </p:cNvPicPr>
          <p:nvPr/>
        </p:nvPicPr>
        <p:blipFill>
          <a:blip r:embed="rId3"/>
          <a:stretch>
            <a:fillRect/>
          </a:stretch>
        </p:blipFill>
        <p:spPr>
          <a:xfrm>
            <a:off x="136088" y="208955"/>
            <a:ext cx="1351836" cy="307896"/>
          </a:xfrm>
          <a:prstGeom prst="rect">
            <a:avLst/>
          </a:prstGeom>
        </p:spPr>
      </p:pic>
      <p:sp>
        <p:nvSpPr>
          <p:cNvPr id="16" name="Text 11"/>
          <p:cNvSpPr/>
          <p:nvPr/>
        </p:nvSpPr>
        <p:spPr>
          <a:xfrm>
            <a:off x="7199948" y="7745968"/>
            <a:ext cx="230505" cy="241340"/>
          </a:xfrm>
          <a:prstGeom prst="rect">
            <a:avLst/>
          </a:prstGeom>
          <a:noFill/>
          <a:ln/>
        </p:spPr>
        <p:txBody>
          <a:bodyPr wrap="none" lIns="0" tIns="0" rIns="0" bIns="0" rtlCol="0" anchor="t"/>
          <a:lstStyle/>
          <a:p>
            <a:pPr algn="ctr" indent="0" marL="0">
              <a:lnSpc>
                <a:spcPts val="1900"/>
              </a:lnSpc>
              <a:buNone/>
            </a:pPr>
            <a:r>
              <a:rPr lang="en-US" sz="1250" dirty="0">
                <a:solidFill>
                  <a:srgbClr val="15213F"/>
                </a:solidFill>
                <a:latin typeface="Microsoft YaHei" pitchFamily="34" charset="0"/>
                <a:ea typeface="Microsoft YaHei" pitchFamily="34" charset="-122"/>
                <a:cs typeface="Microsoft YaHei" pitchFamily="34" charset="-120"/>
              </a:rPr>
              <a:t>5</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879277"/>
            <a:ext cx="2750582" cy="317778"/>
          </a:xfrm>
          <a:prstGeom prst="roundRect">
            <a:avLst>
              <a:gd name="adj" fmla="val 2877"/>
            </a:avLst>
          </a:prstGeom>
          <a:solidFill>
            <a:srgbClr val="D7DFF4"/>
          </a:solidFill>
          <a:ln/>
        </p:spPr>
      </p:sp>
      <p:sp>
        <p:nvSpPr>
          <p:cNvPr id="3" name="Text 1"/>
          <p:cNvSpPr/>
          <p:nvPr/>
        </p:nvSpPr>
        <p:spPr>
          <a:xfrm>
            <a:off x="902613" y="933688"/>
            <a:ext cx="2532936" cy="208955"/>
          </a:xfrm>
          <a:prstGeom prst="rect">
            <a:avLst/>
          </a:prstGeom>
          <a:noFill/>
          <a:ln/>
        </p:spPr>
        <p:txBody>
          <a:bodyPr wrap="none" lIns="0" tIns="0" rIns="0" bIns="0" rtlCol="0" anchor="t"/>
          <a:lstStyle/>
          <a:p>
            <a:pPr algn="l" indent="0" marL="0">
              <a:lnSpc>
                <a:spcPts val="1600"/>
              </a:lnSpc>
              <a:buNone/>
            </a:pPr>
            <a:r>
              <a:rPr lang="en-US" sz="1100" dirty="0">
                <a:solidFill>
                  <a:srgbClr val="15213F"/>
                </a:solidFill>
                <a:latin typeface="Microsoft YaHei" pitchFamily="34" charset="0"/>
                <a:ea typeface="Microsoft YaHei" pitchFamily="34" charset="-122"/>
                <a:cs typeface="Microsoft YaHei" pitchFamily="34" charset="-120"/>
              </a:rPr>
              <a:t>03 C-RRT*-APF 通信保持路径规划算法</a:t>
            </a:r>
            <a:endParaRPr lang="en-US" sz="1100" dirty="0"/>
          </a:p>
        </p:txBody>
      </p:sp>
      <p:sp>
        <p:nvSpPr>
          <p:cNvPr id="4" name="Text 2"/>
          <p:cNvSpPr/>
          <p:nvPr/>
        </p:nvSpPr>
        <p:spPr>
          <a:xfrm>
            <a:off x="793790" y="1255038"/>
            <a:ext cx="4536519"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Microsoft YaHei" pitchFamily="34" charset="0"/>
                <a:ea typeface="Microsoft YaHei" pitchFamily="34" charset="-122"/>
                <a:cs typeface="Microsoft YaHei" pitchFamily="34" charset="-120"/>
              </a:rPr>
              <a:t>系统模型任务系统模型</a:t>
            </a:r>
            <a:endParaRPr lang="en-US" sz="3550" dirty="0"/>
          </a:p>
        </p:txBody>
      </p:sp>
      <p:pic>
        <p:nvPicPr>
          <p:cNvPr id="5" name="Image 0" descr="preencoded.png">    </p:cNvPr>
          <p:cNvPicPr>
            <a:picLocks noChangeAspect="1"/>
          </p:cNvPicPr>
          <p:nvPr/>
        </p:nvPicPr>
        <p:blipFill>
          <a:blip r:embed="rId1"/>
          <a:stretch>
            <a:fillRect/>
          </a:stretch>
        </p:blipFill>
        <p:spPr>
          <a:xfrm>
            <a:off x="793790" y="2764036"/>
            <a:ext cx="5040035" cy="3861673"/>
          </a:xfrm>
          <a:prstGeom prst="rect">
            <a:avLst/>
          </a:prstGeom>
        </p:spPr>
      </p:pic>
      <p:sp>
        <p:nvSpPr>
          <p:cNvPr id="6" name="Text 3"/>
          <p:cNvSpPr/>
          <p:nvPr/>
        </p:nvSpPr>
        <p:spPr>
          <a:xfrm>
            <a:off x="7544157" y="2184797"/>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3257B8"/>
                </a:solidFill>
                <a:latin typeface="Microsoft YaHei" pitchFamily="34" charset="0"/>
                <a:ea typeface="Microsoft YaHei" pitchFamily="34" charset="-122"/>
                <a:cs typeface="Microsoft YaHei" pitchFamily="34" charset="-120"/>
              </a:rPr>
              <a:t>场景模型</a:t>
            </a:r>
            <a:endParaRPr lang="en-US" sz="1750" dirty="0"/>
          </a:p>
        </p:txBody>
      </p:sp>
      <p:sp>
        <p:nvSpPr>
          <p:cNvPr id="7" name="Text 4"/>
          <p:cNvSpPr/>
          <p:nvPr/>
        </p:nvSpPr>
        <p:spPr>
          <a:xfrm>
            <a:off x="7544157" y="2613422"/>
            <a:ext cx="6300073" cy="1197054"/>
          </a:xfrm>
          <a:prstGeom prst="rect">
            <a:avLst/>
          </a:prstGeom>
          <a:noFill/>
          <a:ln/>
        </p:spPr>
        <p:txBody>
          <a:bodyPr wrap="square" lIns="0" tIns="0" rIns="0" bIns="0" rtlCol="0" anchor="t"/>
          <a:lstStyle/>
          <a:p>
            <a:pPr algn="l" marL="342900" indent="-342900">
              <a:lnSpc>
                <a:spcPts val="2050"/>
              </a:lnSpc>
              <a:buSzPct val="100000"/>
              <a:buChar char="•"/>
            </a:pPr>
            <a:r>
              <a:rPr lang="en-US" sz="1400" b="1" dirty="0">
                <a:solidFill>
                  <a:srgbClr val="15213F"/>
                </a:solidFill>
                <a:latin typeface="Microsoft YaHei" pitchFamily="34" charset="0"/>
                <a:ea typeface="Microsoft YaHei" pitchFamily="34" charset="-122"/>
                <a:cs typeface="Microsoft YaHei" pitchFamily="34" charset="-120"/>
              </a:rPr>
              <a:t>1km×1km</a:t>
            </a:r>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 二维城市矩形区域</a:t>
            </a:r>
            <a:endParaRPr lang="en-US" sz="1400" dirty="0"/>
          </a:p>
          <a:p>
            <a:pPr algn="l" marL="342900" indent="-342900">
              <a:lnSpc>
                <a:spcPts val="2050"/>
              </a:lnSpc>
              <a:buSzPct val="100000"/>
              <a:buChar char="•"/>
            </a:pPr>
            <a:r>
              <a:rPr lang="en-US" sz="1400" dirty="0">
                <a:solidFill>
                  <a:srgbClr val="15213F"/>
                </a:solidFill>
                <a:latin typeface="Microsoft YaHei" pitchFamily="34" charset="0"/>
                <a:ea typeface="Microsoft YaHei" pitchFamily="34" charset="-122"/>
                <a:cs typeface="Microsoft YaHei" pitchFamily="34" charset="-120"/>
              </a:rPr>
              <a:t>建筑物数量 M 可调（10/20/30 栋）</a:t>
            </a:r>
            <a:endParaRPr lang="en-US" sz="1400" dirty="0"/>
          </a:p>
          <a:p>
            <a:pPr algn="l" marL="342900" indent="-342900">
              <a:lnSpc>
                <a:spcPts val="2050"/>
              </a:lnSpc>
              <a:buSzPct val="100000"/>
              <a:buChar char="•"/>
            </a:pPr>
            <a:r>
              <a:rPr lang="en-US" sz="1400" dirty="0">
                <a:solidFill>
                  <a:srgbClr val="15213F"/>
                </a:solidFill>
                <a:latin typeface="Microsoft YaHei" pitchFamily="34" charset="0"/>
                <a:ea typeface="Microsoft YaHei" pitchFamily="34" charset="-122"/>
                <a:cs typeface="Microsoft YaHei" pitchFamily="34" charset="-120"/>
              </a:rPr>
              <a:t>干扰节点位置固定，干扰功率 PJ （20–30 dBm）</a:t>
            </a:r>
            <a:endParaRPr lang="en-US" sz="1400" dirty="0"/>
          </a:p>
          <a:p>
            <a:pPr algn="l" marL="342900" indent="-342900">
              <a:lnSpc>
                <a:spcPts val="2050"/>
              </a:lnSpc>
              <a:buSzPct val="100000"/>
              <a:buChar char="•"/>
            </a:pPr>
            <a:r>
              <a:rPr lang="en-US" sz="1400" dirty="0">
                <a:solidFill>
                  <a:srgbClr val="15213F"/>
                </a:solidFill>
                <a:latin typeface="Microsoft YaHei" pitchFamily="34" charset="0"/>
                <a:ea typeface="Microsoft YaHei" pitchFamily="34" charset="-122"/>
                <a:cs typeface="Microsoft YaHei" pitchFamily="34" charset="-120"/>
              </a:rPr>
              <a:t>集群规模 N 可变（12/24/36 架），每簇 ≤10 架</a:t>
            </a:r>
            <a:endParaRPr lang="en-US" sz="1400" dirty="0"/>
          </a:p>
        </p:txBody>
      </p:sp>
      <p:sp>
        <p:nvSpPr>
          <p:cNvPr id="8" name="Shape 5"/>
          <p:cNvSpPr/>
          <p:nvPr/>
        </p:nvSpPr>
        <p:spPr>
          <a:xfrm>
            <a:off x="7544157" y="4019074"/>
            <a:ext cx="6300073" cy="13573"/>
          </a:xfrm>
          <a:prstGeom prst="rect">
            <a:avLst/>
          </a:prstGeom>
          <a:solidFill>
            <a:srgbClr val="15213F">
              <a:alpha val="50000"/>
            </a:srgbClr>
          </a:solidFill>
          <a:ln/>
        </p:spPr>
      </p:sp>
      <p:sp>
        <p:nvSpPr>
          <p:cNvPr id="9" name="Text 6"/>
          <p:cNvSpPr/>
          <p:nvPr/>
        </p:nvSpPr>
        <p:spPr>
          <a:xfrm>
            <a:off x="7544157" y="4241244"/>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3257B8"/>
                </a:solidFill>
                <a:latin typeface="Microsoft YaHei" pitchFamily="34" charset="0"/>
                <a:ea typeface="Microsoft YaHei" pitchFamily="34" charset="-122"/>
                <a:cs typeface="Microsoft YaHei" pitchFamily="34" charset="-120"/>
              </a:rPr>
              <a:t>通信模型</a:t>
            </a:r>
            <a:endParaRPr lang="en-US" sz="1750" dirty="0"/>
          </a:p>
        </p:txBody>
      </p:sp>
      <p:sp>
        <p:nvSpPr>
          <p:cNvPr id="10" name="Text 7"/>
          <p:cNvSpPr/>
          <p:nvPr/>
        </p:nvSpPr>
        <p:spPr>
          <a:xfrm>
            <a:off x="7544157" y="4669869"/>
            <a:ext cx="6300073" cy="885111"/>
          </a:xfrm>
          <a:prstGeom prst="rect">
            <a:avLst/>
          </a:prstGeom>
          <a:noFill/>
          <a:ln/>
        </p:spPr>
        <p:txBody>
          <a:bodyPr wrap="square" lIns="0" tIns="0" rIns="0" bIns="0" rtlCol="0" anchor="t"/>
          <a:lstStyle/>
          <a:p>
            <a:pPr algn="l" marL="342900" indent="-342900">
              <a:lnSpc>
                <a:spcPts val="2050"/>
              </a:lnSpc>
              <a:buSzPct val="100000"/>
              <a:buChar char="•"/>
            </a:pPr>
            <a:r>
              <a:rPr lang="en-US" sz="1400" dirty="0">
                <a:solidFill>
                  <a:srgbClr val="15213F"/>
                </a:solidFill>
                <a:latin typeface="Microsoft YaHei" pitchFamily="34" charset="0"/>
                <a:ea typeface="Microsoft YaHei" pitchFamily="34" charset="-122"/>
                <a:cs typeface="Microsoft YaHei" pitchFamily="34" charset="-120"/>
              </a:rPr>
              <a:t>自由空间传播 + 城市路径损耗补偿因子</a:t>
            </a:r>
            <a:endParaRPr lang="en-US" sz="1400" dirty="0"/>
          </a:p>
          <a:p>
            <a:pPr algn="l" marL="342900" indent="-342900">
              <a:lnSpc>
                <a:spcPts val="2050"/>
              </a:lnSpc>
              <a:buSzPct val="100000"/>
              <a:buChar char="•"/>
            </a:pPr>
            <a:r>
              <a:rPr lang="en-US" sz="1400" dirty="0">
                <a:solidFill>
                  <a:srgbClr val="15213F"/>
                </a:solidFill>
                <a:latin typeface="Microsoft YaHei" pitchFamily="34" charset="0"/>
                <a:ea typeface="Microsoft YaHei" pitchFamily="34" charset="-122"/>
                <a:cs typeface="Microsoft YaHei" pitchFamily="34" charset="-120"/>
              </a:rPr>
              <a:t>视距信道 ηLOS=1.0，非视距信道 ηNLOS=20.0</a:t>
            </a:r>
            <a:endParaRPr lang="en-US" sz="1400" dirty="0"/>
          </a:p>
          <a:p>
            <a:pPr algn="l" marL="342900" indent="-342900">
              <a:lnSpc>
                <a:spcPts val="2050"/>
              </a:lnSpc>
              <a:buSzPct val="100000"/>
              <a:buChar char="•"/>
            </a:pPr>
            <a:r>
              <a:rPr lang="en-US" sz="1400" dirty="0">
                <a:solidFill>
                  <a:srgbClr val="15213F"/>
                </a:solidFill>
                <a:latin typeface="Microsoft YaHei" pitchFamily="34" charset="0"/>
                <a:ea typeface="Microsoft YaHei" pitchFamily="34" charset="-122"/>
                <a:cs typeface="Microsoft YaHei" pitchFamily="34" charset="-120"/>
              </a:rPr>
              <a:t>双向 SINR 均满足门限 γth=10 dB 时链路有效</a:t>
            </a:r>
            <a:endParaRPr lang="en-US" sz="1400" dirty="0"/>
          </a:p>
        </p:txBody>
      </p:sp>
      <p:sp>
        <p:nvSpPr>
          <p:cNvPr id="11" name="Shape 8"/>
          <p:cNvSpPr/>
          <p:nvPr/>
        </p:nvSpPr>
        <p:spPr>
          <a:xfrm>
            <a:off x="7544157" y="5763578"/>
            <a:ext cx="6300073" cy="13573"/>
          </a:xfrm>
          <a:prstGeom prst="rect">
            <a:avLst/>
          </a:prstGeom>
          <a:solidFill>
            <a:srgbClr val="15213F">
              <a:alpha val="50000"/>
            </a:srgbClr>
          </a:solidFill>
          <a:ln/>
        </p:spPr>
      </p:sp>
      <p:sp>
        <p:nvSpPr>
          <p:cNvPr id="12" name="Text 9"/>
          <p:cNvSpPr/>
          <p:nvPr/>
        </p:nvSpPr>
        <p:spPr>
          <a:xfrm>
            <a:off x="7544157" y="5985748"/>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3257B8"/>
                </a:solidFill>
                <a:latin typeface="Microsoft YaHei" pitchFamily="34" charset="0"/>
                <a:ea typeface="Microsoft YaHei" pitchFamily="34" charset="-122"/>
                <a:cs typeface="Microsoft YaHei" pitchFamily="34" charset="-120"/>
              </a:rPr>
              <a:t>核心约束</a:t>
            </a:r>
            <a:endParaRPr lang="en-US" sz="1750" dirty="0"/>
          </a:p>
        </p:txBody>
      </p:sp>
      <p:sp>
        <p:nvSpPr>
          <p:cNvPr id="13" name="Text 10"/>
          <p:cNvSpPr/>
          <p:nvPr/>
        </p:nvSpPr>
        <p:spPr>
          <a:xfrm>
            <a:off x="7544157" y="6414373"/>
            <a:ext cx="6300073" cy="885111"/>
          </a:xfrm>
          <a:prstGeom prst="rect">
            <a:avLst/>
          </a:prstGeom>
          <a:noFill/>
          <a:ln/>
        </p:spPr>
        <p:txBody>
          <a:bodyPr wrap="square" lIns="0" tIns="0" rIns="0" bIns="0" rtlCol="0" anchor="t"/>
          <a:lstStyle/>
          <a:p>
            <a:pPr algn="l" marL="342900" indent="-342900">
              <a:lnSpc>
                <a:spcPts val="2050"/>
              </a:lnSpc>
              <a:buSzPct val="100000"/>
              <a:buChar char="•"/>
            </a:pPr>
            <a:r>
              <a:rPr lang="en-US" sz="1400" dirty="0">
                <a:solidFill>
                  <a:srgbClr val="15213F"/>
                </a:solidFill>
                <a:latin typeface="Microsoft YaHei" pitchFamily="34" charset="0"/>
                <a:ea typeface="Microsoft YaHei" pitchFamily="34" charset="-122"/>
                <a:cs typeface="Microsoft YaHei" pitchFamily="34" charset="-120"/>
              </a:rPr>
              <a:t>建筑遮挡引入严重非视距衰减（损耗差达 </a:t>
            </a:r>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19dB</a:t>
            </a:r>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a:t>
            </a:r>
            <a:endParaRPr lang="en-US" sz="1400" dirty="0"/>
          </a:p>
          <a:p>
            <a:pPr algn="l" marL="342900" indent="-342900">
              <a:lnSpc>
                <a:spcPts val="2050"/>
              </a:lnSpc>
              <a:buSzPct val="100000"/>
              <a:buChar char="•"/>
            </a:pPr>
            <a:r>
              <a:rPr lang="en-US" sz="1400" dirty="0">
                <a:solidFill>
                  <a:srgbClr val="15213F"/>
                </a:solidFill>
                <a:latin typeface="Microsoft YaHei" pitchFamily="34" charset="0"/>
                <a:ea typeface="Microsoft YaHei" pitchFamily="34" charset="-122"/>
                <a:cs typeface="Microsoft YaHei" pitchFamily="34" charset="-120"/>
              </a:rPr>
              <a:t>干扰半径 Jr=50–170m 形成通信禁区</a:t>
            </a:r>
            <a:endParaRPr lang="en-US" sz="1400" dirty="0"/>
          </a:p>
          <a:p>
            <a:pPr algn="l" marL="342900" indent="-342900">
              <a:lnSpc>
                <a:spcPts val="2050"/>
              </a:lnSpc>
              <a:buSzPct val="100000"/>
              <a:buChar char="•"/>
            </a:pPr>
            <a:r>
              <a:rPr lang="en-US" sz="1400" dirty="0">
                <a:solidFill>
                  <a:srgbClr val="15213F"/>
                </a:solidFill>
                <a:latin typeface="Microsoft YaHei" pitchFamily="34" charset="0"/>
                <a:ea typeface="Microsoft YaHei" pitchFamily="34" charset="-122"/>
                <a:cs typeface="Microsoft YaHei" pitchFamily="34" charset="-120"/>
              </a:rPr>
              <a:t>安全半径 dsafe=10m，单步步长 dmove=5m</a:t>
            </a:r>
            <a:endParaRPr lang="en-US" sz="1400" dirty="0"/>
          </a:p>
        </p:txBody>
      </p:sp>
      <p:pic>
        <p:nvPicPr>
          <p:cNvPr id="14" name="Image 1" descr="preencoded.png">    </p:cNvPr>
          <p:cNvPicPr>
            <a:picLocks noChangeAspect="1"/>
          </p:cNvPicPr>
          <p:nvPr/>
        </p:nvPicPr>
        <p:blipFill>
          <a:blip r:embed="rId2"/>
          <a:stretch>
            <a:fillRect/>
          </a:stretch>
        </p:blipFill>
        <p:spPr>
          <a:xfrm>
            <a:off x="136088" y="208955"/>
            <a:ext cx="1351836" cy="307896"/>
          </a:xfrm>
          <a:prstGeom prst="rect">
            <a:avLst/>
          </a:prstGeom>
        </p:spPr>
      </p:pic>
      <p:sp>
        <p:nvSpPr>
          <p:cNvPr id="15" name="Text 11"/>
          <p:cNvSpPr/>
          <p:nvPr/>
        </p:nvSpPr>
        <p:spPr>
          <a:xfrm>
            <a:off x="7191256" y="7752397"/>
            <a:ext cx="247888" cy="228600"/>
          </a:xfrm>
          <a:prstGeom prst="rect">
            <a:avLst/>
          </a:prstGeom>
          <a:noFill/>
          <a:ln/>
        </p:spPr>
        <p:txBody>
          <a:bodyPr wrap="none" lIns="0" tIns="0" rIns="0" bIns="0" rtlCol="0" anchor="t"/>
          <a:lstStyle/>
          <a:p>
            <a:pPr algn="ctr" indent="0" marL="0">
              <a:lnSpc>
                <a:spcPts val="1800"/>
              </a:lnSpc>
              <a:buNone/>
            </a:pPr>
            <a:r>
              <a:rPr lang="en-US" sz="1250" dirty="0">
                <a:solidFill>
                  <a:srgbClr val="15213F"/>
                </a:solidFill>
                <a:latin typeface="Microsoft YaHei" pitchFamily="34" charset="0"/>
                <a:ea typeface="Microsoft YaHei" pitchFamily="34" charset="-122"/>
                <a:cs typeface="Microsoft YaHei" pitchFamily="34" charset="-120"/>
              </a:rPr>
              <a:t>6</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93790" y="794861"/>
            <a:ext cx="2750582" cy="317778"/>
          </a:xfrm>
          <a:prstGeom prst="roundRect">
            <a:avLst>
              <a:gd name="adj" fmla="val 2877"/>
            </a:avLst>
          </a:prstGeom>
          <a:solidFill>
            <a:srgbClr val="D7DFF4"/>
          </a:solidFill>
          <a:ln/>
        </p:spPr>
      </p:sp>
      <p:sp>
        <p:nvSpPr>
          <p:cNvPr id="3" name="Text 1"/>
          <p:cNvSpPr/>
          <p:nvPr/>
        </p:nvSpPr>
        <p:spPr>
          <a:xfrm>
            <a:off x="902613" y="849273"/>
            <a:ext cx="2532936" cy="208955"/>
          </a:xfrm>
          <a:prstGeom prst="rect">
            <a:avLst/>
          </a:prstGeom>
          <a:noFill/>
          <a:ln/>
        </p:spPr>
        <p:txBody>
          <a:bodyPr wrap="none" lIns="0" tIns="0" rIns="0" bIns="0" rtlCol="0" anchor="t"/>
          <a:lstStyle/>
          <a:p>
            <a:pPr algn="l" indent="0" marL="0">
              <a:lnSpc>
                <a:spcPts val="1600"/>
              </a:lnSpc>
              <a:buNone/>
            </a:pPr>
            <a:r>
              <a:rPr lang="en-US" sz="1100" dirty="0">
                <a:solidFill>
                  <a:srgbClr val="15213F"/>
                </a:solidFill>
                <a:latin typeface="Microsoft YaHei" pitchFamily="34" charset="0"/>
                <a:ea typeface="Microsoft YaHei" pitchFamily="34" charset="-122"/>
                <a:cs typeface="Microsoft YaHei" pitchFamily="34" charset="-120"/>
              </a:rPr>
              <a:t>03 C-RRT*-APF 通信保持路径规划算法</a:t>
            </a:r>
            <a:endParaRPr lang="en-US" sz="1100" dirty="0"/>
          </a:p>
        </p:txBody>
      </p:sp>
      <p:sp>
        <p:nvSpPr>
          <p:cNvPr id="4" name="Text 2"/>
          <p:cNvSpPr/>
          <p:nvPr/>
        </p:nvSpPr>
        <p:spPr>
          <a:xfrm>
            <a:off x="793790" y="1170622"/>
            <a:ext cx="4536519"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Microsoft YaHei" pitchFamily="34" charset="0"/>
                <a:ea typeface="Microsoft YaHei" pitchFamily="34" charset="-122"/>
                <a:cs typeface="Microsoft YaHei" pitchFamily="34" charset="-120"/>
              </a:rPr>
              <a:t>框架与三大创新点</a:t>
            </a:r>
            <a:endParaRPr lang="en-US" sz="3550" dirty="0"/>
          </a:p>
        </p:txBody>
      </p:sp>
      <p:pic>
        <p:nvPicPr>
          <p:cNvPr id="5" name="Image 0" descr="preencoded.png">    </p:cNvPr>
          <p:cNvPicPr>
            <a:picLocks noChangeAspect="1"/>
          </p:cNvPicPr>
          <p:nvPr/>
        </p:nvPicPr>
        <p:blipFill>
          <a:blip r:embed="rId1"/>
          <a:stretch>
            <a:fillRect/>
          </a:stretch>
        </p:blipFill>
        <p:spPr>
          <a:xfrm>
            <a:off x="793790" y="2704862"/>
            <a:ext cx="6118860" cy="3980259"/>
          </a:xfrm>
          <a:prstGeom prst="rect">
            <a:avLst/>
          </a:prstGeom>
        </p:spPr>
      </p:pic>
      <p:sp>
        <p:nvSpPr>
          <p:cNvPr id="6" name="Shape 3"/>
          <p:cNvSpPr/>
          <p:nvPr/>
        </p:nvSpPr>
        <p:spPr>
          <a:xfrm>
            <a:off x="8892659" y="2118479"/>
            <a:ext cx="4951452" cy="1620917"/>
          </a:xfrm>
          <a:prstGeom prst="roundRect">
            <a:avLst>
              <a:gd name="adj" fmla="val 564"/>
            </a:avLst>
          </a:prstGeom>
          <a:solidFill>
            <a:srgbClr val="FBFCFE">
              <a:alpha val="95000"/>
            </a:srgbClr>
          </a:solidFill>
          <a:ln w="22860">
            <a:solidFill>
              <a:srgbClr val="CFD2D8"/>
            </a:solidFill>
            <a:prstDash val="solid"/>
          </a:ln>
        </p:spPr>
      </p:sp>
      <p:sp>
        <p:nvSpPr>
          <p:cNvPr id="7" name="Shape 4"/>
          <p:cNvSpPr/>
          <p:nvPr/>
        </p:nvSpPr>
        <p:spPr>
          <a:xfrm>
            <a:off x="8915519" y="2141339"/>
            <a:ext cx="725805" cy="1575197"/>
          </a:xfrm>
          <a:prstGeom prst="rect">
            <a:avLst/>
          </a:prstGeom>
          <a:solidFill>
            <a:srgbClr val="E9ECF2"/>
          </a:solidFill>
          <a:ln/>
        </p:spPr>
      </p:sp>
      <p:sp>
        <p:nvSpPr>
          <p:cNvPr id="8" name="Text 5"/>
          <p:cNvSpPr/>
          <p:nvPr/>
        </p:nvSpPr>
        <p:spPr>
          <a:xfrm>
            <a:off x="9138523" y="2758797"/>
            <a:ext cx="272177" cy="340162"/>
          </a:xfrm>
          <a:prstGeom prst="rect">
            <a:avLst/>
          </a:prstGeom>
          <a:noFill/>
          <a:ln/>
        </p:spPr>
        <p:txBody>
          <a:bodyPr wrap="none" lIns="0" tIns="0" rIns="0" bIns="0" rtlCol="0" anchor="t"/>
          <a:lstStyle/>
          <a:p>
            <a:pPr algn="l" indent="0" marL="0">
              <a:lnSpc>
                <a:spcPts val="2100"/>
              </a:lnSpc>
              <a:buNone/>
            </a:pPr>
            <a:r>
              <a:rPr lang="en-US" sz="2100" dirty="0">
                <a:solidFill>
                  <a:srgbClr val="15213F"/>
                </a:solidFill>
                <a:latin typeface="Microsoft YaHei" pitchFamily="34" charset="0"/>
                <a:ea typeface="Microsoft YaHei" pitchFamily="34" charset="-122"/>
                <a:cs typeface="Microsoft YaHei" pitchFamily="34" charset="-120"/>
              </a:rPr>
              <a:t>1</a:t>
            </a:r>
            <a:endParaRPr lang="en-US" sz="2100" dirty="0"/>
          </a:p>
        </p:txBody>
      </p:sp>
      <p:sp>
        <p:nvSpPr>
          <p:cNvPr id="9" name="Text 6"/>
          <p:cNvSpPr/>
          <p:nvPr/>
        </p:nvSpPr>
        <p:spPr>
          <a:xfrm>
            <a:off x="9786461" y="2322790"/>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Microsoft YaHei" pitchFamily="34" charset="0"/>
                <a:ea typeface="Microsoft YaHei" pitchFamily="34" charset="-122"/>
                <a:cs typeface="Microsoft YaHei" pitchFamily="34" charset="-120"/>
              </a:rPr>
              <a:t>分层分簇预处理</a:t>
            </a:r>
            <a:endParaRPr lang="en-US" sz="1750" dirty="0"/>
          </a:p>
        </p:txBody>
      </p:sp>
      <p:sp>
        <p:nvSpPr>
          <p:cNvPr id="10" name="Text 7"/>
          <p:cNvSpPr/>
          <p:nvPr/>
        </p:nvSpPr>
        <p:spPr>
          <a:xfrm>
            <a:off x="9786461" y="2751415"/>
            <a:ext cx="3853339" cy="783669"/>
          </a:xfrm>
          <a:prstGeom prst="rect">
            <a:avLst/>
          </a:prstGeom>
          <a:noFill/>
          <a:ln/>
        </p:spPr>
        <p:txBody>
          <a:bodyPr wrap="squar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将大规模集群划分为若干簇（每簇≤10架），从规模上抑制局部势场叠加复杂度，为分层规划提供结构基础</a:t>
            </a:r>
            <a:endParaRPr lang="en-US" sz="1400" dirty="0"/>
          </a:p>
        </p:txBody>
      </p:sp>
      <p:sp>
        <p:nvSpPr>
          <p:cNvPr id="11" name="Shape 8"/>
          <p:cNvSpPr/>
          <p:nvPr/>
        </p:nvSpPr>
        <p:spPr>
          <a:xfrm>
            <a:off x="8892659" y="3884533"/>
            <a:ext cx="4951452" cy="1620917"/>
          </a:xfrm>
          <a:prstGeom prst="roundRect">
            <a:avLst>
              <a:gd name="adj" fmla="val 564"/>
            </a:avLst>
          </a:prstGeom>
          <a:solidFill>
            <a:srgbClr val="FBFCFE">
              <a:alpha val="95000"/>
            </a:srgbClr>
          </a:solidFill>
          <a:ln w="22860">
            <a:solidFill>
              <a:srgbClr val="CFD2D8"/>
            </a:solidFill>
            <a:prstDash val="solid"/>
          </a:ln>
        </p:spPr>
      </p:sp>
      <p:sp>
        <p:nvSpPr>
          <p:cNvPr id="12" name="Shape 9"/>
          <p:cNvSpPr/>
          <p:nvPr/>
        </p:nvSpPr>
        <p:spPr>
          <a:xfrm>
            <a:off x="8915519" y="3907393"/>
            <a:ext cx="725805" cy="1575197"/>
          </a:xfrm>
          <a:prstGeom prst="rect">
            <a:avLst/>
          </a:prstGeom>
          <a:solidFill>
            <a:srgbClr val="E9ECF2"/>
          </a:solidFill>
          <a:ln/>
        </p:spPr>
      </p:sp>
      <p:sp>
        <p:nvSpPr>
          <p:cNvPr id="13" name="Text 10"/>
          <p:cNvSpPr/>
          <p:nvPr/>
        </p:nvSpPr>
        <p:spPr>
          <a:xfrm>
            <a:off x="9138523" y="4524851"/>
            <a:ext cx="272177" cy="340162"/>
          </a:xfrm>
          <a:prstGeom prst="rect">
            <a:avLst/>
          </a:prstGeom>
          <a:noFill/>
          <a:ln/>
        </p:spPr>
        <p:txBody>
          <a:bodyPr wrap="none" lIns="0" tIns="0" rIns="0" bIns="0" rtlCol="0" anchor="t"/>
          <a:lstStyle/>
          <a:p>
            <a:pPr algn="l" indent="0" marL="0">
              <a:lnSpc>
                <a:spcPts val="2100"/>
              </a:lnSpc>
              <a:buNone/>
            </a:pPr>
            <a:r>
              <a:rPr lang="en-US" sz="2100" dirty="0">
                <a:solidFill>
                  <a:srgbClr val="15213F"/>
                </a:solidFill>
                <a:latin typeface="Microsoft YaHei" pitchFamily="34" charset="0"/>
                <a:ea typeface="Microsoft YaHei" pitchFamily="34" charset="-122"/>
                <a:cs typeface="Microsoft YaHei" pitchFamily="34" charset="-120"/>
              </a:rPr>
              <a:t>2</a:t>
            </a:r>
            <a:endParaRPr lang="en-US" sz="2100" dirty="0"/>
          </a:p>
        </p:txBody>
      </p:sp>
      <p:sp>
        <p:nvSpPr>
          <p:cNvPr id="14" name="Text 11"/>
          <p:cNvSpPr/>
          <p:nvPr/>
        </p:nvSpPr>
        <p:spPr>
          <a:xfrm>
            <a:off x="9786461" y="4088844"/>
            <a:ext cx="2493645" cy="283488"/>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Microsoft YaHei" pitchFamily="34" charset="0"/>
                <a:ea typeface="Microsoft YaHei" pitchFamily="34" charset="-122"/>
                <a:cs typeface="Microsoft YaHei" pitchFamily="34" charset="-120"/>
              </a:rPr>
              <a:t>全局层 C-RRT* 引导规划</a:t>
            </a:r>
            <a:endParaRPr lang="en-US" sz="1750" dirty="0"/>
          </a:p>
        </p:txBody>
      </p:sp>
      <p:sp>
        <p:nvSpPr>
          <p:cNvPr id="15" name="Text 12"/>
          <p:cNvSpPr/>
          <p:nvPr/>
        </p:nvSpPr>
        <p:spPr>
          <a:xfrm>
            <a:off x="9786461" y="4517469"/>
            <a:ext cx="3853339" cy="783669"/>
          </a:xfrm>
          <a:prstGeom prst="rect">
            <a:avLst/>
          </a:prstGeom>
          <a:noFill/>
          <a:ln/>
        </p:spPr>
        <p:txBody>
          <a:bodyPr wrap="squar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RRT*为各簇独立搜索可行全局路径，引入</a:t>
            </a:r>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簇间距离约束机制</a:t>
            </a:r>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，在全局层保障不同簇空间协调，为跨簇通信连通奠定拓扑基础</a:t>
            </a:r>
            <a:endParaRPr lang="en-US" sz="1400" dirty="0"/>
          </a:p>
        </p:txBody>
      </p:sp>
      <p:sp>
        <p:nvSpPr>
          <p:cNvPr id="16" name="Shape 13"/>
          <p:cNvSpPr/>
          <p:nvPr/>
        </p:nvSpPr>
        <p:spPr>
          <a:xfrm>
            <a:off x="8892659" y="5650587"/>
            <a:ext cx="4951452" cy="1620917"/>
          </a:xfrm>
          <a:prstGeom prst="roundRect">
            <a:avLst>
              <a:gd name="adj" fmla="val 564"/>
            </a:avLst>
          </a:prstGeom>
          <a:solidFill>
            <a:srgbClr val="FBFCFE">
              <a:alpha val="95000"/>
            </a:srgbClr>
          </a:solidFill>
          <a:ln w="22860">
            <a:solidFill>
              <a:srgbClr val="CFD2D8"/>
            </a:solidFill>
            <a:prstDash val="solid"/>
          </a:ln>
        </p:spPr>
      </p:sp>
      <p:sp>
        <p:nvSpPr>
          <p:cNvPr id="17" name="Shape 14"/>
          <p:cNvSpPr/>
          <p:nvPr/>
        </p:nvSpPr>
        <p:spPr>
          <a:xfrm>
            <a:off x="8915519" y="5673447"/>
            <a:ext cx="725805" cy="1575197"/>
          </a:xfrm>
          <a:prstGeom prst="rect">
            <a:avLst/>
          </a:prstGeom>
          <a:solidFill>
            <a:srgbClr val="E9ECF2"/>
          </a:solidFill>
          <a:ln/>
        </p:spPr>
      </p:sp>
      <p:sp>
        <p:nvSpPr>
          <p:cNvPr id="18" name="Text 15"/>
          <p:cNvSpPr/>
          <p:nvPr/>
        </p:nvSpPr>
        <p:spPr>
          <a:xfrm>
            <a:off x="9138523" y="6290905"/>
            <a:ext cx="272177" cy="340162"/>
          </a:xfrm>
          <a:prstGeom prst="rect">
            <a:avLst/>
          </a:prstGeom>
          <a:noFill/>
          <a:ln/>
        </p:spPr>
        <p:txBody>
          <a:bodyPr wrap="none" lIns="0" tIns="0" rIns="0" bIns="0" rtlCol="0" anchor="t"/>
          <a:lstStyle/>
          <a:p>
            <a:pPr algn="l" indent="0" marL="0">
              <a:lnSpc>
                <a:spcPts val="2100"/>
              </a:lnSpc>
              <a:buNone/>
            </a:pPr>
            <a:r>
              <a:rPr lang="en-US" sz="2100" dirty="0">
                <a:solidFill>
                  <a:srgbClr val="15213F"/>
                </a:solidFill>
                <a:latin typeface="Microsoft YaHei" pitchFamily="34" charset="0"/>
                <a:ea typeface="Microsoft YaHei" pitchFamily="34" charset="-122"/>
                <a:cs typeface="Microsoft YaHei" pitchFamily="34" charset="-120"/>
              </a:rPr>
              <a:t>3</a:t>
            </a:r>
            <a:endParaRPr lang="en-US" sz="2100" dirty="0"/>
          </a:p>
        </p:txBody>
      </p:sp>
      <p:sp>
        <p:nvSpPr>
          <p:cNvPr id="19" name="Text 16"/>
          <p:cNvSpPr/>
          <p:nvPr/>
        </p:nvSpPr>
        <p:spPr>
          <a:xfrm>
            <a:off x="9786461" y="5854898"/>
            <a:ext cx="2862262" cy="283488"/>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Microsoft YaHei" pitchFamily="34" charset="0"/>
                <a:ea typeface="Microsoft YaHei" pitchFamily="34" charset="-122"/>
                <a:cs typeface="Microsoft YaHei" pitchFamily="34" charset="-120"/>
              </a:rPr>
              <a:t>局部层 MBST-APF 实时规划</a:t>
            </a:r>
            <a:endParaRPr lang="en-US" sz="1750" dirty="0"/>
          </a:p>
        </p:txBody>
      </p:sp>
      <p:sp>
        <p:nvSpPr>
          <p:cNvPr id="20" name="Text 17"/>
          <p:cNvSpPr/>
          <p:nvPr/>
        </p:nvSpPr>
        <p:spPr>
          <a:xfrm>
            <a:off x="9786461" y="6283523"/>
            <a:ext cx="3853339" cy="783669"/>
          </a:xfrm>
          <a:prstGeom prst="rect">
            <a:avLst/>
          </a:prstGeom>
          <a:noFill/>
          <a:ln/>
        </p:spPr>
        <p:txBody>
          <a:bodyPr wrap="squar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基于最大SINR瓶颈生成树构建通信主干，仅对关键 N-1 条链路构建势场约束，有效降低多势场叠加复杂度</a:t>
            </a:r>
            <a:endParaRPr lang="en-US" sz="1400" dirty="0"/>
          </a:p>
        </p:txBody>
      </p:sp>
      <p:pic>
        <p:nvPicPr>
          <p:cNvPr id="21" name="Image 1" descr="preencoded.png">    </p:cNvPr>
          <p:cNvPicPr>
            <a:picLocks noChangeAspect="1"/>
          </p:cNvPicPr>
          <p:nvPr/>
        </p:nvPicPr>
        <p:blipFill>
          <a:blip r:embed="rId2"/>
          <a:stretch>
            <a:fillRect/>
          </a:stretch>
        </p:blipFill>
        <p:spPr>
          <a:xfrm>
            <a:off x="136088" y="208955"/>
            <a:ext cx="1351836" cy="307896"/>
          </a:xfrm>
          <a:prstGeom prst="rect">
            <a:avLst/>
          </a:prstGeom>
        </p:spPr>
      </p:pic>
      <p:sp>
        <p:nvSpPr>
          <p:cNvPr id="22" name="Text 18"/>
          <p:cNvSpPr/>
          <p:nvPr/>
        </p:nvSpPr>
        <p:spPr>
          <a:xfrm>
            <a:off x="7191256" y="7752397"/>
            <a:ext cx="247888" cy="228600"/>
          </a:xfrm>
          <a:prstGeom prst="rect">
            <a:avLst/>
          </a:prstGeom>
          <a:noFill/>
          <a:ln/>
        </p:spPr>
        <p:txBody>
          <a:bodyPr wrap="none" lIns="0" tIns="0" rIns="0" bIns="0" rtlCol="0" anchor="t"/>
          <a:lstStyle/>
          <a:p>
            <a:pPr algn="ctr" indent="0" marL="0">
              <a:lnSpc>
                <a:spcPts val="1800"/>
              </a:lnSpc>
              <a:buNone/>
            </a:pPr>
            <a:r>
              <a:rPr lang="en-US" sz="1250" dirty="0">
                <a:solidFill>
                  <a:srgbClr val="15213F"/>
                </a:solidFill>
                <a:latin typeface="Microsoft YaHei" pitchFamily="34" charset="0"/>
                <a:ea typeface="Microsoft YaHei" pitchFamily="34" charset="-122"/>
                <a:cs typeface="Microsoft YaHei" pitchFamily="34" charset="-120"/>
              </a:rPr>
              <a:t>7</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755571"/>
            <a:ext cx="3265051" cy="397907"/>
          </a:xfrm>
          <a:prstGeom prst="roundRect">
            <a:avLst>
              <a:gd name="adj" fmla="val 2298"/>
            </a:avLst>
          </a:prstGeom>
          <a:solidFill>
            <a:srgbClr val="D7DFF4"/>
          </a:solidFill>
          <a:ln/>
        </p:spPr>
      </p:sp>
      <p:sp>
        <p:nvSpPr>
          <p:cNvPr id="3" name="Text 1"/>
          <p:cNvSpPr/>
          <p:nvPr/>
        </p:nvSpPr>
        <p:spPr>
          <a:xfrm>
            <a:off x="922972" y="820103"/>
            <a:ext cx="3006685" cy="268843"/>
          </a:xfrm>
          <a:prstGeom prst="rect">
            <a:avLst/>
          </a:prstGeom>
          <a:noFill/>
          <a:ln/>
        </p:spPr>
        <p:txBody>
          <a:bodyPr wrap="none" lIns="0" tIns="0" rIns="0" bIns="0" rtlCol="0" anchor="t"/>
          <a:lstStyle/>
          <a:p>
            <a:pPr algn="l" indent="0" marL="0">
              <a:lnSpc>
                <a:spcPts val="2100"/>
              </a:lnSpc>
              <a:buNone/>
            </a:pPr>
            <a:r>
              <a:rPr lang="en-US" sz="1350" dirty="0">
                <a:solidFill>
                  <a:srgbClr val="15213F"/>
                </a:solidFill>
                <a:latin typeface="Microsoft YaHei" pitchFamily="34" charset="0"/>
                <a:ea typeface="Microsoft YaHei" pitchFamily="34" charset="-122"/>
                <a:cs typeface="Microsoft YaHei" pitchFamily="34" charset="-120"/>
              </a:rPr>
              <a:t>03 C-RRT*-APF 通信保持路径规划算法</a:t>
            </a:r>
            <a:endParaRPr lang="en-US" sz="1350" dirty="0"/>
          </a:p>
        </p:txBody>
      </p:sp>
      <p:sp>
        <p:nvSpPr>
          <p:cNvPr id="4" name="Text 2"/>
          <p:cNvSpPr/>
          <p:nvPr/>
        </p:nvSpPr>
        <p:spPr>
          <a:xfrm>
            <a:off x="793790" y="1235273"/>
            <a:ext cx="9156859" cy="673418"/>
          </a:xfrm>
          <a:prstGeom prst="rect">
            <a:avLst/>
          </a:prstGeom>
          <a:noFill/>
          <a:ln/>
        </p:spPr>
        <p:txBody>
          <a:bodyPr wrap="none" lIns="0" tIns="0" rIns="0" bIns="0" rtlCol="0" anchor="t"/>
          <a:lstStyle/>
          <a:p>
            <a:pPr algn="l" indent="0" marL="0">
              <a:lnSpc>
                <a:spcPts val="5300"/>
              </a:lnSpc>
              <a:buNone/>
            </a:pPr>
            <a:r>
              <a:rPr lang="en-US" sz="4200" dirty="0">
                <a:solidFill>
                  <a:srgbClr val="3257B8"/>
                </a:solidFill>
                <a:latin typeface="Microsoft YaHei" pitchFamily="34" charset="0"/>
                <a:ea typeface="Microsoft YaHei" pitchFamily="34" charset="-122"/>
                <a:cs typeface="Microsoft YaHei" pitchFamily="34" charset="-120"/>
              </a:rPr>
              <a:t>全局规划层：单簇搜索与簇间距离约束</a:t>
            </a:r>
            <a:endParaRPr lang="en-US" sz="4200" dirty="0"/>
          </a:p>
        </p:txBody>
      </p:sp>
      <p:sp>
        <p:nvSpPr>
          <p:cNvPr id="5" name="Text 3"/>
          <p:cNvSpPr/>
          <p:nvPr/>
        </p:nvSpPr>
        <p:spPr>
          <a:xfrm>
            <a:off x="793790" y="2215753"/>
            <a:ext cx="13042821" cy="336113"/>
          </a:xfrm>
          <a:prstGeom prst="rect">
            <a:avLst/>
          </a:prstGeom>
          <a:noFill/>
          <a:ln/>
        </p:spPr>
        <p:txBody>
          <a:bodyPr wrap="none" lIns="0" tIns="0" rIns="0" bIns="0" rtlCol="0" anchor="t"/>
          <a:lstStyle/>
          <a:p>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图示：单簇 RRT* 路径搜索四步过程——(a) 采样扩展　(b) 父节点重选　(c) 邻域重连　(d) 回溯获取路径</a:t>
            </a:r>
            <a:endParaRPr lang="en-US" sz="1650" dirty="0"/>
          </a:p>
        </p:txBody>
      </p:sp>
      <p:sp>
        <p:nvSpPr>
          <p:cNvPr id="6" name="Shape 4"/>
          <p:cNvSpPr/>
          <p:nvPr/>
        </p:nvSpPr>
        <p:spPr>
          <a:xfrm>
            <a:off x="793790" y="4050625"/>
            <a:ext cx="3878699" cy="2154793"/>
          </a:xfrm>
          <a:prstGeom prst="roundRect">
            <a:avLst>
              <a:gd name="adj" fmla="val 424"/>
            </a:avLst>
          </a:prstGeom>
          <a:solidFill>
            <a:srgbClr val="DFDFE0"/>
          </a:solidFill>
          <a:ln/>
        </p:spPr>
      </p:sp>
      <p:pic>
        <p:nvPicPr>
          <p:cNvPr id="7" name="Image 0" descr="preencoded.png">    </p:cNvPr>
          <p:cNvPicPr>
            <a:picLocks noChangeAspect="1"/>
          </p:cNvPicPr>
          <p:nvPr/>
        </p:nvPicPr>
        <p:blipFill>
          <a:blip r:embed="rId1"/>
          <a:stretch>
            <a:fillRect/>
          </a:stretch>
        </p:blipFill>
        <p:spPr>
          <a:xfrm>
            <a:off x="2618780" y="4917996"/>
            <a:ext cx="228600" cy="228600"/>
          </a:xfrm>
          <a:prstGeom prst="rect">
            <a:avLst/>
          </a:prstGeom>
        </p:spPr>
      </p:pic>
      <p:sp>
        <p:nvSpPr>
          <p:cNvPr id="8" name="Text 5"/>
          <p:cNvSpPr/>
          <p:nvPr/>
        </p:nvSpPr>
        <p:spPr>
          <a:xfrm>
            <a:off x="2199680" y="5238393"/>
            <a:ext cx="1066800" cy="166330"/>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Microsoft YaHei" pitchFamily="34" charset="0"/>
                <a:ea typeface="Microsoft YaHei" pitchFamily="34" charset="-122"/>
                <a:cs typeface="Microsoft YaHei" pitchFamily="34" charset="-120"/>
              </a:rPr>
              <a:t>生成此图像时出现错误</a:t>
            </a:r>
            <a:endParaRPr lang="en-US" sz="800" dirty="0"/>
          </a:p>
        </p:txBody>
      </p:sp>
      <p:sp>
        <p:nvSpPr>
          <p:cNvPr id="9" name="Text 6"/>
          <p:cNvSpPr/>
          <p:nvPr/>
        </p:nvSpPr>
        <p:spPr>
          <a:xfrm>
            <a:off x="9620964" y="2986802"/>
            <a:ext cx="2693551" cy="336590"/>
          </a:xfrm>
          <a:prstGeom prst="rect">
            <a:avLst/>
          </a:prstGeom>
          <a:noFill/>
          <a:ln/>
        </p:spPr>
        <p:txBody>
          <a:bodyPr wrap="none" lIns="0" tIns="0" rIns="0" bIns="0" rtlCol="0" anchor="t"/>
          <a:lstStyle/>
          <a:p>
            <a:pPr algn="l" indent="0" marL="0">
              <a:lnSpc>
                <a:spcPts val="2650"/>
              </a:lnSpc>
              <a:buNone/>
            </a:pPr>
            <a:r>
              <a:rPr lang="en-US" sz="2100" dirty="0">
                <a:solidFill>
                  <a:srgbClr val="3257B8"/>
                </a:solidFill>
                <a:latin typeface="Microsoft YaHei" pitchFamily="34" charset="0"/>
                <a:ea typeface="Microsoft YaHei" pitchFamily="34" charset="-122"/>
                <a:cs typeface="Microsoft YaHei" pitchFamily="34" charset="-120"/>
              </a:rPr>
              <a:t>簇间距离约束机制</a:t>
            </a:r>
            <a:endParaRPr lang="en-US" sz="2100" dirty="0"/>
          </a:p>
        </p:txBody>
      </p:sp>
      <p:sp>
        <p:nvSpPr>
          <p:cNvPr id="10" name="Text 7"/>
          <p:cNvSpPr/>
          <p:nvPr/>
        </p:nvSpPr>
        <p:spPr>
          <a:xfrm>
            <a:off x="9620964" y="3528060"/>
            <a:ext cx="4223147" cy="672227"/>
          </a:xfrm>
          <a:prstGeom prst="rect">
            <a:avLst/>
          </a:prstGeom>
          <a:noFill/>
          <a:ln/>
        </p:spPr>
        <p:txBody>
          <a:bodyPr wrap="square" lIns="0" tIns="0" rIns="0" bIns="0" rtlCol="0" anchor="t"/>
          <a:lstStyle/>
          <a:p>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为防止不同簇路径过近导致势场震荡，引入</a:t>
            </a:r>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下界约束</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a:t>
            </a:r>
            <a:endParaRPr lang="en-US" sz="1650" dirty="0"/>
          </a:p>
        </p:txBody>
      </p:sp>
      <p:sp>
        <p:nvSpPr>
          <p:cNvPr id="11" name="Text 8"/>
          <p:cNvSpPr/>
          <p:nvPr/>
        </p:nvSpPr>
        <p:spPr>
          <a:xfrm>
            <a:off x="9620964" y="4384477"/>
            <a:ext cx="4223147" cy="336113"/>
          </a:xfrm>
          <a:prstGeom prst="rect">
            <a:avLst/>
          </a:prstGeom>
          <a:noFill/>
          <a:ln/>
        </p:spPr>
        <p:txBody>
          <a:bodyPr wrap="none" lIns="0" tIns="0" rIns="0" bIns="0" rtlCol="0" anchor="t"/>
          <a:lstStyle/>
          <a:p>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L = αL · √K · dsafe</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（防止簇间拥挤碰撞）</a:t>
            </a:r>
            <a:endParaRPr lang="en-US" sz="1650" dirty="0"/>
          </a:p>
        </p:txBody>
      </p:sp>
      <p:sp>
        <p:nvSpPr>
          <p:cNvPr id="12" name="Text 9"/>
          <p:cNvSpPr/>
          <p:nvPr/>
        </p:nvSpPr>
        <p:spPr>
          <a:xfrm>
            <a:off x="9620964" y="4904780"/>
            <a:ext cx="4223147" cy="672227"/>
          </a:xfrm>
          <a:prstGeom prst="rect">
            <a:avLst/>
          </a:prstGeom>
          <a:noFill/>
          <a:ln/>
        </p:spPr>
        <p:txBody>
          <a:bodyPr wrap="square" lIns="0" tIns="0" rIns="0" bIns="0" rtlCol="0" anchor="t"/>
          <a:lstStyle/>
          <a:p>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为防止路径过远导致跨簇通信无法维护，引入</a:t>
            </a:r>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上界约束</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a:t>
            </a:r>
            <a:endParaRPr lang="en-US" sz="1650" dirty="0"/>
          </a:p>
        </p:txBody>
      </p:sp>
      <p:sp>
        <p:nvSpPr>
          <p:cNvPr id="13" name="Text 10"/>
          <p:cNvSpPr/>
          <p:nvPr/>
        </p:nvSpPr>
        <p:spPr>
          <a:xfrm>
            <a:off x="9620964" y="5761196"/>
            <a:ext cx="4223147" cy="336113"/>
          </a:xfrm>
          <a:prstGeom prst="rect">
            <a:avLst/>
          </a:prstGeom>
          <a:noFill/>
          <a:ln/>
        </p:spPr>
        <p:txBody>
          <a:bodyPr wrap="none" lIns="0" tIns="0" rIns="0" bIns="0" rtlCol="0" anchor="t"/>
          <a:lstStyle/>
          <a:p>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U = αU · 2Jr</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（防止干扰区两侧分裂）</a:t>
            </a:r>
            <a:endParaRPr lang="en-US" sz="1650" dirty="0"/>
          </a:p>
        </p:txBody>
      </p:sp>
      <p:sp>
        <p:nvSpPr>
          <p:cNvPr id="14" name="Text 11"/>
          <p:cNvSpPr/>
          <p:nvPr/>
        </p:nvSpPr>
        <p:spPr>
          <a:xfrm>
            <a:off x="9620964" y="6281499"/>
            <a:ext cx="4223147" cy="1008340"/>
          </a:xfrm>
          <a:prstGeom prst="rect">
            <a:avLst/>
          </a:prstGeom>
          <a:noFill/>
          <a:ln/>
        </p:spPr>
        <p:txBody>
          <a:bodyPr wrap="square" lIns="0" tIns="0" rIns="0" bIns="0" rtlCol="0" anchor="t"/>
          <a:lstStyle/>
          <a:p>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以 </a:t>
            </a:r>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Fréchet 距离</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评估路径间距是否满足区间 [L, U]，不满足则触发重规划，选择性更新策略避免全局重规划的计算负担。</a:t>
            </a:r>
            <a:endParaRPr lang="en-US" sz="1650" dirty="0"/>
          </a:p>
        </p:txBody>
      </p:sp>
      <p:pic>
        <p:nvPicPr>
          <p:cNvPr id="15" name="Image 1" descr="preencoded.png">    </p:cNvPr>
          <p:cNvPicPr>
            <a:picLocks noChangeAspect="1"/>
          </p:cNvPicPr>
          <p:nvPr/>
        </p:nvPicPr>
        <p:blipFill>
          <a:blip r:embed="rId2"/>
          <a:stretch>
            <a:fillRect/>
          </a:stretch>
        </p:blipFill>
        <p:spPr>
          <a:xfrm>
            <a:off x="136088" y="208955"/>
            <a:ext cx="1351836" cy="307896"/>
          </a:xfrm>
          <a:prstGeom prst="rect">
            <a:avLst/>
          </a:prstGeom>
        </p:spPr>
      </p:pic>
      <p:sp>
        <p:nvSpPr>
          <p:cNvPr id="16" name="Text 12"/>
          <p:cNvSpPr/>
          <p:nvPr/>
        </p:nvSpPr>
        <p:spPr>
          <a:xfrm>
            <a:off x="7203519" y="7742753"/>
            <a:ext cx="223361" cy="247769"/>
          </a:xfrm>
          <a:prstGeom prst="rect">
            <a:avLst/>
          </a:prstGeom>
          <a:noFill/>
          <a:ln/>
        </p:spPr>
        <p:txBody>
          <a:bodyPr wrap="none" lIns="0" tIns="0" rIns="0" bIns="0" rtlCol="0" anchor="t"/>
          <a:lstStyle/>
          <a:p>
            <a:pPr algn="ctr" indent="0" marL="0">
              <a:lnSpc>
                <a:spcPts val="1950"/>
              </a:lnSpc>
              <a:buNone/>
            </a:pPr>
            <a:r>
              <a:rPr lang="en-US" sz="1250" dirty="0">
                <a:solidFill>
                  <a:srgbClr val="15213F"/>
                </a:solidFill>
                <a:latin typeface="Microsoft YaHei" pitchFamily="34" charset="0"/>
                <a:ea typeface="Microsoft YaHei" pitchFamily="34" charset="-122"/>
                <a:cs typeface="Microsoft YaHei" pitchFamily="34" charset="-120"/>
              </a:rPr>
              <a:t>8</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878205"/>
            <a:ext cx="3093601" cy="370642"/>
          </a:xfrm>
          <a:prstGeom prst="roundRect">
            <a:avLst>
              <a:gd name="adj" fmla="val 2467"/>
            </a:avLst>
          </a:prstGeom>
          <a:solidFill>
            <a:srgbClr val="D7DFF4"/>
          </a:solidFill>
          <a:ln/>
        </p:spPr>
      </p:sp>
      <p:sp>
        <p:nvSpPr>
          <p:cNvPr id="3" name="Text 1"/>
          <p:cNvSpPr/>
          <p:nvPr/>
        </p:nvSpPr>
        <p:spPr>
          <a:xfrm>
            <a:off x="916186" y="939403"/>
            <a:ext cx="2848808" cy="248245"/>
          </a:xfrm>
          <a:prstGeom prst="rect">
            <a:avLst/>
          </a:prstGeom>
          <a:noFill/>
          <a:ln/>
        </p:spPr>
        <p:txBody>
          <a:bodyPr wrap="none" lIns="0" tIns="0" rIns="0" bIns="0" rtlCol="0" anchor="t"/>
          <a:lstStyle/>
          <a:p>
            <a:pPr algn="l" indent="0" marL="0">
              <a:lnSpc>
                <a:spcPts val="1950"/>
              </a:lnSpc>
              <a:buNone/>
            </a:pPr>
            <a:r>
              <a:rPr lang="en-US" sz="1250" dirty="0">
                <a:solidFill>
                  <a:srgbClr val="15213F"/>
                </a:solidFill>
                <a:latin typeface="Microsoft YaHei" pitchFamily="34" charset="0"/>
                <a:ea typeface="Microsoft YaHei" pitchFamily="34" charset="-122"/>
                <a:cs typeface="Microsoft YaHei" pitchFamily="34" charset="-120"/>
              </a:rPr>
              <a:t>03 C-RRT*-APF 通信保持路径规划算法</a:t>
            </a:r>
            <a:endParaRPr lang="en-US" sz="1250" dirty="0"/>
          </a:p>
        </p:txBody>
      </p:sp>
      <p:sp>
        <p:nvSpPr>
          <p:cNvPr id="4" name="Text 2"/>
          <p:cNvSpPr/>
          <p:nvPr/>
        </p:nvSpPr>
        <p:spPr>
          <a:xfrm>
            <a:off x="793790" y="1322308"/>
            <a:ext cx="8843605" cy="637937"/>
          </a:xfrm>
          <a:prstGeom prst="rect">
            <a:avLst/>
          </a:prstGeom>
          <a:noFill/>
          <a:ln/>
        </p:spPr>
        <p:txBody>
          <a:bodyPr wrap="none" lIns="0" tIns="0" rIns="0" bIns="0" rtlCol="0" anchor="t"/>
          <a:lstStyle/>
          <a:p>
            <a:pPr algn="l" indent="0" marL="0">
              <a:lnSpc>
                <a:spcPts val="5000"/>
              </a:lnSpc>
              <a:buNone/>
            </a:pPr>
            <a:r>
              <a:rPr lang="en-US" sz="4000" dirty="0">
                <a:solidFill>
                  <a:srgbClr val="3257B8"/>
                </a:solidFill>
                <a:latin typeface="Microsoft YaHei" pitchFamily="34" charset="0"/>
                <a:ea typeface="Microsoft YaHei" pitchFamily="34" charset="-122"/>
                <a:cs typeface="Microsoft YaHei" pitchFamily="34" charset="-120"/>
              </a:rPr>
              <a:t>局部规划层：MBST-APF 通信保持机制</a:t>
            </a:r>
            <a:endParaRPr lang="en-US" sz="4000" dirty="0"/>
          </a:p>
        </p:txBody>
      </p:sp>
      <p:sp>
        <p:nvSpPr>
          <p:cNvPr id="5" name="Shape 3"/>
          <p:cNvSpPr/>
          <p:nvPr/>
        </p:nvSpPr>
        <p:spPr>
          <a:xfrm>
            <a:off x="793790" y="2932986"/>
            <a:ext cx="3674507" cy="2041446"/>
          </a:xfrm>
          <a:prstGeom prst="roundRect">
            <a:avLst>
              <a:gd name="adj" fmla="val 448"/>
            </a:avLst>
          </a:prstGeom>
          <a:solidFill>
            <a:srgbClr val="DFDFE0"/>
          </a:solidFill>
          <a:ln/>
        </p:spPr>
      </p:sp>
      <p:pic>
        <p:nvPicPr>
          <p:cNvPr id="6" name="Image 0" descr="preencoded.png">    </p:cNvPr>
          <p:cNvPicPr>
            <a:picLocks noChangeAspect="1"/>
          </p:cNvPicPr>
          <p:nvPr/>
        </p:nvPicPr>
        <p:blipFill>
          <a:blip r:embed="rId1"/>
          <a:stretch>
            <a:fillRect/>
          </a:stretch>
        </p:blipFill>
        <p:spPr>
          <a:xfrm>
            <a:off x="2516743" y="3742730"/>
            <a:ext cx="228600" cy="228600"/>
          </a:xfrm>
          <a:prstGeom prst="rect">
            <a:avLst/>
          </a:prstGeom>
        </p:spPr>
      </p:pic>
      <p:sp>
        <p:nvSpPr>
          <p:cNvPr id="7" name="Text 4"/>
          <p:cNvSpPr/>
          <p:nvPr/>
        </p:nvSpPr>
        <p:spPr>
          <a:xfrm>
            <a:off x="2097643" y="4061579"/>
            <a:ext cx="1066800" cy="162044"/>
          </a:xfrm>
          <a:prstGeom prst="rect">
            <a:avLst/>
          </a:prstGeom>
          <a:noFill/>
          <a:ln/>
        </p:spPr>
        <p:txBody>
          <a:bodyPr wrap="none" lIns="0" tIns="0" rIns="0" bIns="0" rtlCol="0" anchor="t"/>
          <a:lstStyle/>
          <a:p>
            <a:pPr algn="ctr" indent="0" marL="0">
              <a:lnSpc>
                <a:spcPts val="1250"/>
              </a:lnSpc>
              <a:buNone/>
            </a:pPr>
            <a:r>
              <a:rPr lang="en-US" sz="800" dirty="0">
                <a:solidFill>
                  <a:srgbClr val="AEAEB2"/>
                </a:solidFill>
                <a:latin typeface="Microsoft YaHei" pitchFamily="34" charset="0"/>
                <a:ea typeface="Microsoft YaHei" pitchFamily="34" charset="-122"/>
                <a:cs typeface="Microsoft YaHei" pitchFamily="34" charset="-120"/>
              </a:rPr>
              <a:t>生成此图像时出现错误</a:t>
            </a:r>
            <a:endParaRPr lang="en-US" sz="800" dirty="0"/>
          </a:p>
        </p:txBody>
      </p:sp>
      <p:sp>
        <p:nvSpPr>
          <p:cNvPr id="8" name="Text 5"/>
          <p:cNvSpPr/>
          <p:nvPr/>
        </p:nvSpPr>
        <p:spPr>
          <a:xfrm>
            <a:off x="9602867" y="2419469"/>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257B8"/>
                </a:solidFill>
                <a:latin typeface="Microsoft YaHei" pitchFamily="34" charset="0"/>
                <a:ea typeface="Microsoft YaHei" pitchFamily="34" charset="-122"/>
                <a:cs typeface="Microsoft YaHei" pitchFamily="34" charset="-120"/>
              </a:rPr>
              <a:t>MBST 通信主干构建</a:t>
            </a:r>
            <a:endParaRPr lang="en-US" sz="2000" dirty="0"/>
          </a:p>
        </p:txBody>
      </p:sp>
      <p:sp>
        <p:nvSpPr>
          <p:cNvPr id="9" name="Text 6"/>
          <p:cNvSpPr/>
          <p:nvPr/>
        </p:nvSpPr>
        <p:spPr>
          <a:xfrm>
            <a:off x="9602867" y="2922032"/>
            <a:ext cx="4241244" cy="1241108"/>
          </a:xfrm>
          <a:prstGeom prst="rect">
            <a:avLst/>
          </a:prstGeom>
          <a:noFill/>
          <a:ln/>
        </p:spPr>
        <p:txBody>
          <a:bodyPr wrap="square" lIns="0" tIns="0" rIns="0" bIns="0" rtlCol="0" anchor="t"/>
          <a:lstStyle/>
          <a:p>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采用降序 Kruskal 算法，以双向 SINR 最小值为边权，动态生成</a:t>
            </a:r>
            <a:pPr algn="l" indent="0" marL="0">
              <a:lnSpc>
                <a:spcPts val="2400"/>
              </a:lnSpc>
              <a:buNone/>
            </a:pPr>
            <a:r>
              <a:rPr lang="en-US" sz="1600" b="1" dirty="0">
                <a:solidFill>
                  <a:srgbClr val="15213F"/>
                </a:solidFill>
                <a:latin typeface="Microsoft YaHei" pitchFamily="34" charset="0"/>
                <a:ea typeface="Microsoft YaHei" pitchFamily="34" charset="-122"/>
                <a:cs typeface="Microsoft YaHei" pitchFamily="34" charset="-120"/>
              </a:rPr>
              <a:t>最大 SINR 瓶颈生成树</a:t>
            </a:r>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，仅保留 N-1 条关键主干链路，大幅降低势场耦合复杂度。</a:t>
            </a:r>
            <a:endParaRPr lang="en-US" sz="1600" dirty="0"/>
          </a:p>
        </p:txBody>
      </p:sp>
      <p:sp>
        <p:nvSpPr>
          <p:cNvPr id="10" name="Shape 7"/>
          <p:cNvSpPr/>
          <p:nvPr/>
        </p:nvSpPr>
        <p:spPr>
          <a:xfrm>
            <a:off x="9602867" y="4420791"/>
            <a:ext cx="4241244" cy="15240"/>
          </a:xfrm>
          <a:prstGeom prst="rect">
            <a:avLst/>
          </a:prstGeom>
          <a:solidFill>
            <a:srgbClr val="15213F">
              <a:alpha val="50000"/>
            </a:srgbClr>
          </a:solidFill>
          <a:ln/>
        </p:spPr>
      </p:sp>
      <p:sp>
        <p:nvSpPr>
          <p:cNvPr id="11" name="Text 8"/>
          <p:cNvSpPr/>
          <p:nvPr/>
        </p:nvSpPr>
        <p:spPr>
          <a:xfrm>
            <a:off x="9602867" y="4693682"/>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3257B8"/>
                </a:solidFill>
                <a:latin typeface="Microsoft YaHei" pitchFamily="34" charset="0"/>
                <a:ea typeface="Microsoft YaHei" pitchFamily="34" charset="-122"/>
                <a:cs typeface="Microsoft YaHei" pitchFamily="34" charset="-120"/>
              </a:rPr>
              <a:t>APF 三力合成</a:t>
            </a:r>
            <a:endParaRPr lang="en-US" sz="2000" dirty="0"/>
          </a:p>
        </p:txBody>
      </p:sp>
      <p:sp>
        <p:nvSpPr>
          <p:cNvPr id="12" name="Text 9"/>
          <p:cNvSpPr/>
          <p:nvPr/>
        </p:nvSpPr>
        <p:spPr>
          <a:xfrm>
            <a:off x="9602867" y="5196245"/>
            <a:ext cx="4241244" cy="310277"/>
          </a:xfrm>
          <a:prstGeom prst="rect">
            <a:avLst/>
          </a:prstGeom>
          <a:noFill/>
          <a:ln/>
        </p:spPr>
        <p:txBody>
          <a:bodyPr wrap="none" lIns="0" tIns="0" rIns="0" bIns="0" rtlCol="0" anchor="t"/>
          <a:lstStyle/>
          <a:p>
            <a:pPr algn="l" indent="0" marL="0">
              <a:lnSpc>
                <a:spcPts val="2400"/>
              </a:lnSpc>
              <a:buNone/>
            </a:pPr>
            <a:r>
              <a:rPr lang="en-US" sz="1600" b="1" dirty="0">
                <a:solidFill>
                  <a:srgbClr val="15213F"/>
                </a:solidFill>
                <a:latin typeface="Microsoft YaHei" pitchFamily="34" charset="0"/>
                <a:ea typeface="Microsoft YaHei" pitchFamily="34" charset="-122"/>
                <a:cs typeface="Microsoft YaHei" pitchFamily="34" charset="-120"/>
              </a:rPr>
              <a:t>合力：</a:t>
            </a:r>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 Fi(t) = α·fatt + β·frep + η·fcoh</a:t>
            </a:r>
            <a:endParaRPr lang="en-US" sz="1600" dirty="0"/>
          </a:p>
        </p:txBody>
      </p:sp>
      <p:sp>
        <p:nvSpPr>
          <p:cNvPr id="13" name="Shape 10"/>
          <p:cNvSpPr/>
          <p:nvPr/>
        </p:nvSpPr>
        <p:spPr>
          <a:xfrm>
            <a:off x="793790" y="5878473"/>
            <a:ext cx="4225052" cy="1472922"/>
          </a:xfrm>
          <a:prstGeom prst="roundRect">
            <a:avLst>
              <a:gd name="adj" fmla="val 621"/>
            </a:avLst>
          </a:prstGeom>
          <a:solidFill>
            <a:srgbClr val="E9ECF2"/>
          </a:solidFill>
          <a:ln w="7620">
            <a:solidFill>
              <a:srgbClr val="CFD2D8"/>
            </a:solidFill>
            <a:prstDash val="solid"/>
          </a:ln>
        </p:spPr>
      </p:sp>
      <p:sp>
        <p:nvSpPr>
          <p:cNvPr id="14" name="Text 11"/>
          <p:cNvSpPr/>
          <p:nvPr/>
        </p:nvSpPr>
        <p:spPr>
          <a:xfrm>
            <a:off x="1005483" y="6090166"/>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Microsoft YaHei" pitchFamily="34" charset="0"/>
                <a:ea typeface="Microsoft YaHei" pitchFamily="34" charset="-122"/>
                <a:cs typeface="Microsoft YaHei" pitchFamily="34" charset="-120"/>
              </a:rPr>
              <a:t>目标导向引力 fatt</a:t>
            </a:r>
            <a:endParaRPr lang="en-US" sz="2000" dirty="0"/>
          </a:p>
        </p:txBody>
      </p:sp>
      <p:sp>
        <p:nvSpPr>
          <p:cNvPr id="15" name="Text 12"/>
          <p:cNvSpPr/>
          <p:nvPr/>
        </p:nvSpPr>
        <p:spPr>
          <a:xfrm>
            <a:off x="1005483" y="6519148"/>
            <a:ext cx="3801666" cy="620554"/>
          </a:xfrm>
          <a:prstGeom prst="rect">
            <a:avLst/>
          </a:prstGeom>
          <a:noFill/>
          <a:ln/>
        </p:spPr>
        <p:txBody>
          <a:bodyPr wrap="square" lIns="0" tIns="0" rIns="0" bIns="0" rtlCol="0" anchor="t"/>
          <a:lstStyle/>
          <a:p>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引导无人机朝全局 C-RRT* 规划的下一关键点运动</a:t>
            </a:r>
            <a:endParaRPr lang="en-US" sz="1600" dirty="0"/>
          </a:p>
        </p:txBody>
      </p:sp>
      <p:sp>
        <p:nvSpPr>
          <p:cNvPr id="16" name="Shape 13"/>
          <p:cNvSpPr/>
          <p:nvPr/>
        </p:nvSpPr>
        <p:spPr>
          <a:xfrm>
            <a:off x="5202555" y="5878473"/>
            <a:ext cx="4225171" cy="1472922"/>
          </a:xfrm>
          <a:prstGeom prst="roundRect">
            <a:avLst>
              <a:gd name="adj" fmla="val 621"/>
            </a:avLst>
          </a:prstGeom>
          <a:solidFill>
            <a:srgbClr val="E9ECF2"/>
          </a:solidFill>
          <a:ln w="7620">
            <a:solidFill>
              <a:srgbClr val="CFD2D8"/>
            </a:solidFill>
            <a:prstDash val="solid"/>
          </a:ln>
        </p:spPr>
      </p:sp>
      <p:sp>
        <p:nvSpPr>
          <p:cNvPr id="17" name="Text 14"/>
          <p:cNvSpPr/>
          <p:nvPr/>
        </p:nvSpPr>
        <p:spPr>
          <a:xfrm>
            <a:off x="5414248" y="6090166"/>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Microsoft YaHei" pitchFamily="34" charset="0"/>
                <a:ea typeface="Microsoft YaHei" pitchFamily="34" charset="-122"/>
                <a:cs typeface="Microsoft YaHei" pitchFamily="34" charset="-120"/>
              </a:rPr>
              <a:t>碰撞避免斥力 frep</a:t>
            </a:r>
            <a:endParaRPr lang="en-US" sz="2000" dirty="0"/>
          </a:p>
        </p:txBody>
      </p:sp>
      <p:sp>
        <p:nvSpPr>
          <p:cNvPr id="18" name="Text 15"/>
          <p:cNvSpPr/>
          <p:nvPr/>
        </p:nvSpPr>
        <p:spPr>
          <a:xfrm>
            <a:off x="5414248" y="6519148"/>
            <a:ext cx="3801785" cy="620554"/>
          </a:xfrm>
          <a:prstGeom prst="rect">
            <a:avLst/>
          </a:prstGeom>
          <a:noFill/>
          <a:ln/>
        </p:spPr>
        <p:txBody>
          <a:bodyPr wrap="square" lIns="0" tIns="0" rIns="0" bIns="0" rtlCol="0" anchor="t"/>
          <a:lstStyle/>
          <a:p>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对建筑物、干扰禁区及邻近无人机施加排斥，优先级最高（β≫η≈α）</a:t>
            </a:r>
            <a:endParaRPr lang="en-US" sz="1600" dirty="0"/>
          </a:p>
        </p:txBody>
      </p:sp>
      <p:sp>
        <p:nvSpPr>
          <p:cNvPr id="19" name="Shape 16"/>
          <p:cNvSpPr/>
          <p:nvPr/>
        </p:nvSpPr>
        <p:spPr>
          <a:xfrm>
            <a:off x="9611439" y="5878473"/>
            <a:ext cx="4225171" cy="1472922"/>
          </a:xfrm>
          <a:prstGeom prst="roundRect">
            <a:avLst>
              <a:gd name="adj" fmla="val 621"/>
            </a:avLst>
          </a:prstGeom>
          <a:solidFill>
            <a:srgbClr val="E9ECF2"/>
          </a:solidFill>
          <a:ln w="7620">
            <a:solidFill>
              <a:srgbClr val="CFD2D8"/>
            </a:solidFill>
            <a:prstDash val="solid"/>
          </a:ln>
        </p:spPr>
      </p:sp>
      <p:sp>
        <p:nvSpPr>
          <p:cNvPr id="20" name="Text 17"/>
          <p:cNvSpPr/>
          <p:nvPr/>
        </p:nvSpPr>
        <p:spPr>
          <a:xfrm>
            <a:off x="9823133" y="6090166"/>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Microsoft YaHei" pitchFamily="34" charset="0"/>
                <a:ea typeface="Microsoft YaHei" pitchFamily="34" charset="-122"/>
                <a:cs typeface="Microsoft YaHei" pitchFamily="34" charset="-120"/>
              </a:rPr>
              <a:t>通信保持引力 fcoh</a:t>
            </a:r>
            <a:endParaRPr lang="en-US" sz="2000" dirty="0"/>
          </a:p>
        </p:txBody>
      </p:sp>
      <p:sp>
        <p:nvSpPr>
          <p:cNvPr id="21" name="Text 18"/>
          <p:cNvSpPr/>
          <p:nvPr/>
        </p:nvSpPr>
        <p:spPr>
          <a:xfrm>
            <a:off x="9823133" y="6519148"/>
            <a:ext cx="3801785" cy="620554"/>
          </a:xfrm>
          <a:prstGeom prst="rect">
            <a:avLst/>
          </a:prstGeom>
          <a:noFill/>
          <a:ln/>
        </p:spPr>
        <p:txBody>
          <a:bodyPr wrap="square" lIns="0" tIns="0" rIns="0" bIns="0" rtlCol="0" anchor="t"/>
          <a:lstStyle/>
          <a:p>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仅对 MBST 主干链路中的邻居节点施加自适应引力，链路接近失效时引力增强</a:t>
            </a:r>
            <a:endParaRPr lang="en-US" sz="1600" dirty="0"/>
          </a:p>
        </p:txBody>
      </p:sp>
      <p:pic>
        <p:nvPicPr>
          <p:cNvPr id="22" name="Image 1" descr="preencoded.png">    </p:cNvPr>
          <p:cNvPicPr>
            <a:picLocks noChangeAspect="1"/>
          </p:cNvPicPr>
          <p:nvPr/>
        </p:nvPicPr>
        <p:blipFill>
          <a:blip r:embed="rId2"/>
          <a:stretch>
            <a:fillRect/>
          </a:stretch>
        </p:blipFill>
        <p:spPr>
          <a:xfrm>
            <a:off x="136088" y="208955"/>
            <a:ext cx="1351836" cy="307896"/>
          </a:xfrm>
          <a:prstGeom prst="rect">
            <a:avLst/>
          </a:prstGeom>
        </p:spPr>
      </p:pic>
      <p:sp>
        <p:nvSpPr>
          <p:cNvPr id="23" name="Text 19"/>
          <p:cNvSpPr/>
          <p:nvPr/>
        </p:nvSpPr>
        <p:spPr>
          <a:xfrm>
            <a:off x="7199948" y="7745968"/>
            <a:ext cx="230505" cy="241340"/>
          </a:xfrm>
          <a:prstGeom prst="rect">
            <a:avLst/>
          </a:prstGeom>
          <a:noFill/>
          <a:ln/>
        </p:spPr>
        <p:txBody>
          <a:bodyPr wrap="none" lIns="0" tIns="0" rIns="0" bIns="0" rtlCol="0" anchor="t"/>
          <a:lstStyle/>
          <a:p>
            <a:pPr algn="ctr" indent="0" marL="0">
              <a:lnSpc>
                <a:spcPts val="1900"/>
              </a:lnSpc>
              <a:buNone/>
            </a:pPr>
            <a:r>
              <a:rPr lang="en-US" sz="1250" dirty="0">
                <a:solidFill>
                  <a:srgbClr val="15213F"/>
                </a:solidFill>
                <a:latin typeface="Microsoft YaHei" pitchFamily="34" charset="0"/>
                <a:ea typeface="Microsoft YaHei" pitchFamily="34" charset="-122"/>
                <a:cs typeface="Microsoft YaHei" pitchFamily="34" charset="-120"/>
              </a:rPr>
              <a:t>9</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93790" y="1413391"/>
            <a:ext cx="3436739" cy="426244"/>
          </a:xfrm>
          <a:prstGeom prst="roundRect">
            <a:avLst>
              <a:gd name="adj" fmla="val 2145"/>
            </a:avLst>
          </a:prstGeom>
          <a:solidFill>
            <a:srgbClr val="D7DFF4"/>
          </a:solidFill>
          <a:ln/>
        </p:spPr>
      </p:sp>
      <p:sp>
        <p:nvSpPr>
          <p:cNvPr id="3" name="Text 1"/>
          <p:cNvSpPr/>
          <p:nvPr/>
        </p:nvSpPr>
        <p:spPr>
          <a:xfrm>
            <a:off x="929878" y="1481376"/>
            <a:ext cx="316456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Microsoft YaHei" pitchFamily="34" charset="0"/>
                <a:ea typeface="Microsoft YaHei" pitchFamily="34" charset="-122"/>
                <a:cs typeface="Microsoft YaHei" pitchFamily="34" charset="-120"/>
              </a:rPr>
              <a:t>03 C-RRT*-APF 通信保持路径规划算法</a:t>
            </a:r>
            <a:endParaRPr lang="en-US" sz="1400" dirty="0"/>
          </a:p>
        </p:txBody>
      </p:sp>
      <p:sp>
        <p:nvSpPr>
          <p:cNvPr id="4" name="Text 2"/>
          <p:cNvSpPr/>
          <p:nvPr/>
        </p:nvSpPr>
        <p:spPr>
          <a:xfrm>
            <a:off x="793790" y="1930360"/>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Microsoft YaHei" pitchFamily="34" charset="0"/>
                <a:ea typeface="Microsoft YaHei" pitchFamily="34" charset="-122"/>
                <a:cs typeface="Microsoft YaHei" pitchFamily="34" charset="-120"/>
              </a:rPr>
              <a:t>典型场景仿真效果对比</a:t>
            </a:r>
            <a:endParaRPr lang="en-US" sz="4450" dirty="0"/>
          </a:p>
        </p:txBody>
      </p:sp>
      <p:sp>
        <p:nvSpPr>
          <p:cNvPr id="5" name="Text 3"/>
          <p:cNvSpPr/>
          <p:nvPr/>
        </p:nvSpPr>
        <p:spPr>
          <a:xfrm>
            <a:off x="793790" y="2979301"/>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典型场景：36架无人机，20栋建筑，单中心干扰源（25 dBm）</a:t>
            </a:r>
            <a:endParaRPr lang="en-US" sz="1750" dirty="0"/>
          </a:p>
        </p:txBody>
      </p:sp>
      <p:sp>
        <p:nvSpPr>
          <p:cNvPr id="6" name="Shape 4"/>
          <p:cNvSpPr/>
          <p:nvPr/>
        </p:nvSpPr>
        <p:spPr>
          <a:xfrm>
            <a:off x="793790" y="3597354"/>
            <a:ext cx="2194560" cy="1356241"/>
          </a:xfrm>
          <a:prstGeom prst="roundRect">
            <a:avLst>
              <a:gd name="adj" fmla="val 674"/>
            </a:avLst>
          </a:prstGeom>
          <a:solidFill>
            <a:srgbClr val="DFDFE0"/>
          </a:solidFill>
          <a:ln/>
        </p:spPr>
      </p:sp>
      <p:pic>
        <p:nvPicPr>
          <p:cNvPr id="7" name="Image 0" descr="preencoded.png">    </p:cNvPr>
          <p:cNvPicPr>
            <a:picLocks noChangeAspect="1"/>
          </p:cNvPicPr>
          <p:nvPr/>
        </p:nvPicPr>
        <p:blipFill>
          <a:blip r:embed="rId1"/>
          <a:stretch>
            <a:fillRect/>
          </a:stretch>
        </p:blipFill>
        <p:spPr>
          <a:xfrm>
            <a:off x="1776770" y="4066342"/>
            <a:ext cx="228600" cy="228600"/>
          </a:xfrm>
          <a:prstGeom prst="rect">
            <a:avLst/>
          </a:prstGeom>
        </p:spPr>
      </p:pic>
      <p:sp>
        <p:nvSpPr>
          <p:cNvPr id="8" name="Text 5"/>
          <p:cNvSpPr/>
          <p:nvPr/>
        </p:nvSpPr>
        <p:spPr>
          <a:xfrm>
            <a:off x="1357670" y="4388287"/>
            <a:ext cx="1066800" cy="170617"/>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Microsoft YaHei" pitchFamily="34" charset="0"/>
                <a:ea typeface="Microsoft YaHei" pitchFamily="34" charset="-122"/>
                <a:cs typeface="Microsoft YaHei" pitchFamily="34" charset="-120"/>
              </a:rPr>
              <a:t>生成此图像时出现错误</a:t>
            </a:r>
            <a:endParaRPr lang="en-US" sz="800" dirty="0"/>
          </a:p>
        </p:txBody>
      </p:sp>
      <p:sp>
        <p:nvSpPr>
          <p:cNvPr id="9" name="Text 6"/>
          <p:cNvSpPr/>
          <p:nvPr/>
        </p:nvSpPr>
        <p:spPr>
          <a:xfrm>
            <a:off x="793790" y="523708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K-CBS</a:t>
            </a:r>
            <a:endParaRPr lang="en-US" sz="2200" dirty="0"/>
          </a:p>
        </p:txBody>
      </p:sp>
      <p:sp>
        <p:nvSpPr>
          <p:cNvPr id="10" name="Text 7"/>
          <p:cNvSpPr/>
          <p:nvPr/>
        </p:nvSpPr>
        <p:spPr>
          <a:xfrm>
            <a:off x="793790" y="5727502"/>
            <a:ext cx="3048000"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路径折线抖动明显，平滑性差；缺乏通信保持机制，连通率低</a:t>
            </a:r>
            <a:endParaRPr lang="en-US" sz="1750" dirty="0"/>
          </a:p>
        </p:txBody>
      </p:sp>
      <p:sp>
        <p:nvSpPr>
          <p:cNvPr id="11" name="Shape 8"/>
          <p:cNvSpPr/>
          <p:nvPr/>
        </p:nvSpPr>
        <p:spPr>
          <a:xfrm>
            <a:off x="4125278" y="3597354"/>
            <a:ext cx="2194560" cy="1356241"/>
          </a:xfrm>
          <a:prstGeom prst="roundRect">
            <a:avLst>
              <a:gd name="adj" fmla="val 674"/>
            </a:avLst>
          </a:prstGeom>
          <a:solidFill>
            <a:srgbClr val="DFDFE0"/>
          </a:solidFill>
          <a:ln/>
        </p:spPr>
      </p:sp>
      <p:pic>
        <p:nvPicPr>
          <p:cNvPr id="12" name="Image 1" descr="preencoded.png">    </p:cNvPr>
          <p:cNvPicPr>
            <a:picLocks noChangeAspect="1"/>
          </p:cNvPicPr>
          <p:nvPr/>
        </p:nvPicPr>
        <p:blipFill>
          <a:blip r:embed="rId2"/>
          <a:stretch>
            <a:fillRect/>
          </a:stretch>
        </p:blipFill>
        <p:spPr>
          <a:xfrm>
            <a:off x="5108258" y="4066342"/>
            <a:ext cx="228600" cy="228600"/>
          </a:xfrm>
          <a:prstGeom prst="rect">
            <a:avLst/>
          </a:prstGeom>
        </p:spPr>
      </p:pic>
      <p:sp>
        <p:nvSpPr>
          <p:cNvPr id="13" name="Text 9"/>
          <p:cNvSpPr/>
          <p:nvPr/>
        </p:nvSpPr>
        <p:spPr>
          <a:xfrm>
            <a:off x="4689158" y="4388287"/>
            <a:ext cx="1066800" cy="170617"/>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Microsoft YaHei" pitchFamily="34" charset="0"/>
                <a:ea typeface="Microsoft YaHei" pitchFamily="34" charset="-122"/>
                <a:cs typeface="Microsoft YaHei" pitchFamily="34" charset="-120"/>
              </a:rPr>
              <a:t>生成此图像时出现错误</a:t>
            </a:r>
            <a:endParaRPr lang="en-US" sz="800" dirty="0"/>
          </a:p>
        </p:txBody>
      </p:sp>
      <p:sp>
        <p:nvSpPr>
          <p:cNvPr id="14" name="Text 10"/>
          <p:cNvSpPr/>
          <p:nvPr/>
        </p:nvSpPr>
        <p:spPr>
          <a:xfrm>
            <a:off x="4125278" y="523708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PPSwarm</a:t>
            </a:r>
            <a:endParaRPr lang="en-US" sz="2200" dirty="0"/>
          </a:p>
        </p:txBody>
      </p:sp>
      <p:sp>
        <p:nvSpPr>
          <p:cNvPr id="15" name="Text 11"/>
          <p:cNvSpPr/>
          <p:nvPr/>
        </p:nvSpPr>
        <p:spPr>
          <a:xfrm>
            <a:off x="4125278" y="5727502"/>
            <a:ext cx="3048119"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路径较平滑，效率优于K-CBS；但依赖全局信息，无法适应未知环境</a:t>
            </a:r>
            <a:endParaRPr lang="en-US" sz="1750" dirty="0"/>
          </a:p>
        </p:txBody>
      </p:sp>
      <p:sp>
        <p:nvSpPr>
          <p:cNvPr id="16" name="Shape 12"/>
          <p:cNvSpPr/>
          <p:nvPr/>
        </p:nvSpPr>
        <p:spPr>
          <a:xfrm>
            <a:off x="7456884" y="3597354"/>
            <a:ext cx="2194560" cy="1356241"/>
          </a:xfrm>
          <a:prstGeom prst="roundRect">
            <a:avLst>
              <a:gd name="adj" fmla="val 674"/>
            </a:avLst>
          </a:prstGeom>
          <a:solidFill>
            <a:srgbClr val="DFDFE0"/>
          </a:solidFill>
          <a:ln/>
        </p:spPr>
      </p:sp>
      <p:pic>
        <p:nvPicPr>
          <p:cNvPr id="17" name="Image 2" descr="preencoded.png">    </p:cNvPr>
          <p:cNvPicPr>
            <a:picLocks noChangeAspect="1"/>
          </p:cNvPicPr>
          <p:nvPr/>
        </p:nvPicPr>
        <p:blipFill>
          <a:blip r:embed="rId3"/>
          <a:stretch>
            <a:fillRect/>
          </a:stretch>
        </p:blipFill>
        <p:spPr>
          <a:xfrm>
            <a:off x="8439864" y="4066342"/>
            <a:ext cx="228600" cy="228600"/>
          </a:xfrm>
          <a:prstGeom prst="rect">
            <a:avLst/>
          </a:prstGeom>
        </p:spPr>
      </p:pic>
      <p:sp>
        <p:nvSpPr>
          <p:cNvPr id="18" name="Text 13"/>
          <p:cNvSpPr/>
          <p:nvPr/>
        </p:nvSpPr>
        <p:spPr>
          <a:xfrm>
            <a:off x="8020764" y="4388287"/>
            <a:ext cx="1066800" cy="170617"/>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Microsoft YaHei" pitchFamily="34" charset="0"/>
                <a:ea typeface="Microsoft YaHei" pitchFamily="34" charset="-122"/>
                <a:cs typeface="Microsoft YaHei" pitchFamily="34" charset="-120"/>
              </a:rPr>
              <a:t>生成此图像时出现错误</a:t>
            </a:r>
            <a:endParaRPr lang="en-US" sz="800" dirty="0"/>
          </a:p>
        </p:txBody>
      </p:sp>
      <p:sp>
        <p:nvSpPr>
          <p:cNvPr id="19" name="Text 14"/>
          <p:cNvSpPr/>
          <p:nvPr/>
        </p:nvSpPr>
        <p:spPr>
          <a:xfrm>
            <a:off x="7456884" y="523708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APF / CMUFC</a:t>
            </a:r>
            <a:endParaRPr lang="en-US" sz="2200" dirty="0"/>
          </a:p>
        </p:txBody>
      </p:sp>
      <p:sp>
        <p:nvSpPr>
          <p:cNvPr id="20" name="Text 15"/>
          <p:cNvSpPr/>
          <p:nvPr/>
        </p:nvSpPr>
        <p:spPr>
          <a:xfrm>
            <a:off x="7456884" y="5727502"/>
            <a:ext cx="3048119"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APF在干扰区附近局部震荡；CMUFC势场耦合复杂，路径震荡严重</a:t>
            </a:r>
            <a:endParaRPr lang="en-US" sz="1750" dirty="0"/>
          </a:p>
        </p:txBody>
      </p:sp>
      <p:sp>
        <p:nvSpPr>
          <p:cNvPr id="21" name="Shape 16"/>
          <p:cNvSpPr/>
          <p:nvPr/>
        </p:nvSpPr>
        <p:spPr>
          <a:xfrm>
            <a:off x="10788491" y="3597354"/>
            <a:ext cx="2194560" cy="1356241"/>
          </a:xfrm>
          <a:prstGeom prst="roundRect">
            <a:avLst>
              <a:gd name="adj" fmla="val 674"/>
            </a:avLst>
          </a:prstGeom>
          <a:solidFill>
            <a:srgbClr val="DFDFE0"/>
          </a:solidFill>
          <a:ln/>
        </p:spPr>
      </p:sp>
      <p:pic>
        <p:nvPicPr>
          <p:cNvPr id="22" name="Image 3" descr="preencoded.png">    </p:cNvPr>
          <p:cNvPicPr>
            <a:picLocks noChangeAspect="1"/>
          </p:cNvPicPr>
          <p:nvPr/>
        </p:nvPicPr>
        <p:blipFill>
          <a:blip r:embed="rId4"/>
          <a:stretch>
            <a:fillRect/>
          </a:stretch>
        </p:blipFill>
        <p:spPr>
          <a:xfrm>
            <a:off x="11771471" y="4066342"/>
            <a:ext cx="228600" cy="228600"/>
          </a:xfrm>
          <a:prstGeom prst="rect">
            <a:avLst/>
          </a:prstGeom>
        </p:spPr>
      </p:pic>
      <p:sp>
        <p:nvSpPr>
          <p:cNvPr id="23" name="Text 17"/>
          <p:cNvSpPr/>
          <p:nvPr/>
        </p:nvSpPr>
        <p:spPr>
          <a:xfrm>
            <a:off x="11352371" y="4388287"/>
            <a:ext cx="1066800" cy="170617"/>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Microsoft YaHei" pitchFamily="34" charset="0"/>
                <a:ea typeface="Microsoft YaHei" pitchFamily="34" charset="-122"/>
                <a:cs typeface="Microsoft YaHei" pitchFamily="34" charset="-120"/>
              </a:rPr>
              <a:t>生成此图像时出现错误</a:t>
            </a:r>
            <a:endParaRPr lang="en-US" sz="800" dirty="0"/>
          </a:p>
        </p:txBody>
      </p:sp>
      <p:sp>
        <p:nvSpPr>
          <p:cNvPr id="24" name="Text 18"/>
          <p:cNvSpPr/>
          <p:nvPr/>
        </p:nvSpPr>
        <p:spPr>
          <a:xfrm>
            <a:off x="10788491" y="523708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C-RRT*-APF（本文）</a:t>
            </a:r>
            <a:endParaRPr lang="en-US" sz="2200" dirty="0"/>
          </a:p>
        </p:txBody>
      </p:sp>
      <p:sp>
        <p:nvSpPr>
          <p:cNvPr id="25" name="Text 19"/>
          <p:cNvSpPr/>
          <p:nvPr/>
        </p:nvSpPr>
        <p:spPr>
          <a:xfrm>
            <a:off x="10788491" y="5727502"/>
            <a:ext cx="3048119"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无人机沿干扰同侧协同穿越，路径平滑，通信连通率显著提升</a:t>
            </a:r>
            <a:endParaRPr lang="en-US" sz="1750" dirty="0"/>
          </a:p>
        </p:txBody>
      </p:sp>
      <p:pic>
        <p:nvPicPr>
          <p:cNvPr id="26" name="Image 4" descr="preencoded.png">    </p:cNvPr>
          <p:cNvPicPr>
            <a:picLocks noChangeAspect="1"/>
          </p:cNvPicPr>
          <p:nvPr/>
        </p:nvPicPr>
        <p:blipFill>
          <a:blip r:embed="rId5"/>
          <a:stretch>
            <a:fillRect/>
          </a:stretch>
        </p:blipFill>
        <p:spPr>
          <a:xfrm>
            <a:off x="136088" y="208955"/>
            <a:ext cx="1351836" cy="307896"/>
          </a:xfrm>
          <a:prstGeom prst="rect">
            <a:avLst/>
          </a:prstGeom>
        </p:spPr>
      </p:pic>
      <p:sp>
        <p:nvSpPr>
          <p:cNvPr id="27" name="Text 20"/>
          <p:cNvSpPr/>
          <p:nvPr/>
        </p:nvSpPr>
        <p:spPr>
          <a:xfrm>
            <a:off x="7160181" y="7739658"/>
            <a:ext cx="310039" cy="254079"/>
          </a:xfrm>
          <a:prstGeom prst="rect">
            <a:avLst/>
          </a:prstGeom>
          <a:noFill/>
          <a:ln/>
        </p:spPr>
        <p:txBody>
          <a:bodyPr wrap="none" lIns="0" tIns="0" rIns="0" bIns="0" rtlCol="0" anchor="t"/>
          <a:lstStyle/>
          <a:p>
            <a:pPr algn="ctr" indent="0" marL="0">
              <a:lnSpc>
                <a:spcPts val="2000"/>
              </a:lnSpc>
              <a:buNone/>
            </a:pPr>
            <a:r>
              <a:rPr lang="en-US" sz="1250" dirty="0">
                <a:solidFill>
                  <a:srgbClr val="15213F"/>
                </a:solidFill>
                <a:latin typeface="Microsoft YaHei" pitchFamily="34" charset="0"/>
                <a:ea typeface="Microsoft YaHei" pitchFamily="34" charset="-122"/>
                <a:cs typeface="Microsoft YaHei" pitchFamily="34" charset="-120"/>
              </a:rPr>
              <a:t>10</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93790" y="937736"/>
            <a:ext cx="2750582" cy="317778"/>
          </a:xfrm>
          <a:prstGeom prst="roundRect">
            <a:avLst>
              <a:gd name="adj" fmla="val 2877"/>
            </a:avLst>
          </a:prstGeom>
          <a:solidFill>
            <a:srgbClr val="D7DFF4"/>
          </a:solidFill>
          <a:ln/>
        </p:spPr>
      </p:sp>
      <p:sp>
        <p:nvSpPr>
          <p:cNvPr id="3" name="Text 1"/>
          <p:cNvSpPr/>
          <p:nvPr/>
        </p:nvSpPr>
        <p:spPr>
          <a:xfrm>
            <a:off x="902613" y="992148"/>
            <a:ext cx="2532936" cy="208955"/>
          </a:xfrm>
          <a:prstGeom prst="rect">
            <a:avLst/>
          </a:prstGeom>
          <a:noFill/>
          <a:ln/>
        </p:spPr>
        <p:txBody>
          <a:bodyPr wrap="none" lIns="0" tIns="0" rIns="0" bIns="0" rtlCol="0" anchor="t"/>
          <a:lstStyle/>
          <a:p>
            <a:pPr algn="l" indent="0" marL="0">
              <a:lnSpc>
                <a:spcPts val="1600"/>
              </a:lnSpc>
              <a:buNone/>
            </a:pPr>
            <a:r>
              <a:rPr lang="en-US" sz="1100" dirty="0">
                <a:solidFill>
                  <a:srgbClr val="15213F"/>
                </a:solidFill>
                <a:latin typeface="Microsoft YaHei" pitchFamily="34" charset="0"/>
                <a:ea typeface="Microsoft YaHei" pitchFamily="34" charset="-122"/>
                <a:cs typeface="Microsoft YaHei" pitchFamily="34" charset="-120"/>
              </a:rPr>
              <a:t>03 C-RRT*-APF 通信保持路径规划算法</a:t>
            </a:r>
            <a:endParaRPr lang="en-US" sz="1100" dirty="0"/>
          </a:p>
        </p:txBody>
      </p:sp>
      <p:sp>
        <p:nvSpPr>
          <p:cNvPr id="4" name="Text 2"/>
          <p:cNvSpPr/>
          <p:nvPr/>
        </p:nvSpPr>
        <p:spPr>
          <a:xfrm>
            <a:off x="793790" y="1313498"/>
            <a:ext cx="4536519"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Microsoft YaHei" pitchFamily="34" charset="0"/>
                <a:ea typeface="Microsoft YaHei" pitchFamily="34" charset="-122"/>
                <a:cs typeface="Microsoft YaHei" pitchFamily="34" charset="-120"/>
              </a:rPr>
              <a:t>量化指标分析</a:t>
            </a:r>
            <a:endParaRPr lang="en-US" sz="3550" dirty="0"/>
          </a:p>
        </p:txBody>
      </p:sp>
      <p:sp>
        <p:nvSpPr>
          <p:cNvPr id="5" name="Text 3"/>
          <p:cNvSpPr/>
          <p:nvPr/>
        </p:nvSpPr>
        <p:spPr>
          <a:xfrm>
            <a:off x="1216462" y="2188845"/>
            <a:ext cx="3381256" cy="598765"/>
          </a:xfrm>
          <a:prstGeom prst="rect">
            <a:avLst/>
          </a:prstGeom>
          <a:noFill/>
          <a:ln/>
        </p:spPr>
        <p:txBody>
          <a:bodyPr wrap="none" lIns="0" tIns="0" rIns="0" bIns="0" rtlCol="0" anchor="t"/>
          <a:lstStyle/>
          <a:p>
            <a:pPr algn="ctr" indent="0" marL="0">
              <a:lnSpc>
                <a:spcPts val="4700"/>
              </a:lnSpc>
              <a:buNone/>
            </a:pPr>
            <a:r>
              <a:rPr lang="en-US" sz="4700" dirty="0">
                <a:solidFill>
                  <a:srgbClr val="15213F"/>
                </a:solidFill>
                <a:latin typeface="Microsoft YaHei" pitchFamily="34" charset="0"/>
                <a:ea typeface="Microsoft YaHei" pitchFamily="34" charset="-122"/>
                <a:cs typeface="Microsoft YaHei" pitchFamily="34" charset="-120"/>
              </a:rPr>
              <a:t>29%</a:t>
            </a:r>
            <a:endParaRPr lang="en-US" sz="4700" dirty="0"/>
          </a:p>
        </p:txBody>
      </p:sp>
      <p:sp>
        <p:nvSpPr>
          <p:cNvPr id="6" name="Text 4"/>
          <p:cNvSpPr/>
          <p:nvPr/>
        </p:nvSpPr>
        <p:spPr>
          <a:xfrm>
            <a:off x="1772960" y="2987159"/>
            <a:ext cx="2268260" cy="283488"/>
          </a:xfrm>
          <a:prstGeom prst="rect">
            <a:avLst/>
          </a:prstGeom>
          <a:noFill/>
          <a:ln/>
        </p:spPr>
        <p:txBody>
          <a:bodyPr wrap="none" lIns="0" tIns="0" rIns="0" bIns="0" rtlCol="0" anchor="t"/>
          <a:lstStyle/>
          <a:p>
            <a:pPr algn="ctr" indent="0" marL="0">
              <a:lnSpc>
                <a:spcPts val="2200"/>
              </a:lnSpc>
              <a:buNone/>
            </a:pPr>
            <a:r>
              <a:rPr lang="en-US" sz="1750" dirty="0">
                <a:solidFill>
                  <a:srgbClr val="15213F"/>
                </a:solidFill>
                <a:latin typeface="Microsoft YaHei" pitchFamily="34" charset="0"/>
                <a:ea typeface="Microsoft YaHei" pitchFamily="34" charset="-122"/>
                <a:cs typeface="Microsoft YaHei" pitchFamily="34" charset="-120"/>
              </a:rPr>
              <a:t>平均到达时间降低</a:t>
            </a:r>
            <a:endParaRPr lang="en-US" sz="1750" dirty="0"/>
          </a:p>
        </p:txBody>
      </p:sp>
      <p:sp>
        <p:nvSpPr>
          <p:cNvPr id="7" name="Text 5"/>
          <p:cNvSpPr/>
          <p:nvPr/>
        </p:nvSpPr>
        <p:spPr>
          <a:xfrm>
            <a:off x="793790" y="3357682"/>
            <a:ext cx="4226600" cy="522446"/>
          </a:xfrm>
          <a:prstGeom prst="rect">
            <a:avLst/>
          </a:prstGeom>
          <a:noFill/>
          <a:ln/>
        </p:spPr>
        <p:txBody>
          <a:bodyPr wrap="square" lIns="0" tIns="0" rIns="0" bIns="0" rtlCol="0" anchor="t"/>
          <a:lstStyle/>
          <a:p>
            <a:pPr algn="ctr"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相较于 CMUFC 算法，典型场景下平均到达时间显著缩短</a:t>
            </a:r>
            <a:endParaRPr lang="en-US" sz="1400" dirty="0"/>
          </a:p>
        </p:txBody>
      </p:sp>
      <p:sp>
        <p:nvSpPr>
          <p:cNvPr id="8" name="Text 6"/>
          <p:cNvSpPr/>
          <p:nvPr/>
        </p:nvSpPr>
        <p:spPr>
          <a:xfrm>
            <a:off x="5624512" y="2188845"/>
            <a:ext cx="3381256" cy="598765"/>
          </a:xfrm>
          <a:prstGeom prst="rect">
            <a:avLst/>
          </a:prstGeom>
          <a:noFill/>
          <a:ln/>
        </p:spPr>
        <p:txBody>
          <a:bodyPr wrap="none" lIns="0" tIns="0" rIns="0" bIns="0" rtlCol="0" anchor="t"/>
          <a:lstStyle/>
          <a:p>
            <a:pPr algn="ctr" indent="0" marL="0">
              <a:lnSpc>
                <a:spcPts val="4700"/>
              </a:lnSpc>
              <a:buNone/>
            </a:pPr>
            <a:r>
              <a:rPr lang="en-US" sz="4700" dirty="0">
                <a:solidFill>
                  <a:srgbClr val="15213F"/>
                </a:solidFill>
                <a:latin typeface="Microsoft YaHei" pitchFamily="34" charset="0"/>
                <a:ea typeface="Microsoft YaHei" pitchFamily="34" charset="-122"/>
                <a:cs typeface="Microsoft YaHei" pitchFamily="34" charset="-120"/>
              </a:rPr>
              <a:t>17%</a:t>
            </a:r>
            <a:endParaRPr lang="en-US" sz="4700" dirty="0"/>
          </a:p>
        </p:txBody>
      </p:sp>
      <p:sp>
        <p:nvSpPr>
          <p:cNvPr id="9" name="Text 7"/>
          <p:cNvSpPr/>
          <p:nvPr/>
        </p:nvSpPr>
        <p:spPr>
          <a:xfrm>
            <a:off x="6181011" y="2987159"/>
            <a:ext cx="2268260" cy="283488"/>
          </a:xfrm>
          <a:prstGeom prst="rect">
            <a:avLst/>
          </a:prstGeom>
          <a:noFill/>
          <a:ln/>
        </p:spPr>
        <p:txBody>
          <a:bodyPr wrap="none" lIns="0" tIns="0" rIns="0" bIns="0" rtlCol="0" anchor="t"/>
          <a:lstStyle/>
          <a:p>
            <a:pPr algn="ctr" indent="0" marL="0">
              <a:lnSpc>
                <a:spcPts val="2200"/>
              </a:lnSpc>
              <a:buNone/>
            </a:pPr>
            <a:r>
              <a:rPr lang="en-US" sz="1750" dirty="0">
                <a:solidFill>
                  <a:srgbClr val="15213F"/>
                </a:solidFill>
                <a:latin typeface="Microsoft YaHei" pitchFamily="34" charset="0"/>
                <a:ea typeface="Microsoft YaHei" pitchFamily="34" charset="-122"/>
                <a:cs typeface="Microsoft YaHei" pitchFamily="34" charset="-120"/>
              </a:rPr>
              <a:t>通信连通率提升</a:t>
            </a:r>
            <a:endParaRPr lang="en-US" sz="1750" dirty="0"/>
          </a:p>
        </p:txBody>
      </p:sp>
      <p:sp>
        <p:nvSpPr>
          <p:cNvPr id="10" name="Text 8"/>
          <p:cNvSpPr/>
          <p:nvPr/>
        </p:nvSpPr>
        <p:spPr>
          <a:xfrm>
            <a:off x="5201841" y="3357682"/>
            <a:ext cx="4226600" cy="522446"/>
          </a:xfrm>
          <a:prstGeom prst="rect">
            <a:avLst/>
          </a:prstGeom>
          <a:noFill/>
          <a:ln/>
        </p:spPr>
        <p:txBody>
          <a:bodyPr wrap="square" lIns="0" tIns="0" rIns="0" bIns="0" rtlCol="0" anchor="t"/>
          <a:lstStyle/>
          <a:p>
            <a:pPr algn="ctr"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相较于 CMUFC 算法，通信连通率由约78%提升至95%</a:t>
            </a:r>
            <a:endParaRPr lang="en-US" sz="1400" dirty="0"/>
          </a:p>
        </p:txBody>
      </p:sp>
      <p:sp>
        <p:nvSpPr>
          <p:cNvPr id="11" name="Text 9"/>
          <p:cNvSpPr/>
          <p:nvPr/>
        </p:nvSpPr>
        <p:spPr>
          <a:xfrm>
            <a:off x="10032563" y="2188845"/>
            <a:ext cx="3381375" cy="598765"/>
          </a:xfrm>
          <a:prstGeom prst="rect">
            <a:avLst/>
          </a:prstGeom>
          <a:noFill/>
          <a:ln/>
        </p:spPr>
        <p:txBody>
          <a:bodyPr wrap="none" lIns="0" tIns="0" rIns="0" bIns="0" rtlCol="0" anchor="t"/>
          <a:lstStyle/>
          <a:p>
            <a:pPr algn="ctr" indent="0" marL="0">
              <a:lnSpc>
                <a:spcPts val="4700"/>
              </a:lnSpc>
              <a:buNone/>
            </a:pPr>
            <a:r>
              <a:rPr lang="en-US" sz="4700" dirty="0">
                <a:solidFill>
                  <a:srgbClr val="15213F"/>
                </a:solidFill>
                <a:latin typeface="Microsoft YaHei" pitchFamily="34" charset="0"/>
                <a:ea typeface="Microsoft YaHei" pitchFamily="34" charset="-122"/>
                <a:cs typeface="Microsoft YaHei" pitchFamily="34" charset="-120"/>
              </a:rPr>
              <a:t>95%</a:t>
            </a:r>
            <a:endParaRPr lang="en-US" sz="4700" dirty="0"/>
          </a:p>
        </p:txBody>
      </p:sp>
      <p:sp>
        <p:nvSpPr>
          <p:cNvPr id="12" name="Text 10"/>
          <p:cNvSpPr/>
          <p:nvPr/>
        </p:nvSpPr>
        <p:spPr>
          <a:xfrm>
            <a:off x="10589062" y="2987159"/>
            <a:ext cx="2268260" cy="283488"/>
          </a:xfrm>
          <a:prstGeom prst="rect">
            <a:avLst/>
          </a:prstGeom>
          <a:noFill/>
          <a:ln/>
        </p:spPr>
        <p:txBody>
          <a:bodyPr wrap="none" lIns="0" tIns="0" rIns="0" bIns="0" rtlCol="0" anchor="t"/>
          <a:lstStyle/>
          <a:p>
            <a:pPr algn="ctr" indent="0" marL="0">
              <a:lnSpc>
                <a:spcPts val="2200"/>
              </a:lnSpc>
              <a:buNone/>
            </a:pPr>
            <a:r>
              <a:rPr lang="en-US" sz="1750" dirty="0">
                <a:solidFill>
                  <a:srgbClr val="15213F"/>
                </a:solidFill>
                <a:latin typeface="Microsoft YaHei" pitchFamily="34" charset="0"/>
                <a:ea typeface="Microsoft YaHei" pitchFamily="34" charset="-122"/>
                <a:cs typeface="Microsoft YaHei" pitchFamily="34" charset="-120"/>
              </a:rPr>
              <a:t>通信连通率中位数</a:t>
            </a:r>
            <a:endParaRPr lang="en-US" sz="1750" dirty="0"/>
          </a:p>
        </p:txBody>
      </p:sp>
      <p:sp>
        <p:nvSpPr>
          <p:cNvPr id="13" name="Text 11"/>
          <p:cNvSpPr/>
          <p:nvPr/>
        </p:nvSpPr>
        <p:spPr>
          <a:xfrm>
            <a:off x="9609892" y="3357682"/>
            <a:ext cx="4226719" cy="522446"/>
          </a:xfrm>
          <a:prstGeom prst="rect">
            <a:avLst/>
          </a:prstGeom>
          <a:noFill/>
          <a:ln/>
        </p:spPr>
        <p:txBody>
          <a:bodyPr wrap="square" lIns="0" tIns="0" rIns="0" bIns="0" rtlCol="0" anchor="t"/>
          <a:lstStyle/>
          <a:p>
            <a:pPr algn="ctr"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40次独立重复实验中，C-RRT*-APF连通率中位数稳定在95%</a:t>
            </a:r>
            <a:endParaRPr lang="en-US" sz="1400" dirty="0"/>
          </a:p>
        </p:txBody>
      </p:sp>
      <p:sp>
        <p:nvSpPr>
          <p:cNvPr id="14" name="Text 12"/>
          <p:cNvSpPr/>
          <p:nvPr/>
        </p:nvSpPr>
        <p:spPr>
          <a:xfrm>
            <a:off x="793790" y="4188500"/>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3257B8"/>
                </a:solidFill>
                <a:latin typeface="Microsoft YaHei" pitchFamily="34" charset="0"/>
                <a:ea typeface="Microsoft YaHei" pitchFamily="34" charset="-122"/>
                <a:cs typeface="Microsoft YaHei" pitchFamily="34" charset="-120"/>
              </a:rPr>
              <a:t>时序指标分析</a:t>
            </a:r>
            <a:endParaRPr lang="en-US" sz="1750" dirty="0"/>
          </a:p>
        </p:txBody>
      </p:sp>
      <p:sp>
        <p:nvSpPr>
          <p:cNvPr id="15" name="Text 13"/>
          <p:cNvSpPr/>
          <p:nvPr/>
        </p:nvSpPr>
        <p:spPr>
          <a:xfrm>
            <a:off x="793790" y="4617125"/>
            <a:ext cx="6300073" cy="1668780"/>
          </a:xfrm>
          <a:prstGeom prst="rect">
            <a:avLst/>
          </a:prstGeom>
          <a:noFill/>
          <a:ln/>
        </p:spPr>
        <p:txBody>
          <a:bodyPr wrap="square" lIns="0" tIns="0" rIns="0" bIns="0" rtlCol="0" anchor="t"/>
          <a:lstStyle/>
          <a:p>
            <a:pPr algn="l" marL="342900" indent="-342900">
              <a:lnSpc>
                <a:spcPts val="2050"/>
              </a:lnSpc>
              <a:buSzPct val="100000"/>
              <a:buChar char="•"/>
            </a:pPr>
            <a:r>
              <a:rPr lang="en-US" sz="1400" b="1" dirty="0">
                <a:solidFill>
                  <a:srgbClr val="15213F"/>
                </a:solidFill>
                <a:latin typeface="Microsoft YaHei" pitchFamily="34" charset="0"/>
                <a:ea typeface="Microsoft YaHei" pitchFamily="34" charset="-122"/>
                <a:cs typeface="Microsoft YaHei" pitchFamily="34" charset="-120"/>
              </a:rPr>
              <a:t>到达时间：</a:t>
            </a:r>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C-RRT*-APF略高于全局规划算法，但显著优于APF与CMUFC，无极端离群值</a:t>
            </a:r>
            <a:endParaRPr lang="en-US" sz="1400" dirty="0"/>
          </a:p>
          <a:p>
            <a:pPr algn="l" marL="342900" indent="-342900">
              <a:lnSpc>
                <a:spcPts val="2050"/>
              </a:lnSpc>
              <a:buSzPct val="100000"/>
              <a:buChar char="•"/>
            </a:pPr>
            <a:r>
              <a:rPr lang="en-US" sz="1400" b="1" dirty="0">
                <a:solidFill>
                  <a:srgbClr val="15213F"/>
                </a:solidFill>
                <a:latin typeface="Microsoft YaHei" pitchFamily="34" charset="0"/>
                <a:ea typeface="Microsoft YaHei" pitchFamily="34" charset="-122"/>
                <a:cs typeface="Microsoft YaHei" pitchFamily="34" charset="-120"/>
              </a:rPr>
              <a:t>平均节点度：</a:t>
            </a:r>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干扰区域内仍维持较高节点连接密度，明显优于K-CBS、PPSwarm、APF</a:t>
            </a:r>
            <a:endParaRPr lang="en-US" sz="1400" dirty="0"/>
          </a:p>
          <a:p>
            <a:pPr algn="l" marL="342900" indent="-342900">
              <a:lnSpc>
                <a:spcPts val="2050"/>
              </a:lnSpc>
              <a:buSzPct val="100000"/>
              <a:buChar char="•"/>
            </a:pPr>
            <a:r>
              <a:rPr lang="en-US" sz="1400" b="1" dirty="0">
                <a:solidFill>
                  <a:srgbClr val="15213F"/>
                </a:solidFill>
                <a:latin typeface="Microsoft YaHei" pitchFamily="34" charset="0"/>
                <a:ea typeface="Microsoft YaHei" pitchFamily="34" charset="-122"/>
                <a:cs typeface="Microsoft YaHei" pitchFamily="34" charset="-120"/>
              </a:rPr>
              <a:t>最大连通分量：</a:t>
            </a:r>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仅在少数时刻出现短暂网络分裂，并能依靠MBST-APF机制迅速恢复</a:t>
            </a:r>
            <a:endParaRPr lang="en-US" sz="1400" dirty="0"/>
          </a:p>
        </p:txBody>
      </p:sp>
      <p:sp>
        <p:nvSpPr>
          <p:cNvPr id="16" name="Text 14"/>
          <p:cNvSpPr/>
          <p:nvPr/>
        </p:nvSpPr>
        <p:spPr>
          <a:xfrm>
            <a:off x="7544157" y="4188500"/>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3257B8"/>
                </a:solidFill>
                <a:latin typeface="Microsoft YaHei" pitchFamily="34" charset="0"/>
                <a:ea typeface="Microsoft YaHei" pitchFamily="34" charset="-122"/>
                <a:cs typeface="Microsoft YaHei" pitchFamily="34" charset="-120"/>
              </a:rPr>
              <a:t>消融实验对比</a:t>
            </a:r>
            <a:endParaRPr lang="en-US" sz="1750" dirty="0"/>
          </a:p>
        </p:txBody>
      </p:sp>
      <p:sp>
        <p:nvSpPr>
          <p:cNvPr id="17" name="Shape 15"/>
          <p:cNvSpPr/>
          <p:nvPr/>
        </p:nvSpPr>
        <p:spPr>
          <a:xfrm>
            <a:off x="7544157" y="4635222"/>
            <a:ext cx="6300073" cy="2101453"/>
          </a:xfrm>
          <a:prstGeom prst="roundRect">
            <a:avLst>
              <a:gd name="adj" fmla="val 435"/>
            </a:avLst>
          </a:prstGeom>
          <a:noFill/>
          <a:ln w="7620">
            <a:solidFill>
              <a:srgbClr val="000000">
                <a:alpha val="8000"/>
              </a:srgbClr>
            </a:solidFill>
            <a:prstDash val="solid"/>
          </a:ln>
        </p:spPr>
      </p:sp>
      <p:sp>
        <p:nvSpPr>
          <p:cNvPr id="18" name="Text 16"/>
          <p:cNvSpPr/>
          <p:nvPr/>
        </p:nvSpPr>
        <p:spPr>
          <a:xfrm>
            <a:off x="7734062" y="4737497"/>
            <a:ext cx="172771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算法版本</a:t>
            </a:r>
            <a:endParaRPr lang="en-US" sz="1400" dirty="0"/>
          </a:p>
        </p:txBody>
      </p:sp>
      <p:sp>
        <p:nvSpPr>
          <p:cNvPr id="19" name="Text 17"/>
          <p:cNvSpPr/>
          <p:nvPr/>
        </p:nvSpPr>
        <p:spPr>
          <a:xfrm>
            <a:off x="9832300" y="4737497"/>
            <a:ext cx="172390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通信连通率</a:t>
            </a:r>
            <a:endParaRPr lang="en-US" sz="1400" dirty="0"/>
          </a:p>
        </p:txBody>
      </p:sp>
      <p:sp>
        <p:nvSpPr>
          <p:cNvPr id="20" name="Text 18"/>
          <p:cNvSpPr/>
          <p:nvPr/>
        </p:nvSpPr>
        <p:spPr>
          <a:xfrm>
            <a:off x="11926729" y="4737497"/>
            <a:ext cx="172771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平均到达时间</a:t>
            </a:r>
            <a:endParaRPr lang="en-US" sz="1400" dirty="0"/>
          </a:p>
        </p:txBody>
      </p:sp>
      <p:sp>
        <p:nvSpPr>
          <p:cNvPr id="21" name="Text 19"/>
          <p:cNvSpPr/>
          <p:nvPr/>
        </p:nvSpPr>
        <p:spPr>
          <a:xfrm>
            <a:off x="7734062" y="5195649"/>
            <a:ext cx="1727716" cy="522446"/>
          </a:xfrm>
          <a:prstGeom prst="rect">
            <a:avLst/>
          </a:prstGeom>
          <a:noFill/>
          <a:ln/>
        </p:spPr>
        <p:txBody>
          <a:bodyPr wrap="squar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C-RRT*-APF（完整）</a:t>
            </a:r>
            <a:endParaRPr lang="en-US" sz="1400" dirty="0"/>
          </a:p>
        </p:txBody>
      </p:sp>
      <p:sp>
        <p:nvSpPr>
          <p:cNvPr id="22" name="Text 20"/>
          <p:cNvSpPr/>
          <p:nvPr/>
        </p:nvSpPr>
        <p:spPr>
          <a:xfrm>
            <a:off x="9832300" y="5195649"/>
            <a:ext cx="172390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95%</a:t>
            </a:r>
            <a:endParaRPr lang="en-US" sz="1400" dirty="0"/>
          </a:p>
        </p:txBody>
      </p:sp>
      <p:sp>
        <p:nvSpPr>
          <p:cNvPr id="23" name="Text 21"/>
          <p:cNvSpPr/>
          <p:nvPr/>
        </p:nvSpPr>
        <p:spPr>
          <a:xfrm>
            <a:off x="11926729" y="5195649"/>
            <a:ext cx="172771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297S</a:t>
            </a:r>
            <a:endParaRPr lang="en-US" sz="1400" dirty="0"/>
          </a:p>
        </p:txBody>
      </p:sp>
      <p:sp>
        <p:nvSpPr>
          <p:cNvPr id="24" name="Text 22"/>
          <p:cNvSpPr/>
          <p:nvPr/>
        </p:nvSpPr>
        <p:spPr>
          <a:xfrm>
            <a:off x="7734062" y="5915025"/>
            <a:ext cx="172771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无MBST引力项</a:t>
            </a:r>
            <a:endParaRPr lang="en-US" sz="1400" dirty="0"/>
          </a:p>
        </p:txBody>
      </p:sp>
      <p:sp>
        <p:nvSpPr>
          <p:cNvPr id="25" name="Text 23"/>
          <p:cNvSpPr/>
          <p:nvPr/>
        </p:nvSpPr>
        <p:spPr>
          <a:xfrm>
            <a:off x="9832300" y="5915025"/>
            <a:ext cx="172390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64%</a:t>
            </a:r>
            <a:endParaRPr lang="en-US" sz="1400" dirty="0"/>
          </a:p>
        </p:txBody>
      </p:sp>
      <p:sp>
        <p:nvSpPr>
          <p:cNvPr id="26" name="Text 24"/>
          <p:cNvSpPr/>
          <p:nvPr/>
        </p:nvSpPr>
        <p:spPr>
          <a:xfrm>
            <a:off x="11926729" y="5915025"/>
            <a:ext cx="172771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308S</a:t>
            </a:r>
            <a:endParaRPr lang="en-US" sz="1400" dirty="0"/>
          </a:p>
        </p:txBody>
      </p:sp>
      <p:sp>
        <p:nvSpPr>
          <p:cNvPr id="27" name="Text 25"/>
          <p:cNvSpPr/>
          <p:nvPr/>
        </p:nvSpPr>
        <p:spPr>
          <a:xfrm>
            <a:off x="7734062" y="6373178"/>
            <a:ext cx="172771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无簇间距离约束</a:t>
            </a:r>
            <a:endParaRPr lang="en-US" sz="1400" dirty="0"/>
          </a:p>
        </p:txBody>
      </p:sp>
      <p:sp>
        <p:nvSpPr>
          <p:cNvPr id="28" name="Text 26"/>
          <p:cNvSpPr/>
          <p:nvPr/>
        </p:nvSpPr>
        <p:spPr>
          <a:xfrm>
            <a:off x="9832300" y="6373178"/>
            <a:ext cx="172390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59%</a:t>
            </a:r>
            <a:endParaRPr lang="en-US" sz="1400" dirty="0"/>
          </a:p>
        </p:txBody>
      </p:sp>
      <p:sp>
        <p:nvSpPr>
          <p:cNvPr id="29" name="Text 27"/>
          <p:cNvSpPr/>
          <p:nvPr/>
        </p:nvSpPr>
        <p:spPr>
          <a:xfrm>
            <a:off x="11926729" y="6373178"/>
            <a:ext cx="172771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351S</a:t>
            </a:r>
            <a:endParaRPr lang="en-US" sz="1400" dirty="0"/>
          </a:p>
        </p:txBody>
      </p:sp>
      <p:sp>
        <p:nvSpPr>
          <p:cNvPr id="30" name="Text 28"/>
          <p:cNvSpPr/>
          <p:nvPr/>
        </p:nvSpPr>
        <p:spPr>
          <a:xfrm>
            <a:off x="7544157" y="6899910"/>
            <a:ext cx="6300073"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两项关键机制均对通信保持性能有显著贡献，协同作用最优。</a:t>
            </a:r>
            <a:endParaRPr lang="en-US" sz="1400" dirty="0"/>
          </a:p>
        </p:txBody>
      </p:sp>
      <p:pic>
        <p:nvPicPr>
          <p:cNvPr id="31" name="Image 0" descr="preencoded.png">    </p:cNvPr>
          <p:cNvPicPr>
            <a:picLocks noChangeAspect="1"/>
          </p:cNvPicPr>
          <p:nvPr/>
        </p:nvPicPr>
        <p:blipFill>
          <a:blip r:embed="rId1"/>
          <a:stretch>
            <a:fillRect/>
          </a:stretch>
        </p:blipFill>
        <p:spPr>
          <a:xfrm>
            <a:off x="136088" y="208955"/>
            <a:ext cx="1351836" cy="307896"/>
          </a:xfrm>
          <a:prstGeom prst="rect">
            <a:avLst/>
          </a:prstGeom>
        </p:spPr>
      </p:pic>
      <p:sp>
        <p:nvSpPr>
          <p:cNvPr id="32" name="Text 29"/>
          <p:cNvSpPr/>
          <p:nvPr/>
        </p:nvSpPr>
        <p:spPr>
          <a:xfrm>
            <a:off x="7144703" y="7752397"/>
            <a:ext cx="340995" cy="228600"/>
          </a:xfrm>
          <a:prstGeom prst="rect">
            <a:avLst/>
          </a:prstGeom>
          <a:noFill/>
          <a:ln/>
        </p:spPr>
        <p:txBody>
          <a:bodyPr wrap="none" lIns="0" tIns="0" rIns="0" bIns="0" rtlCol="0" anchor="t"/>
          <a:lstStyle/>
          <a:p>
            <a:pPr algn="ctr" indent="0" marL="0">
              <a:lnSpc>
                <a:spcPts val="1800"/>
              </a:lnSpc>
              <a:buNone/>
            </a:pPr>
            <a:r>
              <a:rPr lang="en-US" sz="1250" dirty="0">
                <a:solidFill>
                  <a:srgbClr val="15213F"/>
                </a:solidFill>
                <a:latin typeface="Microsoft YaHei" pitchFamily="34" charset="0"/>
                <a:ea typeface="Microsoft YaHei" pitchFamily="34" charset="-122"/>
                <a:cs typeface="Microsoft YaHei" pitchFamily="34" charset="-120"/>
              </a:rPr>
              <a:t>11</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93790" y="843796"/>
            <a:ext cx="2233851" cy="244078"/>
          </a:xfrm>
          <a:prstGeom prst="roundRect">
            <a:avLst>
              <a:gd name="adj" fmla="val 3746"/>
            </a:avLst>
          </a:prstGeom>
          <a:solidFill>
            <a:srgbClr val="D7DFF4"/>
          </a:solidFill>
          <a:ln/>
        </p:spPr>
      </p:sp>
      <p:sp>
        <p:nvSpPr>
          <p:cNvPr id="3" name="Text 1"/>
          <p:cNvSpPr/>
          <p:nvPr/>
        </p:nvSpPr>
        <p:spPr>
          <a:xfrm>
            <a:off x="882134" y="887968"/>
            <a:ext cx="2057162" cy="155734"/>
          </a:xfrm>
          <a:prstGeom prst="rect">
            <a:avLst/>
          </a:prstGeom>
          <a:noFill/>
          <a:ln/>
        </p:spPr>
        <p:txBody>
          <a:bodyPr wrap="none" lIns="0" tIns="0" rIns="0" bIns="0" rtlCol="0" anchor="t"/>
          <a:lstStyle/>
          <a:p>
            <a:pPr algn="l" indent="0" marL="0">
              <a:lnSpc>
                <a:spcPts val="1200"/>
              </a:lnSpc>
              <a:buNone/>
            </a:pPr>
            <a:r>
              <a:rPr lang="en-US" sz="900" dirty="0">
                <a:solidFill>
                  <a:srgbClr val="15213F"/>
                </a:solidFill>
                <a:latin typeface="Microsoft YaHei" pitchFamily="34" charset="0"/>
                <a:ea typeface="Microsoft YaHei" pitchFamily="34" charset="-122"/>
                <a:cs typeface="Microsoft YaHei" pitchFamily="34" charset="-120"/>
              </a:rPr>
              <a:t>03 C-RRT*-APF 通信保持路径规划算法</a:t>
            </a:r>
            <a:endParaRPr lang="en-US" sz="900" dirty="0"/>
          </a:p>
        </p:txBody>
      </p:sp>
      <p:sp>
        <p:nvSpPr>
          <p:cNvPr id="4" name="Text 2"/>
          <p:cNvSpPr/>
          <p:nvPr/>
        </p:nvSpPr>
        <p:spPr>
          <a:xfrm>
            <a:off x="793790" y="1126093"/>
            <a:ext cx="3685937" cy="460772"/>
          </a:xfrm>
          <a:prstGeom prst="rect">
            <a:avLst/>
          </a:prstGeom>
          <a:noFill/>
          <a:ln/>
        </p:spPr>
        <p:txBody>
          <a:bodyPr wrap="none" lIns="0" tIns="0" rIns="0" bIns="0" rtlCol="0" anchor="t"/>
          <a:lstStyle/>
          <a:p>
            <a:pPr algn="l" indent="0" marL="0">
              <a:lnSpc>
                <a:spcPts val="3600"/>
              </a:lnSpc>
              <a:buNone/>
            </a:pPr>
            <a:r>
              <a:rPr lang="en-US" sz="2900" dirty="0">
                <a:solidFill>
                  <a:srgbClr val="3257B8"/>
                </a:solidFill>
                <a:latin typeface="Microsoft YaHei" pitchFamily="34" charset="0"/>
                <a:ea typeface="Microsoft YaHei" pitchFamily="34" charset="-122"/>
                <a:cs typeface="Microsoft YaHei" pitchFamily="34" charset="-120"/>
              </a:rPr>
              <a:t>多场景鲁棒性验证</a:t>
            </a:r>
            <a:endParaRPr lang="en-US" sz="2900" dirty="0"/>
          </a:p>
        </p:txBody>
      </p:sp>
      <p:pic>
        <p:nvPicPr>
          <p:cNvPr id="5" name="Image 0" descr="preencoded.png">    </p:cNvPr>
          <p:cNvPicPr>
            <a:picLocks noChangeAspect="1"/>
          </p:cNvPicPr>
          <p:nvPr/>
        </p:nvPicPr>
        <p:blipFill>
          <a:blip r:embed="rId1"/>
          <a:stretch>
            <a:fillRect/>
          </a:stretch>
        </p:blipFill>
        <p:spPr>
          <a:xfrm>
            <a:off x="3076337" y="1730573"/>
            <a:ext cx="8477726" cy="4243030"/>
          </a:xfrm>
          <a:prstGeom prst="rect">
            <a:avLst/>
          </a:prstGeom>
        </p:spPr>
      </p:pic>
      <p:sp>
        <p:nvSpPr>
          <p:cNvPr id="6" name="Text 3"/>
          <p:cNvSpPr/>
          <p:nvPr/>
        </p:nvSpPr>
        <p:spPr>
          <a:xfrm>
            <a:off x="3114515" y="3554611"/>
            <a:ext cx="1592195" cy="476388"/>
          </a:xfrm>
          <a:prstGeom prst="rect">
            <a:avLst/>
          </a:prstGeom>
          <a:noFill/>
          <a:ln/>
        </p:spPr>
        <p:txBody>
          <a:bodyPr wrap="square" lIns="0" tIns="0" rIns="0" bIns="0" rtlCol="0" anchor="t"/>
          <a:lstStyle/>
          <a:p>
            <a:pPr algn="ctr" indent="0" marL="0">
              <a:lnSpc>
                <a:spcPts val="1850"/>
              </a:lnSpc>
              <a:buNone/>
            </a:pPr>
            <a:r>
              <a:rPr lang="en-US" sz="1500" dirty="0">
                <a:solidFill>
                  <a:srgbClr val="15213F"/>
                </a:solidFill>
                <a:latin typeface="Microsoft YaHei" pitchFamily="34" charset="0"/>
                <a:ea typeface="Microsoft YaHei" pitchFamily="34" charset="-122"/>
                <a:cs typeface="Microsoft YaHei" pitchFamily="34" charset="-120"/>
              </a:rPr>
              <a:t>低复杂度/规模（左侧）</a:t>
            </a:r>
            <a:endParaRPr lang="en-US" sz="1500" dirty="0"/>
          </a:p>
        </p:txBody>
      </p:sp>
      <p:sp>
        <p:nvSpPr>
          <p:cNvPr id="7" name="Text 4"/>
          <p:cNvSpPr/>
          <p:nvPr/>
        </p:nvSpPr>
        <p:spPr>
          <a:xfrm>
            <a:off x="6364277" y="5612343"/>
            <a:ext cx="1905552" cy="238194"/>
          </a:xfrm>
          <a:prstGeom prst="rect">
            <a:avLst/>
          </a:prstGeom>
          <a:noFill/>
          <a:ln/>
        </p:spPr>
        <p:txBody>
          <a:bodyPr wrap="none" lIns="0" tIns="0" rIns="0" bIns="0" rtlCol="0" anchor="t"/>
          <a:lstStyle/>
          <a:p>
            <a:pPr algn="ctr" indent="0" marL="0">
              <a:lnSpc>
                <a:spcPts val="1850"/>
              </a:lnSpc>
              <a:buNone/>
            </a:pPr>
            <a:r>
              <a:rPr lang="en-US" sz="1500" dirty="0">
                <a:solidFill>
                  <a:srgbClr val="15213F"/>
                </a:solidFill>
                <a:latin typeface="Microsoft YaHei" pitchFamily="34" charset="0"/>
                <a:ea typeface="Microsoft YaHei" pitchFamily="34" charset="-122"/>
                <a:cs typeface="Microsoft YaHei" pitchFamily="34" charset="-120"/>
              </a:rPr>
              <a:t>低连通度（底部）</a:t>
            </a:r>
            <a:endParaRPr lang="en-US" sz="1500" dirty="0"/>
          </a:p>
        </p:txBody>
      </p:sp>
      <p:sp>
        <p:nvSpPr>
          <p:cNvPr id="8" name="Text 5"/>
          <p:cNvSpPr/>
          <p:nvPr/>
        </p:nvSpPr>
        <p:spPr>
          <a:xfrm>
            <a:off x="9915220" y="3554611"/>
            <a:ext cx="1592196" cy="476388"/>
          </a:xfrm>
          <a:prstGeom prst="rect">
            <a:avLst/>
          </a:prstGeom>
          <a:noFill/>
          <a:ln/>
        </p:spPr>
        <p:txBody>
          <a:bodyPr wrap="square" lIns="0" tIns="0" rIns="0" bIns="0" rtlCol="0" anchor="t"/>
          <a:lstStyle/>
          <a:p>
            <a:pPr algn="ctr" indent="0" marL="0">
              <a:lnSpc>
                <a:spcPts val="1850"/>
              </a:lnSpc>
              <a:buNone/>
            </a:pPr>
            <a:r>
              <a:rPr lang="en-US" sz="1500" dirty="0">
                <a:solidFill>
                  <a:srgbClr val="15213F"/>
                </a:solidFill>
                <a:latin typeface="Microsoft YaHei" pitchFamily="34" charset="0"/>
                <a:ea typeface="Microsoft YaHei" pitchFamily="34" charset="-122"/>
                <a:cs typeface="Microsoft YaHei" pitchFamily="34" charset="-120"/>
              </a:rPr>
              <a:t>高复杂度/规模（右侧）</a:t>
            </a:r>
            <a:endParaRPr lang="en-US" sz="1500" dirty="0"/>
          </a:p>
        </p:txBody>
      </p:sp>
      <p:sp>
        <p:nvSpPr>
          <p:cNvPr id="9" name="Text 6"/>
          <p:cNvSpPr/>
          <p:nvPr/>
        </p:nvSpPr>
        <p:spPr>
          <a:xfrm>
            <a:off x="6359512" y="1904720"/>
            <a:ext cx="1905553" cy="238194"/>
          </a:xfrm>
          <a:prstGeom prst="rect">
            <a:avLst/>
          </a:prstGeom>
          <a:noFill/>
          <a:ln/>
        </p:spPr>
        <p:txBody>
          <a:bodyPr wrap="none" lIns="0" tIns="0" rIns="0" bIns="0" rtlCol="0" anchor="t"/>
          <a:lstStyle/>
          <a:p>
            <a:pPr algn="ctr" indent="0" marL="0">
              <a:lnSpc>
                <a:spcPts val="1850"/>
              </a:lnSpc>
              <a:buNone/>
            </a:pPr>
            <a:r>
              <a:rPr lang="en-US" sz="1500" dirty="0">
                <a:solidFill>
                  <a:srgbClr val="15213F"/>
                </a:solidFill>
                <a:latin typeface="Microsoft YaHei" pitchFamily="34" charset="0"/>
                <a:ea typeface="Microsoft YaHei" pitchFamily="34" charset="-122"/>
                <a:cs typeface="Microsoft YaHei" pitchFamily="34" charset="-120"/>
              </a:rPr>
              <a:t>高连通度（顶部）</a:t>
            </a:r>
            <a:endParaRPr lang="en-US" sz="1500" dirty="0"/>
          </a:p>
        </p:txBody>
      </p:sp>
      <p:sp>
        <p:nvSpPr>
          <p:cNvPr id="10" name="Text 7"/>
          <p:cNvSpPr/>
          <p:nvPr/>
        </p:nvSpPr>
        <p:spPr>
          <a:xfrm>
            <a:off x="5451993" y="4624102"/>
            <a:ext cx="1634541" cy="471624"/>
          </a:xfrm>
          <a:prstGeom prst="rect">
            <a:avLst/>
          </a:prstGeom>
          <a:noFill/>
          <a:ln/>
        </p:spPr>
        <p:txBody>
          <a:bodyPr wrap="square" lIns="0" tIns="0" rIns="0" bIns="0" rtlCol="0" anchor="t"/>
          <a:lstStyle/>
          <a:p>
            <a:pPr algn="ctr" indent="0" marL="0">
              <a:lnSpc>
                <a:spcPts val="1200"/>
              </a:lnSpc>
              <a:buNone/>
            </a:pPr>
            <a:r>
              <a:rPr lang="en-US" sz="1200" dirty="0">
                <a:solidFill>
                  <a:srgbClr val="15213F"/>
                </a:solidFill>
                <a:latin typeface="Microsoft YaHei" pitchFamily="34" charset="0"/>
                <a:ea typeface="Microsoft YaHei" pitchFamily="34" charset="-122"/>
                <a:cs typeface="Microsoft YaHei" pitchFamily="34" charset="-120"/>
              </a:rPr>
              <a:t>高干扰功率：20-30dBm，MBST-APF连通率最高</a:t>
            </a:r>
            <a:endParaRPr lang="en-US" sz="1200" dirty="0"/>
          </a:p>
        </p:txBody>
      </p:sp>
      <p:pic>
        <p:nvPicPr>
          <p:cNvPr id="11"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00939" y="4156183"/>
            <a:ext cx="237136" cy="237135"/>
          </a:xfrm>
          <a:prstGeom prst="rect">
            <a:avLst/>
          </a:prstGeom>
        </p:spPr>
      </p:pic>
      <p:sp>
        <p:nvSpPr>
          <p:cNvPr id="12" name="Text 8"/>
          <p:cNvSpPr/>
          <p:nvPr/>
        </p:nvSpPr>
        <p:spPr>
          <a:xfrm>
            <a:off x="7696311" y="4711175"/>
            <a:ext cx="1634540" cy="314416"/>
          </a:xfrm>
          <a:prstGeom prst="rect">
            <a:avLst/>
          </a:prstGeom>
          <a:noFill/>
          <a:ln/>
        </p:spPr>
        <p:txBody>
          <a:bodyPr wrap="square" lIns="0" tIns="0" rIns="0" bIns="0" rtlCol="0" anchor="t"/>
          <a:lstStyle/>
          <a:p>
            <a:pPr algn="ctr" indent="0" marL="0">
              <a:lnSpc>
                <a:spcPts val="1200"/>
              </a:lnSpc>
              <a:buNone/>
            </a:pPr>
            <a:r>
              <a:rPr lang="en-US" sz="1200" dirty="0">
                <a:solidFill>
                  <a:srgbClr val="15213F"/>
                </a:solidFill>
                <a:latin typeface="Microsoft YaHei" pitchFamily="34" charset="0"/>
                <a:ea typeface="Microsoft YaHei" pitchFamily="34" charset="-122"/>
                <a:cs typeface="Microsoft YaHei" pitchFamily="34" charset="-120"/>
              </a:rPr>
              <a:t>基线对照：C-RRT*-APF最优或次优综合性能</a:t>
            </a:r>
            <a:endParaRPr lang="en-US" sz="1200" dirty="0"/>
          </a:p>
        </p:txBody>
      </p:sp>
      <p:pic>
        <p:nvPicPr>
          <p:cNvPr id="1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95013" y="4161212"/>
            <a:ext cx="237135" cy="237135"/>
          </a:xfrm>
          <a:prstGeom prst="rect">
            <a:avLst/>
          </a:prstGeom>
        </p:spPr>
      </p:pic>
      <p:sp>
        <p:nvSpPr>
          <p:cNvPr id="14" name="Text 9"/>
          <p:cNvSpPr/>
          <p:nvPr/>
        </p:nvSpPr>
        <p:spPr>
          <a:xfrm>
            <a:off x="7696311" y="3144388"/>
            <a:ext cx="1634540" cy="314416"/>
          </a:xfrm>
          <a:prstGeom prst="rect">
            <a:avLst/>
          </a:prstGeom>
          <a:noFill/>
          <a:ln/>
        </p:spPr>
        <p:txBody>
          <a:bodyPr wrap="square" lIns="0" tIns="0" rIns="0" bIns="0" rtlCol="0" anchor="t"/>
          <a:lstStyle/>
          <a:p>
            <a:pPr algn="ctr" indent="0" marL="0">
              <a:lnSpc>
                <a:spcPts val="1200"/>
              </a:lnSpc>
              <a:buNone/>
            </a:pPr>
            <a:r>
              <a:rPr lang="en-US" sz="1200" dirty="0">
                <a:solidFill>
                  <a:srgbClr val="15213F"/>
                </a:solidFill>
                <a:latin typeface="Microsoft YaHei" pitchFamily="34" charset="0"/>
                <a:ea typeface="Microsoft YaHei" pitchFamily="34" charset="-122"/>
                <a:cs typeface="Microsoft YaHei" pitchFamily="34" charset="-120"/>
              </a:rPr>
              <a:t>大规模集群：12/24/36无人机，簇式架构稳定</a:t>
            </a:r>
            <a:endParaRPr lang="en-US" sz="1200" dirty="0"/>
          </a:p>
        </p:txBody>
      </p:sp>
      <p:pic>
        <p:nvPicPr>
          <p:cNvPr id="1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95013" y="2594424"/>
            <a:ext cx="237135" cy="237135"/>
          </a:xfrm>
          <a:prstGeom prst="rect">
            <a:avLst/>
          </a:prstGeom>
        </p:spPr>
      </p:pic>
      <p:sp>
        <p:nvSpPr>
          <p:cNvPr id="16" name="Text 10"/>
          <p:cNvSpPr/>
          <p:nvPr/>
        </p:nvSpPr>
        <p:spPr>
          <a:xfrm>
            <a:off x="5401178" y="3144388"/>
            <a:ext cx="1634541" cy="314416"/>
          </a:xfrm>
          <a:prstGeom prst="rect">
            <a:avLst/>
          </a:prstGeom>
          <a:noFill/>
          <a:ln/>
        </p:spPr>
        <p:txBody>
          <a:bodyPr wrap="square" lIns="0" tIns="0" rIns="0" bIns="0" rtlCol="0" anchor="t"/>
          <a:lstStyle/>
          <a:p>
            <a:pPr algn="ctr" indent="0" marL="0">
              <a:lnSpc>
                <a:spcPts val="1200"/>
              </a:lnSpc>
              <a:buNone/>
            </a:pPr>
            <a:r>
              <a:rPr lang="en-US" sz="1200" dirty="0">
                <a:solidFill>
                  <a:srgbClr val="15213F"/>
                </a:solidFill>
                <a:latin typeface="Microsoft YaHei" pitchFamily="34" charset="0"/>
                <a:ea typeface="Microsoft YaHei" pitchFamily="34" charset="-122"/>
                <a:cs typeface="Microsoft YaHei" pitchFamily="34" charset="-120"/>
              </a:rPr>
              <a:t>高密度建筑：10/20/30栋，连通性降幅最小</a:t>
            </a:r>
            <a:endParaRPr lang="en-US" sz="1200" dirty="0"/>
          </a:p>
        </p:txBody>
      </p:sp>
      <p:pic>
        <p:nvPicPr>
          <p:cNvPr id="17"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9881" y="2594424"/>
            <a:ext cx="237136" cy="237135"/>
          </a:xfrm>
          <a:prstGeom prst="rect">
            <a:avLst/>
          </a:prstGeom>
        </p:spPr>
      </p:pic>
      <p:sp>
        <p:nvSpPr>
          <p:cNvPr id="18" name="Text 11"/>
          <p:cNvSpPr/>
          <p:nvPr/>
        </p:nvSpPr>
        <p:spPr>
          <a:xfrm>
            <a:off x="793790" y="6081355"/>
            <a:ext cx="13042821" cy="194548"/>
          </a:xfrm>
          <a:prstGeom prst="rect">
            <a:avLst/>
          </a:prstGeom>
          <a:noFill/>
          <a:ln/>
        </p:spPr>
        <p:txBody>
          <a:bodyPr wrap="none" lIns="0" tIns="0" rIns="0" bIns="0" rtlCol="0" anchor="t"/>
          <a:lstStyle/>
          <a:p>
            <a:pPr algn="l" indent="0" marL="0">
              <a:lnSpc>
                <a:spcPts val="1500"/>
              </a:lnSpc>
              <a:buNone/>
            </a:pPr>
            <a:r>
              <a:rPr lang="en-US" sz="1150" dirty="0">
                <a:solidFill>
                  <a:srgbClr val="15213F"/>
                </a:solidFill>
                <a:latin typeface="Microsoft YaHei" pitchFamily="34" charset="0"/>
                <a:ea typeface="Microsoft YaHei" pitchFamily="34" charset="-122"/>
                <a:cs typeface="Microsoft YaHei" pitchFamily="34" charset="-120"/>
              </a:rPr>
              <a:t>在30次独立重复实验统计下，C-RRT*-APF在各维度均保持最优或次优综合性能。</a:t>
            </a:r>
            <a:endParaRPr lang="en-US" sz="1150" dirty="0"/>
          </a:p>
        </p:txBody>
      </p:sp>
      <p:sp>
        <p:nvSpPr>
          <p:cNvPr id="19" name="Shape 12"/>
          <p:cNvSpPr/>
          <p:nvPr/>
        </p:nvSpPr>
        <p:spPr>
          <a:xfrm>
            <a:off x="793790" y="6383655"/>
            <a:ext cx="4283750" cy="1002149"/>
          </a:xfrm>
          <a:prstGeom prst="roundRect">
            <a:avLst>
              <a:gd name="adj" fmla="val 912"/>
            </a:avLst>
          </a:prstGeom>
          <a:solidFill>
            <a:srgbClr val="FBFCFE">
              <a:alpha val="95000"/>
            </a:srgbClr>
          </a:solidFill>
          <a:ln w="15240">
            <a:solidFill>
              <a:srgbClr val="CFD2D8"/>
            </a:solidFill>
            <a:prstDash val="solid"/>
          </a:ln>
        </p:spPr>
      </p:sp>
      <p:sp>
        <p:nvSpPr>
          <p:cNvPr id="20" name="Text 13"/>
          <p:cNvSpPr/>
          <p:nvPr/>
        </p:nvSpPr>
        <p:spPr>
          <a:xfrm>
            <a:off x="956429" y="6546294"/>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Microsoft YaHei" pitchFamily="34" charset="0"/>
                <a:ea typeface="Microsoft YaHei" pitchFamily="34" charset="-122"/>
                <a:cs typeface="Microsoft YaHei" pitchFamily="34" charset="-120"/>
              </a:rPr>
              <a:t>不同建筑密度</a:t>
            </a:r>
            <a:endParaRPr lang="en-US" sz="1450" dirty="0"/>
          </a:p>
        </p:txBody>
      </p:sp>
      <p:sp>
        <p:nvSpPr>
          <p:cNvPr id="21" name="Text 14"/>
          <p:cNvSpPr/>
          <p:nvPr/>
        </p:nvSpPr>
        <p:spPr>
          <a:xfrm>
            <a:off x="956429" y="6834068"/>
            <a:ext cx="3958471" cy="389096"/>
          </a:xfrm>
          <a:prstGeom prst="rect">
            <a:avLst/>
          </a:prstGeom>
          <a:noFill/>
          <a:ln/>
        </p:spPr>
        <p:txBody>
          <a:bodyPr wrap="square" lIns="0" tIns="0" rIns="0" bIns="0" rtlCol="0" anchor="t"/>
          <a:lstStyle/>
          <a:p>
            <a:pPr algn="l" indent="0" marL="0">
              <a:lnSpc>
                <a:spcPts val="1500"/>
              </a:lnSpc>
              <a:buNone/>
            </a:pPr>
            <a:r>
              <a:rPr lang="en-US" sz="1150" dirty="0">
                <a:solidFill>
                  <a:srgbClr val="15213F"/>
                </a:solidFill>
                <a:latin typeface="Microsoft YaHei" pitchFamily="34" charset="0"/>
                <a:ea typeface="Microsoft YaHei" pitchFamily="34" charset="-122"/>
                <a:cs typeface="Microsoft YaHei" pitchFamily="34" charset="-120"/>
              </a:rPr>
              <a:t>随建筑数量增加，C-RRT*-APF通信连通率下降曲线最平缓；全局关键点引导机制有效减少路径震荡</a:t>
            </a:r>
            <a:endParaRPr lang="en-US" sz="1150" dirty="0"/>
          </a:p>
        </p:txBody>
      </p:sp>
      <p:sp>
        <p:nvSpPr>
          <p:cNvPr id="22" name="Shape 15"/>
          <p:cNvSpPr/>
          <p:nvPr/>
        </p:nvSpPr>
        <p:spPr>
          <a:xfrm>
            <a:off x="5173266" y="6383655"/>
            <a:ext cx="4283750" cy="1002149"/>
          </a:xfrm>
          <a:prstGeom prst="roundRect">
            <a:avLst>
              <a:gd name="adj" fmla="val 912"/>
            </a:avLst>
          </a:prstGeom>
          <a:solidFill>
            <a:srgbClr val="FBFCFE">
              <a:alpha val="95000"/>
            </a:srgbClr>
          </a:solidFill>
          <a:ln w="15240">
            <a:solidFill>
              <a:srgbClr val="CFD2D8"/>
            </a:solidFill>
            <a:prstDash val="solid"/>
          </a:ln>
        </p:spPr>
      </p:sp>
      <p:sp>
        <p:nvSpPr>
          <p:cNvPr id="23" name="Text 16"/>
          <p:cNvSpPr/>
          <p:nvPr/>
        </p:nvSpPr>
        <p:spPr>
          <a:xfrm>
            <a:off x="5335905" y="6546294"/>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Microsoft YaHei" pitchFamily="34" charset="0"/>
                <a:ea typeface="Microsoft YaHei" pitchFamily="34" charset="-122"/>
                <a:cs typeface="Microsoft YaHei" pitchFamily="34" charset="-120"/>
              </a:rPr>
              <a:t>不同集群规模</a:t>
            </a:r>
            <a:endParaRPr lang="en-US" sz="1450" dirty="0"/>
          </a:p>
        </p:txBody>
      </p:sp>
      <p:sp>
        <p:nvSpPr>
          <p:cNvPr id="24" name="Text 17"/>
          <p:cNvSpPr/>
          <p:nvPr/>
        </p:nvSpPr>
        <p:spPr>
          <a:xfrm>
            <a:off x="5335905" y="6834068"/>
            <a:ext cx="3958471" cy="389096"/>
          </a:xfrm>
          <a:prstGeom prst="rect">
            <a:avLst/>
          </a:prstGeom>
          <a:noFill/>
          <a:ln/>
        </p:spPr>
        <p:txBody>
          <a:bodyPr wrap="square" lIns="0" tIns="0" rIns="0" bIns="0" rtlCol="0" anchor="t"/>
          <a:lstStyle/>
          <a:p>
            <a:pPr algn="l" indent="0" marL="0">
              <a:lnSpc>
                <a:spcPts val="1500"/>
              </a:lnSpc>
              <a:buNone/>
            </a:pPr>
            <a:r>
              <a:rPr lang="en-US" sz="1150" dirty="0">
                <a:solidFill>
                  <a:srgbClr val="15213F"/>
                </a:solidFill>
                <a:latin typeface="Microsoft YaHei" pitchFamily="34" charset="0"/>
                <a:ea typeface="Microsoft YaHei" pitchFamily="34" charset="-122"/>
                <a:cs typeface="Microsoft YaHei" pitchFamily="34" charset="-120"/>
              </a:rPr>
              <a:t>分簇分层结构降低全局耦合复杂度；规模扩展时到达时间变化幅度最小，通信连通率波动最小</a:t>
            </a:r>
            <a:endParaRPr lang="en-US" sz="1150" dirty="0"/>
          </a:p>
        </p:txBody>
      </p:sp>
      <p:sp>
        <p:nvSpPr>
          <p:cNvPr id="25" name="Shape 18"/>
          <p:cNvSpPr/>
          <p:nvPr/>
        </p:nvSpPr>
        <p:spPr>
          <a:xfrm>
            <a:off x="9552742" y="6383655"/>
            <a:ext cx="4283869" cy="1002149"/>
          </a:xfrm>
          <a:prstGeom prst="roundRect">
            <a:avLst>
              <a:gd name="adj" fmla="val 912"/>
            </a:avLst>
          </a:prstGeom>
          <a:solidFill>
            <a:srgbClr val="FBFCFE">
              <a:alpha val="95000"/>
            </a:srgbClr>
          </a:solidFill>
          <a:ln w="15240">
            <a:solidFill>
              <a:srgbClr val="CFD2D8"/>
            </a:solidFill>
            <a:prstDash val="solid"/>
          </a:ln>
        </p:spPr>
      </p:sp>
      <p:sp>
        <p:nvSpPr>
          <p:cNvPr id="26" name="Text 19"/>
          <p:cNvSpPr/>
          <p:nvPr/>
        </p:nvSpPr>
        <p:spPr>
          <a:xfrm>
            <a:off x="9715381" y="6546294"/>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Microsoft YaHei" pitchFamily="34" charset="0"/>
                <a:ea typeface="Microsoft YaHei" pitchFamily="34" charset="-122"/>
                <a:cs typeface="Microsoft YaHei" pitchFamily="34" charset="-120"/>
              </a:rPr>
              <a:t>不同干扰强度</a:t>
            </a:r>
            <a:endParaRPr lang="en-US" sz="1450" dirty="0"/>
          </a:p>
        </p:txBody>
      </p:sp>
      <p:sp>
        <p:nvSpPr>
          <p:cNvPr id="27" name="Text 20"/>
          <p:cNvSpPr/>
          <p:nvPr/>
        </p:nvSpPr>
        <p:spPr>
          <a:xfrm>
            <a:off x="9715381" y="6834068"/>
            <a:ext cx="3958590" cy="389096"/>
          </a:xfrm>
          <a:prstGeom prst="rect">
            <a:avLst/>
          </a:prstGeom>
          <a:noFill/>
          <a:ln/>
        </p:spPr>
        <p:txBody>
          <a:bodyPr wrap="square" lIns="0" tIns="0" rIns="0" bIns="0" rtlCol="0" anchor="t"/>
          <a:lstStyle/>
          <a:p>
            <a:pPr algn="l" indent="0" marL="0">
              <a:lnSpc>
                <a:spcPts val="1500"/>
              </a:lnSpc>
              <a:buNone/>
            </a:pPr>
            <a:r>
              <a:rPr lang="en-US" sz="1150" dirty="0">
                <a:solidFill>
                  <a:srgbClr val="15213F"/>
                </a:solidFill>
                <a:latin typeface="Microsoft YaHei" pitchFamily="34" charset="0"/>
                <a:ea typeface="Microsoft YaHei" pitchFamily="34" charset="-122"/>
                <a:cs typeface="Microsoft YaHei" pitchFamily="34" charset="-120"/>
              </a:rPr>
              <a:t>归一化代数连通度显著高于对比算法；簇间距离约束有效规避强干扰区域，主干链路维持策略保证核心通信结构稳定</a:t>
            </a:r>
            <a:endParaRPr lang="en-US" sz="1150" dirty="0"/>
          </a:p>
        </p:txBody>
      </p:sp>
      <p:pic>
        <p:nvPicPr>
          <p:cNvPr id="28" name="Image 5" descr="preencoded.png">    </p:cNvPr>
          <p:cNvPicPr>
            <a:picLocks noChangeAspect="1"/>
          </p:cNvPicPr>
          <p:nvPr/>
        </p:nvPicPr>
        <p:blipFill>
          <a:blip r:embed="rId10"/>
          <a:stretch>
            <a:fillRect/>
          </a:stretch>
        </p:blipFill>
        <p:spPr>
          <a:xfrm>
            <a:off x="136088" y="208955"/>
            <a:ext cx="1351836" cy="307896"/>
          </a:xfrm>
          <a:prstGeom prst="rect">
            <a:avLst/>
          </a:prstGeom>
        </p:spPr>
      </p:pic>
      <p:sp>
        <p:nvSpPr>
          <p:cNvPr id="29" name="Text 21"/>
          <p:cNvSpPr/>
          <p:nvPr/>
        </p:nvSpPr>
        <p:spPr>
          <a:xfrm>
            <a:off x="7126843" y="7761923"/>
            <a:ext cx="376714" cy="209550"/>
          </a:xfrm>
          <a:prstGeom prst="rect">
            <a:avLst/>
          </a:prstGeom>
          <a:noFill/>
          <a:ln/>
        </p:spPr>
        <p:txBody>
          <a:bodyPr wrap="none" lIns="0" tIns="0" rIns="0" bIns="0" rtlCol="0" anchor="t"/>
          <a:lstStyle/>
          <a:p>
            <a:pPr algn="ctr" indent="0" marL="0">
              <a:lnSpc>
                <a:spcPts val="1650"/>
              </a:lnSpc>
              <a:buNone/>
            </a:pPr>
            <a:r>
              <a:rPr lang="en-US" sz="1250" dirty="0">
                <a:solidFill>
                  <a:srgbClr val="15213F"/>
                </a:solidFill>
                <a:latin typeface="Microsoft YaHei" pitchFamily="34" charset="0"/>
                <a:ea typeface="Microsoft YaHei" pitchFamily="34" charset="-122"/>
                <a:cs typeface="Microsoft YaHei" pitchFamily="34" charset="-120"/>
              </a:rPr>
              <a:t>12</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81407" y="715208"/>
            <a:ext cx="2840712" cy="311468"/>
          </a:xfrm>
          <a:prstGeom prst="roundRect">
            <a:avLst>
              <a:gd name="adj" fmla="val 2936"/>
            </a:avLst>
          </a:prstGeom>
          <a:solidFill>
            <a:srgbClr val="D7DFF4"/>
          </a:solidFill>
          <a:ln/>
        </p:spPr>
      </p:sp>
      <p:sp>
        <p:nvSpPr>
          <p:cNvPr id="3" name="Text 1"/>
          <p:cNvSpPr/>
          <p:nvPr/>
        </p:nvSpPr>
        <p:spPr>
          <a:xfrm>
            <a:off x="888563" y="768787"/>
            <a:ext cx="2626400" cy="204311"/>
          </a:xfrm>
          <a:prstGeom prst="rect">
            <a:avLst/>
          </a:prstGeom>
          <a:noFill/>
          <a:ln/>
        </p:spPr>
        <p:txBody>
          <a:bodyPr wrap="none" lIns="0" tIns="0" rIns="0" bIns="0" rtlCol="0" anchor="t"/>
          <a:lstStyle/>
          <a:p>
            <a:pPr algn="l" indent="0" marL="0">
              <a:lnSpc>
                <a:spcPts val="1600"/>
              </a:lnSpc>
              <a:buNone/>
            </a:pPr>
            <a:r>
              <a:rPr lang="en-US" sz="1100" dirty="0">
                <a:solidFill>
                  <a:srgbClr val="15213F"/>
                </a:solidFill>
                <a:latin typeface="Microsoft YaHei" pitchFamily="34" charset="0"/>
                <a:ea typeface="Microsoft YaHei" pitchFamily="34" charset="-122"/>
                <a:cs typeface="Microsoft YaHei" pitchFamily="34" charset="-120"/>
              </a:rPr>
              <a:t>04 MPG-NSGA-II 通信保持区域覆盖算法</a:t>
            </a:r>
            <a:endParaRPr lang="en-US" sz="1100" dirty="0"/>
          </a:p>
        </p:txBody>
      </p:sp>
      <p:sp>
        <p:nvSpPr>
          <p:cNvPr id="4" name="Text 2"/>
          <p:cNvSpPr/>
          <p:nvPr/>
        </p:nvSpPr>
        <p:spPr>
          <a:xfrm>
            <a:off x="781407" y="1082873"/>
            <a:ext cx="4465558" cy="558165"/>
          </a:xfrm>
          <a:prstGeom prst="rect">
            <a:avLst/>
          </a:prstGeom>
          <a:noFill/>
          <a:ln/>
        </p:spPr>
        <p:txBody>
          <a:bodyPr wrap="none" lIns="0" tIns="0" rIns="0" bIns="0" rtlCol="0" anchor="t"/>
          <a:lstStyle/>
          <a:p>
            <a:pPr algn="l" indent="0" marL="0">
              <a:lnSpc>
                <a:spcPts val="4350"/>
              </a:lnSpc>
              <a:buNone/>
            </a:pPr>
            <a:r>
              <a:rPr lang="en-US" sz="3500" dirty="0">
                <a:solidFill>
                  <a:srgbClr val="3257B8"/>
                </a:solidFill>
                <a:latin typeface="Microsoft YaHei" pitchFamily="34" charset="0"/>
                <a:ea typeface="Microsoft YaHei" pitchFamily="34" charset="-122"/>
                <a:cs typeface="Microsoft YaHei" pitchFamily="34" charset="-120"/>
              </a:rPr>
              <a:t>区域覆盖系统模型</a:t>
            </a:r>
            <a:endParaRPr lang="en-US" sz="3500" dirty="0"/>
          </a:p>
        </p:txBody>
      </p:sp>
      <p:pic>
        <p:nvPicPr>
          <p:cNvPr id="5" name="Image 0" descr="preencoded.png">    </p:cNvPr>
          <p:cNvPicPr>
            <a:picLocks noChangeAspect="1"/>
          </p:cNvPicPr>
          <p:nvPr/>
        </p:nvPicPr>
        <p:blipFill>
          <a:blip r:embed="rId1"/>
          <a:stretch>
            <a:fillRect/>
          </a:stretch>
        </p:blipFill>
        <p:spPr>
          <a:xfrm>
            <a:off x="781407" y="2010251"/>
            <a:ext cx="6673096" cy="5345906"/>
          </a:xfrm>
          <a:prstGeom prst="rect">
            <a:avLst/>
          </a:prstGeom>
        </p:spPr>
      </p:pic>
      <p:sp>
        <p:nvSpPr>
          <p:cNvPr id="6" name="Text 3"/>
          <p:cNvSpPr/>
          <p:nvPr/>
        </p:nvSpPr>
        <p:spPr>
          <a:xfrm>
            <a:off x="9566196" y="2071568"/>
            <a:ext cx="2232779" cy="278963"/>
          </a:xfrm>
          <a:prstGeom prst="rect">
            <a:avLst/>
          </a:prstGeom>
          <a:noFill/>
          <a:ln/>
        </p:spPr>
        <p:txBody>
          <a:bodyPr wrap="none" lIns="0" tIns="0" rIns="0" bIns="0" rtlCol="0" anchor="t"/>
          <a:lstStyle/>
          <a:p>
            <a:pPr algn="l" indent="0" marL="0">
              <a:lnSpc>
                <a:spcPts val="2150"/>
              </a:lnSpc>
              <a:buNone/>
            </a:pPr>
            <a:r>
              <a:rPr lang="en-US" sz="1750" dirty="0">
                <a:solidFill>
                  <a:srgbClr val="3257B8"/>
                </a:solidFill>
                <a:latin typeface="Microsoft YaHei" pitchFamily="34" charset="0"/>
                <a:ea typeface="Microsoft YaHei" pitchFamily="34" charset="-122"/>
                <a:cs typeface="Microsoft YaHei" pitchFamily="34" charset="-120"/>
              </a:rPr>
              <a:t>场景模型</a:t>
            </a:r>
            <a:endParaRPr lang="en-US" sz="1750" dirty="0"/>
          </a:p>
        </p:txBody>
      </p:sp>
      <p:sp>
        <p:nvSpPr>
          <p:cNvPr id="7" name="Text 4"/>
          <p:cNvSpPr/>
          <p:nvPr/>
        </p:nvSpPr>
        <p:spPr>
          <a:xfrm>
            <a:off x="9566196" y="2491145"/>
            <a:ext cx="4290298" cy="1424464"/>
          </a:xfrm>
          <a:prstGeom prst="rect">
            <a:avLst/>
          </a:prstGeom>
          <a:noFill/>
          <a:ln/>
        </p:spPr>
        <p:txBody>
          <a:bodyPr wrap="square" lIns="0" tIns="0" rIns="0" bIns="0" rtlCol="0" anchor="t"/>
          <a:lstStyle/>
          <a:p>
            <a:pPr algn="l" marL="342900" indent="-342900">
              <a:lnSpc>
                <a:spcPts val="2000"/>
              </a:lnSpc>
              <a:buSzPct val="100000"/>
              <a:buChar char="•"/>
            </a:pPr>
            <a:r>
              <a:rPr lang="en-US" sz="1400" b="1" dirty="0">
                <a:solidFill>
                  <a:srgbClr val="15213F"/>
                </a:solidFill>
                <a:latin typeface="Microsoft YaHei" pitchFamily="34" charset="0"/>
                <a:ea typeface="Microsoft YaHei" pitchFamily="34" charset="-122"/>
                <a:cs typeface="Microsoft YaHei" pitchFamily="34" charset="-120"/>
              </a:rPr>
              <a:t>1km×1km</a:t>
            </a:r>
            <a:pPr algn="l" indent="0" marL="0">
              <a:lnSpc>
                <a:spcPts val="2000"/>
              </a:lnSpc>
              <a:buNone/>
            </a:pPr>
            <a:r>
              <a:rPr lang="en-US" sz="1400" dirty="0">
                <a:solidFill>
                  <a:srgbClr val="15213F"/>
                </a:solidFill>
                <a:latin typeface="Microsoft YaHei" pitchFamily="34" charset="0"/>
                <a:ea typeface="Microsoft YaHei" pitchFamily="34" charset="-122"/>
                <a:cs typeface="Microsoft YaHei" pitchFamily="34" charset="-120"/>
              </a:rPr>
              <a:t> 二维城市区域，建筑物数量 M=10</a:t>
            </a:r>
            <a:endParaRPr lang="en-US" sz="1400" dirty="0"/>
          </a:p>
          <a:p>
            <a:pPr algn="l" marL="342900" indent="-342900">
              <a:lnSpc>
                <a:spcPts val="2000"/>
              </a:lnSpc>
              <a:buSzPct val="100000"/>
              <a:buChar char="•"/>
            </a:pPr>
            <a:r>
              <a:rPr lang="en-US" sz="1400" dirty="0">
                <a:solidFill>
                  <a:srgbClr val="15213F"/>
                </a:solidFill>
                <a:latin typeface="Microsoft YaHei" pitchFamily="34" charset="0"/>
                <a:ea typeface="Microsoft YaHei" pitchFamily="34" charset="-122"/>
                <a:cs typeface="Microsoft YaHei" pitchFamily="34" charset="-120"/>
              </a:rPr>
              <a:t>干扰源位于 (100m, 900m)，功率 25dBm，禁区半径 RJ=150m</a:t>
            </a:r>
            <a:endParaRPr lang="en-US" sz="1400" dirty="0"/>
          </a:p>
          <a:p>
            <a:pPr algn="l" marL="342900" indent="-342900">
              <a:lnSpc>
                <a:spcPts val="2000"/>
              </a:lnSpc>
              <a:buSzPct val="100000"/>
              <a:buChar char="•"/>
            </a:pPr>
            <a:r>
              <a:rPr lang="en-US" sz="1400" dirty="0">
                <a:solidFill>
                  <a:srgbClr val="15213F"/>
                </a:solidFill>
                <a:latin typeface="Microsoft YaHei" pitchFamily="34" charset="0"/>
                <a:ea typeface="Microsoft YaHei" pitchFamily="34" charset="-122"/>
                <a:cs typeface="Microsoft YaHei" pitchFamily="34" charset="-120"/>
              </a:rPr>
              <a:t>无人机数量 N=15–25，覆盖半径 Rs=150m</a:t>
            </a:r>
            <a:endParaRPr lang="en-US" sz="1400" dirty="0"/>
          </a:p>
          <a:p>
            <a:pPr algn="l" marL="342900" indent="-342900">
              <a:lnSpc>
                <a:spcPts val="2000"/>
              </a:lnSpc>
              <a:buSzPct val="100000"/>
              <a:buChar char="•"/>
            </a:pPr>
            <a:r>
              <a:rPr lang="en-US" sz="1400" dirty="0">
                <a:solidFill>
                  <a:srgbClr val="15213F"/>
                </a:solidFill>
                <a:latin typeface="Microsoft YaHei" pitchFamily="34" charset="0"/>
                <a:ea typeface="Microsoft YaHei" pitchFamily="34" charset="-122"/>
                <a:cs typeface="Microsoft YaHei" pitchFamily="34" charset="-120"/>
              </a:rPr>
              <a:t>有效任务区域 Stask = S ∖ (O ∪ Sjam)</a:t>
            </a:r>
            <a:endParaRPr lang="en-US" sz="1400" dirty="0"/>
          </a:p>
        </p:txBody>
      </p:sp>
      <p:sp>
        <p:nvSpPr>
          <p:cNvPr id="8" name="Shape 5"/>
          <p:cNvSpPr/>
          <p:nvPr/>
        </p:nvSpPr>
        <p:spPr>
          <a:xfrm>
            <a:off x="9566196" y="4118491"/>
            <a:ext cx="4290298" cy="13335"/>
          </a:xfrm>
          <a:prstGeom prst="rect">
            <a:avLst/>
          </a:prstGeom>
          <a:solidFill>
            <a:srgbClr val="15213F">
              <a:alpha val="50000"/>
            </a:srgbClr>
          </a:solidFill>
          <a:ln/>
        </p:spPr>
      </p:sp>
      <p:sp>
        <p:nvSpPr>
          <p:cNvPr id="9" name="Text 6"/>
          <p:cNvSpPr/>
          <p:nvPr/>
        </p:nvSpPr>
        <p:spPr>
          <a:xfrm>
            <a:off x="9566196" y="4334708"/>
            <a:ext cx="2232779" cy="278963"/>
          </a:xfrm>
          <a:prstGeom prst="rect">
            <a:avLst/>
          </a:prstGeom>
          <a:noFill/>
          <a:ln/>
        </p:spPr>
        <p:txBody>
          <a:bodyPr wrap="none" lIns="0" tIns="0" rIns="0" bIns="0" rtlCol="0" anchor="t"/>
          <a:lstStyle/>
          <a:p>
            <a:pPr algn="l" indent="0" marL="0">
              <a:lnSpc>
                <a:spcPts val="2150"/>
              </a:lnSpc>
              <a:buNone/>
            </a:pPr>
            <a:r>
              <a:rPr lang="en-US" sz="1750" dirty="0">
                <a:solidFill>
                  <a:srgbClr val="3257B8"/>
                </a:solidFill>
                <a:latin typeface="Microsoft YaHei" pitchFamily="34" charset="0"/>
                <a:ea typeface="Microsoft YaHei" pitchFamily="34" charset="-122"/>
                <a:cs typeface="Microsoft YaHei" pitchFamily="34" charset="-120"/>
              </a:rPr>
              <a:t>双目标优化问题</a:t>
            </a:r>
            <a:endParaRPr lang="en-US" sz="1750" dirty="0"/>
          </a:p>
        </p:txBody>
      </p:sp>
      <p:sp>
        <p:nvSpPr>
          <p:cNvPr id="10" name="Text 7"/>
          <p:cNvSpPr/>
          <p:nvPr/>
        </p:nvSpPr>
        <p:spPr>
          <a:xfrm>
            <a:off x="9566196" y="4754285"/>
            <a:ext cx="4290298" cy="255389"/>
          </a:xfrm>
          <a:prstGeom prst="rect">
            <a:avLst/>
          </a:prstGeom>
          <a:noFill/>
          <a:ln/>
        </p:spPr>
        <p:txBody>
          <a:bodyPr wrap="none" lIns="0" tIns="0" rIns="0" bIns="0" rtlCol="0" anchor="t"/>
          <a:lstStyle/>
          <a:p>
            <a:pPr algn="l" indent="0" marL="0">
              <a:lnSpc>
                <a:spcPts val="2000"/>
              </a:lnSpc>
              <a:buNone/>
            </a:pPr>
            <a:r>
              <a:rPr lang="en-US" sz="1400" b="1" dirty="0">
                <a:solidFill>
                  <a:srgbClr val="15213F"/>
                </a:solidFill>
                <a:latin typeface="Microsoft YaHei" pitchFamily="34" charset="0"/>
                <a:ea typeface="Microsoft YaHei" pitchFamily="34" charset="-122"/>
                <a:cs typeface="Microsoft YaHei" pitchFamily="34" charset="-120"/>
              </a:rPr>
              <a:t>最大化 F(X) = [fcov(X), fcon(X)]T</a:t>
            </a:r>
            <a:endParaRPr lang="en-US" sz="1400" dirty="0"/>
          </a:p>
        </p:txBody>
      </p:sp>
      <p:sp>
        <p:nvSpPr>
          <p:cNvPr id="11" name="Text 8"/>
          <p:cNvSpPr/>
          <p:nvPr/>
        </p:nvSpPr>
        <p:spPr>
          <a:xfrm>
            <a:off x="9566196" y="5136237"/>
            <a:ext cx="4290298" cy="1070729"/>
          </a:xfrm>
          <a:prstGeom prst="rect">
            <a:avLst/>
          </a:prstGeom>
          <a:noFill/>
          <a:ln/>
        </p:spPr>
        <p:txBody>
          <a:bodyPr wrap="square" lIns="0" tIns="0" rIns="0" bIns="0" rtlCol="0" anchor="t"/>
          <a:lstStyle/>
          <a:p>
            <a:pPr algn="l" marL="342900" indent="-342900">
              <a:lnSpc>
                <a:spcPts val="2000"/>
              </a:lnSpc>
              <a:buSzPct val="100000"/>
              <a:buChar char="•"/>
            </a:pPr>
            <a:r>
              <a:rPr lang="en-US" sz="1400" b="1" dirty="0">
                <a:solidFill>
                  <a:srgbClr val="15213F"/>
                </a:solidFill>
                <a:latin typeface="Microsoft YaHei" pitchFamily="34" charset="0"/>
                <a:ea typeface="Microsoft YaHei" pitchFamily="34" charset="-122"/>
                <a:cs typeface="Microsoft YaHei" pitchFamily="34" charset="-120"/>
              </a:rPr>
              <a:t>覆盖率 fcov：</a:t>
            </a:r>
            <a:pPr algn="l" indent="0" marL="0">
              <a:lnSpc>
                <a:spcPts val="2000"/>
              </a:lnSpc>
              <a:buNone/>
            </a:pPr>
            <a:r>
              <a:rPr lang="en-US" sz="1400" dirty="0">
                <a:solidFill>
                  <a:srgbClr val="15213F"/>
                </a:solidFill>
                <a:latin typeface="Microsoft YaHei" pitchFamily="34" charset="0"/>
                <a:ea typeface="Microsoft YaHei" pitchFamily="34" charset="-122"/>
                <a:cs typeface="Microsoft YaHei" pitchFamily="34" charset="-120"/>
              </a:rPr>
              <a:t>联合有效覆盖面积 / 有效任务区域总面积（含视距约束）</a:t>
            </a:r>
            <a:endParaRPr lang="en-US" sz="1400" dirty="0"/>
          </a:p>
          <a:p>
            <a:pPr algn="l" marL="342900" indent="-342900">
              <a:lnSpc>
                <a:spcPts val="2000"/>
              </a:lnSpc>
              <a:buSzPct val="100000"/>
              <a:buChar char="•"/>
            </a:pPr>
            <a:r>
              <a:rPr lang="en-US" sz="1400" b="1" dirty="0">
                <a:solidFill>
                  <a:srgbClr val="15213F"/>
                </a:solidFill>
                <a:latin typeface="Microsoft YaHei" pitchFamily="34" charset="0"/>
                <a:ea typeface="Microsoft YaHei" pitchFamily="34" charset="-122"/>
                <a:cs typeface="Microsoft YaHei" pitchFamily="34" charset="-120"/>
              </a:rPr>
              <a:t>归一化代数连通度 fcon：</a:t>
            </a:r>
            <a:pPr algn="l" indent="0" marL="0">
              <a:lnSpc>
                <a:spcPts val="2000"/>
              </a:lnSpc>
              <a:buNone/>
            </a:pPr>
            <a:r>
              <a:rPr lang="en-US" sz="1400" dirty="0">
                <a:solidFill>
                  <a:srgbClr val="15213F"/>
                </a:solidFill>
                <a:latin typeface="Microsoft YaHei" pitchFamily="34" charset="0"/>
                <a:ea typeface="Microsoft YaHei" pitchFamily="34" charset="-122"/>
                <a:cs typeface="Microsoft YaHei" pitchFamily="34" charset="-120"/>
              </a:rPr>
              <a:t>λ₂(G)/N，衡量网络抗损毁能力</a:t>
            </a:r>
            <a:endParaRPr lang="en-US" sz="1400" dirty="0"/>
          </a:p>
        </p:txBody>
      </p:sp>
      <p:sp>
        <p:nvSpPr>
          <p:cNvPr id="12" name="Shape 9"/>
          <p:cNvSpPr/>
          <p:nvPr/>
        </p:nvSpPr>
        <p:spPr>
          <a:xfrm>
            <a:off x="9566196" y="6365200"/>
            <a:ext cx="4290298" cy="911900"/>
          </a:xfrm>
          <a:prstGeom prst="roundRect">
            <a:avLst>
              <a:gd name="adj" fmla="val 1003"/>
            </a:avLst>
          </a:prstGeom>
          <a:solidFill>
            <a:srgbClr val="C3CFEF"/>
          </a:solidFill>
          <a:ln/>
        </p:spPr>
      </p:sp>
      <p:pic>
        <p:nvPicPr>
          <p:cNvPr id="13" name="Image 1" descr="preencoded.png">    </p:cNvPr>
          <p:cNvPicPr>
            <a:picLocks noChangeAspect="1"/>
          </p:cNvPicPr>
          <p:nvPr/>
        </p:nvPicPr>
        <p:blipFill>
          <a:blip r:embed="rId2"/>
          <a:stretch>
            <a:fillRect/>
          </a:stretch>
        </p:blipFill>
        <p:spPr>
          <a:xfrm>
            <a:off x="9744789" y="6630233"/>
            <a:ext cx="223242" cy="178594"/>
          </a:xfrm>
          <a:prstGeom prst="rect">
            <a:avLst/>
          </a:prstGeom>
        </p:spPr>
      </p:pic>
      <p:sp>
        <p:nvSpPr>
          <p:cNvPr id="14" name="Text 10"/>
          <p:cNvSpPr/>
          <p:nvPr/>
        </p:nvSpPr>
        <p:spPr>
          <a:xfrm>
            <a:off x="10146625" y="6550462"/>
            <a:ext cx="3531275" cy="510778"/>
          </a:xfrm>
          <a:prstGeom prst="rect">
            <a:avLst/>
          </a:prstGeom>
          <a:noFill/>
          <a:ln/>
        </p:spPr>
        <p:txBody>
          <a:bodyPr wrap="square" lIns="0" tIns="0" rIns="0" bIns="0" rtlCol="0" anchor="t"/>
          <a:lstStyle/>
          <a:p>
            <a:pPr algn="l" indent="0" marL="0">
              <a:lnSpc>
                <a:spcPts val="2000"/>
              </a:lnSpc>
              <a:buNone/>
            </a:pPr>
            <a:r>
              <a:rPr lang="en-US" sz="1400" dirty="0">
                <a:solidFill>
                  <a:srgbClr val="000000"/>
                </a:solidFill>
                <a:latin typeface="Microsoft YaHei" pitchFamily="34" charset="0"/>
                <a:ea typeface="Microsoft YaHei" pitchFamily="34" charset="-122"/>
                <a:cs typeface="Microsoft YaHei" pitchFamily="34" charset="-120"/>
              </a:rPr>
              <a:t>典型NP-hard非线性非凸多约束问题，需启发式算法求解</a:t>
            </a:r>
            <a:endParaRPr lang="en-US" sz="1400" dirty="0"/>
          </a:p>
        </p:txBody>
      </p:sp>
      <p:pic>
        <p:nvPicPr>
          <p:cNvPr id="15" name="Image 2" descr="preencoded.png">    </p:cNvPr>
          <p:cNvPicPr>
            <a:picLocks noChangeAspect="1"/>
          </p:cNvPicPr>
          <p:nvPr/>
        </p:nvPicPr>
        <p:blipFill>
          <a:blip r:embed="rId3"/>
          <a:stretch>
            <a:fillRect/>
          </a:stretch>
        </p:blipFill>
        <p:spPr>
          <a:xfrm>
            <a:off x="133945" y="205621"/>
            <a:ext cx="1331000" cy="303133"/>
          </a:xfrm>
          <a:prstGeom prst="rect">
            <a:avLst/>
          </a:prstGeom>
        </p:spPr>
      </p:pic>
      <p:sp>
        <p:nvSpPr>
          <p:cNvPr id="16" name="Text 11"/>
          <p:cNvSpPr/>
          <p:nvPr/>
        </p:nvSpPr>
        <p:spPr>
          <a:xfrm>
            <a:off x="7147441" y="7760613"/>
            <a:ext cx="335399" cy="223480"/>
          </a:xfrm>
          <a:prstGeom prst="rect">
            <a:avLst/>
          </a:prstGeom>
          <a:noFill/>
          <a:ln/>
        </p:spPr>
        <p:txBody>
          <a:bodyPr wrap="none" lIns="0" tIns="0" rIns="0" bIns="0" rtlCol="0" anchor="t"/>
          <a:lstStyle/>
          <a:p>
            <a:pPr algn="ctr" indent="0" marL="0">
              <a:lnSpc>
                <a:spcPts val="1750"/>
              </a:lnSpc>
              <a:buNone/>
            </a:pPr>
            <a:r>
              <a:rPr lang="en-US" sz="1200" dirty="0">
                <a:solidFill>
                  <a:srgbClr val="15213F"/>
                </a:solidFill>
                <a:latin typeface="Microsoft YaHei" pitchFamily="34" charset="0"/>
                <a:ea typeface="Microsoft YaHei" pitchFamily="34" charset="-122"/>
                <a:cs typeface="Microsoft YaHe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93790" y="794861"/>
            <a:ext cx="2885718" cy="317778"/>
          </a:xfrm>
          <a:prstGeom prst="roundRect">
            <a:avLst>
              <a:gd name="adj" fmla="val 2877"/>
            </a:avLst>
          </a:prstGeom>
          <a:solidFill>
            <a:srgbClr val="D7DFF4"/>
          </a:solidFill>
          <a:ln/>
        </p:spPr>
      </p:sp>
      <p:sp>
        <p:nvSpPr>
          <p:cNvPr id="3" name="Text 1"/>
          <p:cNvSpPr/>
          <p:nvPr/>
        </p:nvSpPr>
        <p:spPr>
          <a:xfrm>
            <a:off x="902613" y="849273"/>
            <a:ext cx="2668072" cy="208955"/>
          </a:xfrm>
          <a:prstGeom prst="rect">
            <a:avLst/>
          </a:prstGeom>
          <a:noFill/>
          <a:ln/>
        </p:spPr>
        <p:txBody>
          <a:bodyPr wrap="none" lIns="0" tIns="0" rIns="0" bIns="0" rtlCol="0" anchor="t"/>
          <a:lstStyle/>
          <a:p>
            <a:pPr algn="l" indent="0" marL="0">
              <a:lnSpc>
                <a:spcPts val="1600"/>
              </a:lnSpc>
              <a:buNone/>
            </a:pPr>
            <a:r>
              <a:rPr lang="en-US" sz="1100" dirty="0">
                <a:solidFill>
                  <a:srgbClr val="15213F"/>
                </a:solidFill>
                <a:latin typeface="Microsoft YaHei" pitchFamily="34" charset="0"/>
                <a:ea typeface="Microsoft YaHei" pitchFamily="34" charset="-122"/>
                <a:cs typeface="Microsoft YaHei" pitchFamily="34" charset="-120"/>
              </a:rPr>
              <a:t>04 MPG-NSGA-II 通信保持区域覆盖算法</a:t>
            </a:r>
            <a:endParaRPr lang="en-US" sz="1100" dirty="0"/>
          </a:p>
        </p:txBody>
      </p:sp>
      <p:sp>
        <p:nvSpPr>
          <p:cNvPr id="4" name="Text 2"/>
          <p:cNvSpPr/>
          <p:nvPr/>
        </p:nvSpPr>
        <p:spPr>
          <a:xfrm>
            <a:off x="793790" y="1170622"/>
            <a:ext cx="4536519"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Microsoft YaHei" pitchFamily="34" charset="0"/>
                <a:ea typeface="Microsoft YaHei" pitchFamily="34" charset="-122"/>
                <a:cs typeface="Microsoft YaHei" pitchFamily="34" charset="-120"/>
              </a:rPr>
              <a:t>总体框架与三大创新点</a:t>
            </a:r>
            <a:endParaRPr lang="en-US" sz="3550" dirty="0"/>
          </a:p>
        </p:txBody>
      </p:sp>
      <p:pic>
        <p:nvPicPr>
          <p:cNvPr id="5" name="Image 0" descr="preencoded.png">    </p:cNvPr>
          <p:cNvPicPr>
            <a:picLocks noChangeAspect="1"/>
          </p:cNvPicPr>
          <p:nvPr/>
        </p:nvPicPr>
        <p:blipFill>
          <a:blip r:embed="rId1"/>
          <a:stretch>
            <a:fillRect/>
          </a:stretch>
        </p:blipFill>
        <p:spPr>
          <a:xfrm>
            <a:off x="793790" y="3105626"/>
            <a:ext cx="6118860" cy="3178731"/>
          </a:xfrm>
          <a:prstGeom prst="rect">
            <a:avLst/>
          </a:prstGeom>
        </p:spPr>
      </p:pic>
      <p:sp>
        <p:nvSpPr>
          <p:cNvPr id="6" name="Shape 3"/>
          <p:cNvSpPr/>
          <p:nvPr/>
        </p:nvSpPr>
        <p:spPr>
          <a:xfrm>
            <a:off x="8892659" y="2118479"/>
            <a:ext cx="4951452" cy="1359694"/>
          </a:xfrm>
          <a:prstGeom prst="roundRect">
            <a:avLst>
              <a:gd name="adj" fmla="val 673"/>
            </a:avLst>
          </a:prstGeom>
          <a:solidFill>
            <a:srgbClr val="FBFCFE">
              <a:alpha val="95000"/>
            </a:srgbClr>
          </a:solidFill>
          <a:ln w="22860">
            <a:solidFill>
              <a:srgbClr val="CFD2D8"/>
            </a:solidFill>
            <a:prstDash val="solid"/>
          </a:ln>
        </p:spPr>
      </p:sp>
      <p:sp>
        <p:nvSpPr>
          <p:cNvPr id="7" name="Shape 4"/>
          <p:cNvSpPr/>
          <p:nvPr/>
        </p:nvSpPr>
        <p:spPr>
          <a:xfrm>
            <a:off x="8915519" y="2141339"/>
            <a:ext cx="725805" cy="1313974"/>
          </a:xfrm>
          <a:prstGeom prst="rect">
            <a:avLst/>
          </a:prstGeom>
          <a:solidFill>
            <a:srgbClr val="E9ECF2"/>
          </a:solidFill>
          <a:ln/>
        </p:spPr>
      </p:sp>
      <p:sp>
        <p:nvSpPr>
          <p:cNvPr id="8" name="Text 5"/>
          <p:cNvSpPr/>
          <p:nvPr/>
        </p:nvSpPr>
        <p:spPr>
          <a:xfrm>
            <a:off x="9138523" y="2628186"/>
            <a:ext cx="272177" cy="340162"/>
          </a:xfrm>
          <a:prstGeom prst="rect">
            <a:avLst/>
          </a:prstGeom>
          <a:noFill/>
          <a:ln/>
        </p:spPr>
        <p:txBody>
          <a:bodyPr wrap="none" lIns="0" tIns="0" rIns="0" bIns="0" rtlCol="0" anchor="t"/>
          <a:lstStyle/>
          <a:p>
            <a:pPr algn="l" indent="0" marL="0">
              <a:lnSpc>
                <a:spcPts val="2100"/>
              </a:lnSpc>
              <a:buNone/>
            </a:pPr>
            <a:r>
              <a:rPr lang="en-US" sz="2100" dirty="0">
                <a:solidFill>
                  <a:srgbClr val="15213F"/>
                </a:solidFill>
                <a:latin typeface="Microsoft YaHei" pitchFamily="34" charset="0"/>
                <a:ea typeface="Microsoft YaHei" pitchFamily="34" charset="-122"/>
                <a:cs typeface="Microsoft YaHei" pitchFamily="34" charset="-120"/>
              </a:rPr>
              <a:t>1</a:t>
            </a:r>
            <a:endParaRPr lang="en-US" sz="2100" dirty="0"/>
          </a:p>
        </p:txBody>
      </p:sp>
      <p:sp>
        <p:nvSpPr>
          <p:cNvPr id="9" name="Text 6"/>
          <p:cNvSpPr/>
          <p:nvPr/>
        </p:nvSpPr>
        <p:spPr>
          <a:xfrm>
            <a:off x="9786461" y="2322790"/>
            <a:ext cx="3577114" cy="283488"/>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Microsoft YaHei" pitchFamily="34" charset="0"/>
                <a:ea typeface="Microsoft YaHei" pitchFamily="34" charset="-122"/>
                <a:cs typeface="Microsoft YaHei" pitchFamily="34" charset="-120"/>
              </a:rPr>
              <a:t>连通-贪心覆盖混合初始化（CGCI）</a:t>
            </a:r>
            <a:endParaRPr lang="en-US" sz="1750" dirty="0"/>
          </a:p>
        </p:txBody>
      </p:sp>
      <p:sp>
        <p:nvSpPr>
          <p:cNvPr id="10" name="Text 7"/>
          <p:cNvSpPr/>
          <p:nvPr/>
        </p:nvSpPr>
        <p:spPr>
          <a:xfrm>
            <a:off x="9786461" y="2751415"/>
            <a:ext cx="3853339" cy="522446"/>
          </a:xfrm>
          <a:prstGeom prst="rect">
            <a:avLst/>
          </a:prstGeom>
          <a:noFill/>
          <a:ln/>
        </p:spPr>
        <p:txBody>
          <a:bodyPr wrap="squar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基于权重向量动态切换贪心覆盖与聚集连通两种初始化策略，保障初始种群质量与多样性</a:t>
            </a:r>
            <a:endParaRPr lang="en-US" sz="1400" dirty="0"/>
          </a:p>
        </p:txBody>
      </p:sp>
      <p:sp>
        <p:nvSpPr>
          <p:cNvPr id="11" name="Shape 8"/>
          <p:cNvSpPr/>
          <p:nvPr/>
        </p:nvSpPr>
        <p:spPr>
          <a:xfrm>
            <a:off x="8892659" y="3623310"/>
            <a:ext cx="4951452" cy="1882140"/>
          </a:xfrm>
          <a:prstGeom prst="roundRect">
            <a:avLst>
              <a:gd name="adj" fmla="val 486"/>
            </a:avLst>
          </a:prstGeom>
          <a:solidFill>
            <a:srgbClr val="FBFCFE">
              <a:alpha val="95000"/>
            </a:srgbClr>
          </a:solidFill>
          <a:ln w="22860">
            <a:solidFill>
              <a:srgbClr val="CFD2D8"/>
            </a:solidFill>
            <a:prstDash val="solid"/>
          </a:ln>
        </p:spPr>
      </p:sp>
      <p:sp>
        <p:nvSpPr>
          <p:cNvPr id="12" name="Shape 9"/>
          <p:cNvSpPr/>
          <p:nvPr/>
        </p:nvSpPr>
        <p:spPr>
          <a:xfrm>
            <a:off x="8915519" y="3646170"/>
            <a:ext cx="725805" cy="1836420"/>
          </a:xfrm>
          <a:prstGeom prst="rect">
            <a:avLst/>
          </a:prstGeom>
          <a:solidFill>
            <a:srgbClr val="E9ECF2"/>
          </a:solidFill>
          <a:ln/>
        </p:spPr>
      </p:sp>
      <p:sp>
        <p:nvSpPr>
          <p:cNvPr id="13" name="Text 10"/>
          <p:cNvSpPr/>
          <p:nvPr/>
        </p:nvSpPr>
        <p:spPr>
          <a:xfrm>
            <a:off x="9138523" y="4394240"/>
            <a:ext cx="272177" cy="340162"/>
          </a:xfrm>
          <a:prstGeom prst="rect">
            <a:avLst/>
          </a:prstGeom>
          <a:noFill/>
          <a:ln/>
        </p:spPr>
        <p:txBody>
          <a:bodyPr wrap="none" lIns="0" tIns="0" rIns="0" bIns="0" rtlCol="0" anchor="t"/>
          <a:lstStyle/>
          <a:p>
            <a:pPr algn="l" indent="0" marL="0">
              <a:lnSpc>
                <a:spcPts val="2100"/>
              </a:lnSpc>
              <a:buNone/>
            </a:pPr>
            <a:r>
              <a:rPr lang="en-US" sz="2100" dirty="0">
                <a:solidFill>
                  <a:srgbClr val="15213F"/>
                </a:solidFill>
                <a:latin typeface="Microsoft YaHei" pitchFamily="34" charset="0"/>
                <a:ea typeface="Microsoft YaHei" pitchFamily="34" charset="-122"/>
                <a:cs typeface="Microsoft YaHei" pitchFamily="34" charset="-120"/>
              </a:rPr>
              <a:t>2</a:t>
            </a:r>
            <a:endParaRPr lang="en-US" sz="2100" dirty="0"/>
          </a:p>
        </p:txBody>
      </p:sp>
      <p:sp>
        <p:nvSpPr>
          <p:cNvPr id="14" name="Text 11"/>
          <p:cNvSpPr/>
          <p:nvPr/>
        </p:nvSpPr>
        <p:spPr>
          <a:xfrm>
            <a:off x="9786461" y="3827621"/>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Microsoft YaHei" pitchFamily="34" charset="0"/>
                <a:ea typeface="Microsoft YaHei" pitchFamily="34" charset="-122"/>
                <a:cs typeface="Microsoft YaHei" pitchFamily="34" charset="-120"/>
              </a:rPr>
              <a:t>局部引导变异算子</a:t>
            </a:r>
            <a:endParaRPr lang="en-US" sz="1750" dirty="0"/>
          </a:p>
        </p:txBody>
      </p:sp>
      <p:sp>
        <p:nvSpPr>
          <p:cNvPr id="15" name="Text 12"/>
          <p:cNvSpPr/>
          <p:nvPr/>
        </p:nvSpPr>
        <p:spPr>
          <a:xfrm>
            <a:off x="9786461" y="4256246"/>
            <a:ext cx="3853339" cy="1044893"/>
          </a:xfrm>
          <a:prstGeom prst="rect">
            <a:avLst/>
          </a:prstGeom>
          <a:noFill/>
          <a:ln/>
        </p:spPr>
        <p:txBody>
          <a:bodyPr wrap="squar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VCGO</a:t>
            </a:r>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（Voronoi覆盖引导）：计算视距责任区域质心，引导无人机填补覆盖盲区；</a:t>
            </a:r>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DCGO</a:t>
            </a:r>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（节点度连通引导）：识别低度数节点，引导其向链路修复位置定向变异</a:t>
            </a:r>
            <a:endParaRPr lang="en-US" sz="1400" dirty="0"/>
          </a:p>
        </p:txBody>
      </p:sp>
      <p:sp>
        <p:nvSpPr>
          <p:cNvPr id="16" name="Shape 13"/>
          <p:cNvSpPr/>
          <p:nvPr/>
        </p:nvSpPr>
        <p:spPr>
          <a:xfrm>
            <a:off x="8892659" y="5650587"/>
            <a:ext cx="4951452" cy="1620917"/>
          </a:xfrm>
          <a:prstGeom prst="roundRect">
            <a:avLst>
              <a:gd name="adj" fmla="val 564"/>
            </a:avLst>
          </a:prstGeom>
          <a:solidFill>
            <a:srgbClr val="FBFCFE">
              <a:alpha val="95000"/>
            </a:srgbClr>
          </a:solidFill>
          <a:ln w="22860">
            <a:solidFill>
              <a:srgbClr val="CFD2D8"/>
            </a:solidFill>
            <a:prstDash val="solid"/>
          </a:ln>
        </p:spPr>
      </p:sp>
      <p:sp>
        <p:nvSpPr>
          <p:cNvPr id="17" name="Shape 14"/>
          <p:cNvSpPr/>
          <p:nvPr/>
        </p:nvSpPr>
        <p:spPr>
          <a:xfrm>
            <a:off x="8915519" y="5673447"/>
            <a:ext cx="725805" cy="1575197"/>
          </a:xfrm>
          <a:prstGeom prst="rect">
            <a:avLst/>
          </a:prstGeom>
          <a:solidFill>
            <a:srgbClr val="E9ECF2"/>
          </a:solidFill>
          <a:ln/>
        </p:spPr>
      </p:sp>
      <p:sp>
        <p:nvSpPr>
          <p:cNvPr id="18" name="Text 15"/>
          <p:cNvSpPr/>
          <p:nvPr/>
        </p:nvSpPr>
        <p:spPr>
          <a:xfrm>
            <a:off x="9138523" y="6290905"/>
            <a:ext cx="272177" cy="340162"/>
          </a:xfrm>
          <a:prstGeom prst="rect">
            <a:avLst/>
          </a:prstGeom>
          <a:noFill/>
          <a:ln/>
        </p:spPr>
        <p:txBody>
          <a:bodyPr wrap="none" lIns="0" tIns="0" rIns="0" bIns="0" rtlCol="0" anchor="t"/>
          <a:lstStyle/>
          <a:p>
            <a:pPr algn="l" indent="0" marL="0">
              <a:lnSpc>
                <a:spcPts val="2100"/>
              </a:lnSpc>
              <a:buNone/>
            </a:pPr>
            <a:r>
              <a:rPr lang="en-US" sz="2100" dirty="0">
                <a:solidFill>
                  <a:srgbClr val="15213F"/>
                </a:solidFill>
                <a:latin typeface="Microsoft YaHei" pitchFamily="34" charset="0"/>
                <a:ea typeface="Microsoft YaHei" pitchFamily="34" charset="-122"/>
                <a:cs typeface="Microsoft YaHei" pitchFamily="34" charset="-120"/>
              </a:rPr>
              <a:t>3</a:t>
            </a:r>
            <a:endParaRPr lang="en-US" sz="2100" dirty="0"/>
          </a:p>
        </p:txBody>
      </p:sp>
      <p:sp>
        <p:nvSpPr>
          <p:cNvPr id="19" name="Text 16"/>
          <p:cNvSpPr/>
          <p:nvPr/>
        </p:nvSpPr>
        <p:spPr>
          <a:xfrm>
            <a:off x="9786461" y="5854898"/>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15213F"/>
                </a:solidFill>
                <a:latin typeface="Microsoft YaHei" pitchFamily="34" charset="0"/>
                <a:ea typeface="Microsoft YaHei" pitchFamily="34" charset="-122"/>
                <a:cs typeface="Microsoft YaHei" pitchFamily="34" charset="-120"/>
              </a:rPr>
              <a:t>多种群精英迁移机制</a:t>
            </a:r>
            <a:endParaRPr lang="en-US" sz="1750" dirty="0"/>
          </a:p>
        </p:txBody>
      </p:sp>
      <p:sp>
        <p:nvSpPr>
          <p:cNvPr id="20" name="Text 17"/>
          <p:cNvSpPr/>
          <p:nvPr/>
        </p:nvSpPr>
        <p:spPr>
          <a:xfrm>
            <a:off x="9786461" y="6283523"/>
            <a:ext cx="3853339" cy="783669"/>
          </a:xfrm>
          <a:prstGeom prst="rect">
            <a:avLst/>
          </a:prstGeom>
          <a:noFill/>
          <a:ln/>
        </p:spPr>
        <p:txBody>
          <a:bodyPr wrap="squar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基于岛模型，三个异构子种群（主导P₁、覆盖导向P₂、连通导向P₃）按比例精英迁移，平衡全局探索与局部开发</a:t>
            </a:r>
            <a:endParaRPr lang="en-US" sz="1400" dirty="0"/>
          </a:p>
        </p:txBody>
      </p:sp>
      <p:pic>
        <p:nvPicPr>
          <p:cNvPr id="21" name="Image 1" descr="preencoded.png">    </p:cNvPr>
          <p:cNvPicPr>
            <a:picLocks noChangeAspect="1"/>
          </p:cNvPicPr>
          <p:nvPr/>
        </p:nvPicPr>
        <p:blipFill>
          <a:blip r:embed="rId2"/>
          <a:stretch>
            <a:fillRect/>
          </a:stretch>
        </p:blipFill>
        <p:spPr>
          <a:xfrm>
            <a:off x="136088" y="208955"/>
            <a:ext cx="1351836" cy="307896"/>
          </a:xfrm>
          <a:prstGeom prst="rect">
            <a:avLst/>
          </a:prstGeom>
        </p:spPr>
      </p:pic>
      <p:sp>
        <p:nvSpPr>
          <p:cNvPr id="22" name="Text 18"/>
          <p:cNvSpPr/>
          <p:nvPr/>
        </p:nvSpPr>
        <p:spPr>
          <a:xfrm>
            <a:off x="7144703" y="7752397"/>
            <a:ext cx="340995" cy="228600"/>
          </a:xfrm>
          <a:prstGeom prst="rect">
            <a:avLst/>
          </a:prstGeom>
          <a:noFill/>
          <a:ln/>
        </p:spPr>
        <p:txBody>
          <a:bodyPr wrap="none" lIns="0" tIns="0" rIns="0" bIns="0" rtlCol="0" anchor="t"/>
          <a:lstStyle/>
          <a:p>
            <a:pPr algn="ctr" indent="0" marL="0">
              <a:lnSpc>
                <a:spcPts val="1800"/>
              </a:lnSpc>
              <a:buNone/>
            </a:pPr>
            <a:r>
              <a:rPr lang="en-US" sz="1250" dirty="0">
                <a:solidFill>
                  <a:srgbClr val="15213F"/>
                </a:solidFill>
                <a:latin typeface="Microsoft YaHei" pitchFamily="34" charset="0"/>
                <a:ea typeface="Microsoft YaHei" pitchFamily="34" charset="-122"/>
                <a:cs typeface="Microsoft YaHei" pitchFamily="34" charset="-120"/>
              </a:rPr>
              <a:t>14</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793790" y="744617"/>
            <a:ext cx="3245525" cy="370642"/>
          </a:xfrm>
          <a:prstGeom prst="roundRect">
            <a:avLst>
              <a:gd name="adj" fmla="val 2467"/>
            </a:avLst>
          </a:prstGeom>
          <a:solidFill>
            <a:srgbClr val="D7DFF4"/>
          </a:solidFill>
          <a:ln/>
        </p:spPr>
      </p:sp>
      <p:sp>
        <p:nvSpPr>
          <p:cNvPr id="3" name="Text 1"/>
          <p:cNvSpPr/>
          <p:nvPr/>
        </p:nvSpPr>
        <p:spPr>
          <a:xfrm>
            <a:off x="916186" y="805815"/>
            <a:ext cx="3000732" cy="248245"/>
          </a:xfrm>
          <a:prstGeom prst="rect">
            <a:avLst/>
          </a:prstGeom>
          <a:noFill/>
          <a:ln/>
        </p:spPr>
        <p:txBody>
          <a:bodyPr wrap="none" lIns="0" tIns="0" rIns="0" bIns="0" rtlCol="0" anchor="t"/>
          <a:lstStyle/>
          <a:p>
            <a:pPr algn="l" indent="0" marL="0">
              <a:lnSpc>
                <a:spcPts val="1950"/>
              </a:lnSpc>
              <a:buNone/>
            </a:pPr>
            <a:r>
              <a:rPr lang="en-US" sz="1250" dirty="0">
                <a:solidFill>
                  <a:srgbClr val="15213F"/>
                </a:solidFill>
                <a:latin typeface="Microsoft YaHei" pitchFamily="34" charset="0"/>
                <a:ea typeface="Microsoft YaHei" pitchFamily="34" charset="-122"/>
                <a:cs typeface="Microsoft YaHei" pitchFamily="34" charset="-120"/>
              </a:rPr>
              <a:t>04 MPG-NSGA-II 通信保持区域覆盖算法</a:t>
            </a:r>
            <a:endParaRPr lang="en-US" sz="1250" dirty="0"/>
          </a:p>
        </p:txBody>
      </p:sp>
      <p:sp>
        <p:nvSpPr>
          <p:cNvPr id="4" name="Text 2"/>
          <p:cNvSpPr/>
          <p:nvPr/>
        </p:nvSpPr>
        <p:spPr>
          <a:xfrm>
            <a:off x="793790" y="1188720"/>
            <a:ext cx="8371403" cy="637937"/>
          </a:xfrm>
          <a:prstGeom prst="rect">
            <a:avLst/>
          </a:prstGeom>
          <a:noFill/>
          <a:ln/>
        </p:spPr>
        <p:txBody>
          <a:bodyPr wrap="none" lIns="0" tIns="0" rIns="0" bIns="0" rtlCol="0" anchor="t"/>
          <a:lstStyle/>
          <a:p>
            <a:pPr algn="l" indent="0" marL="0">
              <a:lnSpc>
                <a:spcPts val="5000"/>
              </a:lnSpc>
              <a:buNone/>
            </a:pPr>
            <a:r>
              <a:rPr lang="en-US" sz="4000" dirty="0">
                <a:solidFill>
                  <a:srgbClr val="3257B8"/>
                </a:solidFill>
                <a:latin typeface="Microsoft YaHei" pitchFamily="34" charset="0"/>
                <a:ea typeface="Microsoft YaHei" pitchFamily="34" charset="-122"/>
                <a:cs typeface="Microsoft YaHei" pitchFamily="34" charset="-120"/>
              </a:rPr>
              <a:t>局部引导变异算子：VCGO 与 DCGO</a:t>
            </a:r>
            <a:endParaRPr lang="en-US" sz="4000" dirty="0"/>
          </a:p>
        </p:txBody>
      </p:sp>
      <p:sp>
        <p:nvSpPr>
          <p:cNvPr id="5" name="Shape 3"/>
          <p:cNvSpPr/>
          <p:nvPr/>
        </p:nvSpPr>
        <p:spPr>
          <a:xfrm>
            <a:off x="793790" y="2463998"/>
            <a:ext cx="3674507" cy="2041446"/>
          </a:xfrm>
          <a:prstGeom prst="roundRect">
            <a:avLst>
              <a:gd name="adj" fmla="val 448"/>
            </a:avLst>
          </a:prstGeom>
          <a:solidFill>
            <a:srgbClr val="DFDFE0"/>
          </a:solidFill>
          <a:ln/>
        </p:spPr>
      </p:sp>
      <p:pic>
        <p:nvPicPr>
          <p:cNvPr id="6" name="Image 0" descr="preencoded.png">    </p:cNvPr>
          <p:cNvPicPr>
            <a:picLocks noChangeAspect="1"/>
          </p:cNvPicPr>
          <p:nvPr/>
        </p:nvPicPr>
        <p:blipFill>
          <a:blip r:embed="rId1"/>
          <a:stretch>
            <a:fillRect/>
          </a:stretch>
        </p:blipFill>
        <p:spPr>
          <a:xfrm>
            <a:off x="2516743" y="3273743"/>
            <a:ext cx="228600" cy="228600"/>
          </a:xfrm>
          <a:prstGeom prst="rect">
            <a:avLst/>
          </a:prstGeom>
        </p:spPr>
      </p:pic>
      <p:sp>
        <p:nvSpPr>
          <p:cNvPr id="7" name="Text 4"/>
          <p:cNvSpPr/>
          <p:nvPr/>
        </p:nvSpPr>
        <p:spPr>
          <a:xfrm>
            <a:off x="2097643" y="3592592"/>
            <a:ext cx="1066800" cy="162044"/>
          </a:xfrm>
          <a:prstGeom prst="rect">
            <a:avLst/>
          </a:prstGeom>
          <a:noFill/>
          <a:ln/>
        </p:spPr>
        <p:txBody>
          <a:bodyPr wrap="none" lIns="0" tIns="0" rIns="0" bIns="0" rtlCol="0" anchor="t"/>
          <a:lstStyle/>
          <a:p>
            <a:pPr algn="ctr" indent="0" marL="0">
              <a:lnSpc>
                <a:spcPts val="1250"/>
              </a:lnSpc>
              <a:buNone/>
            </a:pPr>
            <a:r>
              <a:rPr lang="en-US" sz="800" dirty="0">
                <a:solidFill>
                  <a:srgbClr val="AEAEB2"/>
                </a:solidFill>
                <a:latin typeface="Microsoft YaHei" pitchFamily="34" charset="0"/>
                <a:ea typeface="Microsoft YaHei" pitchFamily="34" charset="-122"/>
                <a:cs typeface="Microsoft YaHei" pitchFamily="34" charset="-120"/>
              </a:rPr>
              <a:t>生成此图像时出现错误</a:t>
            </a:r>
            <a:endParaRPr lang="en-US" sz="800" dirty="0"/>
          </a:p>
        </p:txBody>
      </p:sp>
      <p:sp>
        <p:nvSpPr>
          <p:cNvPr id="8" name="Text 5"/>
          <p:cNvSpPr/>
          <p:nvPr/>
        </p:nvSpPr>
        <p:spPr>
          <a:xfrm>
            <a:off x="793790" y="4712137"/>
            <a:ext cx="3548539" cy="318849"/>
          </a:xfrm>
          <a:prstGeom prst="rect">
            <a:avLst/>
          </a:prstGeom>
          <a:noFill/>
          <a:ln/>
        </p:spPr>
        <p:txBody>
          <a:bodyPr wrap="none" lIns="0" tIns="0" rIns="0" bIns="0" rtlCol="0" anchor="t"/>
          <a:lstStyle/>
          <a:p>
            <a:pPr algn="l" indent="0" marL="0">
              <a:lnSpc>
                <a:spcPts val="2500"/>
              </a:lnSpc>
              <a:buNone/>
            </a:pPr>
            <a:r>
              <a:rPr lang="en-US" sz="2000" dirty="0">
                <a:solidFill>
                  <a:srgbClr val="3257B8"/>
                </a:solidFill>
                <a:latin typeface="Microsoft YaHei" pitchFamily="34" charset="0"/>
                <a:ea typeface="Microsoft YaHei" pitchFamily="34" charset="-122"/>
                <a:cs typeface="Microsoft YaHei" pitchFamily="34" charset="-120"/>
              </a:rPr>
              <a:t>VCGO：Voronoi 覆盖引导算子</a:t>
            </a:r>
            <a:endParaRPr lang="en-US" sz="2000" dirty="0"/>
          </a:p>
        </p:txBody>
      </p:sp>
      <p:sp>
        <p:nvSpPr>
          <p:cNvPr id="9" name="Text 6"/>
          <p:cNvSpPr/>
          <p:nvPr/>
        </p:nvSpPr>
        <p:spPr>
          <a:xfrm>
            <a:off x="793790" y="5214699"/>
            <a:ext cx="7626429" cy="930831"/>
          </a:xfrm>
          <a:prstGeom prst="rect">
            <a:avLst/>
          </a:prstGeom>
          <a:noFill/>
          <a:ln/>
        </p:spPr>
        <p:txBody>
          <a:bodyPr wrap="square" lIns="0" tIns="0" rIns="0" bIns="0" rtlCol="0" anchor="t"/>
          <a:lstStyle/>
          <a:p>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为每架无人机构造</a:t>
            </a:r>
            <a:pPr algn="l" indent="0" marL="0">
              <a:lnSpc>
                <a:spcPts val="2400"/>
              </a:lnSpc>
              <a:buNone/>
            </a:pPr>
            <a:r>
              <a:rPr lang="en-US" sz="1600" b="1" dirty="0">
                <a:solidFill>
                  <a:srgbClr val="15213F"/>
                </a:solidFill>
                <a:latin typeface="Microsoft YaHei" pitchFamily="34" charset="0"/>
                <a:ea typeface="Microsoft YaHei" pitchFamily="34" charset="-122"/>
                <a:cs typeface="Microsoft YaHei" pitchFamily="34" charset="-120"/>
              </a:rPr>
              <a:t>视距 Voronoi 责任区域</a:t>
            </a:r>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（排除建筑遮挡背面），计算几何质心 ci，以 oi→ci 方向为变异向量，驱使无人机主动向未覆盖区域中心移动，高效消除覆盖盲区。</a:t>
            </a:r>
            <a:endParaRPr lang="en-US" sz="1600" dirty="0"/>
          </a:p>
        </p:txBody>
      </p:sp>
      <p:sp>
        <p:nvSpPr>
          <p:cNvPr id="10" name="Shape 7"/>
          <p:cNvSpPr/>
          <p:nvPr/>
        </p:nvSpPr>
        <p:spPr>
          <a:xfrm>
            <a:off x="8925758" y="2308860"/>
            <a:ext cx="3674507" cy="2041446"/>
          </a:xfrm>
          <a:prstGeom prst="roundRect">
            <a:avLst>
              <a:gd name="adj" fmla="val 448"/>
            </a:avLst>
          </a:prstGeom>
          <a:solidFill>
            <a:srgbClr val="DFDFE0"/>
          </a:solidFill>
          <a:ln/>
        </p:spPr>
      </p:sp>
      <p:pic>
        <p:nvPicPr>
          <p:cNvPr id="11" name="Image 1" descr="preencoded.png">    </p:cNvPr>
          <p:cNvPicPr>
            <a:picLocks noChangeAspect="1"/>
          </p:cNvPicPr>
          <p:nvPr/>
        </p:nvPicPr>
        <p:blipFill>
          <a:blip r:embed="rId2"/>
          <a:stretch>
            <a:fillRect/>
          </a:stretch>
        </p:blipFill>
        <p:spPr>
          <a:xfrm>
            <a:off x="10648712" y="3118604"/>
            <a:ext cx="228600" cy="228600"/>
          </a:xfrm>
          <a:prstGeom prst="rect">
            <a:avLst/>
          </a:prstGeom>
        </p:spPr>
      </p:pic>
      <p:sp>
        <p:nvSpPr>
          <p:cNvPr id="12" name="Text 8"/>
          <p:cNvSpPr/>
          <p:nvPr/>
        </p:nvSpPr>
        <p:spPr>
          <a:xfrm>
            <a:off x="10229612" y="3437453"/>
            <a:ext cx="1066800" cy="162044"/>
          </a:xfrm>
          <a:prstGeom prst="rect">
            <a:avLst/>
          </a:prstGeom>
          <a:noFill/>
          <a:ln/>
        </p:spPr>
        <p:txBody>
          <a:bodyPr wrap="none" lIns="0" tIns="0" rIns="0" bIns="0" rtlCol="0" anchor="t"/>
          <a:lstStyle/>
          <a:p>
            <a:pPr algn="ctr" indent="0" marL="0">
              <a:lnSpc>
                <a:spcPts val="1250"/>
              </a:lnSpc>
              <a:buNone/>
            </a:pPr>
            <a:r>
              <a:rPr lang="en-US" sz="800" dirty="0">
                <a:solidFill>
                  <a:srgbClr val="AEAEB2"/>
                </a:solidFill>
                <a:latin typeface="Microsoft YaHei" pitchFamily="34" charset="0"/>
                <a:ea typeface="Microsoft YaHei" pitchFamily="34" charset="-122"/>
                <a:cs typeface="Microsoft YaHei" pitchFamily="34" charset="-120"/>
              </a:rPr>
              <a:t>生成此图像时出现错误</a:t>
            </a:r>
            <a:endParaRPr lang="en-US" sz="800" dirty="0"/>
          </a:p>
        </p:txBody>
      </p:sp>
      <p:sp>
        <p:nvSpPr>
          <p:cNvPr id="13" name="Text 9"/>
          <p:cNvSpPr/>
          <p:nvPr/>
        </p:nvSpPr>
        <p:spPr>
          <a:xfrm>
            <a:off x="8925758" y="4556998"/>
            <a:ext cx="3305413" cy="318849"/>
          </a:xfrm>
          <a:prstGeom prst="rect">
            <a:avLst/>
          </a:prstGeom>
          <a:noFill/>
          <a:ln/>
        </p:spPr>
        <p:txBody>
          <a:bodyPr wrap="none" lIns="0" tIns="0" rIns="0" bIns="0" rtlCol="0" anchor="t"/>
          <a:lstStyle/>
          <a:p>
            <a:pPr algn="l" indent="0" marL="0">
              <a:lnSpc>
                <a:spcPts val="2500"/>
              </a:lnSpc>
              <a:buNone/>
            </a:pPr>
            <a:r>
              <a:rPr lang="en-US" sz="2000" dirty="0">
                <a:solidFill>
                  <a:srgbClr val="3257B8"/>
                </a:solidFill>
                <a:latin typeface="Microsoft YaHei" pitchFamily="34" charset="0"/>
                <a:ea typeface="Microsoft YaHei" pitchFamily="34" charset="-122"/>
                <a:cs typeface="Microsoft YaHei" pitchFamily="34" charset="-120"/>
              </a:rPr>
              <a:t>DCGO：节点度连通引导算子</a:t>
            </a:r>
            <a:endParaRPr lang="en-US" sz="2000" dirty="0"/>
          </a:p>
        </p:txBody>
      </p:sp>
      <p:sp>
        <p:nvSpPr>
          <p:cNvPr id="14" name="Text 10"/>
          <p:cNvSpPr/>
          <p:nvPr/>
        </p:nvSpPr>
        <p:spPr>
          <a:xfrm>
            <a:off x="8925758" y="5059561"/>
            <a:ext cx="4918353" cy="1241108"/>
          </a:xfrm>
          <a:prstGeom prst="rect">
            <a:avLst/>
          </a:prstGeom>
          <a:noFill/>
          <a:ln/>
        </p:spPr>
        <p:txBody>
          <a:bodyPr wrap="square" lIns="0" tIns="0" rIns="0" bIns="0" rtlCol="0" anchor="t"/>
          <a:lstStyle/>
          <a:p>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按节点度从低到高排序，优先对</a:t>
            </a:r>
            <a:pPr algn="l" indent="0" marL="0">
              <a:lnSpc>
                <a:spcPts val="2400"/>
              </a:lnSpc>
              <a:buNone/>
            </a:pPr>
            <a:r>
              <a:rPr lang="en-US" sz="1600" b="1" dirty="0">
                <a:solidFill>
                  <a:srgbClr val="15213F"/>
                </a:solidFill>
                <a:latin typeface="Microsoft YaHei" pitchFamily="34" charset="0"/>
                <a:ea typeface="Microsoft YaHei" pitchFamily="34" charset="-122"/>
                <a:cs typeface="Microsoft YaHei" pitchFamily="34" charset="-120"/>
              </a:rPr>
              <a:t>弱连通节点</a:t>
            </a:r>
            <a:pPr algn="l" indent="0" marL="0">
              <a:lnSpc>
                <a:spcPts val="2400"/>
              </a:lnSpc>
              <a:buNone/>
            </a:pPr>
            <a:r>
              <a:rPr lang="en-US" sz="1600" dirty="0">
                <a:solidFill>
                  <a:srgbClr val="15213F"/>
                </a:solidFill>
                <a:latin typeface="Microsoft YaHei" pitchFamily="34" charset="0"/>
                <a:ea typeface="Microsoft YaHei" pitchFamily="34" charset="-122"/>
                <a:cs typeface="Microsoft YaHei" pitchFamily="34" charset="-120"/>
              </a:rPr>
              <a:t>执行定向变异：若存在 SINR 接近阈值的非邻接节点 uj，则变异方向指向 uj（修复链路）；否则指向集群虚拟中心（增强整体连通性）。</a:t>
            </a:r>
            <a:endParaRPr lang="en-US" sz="1600" dirty="0"/>
          </a:p>
        </p:txBody>
      </p:sp>
      <p:sp>
        <p:nvSpPr>
          <p:cNvPr id="15" name="Shape 11"/>
          <p:cNvSpPr/>
          <p:nvPr/>
        </p:nvSpPr>
        <p:spPr>
          <a:xfrm>
            <a:off x="793790" y="6672620"/>
            <a:ext cx="13042821" cy="812244"/>
          </a:xfrm>
          <a:prstGeom prst="roundRect">
            <a:avLst>
              <a:gd name="adj" fmla="val 1126"/>
            </a:avLst>
          </a:prstGeom>
          <a:solidFill>
            <a:srgbClr val="B6FCB8"/>
          </a:solidFill>
          <a:ln/>
        </p:spPr>
      </p:sp>
      <p:pic>
        <p:nvPicPr>
          <p:cNvPr id="16" name="Image 2" descr="preencoded.png">    </p:cNvPr>
          <p:cNvPicPr>
            <a:picLocks noChangeAspect="1"/>
          </p:cNvPicPr>
          <p:nvPr/>
        </p:nvPicPr>
        <p:blipFill>
          <a:blip r:embed="rId3"/>
          <a:stretch>
            <a:fillRect/>
          </a:stretch>
        </p:blipFill>
        <p:spPr>
          <a:xfrm>
            <a:off x="997863" y="6977658"/>
            <a:ext cx="255151" cy="204073"/>
          </a:xfrm>
          <a:prstGeom prst="rect">
            <a:avLst/>
          </a:prstGeom>
        </p:spPr>
      </p:pic>
      <p:sp>
        <p:nvSpPr>
          <p:cNvPr id="17" name="Text 12"/>
          <p:cNvSpPr/>
          <p:nvPr/>
        </p:nvSpPr>
        <p:spPr>
          <a:xfrm>
            <a:off x="1457087" y="6907292"/>
            <a:ext cx="12175450"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Microsoft YaHei" pitchFamily="34" charset="0"/>
                <a:ea typeface="Microsoft YaHei" pitchFamily="34" charset="-122"/>
                <a:cs typeface="Microsoft YaHei" pitchFamily="34" charset="-120"/>
              </a:rPr>
              <a:t>两种算子结合领域先验知识，相较于随机多项式变异，大幅加快种群向真实帕累托前沿进化的速度与搜索效果。</a:t>
            </a:r>
            <a:endParaRPr lang="en-US" sz="1600" dirty="0"/>
          </a:p>
        </p:txBody>
      </p:sp>
      <p:pic>
        <p:nvPicPr>
          <p:cNvPr id="18" name="Image 3" descr="preencoded.png">    </p:cNvPr>
          <p:cNvPicPr>
            <a:picLocks noChangeAspect="1"/>
          </p:cNvPicPr>
          <p:nvPr/>
        </p:nvPicPr>
        <p:blipFill>
          <a:blip r:embed="rId4"/>
          <a:stretch>
            <a:fillRect/>
          </a:stretch>
        </p:blipFill>
        <p:spPr>
          <a:xfrm>
            <a:off x="136088" y="208955"/>
            <a:ext cx="1351836" cy="307896"/>
          </a:xfrm>
          <a:prstGeom prst="rect">
            <a:avLst/>
          </a:prstGeom>
        </p:spPr>
      </p:pic>
      <p:sp>
        <p:nvSpPr>
          <p:cNvPr id="19" name="Text 13"/>
          <p:cNvSpPr/>
          <p:nvPr/>
        </p:nvSpPr>
        <p:spPr>
          <a:xfrm>
            <a:off x="7153394" y="7745968"/>
            <a:ext cx="323612" cy="241340"/>
          </a:xfrm>
          <a:prstGeom prst="rect">
            <a:avLst/>
          </a:prstGeom>
          <a:noFill/>
          <a:ln/>
        </p:spPr>
        <p:txBody>
          <a:bodyPr wrap="none" lIns="0" tIns="0" rIns="0" bIns="0" rtlCol="0" anchor="t"/>
          <a:lstStyle/>
          <a:p>
            <a:pPr algn="ctr" indent="0" marL="0">
              <a:lnSpc>
                <a:spcPts val="1900"/>
              </a:lnSpc>
              <a:buNone/>
            </a:pPr>
            <a:r>
              <a:rPr lang="en-US" sz="1250" dirty="0">
                <a:solidFill>
                  <a:srgbClr val="15213F"/>
                </a:solidFill>
                <a:latin typeface="Microsoft YaHei" pitchFamily="34" charset="0"/>
                <a:ea typeface="Microsoft YaHei" pitchFamily="34" charset="-122"/>
                <a:cs typeface="Microsoft YaHei" pitchFamily="34" charset="-120"/>
              </a:rPr>
              <a:t>15</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93790" y="890111"/>
            <a:ext cx="2523649" cy="268010"/>
          </a:xfrm>
          <a:prstGeom prst="roundRect">
            <a:avLst>
              <a:gd name="adj" fmla="val 3412"/>
            </a:avLst>
          </a:prstGeom>
          <a:solidFill>
            <a:srgbClr val="D7DFF4"/>
          </a:solidFill>
          <a:ln/>
        </p:spPr>
      </p:sp>
      <p:sp>
        <p:nvSpPr>
          <p:cNvPr id="3" name="Text 1"/>
          <p:cNvSpPr/>
          <p:nvPr/>
        </p:nvSpPr>
        <p:spPr>
          <a:xfrm>
            <a:off x="889040" y="937736"/>
            <a:ext cx="2333149" cy="172760"/>
          </a:xfrm>
          <a:prstGeom prst="rect">
            <a:avLst/>
          </a:prstGeom>
          <a:noFill/>
          <a:ln/>
        </p:spPr>
        <p:txBody>
          <a:bodyPr wrap="none" lIns="0" tIns="0" rIns="0" bIns="0" rtlCol="0" anchor="t"/>
          <a:lstStyle/>
          <a:p>
            <a:pPr algn="l" indent="0" marL="0">
              <a:lnSpc>
                <a:spcPts val="1350"/>
              </a:lnSpc>
              <a:buNone/>
            </a:pPr>
            <a:r>
              <a:rPr lang="en-US" sz="1000" dirty="0">
                <a:solidFill>
                  <a:srgbClr val="15213F"/>
                </a:solidFill>
                <a:latin typeface="Microsoft YaHei" pitchFamily="34" charset="0"/>
                <a:ea typeface="Microsoft YaHei" pitchFamily="34" charset="-122"/>
                <a:cs typeface="Microsoft YaHei" pitchFamily="34" charset="-120"/>
              </a:rPr>
              <a:t>04 MPG-NSGA-II 通信保持区域覆盖算法</a:t>
            </a:r>
            <a:endParaRPr lang="en-US" sz="1000" dirty="0"/>
          </a:p>
        </p:txBody>
      </p:sp>
      <p:sp>
        <p:nvSpPr>
          <p:cNvPr id="4" name="Text 2"/>
          <p:cNvSpPr/>
          <p:nvPr/>
        </p:nvSpPr>
        <p:spPr>
          <a:xfrm>
            <a:off x="793790" y="1202531"/>
            <a:ext cx="3969425" cy="496133"/>
          </a:xfrm>
          <a:prstGeom prst="rect">
            <a:avLst/>
          </a:prstGeom>
          <a:noFill/>
          <a:ln/>
        </p:spPr>
        <p:txBody>
          <a:bodyPr wrap="none" lIns="0" tIns="0" rIns="0" bIns="0" rtlCol="0" anchor="t"/>
          <a:lstStyle/>
          <a:p>
            <a:pPr algn="l" indent="0" marL="0">
              <a:lnSpc>
                <a:spcPts val="3900"/>
              </a:lnSpc>
              <a:buNone/>
            </a:pPr>
            <a:r>
              <a:rPr lang="en-US" sz="3100" dirty="0">
                <a:solidFill>
                  <a:srgbClr val="3257B8"/>
                </a:solidFill>
                <a:latin typeface="Microsoft YaHei" pitchFamily="34" charset="0"/>
                <a:ea typeface="Microsoft YaHei" pitchFamily="34" charset="-122"/>
                <a:cs typeface="Microsoft YaHei" pitchFamily="34" charset="-120"/>
              </a:rPr>
              <a:t>多种群精英迁移机制</a:t>
            </a:r>
            <a:endParaRPr lang="en-US" sz="3100" dirty="0"/>
          </a:p>
        </p:txBody>
      </p:sp>
      <p:pic>
        <p:nvPicPr>
          <p:cNvPr id="5" name="Image 0" descr="preencoded.png">    </p:cNvPr>
          <p:cNvPicPr>
            <a:picLocks noChangeAspect="1"/>
          </p:cNvPicPr>
          <p:nvPr/>
        </p:nvPicPr>
        <p:blipFill>
          <a:blip r:embed="rId1"/>
          <a:stretch>
            <a:fillRect/>
          </a:stretch>
        </p:blipFill>
        <p:spPr>
          <a:xfrm>
            <a:off x="793790" y="1990368"/>
            <a:ext cx="5792033" cy="4019669"/>
          </a:xfrm>
          <a:prstGeom prst="rect">
            <a:avLst/>
          </a:prstGeom>
        </p:spPr>
      </p:pic>
      <p:sp>
        <p:nvSpPr>
          <p:cNvPr id="6" name="Text 3"/>
          <p:cNvSpPr/>
          <p:nvPr/>
        </p:nvSpPr>
        <p:spPr>
          <a:xfrm>
            <a:off x="9530834" y="3047405"/>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3257B8"/>
                </a:solidFill>
                <a:latin typeface="Microsoft YaHei" pitchFamily="34" charset="0"/>
                <a:ea typeface="Microsoft YaHei" pitchFamily="34" charset="-122"/>
                <a:cs typeface="Microsoft YaHei" pitchFamily="34" charset="-120"/>
              </a:rPr>
              <a:t>三子种群异构协同进化</a:t>
            </a:r>
            <a:endParaRPr lang="en-US" sz="1550" dirty="0"/>
          </a:p>
        </p:txBody>
      </p:sp>
      <p:sp>
        <p:nvSpPr>
          <p:cNvPr id="7" name="Text 4"/>
          <p:cNvSpPr/>
          <p:nvPr/>
        </p:nvSpPr>
        <p:spPr>
          <a:xfrm>
            <a:off x="9530834" y="3339822"/>
            <a:ext cx="2792849" cy="248007"/>
          </a:xfrm>
          <a:prstGeom prst="rect">
            <a:avLst/>
          </a:prstGeom>
          <a:noFill/>
          <a:ln/>
        </p:spPr>
        <p:txBody>
          <a:bodyPr wrap="none" lIns="0" tIns="0" rIns="0" bIns="0" rtlCol="0" anchor="t"/>
          <a:lstStyle/>
          <a:p>
            <a:pPr algn="l" indent="0" marL="0">
              <a:lnSpc>
                <a:spcPts val="1950"/>
              </a:lnSpc>
              <a:buNone/>
            </a:pPr>
            <a:r>
              <a:rPr lang="en-US" sz="1550" dirty="0">
                <a:solidFill>
                  <a:srgbClr val="3257B8"/>
                </a:solidFill>
                <a:latin typeface="Microsoft YaHei" pitchFamily="34" charset="0"/>
                <a:ea typeface="Microsoft YaHei" pitchFamily="34" charset="-122"/>
                <a:cs typeface="Microsoft YaHei" pitchFamily="34" charset="-120"/>
              </a:rPr>
              <a:t>迁移规则（迁移周期 T=40 代）</a:t>
            </a:r>
            <a:endParaRPr lang="en-US" sz="1550" dirty="0"/>
          </a:p>
        </p:txBody>
      </p:sp>
      <p:sp>
        <p:nvSpPr>
          <p:cNvPr id="8" name="Text 5"/>
          <p:cNvSpPr/>
          <p:nvPr/>
        </p:nvSpPr>
        <p:spPr>
          <a:xfrm>
            <a:off x="9530834" y="3698915"/>
            <a:ext cx="4313277" cy="733187"/>
          </a:xfrm>
          <a:prstGeom prst="rect">
            <a:avLst/>
          </a:prstGeom>
          <a:noFill/>
          <a:ln/>
        </p:spPr>
        <p:txBody>
          <a:bodyPr wrap="square" lIns="0" tIns="0" rIns="0" bIns="0" rtlCol="0" anchor="t"/>
          <a:lstStyle/>
          <a:p>
            <a:pPr algn="l" marL="342900" indent="-342900">
              <a:lnSpc>
                <a:spcPts val="1700"/>
              </a:lnSpc>
              <a:buSzPct val="100000"/>
              <a:buChar char="•"/>
            </a:pPr>
            <a:r>
              <a:rPr lang="en-US" sz="1250" dirty="0">
                <a:solidFill>
                  <a:srgbClr val="15213F"/>
                </a:solidFill>
                <a:latin typeface="Microsoft YaHei" pitchFamily="34" charset="0"/>
                <a:ea typeface="Microsoft YaHei" pitchFamily="34" charset="-122"/>
                <a:cs typeface="Microsoft YaHei" pitchFamily="34" charset="-120"/>
              </a:rPr>
              <a:t>P₂、P₃ 精英个体 → P₁（提升主种群质量与多样性）</a:t>
            </a:r>
            <a:endParaRPr lang="en-US" sz="1250" dirty="0"/>
          </a:p>
          <a:p>
            <a:pPr algn="l" marL="342900" indent="-342900">
              <a:lnSpc>
                <a:spcPts val="1700"/>
              </a:lnSpc>
              <a:buSzPct val="100000"/>
              <a:buChar char="•"/>
            </a:pPr>
            <a:r>
              <a:rPr lang="en-US" sz="1250" dirty="0">
                <a:solidFill>
                  <a:srgbClr val="15213F"/>
                </a:solidFill>
                <a:latin typeface="Microsoft YaHei" pitchFamily="34" charset="0"/>
                <a:ea typeface="Microsoft YaHei" pitchFamily="34" charset="-122"/>
                <a:cs typeface="Microsoft YaHei" pitchFamily="34" charset="-120"/>
              </a:rPr>
              <a:t>P₁ 第一前沿随机个体 → P₂、P₃（防止子种群局部最优）</a:t>
            </a:r>
            <a:endParaRPr lang="en-US" sz="1250" dirty="0"/>
          </a:p>
          <a:p>
            <a:pPr algn="l" marL="342900" indent="-342900">
              <a:lnSpc>
                <a:spcPts val="1700"/>
              </a:lnSpc>
              <a:buSzPct val="100000"/>
              <a:buChar char="•"/>
            </a:pPr>
            <a:r>
              <a:rPr lang="en-US" sz="1250" dirty="0">
                <a:solidFill>
                  <a:srgbClr val="15213F"/>
                </a:solidFill>
                <a:latin typeface="Microsoft YaHei" pitchFamily="34" charset="0"/>
                <a:ea typeface="Microsoft YaHei" pitchFamily="34" charset="-122"/>
                <a:cs typeface="Microsoft YaHei" pitchFamily="34" charset="-120"/>
              </a:rPr>
              <a:t>P₂ 覆盖最优个体 </a:t>
            </a:r>
            <a:pPr algn="l" indent="0" marL="0">
              <a:lnSpc>
                <a:spcPts val="1700"/>
              </a:lnSpc>
              <a:buNone/>
            </a:pPr>
            <a:r>
              <a:rPr lang="en-US" sz="1250" dirty="0">
                <a:solidFill>
                  <a:srgbClr val="000000"/>
                </a:solidFill>
                <a:latin typeface="Microsoft YaHei" pitchFamily="34" charset="0"/>
                <a:ea typeface="Microsoft YaHei" pitchFamily="34" charset="-122"/>
                <a:cs typeface="Microsoft YaHei" pitchFamily="34" charset="-120"/>
              </a:rPr>
              <a:t>↔</a:t>
            </a:r>
            <a:pPr algn="l" indent="0" marL="0">
              <a:lnSpc>
                <a:spcPts val="1700"/>
              </a:lnSpc>
              <a:buNone/>
            </a:pPr>
            <a:r>
              <a:rPr lang="en-US" sz="1250" dirty="0">
                <a:solidFill>
                  <a:srgbClr val="15213F"/>
                </a:solidFill>
                <a:latin typeface="Microsoft YaHei" pitchFamily="34" charset="0"/>
                <a:ea typeface="Microsoft YaHei" pitchFamily="34" charset="-122"/>
                <a:cs typeface="Microsoft YaHei" pitchFamily="34" charset="-120"/>
              </a:rPr>
              <a:t> P₃ 连通最优个体（互补进化）</a:t>
            </a:r>
            <a:endParaRPr lang="en-US" sz="1250" dirty="0"/>
          </a:p>
        </p:txBody>
      </p:sp>
      <p:sp>
        <p:nvSpPr>
          <p:cNvPr id="9" name="Text 6"/>
          <p:cNvSpPr/>
          <p:nvPr/>
        </p:nvSpPr>
        <p:spPr>
          <a:xfrm>
            <a:off x="9530834" y="4532114"/>
            <a:ext cx="4313277" cy="431959"/>
          </a:xfrm>
          <a:prstGeom prst="rect">
            <a:avLst/>
          </a:prstGeom>
          <a:noFill/>
          <a:ln/>
        </p:spPr>
        <p:txBody>
          <a:bodyPr wrap="square" lIns="0" tIns="0" rIns="0" bIns="0" rtlCol="0" anchor="t"/>
          <a:lstStyle/>
          <a:p>
            <a:pPr algn="l" indent="0" marL="0">
              <a:lnSpc>
                <a:spcPts val="1700"/>
              </a:lnSpc>
              <a:buNone/>
            </a:pPr>
            <a:r>
              <a:rPr lang="en-US" sz="1250" dirty="0">
                <a:solidFill>
                  <a:srgbClr val="15213F"/>
                </a:solidFill>
                <a:latin typeface="Microsoft YaHei" pitchFamily="34" charset="0"/>
                <a:ea typeface="Microsoft YaHei" pitchFamily="34" charset="-122"/>
                <a:cs typeface="Microsoft YaHei" pitchFamily="34" charset="-120"/>
              </a:rPr>
              <a:t>迁移比例 r = 0.1–0.2，按非支配排序与拥挤度距离综合排序选取精英。</a:t>
            </a:r>
            <a:endParaRPr lang="en-US" sz="1250" dirty="0"/>
          </a:p>
        </p:txBody>
      </p:sp>
      <p:sp>
        <p:nvSpPr>
          <p:cNvPr id="10" name="Shape 7"/>
          <p:cNvSpPr/>
          <p:nvPr/>
        </p:nvSpPr>
        <p:spPr>
          <a:xfrm>
            <a:off x="793790" y="6260068"/>
            <a:ext cx="4273510" cy="1079302"/>
          </a:xfrm>
          <a:prstGeom prst="roundRect">
            <a:avLst>
              <a:gd name="adj" fmla="val 847"/>
            </a:avLst>
          </a:prstGeom>
          <a:solidFill>
            <a:srgbClr val="E9ECF2"/>
          </a:solidFill>
          <a:ln w="7620">
            <a:solidFill>
              <a:srgbClr val="CFD2D8"/>
            </a:solidFill>
            <a:prstDash val="solid"/>
          </a:ln>
        </p:spPr>
      </p:sp>
      <p:sp>
        <p:nvSpPr>
          <p:cNvPr id="11" name="Text 8"/>
          <p:cNvSpPr/>
          <p:nvPr/>
        </p:nvSpPr>
        <p:spPr>
          <a:xfrm>
            <a:off x="960120" y="6426398"/>
            <a:ext cx="2126456" cy="248007"/>
          </a:xfrm>
          <a:prstGeom prst="rect">
            <a:avLst/>
          </a:prstGeom>
          <a:noFill/>
          <a:ln/>
        </p:spPr>
        <p:txBody>
          <a:bodyPr wrap="none" lIns="0" tIns="0" rIns="0" bIns="0" rtlCol="0" anchor="t"/>
          <a:lstStyle/>
          <a:p>
            <a:pPr algn="l" indent="0" marL="0">
              <a:lnSpc>
                <a:spcPts val="1950"/>
              </a:lnSpc>
              <a:buNone/>
            </a:pPr>
            <a:r>
              <a:rPr lang="en-US" sz="1550" dirty="0">
                <a:solidFill>
                  <a:srgbClr val="15213F"/>
                </a:solidFill>
                <a:latin typeface="Microsoft YaHei" pitchFamily="34" charset="0"/>
                <a:ea typeface="Microsoft YaHei" pitchFamily="34" charset="-122"/>
                <a:cs typeface="Microsoft YaHei" pitchFamily="34" charset="-120"/>
              </a:rPr>
              <a:t>主导种群 P₁（n₁=120）</a:t>
            </a:r>
            <a:endParaRPr lang="en-US" sz="1550" dirty="0"/>
          </a:p>
        </p:txBody>
      </p:sp>
      <p:sp>
        <p:nvSpPr>
          <p:cNvPr id="12" name="Text 9"/>
          <p:cNvSpPr/>
          <p:nvPr/>
        </p:nvSpPr>
        <p:spPr>
          <a:xfrm>
            <a:off x="960120" y="6741081"/>
            <a:ext cx="3940850" cy="431959"/>
          </a:xfrm>
          <a:prstGeom prst="rect">
            <a:avLst/>
          </a:prstGeom>
          <a:noFill/>
          <a:ln/>
        </p:spPr>
        <p:txBody>
          <a:bodyPr wrap="square" lIns="0" tIns="0" rIns="0" bIns="0" rtlCol="0" anchor="t"/>
          <a:lstStyle/>
          <a:p>
            <a:pPr algn="l" indent="0" marL="0">
              <a:lnSpc>
                <a:spcPts val="1700"/>
              </a:lnSpc>
              <a:buNone/>
            </a:pPr>
            <a:r>
              <a:rPr lang="en-US" sz="1250" dirty="0">
                <a:solidFill>
                  <a:srgbClr val="15213F"/>
                </a:solidFill>
                <a:latin typeface="Microsoft YaHei" pitchFamily="34" charset="0"/>
                <a:ea typeface="Microsoft YaHei" pitchFamily="34" charset="-122"/>
                <a:cs typeface="Microsoft YaHei" pitchFamily="34" charset="-120"/>
              </a:rPr>
              <a:t>采用标准多项式变异，维持种群遗传多样性与全局探索能力</a:t>
            </a:r>
            <a:endParaRPr lang="en-US" sz="1250" dirty="0"/>
          </a:p>
        </p:txBody>
      </p:sp>
      <p:sp>
        <p:nvSpPr>
          <p:cNvPr id="13" name="Shape 10"/>
          <p:cNvSpPr/>
          <p:nvPr/>
        </p:nvSpPr>
        <p:spPr>
          <a:xfrm>
            <a:off x="5178385" y="6260068"/>
            <a:ext cx="4273510" cy="1079302"/>
          </a:xfrm>
          <a:prstGeom prst="roundRect">
            <a:avLst>
              <a:gd name="adj" fmla="val 847"/>
            </a:avLst>
          </a:prstGeom>
          <a:solidFill>
            <a:srgbClr val="E9ECF2"/>
          </a:solidFill>
          <a:ln w="7620">
            <a:solidFill>
              <a:srgbClr val="CFD2D8"/>
            </a:solidFill>
            <a:prstDash val="solid"/>
          </a:ln>
        </p:spPr>
      </p:sp>
      <p:sp>
        <p:nvSpPr>
          <p:cNvPr id="14" name="Text 11"/>
          <p:cNvSpPr/>
          <p:nvPr/>
        </p:nvSpPr>
        <p:spPr>
          <a:xfrm>
            <a:off x="5344716" y="6426398"/>
            <a:ext cx="2010132" cy="248007"/>
          </a:xfrm>
          <a:prstGeom prst="rect">
            <a:avLst/>
          </a:prstGeom>
          <a:noFill/>
          <a:ln/>
        </p:spPr>
        <p:txBody>
          <a:bodyPr wrap="none" lIns="0" tIns="0" rIns="0" bIns="0" rtlCol="0" anchor="t"/>
          <a:lstStyle/>
          <a:p>
            <a:pPr algn="l" indent="0" marL="0">
              <a:lnSpc>
                <a:spcPts val="1950"/>
              </a:lnSpc>
              <a:buNone/>
            </a:pPr>
            <a:r>
              <a:rPr lang="en-US" sz="1550" dirty="0">
                <a:solidFill>
                  <a:srgbClr val="15213F"/>
                </a:solidFill>
                <a:latin typeface="Microsoft YaHei" pitchFamily="34" charset="0"/>
                <a:ea typeface="Microsoft YaHei" pitchFamily="34" charset="-122"/>
                <a:cs typeface="Microsoft YaHei" pitchFamily="34" charset="-120"/>
              </a:rPr>
              <a:t>覆盖导向 P₂（n₂=40）</a:t>
            </a:r>
            <a:endParaRPr lang="en-US" sz="1550" dirty="0"/>
          </a:p>
        </p:txBody>
      </p:sp>
      <p:sp>
        <p:nvSpPr>
          <p:cNvPr id="15" name="Text 12"/>
          <p:cNvSpPr/>
          <p:nvPr/>
        </p:nvSpPr>
        <p:spPr>
          <a:xfrm>
            <a:off x="5344716" y="6741081"/>
            <a:ext cx="3940850" cy="215979"/>
          </a:xfrm>
          <a:prstGeom prst="rect">
            <a:avLst/>
          </a:prstGeom>
          <a:noFill/>
          <a:ln/>
        </p:spPr>
        <p:txBody>
          <a:bodyPr wrap="none" lIns="0" tIns="0" rIns="0" bIns="0" rtlCol="0" anchor="t"/>
          <a:lstStyle/>
          <a:p>
            <a:pPr algn="l" indent="0" marL="0">
              <a:lnSpc>
                <a:spcPts val="1700"/>
              </a:lnSpc>
              <a:buNone/>
            </a:pPr>
            <a:r>
              <a:rPr lang="en-US" sz="1250" dirty="0">
                <a:solidFill>
                  <a:srgbClr val="15213F"/>
                </a:solidFill>
                <a:latin typeface="Microsoft YaHei" pitchFamily="34" charset="0"/>
                <a:ea typeface="Microsoft YaHei" pitchFamily="34" charset="-122"/>
                <a:cs typeface="Microsoft YaHei" pitchFamily="34" charset="-120"/>
              </a:rPr>
              <a:t>采用 VCGO 算子，专注于覆盖目标的局部精细化搜索</a:t>
            </a:r>
            <a:endParaRPr lang="en-US" sz="1250" dirty="0"/>
          </a:p>
        </p:txBody>
      </p:sp>
      <p:sp>
        <p:nvSpPr>
          <p:cNvPr id="16" name="Shape 13"/>
          <p:cNvSpPr/>
          <p:nvPr/>
        </p:nvSpPr>
        <p:spPr>
          <a:xfrm>
            <a:off x="9562981" y="6260068"/>
            <a:ext cx="4273510" cy="1079302"/>
          </a:xfrm>
          <a:prstGeom prst="roundRect">
            <a:avLst>
              <a:gd name="adj" fmla="val 847"/>
            </a:avLst>
          </a:prstGeom>
          <a:solidFill>
            <a:srgbClr val="E9ECF2"/>
          </a:solidFill>
          <a:ln w="7620">
            <a:solidFill>
              <a:srgbClr val="CFD2D8"/>
            </a:solidFill>
            <a:prstDash val="solid"/>
          </a:ln>
        </p:spPr>
      </p:sp>
      <p:sp>
        <p:nvSpPr>
          <p:cNvPr id="17" name="Text 14"/>
          <p:cNvSpPr/>
          <p:nvPr/>
        </p:nvSpPr>
        <p:spPr>
          <a:xfrm>
            <a:off x="9729311" y="6426398"/>
            <a:ext cx="2010132" cy="248007"/>
          </a:xfrm>
          <a:prstGeom prst="rect">
            <a:avLst/>
          </a:prstGeom>
          <a:noFill/>
          <a:ln/>
        </p:spPr>
        <p:txBody>
          <a:bodyPr wrap="none" lIns="0" tIns="0" rIns="0" bIns="0" rtlCol="0" anchor="t"/>
          <a:lstStyle/>
          <a:p>
            <a:pPr algn="l" indent="0" marL="0">
              <a:lnSpc>
                <a:spcPts val="1950"/>
              </a:lnSpc>
              <a:buNone/>
            </a:pPr>
            <a:r>
              <a:rPr lang="en-US" sz="1550" dirty="0">
                <a:solidFill>
                  <a:srgbClr val="15213F"/>
                </a:solidFill>
                <a:latin typeface="Microsoft YaHei" pitchFamily="34" charset="0"/>
                <a:ea typeface="Microsoft YaHei" pitchFamily="34" charset="-122"/>
                <a:cs typeface="Microsoft YaHei" pitchFamily="34" charset="-120"/>
              </a:rPr>
              <a:t>连通导向 P₃（n₃=40）</a:t>
            </a:r>
            <a:endParaRPr lang="en-US" sz="1550" dirty="0"/>
          </a:p>
        </p:txBody>
      </p:sp>
      <p:sp>
        <p:nvSpPr>
          <p:cNvPr id="18" name="Text 15"/>
          <p:cNvSpPr/>
          <p:nvPr/>
        </p:nvSpPr>
        <p:spPr>
          <a:xfrm>
            <a:off x="9729311" y="6741081"/>
            <a:ext cx="3940850" cy="215979"/>
          </a:xfrm>
          <a:prstGeom prst="rect">
            <a:avLst/>
          </a:prstGeom>
          <a:noFill/>
          <a:ln/>
        </p:spPr>
        <p:txBody>
          <a:bodyPr wrap="none" lIns="0" tIns="0" rIns="0" bIns="0" rtlCol="0" anchor="t"/>
          <a:lstStyle/>
          <a:p>
            <a:pPr algn="l" indent="0" marL="0">
              <a:lnSpc>
                <a:spcPts val="1700"/>
              </a:lnSpc>
              <a:buNone/>
            </a:pPr>
            <a:r>
              <a:rPr lang="en-US" sz="1250" dirty="0">
                <a:solidFill>
                  <a:srgbClr val="15213F"/>
                </a:solidFill>
                <a:latin typeface="Microsoft YaHei" pitchFamily="34" charset="0"/>
                <a:ea typeface="Microsoft YaHei" pitchFamily="34" charset="-122"/>
                <a:cs typeface="Microsoft YaHei" pitchFamily="34" charset="-120"/>
              </a:rPr>
              <a:t>采用 DCGO 算子，专注于网络连通性目标的定向优化</a:t>
            </a:r>
            <a:endParaRPr lang="en-US" sz="1250" dirty="0"/>
          </a:p>
        </p:txBody>
      </p:sp>
      <p:pic>
        <p:nvPicPr>
          <p:cNvPr id="19" name="Image 1" descr="preencoded.png">    </p:cNvPr>
          <p:cNvPicPr>
            <a:picLocks noChangeAspect="1"/>
          </p:cNvPicPr>
          <p:nvPr/>
        </p:nvPicPr>
        <p:blipFill>
          <a:blip r:embed="rId2"/>
          <a:stretch>
            <a:fillRect/>
          </a:stretch>
        </p:blipFill>
        <p:spPr>
          <a:xfrm>
            <a:off x="136088" y="208955"/>
            <a:ext cx="1351836" cy="307896"/>
          </a:xfrm>
          <a:prstGeom prst="rect">
            <a:avLst/>
          </a:prstGeom>
        </p:spPr>
      </p:pic>
      <p:sp>
        <p:nvSpPr>
          <p:cNvPr id="20" name="Text 16"/>
          <p:cNvSpPr/>
          <p:nvPr/>
        </p:nvSpPr>
        <p:spPr>
          <a:xfrm>
            <a:off x="7133749" y="7758708"/>
            <a:ext cx="362903" cy="215979"/>
          </a:xfrm>
          <a:prstGeom prst="rect">
            <a:avLst/>
          </a:prstGeom>
          <a:noFill/>
          <a:ln/>
        </p:spPr>
        <p:txBody>
          <a:bodyPr wrap="none" lIns="0" tIns="0" rIns="0" bIns="0" rtlCol="0" anchor="t"/>
          <a:lstStyle/>
          <a:p>
            <a:pPr algn="ctr" indent="0" marL="0">
              <a:lnSpc>
                <a:spcPts val="1700"/>
              </a:lnSpc>
              <a:buNone/>
            </a:pPr>
            <a:r>
              <a:rPr lang="en-US" sz="1250" dirty="0">
                <a:solidFill>
                  <a:srgbClr val="15213F"/>
                </a:solidFill>
                <a:latin typeface="Microsoft YaHei" pitchFamily="34" charset="0"/>
                <a:ea typeface="Microsoft YaHei" pitchFamily="34" charset="-122"/>
                <a:cs typeface="Microsoft YaHei" pitchFamily="34" charset="-120"/>
              </a:rPr>
              <a:t>16</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793790" y="1223129"/>
            <a:ext cx="2885718" cy="317778"/>
          </a:xfrm>
          <a:prstGeom prst="roundRect">
            <a:avLst>
              <a:gd name="adj" fmla="val 2877"/>
            </a:avLst>
          </a:prstGeom>
          <a:solidFill>
            <a:srgbClr val="D7DFF4"/>
          </a:solidFill>
          <a:ln/>
        </p:spPr>
      </p:sp>
      <p:sp>
        <p:nvSpPr>
          <p:cNvPr id="3" name="Text 1"/>
          <p:cNvSpPr/>
          <p:nvPr/>
        </p:nvSpPr>
        <p:spPr>
          <a:xfrm>
            <a:off x="902613" y="1277541"/>
            <a:ext cx="2668072" cy="208955"/>
          </a:xfrm>
          <a:prstGeom prst="rect">
            <a:avLst/>
          </a:prstGeom>
          <a:noFill/>
          <a:ln/>
        </p:spPr>
        <p:txBody>
          <a:bodyPr wrap="none" lIns="0" tIns="0" rIns="0" bIns="0" rtlCol="0" anchor="t"/>
          <a:lstStyle/>
          <a:p>
            <a:pPr algn="l" indent="0" marL="0">
              <a:lnSpc>
                <a:spcPts val="1600"/>
              </a:lnSpc>
              <a:buNone/>
            </a:pPr>
            <a:r>
              <a:rPr lang="en-US" sz="1100" dirty="0">
                <a:solidFill>
                  <a:srgbClr val="15213F"/>
                </a:solidFill>
                <a:latin typeface="Microsoft YaHei" pitchFamily="34" charset="0"/>
                <a:ea typeface="Microsoft YaHei" pitchFamily="34" charset="-122"/>
                <a:cs typeface="Microsoft YaHei" pitchFamily="34" charset="-120"/>
              </a:rPr>
              <a:t>04 MPG-NSGA-II 通信保持区域覆盖算法</a:t>
            </a:r>
            <a:endParaRPr lang="en-US" sz="1100" dirty="0"/>
          </a:p>
        </p:txBody>
      </p:sp>
      <p:sp>
        <p:nvSpPr>
          <p:cNvPr id="4" name="Text 2"/>
          <p:cNvSpPr/>
          <p:nvPr/>
        </p:nvSpPr>
        <p:spPr>
          <a:xfrm>
            <a:off x="793790" y="1598890"/>
            <a:ext cx="4988600"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Microsoft YaHei" pitchFamily="34" charset="0"/>
                <a:ea typeface="Microsoft YaHei" pitchFamily="34" charset="-122"/>
                <a:cs typeface="Microsoft YaHei" pitchFamily="34" charset="-120"/>
              </a:rPr>
              <a:t>解集质量与收敛效果分析</a:t>
            </a:r>
            <a:endParaRPr lang="en-US" sz="3550" dirty="0"/>
          </a:p>
        </p:txBody>
      </p:sp>
      <p:sp>
        <p:nvSpPr>
          <p:cNvPr id="5" name="Text 3"/>
          <p:cNvSpPr/>
          <p:nvPr/>
        </p:nvSpPr>
        <p:spPr>
          <a:xfrm>
            <a:off x="793790" y="2528649"/>
            <a:ext cx="2368987" cy="283488"/>
          </a:xfrm>
          <a:prstGeom prst="rect">
            <a:avLst/>
          </a:prstGeom>
          <a:noFill/>
          <a:ln/>
        </p:spPr>
        <p:txBody>
          <a:bodyPr wrap="none" lIns="0" tIns="0" rIns="0" bIns="0" rtlCol="0" anchor="t"/>
          <a:lstStyle/>
          <a:p>
            <a:pPr algn="l" indent="0" marL="0">
              <a:lnSpc>
                <a:spcPts val="2200"/>
              </a:lnSpc>
              <a:buNone/>
            </a:pPr>
            <a:r>
              <a:rPr lang="en-US" sz="1750" dirty="0">
                <a:solidFill>
                  <a:srgbClr val="3257B8"/>
                </a:solidFill>
                <a:latin typeface="Microsoft YaHei" pitchFamily="34" charset="0"/>
                <a:ea typeface="Microsoft YaHei" pitchFamily="34" charset="-122"/>
                <a:cs typeface="Microsoft YaHei" pitchFamily="34" charset="-120"/>
              </a:rPr>
              <a:t>超体积（HV）收敛对比</a:t>
            </a:r>
            <a:endParaRPr lang="en-US" sz="1750" dirty="0"/>
          </a:p>
        </p:txBody>
      </p:sp>
      <p:sp>
        <p:nvSpPr>
          <p:cNvPr id="6" name="Shape 4"/>
          <p:cNvSpPr/>
          <p:nvPr/>
        </p:nvSpPr>
        <p:spPr>
          <a:xfrm>
            <a:off x="793790" y="2975372"/>
            <a:ext cx="564833" cy="164544"/>
          </a:xfrm>
          <a:prstGeom prst="roundRect">
            <a:avLst>
              <a:gd name="adj" fmla="val 77800"/>
            </a:avLst>
          </a:prstGeom>
          <a:solidFill>
            <a:srgbClr val="FFFFFF">
              <a:alpha val="20000"/>
            </a:srgbClr>
          </a:solidFill>
          <a:ln w="7620">
            <a:solidFill>
              <a:srgbClr val="000000"/>
            </a:solidFill>
            <a:prstDash val="solid"/>
          </a:ln>
        </p:spPr>
      </p:sp>
      <p:pic>
        <p:nvPicPr>
          <p:cNvPr id="7" name="Image 0" descr="preencoded.png">    </p:cNvPr>
          <p:cNvPicPr>
            <a:picLocks noChangeAspect="1"/>
          </p:cNvPicPr>
          <p:nvPr/>
        </p:nvPicPr>
        <p:blipFill>
          <a:blip r:embed="rId1"/>
          <a:stretch>
            <a:fillRect/>
          </a:stretch>
        </p:blipFill>
        <p:spPr>
          <a:xfrm>
            <a:off x="847130" y="3011924"/>
            <a:ext cx="91440" cy="91440"/>
          </a:xfrm>
          <a:prstGeom prst="rect">
            <a:avLst/>
          </a:prstGeom>
        </p:spPr>
      </p:pic>
      <p:sp>
        <p:nvSpPr>
          <p:cNvPr id="8" name="Text 5"/>
          <p:cNvSpPr/>
          <p:nvPr/>
        </p:nvSpPr>
        <p:spPr>
          <a:xfrm>
            <a:off x="969050" y="2998232"/>
            <a:ext cx="336233" cy="118824"/>
          </a:xfrm>
          <a:prstGeom prst="rect">
            <a:avLst/>
          </a:prstGeom>
          <a:noFill/>
          <a:ln/>
        </p:spPr>
        <p:txBody>
          <a:bodyPr wrap="none" lIns="0" tIns="0" rIns="0" bIns="0" rtlCol="0" anchor="t"/>
          <a:lstStyle/>
          <a:p>
            <a:pPr algn="l" indent="0" marL="0">
              <a:lnSpc>
                <a:spcPts val="900"/>
              </a:lnSpc>
              <a:buNone/>
            </a:pPr>
            <a:r>
              <a:rPr lang="en-US" sz="700" dirty="0">
                <a:solidFill>
                  <a:srgbClr val="15213F"/>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NSGA-II</a:t>
            </a:r>
            <a:endParaRPr lang="en-US" sz="700" dirty="0"/>
          </a:p>
        </p:txBody>
      </p:sp>
      <p:sp>
        <p:nvSpPr>
          <p:cNvPr id="9" name="Shape 6"/>
          <p:cNvSpPr/>
          <p:nvPr/>
        </p:nvSpPr>
        <p:spPr>
          <a:xfrm>
            <a:off x="1419582" y="2975372"/>
            <a:ext cx="799028" cy="164544"/>
          </a:xfrm>
          <a:prstGeom prst="roundRect">
            <a:avLst>
              <a:gd name="adj" fmla="val 77800"/>
            </a:avLst>
          </a:prstGeom>
          <a:solidFill>
            <a:srgbClr val="FFFFFF">
              <a:alpha val="20000"/>
            </a:srgbClr>
          </a:solidFill>
          <a:ln w="7620">
            <a:solidFill>
              <a:srgbClr val="000000"/>
            </a:solidFill>
            <a:prstDash val="solid"/>
          </a:ln>
        </p:spPr>
      </p:sp>
      <p:pic>
        <p:nvPicPr>
          <p:cNvPr id="10" name="Image 1" descr="preencoded.png">    </p:cNvPr>
          <p:cNvPicPr>
            <a:picLocks noChangeAspect="1"/>
          </p:cNvPicPr>
          <p:nvPr/>
        </p:nvPicPr>
        <p:blipFill>
          <a:blip r:embed="rId2"/>
          <a:stretch>
            <a:fillRect/>
          </a:stretch>
        </p:blipFill>
        <p:spPr>
          <a:xfrm>
            <a:off x="1472922" y="3011924"/>
            <a:ext cx="91440" cy="91440"/>
          </a:xfrm>
          <a:prstGeom prst="rect">
            <a:avLst/>
          </a:prstGeom>
        </p:spPr>
      </p:pic>
      <p:sp>
        <p:nvSpPr>
          <p:cNvPr id="11" name="Text 7"/>
          <p:cNvSpPr/>
          <p:nvPr/>
        </p:nvSpPr>
        <p:spPr>
          <a:xfrm>
            <a:off x="1594842" y="2998232"/>
            <a:ext cx="570428" cy="118824"/>
          </a:xfrm>
          <a:prstGeom prst="rect">
            <a:avLst/>
          </a:prstGeom>
          <a:noFill/>
          <a:ln/>
        </p:spPr>
        <p:txBody>
          <a:bodyPr wrap="none" lIns="0" tIns="0" rIns="0" bIns="0" rtlCol="0" anchor="t"/>
          <a:lstStyle/>
          <a:p>
            <a:pPr algn="l" indent="0" marL="0">
              <a:lnSpc>
                <a:spcPts val="900"/>
              </a:lnSpc>
              <a:buNone/>
            </a:pPr>
            <a:r>
              <a:rPr lang="en-US" sz="700" dirty="0">
                <a:solidFill>
                  <a:srgbClr val="15213F"/>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MPG-NSGA-II</a:t>
            </a:r>
            <a:endParaRPr lang="en-US" sz="700" dirty="0"/>
          </a:p>
        </p:txBody>
      </p:sp>
      <p:pic>
        <p:nvPicPr>
          <p:cNvPr id="12" name="Image 2" descr="preencoded.png">    </p:cNvPr>
          <p:cNvPicPr>
            <a:picLocks noChangeAspect="1"/>
          </p:cNvPicPr>
          <p:nvPr/>
        </p:nvPicPr>
        <p:blipFill>
          <a:blip r:embed="rId3"/>
          <a:stretch>
            <a:fillRect/>
          </a:stretch>
        </p:blipFill>
        <p:spPr>
          <a:xfrm>
            <a:off x="793790" y="3216116"/>
            <a:ext cx="5040035" cy="2729627"/>
          </a:xfrm>
          <a:prstGeom prst="rect">
            <a:avLst/>
          </a:prstGeom>
        </p:spPr>
      </p:pic>
      <p:sp>
        <p:nvSpPr>
          <p:cNvPr id="13" name="Text 8"/>
          <p:cNvSpPr/>
          <p:nvPr/>
        </p:nvSpPr>
        <p:spPr>
          <a:xfrm>
            <a:off x="793790" y="6060043"/>
            <a:ext cx="6300073" cy="522446"/>
          </a:xfrm>
          <a:prstGeom prst="rect">
            <a:avLst/>
          </a:prstGeom>
          <a:noFill/>
          <a:ln/>
        </p:spPr>
        <p:txBody>
          <a:bodyPr wrap="squar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MPG-NSGA-II 迭代初期收敛速度显著更快，最终 HV 值在各节点规模下均优于 NSGA-II。</a:t>
            </a:r>
            <a:endParaRPr lang="en-US" sz="1400" dirty="0"/>
          </a:p>
        </p:txBody>
      </p:sp>
      <p:sp>
        <p:nvSpPr>
          <p:cNvPr id="14" name="Text 9"/>
          <p:cNvSpPr/>
          <p:nvPr/>
        </p:nvSpPr>
        <p:spPr>
          <a:xfrm>
            <a:off x="7544157" y="2528649"/>
            <a:ext cx="2947035" cy="283488"/>
          </a:xfrm>
          <a:prstGeom prst="rect">
            <a:avLst/>
          </a:prstGeom>
          <a:noFill/>
          <a:ln/>
        </p:spPr>
        <p:txBody>
          <a:bodyPr wrap="none" lIns="0" tIns="0" rIns="0" bIns="0" rtlCol="0" anchor="t"/>
          <a:lstStyle/>
          <a:p>
            <a:pPr algn="l" indent="0" marL="0">
              <a:lnSpc>
                <a:spcPts val="2200"/>
              </a:lnSpc>
              <a:buNone/>
            </a:pPr>
            <a:r>
              <a:rPr lang="en-US" sz="1750" dirty="0">
                <a:solidFill>
                  <a:srgbClr val="3257B8"/>
                </a:solidFill>
                <a:latin typeface="Microsoft YaHei" pitchFamily="34" charset="0"/>
                <a:ea typeface="Microsoft YaHei" pitchFamily="34" charset="-122"/>
                <a:cs typeface="Microsoft YaHei" pitchFamily="34" charset="-120"/>
              </a:rPr>
              <a:t>不同节点规模下性能指标对比</a:t>
            </a:r>
            <a:endParaRPr lang="en-US" sz="1750" dirty="0"/>
          </a:p>
        </p:txBody>
      </p:sp>
      <p:sp>
        <p:nvSpPr>
          <p:cNvPr id="15" name="Shape 10"/>
          <p:cNvSpPr/>
          <p:nvPr/>
        </p:nvSpPr>
        <p:spPr>
          <a:xfrm>
            <a:off x="7544157" y="2975372"/>
            <a:ext cx="6300073" cy="3214688"/>
          </a:xfrm>
          <a:prstGeom prst="roundRect">
            <a:avLst>
              <a:gd name="adj" fmla="val 284"/>
            </a:avLst>
          </a:prstGeom>
          <a:noFill/>
          <a:ln w="7620">
            <a:solidFill>
              <a:srgbClr val="000000">
                <a:alpha val="8000"/>
              </a:srgbClr>
            </a:solidFill>
            <a:prstDash val="solid"/>
          </a:ln>
        </p:spPr>
      </p:sp>
      <p:sp>
        <p:nvSpPr>
          <p:cNvPr id="16" name="Text 11"/>
          <p:cNvSpPr/>
          <p:nvPr/>
        </p:nvSpPr>
        <p:spPr>
          <a:xfrm>
            <a:off x="7733467" y="3077647"/>
            <a:ext cx="120443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节点数</a:t>
            </a:r>
            <a:endParaRPr lang="en-US" sz="1400" dirty="0"/>
          </a:p>
        </p:txBody>
      </p:sp>
      <p:sp>
        <p:nvSpPr>
          <p:cNvPr id="17" name="Text 12"/>
          <p:cNvSpPr/>
          <p:nvPr/>
        </p:nvSpPr>
        <p:spPr>
          <a:xfrm>
            <a:off x="9308425" y="3077647"/>
            <a:ext cx="120062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算法</a:t>
            </a:r>
            <a:endParaRPr lang="en-US" sz="1400" dirty="0"/>
          </a:p>
        </p:txBody>
      </p:sp>
      <p:sp>
        <p:nvSpPr>
          <p:cNvPr id="18" name="Text 13"/>
          <p:cNvSpPr/>
          <p:nvPr/>
        </p:nvSpPr>
        <p:spPr>
          <a:xfrm>
            <a:off x="10879574" y="3077647"/>
            <a:ext cx="120062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HV</a:t>
            </a:r>
            <a:endParaRPr lang="en-US" sz="1400" dirty="0"/>
          </a:p>
        </p:txBody>
      </p:sp>
      <p:sp>
        <p:nvSpPr>
          <p:cNvPr id="19" name="Text 14"/>
          <p:cNvSpPr/>
          <p:nvPr/>
        </p:nvSpPr>
        <p:spPr>
          <a:xfrm>
            <a:off x="12450723" y="3077647"/>
            <a:ext cx="120443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Spread(Δ)</a:t>
            </a:r>
            <a:endParaRPr lang="en-US" sz="1400" dirty="0"/>
          </a:p>
        </p:txBody>
      </p:sp>
      <p:sp>
        <p:nvSpPr>
          <p:cNvPr id="20" name="Text 15"/>
          <p:cNvSpPr/>
          <p:nvPr/>
        </p:nvSpPr>
        <p:spPr>
          <a:xfrm>
            <a:off x="7733467" y="3535799"/>
            <a:ext cx="120443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15</a:t>
            </a:r>
            <a:endParaRPr lang="en-US" sz="1400" dirty="0"/>
          </a:p>
        </p:txBody>
      </p:sp>
      <p:sp>
        <p:nvSpPr>
          <p:cNvPr id="21" name="Text 16"/>
          <p:cNvSpPr/>
          <p:nvPr/>
        </p:nvSpPr>
        <p:spPr>
          <a:xfrm>
            <a:off x="9308425" y="3535799"/>
            <a:ext cx="120062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MPG-NSGA-II</a:t>
            </a:r>
            <a:endParaRPr lang="en-US" sz="1400" dirty="0"/>
          </a:p>
        </p:txBody>
      </p:sp>
      <p:sp>
        <p:nvSpPr>
          <p:cNvPr id="22" name="Text 17"/>
          <p:cNvSpPr/>
          <p:nvPr/>
        </p:nvSpPr>
        <p:spPr>
          <a:xfrm>
            <a:off x="10879574" y="3535799"/>
            <a:ext cx="120062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0.931</a:t>
            </a:r>
            <a:endParaRPr lang="en-US" sz="1400" dirty="0"/>
          </a:p>
        </p:txBody>
      </p:sp>
      <p:sp>
        <p:nvSpPr>
          <p:cNvPr id="23" name="Text 18"/>
          <p:cNvSpPr/>
          <p:nvPr/>
        </p:nvSpPr>
        <p:spPr>
          <a:xfrm>
            <a:off x="12450723" y="3535799"/>
            <a:ext cx="120443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0.967</a:t>
            </a:r>
            <a:endParaRPr lang="en-US" sz="1400" dirty="0"/>
          </a:p>
        </p:txBody>
      </p:sp>
      <p:sp>
        <p:nvSpPr>
          <p:cNvPr id="24" name="Text 19"/>
          <p:cNvSpPr/>
          <p:nvPr/>
        </p:nvSpPr>
        <p:spPr>
          <a:xfrm>
            <a:off x="7733467" y="3993952"/>
            <a:ext cx="120443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15</a:t>
            </a:r>
            <a:endParaRPr lang="en-US" sz="1400" dirty="0"/>
          </a:p>
        </p:txBody>
      </p:sp>
      <p:sp>
        <p:nvSpPr>
          <p:cNvPr id="25" name="Text 20"/>
          <p:cNvSpPr/>
          <p:nvPr/>
        </p:nvSpPr>
        <p:spPr>
          <a:xfrm>
            <a:off x="9308425" y="3993952"/>
            <a:ext cx="120062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NSGA-II</a:t>
            </a:r>
            <a:endParaRPr lang="en-US" sz="1400" dirty="0"/>
          </a:p>
        </p:txBody>
      </p:sp>
      <p:sp>
        <p:nvSpPr>
          <p:cNvPr id="26" name="Text 21"/>
          <p:cNvSpPr/>
          <p:nvPr/>
        </p:nvSpPr>
        <p:spPr>
          <a:xfrm>
            <a:off x="10879574" y="3993952"/>
            <a:ext cx="120062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0.848</a:t>
            </a:r>
            <a:endParaRPr lang="en-US" sz="1400" dirty="0"/>
          </a:p>
        </p:txBody>
      </p:sp>
      <p:sp>
        <p:nvSpPr>
          <p:cNvPr id="27" name="Text 22"/>
          <p:cNvSpPr/>
          <p:nvPr/>
        </p:nvSpPr>
        <p:spPr>
          <a:xfrm>
            <a:off x="12450723" y="3993952"/>
            <a:ext cx="120443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0.983</a:t>
            </a:r>
            <a:endParaRPr lang="en-US" sz="1400" dirty="0"/>
          </a:p>
        </p:txBody>
      </p:sp>
      <p:sp>
        <p:nvSpPr>
          <p:cNvPr id="28" name="Text 23"/>
          <p:cNvSpPr/>
          <p:nvPr/>
        </p:nvSpPr>
        <p:spPr>
          <a:xfrm>
            <a:off x="7733467" y="4452104"/>
            <a:ext cx="120443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20</a:t>
            </a:r>
            <a:endParaRPr lang="en-US" sz="1400" dirty="0"/>
          </a:p>
        </p:txBody>
      </p:sp>
      <p:sp>
        <p:nvSpPr>
          <p:cNvPr id="29" name="Text 24"/>
          <p:cNvSpPr/>
          <p:nvPr/>
        </p:nvSpPr>
        <p:spPr>
          <a:xfrm>
            <a:off x="9308425" y="4452104"/>
            <a:ext cx="120062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MPG-NSGA-II</a:t>
            </a:r>
            <a:endParaRPr lang="en-US" sz="1400" dirty="0"/>
          </a:p>
        </p:txBody>
      </p:sp>
      <p:sp>
        <p:nvSpPr>
          <p:cNvPr id="30" name="Text 25"/>
          <p:cNvSpPr/>
          <p:nvPr/>
        </p:nvSpPr>
        <p:spPr>
          <a:xfrm>
            <a:off x="10879574" y="4452104"/>
            <a:ext cx="120062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0.911</a:t>
            </a:r>
            <a:endParaRPr lang="en-US" sz="1400" dirty="0"/>
          </a:p>
        </p:txBody>
      </p:sp>
      <p:sp>
        <p:nvSpPr>
          <p:cNvPr id="31" name="Text 26"/>
          <p:cNvSpPr/>
          <p:nvPr/>
        </p:nvSpPr>
        <p:spPr>
          <a:xfrm>
            <a:off x="12450723" y="4452104"/>
            <a:ext cx="120443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0.947</a:t>
            </a:r>
            <a:endParaRPr lang="en-US" sz="1400" dirty="0"/>
          </a:p>
        </p:txBody>
      </p:sp>
      <p:sp>
        <p:nvSpPr>
          <p:cNvPr id="32" name="Text 27"/>
          <p:cNvSpPr/>
          <p:nvPr/>
        </p:nvSpPr>
        <p:spPr>
          <a:xfrm>
            <a:off x="7733467" y="4910257"/>
            <a:ext cx="120443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20</a:t>
            </a:r>
            <a:endParaRPr lang="en-US" sz="1400" dirty="0"/>
          </a:p>
        </p:txBody>
      </p:sp>
      <p:sp>
        <p:nvSpPr>
          <p:cNvPr id="33" name="Text 28"/>
          <p:cNvSpPr/>
          <p:nvPr/>
        </p:nvSpPr>
        <p:spPr>
          <a:xfrm>
            <a:off x="9308425" y="4910257"/>
            <a:ext cx="120062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NSGA-II</a:t>
            </a:r>
            <a:endParaRPr lang="en-US" sz="1400" dirty="0"/>
          </a:p>
        </p:txBody>
      </p:sp>
      <p:sp>
        <p:nvSpPr>
          <p:cNvPr id="34" name="Text 29"/>
          <p:cNvSpPr/>
          <p:nvPr/>
        </p:nvSpPr>
        <p:spPr>
          <a:xfrm>
            <a:off x="10879574" y="4910257"/>
            <a:ext cx="120062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0.860</a:t>
            </a:r>
            <a:endParaRPr lang="en-US" sz="1400" dirty="0"/>
          </a:p>
        </p:txBody>
      </p:sp>
      <p:sp>
        <p:nvSpPr>
          <p:cNvPr id="35" name="Text 30"/>
          <p:cNvSpPr/>
          <p:nvPr/>
        </p:nvSpPr>
        <p:spPr>
          <a:xfrm>
            <a:off x="12450723" y="4910257"/>
            <a:ext cx="120443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0.980</a:t>
            </a:r>
            <a:endParaRPr lang="en-US" sz="1400" dirty="0"/>
          </a:p>
        </p:txBody>
      </p:sp>
      <p:sp>
        <p:nvSpPr>
          <p:cNvPr id="36" name="Text 31"/>
          <p:cNvSpPr/>
          <p:nvPr/>
        </p:nvSpPr>
        <p:spPr>
          <a:xfrm>
            <a:off x="7733467" y="5368409"/>
            <a:ext cx="120443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25</a:t>
            </a:r>
            <a:endParaRPr lang="en-US" sz="1400" dirty="0"/>
          </a:p>
        </p:txBody>
      </p:sp>
      <p:sp>
        <p:nvSpPr>
          <p:cNvPr id="37" name="Text 32"/>
          <p:cNvSpPr/>
          <p:nvPr/>
        </p:nvSpPr>
        <p:spPr>
          <a:xfrm>
            <a:off x="9308425" y="5368409"/>
            <a:ext cx="120062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MPG-NSGA-II</a:t>
            </a:r>
            <a:endParaRPr lang="en-US" sz="1400" dirty="0"/>
          </a:p>
        </p:txBody>
      </p:sp>
      <p:sp>
        <p:nvSpPr>
          <p:cNvPr id="38" name="Text 33"/>
          <p:cNvSpPr/>
          <p:nvPr/>
        </p:nvSpPr>
        <p:spPr>
          <a:xfrm>
            <a:off x="10879574" y="5368409"/>
            <a:ext cx="120062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0.934</a:t>
            </a:r>
            <a:endParaRPr lang="en-US" sz="1400" dirty="0"/>
          </a:p>
        </p:txBody>
      </p:sp>
      <p:sp>
        <p:nvSpPr>
          <p:cNvPr id="39" name="Text 34"/>
          <p:cNvSpPr/>
          <p:nvPr/>
        </p:nvSpPr>
        <p:spPr>
          <a:xfrm>
            <a:off x="12450723" y="5368409"/>
            <a:ext cx="1204436" cy="261223"/>
          </a:xfrm>
          <a:prstGeom prst="rect">
            <a:avLst/>
          </a:prstGeom>
          <a:noFill/>
          <a:ln/>
        </p:spPr>
        <p:txBody>
          <a:bodyPr wrap="none" lIns="0" tIns="0" rIns="0" bIns="0" rtlCol="0" anchor="t"/>
          <a:lstStyle/>
          <a:p>
            <a:pPr algn="l" indent="0" marL="0">
              <a:lnSpc>
                <a:spcPts val="2050"/>
              </a:lnSpc>
              <a:buNone/>
            </a:pPr>
            <a:r>
              <a:rPr lang="en-US" sz="1400" b="1" dirty="0">
                <a:solidFill>
                  <a:srgbClr val="15213F"/>
                </a:solidFill>
                <a:latin typeface="Microsoft YaHei" pitchFamily="34" charset="0"/>
                <a:ea typeface="Microsoft YaHei" pitchFamily="34" charset="-122"/>
                <a:cs typeface="Microsoft YaHei" pitchFamily="34" charset="-120"/>
              </a:rPr>
              <a:t>0.945</a:t>
            </a:r>
            <a:endParaRPr lang="en-US" sz="1400" dirty="0"/>
          </a:p>
        </p:txBody>
      </p:sp>
      <p:sp>
        <p:nvSpPr>
          <p:cNvPr id="40" name="Text 35"/>
          <p:cNvSpPr/>
          <p:nvPr/>
        </p:nvSpPr>
        <p:spPr>
          <a:xfrm>
            <a:off x="7733467" y="5826562"/>
            <a:ext cx="120443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25</a:t>
            </a:r>
            <a:endParaRPr lang="en-US" sz="1400" dirty="0"/>
          </a:p>
        </p:txBody>
      </p:sp>
      <p:sp>
        <p:nvSpPr>
          <p:cNvPr id="41" name="Text 36"/>
          <p:cNvSpPr/>
          <p:nvPr/>
        </p:nvSpPr>
        <p:spPr>
          <a:xfrm>
            <a:off x="9308425" y="5826562"/>
            <a:ext cx="120062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NSGA-II</a:t>
            </a:r>
            <a:endParaRPr lang="en-US" sz="1400" dirty="0"/>
          </a:p>
        </p:txBody>
      </p:sp>
      <p:sp>
        <p:nvSpPr>
          <p:cNvPr id="42" name="Text 37"/>
          <p:cNvSpPr/>
          <p:nvPr/>
        </p:nvSpPr>
        <p:spPr>
          <a:xfrm>
            <a:off x="10879574" y="5826562"/>
            <a:ext cx="120062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0.871</a:t>
            </a:r>
            <a:endParaRPr lang="en-US" sz="1400" dirty="0"/>
          </a:p>
        </p:txBody>
      </p:sp>
      <p:sp>
        <p:nvSpPr>
          <p:cNvPr id="43" name="Text 38"/>
          <p:cNvSpPr/>
          <p:nvPr/>
        </p:nvSpPr>
        <p:spPr>
          <a:xfrm>
            <a:off x="12450723" y="5826562"/>
            <a:ext cx="1204436" cy="261223"/>
          </a:xfrm>
          <a:prstGeom prst="rect">
            <a:avLst/>
          </a:prstGeom>
          <a:noFill/>
          <a:ln/>
        </p:spPr>
        <p:txBody>
          <a:bodyPr wrap="non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0.991</a:t>
            </a:r>
            <a:endParaRPr lang="en-US" sz="1400" dirty="0"/>
          </a:p>
        </p:txBody>
      </p:sp>
      <p:sp>
        <p:nvSpPr>
          <p:cNvPr id="44" name="Text 39"/>
          <p:cNvSpPr/>
          <p:nvPr/>
        </p:nvSpPr>
        <p:spPr>
          <a:xfrm>
            <a:off x="7544157" y="6353294"/>
            <a:ext cx="6300073" cy="522446"/>
          </a:xfrm>
          <a:prstGeom prst="rect">
            <a:avLst/>
          </a:prstGeom>
          <a:noFill/>
          <a:ln/>
        </p:spPr>
        <p:txBody>
          <a:bodyPr wrap="square" lIns="0" tIns="0" rIns="0" bIns="0" rtlCol="0" anchor="t"/>
          <a:lstStyle/>
          <a:p>
            <a:pPr algn="l" indent="0" marL="0">
              <a:lnSpc>
                <a:spcPts val="2050"/>
              </a:lnSpc>
              <a:buNone/>
            </a:pPr>
            <a:r>
              <a:rPr lang="en-US" sz="1400" dirty="0">
                <a:solidFill>
                  <a:srgbClr val="15213F"/>
                </a:solidFill>
                <a:latin typeface="Microsoft YaHei" pitchFamily="34" charset="0"/>
                <a:ea typeface="Microsoft YaHei" pitchFamily="34" charset="-122"/>
                <a:cs typeface="Microsoft YaHei" pitchFamily="34" charset="-120"/>
              </a:rPr>
              <a:t>MPG-NSGA-II 在超体积与分布均匀性两项指标上均取得显著优势，且随节点规模增大优势进一步扩大。</a:t>
            </a:r>
            <a:endParaRPr lang="en-US" sz="1400" dirty="0"/>
          </a:p>
        </p:txBody>
      </p:sp>
      <p:pic>
        <p:nvPicPr>
          <p:cNvPr id="45" name="Image 3" descr="preencoded.png">    </p:cNvPr>
          <p:cNvPicPr>
            <a:picLocks noChangeAspect="1"/>
          </p:cNvPicPr>
          <p:nvPr/>
        </p:nvPicPr>
        <p:blipFill>
          <a:blip r:embed="rId4"/>
          <a:stretch>
            <a:fillRect/>
          </a:stretch>
        </p:blipFill>
        <p:spPr>
          <a:xfrm>
            <a:off x="136088" y="208955"/>
            <a:ext cx="1351836" cy="307896"/>
          </a:xfrm>
          <a:prstGeom prst="rect">
            <a:avLst/>
          </a:prstGeom>
        </p:spPr>
      </p:pic>
      <p:sp>
        <p:nvSpPr>
          <p:cNvPr id="46" name="Text 40"/>
          <p:cNvSpPr/>
          <p:nvPr/>
        </p:nvSpPr>
        <p:spPr>
          <a:xfrm>
            <a:off x="7144703" y="7752397"/>
            <a:ext cx="340995" cy="228600"/>
          </a:xfrm>
          <a:prstGeom prst="rect">
            <a:avLst/>
          </a:prstGeom>
          <a:noFill/>
          <a:ln/>
        </p:spPr>
        <p:txBody>
          <a:bodyPr wrap="none" lIns="0" tIns="0" rIns="0" bIns="0" rtlCol="0" anchor="t"/>
          <a:lstStyle/>
          <a:p>
            <a:pPr algn="ctr" indent="0" marL="0">
              <a:lnSpc>
                <a:spcPts val="1800"/>
              </a:lnSpc>
              <a:buNone/>
            </a:pPr>
            <a:r>
              <a:rPr lang="en-US" sz="1250" dirty="0">
                <a:solidFill>
                  <a:srgbClr val="15213F"/>
                </a:solidFill>
                <a:latin typeface="Microsoft YaHei" pitchFamily="34" charset="0"/>
                <a:ea typeface="Microsoft YaHei" pitchFamily="34" charset="-122"/>
                <a:cs typeface="Microsoft YaHei" pitchFamily="34" charset="-120"/>
              </a:rPr>
              <a:t>17</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93790" y="976789"/>
            <a:ext cx="3605570" cy="426244"/>
          </a:xfrm>
          <a:prstGeom prst="roundRect">
            <a:avLst>
              <a:gd name="adj" fmla="val 2145"/>
            </a:avLst>
          </a:prstGeom>
          <a:solidFill>
            <a:srgbClr val="D7DFF4"/>
          </a:solidFill>
          <a:ln/>
        </p:spPr>
      </p:sp>
      <p:sp>
        <p:nvSpPr>
          <p:cNvPr id="3" name="Text 1"/>
          <p:cNvSpPr/>
          <p:nvPr/>
        </p:nvSpPr>
        <p:spPr>
          <a:xfrm>
            <a:off x="929878" y="1044773"/>
            <a:ext cx="3333393"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Microsoft YaHei" pitchFamily="34" charset="0"/>
                <a:ea typeface="Microsoft YaHei" pitchFamily="34" charset="-122"/>
                <a:cs typeface="Microsoft YaHei" pitchFamily="34" charset="-120"/>
              </a:rPr>
              <a:t>04 MPG-NSGA-II 通信保持区域覆盖算法</a:t>
            </a:r>
            <a:endParaRPr lang="en-US" sz="1400" dirty="0"/>
          </a:p>
        </p:txBody>
      </p:sp>
      <p:sp>
        <p:nvSpPr>
          <p:cNvPr id="4" name="Text 2"/>
          <p:cNvSpPr/>
          <p:nvPr/>
        </p:nvSpPr>
        <p:spPr>
          <a:xfrm>
            <a:off x="793790" y="149375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Microsoft YaHei" pitchFamily="34" charset="0"/>
                <a:ea typeface="Microsoft YaHei" pitchFamily="34" charset="-122"/>
                <a:cs typeface="Microsoft YaHei" pitchFamily="34" charset="-120"/>
              </a:rPr>
              <a:t>多场景鲁棒性验证</a:t>
            </a:r>
            <a:endParaRPr lang="en-US" sz="4450" dirty="0"/>
          </a:p>
        </p:txBody>
      </p:sp>
      <p:sp>
        <p:nvSpPr>
          <p:cNvPr id="5" name="Shape 3"/>
          <p:cNvSpPr/>
          <p:nvPr/>
        </p:nvSpPr>
        <p:spPr>
          <a:xfrm>
            <a:off x="793790" y="2542699"/>
            <a:ext cx="4196358" cy="3491032"/>
          </a:xfrm>
          <a:prstGeom prst="roundRect">
            <a:avLst>
              <a:gd name="adj" fmla="val 262"/>
            </a:avLst>
          </a:prstGeom>
          <a:solidFill>
            <a:srgbClr val="E9ECF2"/>
          </a:solidFill>
          <a:ln w="7620">
            <a:solidFill>
              <a:srgbClr val="CFD2D8"/>
            </a:solidFill>
            <a:prstDash val="solid"/>
          </a:ln>
        </p:spPr>
      </p:sp>
      <p:sp>
        <p:nvSpPr>
          <p:cNvPr id="6" name="Text 4"/>
          <p:cNvSpPr/>
          <p:nvPr/>
        </p:nvSpPr>
        <p:spPr>
          <a:xfrm>
            <a:off x="1028224" y="2777133"/>
            <a:ext cx="3369826"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高建筑密度场景（M=40）</a:t>
            </a:r>
            <a:endParaRPr lang="en-US" sz="2200" dirty="0"/>
          </a:p>
        </p:txBody>
      </p:sp>
      <p:sp>
        <p:nvSpPr>
          <p:cNvPr id="7" name="Text 5"/>
          <p:cNvSpPr/>
          <p:nvPr/>
        </p:nvSpPr>
        <p:spPr>
          <a:xfrm>
            <a:off x="1028224" y="3267551"/>
            <a:ext cx="3727490" cy="217741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视距空间被进一步压缩，通信链路建立难度提高。MPG-NSGA-II 通过 DCGO 识别关键连通节点并优化部署，在高连通度约束（k≥3）下覆盖率优势更加明显，无人机分布更均匀，形成稳定多跳通信链路结构。</a:t>
            </a:r>
            <a:endParaRPr lang="en-US" sz="1750" dirty="0"/>
          </a:p>
        </p:txBody>
      </p:sp>
      <p:sp>
        <p:nvSpPr>
          <p:cNvPr id="8" name="Shape 6"/>
          <p:cNvSpPr/>
          <p:nvPr/>
        </p:nvSpPr>
        <p:spPr>
          <a:xfrm>
            <a:off x="5216962" y="2542699"/>
            <a:ext cx="4196358" cy="3491032"/>
          </a:xfrm>
          <a:prstGeom prst="roundRect">
            <a:avLst>
              <a:gd name="adj" fmla="val 262"/>
            </a:avLst>
          </a:prstGeom>
          <a:solidFill>
            <a:srgbClr val="E9ECF2"/>
          </a:solidFill>
          <a:ln w="7620">
            <a:solidFill>
              <a:srgbClr val="CFD2D8"/>
            </a:solidFill>
            <a:prstDash val="solid"/>
          </a:ln>
        </p:spPr>
      </p:sp>
      <p:sp>
        <p:nvSpPr>
          <p:cNvPr id="9" name="Text 7"/>
          <p:cNvSpPr/>
          <p:nvPr/>
        </p:nvSpPr>
        <p:spPr>
          <a:xfrm>
            <a:off x="5451396" y="2777133"/>
            <a:ext cx="3283268"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强干扰场景（3个干扰源）</a:t>
            </a:r>
            <a:endParaRPr lang="en-US" sz="2200" dirty="0"/>
          </a:p>
        </p:txBody>
      </p:sp>
      <p:sp>
        <p:nvSpPr>
          <p:cNvPr id="10" name="Text 8"/>
          <p:cNvSpPr/>
          <p:nvPr/>
        </p:nvSpPr>
        <p:spPr>
          <a:xfrm>
            <a:off x="5451396" y="3267551"/>
            <a:ext cx="3727490" cy="1814513"/>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多干扰源叠加导致更多区域通信链路无法建立。MPG-NSGA-II 通过 DCGO 引导节点主动远离强干扰区域并重建链路，在相同顶点连通度下保持更高覆盖率，下降幅度相对较缓。</a:t>
            </a:r>
            <a:endParaRPr lang="en-US" sz="1750" dirty="0"/>
          </a:p>
        </p:txBody>
      </p:sp>
      <p:sp>
        <p:nvSpPr>
          <p:cNvPr id="11" name="Shape 9"/>
          <p:cNvSpPr/>
          <p:nvPr/>
        </p:nvSpPr>
        <p:spPr>
          <a:xfrm>
            <a:off x="9640133" y="2542699"/>
            <a:ext cx="4196358" cy="3491032"/>
          </a:xfrm>
          <a:prstGeom prst="roundRect">
            <a:avLst>
              <a:gd name="adj" fmla="val 262"/>
            </a:avLst>
          </a:prstGeom>
          <a:solidFill>
            <a:srgbClr val="E9ECF2"/>
          </a:solidFill>
          <a:ln w="7620">
            <a:solidFill>
              <a:srgbClr val="CFD2D8"/>
            </a:solidFill>
            <a:prstDash val="solid"/>
          </a:ln>
        </p:spPr>
      </p:sp>
      <p:sp>
        <p:nvSpPr>
          <p:cNvPr id="12" name="Text 10"/>
          <p:cNvSpPr/>
          <p:nvPr/>
        </p:nvSpPr>
        <p:spPr>
          <a:xfrm>
            <a:off x="9874568" y="2777133"/>
            <a:ext cx="3727490" cy="708660"/>
          </a:xfrm>
          <a:prstGeom prst="rect">
            <a:avLst/>
          </a:prstGeom>
          <a:noFill/>
          <a:ln/>
        </p:spPr>
        <p:txBody>
          <a:bodyPr wrap="squar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大规模场景（1.5km×1.5km，50架）</a:t>
            </a:r>
            <a:endParaRPr lang="en-US" sz="2200" dirty="0"/>
          </a:p>
        </p:txBody>
      </p:sp>
      <p:sp>
        <p:nvSpPr>
          <p:cNvPr id="13" name="Text 11"/>
          <p:cNvSpPr/>
          <p:nvPr/>
        </p:nvSpPr>
        <p:spPr>
          <a:xfrm>
            <a:off x="9874568" y="3621881"/>
            <a:ext cx="3727490" cy="217741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优化变量维度达100维，节点间平均距离增加，通信链路更易断裂。MPG-NSGA-II 通过多种群协同进化机制，在全局探索与局部优化间实现更好平衡，各顶点连通度约束下均保持领先优势。</a:t>
            </a:r>
            <a:endParaRPr lang="en-US" sz="1750" dirty="0"/>
          </a:p>
        </p:txBody>
      </p:sp>
      <p:sp>
        <p:nvSpPr>
          <p:cNvPr id="14" name="Shape 12"/>
          <p:cNvSpPr/>
          <p:nvPr/>
        </p:nvSpPr>
        <p:spPr>
          <a:xfrm>
            <a:off x="793790" y="6288881"/>
            <a:ext cx="13042821" cy="963811"/>
          </a:xfrm>
          <a:prstGeom prst="roundRect">
            <a:avLst>
              <a:gd name="adj" fmla="val 949"/>
            </a:avLst>
          </a:prstGeom>
          <a:solidFill>
            <a:srgbClr val="B6FCB8"/>
          </a:solidFill>
          <a:ln/>
        </p:spPr>
      </p:sp>
      <p:pic>
        <p:nvPicPr>
          <p:cNvPr id="15" name="Image 0" descr="preencoded.png">    </p:cNvPr>
          <p:cNvPicPr>
            <a:picLocks noChangeAspect="1"/>
          </p:cNvPicPr>
          <p:nvPr/>
        </p:nvPicPr>
        <p:blipFill>
          <a:blip r:embed="rId1"/>
          <a:stretch>
            <a:fillRect/>
          </a:stretch>
        </p:blipFill>
        <p:spPr>
          <a:xfrm>
            <a:off x="1020604" y="6640592"/>
            <a:ext cx="283488" cy="226814"/>
          </a:xfrm>
          <a:prstGeom prst="rect">
            <a:avLst/>
          </a:prstGeom>
        </p:spPr>
      </p:pic>
      <p:sp>
        <p:nvSpPr>
          <p:cNvPr id="16" name="Text 13"/>
          <p:cNvSpPr/>
          <p:nvPr/>
        </p:nvSpPr>
        <p:spPr>
          <a:xfrm>
            <a:off x="1530906" y="6572369"/>
            <a:ext cx="12078891"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Microsoft YaHei" pitchFamily="34" charset="0"/>
                <a:ea typeface="Microsoft YaHei" pitchFamily="34" charset="-122"/>
                <a:cs typeface="Microsoft YaHei" pitchFamily="34" charset="-120"/>
              </a:rPr>
              <a:t>在三类复杂场景下，MPG-NSGA-II 均展现出良好的稳定性与规模适应能力，体现出较强的工程应用潜力。</a:t>
            </a:r>
            <a:endParaRPr lang="en-US" sz="1750" dirty="0"/>
          </a:p>
        </p:txBody>
      </p:sp>
      <p:pic>
        <p:nvPicPr>
          <p:cNvPr id="17" name="Image 1" descr="preencoded.png">    </p:cNvPr>
          <p:cNvPicPr>
            <a:picLocks noChangeAspect="1"/>
          </p:cNvPicPr>
          <p:nvPr/>
        </p:nvPicPr>
        <p:blipFill>
          <a:blip r:embed="rId2"/>
          <a:stretch>
            <a:fillRect/>
          </a:stretch>
        </p:blipFill>
        <p:spPr>
          <a:xfrm>
            <a:off x="136088" y="208955"/>
            <a:ext cx="1351836" cy="307896"/>
          </a:xfrm>
          <a:prstGeom prst="rect">
            <a:avLst/>
          </a:prstGeom>
        </p:spPr>
      </p:pic>
      <p:sp>
        <p:nvSpPr>
          <p:cNvPr id="18" name="Text 14"/>
          <p:cNvSpPr/>
          <p:nvPr/>
        </p:nvSpPr>
        <p:spPr>
          <a:xfrm>
            <a:off x="7160181" y="7739658"/>
            <a:ext cx="310039" cy="254079"/>
          </a:xfrm>
          <a:prstGeom prst="rect">
            <a:avLst/>
          </a:prstGeom>
          <a:noFill/>
          <a:ln/>
        </p:spPr>
        <p:txBody>
          <a:bodyPr wrap="none" lIns="0" tIns="0" rIns="0" bIns="0" rtlCol="0" anchor="t"/>
          <a:lstStyle/>
          <a:p>
            <a:pPr algn="ctr" indent="0" marL="0">
              <a:lnSpc>
                <a:spcPts val="2000"/>
              </a:lnSpc>
              <a:buNone/>
            </a:pPr>
            <a:r>
              <a:rPr lang="en-US" sz="1250" dirty="0">
                <a:solidFill>
                  <a:srgbClr val="15213F"/>
                </a:solidFill>
                <a:latin typeface="Microsoft YaHei" pitchFamily="34" charset="0"/>
                <a:ea typeface="Microsoft YaHei" pitchFamily="34" charset="-122"/>
                <a:cs typeface="Microsoft YaHei" pitchFamily="34" charset="-120"/>
              </a:rPr>
              <a:t>18</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793790" y="857250"/>
            <a:ext cx="3605570" cy="426244"/>
          </a:xfrm>
          <a:prstGeom prst="roundRect">
            <a:avLst>
              <a:gd name="adj" fmla="val 2145"/>
            </a:avLst>
          </a:prstGeom>
          <a:solidFill>
            <a:srgbClr val="D7DFF4"/>
          </a:solidFill>
          <a:ln/>
        </p:spPr>
      </p:sp>
      <p:sp>
        <p:nvSpPr>
          <p:cNvPr id="3" name="Text 1"/>
          <p:cNvSpPr/>
          <p:nvPr/>
        </p:nvSpPr>
        <p:spPr>
          <a:xfrm>
            <a:off x="929878" y="925235"/>
            <a:ext cx="3333393"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Microsoft YaHei" pitchFamily="34" charset="0"/>
                <a:ea typeface="Microsoft YaHei" pitchFamily="34" charset="-122"/>
                <a:cs typeface="Microsoft YaHei" pitchFamily="34" charset="-120"/>
              </a:rPr>
              <a:t>04 MPG-NSGA-II 通信保持区域覆盖算法</a:t>
            </a:r>
            <a:endParaRPr lang="en-US" sz="1400" dirty="0"/>
          </a:p>
        </p:txBody>
      </p:sp>
      <p:sp>
        <p:nvSpPr>
          <p:cNvPr id="4" name="Text 2"/>
          <p:cNvSpPr/>
          <p:nvPr/>
        </p:nvSpPr>
        <p:spPr>
          <a:xfrm>
            <a:off x="793790" y="1374219"/>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Microsoft YaHei" pitchFamily="34" charset="0"/>
                <a:ea typeface="Microsoft YaHei" pitchFamily="34" charset="-122"/>
                <a:cs typeface="Microsoft YaHei" pitchFamily="34" charset="-120"/>
              </a:rPr>
              <a:t>典型部署方案可视化</a:t>
            </a:r>
            <a:endParaRPr lang="en-US" sz="4450" dirty="0"/>
          </a:p>
        </p:txBody>
      </p:sp>
      <p:sp>
        <p:nvSpPr>
          <p:cNvPr id="5" name="Text 3"/>
          <p:cNvSpPr/>
          <p:nvPr/>
        </p:nvSpPr>
        <p:spPr>
          <a:xfrm>
            <a:off x="793790" y="2423160"/>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25节点规模下，不同顶点连通度约束（k=0, 5, 10）对应的最优部署方案对比</a:t>
            </a:r>
            <a:endParaRPr lang="en-US" sz="1750" dirty="0"/>
          </a:p>
        </p:txBody>
      </p:sp>
      <p:sp>
        <p:nvSpPr>
          <p:cNvPr id="6" name="Shape 4"/>
          <p:cNvSpPr/>
          <p:nvPr/>
        </p:nvSpPr>
        <p:spPr>
          <a:xfrm>
            <a:off x="793790" y="3041213"/>
            <a:ext cx="2994184" cy="1850469"/>
          </a:xfrm>
          <a:prstGeom prst="roundRect">
            <a:avLst>
              <a:gd name="adj" fmla="val 494"/>
            </a:avLst>
          </a:prstGeom>
          <a:solidFill>
            <a:srgbClr val="DFDFE0"/>
          </a:solidFill>
          <a:ln/>
        </p:spPr>
      </p:sp>
      <p:pic>
        <p:nvPicPr>
          <p:cNvPr id="7" name="Image 0" descr="preencoded.png">    </p:cNvPr>
          <p:cNvPicPr>
            <a:picLocks noChangeAspect="1"/>
          </p:cNvPicPr>
          <p:nvPr/>
        </p:nvPicPr>
        <p:blipFill>
          <a:blip r:embed="rId1"/>
          <a:stretch>
            <a:fillRect/>
          </a:stretch>
        </p:blipFill>
        <p:spPr>
          <a:xfrm>
            <a:off x="2176582" y="3757255"/>
            <a:ext cx="228600" cy="228600"/>
          </a:xfrm>
          <a:prstGeom prst="rect">
            <a:avLst/>
          </a:prstGeom>
        </p:spPr>
      </p:pic>
      <p:sp>
        <p:nvSpPr>
          <p:cNvPr id="8" name="Text 5"/>
          <p:cNvSpPr/>
          <p:nvPr/>
        </p:nvSpPr>
        <p:spPr>
          <a:xfrm>
            <a:off x="1757482" y="4079200"/>
            <a:ext cx="1066800" cy="170617"/>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Microsoft YaHei" pitchFamily="34" charset="0"/>
                <a:ea typeface="Microsoft YaHei" pitchFamily="34" charset="-122"/>
                <a:cs typeface="Microsoft YaHei" pitchFamily="34" charset="-120"/>
              </a:rPr>
              <a:t>生成此图像时出现错误</a:t>
            </a:r>
            <a:endParaRPr lang="en-US" sz="800" dirty="0"/>
          </a:p>
        </p:txBody>
      </p:sp>
      <p:sp>
        <p:nvSpPr>
          <p:cNvPr id="9" name="Text 6"/>
          <p:cNvSpPr/>
          <p:nvPr/>
        </p:nvSpPr>
        <p:spPr>
          <a:xfrm>
            <a:off x="793790" y="517517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k = 0（无连通约束）</a:t>
            </a:r>
            <a:endParaRPr lang="en-US" sz="2200" dirty="0"/>
          </a:p>
        </p:txBody>
      </p:sp>
      <p:sp>
        <p:nvSpPr>
          <p:cNvPr id="10" name="Text 7"/>
          <p:cNvSpPr/>
          <p:nvPr/>
        </p:nvSpPr>
        <p:spPr>
          <a:xfrm>
            <a:off x="793790" y="5665589"/>
            <a:ext cx="4158615"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节点资源主要用于最大化覆盖区域，分布均匀分散，覆盖率接近 </a:t>
            </a:r>
            <a:pPr algn="l" indent="0" marL="0">
              <a:lnSpc>
                <a:spcPts val="2850"/>
              </a:lnSpc>
              <a:buNone/>
            </a:pPr>
            <a:r>
              <a:rPr lang="en-US" sz="1750" b="1" dirty="0">
                <a:solidFill>
                  <a:srgbClr val="15213F"/>
                </a:solidFill>
                <a:latin typeface="Microsoft YaHei" pitchFamily="34" charset="0"/>
                <a:ea typeface="Microsoft YaHei" pitchFamily="34" charset="-122"/>
                <a:cs typeface="Microsoft YaHei" pitchFamily="34" charset="-120"/>
              </a:rPr>
              <a:t>100%</a:t>
            </a:r>
            <a:endParaRPr lang="en-US" sz="1750" dirty="0"/>
          </a:p>
        </p:txBody>
      </p:sp>
      <p:sp>
        <p:nvSpPr>
          <p:cNvPr id="11" name="Shape 8"/>
          <p:cNvSpPr/>
          <p:nvPr/>
        </p:nvSpPr>
        <p:spPr>
          <a:xfrm>
            <a:off x="5235893" y="3041213"/>
            <a:ext cx="2994184" cy="1850469"/>
          </a:xfrm>
          <a:prstGeom prst="roundRect">
            <a:avLst>
              <a:gd name="adj" fmla="val 494"/>
            </a:avLst>
          </a:prstGeom>
          <a:solidFill>
            <a:srgbClr val="DFDFE0"/>
          </a:solidFill>
          <a:ln/>
        </p:spPr>
      </p:sp>
      <p:pic>
        <p:nvPicPr>
          <p:cNvPr id="12" name="Image 1" descr="preencoded.png">    </p:cNvPr>
          <p:cNvPicPr>
            <a:picLocks noChangeAspect="1"/>
          </p:cNvPicPr>
          <p:nvPr/>
        </p:nvPicPr>
        <p:blipFill>
          <a:blip r:embed="rId2"/>
          <a:stretch>
            <a:fillRect/>
          </a:stretch>
        </p:blipFill>
        <p:spPr>
          <a:xfrm>
            <a:off x="6618684" y="3757255"/>
            <a:ext cx="228600" cy="228600"/>
          </a:xfrm>
          <a:prstGeom prst="rect">
            <a:avLst/>
          </a:prstGeom>
        </p:spPr>
      </p:pic>
      <p:sp>
        <p:nvSpPr>
          <p:cNvPr id="13" name="Text 9"/>
          <p:cNvSpPr/>
          <p:nvPr/>
        </p:nvSpPr>
        <p:spPr>
          <a:xfrm>
            <a:off x="6199584" y="4079200"/>
            <a:ext cx="1066800" cy="170617"/>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Microsoft YaHei" pitchFamily="34" charset="0"/>
                <a:ea typeface="Microsoft YaHei" pitchFamily="34" charset="-122"/>
                <a:cs typeface="Microsoft YaHei" pitchFamily="34" charset="-120"/>
              </a:rPr>
              <a:t>生成此图像时出现错误</a:t>
            </a:r>
            <a:endParaRPr lang="en-US" sz="800" dirty="0"/>
          </a:p>
        </p:txBody>
      </p:sp>
      <p:sp>
        <p:nvSpPr>
          <p:cNvPr id="14" name="Text 10"/>
          <p:cNvSpPr/>
          <p:nvPr/>
        </p:nvSpPr>
        <p:spPr>
          <a:xfrm>
            <a:off x="5235893" y="5175171"/>
            <a:ext cx="2965371"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k = 5（中等连通约束）</a:t>
            </a:r>
            <a:endParaRPr lang="en-US" sz="2200" dirty="0"/>
          </a:p>
        </p:txBody>
      </p:sp>
      <p:sp>
        <p:nvSpPr>
          <p:cNvPr id="15" name="Text 11"/>
          <p:cNvSpPr/>
          <p:nvPr/>
        </p:nvSpPr>
        <p:spPr>
          <a:xfrm>
            <a:off x="5235893" y="5665589"/>
            <a:ext cx="4158615"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节点在维持5-连通网络结构的同时尽量向外围扩展，覆盖率仍维持在 </a:t>
            </a:r>
            <a:pPr algn="l" indent="0" marL="0">
              <a:lnSpc>
                <a:spcPts val="2850"/>
              </a:lnSpc>
              <a:buNone/>
            </a:pPr>
            <a:r>
              <a:rPr lang="en-US" sz="1750" b="1" dirty="0">
                <a:solidFill>
                  <a:srgbClr val="15213F"/>
                </a:solidFill>
                <a:latin typeface="Microsoft YaHei" pitchFamily="34" charset="0"/>
                <a:ea typeface="Microsoft YaHei" pitchFamily="34" charset="-122"/>
                <a:cs typeface="Microsoft YaHei" pitchFamily="34" charset="-120"/>
              </a:rPr>
              <a:t>99%</a:t>
            </a:r>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 以上</a:t>
            </a:r>
            <a:endParaRPr lang="en-US" sz="1750" dirty="0"/>
          </a:p>
        </p:txBody>
      </p:sp>
      <p:sp>
        <p:nvSpPr>
          <p:cNvPr id="16" name="Shape 12"/>
          <p:cNvSpPr/>
          <p:nvPr/>
        </p:nvSpPr>
        <p:spPr>
          <a:xfrm>
            <a:off x="9677995" y="3041213"/>
            <a:ext cx="2994184" cy="1850469"/>
          </a:xfrm>
          <a:prstGeom prst="roundRect">
            <a:avLst>
              <a:gd name="adj" fmla="val 494"/>
            </a:avLst>
          </a:prstGeom>
          <a:solidFill>
            <a:srgbClr val="DFDFE0"/>
          </a:solidFill>
          <a:ln/>
        </p:spPr>
      </p:sp>
      <p:pic>
        <p:nvPicPr>
          <p:cNvPr id="17" name="Image 2" descr="preencoded.png">    </p:cNvPr>
          <p:cNvPicPr>
            <a:picLocks noChangeAspect="1"/>
          </p:cNvPicPr>
          <p:nvPr/>
        </p:nvPicPr>
        <p:blipFill>
          <a:blip r:embed="rId3"/>
          <a:stretch>
            <a:fillRect/>
          </a:stretch>
        </p:blipFill>
        <p:spPr>
          <a:xfrm>
            <a:off x="11060787" y="3757255"/>
            <a:ext cx="228600" cy="228600"/>
          </a:xfrm>
          <a:prstGeom prst="rect">
            <a:avLst/>
          </a:prstGeom>
        </p:spPr>
      </p:pic>
      <p:sp>
        <p:nvSpPr>
          <p:cNvPr id="18" name="Text 13"/>
          <p:cNvSpPr/>
          <p:nvPr/>
        </p:nvSpPr>
        <p:spPr>
          <a:xfrm>
            <a:off x="10641687" y="4079200"/>
            <a:ext cx="1066800" cy="170617"/>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Microsoft YaHei" pitchFamily="34" charset="0"/>
                <a:ea typeface="Microsoft YaHei" pitchFamily="34" charset="-122"/>
                <a:cs typeface="Microsoft YaHei" pitchFamily="34" charset="-120"/>
              </a:rPr>
              <a:t>生成此图像时出现错误</a:t>
            </a:r>
            <a:endParaRPr lang="en-US" sz="800" dirty="0"/>
          </a:p>
        </p:txBody>
      </p:sp>
      <p:sp>
        <p:nvSpPr>
          <p:cNvPr id="19" name="Text 14"/>
          <p:cNvSpPr/>
          <p:nvPr/>
        </p:nvSpPr>
        <p:spPr>
          <a:xfrm>
            <a:off x="9677995" y="5175171"/>
            <a:ext cx="2848094"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Microsoft YaHei" pitchFamily="34" charset="0"/>
                <a:ea typeface="Microsoft YaHei" pitchFamily="34" charset="-122"/>
                <a:cs typeface="Microsoft YaHei" pitchFamily="34" charset="-120"/>
              </a:rPr>
              <a:t>k = 10（高连通约束）</a:t>
            </a:r>
            <a:endParaRPr lang="en-US" sz="2200" dirty="0"/>
          </a:p>
        </p:txBody>
      </p:sp>
      <p:sp>
        <p:nvSpPr>
          <p:cNvPr id="20" name="Text 15"/>
          <p:cNvSpPr/>
          <p:nvPr/>
        </p:nvSpPr>
        <p:spPr>
          <a:xfrm>
            <a:off x="9677995" y="5665589"/>
            <a:ext cx="4158615"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节点高度聚集以满足严苛连通性要求，局部出现少量覆盖盲区，但整体仍保持 </a:t>
            </a:r>
            <a:pPr algn="l" indent="0" marL="0">
              <a:lnSpc>
                <a:spcPts val="2850"/>
              </a:lnSpc>
              <a:buNone/>
            </a:pPr>
            <a:r>
              <a:rPr lang="en-US" sz="1750" b="1" dirty="0">
                <a:solidFill>
                  <a:srgbClr val="15213F"/>
                </a:solidFill>
                <a:latin typeface="Microsoft YaHei" pitchFamily="34" charset="0"/>
                <a:ea typeface="Microsoft YaHei" pitchFamily="34" charset="-122"/>
                <a:cs typeface="Microsoft YaHei" pitchFamily="34" charset="-120"/>
              </a:rPr>
              <a:t>99.0%</a:t>
            </a:r>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 覆盖水平</a:t>
            </a:r>
            <a:endParaRPr lang="en-US" sz="1750" dirty="0"/>
          </a:p>
        </p:txBody>
      </p:sp>
      <p:sp>
        <p:nvSpPr>
          <p:cNvPr id="21" name="Text 16"/>
          <p:cNvSpPr/>
          <p:nvPr/>
        </p:nvSpPr>
        <p:spPr>
          <a:xfrm>
            <a:off x="793790" y="700944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Microsoft YaHei" pitchFamily="34" charset="0"/>
                <a:ea typeface="Microsoft YaHei" pitchFamily="34" charset="-122"/>
                <a:cs typeface="Microsoft YaHei" pitchFamily="34" charset="-120"/>
              </a:rPr>
              <a:t>结论：所提算法在优化过程中有效平衡了连通冗余度与空间分布均匀性，实现了覆盖与连通的协同最优。</a:t>
            </a:r>
            <a:endParaRPr lang="en-US" sz="1750" dirty="0"/>
          </a:p>
        </p:txBody>
      </p:sp>
      <p:pic>
        <p:nvPicPr>
          <p:cNvPr id="22" name="Image 3" descr="preencoded.png">    </p:cNvPr>
          <p:cNvPicPr>
            <a:picLocks noChangeAspect="1"/>
          </p:cNvPicPr>
          <p:nvPr/>
        </p:nvPicPr>
        <p:blipFill>
          <a:blip r:embed="rId4"/>
          <a:stretch>
            <a:fillRect/>
          </a:stretch>
        </p:blipFill>
        <p:spPr>
          <a:xfrm>
            <a:off x="136088" y="208955"/>
            <a:ext cx="1351836" cy="307896"/>
          </a:xfrm>
          <a:prstGeom prst="rect">
            <a:avLst/>
          </a:prstGeom>
        </p:spPr>
      </p:pic>
      <p:sp>
        <p:nvSpPr>
          <p:cNvPr id="23" name="Text 17"/>
          <p:cNvSpPr/>
          <p:nvPr/>
        </p:nvSpPr>
        <p:spPr>
          <a:xfrm>
            <a:off x="7160181" y="7739658"/>
            <a:ext cx="310039" cy="254079"/>
          </a:xfrm>
          <a:prstGeom prst="rect">
            <a:avLst/>
          </a:prstGeom>
          <a:noFill/>
          <a:ln/>
        </p:spPr>
        <p:txBody>
          <a:bodyPr wrap="none" lIns="0" tIns="0" rIns="0" bIns="0" rtlCol="0" anchor="t"/>
          <a:lstStyle/>
          <a:p>
            <a:pPr algn="ctr" indent="0" marL="0">
              <a:lnSpc>
                <a:spcPts val="2000"/>
              </a:lnSpc>
              <a:buNone/>
            </a:pPr>
            <a:r>
              <a:rPr lang="en-US" sz="1250" dirty="0">
                <a:solidFill>
                  <a:srgbClr val="15213F"/>
                </a:solidFill>
                <a:latin typeface="Microsoft YaHei" pitchFamily="34" charset="0"/>
                <a:ea typeface="Microsoft YaHei" pitchFamily="34" charset="-122"/>
                <a:cs typeface="Microsoft YaHei" pitchFamily="34" charset="-120"/>
              </a:rPr>
              <a:t>19</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Shape 0"/>
          <p:cNvSpPr/>
          <p:nvPr/>
        </p:nvSpPr>
        <p:spPr>
          <a:xfrm>
            <a:off x="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Text 1"/>
          <p:cNvSpPr/>
          <p:nvPr/>
        </p:nvSpPr>
        <p:spPr>
          <a:xfrm>
            <a:off x="6280190" y="1034296"/>
            <a:ext cx="5387102" cy="673418"/>
          </a:xfrm>
          <a:prstGeom prst="rect">
            <a:avLst/>
          </a:prstGeom>
          <a:noFill/>
          <a:ln/>
        </p:spPr>
        <p:txBody>
          <a:bodyPr wrap="none" lIns="0" tIns="0" rIns="0" bIns="0" rtlCol="0" anchor="t"/>
          <a:lstStyle/>
          <a:p>
            <a:pPr algn="l" indent="0" marL="0">
              <a:lnSpc>
                <a:spcPts val="5300"/>
              </a:lnSpc>
              <a:buNone/>
            </a:pPr>
            <a:r>
              <a:rPr lang="en-US" sz="4200" dirty="0">
                <a:solidFill>
                  <a:srgbClr val="3257B8"/>
                </a:solidFill>
                <a:latin typeface="Microsoft YaHei" pitchFamily="34" charset="0"/>
                <a:ea typeface="Microsoft YaHei" pitchFamily="34" charset="-122"/>
                <a:cs typeface="Microsoft YaHei" pitchFamily="34" charset="-120"/>
              </a:rPr>
              <a:t>两项工作综合总结</a:t>
            </a:r>
            <a:endParaRPr lang="en-US" sz="4200" dirty="0"/>
          </a:p>
        </p:txBody>
      </p:sp>
      <p:sp>
        <p:nvSpPr>
          <p:cNvPr id="6" name="Shape 2"/>
          <p:cNvSpPr/>
          <p:nvPr/>
        </p:nvSpPr>
        <p:spPr>
          <a:xfrm>
            <a:off x="6124932" y="2014776"/>
            <a:ext cx="3825835" cy="5180409"/>
          </a:xfrm>
          <a:prstGeom prst="roundRect">
            <a:avLst>
              <a:gd name="adj" fmla="val 845"/>
            </a:avLst>
          </a:prstGeom>
          <a:solidFill>
            <a:srgbClr val="3257B8">
              <a:alpha val="95000"/>
            </a:srgbClr>
          </a:solidFill>
          <a:ln/>
        </p:spPr>
      </p:sp>
      <p:sp>
        <p:nvSpPr>
          <p:cNvPr id="7" name="Text 3"/>
          <p:cNvSpPr/>
          <p:nvPr/>
        </p:nvSpPr>
        <p:spPr>
          <a:xfrm>
            <a:off x="6340316" y="2219444"/>
            <a:ext cx="3395067" cy="673179"/>
          </a:xfrm>
          <a:prstGeom prst="rect">
            <a:avLst/>
          </a:prstGeom>
          <a:noFill/>
          <a:ln/>
        </p:spPr>
        <p:txBody>
          <a:bodyPr wrap="square" lIns="0" tIns="0" rIns="0" bIns="0" rtlCol="0" anchor="t"/>
          <a:lstStyle/>
          <a:p>
            <a:pPr algn="l" indent="0" marL="0">
              <a:lnSpc>
                <a:spcPts val="2650"/>
              </a:lnSpc>
              <a:buNone/>
            </a:pPr>
            <a:r>
              <a:rPr lang="en-US" sz="2100" dirty="0">
                <a:solidFill>
                  <a:srgbClr val="FFFFFF"/>
                </a:solidFill>
                <a:latin typeface="Microsoft YaHei" pitchFamily="34" charset="0"/>
                <a:ea typeface="Microsoft YaHei" pitchFamily="34" charset="-122"/>
                <a:cs typeface="Microsoft YaHei" pitchFamily="34" charset="-120"/>
              </a:rPr>
              <a:t>C-RRT*-APF 通信保持路径规划</a:t>
            </a:r>
            <a:endParaRPr lang="en-US" sz="2100" dirty="0"/>
          </a:p>
        </p:txBody>
      </p:sp>
      <p:sp>
        <p:nvSpPr>
          <p:cNvPr id="8" name="Text 4"/>
          <p:cNvSpPr/>
          <p:nvPr/>
        </p:nvSpPr>
        <p:spPr>
          <a:xfrm>
            <a:off x="6340316" y="3097292"/>
            <a:ext cx="3395067" cy="672227"/>
          </a:xfrm>
          <a:prstGeom prst="rect">
            <a:avLst/>
          </a:prstGeom>
          <a:noFill/>
          <a:ln/>
        </p:spPr>
        <p:txBody>
          <a:bodyPr wrap="square" lIns="0" tIns="0" rIns="0" bIns="0" rtlCol="0" anchor="t"/>
          <a:lstStyle/>
          <a:p>
            <a:pPr algn="l" indent="0" marL="0">
              <a:lnSpc>
                <a:spcPts val="2600"/>
              </a:lnSpc>
              <a:buNone/>
            </a:pPr>
            <a:r>
              <a:rPr lang="en-US" sz="1650" b="1" dirty="0">
                <a:solidFill>
                  <a:srgbClr val="FFFFFF"/>
                </a:solidFill>
                <a:latin typeface="Microsoft YaHei" pitchFamily="34" charset="0"/>
                <a:ea typeface="Microsoft YaHei" pitchFamily="34" charset="-122"/>
                <a:cs typeface="Microsoft YaHei" pitchFamily="34" charset="-120"/>
              </a:rPr>
              <a:t>问题：</a:t>
            </a:r>
            <a:pPr algn="l" indent="0" marL="0">
              <a:lnSpc>
                <a:spcPts val="2600"/>
              </a:lnSpc>
              <a:buNone/>
            </a:pPr>
            <a:r>
              <a:rPr lang="en-US" sz="1650" dirty="0">
                <a:solidFill>
                  <a:srgbClr val="FFFFFF"/>
                </a:solidFill>
                <a:latin typeface="Microsoft YaHei" pitchFamily="34" charset="0"/>
                <a:ea typeface="Microsoft YaHei" pitchFamily="34" charset="-122"/>
                <a:cs typeface="Microsoft YaHei" pitchFamily="34" charset="-120"/>
              </a:rPr>
              <a:t>大规模集群在密集建筑与强干扰下的通信保持路径规划</a:t>
            </a:r>
            <a:endParaRPr lang="en-US" sz="1650" dirty="0"/>
          </a:p>
        </p:txBody>
      </p:sp>
      <p:sp>
        <p:nvSpPr>
          <p:cNvPr id="9" name="Text 5"/>
          <p:cNvSpPr/>
          <p:nvPr/>
        </p:nvSpPr>
        <p:spPr>
          <a:xfrm>
            <a:off x="6340316" y="3953708"/>
            <a:ext cx="3395067" cy="672227"/>
          </a:xfrm>
          <a:prstGeom prst="rect">
            <a:avLst/>
          </a:prstGeom>
          <a:noFill/>
          <a:ln/>
        </p:spPr>
        <p:txBody>
          <a:bodyPr wrap="square" lIns="0" tIns="0" rIns="0" bIns="0" rtlCol="0" anchor="t"/>
          <a:lstStyle/>
          <a:p>
            <a:pPr algn="l" indent="0" marL="0">
              <a:lnSpc>
                <a:spcPts val="2600"/>
              </a:lnSpc>
              <a:buNone/>
            </a:pPr>
            <a:r>
              <a:rPr lang="en-US" sz="1650" b="1" dirty="0">
                <a:solidFill>
                  <a:srgbClr val="FFFFFF"/>
                </a:solidFill>
                <a:latin typeface="Microsoft YaHei" pitchFamily="34" charset="0"/>
                <a:ea typeface="Microsoft YaHei" pitchFamily="34" charset="-122"/>
                <a:cs typeface="Microsoft YaHei" pitchFamily="34" charset="-120"/>
              </a:rPr>
              <a:t>创新：</a:t>
            </a:r>
            <a:pPr algn="l" indent="0" marL="0">
              <a:lnSpc>
                <a:spcPts val="2600"/>
              </a:lnSpc>
              <a:buNone/>
            </a:pPr>
            <a:r>
              <a:rPr lang="en-US" sz="1650" dirty="0">
                <a:solidFill>
                  <a:srgbClr val="FFFFFF"/>
                </a:solidFill>
                <a:latin typeface="Microsoft YaHei" pitchFamily="34" charset="0"/>
                <a:ea typeface="Microsoft YaHei" pitchFamily="34" charset="-122"/>
                <a:cs typeface="Microsoft YaHei" pitchFamily="34" charset="-120"/>
              </a:rPr>
              <a:t>分层分簇 + 簇间距离约束 + MBST-APF 三力合成</a:t>
            </a:r>
            <a:endParaRPr lang="en-US" sz="1650" dirty="0"/>
          </a:p>
        </p:txBody>
      </p:sp>
      <p:sp>
        <p:nvSpPr>
          <p:cNvPr id="10" name="Text 6"/>
          <p:cNvSpPr/>
          <p:nvPr/>
        </p:nvSpPr>
        <p:spPr>
          <a:xfrm>
            <a:off x="6340316" y="4810125"/>
            <a:ext cx="3395067" cy="1008340"/>
          </a:xfrm>
          <a:prstGeom prst="rect">
            <a:avLst/>
          </a:prstGeom>
          <a:noFill/>
          <a:ln/>
        </p:spPr>
        <p:txBody>
          <a:bodyPr wrap="square" lIns="0" tIns="0" rIns="0" bIns="0" rtlCol="0" anchor="t"/>
          <a:lstStyle/>
          <a:p>
            <a:pPr algn="l" indent="0" marL="0">
              <a:lnSpc>
                <a:spcPts val="2600"/>
              </a:lnSpc>
              <a:buNone/>
            </a:pPr>
            <a:r>
              <a:rPr lang="en-US" sz="1650" b="1" dirty="0">
                <a:solidFill>
                  <a:srgbClr val="FFFFFF"/>
                </a:solidFill>
                <a:latin typeface="Microsoft YaHei" pitchFamily="34" charset="0"/>
                <a:ea typeface="Microsoft YaHei" pitchFamily="34" charset="-122"/>
                <a:cs typeface="Microsoft YaHei" pitchFamily="34" charset="-120"/>
              </a:rPr>
              <a:t>效果：</a:t>
            </a:r>
            <a:pPr algn="l" indent="0" marL="0">
              <a:lnSpc>
                <a:spcPts val="2600"/>
              </a:lnSpc>
              <a:buNone/>
            </a:pPr>
            <a:r>
              <a:rPr lang="en-US" sz="1650" dirty="0">
                <a:solidFill>
                  <a:srgbClr val="FFFFFF"/>
                </a:solidFill>
                <a:latin typeface="Microsoft YaHei" pitchFamily="34" charset="0"/>
                <a:ea typeface="Microsoft YaHei" pitchFamily="34" charset="-122"/>
                <a:cs typeface="Microsoft YaHei" pitchFamily="34" charset="-120"/>
              </a:rPr>
              <a:t>平均到达时间降低 </a:t>
            </a:r>
            <a:pPr algn="l" indent="0" marL="0">
              <a:lnSpc>
                <a:spcPts val="2600"/>
              </a:lnSpc>
              <a:buNone/>
            </a:pPr>
            <a:r>
              <a:rPr lang="en-US" sz="1650" b="1" dirty="0">
                <a:solidFill>
                  <a:srgbClr val="FFFFFF"/>
                </a:solidFill>
                <a:latin typeface="Microsoft YaHei" pitchFamily="34" charset="0"/>
                <a:ea typeface="Microsoft YaHei" pitchFamily="34" charset="-122"/>
                <a:cs typeface="Microsoft YaHei" pitchFamily="34" charset="-120"/>
              </a:rPr>
              <a:t>29%</a:t>
            </a:r>
            <a:pPr algn="l" indent="0" marL="0">
              <a:lnSpc>
                <a:spcPts val="2600"/>
              </a:lnSpc>
              <a:buNone/>
            </a:pPr>
            <a:r>
              <a:rPr lang="en-US" sz="1650" dirty="0">
                <a:solidFill>
                  <a:srgbClr val="FFFFFF"/>
                </a:solidFill>
                <a:latin typeface="Microsoft YaHei" pitchFamily="34" charset="0"/>
                <a:ea typeface="Microsoft YaHei" pitchFamily="34" charset="-122"/>
                <a:cs typeface="Microsoft YaHei" pitchFamily="34" charset="-120"/>
              </a:rPr>
              <a:t>，通信连通率提升 </a:t>
            </a:r>
            <a:pPr algn="l" indent="0" marL="0">
              <a:lnSpc>
                <a:spcPts val="2600"/>
              </a:lnSpc>
              <a:buNone/>
            </a:pPr>
            <a:r>
              <a:rPr lang="en-US" sz="1650" b="1" dirty="0">
                <a:solidFill>
                  <a:srgbClr val="FFFFFF"/>
                </a:solidFill>
                <a:latin typeface="Microsoft YaHei" pitchFamily="34" charset="0"/>
                <a:ea typeface="Microsoft YaHei" pitchFamily="34" charset="-122"/>
                <a:cs typeface="Microsoft YaHei" pitchFamily="34" charset="-120"/>
              </a:rPr>
              <a:t>17%</a:t>
            </a:r>
            <a:pPr algn="l" indent="0" marL="0">
              <a:lnSpc>
                <a:spcPts val="2600"/>
              </a:lnSpc>
              <a:buNone/>
            </a:pPr>
            <a:r>
              <a:rPr lang="en-US" sz="1650" dirty="0">
                <a:solidFill>
                  <a:srgbClr val="FFFFFF"/>
                </a:solidFill>
                <a:latin typeface="Microsoft YaHei" pitchFamily="34" charset="0"/>
                <a:ea typeface="Microsoft YaHei" pitchFamily="34" charset="-122"/>
                <a:cs typeface="Microsoft YaHei" pitchFamily="34" charset="-120"/>
              </a:rPr>
              <a:t>（vs CMUFC），连通率中位数达 </a:t>
            </a:r>
            <a:pPr algn="l" indent="0" marL="0">
              <a:lnSpc>
                <a:spcPts val="2600"/>
              </a:lnSpc>
              <a:buNone/>
            </a:pPr>
            <a:r>
              <a:rPr lang="en-US" sz="1650" b="1" dirty="0">
                <a:solidFill>
                  <a:srgbClr val="FFFFFF"/>
                </a:solidFill>
                <a:latin typeface="Microsoft YaHei" pitchFamily="34" charset="0"/>
                <a:ea typeface="Microsoft YaHei" pitchFamily="34" charset="-122"/>
                <a:cs typeface="Microsoft YaHei" pitchFamily="34" charset="-120"/>
              </a:rPr>
              <a:t>95%</a:t>
            </a:r>
            <a:endParaRPr lang="en-US" sz="1650" dirty="0"/>
          </a:p>
        </p:txBody>
      </p:sp>
      <p:sp>
        <p:nvSpPr>
          <p:cNvPr id="11" name="Text 7"/>
          <p:cNvSpPr/>
          <p:nvPr/>
        </p:nvSpPr>
        <p:spPr>
          <a:xfrm>
            <a:off x="6340316" y="6002655"/>
            <a:ext cx="3395067" cy="1008340"/>
          </a:xfrm>
          <a:prstGeom prst="rect">
            <a:avLst/>
          </a:prstGeom>
          <a:noFill/>
          <a:ln/>
        </p:spPr>
        <p:txBody>
          <a:bodyPr wrap="square" lIns="0" tIns="0" rIns="0" bIns="0" rtlCol="0" anchor="t"/>
          <a:lstStyle/>
          <a:p>
            <a:pPr algn="l" indent="0" marL="0">
              <a:lnSpc>
                <a:spcPts val="2600"/>
              </a:lnSpc>
              <a:buNone/>
            </a:pPr>
            <a:r>
              <a:rPr lang="en-US" sz="1650" b="1" dirty="0">
                <a:solidFill>
                  <a:srgbClr val="FFFFFF"/>
                </a:solidFill>
                <a:latin typeface="Microsoft YaHei" pitchFamily="34" charset="0"/>
                <a:ea typeface="Microsoft YaHei" pitchFamily="34" charset="-122"/>
                <a:cs typeface="Microsoft YaHei" pitchFamily="34" charset="-120"/>
              </a:rPr>
              <a:t>价值：</a:t>
            </a:r>
            <a:pPr algn="l" indent="0" marL="0">
              <a:lnSpc>
                <a:spcPts val="2600"/>
              </a:lnSpc>
              <a:buNone/>
            </a:pPr>
            <a:r>
              <a:rPr lang="en-US" sz="1650" dirty="0">
                <a:solidFill>
                  <a:srgbClr val="FFFFFF"/>
                </a:solidFill>
                <a:latin typeface="Microsoft YaHei" pitchFamily="34" charset="0"/>
                <a:ea typeface="Microsoft YaHei" pitchFamily="34" charset="-122"/>
                <a:cs typeface="Microsoft YaHei" pitchFamily="34" charset="-120"/>
              </a:rPr>
              <a:t>有效解决多源势场叠加导致的震荡与死锁，实现大规模集群的高通信保持效果</a:t>
            </a:r>
            <a:endParaRPr lang="en-US" sz="1650" dirty="0"/>
          </a:p>
        </p:txBody>
      </p:sp>
      <p:sp>
        <p:nvSpPr>
          <p:cNvPr id="12" name="Text 8"/>
          <p:cNvSpPr/>
          <p:nvPr/>
        </p:nvSpPr>
        <p:spPr>
          <a:xfrm>
            <a:off x="10328910" y="2219444"/>
            <a:ext cx="3515320" cy="673179"/>
          </a:xfrm>
          <a:prstGeom prst="rect">
            <a:avLst/>
          </a:prstGeom>
          <a:noFill/>
          <a:ln/>
        </p:spPr>
        <p:txBody>
          <a:bodyPr wrap="square" lIns="0" tIns="0" rIns="0" bIns="0" rtlCol="0" anchor="t"/>
          <a:lstStyle/>
          <a:p>
            <a:pPr algn="l" indent="0" marL="0">
              <a:lnSpc>
                <a:spcPts val="2650"/>
              </a:lnSpc>
              <a:buNone/>
            </a:pPr>
            <a:r>
              <a:rPr lang="en-US" sz="2100" dirty="0">
                <a:solidFill>
                  <a:srgbClr val="3257B8"/>
                </a:solidFill>
                <a:latin typeface="Microsoft YaHei" pitchFamily="34" charset="0"/>
                <a:ea typeface="Microsoft YaHei" pitchFamily="34" charset="-122"/>
                <a:cs typeface="Microsoft YaHei" pitchFamily="34" charset="-120"/>
              </a:rPr>
              <a:t>MPG-NSGA-II 通信保持区域覆盖</a:t>
            </a:r>
            <a:endParaRPr lang="en-US" sz="2100" dirty="0"/>
          </a:p>
        </p:txBody>
      </p:sp>
      <p:sp>
        <p:nvSpPr>
          <p:cNvPr id="13" name="Text 9"/>
          <p:cNvSpPr/>
          <p:nvPr/>
        </p:nvSpPr>
        <p:spPr>
          <a:xfrm>
            <a:off x="10328910" y="3097292"/>
            <a:ext cx="3515320" cy="672227"/>
          </a:xfrm>
          <a:prstGeom prst="rect">
            <a:avLst/>
          </a:prstGeom>
          <a:noFill/>
          <a:ln/>
        </p:spPr>
        <p:txBody>
          <a:bodyPr wrap="square" lIns="0" tIns="0" rIns="0" bIns="0" rtlCol="0" anchor="t"/>
          <a:lstStyle/>
          <a:p>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问题：</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复杂城市环境下覆盖率与网络连通度的多目标协同优化</a:t>
            </a:r>
            <a:endParaRPr lang="en-US" sz="1650" dirty="0"/>
          </a:p>
        </p:txBody>
      </p:sp>
      <p:sp>
        <p:nvSpPr>
          <p:cNvPr id="14" name="Text 10"/>
          <p:cNvSpPr/>
          <p:nvPr/>
        </p:nvSpPr>
        <p:spPr>
          <a:xfrm>
            <a:off x="10328910" y="3953708"/>
            <a:ext cx="3515320" cy="672227"/>
          </a:xfrm>
          <a:prstGeom prst="rect">
            <a:avLst/>
          </a:prstGeom>
          <a:noFill/>
          <a:ln/>
        </p:spPr>
        <p:txBody>
          <a:bodyPr wrap="square" lIns="0" tIns="0" rIns="0" bIns="0" rtlCol="0" anchor="t"/>
          <a:lstStyle/>
          <a:p>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创新：</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CGCI 初始化 + VCGO/DCGO 引导变异 + 多种群精英迁移</a:t>
            </a:r>
            <a:endParaRPr lang="en-US" sz="1650" dirty="0"/>
          </a:p>
        </p:txBody>
      </p:sp>
      <p:sp>
        <p:nvSpPr>
          <p:cNvPr id="15" name="Text 11"/>
          <p:cNvSpPr/>
          <p:nvPr/>
        </p:nvSpPr>
        <p:spPr>
          <a:xfrm>
            <a:off x="10328910" y="4810125"/>
            <a:ext cx="3515320" cy="1344454"/>
          </a:xfrm>
          <a:prstGeom prst="rect">
            <a:avLst/>
          </a:prstGeom>
          <a:noFill/>
          <a:ln/>
        </p:spPr>
        <p:txBody>
          <a:bodyPr wrap="square" lIns="0" tIns="0" rIns="0" bIns="0" rtlCol="0" anchor="t"/>
          <a:lstStyle/>
          <a:p>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效果：</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各顶点连通度目标下覆盖率平均提升约 </a:t>
            </a:r>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7%</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（vs NSGA-II），HV 指标提升显著，能以更少节点实现全覆盖</a:t>
            </a:r>
            <a:endParaRPr lang="en-US" sz="1650" dirty="0"/>
          </a:p>
        </p:txBody>
      </p:sp>
      <p:sp>
        <p:nvSpPr>
          <p:cNvPr id="16" name="Text 12"/>
          <p:cNvSpPr/>
          <p:nvPr/>
        </p:nvSpPr>
        <p:spPr>
          <a:xfrm>
            <a:off x="10328910" y="6338768"/>
            <a:ext cx="3515320" cy="672227"/>
          </a:xfrm>
          <a:prstGeom prst="rect">
            <a:avLst/>
          </a:prstGeom>
          <a:noFill/>
          <a:ln/>
        </p:spPr>
        <p:txBody>
          <a:bodyPr wrap="square" lIns="0" tIns="0" rIns="0" bIns="0" rtlCol="0" anchor="t"/>
          <a:lstStyle/>
          <a:p>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价值：</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有效克服传统多目标算法在高维复杂场景下的早熟收敛问题</a:t>
            </a:r>
            <a:endParaRPr lang="en-US" sz="1650" dirty="0"/>
          </a:p>
        </p:txBody>
      </p:sp>
      <p:pic>
        <p:nvPicPr>
          <p:cNvPr id="17" name="Image 2" descr="preencoded.png">    </p:cNvPr>
          <p:cNvPicPr>
            <a:picLocks noChangeAspect="1"/>
          </p:cNvPicPr>
          <p:nvPr/>
        </p:nvPicPr>
        <p:blipFill>
          <a:blip r:embed="rId3"/>
          <a:stretch>
            <a:fillRect/>
          </a:stretch>
        </p:blipFill>
        <p:spPr>
          <a:xfrm>
            <a:off x="5622488" y="208955"/>
            <a:ext cx="1351836" cy="307896"/>
          </a:xfrm>
          <a:prstGeom prst="rect">
            <a:avLst/>
          </a:prstGeom>
        </p:spPr>
      </p:pic>
      <p:sp>
        <p:nvSpPr>
          <p:cNvPr id="18" name="Text 13"/>
          <p:cNvSpPr/>
          <p:nvPr/>
        </p:nvSpPr>
        <p:spPr>
          <a:xfrm>
            <a:off x="5622488" y="7742753"/>
            <a:ext cx="366593" cy="247769"/>
          </a:xfrm>
          <a:prstGeom prst="rect">
            <a:avLst/>
          </a:prstGeom>
          <a:noFill/>
          <a:ln/>
        </p:spPr>
        <p:txBody>
          <a:bodyPr wrap="none" lIns="0" tIns="0" rIns="0" bIns="0" rtlCol="0" anchor="t"/>
          <a:lstStyle/>
          <a:p>
            <a:pPr algn="l" indent="0" marL="0">
              <a:lnSpc>
                <a:spcPts val="1950"/>
              </a:lnSpc>
              <a:buNone/>
            </a:pPr>
            <a:r>
              <a:rPr lang="en-US" sz="1250" dirty="0">
                <a:solidFill>
                  <a:srgbClr val="15213F"/>
                </a:solidFill>
                <a:latin typeface="Microsoft YaHei" pitchFamily="34" charset="0"/>
                <a:ea typeface="Microsoft YaHei" pitchFamily="34" charset="-122"/>
                <a:cs typeface="Microsoft YaHei" pitchFamily="34" charset="-120"/>
              </a:rPr>
              <a:t>20</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781407" y="897017"/>
            <a:ext cx="1280041" cy="362903"/>
          </a:xfrm>
          <a:prstGeom prst="roundRect">
            <a:avLst>
              <a:gd name="adj" fmla="val 2520"/>
            </a:avLst>
          </a:prstGeom>
          <a:solidFill>
            <a:srgbClr val="D7DFF4"/>
          </a:solidFill>
          <a:ln/>
        </p:spPr>
      </p:sp>
      <p:sp>
        <p:nvSpPr>
          <p:cNvPr id="3" name="Text 1"/>
          <p:cNvSpPr/>
          <p:nvPr/>
        </p:nvSpPr>
        <p:spPr>
          <a:xfrm>
            <a:off x="901898" y="957263"/>
            <a:ext cx="1039058" cy="242411"/>
          </a:xfrm>
          <a:prstGeom prst="rect">
            <a:avLst/>
          </a:prstGeom>
          <a:noFill/>
          <a:ln/>
        </p:spPr>
        <p:txBody>
          <a:bodyPr wrap="none" lIns="0" tIns="0" rIns="0" bIns="0" rtlCol="0" anchor="t"/>
          <a:lstStyle/>
          <a:p>
            <a:pPr algn="l" indent="0" marL="0">
              <a:lnSpc>
                <a:spcPts val="1900"/>
              </a:lnSpc>
              <a:buNone/>
            </a:pPr>
            <a:r>
              <a:rPr lang="en-US" sz="1250" dirty="0">
                <a:solidFill>
                  <a:srgbClr val="15213F"/>
                </a:solidFill>
                <a:latin typeface="Microsoft YaHei" pitchFamily="34" charset="0"/>
                <a:ea typeface="Microsoft YaHei" pitchFamily="34" charset="-122"/>
                <a:cs typeface="Microsoft YaHei" pitchFamily="34" charset="-120"/>
              </a:rPr>
              <a:t>05 总结与展望</a:t>
            </a:r>
            <a:endParaRPr lang="en-US" sz="1250" dirty="0"/>
          </a:p>
        </p:txBody>
      </p:sp>
      <p:sp>
        <p:nvSpPr>
          <p:cNvPr id="4" name="Text 2"/>
          <p:cNvSpPr/>
          <p:nvPr/>
        </p:nvSpPr>
        <p:spPr>
          <a:xfrm>
            <a:off x="781407" y="1331119"/>
            <a:ext cx="5023842" cy="628055"/>
          </a:xfrm>
          <a:prstGeom prst="rect">
            <a:avLst/>
          </a:prstGeom>
          <a:noFill/>
          <a:ln/>
        </p:spPr>
        <p:txBody>
          <a:bodyPr wrap="none" lIns="0" tIns="0" rIns="0" bIns="0" rtlCol="0" anchor="t"/>
          <a:lstStyle/>
          <a:p>
            <a:pPr algn="l" indent="0" marL="0">
              <a:lnSpc>
                <a:spcPts val="4900"/>
              </a:lnSpc>
              <a:buNone/>
            </a:pPr>
            <a:r>
              <a:rPr lang="en-US" sz="3950" dirty="0">
                <a:solidFill>
                  <a:srgbClr val="3257B8"/>
                </a:solidFill>
                <a:latin typeface="Microsoft YaHei" pitchFamily="34" charset="0"/>
                <a:ea typeface="Microsoft YaHei" pitchFamily="34" charset="-122"/>
                <a:cs typeface="Microsoft YaHei" pitchFamily="34" charset="-120"/>
              </a:rPr>
              <a:t>全文总结与未来展望</a:t>
            </a:r>
            <a:endParaRPr lang="en-US" sz="3950" dirty="0"/>
          </a:p>
        </p:txBody>
      </p:sp>
      <p:sp>
        <p:nvSpPr>
          <p:cNvPr id="5" name="Text 3"/>
          <p:cNvSpPr/>
          <p:nvPr/>
        </p:nvSpPr>
        <p:spPr>
          <a:xfrm>
            <a:off x="781407" y="2404110"/>
            <a:ext cx="2511862" cy="313968"/>
          </a:xfrm>
          <a:prstGeom prst="rect">
            <a:avLst/>
          </a:prstGeom>
          <a:noFill/>
          <a:ln/>
        </p:spPr>
        <p:txBody>
          <a:bodyPr wrap="none" lIns="0" tIns="0" rIns="0" bIns="0" rtlCol="0" anchor="t"/>
          <a:lstStyle/>
          <a:p>
            <a:pPr algn="l" indent="0" marL="0">
              <a:lnSpc>
                <a:spcPts val="2450"/>
              </a:lnSpc>
              <a:buNone/>
            </a:pPr>
            <a:r>
              <a:rPr lang="en-US" sz="1950" dirty="0">
                <a:solidFill>
                  <a:srgbClr val="3257B8"/>
                </a:solidFill>
                <a:latin typeface="Microsoft YaHei" pitchFamily="34" charset="0"/>
                <a:ea typeface="Microsoft YaHei" pitchFamily="34" charset="-122"/>
                <a:cs typeface="Microsoft YaHei" pitchFamily="34" charset="-120"/>
              </a:rPr>
              <a:t>全文贡献</a:t>
            </a:r>
            <a:endParaRPr lang="en-US" sz="1950" dirty="0"/>
          </a:p>
        </p:txBody>
      </p:sp>
      <p:sp>
        <p:nvSpPr>
          <p:cNvPr id="6" name="Shape 4"/>
          <p:cNvSpPr/>
          <p:nvPr/>
        </p:nvSpPr>
        <p:spPr>
          <a:xfrm>
            <a:off x="781407" y="2918341"/>
            <a:ext cx="452080" cy="452080"/>
          </a:xfrm>
          <a:prstGeom prst="roundRect">
            <a:avLst>
              <a:gd name="adj" fmla="val 2023"/>
            </a:avLst>
          </a:prstGeom>
          <a:solidFill>
            <a:srgbClr val="E9ECF2"/>
          </a:solidFill>
          <a:ln w="7620">
            <a:solidFill>
              <a:srgbClr val="CFD2D8"/>
            </a:solidFill>
            <a:prstDash val="solid"/>
          </a:ln>
        </p:spPr>
      </p:sp>
      <p:sp>
        <p:nvSpPr>
          <p:cNvPr id="7" name="Text 5"/>
          <p:cNvSpPr/>
          <p:nvPr/>
        </p:nvSpPr>
        <p:spPr>
          <a:xfrm>
            <a:off x="856714" y="2955965"/>
            <a:ext cx="301347" cy="376714"/>
          </a:xfrm>
          <a:prstGeom prst="rect">
            <a:avLst/>
          </a:prstGeom>
          <a:noFill/>
          <a:ln/>
        </p:spPr>
        <p:txBody>
          <a:bodyPr wrap="none" lIns="0" tIns="0" rIns="0" bIns="0" rtlCol="0" anchor="t"/>
          <a:lstStyle/>
          <a:p>
            <a:pPr algn="ctr" indent="0" marL="0">
              <a:lnSpc>
                <a:spcPts val="2350"/>
              </a:lnSpc>
              <a:buNone/>
            </a:pPr>
            <a:r>
              <a:rPr lang="en-US" sz="2350" dirty="0">
                <a:solidFill>
                  <a:srgbClr val="15213F"/>
                </a:solidFill>
                <a:latin typeface="Microsoft YaHei" pitchFamily="34" charset="0"/>
                <a:ea typeface="Microsoft YaHei" pitchFamily="34" charset="-122"/>
                <a:cs typeface="Microsoft YaHei" pitchFamily="34" charset="-120"/>
              </a:rPr>
              <a:t>1</a:t>
            </a:r>
            <a:endParaRPr lang="en-US" sz="2350" dirty="0"/>
          </a:p>
        </p:txBody>
      </p:sp>
      <p:sp>
        <p:nvSpPr>
          <p:cNvPr id="8" name="Text 6"/>
          <p:cNvSpPr/>
          <p:nvPr/>
        </p:nvSpPr>
        <p:spPr>
          <a:xfrm>
            <a:off x="1411486" y="2987397"/>
            <a:ext cx="3013234" cy="313968"/>
          </a:xfrm>
          <a:prstGeom prst="rect">
            <a:avLst/>
          </a:prstGeom>
          <a:noFill/>
          <a:ln/>
        </p:spPr>
        <p:txBody>
          <a:bodyPr wrap="none" lIns="0" tIns="0" rIns="0" bIns="0" rtlCol="0" anchor="t"/>
          <a:lstStyle/>
          <a:p>
            <a:pPr algn="l" indent="0" marL="0">
              <a:lnSpc>
                <a:spcPts val="2450"/>
              </a:lnSpc>
              <a:buNone/>
            </a:pPr>
            <a:r>
              <a:rPr lang="en-US" sz="1950" dirty="0">
                <a:solidFill>
                  <a:srgbClr val="15213F"/>
                </a:solidFill>
                <a:latin typeface="Microsoft YaHei" pitchFamily="34" charset="0"/>
                <a:ea typeface="Microsoft YaHei" pitchFamily="34" charset="-122"/>
                <a:cs typeface="Microsoft YaHei" pitchFamily="34" charset="-120"/>
              </a:rPr>
              <a:t>建立综合城市作战仿真模型</a:t>
            </a:r>
            <a:endParaRPr lang="en-US" sz="1950" dirty="0"/>
          </a:p>
        </p:txBody>
      </p:sp>
      <p:sp>
        <p:nvSpPr>
          <p:cNvPr id="9" name="Text 7"/>
          <p:cNvSpPr/>
          <p:nvPr/>
        </p:nvSpPr>
        <p:spPr>
          <a:xfrm>
            <a:off x="1411486" y="3479363"/>
            <a:ext cx="5658564" cy="606266"/>
          </a:xfrm>
          <a:prstGeom prst="rect">
            <a:avLst/>
          </a:prstGeom>
          <a:noFill/>
          <a:ln/>
        </p:spPr>
        <p:txBody>
          <a:bodyPr wrap="square" lIns="0" tIns="0" rIns="0" bIns="0" rtlCol="0" anchor="t"/>
          <a:lstStyle/>
          <a:p>
            <a:pPr algn="l" indent="0" marL="0">
              <a:lnSpc>
                <a:spcPts val="2350"/>
              </a:lnSpc>
              <a:buNone/>
            </a:pPr>
            <a:r>
              <a:rPr lang="en-US" sz="1550" dirty="0">
                <a:solidFill>
                  <a:srgbClr val="15213F"/>
                </a:solidFill>
                <a:latin typeface="Microsoft YaHei" pitchFamily="34" charset="0"/>
                <a:ea typeface="Microsoft YaHei" pitchFamily="34" charset="-122"/>
                <a:cs typeface="Microsoft YaHei" pitchFamily="34" charset="-120"/>
              </a:rPr>
              <a:t>包含建筑遮挡、电磁干扰、SINR通信约束的城市作战环境，填补了复杂城市环境下通信与作战任务联合建模的空白</a:t>
            </a:r>
            <a:endParaRPr lang="en-US" sz="1550" dirty="0"/>
          </a:p>
        </p:txBody>
      </p:sp>
      <p:sp>
        <p:nvSpPr>
          <p:cNvPr id="10" name="Shape 8"/>
          <p:cNvSpPr/>
          <p:nvPr/>
        </p:nvSpPr>
        <p:spPr>
          <a:xfrm>
            <a:off x="781407" y="4441627"/>
            <a:ext cx="452080" cy="452080"/>
          </a:xfrm>
          <a:prstGeom prst="roundRect">
            <a:avLst>
              <a:gd name="adj" fmla="val 2023"/>
            </a:avLst>
          </a:prstGeom>
          <a:solidFill>
            <a:srgbClr val="E9ECF2"/>
          </a:solidFill>
          <a:ln w="7620">
            <a:solidFill>
              <a:srgbClr val="CFD2D8"/>
            </a:solidFill>
            <a:prstDash val="solid"/>
          </a:ln>
        </p:spPr>
      </p:sp>
      <p:sp>
        <p:nvSpPr>
          <p:cNvPr id="11" name="Text 9"/>
          <p:cNvSpPr/>
          <p:nvPr/>
        </p:nvSpPr>
        <p:spPr>
          <a:xfrm>
            <a:off x="856714" y="4479250"/>
            <a:ext cx="301347" cy="376714"/>
          </a:xfrm>
          <a:prstGeom prst="rect">
            <a:avLst/>
          </a:prstGeom>
          <a:noFill/>
          <a:ln/>
        </p:spPr>
        <p:txBody>
          <a:bodyPr wrap="none" lIns="0" tIns="0" rIns="0" bIns="0" rtlCol="0" anchor="t"/>
          <a:lstStyle/>
          <a:p>
            <a:pPr algn="ctr" indent="0" marL="0">
              <a:lnSpc>
                <a:spcPts val="2350"/>
              </a:lnSpc>
              <a:buNone/>
            </a:pPr>
            <a:r>
              <a:rPr lang="en-US" sz="2350" dirty="0">
                <a:solidFill>
                  <a:srgbClr val="15213F"/>
                </a:solidFill>
                <a:latin typeface="Microsoft YaHei" pitchFamily="34" charset="0"/>
                <a:ea typeface="Microsoft YaHei" pitchFamily="34" charset="-122"/>
                <a:cs typeface="Microsoft YaHei" pitchFamily="34" charset="-120"/>
              </a:rPr>
              <a:t>2</a:t>
            </a:r>
            <a:endParaRPr lang="en-US" sz="2350" dirty="0"/>
          </a:p>
        </p:txBody>
      </p:sp>
      <p:sp>
        <p:nvSpPr>
          <p:cNvPr id="12" name="Text 10"/>
          <p:cNvSpPr/>
          <p:nvPr/>
        </p:nvSpPr>
        <p:spPr>
          <a:xfrm>
            <a:off x="1411486" y="4510683"/>
            <a:ext cx="3585448" cy="313968"/>
          </a:xfrm>
          <a:prstGeom prst="rect">
            <a:avLst/>
          </a:prstGeom>
          <a:noFill/>
          <a:ln/>
        </p:spPr>
        <p:txBody>
          <a:bodyPr wrap="none" lIns="0" tIns="0" rIns="0" bIns="0" rtlCol="0" anchor="t"/>
          <a:lstStyle/>
          <a:p>
            <a:pPr algn="l" indent="0" marL="0">
              <a:lnSpc>
                <a:spcPts val="2450"/>
              </a:lnSpc>
              <a:buNone/>
            </a:pPr>
            <a:r>
              <a:rPr lang="en-US" sz="1950" dirty="0">
                <a:solidFill>
                  <a:srgbClr val="15213F"/>
                </a:solidFill>
                <a:latin typeface="Microsoft YaHei" pitchFamily="34" charset="0"/>
                <a:ea typeface="Microsoft YaHei" pitchFamily="34" charset="-122"/>
                <a:cs typeface="Microsoft YaHei" pitchFamily="34" charset="-120"/>
              </a:rPr>
              <a:t>提出 C-RRT*-APF 路径规划算法</a:t>
            </a:r>
            <a:endParaRPr lang="en-US" sz="1950" dirty="0"/>
          </a:p>
        </p:txBody>
      </p:sp>
      <p:sp>
        <p:nvSpPr>
          <p:cNvPr id="13" name="Text 11"/>
          <p:cNvSpPr/>
          <p:nvPr/>
        </p:nvSpPr>
        <p:spPr>
          <a:xfrm>
            <a:off x="1411486" y="5002649"/>
            <a:ext cx="5658564" cy="606266"/>
          </a:xfrm>
          <a:prstGeom prst="rect">
            <a:avLst/>
          </a:prstGeom>
          <a:noFill/>
          <a:ln/>
        </p:spPr>
        <p:txBody>
          <a:bodyPr wrap="square" lIns="0" tIns="0" rIns="0" bIns="0" rtlCol="0" anchor="t"/>
          <a:lstStyle/>
          <a:p>
            <a:pPr algn="l" indent="0" marL="0">
              <a:lnSpc>
                <a:spcPts val="2350"/>
              </a:lnSpc>
              <a:buNone/>
            </a:pPr>
            <a:r>
              <a:rPr lang="en-US" sz="1550" dirty="0">
                <a:solidFill>
                  <a:srgbClr val="15213F"/>
                </a:solidFill>
                <a:latin typeface="Microsoft YaHei" pitchFamily="34" charset="0"/>
                <a:ea typeface="Microsoft YaHei" pitchFamily="34" charset="-122"/>
                <a:cs typeface="Microsoft YaHei" pitchFamily="34" charset="-120"/>
              </a:rPr>
              <a:t>分层分簇机制 + MBST-APF，在强干扰密集建筑环境下实现高通信保持效果，为城市作战无人机集群提供系统性路径规划方案</a:t>
            </a:r>
            <a:endParaRPr lang="en-US" sz="1550" dirty="0"/>
          </a:p>
        </p:txBody>
      </p:sp>
      <p:sp>
        <p:nvSpPr>
          <p:cNvPr id="14" name="Shape 12"/>
          <p:cNvSpPr/>
          <p:nvPr/>
        </p:nvSpPr>
        <p:spPr>
          <a:xfrm>
            <a:off x="781407" y="5964912"/>
            <a:ext cx="452080" cy="452080"/>
          </a:xfrm>
          <a:prstGeom prst="roundRect">
            <a:avLst>
              <a:gd name="adj" fmla="val 2023"/>
            </a:avLst>
          </a:prstGeom>
          <a:solidFill>
            <a:srgbClr val="E9ECF2"/>
          </a:solidFill>
          <a:ln w="7620">
            <a:solidFill>
              <a:srgbClr val="CFD2D8"/>
            </a:solidFill>
            <a:prstDash val="solid"/>
          </a:ln>
        </p:spPr>
      </p:sp>
      <p:sp>
        <p:nvSpPr>
          <p:cNvPr id="15" name="Text 13"/>
          <p:cNvSpPr/>
          <p:nvPr/>
        </p:nvSpPr>
        <p:spPr>
          <a:xfrm>
            <a:off x="856714" y="6002536"/>
            <a:ext cx="301347" cy="376714"/>
          </a:xfrm>
          <a:prstGeom prst="rect">
            <a:avLst/>
          </a:prstGeom>
          <a:noFill/>
          <a:ln/>
        </p:spPr>
        <p:txBody>
          <a:bodyPr wrap="none" lIns="0" tIns="0" rIns="0" bIns="0" rtlCol="0" anchor="t"/>
          <a:lstStyle/>
          <a:p>
            <a:pPr algn="ctr" indent="0" marL="0">
              <a:lnSpc>
                <a:spcPts val="2350"/>
              </a:lnSpc>
              <a:buNone/>
            </a:pPr>
            <a:r>
              <a:rPr lang="en-US" sz="2350" dirty="0">
                <a:solidFill>
                  <a:srgbClr val="15213F"/>
                </a:solidFill>
                <a:latin typeface="Microsoft YaHei" pitchFamily="34" charset="0"/>
                <a:ea typeface="Microsoft YaHei" pitchFamily="34" charset="-122"/>
                <a:cs typeface="Microsoft YaHei" pitchFamily="34" charset="-120"/>
              </a:rPr>
              <a:t>3</a:t>
            </a:r>
            <a:endParaRPr lang="en-US" sz="2350" dirty="0"/>
          </a:p>
        </p:txBody>
      </p:sp>
      <p:sp>
        <p:nvSpPr>
          <p:cNvPr id="16" name="Text 14"/>
          <p:cNvSpPr/>
          <p:nvPr/>
        </p:nvSpPr>
        <p:spPr>
          <a:xfrm>
            <a:off x="1411486" y="6033968"/>
            <a:ext cx="3819168" cy="313968"/>
          </a:xfrm>
          <a:prstGeom prst="rect">
            <a:avLst/>
          </a:prstGeom>
          <a:noFill/>
          <a:ln/>
        </p:spPr>
        <p:txBody>
          <a:bodyPr wrap="none" lIns="0" tIns="0" rIns="0" bIns="0" rtlCol="0" anchor="t"/>
          <a:lstStyle/>
          <a:p>
            <a:pPr algn="l" indent="0" marL="0">
              <a:lnSpc>
                <a:spcPts val="2450"/>
              </a:lnSpc>
              <a:buNone/>
            </a:pPr>
            <a:r>
              <a:rPr lang="en-US" sz="1950" dirty="0">
                <a:solidFill>
                  <a:srgbClr val="15213F"/>
                </a:solidFill>
                <a:latin typeface="Microsoft YaHei" pitchFamily="34" charset="0"/>
                <a:ea typeface="Microsoft YaHei" pitchFamily="34" charset="-122"/>
                <a:cs typeface="Microsoft YaHei" pitchFamily="34" charset="-120"/>
              </a:rPr>
              <a:t>提出 MPG-NSGA-II 区域覆盖算法</a:t>
            </a:r>
            <a:endParaRPr lang="en-US" sz="1950" dirty="0"/>
          </a:p>
        </p:txBody>
      </p:sp>
      <p:sp>
        <p:nvSpPr>
          <p:cNvPr id="17" name="Text 15"/>
          <p:cNvSpPr/>
          <p:nvPr/>
        </p:nvSpPr>
        <p:spPr>
          <a:xfrm>
            <a:off x="1411486" y="6525935"/>
            <a:ext cx="5658564" cy="606266"/>
          </a:xfrm>
          <a:prstGeom prst="rect">
            <a:avLst/>
          </a:prstGeom>
          <a:noFill/>
          <a:ln/>
        </p:spPr>
        <p:txBody>
          <a:bodyPr wrap="square" lIns="0" tIns="0" rIns="0" bIns="0" rtlCol="0" anchor="t"/>
          <a:lstStyle/>
          <a:p>
            <a:pPr algn="l" indent="0" marL="0">
              <a:lnSpc>
                <a:spcPts val="2350"/>
              </a:lnSpc>
              <a:buNone/>
            </a:pPr>
            <a:r>
              <a:rPr lang="en-US" sz="1550" dirty="0">
                <a:solidFill>
                  <a:srgbClr val="15213F"/>
                </a:solidFill>
                <a:latin typeface="Microsoft YaHei" pitchFamily="34" charset="0"/>
                <a:ea typeface="Microsoft YaHei" pitchFamily="34" charset="-122"/>
                <a:cs typeface="Microsoft YaHei" pitchFamily="34" charset="-120"/>
              </a:rPr>
              <a:t>多种群协同进化 + 领域知识引导变异，在多目标优化框架下实现覆盖率与网络抗损毁性能的协同最优</a:t>
            </a:r>
            <a:endParaRPr lang="en-US" sz="1550" dirty="0"/>
          </a:p>
        </p:txBody>
      </p:sp>
      <p:sp>
        <p:nvSpPr>
          <p:cNvPr id="18" name="Text 16"/>
          <p:cNvSpPr/>
          <p:nvPr/>
        </p:nvSpPr>
        <p:spPr>
          <a:xfrm>
            <a:off x="7567970" y="2404110"/>
            <a:ext cx="2511862" cy="313968"/>
          </a:xfrm>
          <a:prstGeom prst="rect">
            <a:avLst/>
          </a:prstGeom>
          <a:noFill/>
          <a:ln/>
        </p:spPr>
        <p:txBody>
          <a:bodyPr wrap="none" lIns="0" tIns="0" rIns="0" bIns="0" rtlCol="0" anchor="t"/>
          <a:lstStyle/>
          <a:p>
            <a:pPr algn="l" indent="0" marL="0">
              <a:lnSpc>
                <a:spcPts val="2450"/>
              </a:lnSpc>
              <a:buNone/>
            </a:pPr>
            <a:r>
              <a:rPr lang="en-US" sz="1950" dirty="0">
                <a:solidFill>
                  <a:srgbClr val="3257B8"/>
                </a:solidFill>
                <a:latin typeface="Microsoft YaHei" pitchFamily="34" charset="0"/>
                <a:ea typeface="Microsoft YaHei" pitchFamily="34" charset="-122"/>
                <a:cs typeface="Microsoft YaHei" pitchFamily="34" charset="-120"/>
              </a:rPr>
              <a:t>不足与未来展望</a:t>
            </a:r>
            <a:endParaRPr lang="en-US" sz="1950" dirty="0"/>
          </a:p>
        </p:txBody>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43336" y="2924473"/>
            <a:ext cx="301347" cy="301347"/>
          </a:xfrm>
          <a:prstGeom prst="rect">
            <a:avLst/>
          </a:prstGeom>
        </p:spPr>
      </p:pic>
      <p:sp>
        <p:nvSpPr>
          <p:cNvPr id="20" name="Text 17"/>
          <p:cNvSpPr/>
          <p:nvPr/>
        </p:nvSpPr>
        <p:spPr>
          <a:xfrm>
            <a:off x="8220908" y="2918341"/>
            <a:ext cx="2511862" cy="313968"/>
          </a:xfrm>
          <a:prstGeom prst="rect">
            <a:avLst/>
          </a:prstGeom>
          <a:noFill/>
          <a:ln/>
        </p:spPr>
        <p:txBody>
          <a:bodyPr wrap="none" lIns="0" tIns="0" rIns="0" bIns="0" rtlCol="0" anchor="t"/>
          <a:lstStyle/>
          <a:p>
            <a:pPr algn="l" indent="0" marL="0">
              <a:lnSpc>
                <a:spcPts val="2450"/>
              </a:lnSpc>
              <a:buNone/>
            </a:pPr>
            <a:r>
              <a:rPr lang="en-US" sz="1950" dirty="0">
                <a:solidFill>
                  <a:srgbClr val="15213F"/>
                </a:solidFill>
                <a:latin typeface="Microsoft YaHei" pitchFamily="34" charset="0"/>
                <a:ea typeface="Microsoft YaHei" pitchFamily="34" charset="-122"/>
                <a:cs typeface="Microsoft YaHei" pitchFamily="34" charset="-120"/>
              </a:rPr>
              <a:t>三维动态场景拓展</a:t>
            </a:r>
            <a:endParaRPr lang="en-US" sz="1950" dirty="0"/>
          </a:p>
        </p:txBody>
      </p:sp>
      <p:sp>
        <p:nvSpPr>
          <p:cNvPr id="21" name="Text 18"/>
          <p:cNvSpPr/>
          <p:nvPr/>
        </p:nvSpPr>
        <p:spPr>
          <a:xfrm>
            <a:off x="8220908" y="3410307"/>
            <a:ext cx="5635704" cy="606266"/>
          </a:xfrm>
          <a:prstGeom prst="rect">
            <a:avLst/>
          </a:prstGeom>
          <a:noFill/>
          <a:ln/>
        </p:spPr>
        <p:txBody>
          <a:bodyPr wrap="square" lIns="0" tIns="0" rIns="0" bIns="0" rtlCol="0" anchor="t"/>
          <a:lstStyle/>
          <a:p>
            <a:pPr algn="l" indent="0" marL="0">
              <a:lnSpc>
                <a:spcPts val="2350"/>
              </a:lnSpc>
              <a:buNone/>
            </a:pPr>
            <a:r>
              <a:rPr lang="en-US" sz="1550" dirty="0">
                <a:solidFill>
                  <a:srgbClr val="15213F"/>
                </a:solidFill>
                <a:latin typeface="Microsoft YaHei" pitchFamily="34" charset="0"/>
                <a:ea typeface="Microsoft YaHei" pitchFamily="34" charset="-122"/>
                <a:cs typeface="Microsoft YaHei" pitchFamily="34" charset="-120"/>
              </a:rPr>
              <a:t>将二维静态场景拓展至三维连续空间，引入高机动动态干扰源，C-RRT*搜索空间向高度轴延伸，局部APF升级为三维模型</a:t>
            </a:r>
            <a:endParaRPr lang="en-US" sz="1550" dirty="0"/>
          </a:p>
        </p:txBody>
      </p:sp>
      <p:pic>
        <p:nvPicPr>
          <p:cNvPr id="2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43336" y="4378702"/>
            <a:ext cx="301347" cy="301347"/>
          </a:xfrm>
          <a:prstGeom prst="rect">
            <a:avLst/>
          </a:prstGeom>
        </p:spPr>
      </p:pic>
      <p:sp>
        <p:nvSpPr>
          <p:cNvPr id="23" name="Text 19"/>
          <p:cNvSpPr/>
          <p:nvPr/>
        </p:nvSpPr>
        <p:spPr>
          <a:xfrm>
            <a:off x="8220908" y="4372570"/>
            <a:ext cx="2511862" cy="313968"/>
          </a:xfrm>
          <a:prstGeom prst="rect">
            <a:avLst/>
          </a:prstGeom>
          <a:noFill/>
          <a:ln/>
        </p:spPr>
        <p:txBody>
          <a:bodyPr wrap="none" lIns="0" tIns="0" rIns="0" bIns="0" rtlCol="0" anchor="t"/>
          <a:lstStyle/>
          <a:p>
            <a:pPr algn="l" indent="0" marL="0">
              <a:lnSpc>
                <a:spcPts val="2450"/>
              </a:lnSpc>
              <a:buNone/>
            </a:pPr>
            <a:r>
              <a:rPr lang="en-US" sz="1950" dirty="0">
                <a:solidFill>
                  <a:srgbClr val="15213F"/>
                </a:solidFill>
                <a:latin typeface="Microsoft YaHei" pitchFamily="34" charset="0"/>
                <a:ea typeface="Microsoft YaHei" pitchFamily="34" charset="-122"/>
                <a:cs typeface="Microsoft YaHei" pitchFamily="34" charset="-120"/>
              </a:rPr>
              <a:t>多目标约束增加</a:t>
            </a:r>
            <a:endParaRPr lang="en-US" sz="1950" dirty="0"/>
          </a:p>
        </p:txBody>
      </p:sp>
      <p:sp>
        <p:nvSpPr>
          <p:cNvPr id="24" name="Text 20"/>
          <p:cNvSpPr/>
          <p:nvPr/>
        </p:nvSpPr>
        <p:spPr>
          <a:xfrm>
            <a:off x="8220908" y="4864537"/>
            <a:ext cx="5635704" cy="606266"/>
          </a:xfrm>
          <a:prstGeom prst="rect">
            <a:avLst/>
          </a:prstGeom>
          <a:noFill/>
          <a:ln/>
        </p:spPr>
        <p:txBody>
          <a:bodyPr wrap="square" lIns="0" tIns="0" rIns="0" bIns="0" rtlCol="0" anchor="t"/>
          <a:lstStyle/>
          <a:p>
            <a:pPr algn="l" indent="0" marL="0">
              <a:lnSpc>
                <a:spcPts val="2350"/>
              </a:lnSpc>
              <a:buNone/>
            </a:pPr>
            <a:r>
              <a:rPr lang="en-US" sz="1550" dirty="0">
                <a:solidFill>
                  <a:srgbClr val="15213F"/>
                </a:solidFill>
                <a:latin typeface="Microsoft YaHei" pitchFamily="34" charset="0"/>
                <a:ea typeface="Microsoft YaHei" pitchFamily="34" charset="-122"/>
                <a:cs typeface="Microsoft YaHei" pitchFamily="34" charset="-120"/>
              </a:rPr>
              <a:t>建立包含机械推进与通信功耗的综合能耗模型，在MPG-NSGA-II框架内将能耗最小化作为额外优化目标</a:t>
            </a:r>
            <a:endParaRPr lang="en-US" sz="1550" dirty="0"/>
          </a:p>
        </p:txBody>
      </p:sp>
      <p:pic>
        <p:nvPicPr>
          <p:cNvPr id="2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43336" y="5832931"/>
            <a:ext cx="301347" cy="301347"/>
          </a:xfrm>
          <a:prstGeom prst="rect">
            <a:avLst/>
          </a:prstGeom>
        </p:spPr>
      </p:pic>
      <p:sp>
        <p:nvSpPr>
          <p:cNvPr id="26" name="Text 21"/>
          <p:cNvSpPr/>
          <p:nvPr/>
        </p:nvSpPr>
        <p:spPr>
          <a:xfrm>
            <a:off x="8220908" y="5826800"/>
            <a:ext cx="2511862" cy="313968"/>
          </a:xfrm>
          <a:prstGeom prst="rect">
            <a:avLst/>
          </a:prstGeom>
          <a:noFill/>
          <a:ln/>
        </p:spPr>
        <p:txBody>
          <a:bodyPr wrap="none" lIns="0" tIns="0" rIns="0" bIns="0" rtlCol="0" anchor="t"/>
          <a:lstStyle/>
          <a:p>
            <a:pPr algn="l" indent="0" marL="0">
              <a:lnSpc>
                <a:spcPts val="2450"/>
              </a:lnSpc>
              <a:buNone/>
            </a:pPr>
            <a:r>
              <a:rPr lang="en-US" sz="1950" dirty="0">
                <a:solidFill>
                  <a:srgbClr val="15213F"/>
                </a:solidFill>
                <a:latin typeface="Microsoft YaHei" pitchFamily="34" charset="0"/>
                <a:ea typeface="Microsoft YaHei" pitchFamily="34" charset="-122"/>
                <a:cs typeface="Microsoft YaHei" pitchFamily="34" charset="-120"/>
              </a:rPr>
              <a:t>实物验证与工程落地</a:t>
            </a:r>
            <a:endParaRPr lang="en-US" sz="1950" dirty="0"/>
          </a:p>
        </p:txBody>
      </p:sp>
      <p:sp>
        <p:nvSpPr>
          <p:cNvPr id="27" name="Text 22"/>
          <p:cNvSpPr/>
          <p:nvPr/>
        </p:nvSpPr>
        <p:spPr>
          <a:xfrm>
            <a:off x="8220908" y="6318766"/>
            <a:ext cx="5635704" cy="606266"/>
          </a:xfrm>
          <a:prstGeom prst="rect">
            <a:avLst/>
          </a:prstGeom>
          <a:noFill/>
          <a:ln/>
        </p:spPr>
        <p:txBody>
          <a:bodyPr wrap="square" lIns="0" tIns="0" rIns="0" bIns="0" rtlCol="0" anchor="t"/>
          <a:lstStyle/>
          <a:p>
            <a:pPr algn="l" indent="0" marL="0">
              <a:lnSpc>
                <a:spcPts val="2350"/>
              </a:lnSpc>
              <a:buNone/>
            </a:pPr>
            <a:r>
              <a:rPr lang="en-US" sz="1550" dirty="0">
                <a:solidFill>
                  <a:srgbClr val="15213F"/>
                </a:solidFill>
                <a:latin typeface="Microsoft YaHei" pitchFamily="34" charset="0"/>
                <a:ea typeface="Microsoft YaHei" pitchFamily="34" charset="-122"/>
                <a:cs typeface="Microsoft YaHei" pitchFamily="34" charset="-120"/>
              </a:rPr>
              <a:t>结合ROS飞控系统开展半物理仿真或多机实飞测试，利用实测SINR数据校准算法判定阈值，弥补仿真与物理环境差异</a:t>
            </a:r>
            <a:endParaRPr lang="en-US" sz="1550" dirty="0"/>
          </a:p>
        </p:txBody>
      </p:sp>
      <p:pic>
        <p:nvPicPr>
          <p:cNvPr id="28" name="Image 3" descr="preencoded.png">    </p:cNvPr>
          <p:cNvPicPr>
            <a:picLocks noChangeAspect="1"/>
          </p:cNvPicPr>
          <p:nvPr/>
        </p:nvPicPr>
        <p:blipFill>
          <a:blip r:embed="rId7"/>
          <a:stretch>
            <a:fillRect/>
          </a:stretch>
        </p:blipFill>
        <p:spPr>
          <a:xfrm>
            <a:off x="133945" y="205621"/>
            <a:ext cx="1331000" cy="303133"/>
          </a:xfrm>
          <a:prstGeom prst="rect">
            <a:avLst/>
          </a:prstGeom>
        </p:spPr>
      </p:pic>
      <p:sp>
        <p:nvSpPr>
          <p:cNvPr id="29" name="Text 23"/>
          <p:cNvSpPr/>
          <p:nvPr/>
        </p:nvSpPr>
        <p:spPr>
          <a:xfrm>
            <a:off x="7155894" y="7754422"/>
            <a:ext cx="318492" cy="235744"/>
          </a:xfrm>
          <a:prstGeom prst="rect">
            <a:avLst/>
          </a:prstGeom>
          <a:noFill/>
          <a:ln/>
        </p:spPr>
        <p:txBody>
          <a:bodyPr wrap="none" lIns="0" tIns="0" rIns="0" bIns="0" rtlCol="0" anchor="t"/>
          <a:lstStyle/>
          <a:p>
            <a:pPr algn="ctr" indent="0" marL="0">
              <a:lnSpc>
                <a:spcPts val="1850"/>
              </a:lnSpc>
              <a:buNone/>
            </a:pPr>
            <a:r>
              <a:rPr lang="en-US" sz="1200" dirty="0">
                <a:solidFill>
                  <a:srgbClr val="15213F"/>
                </a:solidFill>
                <a:latin typeface="Microsoft YaHei" pitchFamily="34" charset="0"/>
                <a:ea typeface="Microsoft YaHei" pitchFamily="34" charset="-122"/>
                <a:cs typeface="Microsoft YaHei"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Shape 0"/>
          <p:cNvSpPr/>
          <p:nvPr/>
        </p:nvSpPr>
        <p:spPr>
          <a:xfrm>
            <a:off x="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Text 1"/>
          <p:cNvSpPr/>
          <p:nvPr/>
        </p:nvSpPr>
        <p:spPr>
          <a:xfrm>
            <a:off x="7364849" y="941189"/>
            <a:ext cx="5387102" cy="673418"/>
          </a:xfrm>
          <a:prstGeom prst="rect">
            <a:avLst/>
          </a:prstGeom>
          <a:noFill/>
          <a:ln/>
        </p:spPr>
        <p:txBody>
          <a:bodyPr wrap="none" lIns="0" tIns="0" rIns="0" bIns="0" rtlCol="0" anchor="t"/>
          <a:lstStyle/>
          <a:p>
            <a:pPr algn="ctr" indent="0" marL="0">
              <a:lnSpc>
                <a:spcPts val="5300"/>
              </a:lnSpc>
              <a:buNone/>
            </a:pPr>
            <a:r>
              <a:rPr lang="en-US" sz="4200" dirty="0">
                <a:solidFill>
                  <a:srgbClr val="3257B8"/>
                </a:solidFill>
                <a:latin typeface="Microsoft YaHei" pitchFamily="34" charset="0"/>
                <a:ea typeface="Microsoft YaHei" pitchFamily="34" charset="-122"/>
                <a:cs typeface="Microsoft YaHei" pitchFamily="34" charset="-120"/>
              </a:rPr>
              <a:t>谢谢各位老师！</a:t>
            </a:r>
            <a:endParaRPr lang="en-US" sz="4200" dirty="0"/>
          </a:p>
        </p:txBody>
      </p:sp>
      <p:sp>
        <p:nvSpPr>
          <p:cNvPr id="6" name="Text 2"/>
          <p:cNvSpPr/>
          <p:nvPr/>
        </p:nvSpPr>
        <p:spPr>
          <a:xfrm>
            <a:off x="6280190" y="1921669"/>
            <a:ext cx="7556421" cy="336113"/>
          </a:xfrm>
          <a:prstGeom prst="rect">
            <a:avLst/>
          </a:prstGeom>
          <a:noFill/>
          <a:ln/>
        </p:spPr>
        <p:txBody>
          <a:bodyPr wrap="none" lIns="0" tIns="0" rIns="0" bIns="0" rtlCol="0" anchor="t"/>
          <a:lstStyle/>
          <a:p>
            <a:pPr algn="ctr"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敬请批评指正</a:t>
            </a:r>
            <a:endParaRPr lang="en-US" sz="1650" dirty="0"/>
          </a:p>
        </p:txBody>
      </p:sp>
      <p:sp>
        <p:nvSpPr>
          <p:cNvPr id="7" name="Text 3"/>
          <p:cNvSpPr/>
          <p:nvPr/>
        </p:nvSpPr>
        <p:spPr>
          <a:xfrm>
            <a:off x="6280190" y="2692718"/>
            <a:ext cx="2693551" cy="336590"/>
          </a:xfrm>
          <a:prstGeom prst="rect">
            <a:avLst/>
          </a:prstGeom>
          <a:noFill/>
          <a:ln/>
        </p:spPr>
        <p:txBody>
          <a:bodyPr wrap="none" lIns="0" tIns="0" rIns="0" bIns="0" rtlCol="0" anchor="t"/>
          <a:lstStyle/>
          <a:p>
            <a:pPr algn="l" indent="0" marL="0">
              <a:lnSpc>
                <a:spcPts val="2650"/>
              </a:lnSpc>
              <a:buNone/>
            </a:pPr>
            <a:r>
              <a:rPr lang="en-US" sz="2100" dirty="0">
                <a:solidFill>
                  <a:srgbClr val="3257B8"/>
                </a:solidFill>
                <a:latin typeface="Microsoft YaHei" pitchFamily="34" charset="0"/>
                <a:ea typeface="Microsoft YaHei" pitchFamily="34" charset="-122"/>
                <a:cs typeface="Microsoft YaHei" pitchFamily="34" charset="-120"/>
              </a:rPr>
              <a:t>论文核心贡献</a:t>
            </a:r>
            <a:endParaRPr lang="en-US" sz="2100" dirty="0"/>
          </a:p>
        </p:txBody>
      </p:sp>
      <p:sp>
        <p:nvSpPr>
          <p:cNvPr id="8" name="Text 4"/>
          <p:cNvSpPr/>
          <p:nvPr/>
        </p:nvSpPr>
        <p:spPr>
          <a:xfrm>
            <a:off x="6280190" y="3233976"/>
            <a:ext cx="3515320" cy="2088237"/>
          </a:xfrm>
          <a:prstGeom prst="rect">
            <a:avLst/>
          </a:prstGeom>
          <a:noFill/>
          <a:ln/>
        </p:spPr>
        <p:txBody>
          <a:bodyPr wrap="square" lIns="0" tIns="0" rIns="0" bIns="0" rtlCol="0" anchor="t"/>
          <a:lstStyle/>
          <a:p>
            <a:pPr algn="l" marL="342900" indent="-342900">
              <a:lnSpc>
                <a:spcPts val="2600"/>
              </a:lnSpc>
              <a:buSzPct val="100000"/>
              <a:buChar char="•"/>
            </a:pPr>
            <a:r>
              <a:rPr lang="en-US" sz="1650" b="1" dirty="0">
                <a:solidFill>
                  <a:srgbClr val="15213F"/>
                </a:solidFill>
                <a:latin typeface="Microsoft YaHei" pitchFamily="34" charset="0"/>
                <a:ea typeface="Microsoft YaHei" pitchFamily="34" charset="-122"/>
                <a:cs typeface="Microsoft YaHei" pitchFamily="34" charset="-120"/>
              </a:rPr>
              <a:t>C-RRT*-APF：</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分层分簇通信保持路径规划，平均到达时间降低29%，通信连通率提升17%</a:t>
            </a:r>
            <a:endParaRPr lang="en-US" sz="1650" dirty="0"/>
          </a:p>
          <a:p>
            <a:pPr algn="l" marL="342900" indent="-342900">
              <a:lnSpc>
                <a:spcPts val="2600"/>
              </a:lnSpc>
              <a:buSzPct val="100000"/>
              <a:buChar char="•"/>
            </a:pPr>
            <a:r>
              <a:rPr lang="en-US" sz="1650" b="1" dirty="0">
                <a:solidFill>
                  <a:srgbClr val="15213F"/>
                </a:solidFill>
                <a:latin typeface="Microsoft YaHei" pitchFamily="34" charset="0"/>
                <a:ea typeface="Microsoft YaHei" pitchFamily="34" charset="-122"/>
                <a:cs typeface="Microsoft YaHei" pitchFamily="34" charset="-120"/>
              </a:rPr>
              <a:t>MPG-NSGA-II：</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多种群引导协同进化区域覆盖，各连通度目标下覆盖率平均提升约7%</a:t>
            </a:r>
            <a:endParaRPr lang="en-US" sz="1650" dirty="0"/>
          </a:p>
        </p:txBody>
      </p:sp>
      <p:sp>
        <p:nvSpPr>
          <p:cNvPr id="9" name="Text 5"/>
          <p:cNvSpPr/>
          <p:nvPr/>
        </p:nvSpPr>
        <p:spPr>
          <a:xfrm>
            <a:off x="10328910" y="2692718"/>
            <a:ext cx="2693551" cy="336590"/>
          </a:xfrm>
          <a:prstGeom prst="rect">
            <a:avLst/>
          </a:prstGeom>
          <a:noFill/>
          <a:ln/>
        </p:spPr>
        <p:txBody>
          <a:bodyPr wrap="none" lIns="0" tIns="0" rIns="0" bIns="0" rtlCol="0" anchor="t"/>
          <a:lstStyle/>
          <a:p>
            <a:pPr algn="l" indent="0" marL="0">
              <a:lnSpc>
                <a:spcPts val="2650"/>
              </a:lnSpc>
              <a:buNone/>
            </a:pPr>
            <a:r>
              <a:rPr lang="en-US" sz="2100" dirty="0">
                <a:solidFill>
                  <a:srgbClr val="3257B8"/>
                </a:solidFill>
                <a:latin typeface="Microsoft YaHei" pitchFamily="34" charset="0"/>
                <a:ea typeface="Microsoft YaHei" pitchFamily="34" charset="-122"/>
                <a:cs typeface="Microsoft YaHei" pitchFamily="34" charset="-120"/>
              </a:rPr>
              <a:t>基本信息</a:t>
            </a:r>
            <a:endParaRPr lang="en-US" sz="2100" dirty="0"/>
          </a:p>
        </p:txBody>
      </p:sp>
      <p:sp>
        <p:nvSpPr>
          <p:cNvPr id="10" name="Text 6"/>
          <p:cNvSpPr/>
          <p:nvPr/>
        </p:nvSpPr>
        <p:spPr>
          <a:xfrm>
            <a:off x="10328910" y="3233976"/>
            <a:ext cx="3515320" cy="336113"/>
          </a:xfrm>
          <a:prstGeom prst="rect">
            <a:avLst/>
          </a:prstGeom>
          <a:noFill/>
          <a:ln/>
        </p:spPr>
        <p:txBody>
          <a:bodyPr wrap="none" lIns="0" tIns="0" rIns="0" bIns="0" rtlCol="0" anchor="t"/>
          <a:lstStyle/>
          <a:p>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答辩人：</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何运璐</a:t>
            </a:r>
            <a:endParaRPr lang="en-US" sz="1650" dirty="0"/>
          </a:p>
        </p:txBody>
      </p:sp>
      <p:sp>
        <p:nvSpPr>
          <p:cNvPr id="11" name="Text 7"/>
          <p:cNvSpPr/>
          <p:nvPr/>
        </p:nvSpPr>
        <p:spPr>
          <a:xfrm>
            <a:off x="10328910" y="3754279"/>
            <a:ext cx="3515320" cy="336113"/>
          </a:xfrm>
          <a:prstGeom prst="rect">
            <a:avLst/>
          </a:prstGeom>
          <a:noFill/>
          <a:ln/>
        </p:spPr>
        <p:txBody>
          <a:bodyPr wrap="none" lIns="0" tIns="0" rIns="0" bIns="0" rtlCol="0" anchor="t"/>
          <a:lstStyle/>
          <a:p>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导　师：</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丁良辉 教授</a:t>
            </a:r>
            <a:endParaRPr lang="en-US" sz="1650" dirty="0"/>
          </a:p>
        </p:txBody>
      </p:sp>
      <p:sp>
        <p:nvSpPr>
          <p:cNvPr id="12" name="Text 8"/>
          <p:cNvSpPr/>
          <p:nvPr/>
        </p:nvSpPr>
        <p:spPr>
          <a:xfrm>
            <a:off x="10328910" y="4274582"/>
            <a:ext cx="3515320" cy="336113"/>
          </a:xfrm>
          <a:prstGeom prst="rect">
            <a:avLst/>
          </a:prstGeom>
          <a:noFill/>
          <a:ln/>
        </p:spPr>
        <p:txBody>
          <a:bodyPr wrap="none" lIns="0" tIns="0" rIns="0" bIns="0" rtlCol="0" anchor="t"/>
          <a:lstStyle/>
          <a:p>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院　系：</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上海交通大学 集成电路学院</a:t>
            </a:r>
            <a:endParaRPr lang="en-US" sz="1650" dirty="0"/>
          </a:p>
        </p:txBody>
      </p:sp>
      <p:sp>
        <p:nvSpPr>
          <p:cNvPr id="13" name="Text 9"/>
          <p:cNvSpPr/>
          <p:nvPr/>
        </p:nvSpPr>
        <p:spPr>
          <a:xfrm>
            <a:off x="10328910" y="4794885"/>
            <a:ext cx="3515320" cy="336113"/>
          </a:xfrm>
          <a:prstGeom prst="rect">
            <a:avLst/>
          </a:prstGeom>
          <a:noFill/>
          <a:ln/>
        </p:spPr>
        <p:txBody>
          <a:bodyPr wrap="none" lIns="0" tIns="0" rIns="0" bIns="0" rtlCol="0" anchor="t"/>
          <a:lstStyle/>
          <a:p>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专　业：</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电子与通信工程</a:t>
            </a:r>
            <a:endParaRPr lang="en-US" sz="1650" dirty="0"/>
          </a:p>
        </p:txBody>
      </p:sp>
      <p:sp>
        <p:nvSpPr>
          <p:cNvPr id="14" name="Text 10"/>
          <p:cNvSpPr/>
          <p:nvPr/>
        </p:nvSpPr>
        <p:spPr>
          <a:xfrm>
            <a:off x="10328910" y="5315188"/>
            <a:ext cx="3515320" cy="336113"/>
          </a:xfrm>
          <a:prstGeom prst="rect">
            <a:avLst/>
          </a:prstGeom>
          <a:noFill/>
          <a:ln/>
        </p:spPr>
        <p:txBody>
          <a:bodyPr wrap="none" lIns="0" tIns="0" rIns="0" bIns="0" rtlCol="0" anchor="t"/>
          <a:lstStyle/>
          <a:p>
            <a:pPr algn="l" indent="0" marL="0">
              <a:lnSpc>
                <a:spcPts val="2600"/>
              </a:lnSpc>
              <a:buNone/>
            </a:pPr>
            <a:r>
              <a:rPr lang="en-US" sz="1650" b="1" dirty="0">
                <a:solidFill>
                  <a:srgbClr val="15213F"/>
                </a:solidFill>
                <a:latin typeface="Microsoft YaHei" pitchFamily="34" charset="0"/>
                <a:ea typeface="Microsoft YaHei" pitchFamily="34" charset="-122"/>
                <a:cs typeface="Microsoft YaHei" pitchFamily="34" charset="-120"/>
              </a:rPr>
              <a:t>日　期：</a:t>
            </a:r>
            <a:pPr algn="l" indent="0" marL="0">
              <a:lnSpc>
                <a:spcPts val="2600"/>
              </a:lnSpc>
              <a:buNone/>
            </a:pPr>
            <a:r>
              <a:rPr lang="en-US" sz="1650" dirty="0">
                <a:solidFill>
                  <a:srgbClr val="15213F"/>
                </a:solidFill>
                <a:latin typeface="Microsoft YaHei" pitchFamily="34" charset="0"/>
                <a:ea typeface="Microsoft YaHei" pitchFamily="34" charset="-122"/>
                <a:cs typeface="Microsoft YaHei" pitchFamily="34" charset="-120"/>
              </a:rPr>
              <a:t>2026年4月</a:t>
            </a:r>
            <a:endParaRPr lang="en-US" sz="1650" dirty="0"/>
          </a:p>
        </p:txBody>
      </p:sp>
      <p:sp>
        <p:nvSpPr>
          <p:cNvPr id="15" name="Shape 11"/>
          <p:cNvSpPr/>
          <p:nvPr/>
        </p:nvSpPr>
        <p:spPr>
          <a:xfrm>
            <a:off x="6280190" y="6065758"/>
            <a:ext cx="7556421" cy="1222534"/>
          </a:xfrm>
          <a:prstGeom prst="roundRect">
            <a:avLst>
              <a:gd name="adj" fmla="val 748"/>
            </a:avLst>
          </a:prstGeom>
          <a:solidFill>
            <a:srgbClr val="C3CFEF"/>
          </a:solidFill>
          <a:ln/>
        </p:spPr>
      </p:sp>
      <p:pic>
        <p:nvPicPr>
          <p:cNvPr id="16" name="Image 2" descr="preencoded.png">    </p:cNvPr>
          <p:cNvPicPr>
            <a:picLocks noChangeAspect="1"/>
          </p:cNvPicPr>
          <p:nvPr/>
        </p:nvPicPr>
        <p:blipFill>
          <a:blip r:embed="rId3"/>
          <a:stretch>
            <a:fillRect/>
          </a:stretch>
        </p:blipFill>
        <p:spPr>
          <a:xfrm>
            <a:off x="6495574" y="6397943"/>
            <a:ext cx="269319" cy="215384"/>
          </a:xfrm>
          <a:prstGeom prst="rect">
            <a:avLst/>
          </a:prstGeom>
        </p:spPr>
      </p:pic>
      <p:sp>
        <p:nvSpPr>
          <p:cNvPr id="17" name="Text 12"/>
          <p:cNvSpPr/>
          <p:nvPr/>
        </p:nvSpPr>
        <p:spPr>
          <a:xfrm>
            <a:off x="6980277" y="6324243"/>
            <a:ext cx="6640949" cy="672227"/>
          </a:xfrm>
          <a:prstGeom prst="rect">
            <a:avLst/>
          </a:prstGeom>
          <a:noFill/>
          <a:ln/>
        </p:spPr>
        <p:txBody>
          <a:bodyPr wrap="square" lIns="0" tIns="0" rIns="0" bIns="0" rtlCol="0" anchor="t"/>
          <a:lstStyle/>
          <a:p>
            <a:pPr algn="l" indent="0" marL="0">
              <a:lnSpc>
                <a:spcPts val="2600"/>
              </a:lnSpc>
              <a:buNone/>
            </a:pPr>
            <a:r>
              <a:rPr lang="en-US" sz="1650" dirty="0">
                <a:solidFill>
                  <a:srgbClr val="000000"/>
                </a:solidFill>
                <a:latin typeface="Microsoft YaHei" pitchFamily="34" charset="0"/>
                <a:ea typeface="Microsoft YaHei" pitchFamily="34" charset="-122"/>
                <a:cs typeface="Microsoft YaHei" pitchFamily="34" charset="-120"/>
              </a:rPr>
              <a:t>已录用论文：何运璐等，《复杂对抗环境下集群连通保持分簇路径规划》，指挥与控制学报，2026</a:t>
            </a:r>
            <a:endParaRPr lang="en-US" sz="1650" dirty="0"/>
          </a:p>
        </p:txBody>
      </p:sp>
      <p:pic>
        <p:nvPicPr>
          <p:cNvPr id="18" name="Image 3" descr="preencoded.png">    </p:cNvPr>
          <p:cNvPicPr>
            <a:picLocks noChangeAspect="1"/>
          </p:cNvPicPr>
          <p:nvPr/>
        </p:nvPicPr>
        <p:blipFill>
          <a:blip r:embed="rId4"/>
          <a:stretch>
            <a:fillRect/>
          </a:stretch>
        </p:blipFill>
        <p:spPr>
          <a:xfrm>
            <a:off x="5622488" y="208955"/>
            <a:ext cx="1351836" cy="307896"/>
          </a:xfrm>
          <a:prstGeom prst="rect">
            <a:avLst/>
          </a:prstGeom>
        </p:spPr>
      </p:pic>
      <p:sp>
        <p:nvSpPr>
          <p:cNvPr id="19" name="Text 13"/>
          <p:cNvSpPr/>
          <p:nvPr/>
        </p:nvSpPr>
        <p:spPr>
          <a:xfrm>
            <a:off x="5622488" y="7742753"/>
            <a:ext cx="366593" cy="247769"/>
          </a:xfrm>
          <a:prstGeom prst="rect">
            <a:avLst/>
          </a:prstGeom>
          <a:noFill/>
          <a:ln/>
        </p:spPr>
        <p:txBody>
          <a:bodyPr wrap="none" lIns="0" tIns="0" rIns="0" bIns="0" rtlCol="0" anchor="t"/>
          <a:lstStyle/>
          <a:p>
            <a:pPr algn="l" indent="0" marL="0">
              <a:lnSpc>
                <a:spcPts val="1950"/>
              </a:lnSpc>
              <a:buNone/>
            </a:pPr>
            <a:r>
              <a:rPr lang="en-US" sz="1250" dirty="0">
                <a:solidFill>
                  <a:srgbClr val="15213F"/>
                </a:solidFill>
                <a:latin typeface="Microsoft YaHei" pitchFamily="34" charset="0"/>
                <a:ea typeface="Microsoft YaHei" pitchFamily="34" charset="-122"/>
                <a:cs typeface="Microsoft YaHei" pitchFamily="34" charset="-120"/>
              </a:rPr>
              <a:t>22</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2026-04-28T05:44:34Z</dcterms:created>
  <dcterms:modified xsi:type="dcterms:W3CDTF">2026-04-28T05:44:34Z</dcterms:modified>
</cp:coreProperties>
</file>