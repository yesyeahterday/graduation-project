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78" r:id="rId10"/>
    <p:sldId id="264" r:id="rId11"/>
    <p:sldId id="265" r:id="rId12"/>
    <p:sldId id="266" r:id="rId13"/>
    <p:sldId id="279" r:id="rId14"/>
    <p:sldId id="280" r:id="rId15"/>
    <p:sldId id="267" r:id="rId16"/>
    <p:sldId id="268" r:id="rId17"/>
    <p:sldId id="269" r:id="rId18"/>
    <p:sldId id="281" r:id="rId19"/>
    <p:sldId id="270" r:id="rId20"/>
    <p:sldId id="271" r:id="rId21"/>
    <p:sldId id="282" r:id="rId22"/>
    <p:sldId id="272" r:id="rId23"/>
    <p:sldId id="283" r:id="rId24"/>
    <p:sldId id="273" r:id="rId25"/>
    <p:sldId id="275" r:id="rId26"/>
    <p:sldId id="276" r:id="rId27"/>
    <p:sldId id="27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680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3" d="100"/>
          <a:sy n="163" d="100"/>
        </p:scale>
        <p:origin x="138" y="6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312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6450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9620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3022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81165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66223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845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6" Type="http://schemas.microsoft.com/office/2007/relationships/hdphoto" Target="../media/hdphoto1.wdp"/></Relationships>
</file>

<file path=ppt/slides/_rels/slide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 Id="rId5" Type="http://schemas.microsoft.com/office/2007/relationships/hdphoto" Target="../media/hdphoto1.wdp"/></Relationships>
</file>

<file path=ppt/slides/_rels/slide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 Id="rId5" Type="http://schemas.microsoft.com/office/2007/relationships/hdphoto" Target="../media/hdphoto1.wdp"/></Relationships>
</file>

<file path=ppt/slides/_rels/slide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 Id="rId5" Type="http://schemas.microsoft.com/office/2007/relationships/hdphoto" Target="../media/hdphoto1.wdp"/></Relationships>
</file>

<file path=ppt/slides/_rels/slide1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 Id="rId5" Type="http://schemas.microsoft.com/office/2007/relationships/hdphoto" Target="../media/hdphoto1.wdp"/></Relationships>
</file>

<file path=ppt/slides/_rels/slide1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 Id="rId5" Type="http://schemas.microsoft.com/office/2007/relationships/hdphoto" Target="../media/hdphoto1.wdp"/></Relationships>
</file>

<file path=ppt/slides/_rels/slide1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microsoft.com/office/2007/relationships/hdphoto" Target="../media/hdphoto1.wdp"/></Relationships>
</file>

<file path=ppt/slides/_rels/slide19.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microsoft.com/office/2007/relationships/hdphoto" Target="../media/hdphoto1.wdp"/></Relationships>
</file>

<file path=ppt/slides/_rels/slide20.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microsoft.com/office/2007/relationships/hdphoto" Target="../media/hdphoto1.wdp"/></Relationships>
</file>

<file path=ppt/slides/_rels/slide2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2.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microsoft.com/office/2007/relationships/hdphoto" Target="../media/hdphoto1.wdp"/></Relationships>
</file>

<file path=ppt/slides/_rels/slide2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microsoft.com/office/2007/relationships/hdphoto" Target="../media/hdphoto1.wdp"/></Relationships>
</file>

<file path=ppt/slides/_rels/slide2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microsoft.com/office/2007/relationships/hdphoto" Target="../media/hdphoto1.wdp"/></Relationships>
</file>

<file path=ppt/slides/_rels/slide2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88E303F4-799C-4E88-ACB3-F2104D150E0C}"/>
              </a:ext>
            </a:extLst>
          </p:cNvPr>
          <p:cNvCxnSpPr>
            <a:cxnSpLocks/>
          </p:cNvCxnSpPr>
          <p:nvPr/>
        </p:nvCxnSpPr>
        <p:spPr>
          <a:xfrm>
            <a:off x="0" y="981219"/>
            <a:ext cx="9144000" cy="465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F159CB96-E8FE-43C0-AA33-5D01E11F5FFE}"/>
              </a:ext>
            </a:extLst>
          </p:cNvPr>
          <p:cNvSpPr/>
          <p:nvPr/>
        </p:nvSpPr>
        <p:spPr>
          <a:xfrm>
            <a:off x="553" y="1058614"/>
            <a:ext cx="9143447" cy="1854567"/>
          </a:xfrm>
          <a:prstGeom prst="rect">
            <a:avLst/>
          </a:prstGeom>
          <a:solidFill>
            <a:schemeClr val="accent1">
              <a:lumMod val="50000"/>
              <a:alpha val="9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hape 0"/>
          <p:cNvSpPr/>
          <p:nvPr/>
        </p:nvSpPr>
        <p:spPr>
          <a:xfrm>
            <a:off x="1371600" y="914400"/>
            <a:ext cx="6400800" cy="0"/>
          </a:xfrm>
          <a:prstGeom prst="line">
            <a:avLst/>
          </a:prstGeom>
          <a:noFill/>
          <a:ln w="12700">
            <a:solidFill>
              <a:srgbClr val="FFFFFF"/>
            </a:solidFill>
            <a:prstDash val="solid"/>
          </a:ln>
        </p:spPr>
      </p:sp>
      <p:sp>
        <p:nvSpPr>
          <p:cNvPr id="3" name="Text 1"/>
          <p:cNvSpPr/>
          <p:nvPr/>
        </p:nvSpPr>
        <p:spPr>
          <a:xfrm>
            <a:off x="914400" y="1051560"/>
            <a:ext cx="7315200" cy="1097280"/>
          </a:xfrm>
          <a:prstGeom prst="rect">
            <a:avLst/>
          </a:prstGeom>
          <a:noFill/>
          <a:ln/>
        </p:spPr>
        <p:txBody>
          <a:bodyPr wrap="square" rtlCol="0" anchor="ctr"/>
          <a:lstStyle/>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复杂城市作战环境下大规模无人机集群</a:t>
            </a:r>
            <a:endParaRPr lang="en-US" sz="2400" dirty="0"/>
          </a:p>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通信保持任务规划研究</a:t>
            </a:r>
            <a:endParaRPr lang="en-US" sz="2400" dirty="0"/>
          </a:p>
        </p:txBody>
      </p:sp>
      <p:sp>
        <p:nvSpPr>
          <p:cNvPr id="4" name="Text 2"/>
          <p:cNvSpPr/>
          <p:nvPr/>
        </p:nvSpPr>
        <p:spPr>
          <a:xfrm>
            <a:off x="914400" y="2150012"/>
            <a:ext cx="7315200" cy="548640"/>
          </a:xfrm>
          <a:prstGeom prst="rect">
            <a:avLst/>
          </a:prstGeom>
          <a:noFill/>
          <a:ln/>
        </p:spPr>
        <p:txBody>
          <a:bodyPr wrap="square"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Connectivity-Preserving Mission Planning for Large-Scale UAV Swarms</a:t>
            </a:r>
            <a:endParaRPr lang="en-US" sz="1200" dirty="0">
              <a:solidFill>
                <a:schemeClr val="bg1"/>
              </a:solidFill>
            </a:endParaRPr>
          </a:p>
          <a:p>
            <a:pPr marL="0" indent="0" algn="ctr">
              <a:buNone/>
            </a:pPr>
            <a:r>
              <a:rPr lang="en-US" sz="1200" dirty="0">
                <a:solidFill>
                  <a:schemeClr val="bg1"/>
                </a:solidFill>
                <a:latin typeface="Calibri" pitchFamily="34" charset="0"/>
                <a:ea typeface="Calibri" pitchFamily="34" charset="-122"/>
                <a:cs typeface="Calibri" pitchFamily="34" charset="-120"/>
              </a:rPr>
              <a:t>in Complex Urban Combat Environments</a:t>
            </a:r>
            <a:endParaRPr lang="en-US" sz="1200" dirty="0">
              <a:solidFill>
                <a:schemeClr val="bg1"/>
              </a:solidFill>
            </a:endParaRPr>
          </a:p>
        </p:txBody>
      </p:sp>
      <p:sp>
        <p:nvSpPr>
          <p:cNvPr id="5" name="Shape 3"/>
          <p:cNvSpPr/>
          <p:nvPr/>
        </p:nvSpPr>
        <p:spPr>
          <a:xfrm>
            <a:off x="1312984" y="3473548"/>
            <a:ext cx="6400800" cy="0"/>
          </a:xfrm>
          <a:prstGeom prst="line">
            <a:avLst/>
          </a:prstGeom>
          <a:noFill/>
          <a:ln w="12700">
            <a:solidFill>
              <a:srgbClr val="FFFFFF"/>
            </a:solidFill>
            <a:prstDash val="solid"/>
          </a:ln>
        </p:spPr>
      </p:sp>
      <p:sp>
        <p:nvSpPr>
          <p:cNvPr id="6" name="Text 4"/>
          <p:cNvSpPr/>
          <p:nvPr/>
        </p:nvSpPr>
        <p:spPr>
          <a:xfrm>
            <a:off x="3808827" y="2996380"/>
            <a:ext cx="1882727" cy="1188720"/>
          </a:xfrm>
          <a:prstGeom prst="rect">
            <a:avLst/>
          </a:prstGeom>
          <a:noFill/>
          <a:ln/>
        </p:spPr>
        <p:txBody>
          <a:bodyPr wrap="square" rtlCol="0" anchor="ctr"/>
          <a:lstStyle/>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答 辩 人</a:t>
            </a:r>
            <a:r>
              <a:rPr lang="en-US" sz="1200" dirty="0">
                <a:latin typeface="Microsoft YaHei" pitchFamily="34" charset="0"/>
                <a:ea typeface="Microsoft YaHei" pitchFamily="34" charset="-122"/>
                <a:cs typeface="Microsoft YaHei" pitchFamily="34" charset="-120"/>
              </a:rPr>
              <a:t xml:space="preserve">： </a:t>
            </a:r>
            <a:r>
              <a:rPr lang="en-US" sz="1200" dirty="0">
                <a:solidFill>
                  <a:schemeClr val="accent1">
                    <a:lumMod val="75000"/>
                  </a:schemeClr>
                </a:solidFill>
                <a:latin typeface="Microsoft YaHei" pitchFamily="34" charset="0"/>
                <a:ea typeface="Microsoft YaHei" pitchFamily="34" charset="-122"/>
                <a:cs typeface="Microsoft YaHei" pitchFamily="34" charset="-120"/>
              </a:rPr>
              <a:t>何运璐</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导　  师</a:t>
            </a:r>
            <a:r>
              <a:rPr lang="en-US" sz="1200" dirty="0">
                <a:solidFill>
                  <a:schemeClr val="accent1">
                    <a:lumMod val="75000"/>
                  </a:schemeClr>
                </a:solidFill>
                <a:latin typeface="Microsoft YaHei" pitchFamily="34" charset="0"/>
                <a:ea typeface="Microsoft YaHei" pitchFamily="34" charset="-122"/>
                <a:cs typeface="Microsoft YaHei" pitchFamily="34" charset="-120"/>
              </a:rPr>
              <a:t>： 丁良辉 教授</a:t>
            </a:r>
          </a:p>
          <a:p>
            <a:pPr marL="0" indent="0">
              <a:lnSpc>
                <a:spcPct val="150000"/>
              </a:lnSpc>
              <a:buNone/>
            </a:pPr>
            <a:r>
              <a:rPr lang="zh-CN" altLang="en-US" sz="1200" b="1" dirty="0">
                <a:solidFill>
                  <a:schemeClr val="accent1">
                    <a:lumMod val="75000"/>
                  </a:schemeClr>
                </a:solidFill>
                <a:latin typeface="Microsoft YaHei" pitchFamily="34" charset="0"/>
                <a:ea typeface="Microsoft YaHei" pitchFamily="34" charset="-122"/>
              </a:rPr>
              <a:t>学位类型</a:t>
            </a:r>
            <a:r>
              <a:rPr lang="zh-CN" altLang="en-US" sz="1200" dirty="0">
                <a:solidFill>
                  <a:schemeClr val="accent1">
                    <a:lumMod val="75000"/>
                  </a:schemeClr>
                </a:solidFill>
                <a:latin typeface="Microsoft YaHei" pitchFamily="34" charset="0"/>
                <a:ea typeface="Microsoft YaHei" pitchFamily="34" charset="-122"/>
              </a:rPr>
              <a:t>：专业型硕士</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日　  期</a:t>
            </a:r>
            <a:r>
              <a:rPr lang="en-US" sz="1200" dirty="0">
                <a:latin typeface="Microsoft YaHei" pitchFamily="34" charset="0"/>
                <a:ea typeface="Microsoft YaHei" pitchFamily="34" charset="-122"/>
                <a:cs typeface="Microsoft YaHei" pitchFamily="34" charset="-120"/>
              </a:rPr>
              <a:t xml:space="preserve">：  </a:t>
            </a:r>
            <a:r>
              <a:rPr lang="en-US" sz="1200" dirty="0">
                <a:solidFill>
                  <a:schemeClr val="accent1">
                    <a:lumMod val="75000"/>
                  </a:schemeClr>
                </a:solidFill>
                <a:latin typeface="Microsoft YaHei" pitchFamily="34" charset="0"/>
                <a:ea typeface="Microsoft YaHei" pitchFamily="34" charset="-122"/>
                <a:cs typeface="Microsoft YaHei" pitchFamily="34" charset="-120"/>
              </a:rPr>
              <a:t>2026 年 4 月</a:t>
            </a:r>
            <a:endParaRPr lang="en-US" sz="1200" dirty="0">
              <a:solidFill>
                <a:schemeClr val="accent1">
                  <a:lumMod val="75000"/>
                </a:schemeClr>
              </a:solidFill>
            </a:endParaRPr>
          </a:p>
        </p:txBody>
      </p:sp>
      <p:sp>
        <p:nvSpPr>
          <p:cNvPr id="7" name="Text 5"/>
          <p:cNvSpPr/>
          <p:nvPr/>
        </p:nvSpPr>
        <p:spPr>
          <a:xfrm>
            <a:off x="3457721" y="4572000"/>
            <a:ext cx="2584938" cy="320040"/>
          </a:xfrm>
          <a:prstGeom prst="rect">
            <a:avLst/>
          </a:prstGeom>
          <a:noFill/>
          <a:ln/>
        </p:spPr>
        <p:txBody>
          <a:bodyPr wrap="square" rtlCol="0" anchor="ctr"/>
          <a:lstStyle/>
          <a:p>
            <a:pPr marL="0" indent="0" algn="ctr">
              <a:buNone/>
            </a:pPr>
            <a:r>
              <a:rPr lang="en-US" sz="1000" dirty="0">
                <a:solidFill>
                  <a:schemeClr val="accent1">
                    <a:lumMod val="75000"/>
                  </a:schemeClr>
                </a:solidFill>
                <a:latin typeface="Microsoft YaHei" pitchFamily="34" charset="0"/>
                <a:ea typeface="Microsoft YaHei" pitchFamily="34" charset="-122"/>
                <a:cs typeface="Microsoft YaHei" pitchFamily="34" charset="-120"/>
              </a:rPr>
              <a:t>上海交通大学  电子与通信工程  工学硕士</a:t>
            </a:r>
            <a:endParaRPr lang="en-US" sz="1000" dirty="0">
              <a:solidFill>
                <a:schemeClr val="accent1">
                  <a:lumMod val="75000"/>
                </a:schemeClr>
              </a:solidFill>
            </a:endParaRPr>
          </a:p>
        </p:txBody>
      </p:sp>
      <p:pic>
        <p:nvPicPr>
          <p:cNvPr id="8" name="Image 0" descr="/home/claude/sjtu_logo.png"/>
          <p:cNvPicPr>
            <a:picLocks noChangeAspect="1"/>
          </p:cNvPicPr>
          <p:nvPr/>
        </p:nvPicPr>
        <p:blipFill>
          <a:blip r:embed="rId3"/>
          <a:stretch>
            <a:fillRect/>
          </a:stretch>
        </p:blipFill>
        <p:spPr>
          <a:xfrm>
            <a:off x="3652910" y="420624"/>
            <a:ext cx="2194560" cy="493776"/>
          </a:xfrm>
          <a:prstGeom prst="rect">
            <a:avLst/>
          </a:prstGeom>
        </p:spPr>
      </p:pic>
      <p:cxnSp>
        <p:nvCxnSpPr>
          <p:cNvPr id="19" name="直接连接符 18">
            <a:extLst>
              <a:ext uri="{FF2B5EF4-FFF2-40B4-BE49-F238E27FC236}">
                <a16:creationId xmlns:a16="http://schemas.microsoft.com/office/drawing/2014/main" id="{A27FE558-5579-47C8-AE21-90F12B90F15E}"/>
              </a:ext>
            </a:extLst>
          </p:cNvPr>
          <p:cNvCxnSpPr>
            <a:cxnSpLocks/>
          </p:cNvCxnSpPr>
          <p:nvPr/>
        </p:nvCxnSpPr>
        <p:spPr>
          <a:xfrm>
            <a:off x="553" y="2991726"/>
            <a:ext cx="9144000" cy="465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答辩目录</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0" y="502920"/>
            <a:ext cx="73152" cy="4640580"/>
          </a:xfrm>
          <a:prstGeom prst="rect">
            <a:avLst/>
          </a:prstGeom>
          <a:solidFill>
            <a:srgbClr val="183A6A"/>
          </a:solidFill>
          <a:ln/>
        </p:spPr>
      </p:sp>
      <p:sp>
        <p:nvSpPr>
          <p:cNvPr id="7" name="Text 4"/>
          <p:cNvSpPr/>
          <p:nvPr/>
        </p:nvSpPr>
        <p:spPr>
          <a:xfrm>
            <a:off x="320040" y="594360"/>
            <a:ext cx="3657600" cy="274320"/>
          </a:xfrm>
          <a:prstGeom prst="rect">
            <a:avLst/>
          </a:prstGeom>
          <a:noFill/>
          <a:ln/>
        </p:spPr>
        <p:txBody>
          <a:bodyPr wrap="square" lIns="0" tIns="0" rIns="0" bIns="0" rtlCol="0" anchor="ctr"/>
          <a:lstStyle/>
          <a:p>
            <a:pPr marL="0" indent="0">
              <a:buNone/>
            </a:pPr>
            <a:r>
              <a:rPr lang="en-US" sz="1100" b="1" kern="0" spc="600" dirty="0">
                <a:solidFill>
                  <a:srgbClr val="B0B8C8"/>
                </a:solidFill>
                <a:latin typeface="Calibri" pitchFamily="34" charset="0"/>
                <a:ea typeface="Calibri" pitchFamily="34" charset="-122"/>
                <a:cs typeface="Calibri" pitchFamily="34" charset="-120"/>
              </a:rPr>
              <a:t>CONTENTS</a:t>
            </a:r>
            <a:endParaRPr lang="en-US" sz="1100" dirty="0"/>
          </a:p>
        </p:txBody>
      </p:sp>
      <p:sp>
        <p:nvSpPr>
          <p:cNvPr id="8" name="Shape 5"/>
          <p:cNvSpPr/>
          <p:nvPr/>
        </p:nvSpPr>
        <p:spPr>
          <a:xfrm>
            <a:off x="457200" y="960120"/>
            <a:ext cx="594360" cy="640080"/>
          </a:xfrm>
          <a:prstGeom prst="rect">
            <a:avLst/>
          </a:prstGeom>
          <a:solidFill>
            <a:srgbClr val="183A6A"/>
          </a:solidFill>
          <a:ln/>
        </p:spPr>
      </p:sp>
      <p:sp>
        <p:nvSpPr>
          <p:cNvPr id="9" name="Text 6"/>
          <p:cNvSpPr/>
          <p:nvPr/>
        </p:nvSpPr>
        <p:spPr>
          <a:xfrm>
            <a:off x="45720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0" name="Text 7"/>
          <p:cNvSpPr/>
          <p:nvPr/>
        </p:nvSpPr>
        <p:spPr>
          <a:xfrm>
            <a:off x="118872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研究背景与动机</a:t>
            </a:r>
            <a:endParaRPr lang="en-US" sz="1300" dirty="0"/>
          </a:p>
        </p:txBody>
      </p:sp>
      <p:sp>
        <p:nvSpPr>
          <p:cNvPr id="11" name="Shape 8"/>
          <p:cNvSpPr/>
          <p:nvPr/>
        </p:nvSpPr>
        <p:spPr>
          <a:xfrm>
            <a:off x="1188720" y="1600200"/>
            <a:ext cx="2971800" cy="0"/>
          </a:xfrm>
          <a:prstGeom prst="line">
            <a:avLst/>
          </a:prstGeom>
          <a:noFill/>
          <a:ln w="19050">
            <a:solidFill>
              <a:srgbClr val="E8EDF5"/>
            </a:solidFill>
            <a:prstDash val="solid"/>
          </a:ln>
        </p:spPr>
      </p:sp>
      <p:sp>
        <p:nvSpPr>
          <p:cNvPr id="12" name="Shape 9"/>
          <p:cNvSpPr/>
          <p:nvPr/>
        </p:nvSpPr>
        <p:spPr>
          <a:xfrm>
            <a:off x="457200" y="2103120"/>
            <a:ext cx="594360" cy="640080"/>
          </a:xfrm>
          <a:prstGeom prst="rect">
            <a:avLst/>
          </a:prstGeom>
          <a:solidFill>
            <a:srgbClr val="183A6A"/>
          </a:solidFill>
          <a:ln/>
        </p:spPr>
      </p:sp>
      <p:sp>
        <p:nvSpPr>
          <p:cNvPr id="13" name="Text 10"/>
          <p:cNvSpPr/>
          <p:nvPr/>
        </p:nvSpPr>
        <p:spPr>
          <a:xfrm>
            <a:off x="45720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1"/>
          <p:cNvSpPr/>
          <p:nvPr/>
        </p:nvSpPr>
        <p:spPr>
          <a:xfrm>
            <a:off x="118872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国内外研究现状</a:t>
            </a:r>
            <a:endParaRPr lang="en-US" sz="1300" dirty="0"/>
          </a:p>
        </p:txBody>
      </p:sp>
      <p:sp>
        <p:nvSpPr>
          <p:cNvPr id="15" name="Shape 12"/>
          <p:cNvSpPr/>
          <p:nvPr/>
        </p:nvSpPr>
        <p:spPr>
          <a:xfrm>
            <a:off x="1188720" y="2743200"/>
            <a:ext cx="2971800" cy="0"/>
          </a:xfrm>
          <a:prstGeom prst="line">
            <a:avLst/>
          </a:prstGeom>
          <a:noFill/>
          <a:ln w="19050">
            <a:solidFill>
              <a:srgbClr val="E8EDF5"/>
            </a:solidFill>
            <a:prstDash val="solid"/>
          </a:ln>
        </p:spPr>
      </p:sp>
      <p:sp>
        <p:nvSpPr>
          <p:cNvPr id="16" name="Shape 13"/>
          <p:cNvSpPr/>
          <p:nvPr/>
        </p:nvSpPr>
        <p:spPr>
          <a:xfrm>
            <a:off x="457200" y="3246120"/>
            <a:ext cx="594360" cy="640080"/>
          </a:xfrm>
          <a:prstGeom prst="rect">
            <a:avLst/>
          </a:prstGeom>
          <a:solidFill>
            <a:srgbClr val="183A6A"/>
          </a:solidFill>
          <a:ln/>
        </p:spPr>
      </p:sp>
      <p:sp>
        <p:nvSpPr>
          <p:cNvPr id="17" name="Text 14"/>
          <p:cNvSpPr/>
          <p:nvPr/>
        </p:nvSpPr>
        <p:spPr>
          <a:xfrm>
            <a:off x="45720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5"/>
          <p:cNvSpPr/>
          <p:nvPr/>
        </p:nvSpPr>
        <p:spPr>
          <a:xfrm>
            <a:off x="118872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C-RRT*-APF 通信保持路径规划算法</a:t>
            </a:r>
            <a:endParaRPr lang="en-US" sz="1300" dirty="0"/>
          </a:p>
        </p:txBody>
      </p:sp>
      <p:sp>
        <p:nvSpPr>
          <p:cNvPr id="19" name="Shape 16"/>
          <p:cNvSpPr/>
          <p:nvPr/>
        </p:nvSpPr>
        <p:spPr>
          <a:xfrm>
            <a:off x="1188720" y="3886200"/>
            <a:ext cx="2971800" cy="0"/>
          </a:xfrm>
          <a:prstGeom prst="line">
            <a:avLst/>
          </a:prstGeom>
          <a:noFill/>
          <a:ln w="19050">
            <a:solidFill>
              <a:srgbClr val="E8EDF5"/>
            </a:solidFill>
            <a:prstDash val="solid"/>
          </a:ln>
        </p:spPr>
      </p:sp>
      <p:sp>
        <p:nvSpPr>
          <p:cNvPr id="20" name="Shape 17"/>
          <p:cNvSpPr/>
          <p:nvPr/>
        </p:nvSpPr>
        <p:spPr>
          <a:xfrm>
            <a:off x="4983480" y="960120"/>
            <a:ext cx="594360" cy="640080"/>
          </a:xfrm>
          <a:prstGeom prst="rect">
            <a:avLst/>
          </a:prstGeom>
          <a:solidFill>
            <a:srgbClr val="183A6A"/>
          </a:solidFill>
          <a:ln/>
        </p:spPr>
      </p:sp>
      <p:sp>
        <p:nvSpPr>
          <p:cNvPr id="21" name="Text 18"/>
          <p:cNvSpPr/>
          <p:nvPr/>
        </p:nvSpPr>
        <p:spPr>
          <a:xfrm>
            <a:off x="498348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19"/>
          <p:cNvSpPr/>
          <p:nvPr/>
        </p:nvSpPr>
        <p:spPr>
          <a:xfrm>
            <a:off x="571500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MPG-NSGA-II 通信保持区域覆盖算法</a:t>
            </a:r>
            <a:endParaRPr lang="en-US" sz="1300" dirty="0"/>
          </a:p>
        </p:txBody>
      </p:sp>
      <p:sp>
        <p:nvSpPr>
          <p:cNvPr id="23" name="Shape 20"/>
          <p:cNvSpPr/>
          <p:nvPr/>
        </p:nvSpPr>
        <p:spPr>
          <a:xfrm>
            <a:off x="5715000" y="1600200"/>
            <a:ext cx="2971800" cy="0"/>
          </a:xfrm>
          <a:prstGeom prst="line">
            <a:avLst/>
          </a:prstGeom>
          <a:noFill/>
          <a:ln w="19050">
            <a:solidFill>
              <a:srgbClr val="E8EDF5"/>
            </a:solidFill>
            <a:prstDash val="solid"/>
          </a:ln>
        </p:spPr>
      </p:sp>
      <p:sp>
        <p:nvSpPr>
          <p:cNvPr id="24" name="Shape 21"/>
          <p:cNvSpPr/>
          <p:nvPr/>
        </p:nvSpPr>
        <p:spPr>
          <a:xfrm>
            <a:off x="4983480" y="2103120"/>
            <a:ext cx="594360" cy="640080"/>
          </a:xfrm>
          <a:prstGeom prst="rect">
            <a:avLst/>
          </a:prstGeom>
          <a:solidFill>
            <a:srgbClr val="183A6A"/>
          </a:solidFill>
          <a:ln/>
        </p:spPr>
      </p:sp>
      <p:sp>
        <p:nvSpPr>
          <p:cNvPr id="25" name="Text 22"/>
          <p:cNvSpPr/>
          <p:nvPr/>
        </p:nvSpPr>
        <p:spPr>
          <a:xfrm>
            <a:off x="498348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6" name="Text 23"/>
          <p:cNvSpPr/>
          <p:nvPr/>
        </p:nvSpPr>
        <p:spPr>
          <a:xfrm>
            <a:off x="571500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总结与展望</a:t>
            </a:r>
            <a:endParaRPr lang="en-US" sz="1300" dirty="0"/>
          </a:p>
        </p:txBody>
      </p:sp>
      <p:sp>
        <p:nvSpPr>
          <p:cNvPr id="27" name="Shape 24"/>
          <p:cNvSpPr/>
          <p:nvPr/>
        </p:nvSpPr>
        <p:spPr>
          <a:xfrm>
            <a:off x="5715000" y="2743200"/>
            <a:ext cx="2971800" cy="0"/>
          </a:xfrm>
          <a:prstGeom prst="line">
            <a:avLst/>
          </a:prstGeom>
          <a:noFill/>
          <a:ln w="19050">
            <a:solidFill>
              <a:srgbClr val="E8EDF5"/>
            </a:solidFill>
            <a:prstDash val="solid"/>
          </a:ln>
        </p:spPr>
      </p:sp>
      <p:sp>
        <p:nvSpPr>
          <p:cNvPr id="28" name="Shape 25"/>
          <p:cNvSpPr/>
          <p:nvPr/>
        </p:nvSpPr>
        <p:spPr>
          <a:xfrm>
            <a:off x="4983480" y="3246120"/>
            <a:ext cx="594360" cy="640080"/>
          </a:xfrm>
          <a:prstGeom prst="rect">
            <a:avLst/>
          </a:prstGeom>
          <a:solidFill>
            <a:srgbClr val="183A6A"/>
          </a:solidFill>
          <a:ln/>
        </p:spPr>
      </p:sp>
      <p:sp>
        <p:nvSpPr>
          <p:cNvPr id="29" name="Text 26"/>
          <p:cNvSpPr/>
          <p:nvPr/>
        </p:nvSpPr>
        <p:spPr>
          <a:xfrm>
            <a:off x="498348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0" name="Text 27"/>
          <p:cNvSpPr/>
          <p:nvPr/>
        </p:nvSpPr>
        <p:spPr>
          <a:xfrm>
            <a:off x="571500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致谢</a:t>
            </a:r>
            <a:endParaRPr lang="en-US" sz="1300" dirty="0"/>
          </a:p>
        </p:txBody>
      </p:sp>
      <p:sp>
        <p:nvSpPr>
          <p:cNvPr id="31" name="Shape 28"/>
          <p:cNvSpPr/>
          <p:nvPr/>
        </p:nvSpPr>
        <p:spPr>
          <a:xfrm>
            <a:off x="5715000" y="3886200"/>
            <a:ext cx="2971800" cy="0"/>
          </a:xfrm>
          <a:prstGeom prst="line">
            <a:avLst/>
          </a:prstGeom>
          <a:noFill/>
          <a:ln w="19050">
            <a:solidFill>
              <a:srgbClr val="E8EDF5"/>
            </a:solidFill>
            <a:prstDash val="solid"/>
          </a:ln>
        </p:spPr>
      </p:sp>
      <p:sp>
        <p:nvSpPr>
          <p:cNvPr id="32" name="Text 29"/>
          <p:cNvSpPr/>
          <p:nvPr/>
        </p:nvSpPr>
        <p:spPr>
          <a:xfrm>
            <a:off x="457200" y="4640580"/>
            <a:ext cx="8229600" cy="274320"/>
          </a:xfrm>
          <a:prstGeom prst="rect">
            <a:avLst/>
          </a:prstGeom>
          <a:noFill/>
          <a:ln/>
        </p:spPr>
        <p:txBody>
          <a:bodyPr wrap="square" lIns="0" tIns="0" rIns="0" bIns="0" rtlCol="0" anchor="ctr"/>
          <a:lstStyle/>
          <a:p>
            <a:pPr marL="0" indent="0" algn="l">
              <a:buNone/>
            </a:pPr>
            <a:r>
              <a:rPr lang="en-US" sz="900" dirty="0">
                <a:solidFill>
                  <a:srgbClr val="999999"/>
                </a:solidFill>
                <a:latin typeface="Microsoft YaHei" pitchFamily="34" charset="0"/>
                <a:ea typeface="Microsoft YaHei" pitchFamily="34" charset="-122"/>
                <a:cs typeface="Microsoft YaHei" pitchFamily="34" charset="-120"/>
              </a:rPr>
              <a:t>复杂城市作战环境下大规模无人机集群通信保持任务规划研究</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01  </a:t>
            </a:r>
            <a:r>
              <a:rPr lang="en-US" sz="1200" b="1"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城市作战中的无人机集群通信挑战</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560320" cy="1737360"/>
          </a:xfrm>
          <a:prstGeom prst="rect">
            <a:avLst/>
          </a:prstGeom>
          <a:solidFill>
            <a:srgbClr val="FFFFFF"/>
          </a:solidFill>
          <a:ln w="15875">
            <a:solidFill>
              <a:srgbClr val="3874B8"/>
            </a:solidFill>
            <a:prstDash val="dash"/>
          </a:ln>
        </p:spPr>
      </p:sp>
      <p:sp>
        <p:nvSpPr>
          <p:cNvPr id="9" name="Shape 6"/>
          <p:cNvSpPr/>
          <p:nvPr/>
        </p:nvSpPr>
        <p:spPr>
          <a:xfrm>
            <a:off x="502920" y="1225296"/>
            <a:ext cx="2468880" cy="292608"/>
          </a:xfrm>
          <a:prstGeom prst="rect">
            <a:avLst/>
          </a:prstGeom>
          <a:solidFill>
            <a:srgbClr val="E8EDF5"/>
          </a:solidFill>
          <a:ln/>
        </p:spPr>
      </p:sp>
      <p:sp>
        <p:nvSpPr>
          <p:cNvPr id="10" name="Text 7"/>
          <p:cNvSpPr/>
          <p:nvPr/>
        </p:nvSpPr>
        <p:spPr>
          <a:xfrm>
            <a:off x="50292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城市作战场景特点</a:t>
            </a:r>
            <a:endParaRPr lang="en-US" sz="1000" dirty="0"/>
          </a:p>
        </p:txBody>
      </p:sp>
      <p:sp>
        <p:nvSpPr>
          <p:cNvPr id="11" name="Text 8"/>
          <p:cNvSpPr/>
          <p:nvPr/>
        </p:nvSpPr>
        <p:spPr>
          <a:xfrm>
            <a:off x="566928" y="1591056"/>
            <a:ext cx="2340864" cy="1261872"/>
          </a:xfrm>
          <a:prstGeom prst="rect">
            <a:avLst/>
          </a:prstGeom>
          <a:noFill/>
          <a:ln/>
        </p:spPr>
        <p:txBody>
          <a:bodyPr wrap="square" lIns="0" tIns="0" rIns="0" bIns="0" rtlCol="0" anchor="t"/>
          <a:lstStyle/>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任务类型：</a:t>
            </a:r>
            <a:r>
              <a:rPr lang="en-US" sz="900" dirty="0">
                <a:solidFill>
                  <a:srgbClr val="333333"/>
                </a:solidFill>
                <a:latin typeface="Microsoft YaHei" pitchFamily="34" charset="0"/>
                <a:ea typeface="Microsoft YaHei" pitchFamily="34" charset="-122"/>
                <a:cs typeface="Microsoft YaHei" pitchFamily="34" charset="-120"/>
              </a:rPr>
              <a:t>路径规划、区域侦察、协同打击</a:t>
            </a:r>
            <a:endParaRPr lang="en-US" sz="900" dirty="0"/>
          </a:p>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场景特点：</a:t>
            </a:r>
            <a:r>
              <a:rPr lang="en-US" sz="900" dirty="0">
                <a:solidFill>
                  <a:srgbClr val="333333"/>
                </a:solidFill>
                <a:latin typeface="Microsoft YaHei" pitchFamily="34" charset="0"/>
                <a:ea typeface="Microsoft YaHei" pitchFamily="34" charset="-122"/>
                <a:cs typeface="Microsoft YaHei" pitchFamily="34" charset="-120"/>
              </a:rPr>
              <a:t>建筑物密集、空间尺度受限、通信遮挡与多径效应显著以及敌对干扰信号</a:t>
            </a:r>
            <a:endParaRPr lang="en-US" sz="900" dirty="0"/>
          </a:p>
        </p:txBody>
      </p:sp>
      <p:sp>
        <p:nvSpPr>
          <p:cNvPr id="12" name="Shape 9"/>
          <p:cNvSpPr/>
          <p:nvPr/>
        </p:nvSpPr>
        <p:spPr>
          <a:xfrm>
            <a:off x="3291840" y="1188720"/>
            <a:ext cx="2560320" cy="1737360"/>
          </a:xfrm>
          <a:prstGeom prst="rect">
            <a:avLst/>
          </a:prstGeom>
          <a:solidFill>
            <a:srgbClr val="FFFFFF"/>
          </a:solidFill>
          <a:ln w="15875">
            <a:solidFill>
              <a:srgbClr val="3874B8"/>
            </a:solidFill>
            <a:prstDash val="dash"/>
          </a:ln>
        </p:spPr>
      </p:sp>
      <p:sp>
        <p:nvSpPr>
          <p:cNvPr id="13" name="Shape 10"/>
          <p:cNvSpPr/>
          <p:nvPr/>
        </p:nvSpPr>
        <p:spPr>
          <a:xfrm>
            <a:off x="3337560" y="1225296"/>
            <a:ext cx="2468880" cy="292608"/>
          </a:xfrm>
          <a:prstGeom prst="rect">
            <a:avLst/>
          </a:prstGeom>
          <a:solidFill>
            <a:srgbClr val="E8EDF5"/>
          </a:solidFill>
          <a:ln/>
        </p:spPr>
      </p:sp>
      <p:sp>
        <p:nvSpPr>
          <p:cNvPr id="14" name="Text 11"/>
          <p:cNvSpPr/>
          <p:nvPr/>
        </p:nvSpPr>
        <p:spPr>
          <a:xfrm>
            <a:off x="333756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关键挑战</a:t>
            </a:r>
            <a:endParaRPr lang="en-US" sz="1000" dirty="0"/>
          </a:p>
        </p:txBody>
      </p:sp>
      <p:sp>
        <p:nvSpPr>
          <p:cNvPr id="15" name="Text 12"/>
          <p:cNvSpPr/>
          <p:nvPr/>
        </p:nvSpPr>
        <p:spPr>
          <a:xfrm>
            <a:off x="340156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高密度建筑群造成通信信号非视距衰减</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敌对信号干扰使通信链路受影响</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空间受限使无人机机动与感知不确定性增强</a:t>
            </a:r>
            <a:endParaRPr lang="en-US" sz="900" dirty="0"/>
          </a:p>
        </p:txBody>
      </p:sp>
      <p:sp>
        <p:nvSpPr>
          <p:cNvPr id="16" name="Shape 13"/>
          <p:cNvSpPr/>
          <p:nvPr/>
        </p:nvSpPr>
        <p:spPr>
          <a:xfrm>
            <a:off x="6126480" y="1188720"/>
            <a:ext cx="2560320" cy="1737360"/>
          </a:xfrm>
          <a:prstGeom prst="rect">
            <a:avLst/>
          </a:prstGeom>
          <a:solidFill>
            <a:srgbClr val="FFFFFF"/>
          </a:solidFill>
          <a:ln w="15875">
            <a:solidFill>
              <a:srgbClr val="3874B8"/>
            </a:solidFill>
            <a:prstDash val="dash"/>
          </a:ln>
        </p:spPr>
      </p:sp>
      <p:sp>
        <p:nvSpPr>
          <p:cNvPr id="17" name="Shape 14"/>
          <p:cNvSpPr/>
          <p:nvPr/>
        </p:nvSpPr>
        <p:spPr>
          <a:xfrm>
            <a:off x="6172200" y="1225296"/>
            <a:ext cx="2468880" cy="292608"/>
          </a:xfrm>
          <a:prstGeom prst="rect">
            <a:avLst/>
          </a:prstGeom>
          <a:solidFill>
            <a:srgbClr val="E8EDF5"/>
          </a:solidFill>
          <a:ln/>
        </p:spPr>
      </p:sp>
      <p:sp>
        <p:nvSpPr>
          <p:cNvPr id="18" name="Text 15"/>
          <p:cNvSpPr/>
          <p:nvPr/>
        </p:nvSpPr>
        <p:spPr>
          <a:xfrm>
            <a:off x="617220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智能蜂群组网需求</a:t>
            </a:r>
            <a:endParaRPr lang="en-US" sz="1000" dirty="0"/>
          </a:p>
        </p:txBody>
      </p:sp>
      <p:sp>
        <p:nvSpPr>
          <p:cNvPr id="19" name="Text 16"/>
          <p:cNvSpPr/>
          <p:nvPr/>
        </p:nvSpPr>
        <p:spPr>
          <a:xfrm>
            <a:off x="623620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无人机集群智能协同依赖实时稳定的通信网络</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通信保持是协同作战任务的必要要求</a:t>
            </a:r>
            <a:endParaRPr lang="en-US" sz="900" dirty="0"/>
          </a:p>
        </p:txBody>
      </p:sp>
      <p:sp>
        <p:nvSpPr>
          <p:cNvPr id="20" name="Shape 17"/>
          <p:cNvSpPr/>
          <p:nvPr/>
        </p:nvSpPr>
        <p:spPr>
          <a:xfrm>
            <a:off x="457200" y="3383280"/>
            <a:ext cx="8229600" cy="502920"/>
          </a:xfrm>
          <a:prstGeom prst="rect">
            <a:avLst/>
          </a:prstGeom>
          <a:solidFill>
            <a:srgbClr val="E8EDF5"/>
          </a:solidFill>
          <a:ln/>
        </p:spPr>
      </p:sp>
      <p:sp>
        <p:nvSpPr>
          <p:cNvPr id="21" name="Text 18"/>
          <p:cNvSpPr/>
          <p:nvPr/>
        </p:nvSpPr>
        <p:spPr>
          <a:xfrm>
            <a:off x="594360" y="3383280"/>
            <a:ext cx="795528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6">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现有方法分类</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19"/>
            <a:ext cx="3931920" cy="327835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通信保持路径规划</a:t>
            </a:r>
            <a:endParaRPr lang="en-US" sz="1000" dirty="0"/>
          </a:p>
        </p:txBody>
      </p:sp>
      <p:sp>
        <p:nvSpPr>
          <p:cNvPr id="11" name="Text 8"/>
          <p:cNvSpPr/>
          <p:nvPr/>
        </p:nvSpPr>
        <p:spPr>
          <a:xfrm>
            <a:off x="56692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涵盖基于启发式优化、强化学习与改进人工势场法三类主要方向，各有侧重但均存在通信建模不足的问题。</a:t>
            </a:r>
            <a:endParaRPr lang="en-US" sz="900" dirty="0"/>
          </a:p>
        </p:txBody>
      </p:sp>
      <p:sp>
        <p:nvSpPr>
          <p:cNvPr id="12" name="Shape 9"/>
          <p:cNvSpPr/>
          <p:nvPr/>
        </p:nvSpPr>
        <p:spPr>
          <a:xfrm>
            <a:off x="4754880" y="1188719"/>
            <a:ext cx="3931920" cy="3278349"/>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区域覆盖侦察部署</a:t>
            </a:r>
            <a:endParaRPr lang="en-US" sz="1000" dirty="0"/>
          </a:p>
        </p:txBody>
      </p:sp>
      <p:sp>
        <p:nvSpPr>
          <p:cNvPr id="15" name="Text 12"/>
          <p:cNvSpPr/>
          <p:nvPr/>
        </p:nvSpPr>
        <p:spPr>
          <a:xfrm>
            <a:off x="486460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涵盖虚拟力法、网格法、Voronoi图法与元启发式优化法四类方向，在复杂约束场景下全局搜索能力有限。</a:t>
            </a:r>
            <a:endParaRPr lang="en-US" sz="900" dirty="0"/>
          </a:p>
        </p:txBody>
      </p:sp>
      <p:pic>
        <p:nvPicPr>
          <p:cNvPr id="16" name="Image 1" descr="/home/claude/img_s4_1.png"/>
          <p:cNvPicPr>
            <a:picLocks noChangeAspect="1"/>
          </p:cNvPicPr>
          <p:nvPr/>
        </p:nvPicPr>
        <p:blipFill>
          <a:blip r:embed="rId4"/>
          <a:srcRect/>
          <a:stretch/>
        </p:blipFill>
        <p:spPr>
          <a:xfrm>
            <a:off x="621792" y="1938977"/>
            <a:ext cx="3657600" cy="2339966"/>
          </a:xfrm>
          <a:prstGeom prst="rect">
            <a:avLst/>
          </a:prstGeom>
        </p:spPr>
      </p:pic>
      <p:pic>
        <p:nvPicPr>
          <p:cNvPr id="17" name="Image 2" descr="/home/claude/img_s4_2.png"/>
          <p:cNvPicPr>
            <a:picLocks noChangeAspect="1"/>
          </p:cNvPicPr>
          <p:nvPr/>
        </p:nvPicPr>
        <p:blipFill>
          <a:blip r:embed="rId5"/>
          <a:srcRect/>
          <a:stretch/>
        </p:blipFill>
        <p:spPr>
          <a:xfrm>
            <a:off x="4800600" y="1920240"/>
            <a:ext cx="3657600" cy="2416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现有方法不足</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70432"/>
            <a:ext cx="8229600" cy="502920"/>
          </a:xfrm>
          <a:prstGeom prst="rect">
            <a:avLst/>
          </a:prstGeom>
          <a:solidFill>
            <a:srgbClr val="E8EDF5"/>
          </a:solidFill>
          <a:ln/>
        </p:spPr>
      </p:sp>
      <p:sp>
        <p:nvSpPr>
          <p:cNvPr id="9" name="Text 6"/>
          <p:cNvSpPr/>
          <p:nvPr/>
        </p:nvSpPr>
        <p:spPr>
          <a:xfrm>
            <a:off x="548640" y="1170432"/>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核心结论：</a:t>
            </a:r>
            <a:r>
              <a:rPr lang="en-US" sz="900" dirty="0">
                <a:solidFill>
                  <a:srgbClr val="183A6A"/>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900" dirty="0"/>
          </a:p>
        </p:txBody>
      </p:sp>
      <p:sp>
        <p:nvSpPr>
          <p:cNvPr id="10" name="Shape 7"/>
          <p:cNvSpPr/>
          <p:nvPr/>
        </p:nvSpPr>
        <p:spPr>
          <a:xfrm>
            <a:off x="457200" y="2057400"/>
            <a:ext cx="3931920" cy="1554480"/>
          </a:xfrm>
          <a:prstGeom prst="rect">
            <a:avLst/>
          </a:prstGeom>
          <a:solidFill>
            <a:srgbClr val="FFFFFF"/>
          </a:solidFill>
          <a:ln w="15875">
            <a:solidFill>
              <a:srgbClr val="3874B8"/>
            </a:solidFill>
            <a:prstDash val="dash"/>
          </a:ln>
        </p:spPr>
      </p:sp>
      <p:sp>
        <p:nvSpPr>
          <p:cNvPr id="11" name="Shape 8"/>
          <p:cNvSpPr/>
          <p:nvPr/>
        </p:nvSpPr>
        <p:spPr>
          <a:xfrm>
            <a:off x="502920" y="2093976"/>
            <a:ext cx="3840480" cy="292608"/>
          </a:xfrm>
          <a:prstGeom prst="rect">
            <a:avLst/>
          </a:prstGeom>
          <a:solidFill>
            <a:srgbClr val="E8EDF5"/>
          </a:solidFill>
          <a:ln/>
        </p:spPr>
      </p:sp>
      <p:sp>
        <p:nvSpPr>
          <p:cNvPr id="12" name="Text 9"/>
          <p:cNvSpPr/>
          <p:nvPr/>
        </p:nvSpPr>
        <p:spPr>
          <a:xfrm>
            <a:off x="50292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路径规划方向的不足</a:t>
            </a:r>
            <a:endParaRPr lang="en-US" sz="1000" dirty="0"/>
          </a:p>
        </p:txBody>
      </p:sp>
      <p:sp>
        <p:nvSpPr>
          <p:cNvPr id="13" name="Text 10"/>
          <p:cNvSpPr/>
          <p:nvPr/>
        </p:nvSpPr>
        <p:spPr>
          <a:xfrm>
            <a:off x="56692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改进人工势场法在大规模场景下多源势场叠加导致局部震荡与死锁</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启发式与强化学习方法计算复杂度随集群规模指数级增长</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缺少对城市复杂电磁信道的精细化通信约束建模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现有方法难以同时兼顾大规模集群的实时性与通信保持效果</a:t>
            </a:r>
            <a:endParaRPr lang="en-US" sz="900" dirty="0"/>
          </a:p>
        </p:txBody>
      </p:sp>
      <p:sp>
        <p:nvSpPr>
          <p:cNvPr id="14" name="Shape 11"/>
          <p:cNvSpPr/>
          <p:nvPr/>
        </p:nvSpPr>
        <p:spPr>
          <a:xfrm>
            <a:off x="4754880" y="2057400"/>
            <a:ext cx="3931920" cy="1554480"/>
          </a:xfrm>
          <a:prstGeom prst="rect">
            <a:avLst/>
          </a:prstGeom>
          <a:solidFill>
            <a:srgbClr val="FFFFFF"/>
          </a:solidFill>
          <a:ln w="15875">
            <a:solidFill>
              <a:srgbClr val="3874B8"/>
            </a:solidFill>
            <a:prstDash val="dash"/>
          </a:ln>
        </p:spPr>
      </p:sp>
      <p:sp>
        <p:nvSpPr>
          <p:cNvPr id="15" name="Shape 12"/>
          <p:cNvSpPr/>
          <p:nvPr/>
        </p:nvSpPr>
        <p:spPr>
          <a:xfrm>
            <a:off x="4800600" y="2093976"/>
            <a:ext cx="3840480" cy="292608"/>
          </a:xfrm>
          <a:prstGeom prst="rect">
            <a:avLst/>
          </a:prstGeom>
          <a:solidFill>
            <a:srgbClr val="E8EDF5"/>
          </a:solidFill>
          <a:ln/>
        </p:spPr>
      </p:sp>
      <p:sp>
        <p:nvSpPr>
          <p:cNvPr id="16" name="Text 13"/>
          <p:cNvSpPr/>
          <p:nvPr/>
        </p:nvSpPr>
        <p:spPr>
          <a:xfrm>
            <a:off x="480060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区域覆盖方向的不足</a:t>
            </a:r>
            <a:endParaRPr lang="en-US" sz="1000" dirty="0"/>
          </a:p>
        </p:txBody>
      </p:sp>
      <p:sp>
        <p:nvSpPr>
          <p:cNvPr id="17" name="Text 14"/>
          <p:cNvSpPr/>
          <p:nvPr/>
        </p:nvSpPr>
        <p:spPr>
          <a:xfrm>
            <a:off x="486460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传统方法通信约束建模简单（理想半径模型），无法刻画建筑遮挡与干扰</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现有多目标优化算法缺乏领域知识引导，高维复杂场景下搜索效率下降</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单目标方法无法兼顾覆盖率与网络连通性的多维权衡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算法在引入干扰信号后早熟收敛问题突出</a:t>
            </a:r>
            <a:endParaRPr lang="en-US" sz="900" dirty="0"/>
          </a:p>
        </p:txBody>
      </p:sp>
      <p:sp>
        <p:nvSpPr>
          <p:cNvPr id="18" name="Shape 15"/>
          <p:cNvSpPr/>
          <p:nvPr/>
        </p:nvSpPr>
        <p:spPr>
          <a:xfrm>
            <a:off x="457200" y="3840480"/>
            <a:ext cx="8229600" cy="411480"/>
          </a:xfrm>
          <a:prstGeom prst="rect">
            <a:avLst/>
          </a:prstGeom>
          <a:solidFill>
            <a:srgbClr val="E8EDF5"/>
          </a:solidFill>
          <a:ln/>
        </p:spPr>
      </p:sp>
      <p:sp>
        <p:nvSpPr>
          <p:cNvPr id="19" name="Text 16"/>
          <p:cNvSpPr/>
          <p:nvPr/>
        </p:nvSpPr>
        <p:spPr>
          <a:xfrm>
            <a:off x="548640" y="384048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本文研究目标：针对上述两类核心任务，分别提出 C-RRT*-APF 路径规划算法与 MPG-NSGA-II 区域覆盖算法，以解决上述不足。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路径规划</a:t>
            </a:r>
            <a:r>
              <a:rPr lang="en-US" sz="1400" b="1" dirty="0">
                <a:solidFill>
                  <a:srgbClr val="183A6A"/>
                </a:solidFill>
                <a:latin typeface="Microsoft YaHei" pitchFamily="34" charset="0"/>
                <a:ea typeface="Microsoft YaHei" pitchFamily="34" charset="-122"/>
                <a:cs typeface="Microsoft YaHei" pitchFamily="34" charset="-120"/>
              </a:rPr>
              <a:t>系统模型</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6.png"/>
          <p:cNvPicPr>
            <a:picLocks noChangeAspect="1"/>
          </p:cNvPicPr>
          <p:nvPr/>
        </p:nvPicPr>
        <p:blipFill>
          <a:blip r:embed="rId4"/>
          <a:srcRect/>
          <a:stretch/>
        </p:blipFill>
        <p:spPr>
          <a:xfrm>
            <a:off x="457200" y="1188720"/>
            <a:ext cx="4114800" cy="3154680"/>
          </a:xfrm>
          <a:prstGeom prst="rect">
            <a:avLst/>
          </a:prstGeom>
        </p:spPr>
      </p:pic>
      <p:sp>
        <p:nvSpPr>
          <p:cNvPr id="9" name="Shape 5"/>
          <p:cNvSpPr/>
          <p:nvPr/>
        </p:nvSpPr>
        <p:spPr>
          <a:xfrm>
            <a:off x="4754880" y="1188720"/>
            <a:ext cx="3931920" cy="960120"/>
          </a:xfrm>
          <a:prstGeom prst="rect">
            <a:avLst/>
          </a:prstGeom>
          <a:solidFill>
            <a:srgbClr val="FFFFFF"/>
          </a:solidFill>
          <a:ln w="15875">
            <a:solidFill>
              <a:srgbClr val="3874B8"/>
            </a:solidFill>
            <a:prstDash val="dash"/>
          </a:ln>
        </p:spPr>
      </p:sp>
      <p:sp>
        <p:nvSpPr>
          <p:cNvPr id="10" name="Shape 6"/>
          <p:cNvSpPr/>
          <p:nvPr/>
        </p:nvSpPr>
        <p:spPr>
          <a:xfrm>
            <a:off x="4800600" y="1225296"/>
            <a:ext cx="3840480" cy="292608"/>
          </a:xfrm>
          <a:prstGeom prst="rect">
            <a:avLst/>
          </a:prstGeom>
          <a:solidFill>
            <a:srgbClr val="E8EDF5"/>
          </a:solidFill>
          <a:ln/>
        </p:spPr>
      </p:sp>
      <p:sp>
        <p:nvSpPr>
          <p:cNvPr id="11" name="Text 7"/>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864608" y="1591056"/>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1km×1km 二维城市矩形区域；建筑物数量 M 可调（10/20/30 栋）；干扰节点位置固定，干扰功率 PJ（20–30 dBm）；集群规模 N 可变（12/24/36 架），每簇 ≤10 架</a:t>
            </a:r>
            <a:endParaRPr lang="en-US" sz="900" dirty="0"/>
          </a:p>
        </p:txBody>
      </p:sp>
      <p:sp>
        <p:nvSpPr>
          <p:cNvPr id="13" name="Shape 9"/>
          <p:cNvSpPr/>
          <p:nvPr/>
        </p:nvSpPr>
        <p:spPr>
          <a:xfrm>
            <a:off x="4754880" y="2258568"/>
            <a:ext cx="3931920" cy="960120"/>
          </a:xfrm>
          <a:prstGeom prst="rect">
            <a:avLst/>
          </a:prstGeom>
          <a:solidFill>
            <a:srgbClr val="FFFFFF"/>
          </a:solidFill>
          <a:ln w="15875">
            <a:solidFill>
              <a:srgbClr val="3874B8"/>
            </a:solidFill>
            <a:prstDash val="dash"/>
          </a:ln>
        </p:spPr>
      </p:sp>
      <p:sp>
        <p:nvSpPr>
          <p:cNvPr id="14" name="Shape 10"/>
          <p:cNvSpPr/>
          <p:nvPr/>
        </p:nvSpPr>
        <p:spPr>
          <a:xfrm>
            <a:off x="4800600" y="2295144"/>
            <a:ext cx="3840480" cy="292608"/>
          </a:xfrm>
          <a:prstGeom prst="rect">
            <a:avLst/>
          </a:prstGeom>
          <a:solidFill>
            <a:srgbClr val="E8EDF5"/>
          </a:solidFill>
          <a:ln/>
        </p:spPr>
      </p:sp>
      <p:sp>
        <p:nvSpPr>
          <p:cNvPr id="15" name="Text 11"/>
          <p:cNvSpPr/>
          <p:nvPr/>
        </p:nvSpPr>
        <p:spPr>
          <a:xfrm>
            <a:off x="4800600" y="2295144"/>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通信模型</a:t>
            </a:r>
            <a:endParaRPr lang="en-US" sz="1000" dirty="0"/>
          </a:p>
        </p:txBody>
      </p:sp>
      <p:sp>
        <p:nvSpPr>
          <p:cNvPr id="16" name="Text 12"/>
          <p:cNvSpPr/>
          <p:nvPr/>
        </p:nvSpPr>
        <p:spPr>
          <a:xfrm>
            <a:off x="4864608" y="2660904"/>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自由空间传播 + 城市路径损耗补偿因子；视距信道 ηLOS=1.0，非视距 ηNLOS=20.0；双向 SINR 均满足门限 γth=10dB 时链路有效</a:t>
            </a:r>
            <a:endParaRPr lang="en-US" sz="900" dirty="0"/>
          </a:p>
        </p:txBody>
      </p:sp>
      <p:sp>
        <p:nvSpPr>
          <p:cNvPr id="17" name="Shape 13"/>
          <p:cNvSpPr/>
          <p:nvPr/>
        </p:nvSpPr>
        <p:spPr>
          <a:xfrm>
            <a:off x="4754880" y="3328416"/>
            <a:ext cx="3931920" cy="960120"/>
          </a:xfrm>
          <a:prstGeom prst="rect">
            <a:avLst/>
          </a:prstGeom>
          <a:solidFill>
            <a:srgbClr val="FFFFFF"/>
          </a:solidFill>
          <a:ln w="15875">
            <a:solidFill>
              <a:srgbClr val="3874B8"/>
            </a:solidFill>
            <a:prstDash val="dash"/>
          </a:ln>
        </p:spPr>
      </p:sp>
      <p:sp>
        <p:nvSpPr>
          <p:cNvPr id="18" name="Shape 14"/>
          <p:cNvSpPr/>
          <p:nvPr/>
        </p:nvSpPr>
        <p:spPr>
          <a:xfrm>
            <a:off x="4800600" y="3364992"/>
            <a:ext cx="3840480" cy="292608"/>
          </a:xfrm>
          <a:prstGeom prst="rect">
            <a:avLst/>
          </a:prstGeom>
          <a:solidFill>
            <a:srgbClr val="E8EDF5"/>
          </a:solidFill>
          <a:ln/>
        </p:spPr>
      </p:sp>
      <p:sp>
        <p:nvSpPr>
          <p:cNvPr id="19" name="Text 15"/>
          <p:cNvSpPr/>
          <p:nvPr/>
        </p:nvSpPr>
        <p:spPr>
          <a:xfrm>
            <a:off x="4800600" y="3364992"/>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核心约束</a:t>
            </a:r>
            <a:endParaRPr lang="en-US" sz="1000" dirty="0"/>
          </a:p>
        </p:txBody>
      </p:sp>
      <p:sp>
        <p:nvSpPr>
          <p:cNvPr id="20" name="Text 16"/>
          <p:cNvSpPr/>
          <p:nvPr/>
        </p:nvSpPr>
        <p:spPr>
          <a:xfrm>
            <a:off x="4864608" y="3730752"/>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建筑遮挡引入严重非视距衰减（损耗差达 19dB）；干扰半径 Jr=50–170m 形成通信禁区；安全半径 dsafe=10m，单步步长 dmove=5m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总体</a:t>
            </a:r>
            <a:r>
              <a:rPr lang="en-US" sz="1400" b="1" dirty="0">
                <a:solidFill>
                  <a:srgbClr val="183A6A"/>
                </a:solidFill>
                <a:latin typeface="Microsoft YaHei" pitchFamily="34" charset="0"/>
                <a:ea typeface="Microsoft YaHei" pitchFamily="34" charset="-122"/>
                <a:cs typeface="Microsoft YaHei" pitchFamily="34" charset="-120"/>
              </a:rPr>
              <a:t>框架与创新点</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分层分簇预处理</a:t>
            </a:r>
            <a:endParaRPr lang="en-US" sz="10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全局层 C-RRT* 引导规划</a:t>
            </a:r>
            <a:endParaRPr lang="en-US" sz="10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RRT*为各簇独立搜索可行全局路径，引入簇间距离约束机制，在全局层保障不同簇空间协调，为跨簇通信连通奠定拓扑基础</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局部层 MBST-APF 实时规划</a:t>
            </a:r>
            <a:endParaRPr lang="en-US" sz="10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900" dirty="0"/>
          </a:p>
        </p:txBody>
      </p:sp>
      <p:pic>
        <p:nvPicPr>
          <p:cNvPr id="26" name="Image 1" descr="/home/claude/img_s7.png"/>
          <p:cNvPicPr>
            <a:picLocks noChangeAspect="1"/>
          </p:cNvPicPr>
          <p:nvPr/>
        </p:nvPicPr>
        <p:blipFill>
          <a:blip r:embed="rId4"/>
          <a:srcRect/>
          <a:stretch/>
        </p:blipFill>
        <p:spPr>
          <a:xfrm>
            <a:off x="914400" y="3200400"/>
            <a:ext cx="7315200" cy="1645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全局规划层：单簇搜索与簇间距离约束</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全局规划层</a:t>
            </a:r>
            <a:r>
              <a:rPr lang="en-US" sz="1400" b="1" dirty="0">
                <a:solidFill>
                  <a:srgbClr val="183A6A"/>
                </a:solidFill>
                <a:latin typeface="Microsoft YaHei" pitchFamily="34" charset="0"/>
                <a:ea typeface="Microsoft YaHei" pitchFamily="34" charset="-122"/>
                <a:cs typeface="Microsoft YaHei" pitchFamily="34" charset="-120"/>
              </a:rPr>
              <a:t>：</a:t>
            </a:r>
            <a:r>
              <a:rPr lang="zh-CN" altLang="en-US" sz="1400" b="1" dirty="0">
                <a:solidFill>
                  <a:srgbClr val="183A6A"/>
                </a:solidFill>
                <a:latin typeface="Microsoft YaHei" pitchFamily="34" charset="0"/>
                <a:ea typeface="Microsoft YaHei" pitchFamily="34" charset="-122"/>
                <a:cs typeface="Microsoft YaHei" pitchFamily="34" charset="-120"/>
              </a:rPr>
              <a:t>感知驱动的动态重规划机制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感知驱动重规划四步流程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① 初始化：构建待检测路径集 Pcheck 与已确认路径集 P</a:t>
            </a:r>
            <a:endParaRPr lang="en-US" sz="900" dirty="0"/>
          </a:p>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② 路径有效性验证：遍历所有无人机簇，检测路径碰撞/失效，加入 Pcheck 或 P</a:t>
            </a:r>
            <a:endParaRPr lang="en-US" sz="900" dirty="0"/>
          </a:p>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③ 重规划路径搜索：对 Pcheck 中各簇执行单簇 RRT* 全局路径生成</a:t>
            </a:r>
            <a:endParaRPr lang="en-US" sz="900" dirty="0"/>
          </a:p>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④ 簇间距离约束校验：验证新路径与已确认路径满足区间 [L, U]，通过则加入 P</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增量式重规划机制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选择性更新原则：仅对失效/违反约束的簇触发局部重规划，其余簇路径保持不变</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路径失效触发条件：与实时感知地图碰撞 / 违反簇间距离约束 / 到达下一目标区域</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避免集中式全局重规划的计算负担，维持不同簇之间的协同稳定性</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感知驱动路径重规划机制利用实时更新的环境信息，通过增量式重规划完成全局路径的实时更新，有效应对未知复杂城市作战环境。</a:t>
            </a:r>
            <a:endParaRPr lang="en-US" sz="900" dirty="0"/>
          </a:p>
        </p:txBody>
      </p:sp>
    </p:spTree>
    <p:extLst>
      <p:ext uri="{BB962C8B-B14F-4D97-AF65-F5344CB8AC3E}">
        <p14:creationId xmlns:p14="http://schemas.microsoft.com/office/powerpoint/2010/main" val="399542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局部规划层：MBST-APF 通信保持机制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4630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MBST 通信主干构建</a:t>
            </a:r>
            <a:endParaRPr lang="en-US" sz="1000" dirty="0"/>
          </a:p>
        </p:txBody>
      </p:sp>
      <p:sp>
        <p:nvSpPr>
          <p:cNvPr id="11" name="Text 8"/>
          <p:cNvSpPr/>
          <p:nvPr/>
        </p:nvSpPr>
        <p:spPr>
          <a:xfrm>
            <a:off x="566928" y="1591056"/>
            <a:ext cx="3712464" cy="9875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采用降序 Kruskal 算法，以双向 SINR 最小值为边权，动态生成最大 SINR 瓶颈生成树，仅保留 N-1 条关键主干链路，大幅降低势场耦合复杂度。</a:t>
            </a:r>
            <a:endParaRPr lang="en-US" sz="900" dirty="0"/>
          </a:p>
        </p:txBody>
      </p:sp>
      <p:sp>
        <p:nvSpPr>
          <p:cNvPr id="12" name="Shape 9"/>
          <p:cNvSpPr/>
          <p:nvPr/>
        </p:nvSpPr>
        <p:spPr>
          <a:xfrm>
            <a:off x="4754880" y="1188720"/>
            <a:ext cx="3931920" cy="14630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APF 三力合成</a:t>
            </a:r>
            <a:endParaRPr lang="en-US" sz="1000" dirty="0"/>
          </a:p>
        </p:txBody>
      </p:sp>
      <p:sp>
        <p:nvSpPr>
          <p:cNvPr id="15" name="Text 12"/>
          <p:cNvSpPr/>
          <p:nvPr/>
        </p:nvSpPr>
        <p:spPr>
          <a:xfrm>
            <a:off x="4864608" y="1591056"/>
            <a:ext cx="3712464" cy="98755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Calibri" pitchFamily="34" charset="0"/>
                <a:ea typeface="Calibri" pitchFamily="34" charset="-122"/>
                <a:cs typeface="Calibri" pitchFamily="34" charset="-120"/>
              </a:rPr>
              <a:t>合力：Fi(t) = α·fatt + β·frep + η·fcoh</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fatt — 目标导向引力，引导朝下一关键点运动</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frep — 碰撞避免斥力，优先级最高（β≫η≈α）</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fcoh — 通信保持引力，仅对 MBST 主干链路中邻居施加自适应引力</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链路接近失效时引力增强，仅对 MBST 关键 N-1 条链路构建势场约束，有效降低多势场叠加复杂度。</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参数设置与性能指标</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8229600" cy="274320"/>
          </a:xfrm>
          <a:prstGeom prst="rect">
            <a:avLst/>
          </a:prstGeom>
          <a:noFill/>
          <a:ln/>
        </p:spPr>
        <p:txBody>
          <a:bodyPr wrap="square" lIns="0" tIns="0" rIns="0" bIns="0" rtlCol="0" anchor="ctr"/>
          <a:lstStyle/>
          <a:p>
            <a:pPr marL="0" indent="0">
              <a:buNone/>
            </a:pPr>
            <a:r>
              <a:rPr lang="en-US" sz="900" i="1" dirty="0">
                <a:solidFill>
                  <a:srgbClr val="666666"/>
                </a:solidFill>
                <a:latin typeface="Microsoft YaHei" pitchFamily="34" charset="0"/>
                <a:ea typeface="Microsoft YaHei" pitchFamily="34" charset="-122"/>
                <a:cs typeface="Microsoft YaHei" pitchFamily="34" charset="-120"/>
              </a:rPr>
              <a:t>典型场景：36架无人机，20栋建筑，单中心干扰源（25 dBm）</a:t>
            </a:r>
            <a:endParaRPr lang="en-US" sz="900" dirty="0"/>
          </a:p>
        </p:txBody>
      </p:sp>
      <p:sp>
        <p:nvSpPr>
          <p:cNvPr id="9" name="Shape 6"/>
          <p:cNvSpPr/>
          <p:nvPr/>
        </p:nvSpPr>
        <p:spPr>
          <a:xfrm>
            <a:off x="457200" y="1737360"/>
            <a:ext cx="19202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1828800" cy="292608"/>
          </a:xfrm>
          <a:prstGeom prst="rect">
            <a:avLst/>
          </a:prstGeom>
          <a:solidFill>
            <a:srgbClr val="E8EDF5"/>
          </a:solidFill>
          <a:ln/>
        </p:spPr>
      </p:sp>
      <p:sp>
        <p:nvSpPr>
          <p:cNvPr id="11" name="Text 8"/>
          <p:cNvSpPr/>
          <p:nvPr/>
        </p:nvSpPr>
        <p:spPr>
          <a:xfrm>
            <a:off x="502920"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K-CBS</a:t>
            </a:r>
            <a:endParaRPr lang="en-US" sz="900" dirty="0"/>
          </a:p>
        </p:txBody>
      </p:sp>
      <p:sp>
        <p:nvSpPr>
          <p:cNvPr id="12" name="Text 9"/>
          <p:cNvSpPr/>
          <p:nvPr/>
        </p:nvSpPr>
        <p:spPr>
          <a:xfrm>
            <a:off x="566928"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900" dirty="0"/>
          </a:p>
        </p:txBody>
      </p:sp>
      <p:sp>
        <p:nvSpPr>
          <p:cNvPr id="13" name="Shape 10"/>
          <p:cNvSpPr/>
          <p:nvPr/>
        </p:nvSpPr>
        <p:spPr>
          <a:xfrm>
            <a:off x="2487168" y="1737360"/>
            <a:ext cx="1920240" cy="1828800"/>
          </a:xfrm>
          <a:prstGeom prst="rect">
            <a:avLst/>
          </a:prstGeom>
          <a:solidFill>
            <a:srgbClr val="FFFFFF"/>
          </a:solidFill>
          <a:ln w="15875">
            <a:solidFill>
              <a:srgbClr val="3874B8"/>
            </a:solidFill>
            <a:prstDash val="dash"/>
          </a:ln>
        </p:spPr>
      </p:sp>
      <p:sp>
        <p:nvSpPr>
          <p:cNvPr id="14" name="Shape 11"/>
          <p:cNvSpPr/>
          <p:nvPr/>
        </p:nvSpPr>
        <p:spPr>
          <a:xfrm>
            <a:off x="2532888" y="1773936"/>
            <a:ext cx="1828800" cy="292608"/>
          </a:xfrm>
          <a:prstGeom prst="rect">
            <a:avLst/>
          </a:prstGeom>
          <a:solidFill>
            <a:srgbClr val="E8EDF5"/>
          </a:solidFill>
          <a:ln/>
        </p:spPr>
      </p:sp>
      <p:sp>
        <p:nvSpPr>
          <p:cNvPr id="15" name="Text 12"/>
          <p:cNvSpPr/>
          <p:nvPr/>
        </p:nvSpPr>
        <p:spPr>
          <a:xfrm>
            <a:off x="2532888"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PPSwarm</a:t>
            </a:r>
            <a:endParaRPr lang="en-US" sz="900" dirty="0"/>
          </a:p>
        </p:txBody>
      </p:sp>
      <p:sp>
        <p:nvSpPr>
          <p:cNvPr id="16" name="Text 13"/>
          <p:cNvSpPr/>
          <p:nvPr/>
        </p:nvSpPr>
        <p:spPr>
          <a:xfrm>
            <a:off x="2596896"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900" dirty="0"/>
          </a:p>
        </p:txBody>
      </p:sp>
      <p:sp>
        <p:nvSpPr>
          <p:cNvPr id="17" name="Shape 14"/>
          <p:cNvSpPr/>
          <p:nvPr/>
        </p:nvSpPr>
        <p:spPr>
          <a:xfrm>
            <a:off x="4517136" y="1737360"/>
            <a:ext cx="1920240" cy="1828800"/>
          </a:xfrm>
          <a:prstGeom prst="rect">
            <a:avLst/>
          </a:prstGeom>
          <a:solidFill>
            <a:srgbClr val="FFFFFF"/>
          </a:solidFill>
          <a:ln w="15875">
            <a:solidFill>
              <a:srgbClr val="3874B8"/>
            </a:solidFill>
            <a:prstDash val="dash"/>
          </a:ln>
        </p:spPr>
      </p:sp>
      <p:sp>
        <p:nvSpPr>
          <p:cNvPr id="18" name="Shape 15"/>
          <p:cNvSpPr/>
          <p:nvPr/>
        </p:nvSpPr>
        <p:spPr>
          <a:xfrm>
            <a:off x="4562856" y="1773936"/>
            <a:ext cx="1828800" cy="292608"/>
          </a:xfrm>
          <a:prstGeom prst="rect">
            <a:avLst/>
          </a:prstGeom>
          <a:solidFill>
            <a:srgbClr val="E8EDF5"/>
          </a:solidFill>
          <a:ln/>
        </p:spPr>
      </p:sp>
      <p:sp>
        <p:nvSpPr>
          <p:cNvPr id="19" name="Text 16"/>
          <p:cNvSpPr/>
          <p:nvPr/>
        </p:nvSpPr>
        <p:spPr>
          <a:xfrm>
            <a:off x="4562856"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APF / CMUFC</a:t>
            </a:r>
            <a:endParaRPr lang="en-US" sz="900" dirty="0"/>
          </a:p>
        </p:txBody>
      </p:sp>
      <p:sp>
        <p:nvSpPr>
          <p:cNvPr id="20" name="Text 17"/>
          <p:cNvSpPr/>
          <p:nvPr/>
        </p:nvSpPr>
        <p:spPr>
          <a:xfrm>
            <a:off x="4626864"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900" dirty="0"/>
          </a:p>
        </p:txBody>
      </p:sp>
      <p:sp>
        <p:nvSpPr>
          <p:cNvPr id="21" name="Shape 18"/>
          <p:cNvSpPr/>
          <p:nvPr/>
        </p:nvSpPr>
        <p:spPr>
          <a:xfrm>
            <a:off x="6547104" y="1737360"/>
            <a:ext cx="1920240" cy="1828800"/>
          </a:xfrm>
          <a:prstGeom prst="rect">
            <a:avLst/>
          </a:prstGeom>
          <a:solidFill>
            <a:srgbClr val="FFFFFF"/>
          </a:solidFill>
          <a:ln w="15875">
            <a:solidFill>
              <a:srgbClr val="3874B8"/>
            </a:solidFill>
            <a:prstDash val="dash"/>
          </a:ln>
        </p:spPr>
      </p:sp>
      <p:sp>
        <p:nvSpPr>
          <p:cNvPr id="22" name="Shape 19"/>
          <p:cNvSpPr/>
          <p:nvPr/>
        </p:nvSpPr>
        <p:spPr>
          <a:xfrm>
            <a:off x="6592824" y="1773936"/>
            <a:ext cx="1828800" cy="292608"/>
          </a:xfrm>
          <a:prstGeom prst="rect">
            <a:avLst/>
          </a:prstGeom>
          <a:solidFill>
            <a:srgbClr val="E8EDF5"/>
          </a:solidFill>
          <a:ln/>
        </p:spPr>
      </p:sp>
      <p:sp>
        <p:nvSpPr>
          <p:cNvPr id="23" name="Text 20"/>
          <p:cNvSpPr/>
          <p:nvPr/>
        </p:nvSpPr>
        <p:spPr>
          <a:xfrm>
            <a:off x="6592824"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C-RRT*-APF（本文）</a:t>
            </a:r>
            <a:endParaRPr lang="en-US" sz="900" dirty="0"/>
          </a:p>
        </p:txBody>
      </p:sp>
      <p:sp>
        <p:nvSpPr>
          <p:cNvPr id="24" name="Text 21"/>
          <p:cNvSpPr/>
          <p:nvPr/>
        </p:nvSpPr>
        <p:spPr>
          <a:xfrm>
            <a:off x="6656832"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路径规划效果对比</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规划过程时序分析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规划效率</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到达时间时序</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C-RRT*-APF 到达时间略高于全局已知算法（K-CBS/PPSwarm），但显著低于 APF 和 CMUFC；未知环境下感知规划代价合理</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连通保持</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平均节点度时序</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干扰区附近 C-RRT*-APF 平均节点度明显高于 K-CBS/PPSwarm/APF；MBST 关键链路保持机制有效维持网络连接密度</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网络恢复</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最大连通分量时序</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C-RRT*-APF 全程仅少数时刻出现短暂网络分裂，依靠 MBST-APF 机制迅速恢复；K-CBS/PPSwarm/APF 存在频繁震荡分裂</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时序分析综合结论</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799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性能与稳定性分析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40次</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独立重复实验</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典型场景下针对具备随机性算法进行 40 次独立重复实验，统计平均到达时间与通信连通率的分布</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到达时间分布</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C-RRT*-APF 连通率中位数高度集中于 95%，远优于 K-CBS/PPSwarm（约40%）和 CMUFC（均值约78%）</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稳定性优</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到达时间分布</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C-RRT*-APF 到达时间箱体窄，无极端离群值；CMUFC 方差极大，部分实验触达 600S 上限</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稳定性分析结论</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9798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多参数场景适应性分析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173736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不同建筑密度</a:t>
            </a:r>
            <a:endParaRPr lang="en-US" sz="1000" dirty="0"/>
          </a:p>
        </p:txBody>
      </p:sp>
      <p:sp>
        <p:nvSpPr>
          <p:cNvPr id="11" name="Text 8"/>
          <p:cNvSpPr/>
          <p:nvPr/>
        </p:nvSpPr>
        <p:spPr>
          <a:xfrm>
            <a:off x="566928"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900" dirty="0"/>
          </a:p>
        </p:txBody>
      </p:sp>
      <p:sp>
        <p:nvSpPr>
          <p:cNvPr id="12" name="Shape 9"/>
          <p:cNvSpPr/>
          <p:nvPr/>
        </p:nvSpPr>
        <p:spPr>
          <a:xfrm>
            <a:off x="3264408" y="1188720"/>
            <a:ext cx="2606040" cy="173736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不同集群规模</a:t>
            </a:r>
            <a:endParaRPr lang="en-US" sz="1000" dirty="0"/>
          </a:p>
        </p:txBody>
      </p:sp>
      <p:sp>
        <p:nvSpPr>
          <p:cNvPr id="15" name="Text 12"/>
          <p:cNvSpPr/>
          <p:nvPr/>
        </p:nvSpPr>
        <p:spPr>
          <a:xfrm>
            <a:off x="3374136"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900" dirty="0"/>
          </a:p>
        </p:txBody>
      </p:sp>
      <p:sp>
        <p:nvSpPr>
          <p:cNvPr id="16" name="Shape 13"/>
          <p:cNvSpPr/>
          <p:nvPr/>
        </p:nvSpPr>
        <p:spPr>
          <a:xfrm>
            <a:off x="6071616" y="1188720"/>
            <a:ext cx="2606040" cy="173736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不同干扰强度</a:t>
            </a:r>
            <a:endParaRPr lang="en-US" sz="1000" dirty="0"/>
          </a:p>
        </p:txBody>
      </p:sp>
      <p:sp>
        <p:nvSpPr>
          <p:cNvPr id="19" name="Text 16"/>
          <p:cNvSpPr/>
          <p:nvPr/>
        </p:nvSpPr>
        <p:spPr>
          <a:xfrm>
            <a:off x="6181344"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900" dirty="0"/>
          </a:p>
        </p:txBody>
      </p:sp>
      <p:pic>
        <p:nvPicPr>
          <p:cNvPr id="20" name="Image 1" descr="/home/claude/img_s12.png"/>
          <p:cNvPicPr>
            <a:picLocks noChangeAspect="1"/>
          </p:cNvPicPr>
          <p:nvPr/>
        </p:nvPicPr>
        <p:blipFill>
          <a:blip r:embed="rId4"/>
          <a:srcRect/>
          <a:stretch/>
        </p:blipFill>
        <p:spPr>
          <a:xfrm>
            <a:off x="2111115" y="2788170"/>
            <a:ext cx="4746885" cy="1875270"/>
          </a:xfrm>
          <a:prstGeom prst="rect">
            <a:avLst/>
          </a:prstGeom>
        </p:spPr>
      </p:pic>
      <p:sp>
        <p:nvSpPr>
          <p:cNvPr id="21" name="Shape 17"/>
          <p:cNvSpPr/>
          <p:nvPr/>
        </p:nvSpPr>
        <p:spPr>
          <a:xfrm>
            <a:off x="457200" y="4572000"/>
            <a:ext cx="8229600" cy="274320"/>
          </a:xfrm>
          <a:prstGeom prst="rect">
            <a:avLst/>
          </a:prstGeom>
          <a:solidFill>
            <a:srgbClr val="E8EDF5"/>
          </a:solidFill>
          <a:ln/>
        </p:spPr>
      </p:sp>
      <p:sp>
        <p:nvSpPr>
          <p:cNvPr id="22" name="Text 18"/>
          <p:cNvSpPr/>
          <p:nvPr/>
        </p:nvSpPr>
        <p:spPr>
          <a:xfrm>
            <a:off x="548640" y="4572000"/>
            <a:ext cx="8046720" cy="2743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区域覆盖系统模型</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3.png"/>
          <p:cNvPicPr>
            <a:picLocks noChangeAspect="1"/>
          </p:cNvPicPr>
          <p:nvPr/>
        </p:nvPicPr>
        <p:blipFill>
          <a:blip r:embed="rId4"/>
          <a:srcRect/>
          <a:stretch/>
        </p:blipFill>
        <p:spPr>
          <a:xfrm>
            <a:off x="457200" y="1188720"/>
            <a:ext cx="3931920" cy="3154680"/>
          </a:xfrm>
          <a:prstGeom prst="rect">
            <a:avLst/>
          </a:prstGeom>
        </p:spPr>
      </p:pic>
      <p:sp>
        <p:nvSpPr>
          <p:cNvPr id="9" name="Shape 5"/>
          <p:cNvSpPr/>
          <p:nvPr/>
        </p:nvSpPr>
        <p:spPr>
          <a:xfrm>
            <a:off x="4663440" y="1188720"/>
            <a:ext cx="4023360" cy="1463040"/>
          </a:xfrm>
          <a:prstGeom prst="rect">
            <a:avLst/>
          </a:prstGeom>
          <a:solidFill>
            <a:srgbClr val="FFFFFF"/>
          </a:solidFill>
          <a:ln w="15875">
            <a:solidFill>
              <a:srgbClr val="3874B8"/>
            </a:solidFill>
            <a:prstDash val="dash"/>
          </a:ln>
        </p:spPr>
      </p:sp>
      <p:sp>
        <p:nvSpPr>
          <p:cNvPr id="10" name="Shape 6"/>
          <p:cNvSpPr/>
          <p:nvPr/>
        </p:nvSpPr>
        <p:spPr>
          <a:xfrm>
            <a:off x="4709160" y="1225296"/>
            <a:ext cx="3931920" cy="292608"/>
          </a:xfrm>
          <a:prstGeom prst="rect">
            <a:avLst/>
          </a:prstGeom>
          <a:solidFill>
            <a:srgbClr val="E8EDF5"/>
          </a:solidFill>
          <a:ln/>
        </p:spPr>
      </p:sp>
      <p:sp>
        <p:nvSpPr>
          <p:cNvPr id="11" name="Text 7"/>
          <p:cNvSpPr/>
          <p:nvPr/>
        </p:nvSpPr>
        <p:spPr>
          <a:xfrm>
            <a:off x="4709160" y="122529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773168" y="1591056"/>
            <a:ext cx="3803904" cy="98755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1km×1km 二维城市区域，建筑物数量 M=10</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干扰源位于 (100m, 900m)，功率 25dBm，禁区半径 RJ=150m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无人机数量 N=15–25，覆盖半径 Rs=150m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有效任务区域 Stask = S ∖ (O ∪ Sjam)</a:t>
            </a:r>
            <a:endParaRPr lang="en-US" sz="900" dirty="0"/>
          </a:p>
        </p:txBody>
      </p:sp>
      <p:sp>
        <p:nvSpPr>
          <p:cNvPr id="13" name="Shape 9"/>
          <p:cNvSpPr/>
          <p:nvPr/>
        </p:nvSpPr>
        <p:spPr>
          <a:xfrm>
            <a:off x="4663440" y="3063240"/>
            <a:ext cx="4023360" cy="1508760"/>
          </a:xfrm>
          <a:prstGeom prst="rect">
            <a:avLst/>
          </a:prstGeom>
          <a:solidFill>
            <a:srgbClr val="FFFFFF"/>
          </a:solidFill>
          <a:ln w="15875">
            <a:solidFill>
              <a:srgbClr val="3874B8"/>
            </a:solidFill>
            <a:prstDash val="dash"/>
          </a:ln>
        </p:spPr>
      </p:sp>
      <p:sp>
        <p:nvSpPr>
          <p:cNvPr id="14" name="Shape 10"/>
          <p:cNvSpPr/>
          <p:nvPr/>
        </p:nvSpPr>
        <p:spPr>
          <a:xfrm>
            <a:off x="4709160" y="3099816"/>
            <a:ext cx="3931920" cy="292608"/>
          </a:xfrm>
          <a:prstGeom prst="rect">
            <a:avLst/>
          </a:prstGeom>
          <a:solidFill>
            <a:srgbClr val="E8EDF5"/>
          </a:solidFill>
          <a:ln/>
        </p:spPr>
      </p:sp>
      <p:sp>
        <p:nvSpPr>
          <p:cNvPr id="15" name="Text 11"/>
          <p:cNvSpPr/>
          <p:nvPr/>
        </p:nvSpPr>
        <p:spPr>
          <a:xfrm>
            <a:off x="4709160" y="309981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双目标优化问题</a:t>
            </a:r>
            <a:endParaRPr lang="en-US" sz="1000" dirty="0"/>
          </a:p>
        </p:txBody>
      </p:sp>
      <p:sp>
        <p:nvSpPr>
          <p:cNvPr id="16" name="Text 12"/>
          <p:cNvSpPr/>
          <p:nvPr/>
        </p:nvSpPr>
        <p:spPr>
          <a:xfrm>
            <a:off x="4773168" y="3465576"/>
            <a:ext cx="3803904" cy="103327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最大化 F(X) = [fcov(X), fcon(X)]ᵀ</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覆盖率 fcov：联合有效覆盖面积 / 有效任务区域总面积（含视距约束）</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归一化代数连通度 fcon：λ₂(G)/N，衡量网络抗损毁能力</a:t>
            </a:r>
            <a:endParaRPr lang="en-US" sz="900" dirty="0"/>
          </a:p>
          <a:p>
            <a:pPr marL="0" indent="0">
              <a:lnSpc>
                <a:spcPct val="115000"/>
              </a:lnSpc>
              <a:buNone/>
            </a:pPr>
            <a:r>
              <a:rPr lang="en-US" sz="850" i="1" dirty="0">
                <a:solidFill>
                  <a:srgbClr val="666666"/>
                </a:solidFill>
                <a:latin typeface="Microsoft YaHei" pitchFamily="34" charset="0"/>
                <a:ea typeface="Microsoft YaHei" pitchFamily="34" charset="-122"/>
                <a:cs typeface="Microsoft YaHei" pitchFamily="34" charset="-120"/>
              </a:rPr>
              <a:t>典型NP-hard非线性非凸多约束问题</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总体框架与创新点</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连通-贪心覆盖混合初始化（CGCI）</a:t>
            </a:r>
            <a:endParaRPr lang="en-US" sz="9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局部引导变异算子</a:t>
            </a:r>
            <a:endParaRPr lang="en-US" sz="9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VCGO（Voronoi覆盖引导）：计算视距责任区域质心，引导无人机填补覆盖盲区；DCGO（节点度连通引导）：识别低度数节点，引导其向链路修复位置定向变异</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多种群精英迁移机制</a:t>
            </a:r>
            <a:endParaRPr lang="en-US" sz="9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900" dirty="0"/>
          </a:p>
        </p:txBody>
      </p:sp>
      <p:pic>
        <p:nvPicPr>
          <p:cNvPr id="26" name="Image 1" descr="/home/claude/img_s14.png"/>
          <p:cNvPicPr>
            <a:picLocks noChangeAspect="1"/>
          </p:cNvPicPr>
          <p:nvPr/>
        </p:nvPicPr>
        <p:blipFill>
          <a:blip r:embed="rId4"/>
          <a:srcRect/>
          <a:stretch/>
        </p:blipFill>
        <p:spPr>
          <a:xfrm>
            <a:off x="914400" y="3200400"/>
            <a:ext cx="7315200" cy="137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种群多样性初始化方法：</a:t>
            </a:r>
            <a:r>
              <a:rPr lang="en-US" altLang="zh-CN" sz="1400" b="1" dirty="0">
                <a:solidFill>
                  <a:srgbClr val="183A6A"/>
                </a:solidFill>
                <a:latin typeface="Microsoft YaHei" pitchFamily="34" charset="0"/>
                <a:ea typeface="Microsoft YaHei" pitchFamily="34" charset="-122"/>
              </a:rPr>
              <a:t>CGCI</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贪心覆盖初始化策略（覆盖权重 &gt; 阈值）</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逐步选取覆盖增益最大的位置完成节点部署；引入基于预设目标权重的自适应扰动机制，对各覆盖导向个体施加不同幅度随机偏移，构建兼具高覆盖与多样性的初始解集。</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聚集连通初始化策略（连通权重 &gt; 阈值）</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在远离干扰禁区处随机选取安全聚集中心，按照连通权重自适应确定聚集半径；在聚集半径内均匀随机生成节点位置，构建拓扑密集的高连通初始个体集合。</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CGCI 通过权重向量动态切换两种初始化策略，构建兼具高目标值与多样性的初始种群，克服传统随机初始化在高维复杂问题中的质量不足问题。</a:t>
            </a:r>
            <a:endParaRPr lang="en-US" sz="900" dirty="0"/>
          </a:p>
        </p:txBody>
      </p:sp>
    </p:spTree>
    <p:extLst>
      <p:ext uri="{BB962C8B-B14F-4D97-AF65-F5344CB8AC3E}">
        <p14:creationId xmlns:p14="http://schemas.microsoft.com/office/powerpoint/2010/main" val="1668542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局部引导变异算子：VCGO 与 DCGO</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多种群精英迁移机制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137160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主导种群 P₁（n₁=120）</a:t>
            </a:r>
            <a:endParaRPr lang="en-US" sz="1000" dirty="0"/>
          </a:p>
        </p:txBody>
      </p:sp>
      <p:sp>
        <p:nvSpPr>
          <p:cNvPr id="11" name="Text 8"/>
          <p:cNvSpPr/>
          <p:nvPr/>
        </p:nvSpPr>
        <p:spPr>
          <a:xfrm>
            <a:off x="566928"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900" dirty="0"/>
          </a:p>
        </p:txBody>
      </p:sp>
      <p:sp>
        <p:nvSpPr>
          <p:cNvPr id="12" name="Shape 9"/>
          <p:cNvSpPr/>
          <p:nvPr/>
        </p:nvSpPr>
        <p:spPr>
          <a:xfrm>
            <a:off x="3264408" y="1188720"/>
            <a:ext cx="2606040" cy="137160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覆盖导向 P₂（n₂=40）</a:t>
            </a:r>
            <a:endParaRPr lang="en-US" sz="1000" dirty="0"/>
          </a:p>
        </p:txBody>
      </p:sp>
      <p:sp>
        <p:nvSpPr>
          <p:cNvPr id="15" name="Text 12"/>
          <p:cNvSpPr/>
          <p:nvPr/>
        </p:nvSpPr>
        <p:spPr>
          <a:xfrm>
            <a:off x="3374136"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VCGO 算子，专注于覆盖目标的局部精细化搜索</a:t>
            </a:r>
            <a:endParaRPr lang="en-US" sz="900" dirty="0"/>
          </a:p>
        </p:txBody>
      </p:sp>
      <p:sp>
        <p:nvSpPr>
          <p:cNvPr id="16" name="Shape 13"/>
          <p:cNvSpPr/>
          <p:nvPr/>
        </p:nvSpPr>
        <p:spPr>
          <a:xfrm>
            <a:off x="6071616" y="1188720"/>
            <a:ext cx="2606040" cy="137160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连通导向 P₃（n₃=40）</a:t>
            </a:r>
            <a:endParaRPr lang="en-US" sz="1000" dirty="0"/>
          </a:p>
        </p:txBody>
      </p:sp>
      <p:sp>
        <p:nvSpPr>
          <p:cNvPr id="19" name="Text 16"/>
          <p:cNvSpPr/>
          <p:nvPr/>
        </p:nvSpPr>
        <p:spPr>
          <a:xfrm>
            <a:off x="6181344"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DCGO 算子，专注于网络连通性目标的定向优化</a:t>
            </a:r>
            <a:endParaRPr lang="en-US" sz="900" dirty="0"/>
          </a:p>
        </p:txBody>
      </p:sp>
      <p:sp>
        <p:nvSpPr>
          <p:cNvPr id="20" name="Shape 17"/>
          <p:cNvSpPr/>
          <p:nvPr/>
        </p:nvSpPr>
        <p:spPr>
          <a:xfrm>
            <a:off x="457200" y="2971800"/>
            <a:ext cx="8229600" cy="1691640"/>
          </a:xfrm>
          <a:prstGeom prst="rect">
            <a:avLst/>
          </a:prstGeom>
          <a:solidFill>
            <a:srgbClr val="FFFFFF"/>
          </a:solidFill>
          <a:ln w="15875">
            <a:solidFill>
              <a:srgbClr val="3874B8"/>
            </a:solidFill>
            <a:prstDash val="dash"/>
          </a:ln>
        </p:spPr>
      </p:sp>
      <p:sp>
        <p:nvSpPr>
          <p:cNvPr id="21" name="Shape 18"/>
          <p:cNvSpPr/>
          <p:nvPr/>
        </p:nvSpPr>
        <p:spPr>
          <a:xfrm>
            <a:off x="502920" y="3008376"/>
            <a:ext cx="8138160" cy="292608"/>
          </a:xfrm>
          <a:prstGeom prst="rect">
            <a:avLst/>
          </a:prstGeom>
          <a:solidFill>
            <a:srgbClr val="E8EDF5"/>
          </a:solidFill>
          <a:ln/>
        </p:spPr>
      </p:sp>
      <p:sp>
        <p:nvSpPr>
          <p:cNvPr id="22" name="Text 19"/>
          <p:cNvSpPr/>
          <p:nvPr/>
        </p:nvSpPr>
        <p:spPr>
          <a:xfrm>
            <a:off x="502920" y="3008376"/>
            <a:ext cx="813816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迁移规则（迁移周期 T=40 代）</a:t>
            </a:r>
            <a:endParaRPr lang="en-US" sz="1000" dirty="0"/>
          </a:p>
        </p:txBody>
      </p:sp>
      <p:sp>
        <p:nvSpPr>
          <p:cNvPr id="23" name="Text 20"/>
          <p:cNvSpPr/>
          <p:nvPr/>
        </p:nvSpPr>
        <p:spPr>
          <a:xfrm>
            <a:off x="566928" y="3374136"/>
            <a:ext cx="8010144" cy="121615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P₂、P₃ 精英个体 → P₁（提升主种群质量与多样性）</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P₁ 第一前沿随机个体 → P₂、P₃（防止子种群局部最优）</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 覆盖最优个体 ↔ P₃ 连通最优个体（互补进化）</a:t>
            </a:r>
            <a:endParaRPr lang="en-US" sz="900" dirty="0"/>
          </a:p>
          <a:p>
            <a:pPr marL="0" indent="0">
              <a:lnSpc>
                <a:spcPct val="115000"/>
              </a:lnSpc>
              <a:buNone/>
            </a:pPr>
            <a:r>
              <a:rPr lang="en-US" sz="900" i="1" dirty="0">
                <a:solidFill>
                  <a:srgbClr val="666666"/>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变异算子有效性分析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extLst>
      <p:ext uri="{BB962C8B-B14F-4D97-AF65-F5344CB8AC3E}">
        <p14:creationId xmlns:p14="http://schemas.microsoft.com/office/powerpoint/2010/main" val="4292290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解集质量与收敛效果分析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连通覆盖性能分析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顶点连通度与覆盖率关系图</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不同节点规模下覆盖性能对比（顶点连通约束）</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MPG覆盖率</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NSGA-II覆盖率</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~0.82</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~0.76</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k=6: ~0.63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k=6: ~0.57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~0.90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k=6: ~0.75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k=6: ~0.65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~0.97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k=3: ~0.90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k=7: ~0.85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k=7: ~0.75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在 15/20/25 节点场景下，MPG-NSGA-II 在各顶点连通度约束下覆盖率均优于 NSGA-II，高连通约束（k≥6）时优势更显著；N=25时各连通度约束下覆盖率可达 99% 以上。</a:t>
            </a:r>
            <a:endParaRPr lang="en-US" sz="850" dirty="0"/>
          </a:p>
        </p:txBody>
      </p:sp>
    </p:spTree>
    <p:extLst>
      <p:ext uri="{BB962C8B-B14F-4D97-AF65-F5344CB8AC3E}">
        <p14:creationId xmlns:p14="http://schemas.microsoft.com/office/powerpoint/2010/main" val="2553839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多场景</a:t>
            </a:r>
            <a:r>
              <a:rPr lang="zh-CN" altLang="en-US" sz="1400" b="1" dirty="0">
                <a:solidFill>
                  <a:srgbClr val="183A6A"/>
                </a:solidFill>
                <a:latin typeface="Microsoft YaHei" pitchFamily="34" charset="0"/>
                <a:ea typeface="Microsoft YaHei" pitchFamily="34" charset="-122"/>
                <a:cs typeface="Microsoft YaHei" pitchFamily="34" charset="-120"/>
              </a:rPr>
              <a:t>稳定性</a:t>
            </a:r>
            <a:r>
              <a:rPr lang="en-US" sz="1400" b="1" dirty="0" err="1">
                <a:solidFill>
                  <a:srgbClr val="183A6A"/>
                </a:solidFill>
                <a:latin typeface="Microsoft YaHei" pitchFamily="34" charset="0"/>
                <a:ea typeface="Microsoft YaHei" pitchFamily="34" charset="-122"/>
                <a:cs typeface="Microsoft YaHei" pitchFamily="34" charset="-120"/>
              </a:rPr>
              <a:t>验证</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201168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高建筑密度场景（M=40）</a:t>
            </a:r>
            <a:endParaRPr lang="en-US" sz="900" dirty="0"/>
          </a:p>
        </p:txBody>
      </p:sp>
      <p:sp>
        <p:nvSpPr>
          <p:cNvPr id="11" name="Text 8"/>
          <p:cNvSpPr/>
          <p:nvPr/>
        </p:nvSpPr>
        <p:spPr>
          <a:xfrm>
            <a:off x="566928"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识别关键连通节点并优化部署，在高连通度约束下覆盖率优势更加明显。</a:t>
            </a:r>
            <a:endParaRPr lang="en-US" sz="900" dirty="0"/>
          </a:p>
        </p:txBody>
      </p:sp>
      <p:sp>
        <p:nvSpPr>
          <p:cNvPr id="12" name="Shape 9"/>
          <p:cNvSpPr/>
          <p:nvPr/>
        </p:nvSpPr>
        <p:spPr>
          <a:xfrm>
            <a:off x="3264408" y="1188720"/>
            <a:ext cx="2606040" cy="201168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强干扰场景（3个干扰源）</a:t>
            </a:r>
            <a:endParaRPr lang="en-US" sz="900" dirty="0"/>
          </a:p>
        </p:txBody>
      </p:sp>
      <p:sp>
        <p:nvSpPr>
          <p:cNvPr id="15" name="Text 12"/>
          <p:cNvSpPr/>
          <p:nvPr/>
        </p:nvSpPr>
        <p:spPr>
          <a:xfrm>
            <a:off x="3374136"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引导节点主动远离强干扰区域并重建链路，保持更高覆盖率。</a:t>
            </a:r>
            <a:endParaRPr lang="en-US" sz="900" dirty="0"/>
          </a:p>
        </p:txBody>
      </p:sp>
      <p:sp>
        <p:nvSpPr>
          <p:cNvPr id="16" name="Shape 13"/>
          <p:cNvSpPr/>
          <p:nvPr/>
        </p:nvSpPr>
        <p:spPr>
          <a:xfrm>
            <a:off x="6071616" y="1188720"/>
            <a:ext cx="2606040" cy="201168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大规模场景（1.5km×1.5km，50架）</a:t>
            </a:r>
            <a:endParaRPr lang="en-US" sz="900" dirty="0"/>
          </a:p>
        </p:txBody>
      </p:sp>
      <p:sp>
        <p:nvSpPr>
          <p:cNvPr id="19" name="Text 16"/>
          <p:cNvSpPr/>
          <p:nvPr/>
        </p:nvSpPr>
        <p:spPr>
          <a:xfrm>
            <a:off x="6181344"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优化变量维度达100维。MPG-NSGA-II 通过多种群协同进化机制，在全局探索与局部优化间实现更好平衡，各连通度约束下均保持领先优势。</a:t>
            </a:r>
            <a:endParaRPr lang="en-US" sz="900" dirty="0"/>
          </a:p>
        </p:txBody>
      </p:sp>
      <p:sp>
        <p:nvSpPr>
          <p:cNvPr id="20" name="Shape 17"/>
          <p:cNvSpPr/>
          <p:nvPr/>
        </p:nvSpPr>
        <p:spPr>
          <a:xfrm>
            <a:off x="457200" y="3657600"/>
            <a:ext cx="8229600" cy="411480"/>
          </a:xfrm>
          <a:prstGeom prst="rect">
            <a:avLst/>
          </a:prstGeom>
          <a:solidFill>
            <a:srgbClr val="E8EDF5"/>
          </a:solidFill>
          <a:ln/>
        </p:spPr>
      </p:sp>
      <p:sp>
        <p:nvSpPr>
          <p:cNvPr id="21" name="Text 18"/>
          <p:cNvSpPr/>
          <p:nvPr/>
        </p:nvSpPr>
        <p:spPr>
          <a:xfrm>
            <a:off x="548640" y="365760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4" name="Text 1"/>
          <p:cNvSpPr/>
          <p:nvPr/>
        </p:nvSpPr>
        <p:spPr>
          <a:xfrm>
            <a:off x="457200" y="45720"/>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两项工作综合总结</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3291840"/>
        </p:xfrm>
        <a:graphic>
          <a:graphicData uri="http://schemas.openxmlformats.org/drawingml/2006/table">
            <a:tbl>
              <a:tblPr/>
              <a:tblGrid>
                <a:gridCol w="10972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548640">
                <a:tc>
                  <a:txBody>
                    <a:bodyPr/>
                    <a:lstStyle/>
                    <a:p>
                      <a:pPr marL="0" indent="0">
                        <a:buNone/>
                      </a:pP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C-RRT*-APF</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通信保持路径规划</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MPG-NSGA-II</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通信保持区域覆盖</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核心创新</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分层分簇 + 簇间距离约束 + MBST-APF 三力合成</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CGCI 初始化 + VCGO/DCGO 引导变异 + 多种群精英迁移</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关键效果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平均到达时间降低 29%</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通信连通率提升 17%（vs CMUFC）</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连通率中位数达 95%</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各连通度目标下覆盖率平均提升约 7%（vs NSGA-II）</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HV 指标提升显著</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以更少节点实现全覆盖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研究价值</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有效解决多源势场叠加导致的震荡与死锁，实现大规模集群高通信保持效果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3"/>
          <p:cNvSpPr/>
          <p:nvPr/>
        </p:nvSpPr>
        <p:spPr>
          <a:xfrm>
            <a:off x="457200" y="4709160"/>
            <a:ext cx="8229600" cy="320040"/>
          </a:xfrm>
          <a:prstGeom prst="rect">
            <a:avLst/>
          </a:prstGeom>
          <a:solidFill>
            <a:srgbClr val="E8EDF5"/>
          </a:solidFill>
          <a:ln/>
        </p:spPr>
      </p:sp>
      <p:sp>
        <p:nvSpPr>
          <p:cNvPr id="8" name="Text 4"/>
          <p:cNvSpPr/>
          <p:nvPr/>
        </p:nvSpPr>
        <p:spPr>
          <a:xfrm>
            <a:off x="548640" y="4709160"/>
            <a:ext cx="8046720" cy="32004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两项工作互为补充，分别解决路径规划与区域覆盖两个核心任务中的通信保持难题，形成完整的通信保持任务规划方案。</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05  </a:t>
            </a:r>
            <a:r>
              <a:rPr lang="en-US" sz="1200" b="1"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全文总结与未来展望</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全文贡献</a:t>
            </a:r>
            <a:endParaRPr lang="en-US" sz="1200" dirty="0"/>
          </a:p>
        </p:txBody>
      </p:sp>
      <p:sp>
        <p:nvSpPr>
          <p:cNvPr id="9" name="Shape 6"/>
          <p:cNvSpPr/>
          <p:nvPr/>
        </p:nvSpPr>
        <p:spPr>
          <a:xfrm>
            <a:off x="457200" y="1417320"/>
            <a:ext cx="292608" cy="292608"/>
          </a:xfrm>
          <a:prstGeom prst="ellipse">
            <a:avLst/>
          </a:prstGeom>
          <a:solidFill>
            <a:srgbClr val="183A6A"/>
          </a:solidFill>
          <a:ln/>
        </p:spPr>
      </p:sp>
      <p:sp>
        <p:nvSpPr>
          <p:cNvPr id="10" name="Text 7"/>
          <p:cNvSpPr/>
          <p:nvPr/>
        </p:nvSpPr>
        <p:spPr>
          <a:xfrm>
            <a:off x="457200" y="14173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68680" y="139903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建立综合城市作战仿真模型</a:t>
            </a:r>
            <a:endParaRPr lang="en-US" sz="1000" dirty="0"/>
          </a:p>
        </p:txBody>
      </p:sp>
      <p:sp>
        <p:nvSpPr>
          <p:cNvPr id="12" name="Text 9"/>
          <p:cNvSpPr/>
          <p:nvPr/>
        </p:nvSpPr>
        <p:spPr>
          <a:xfrm>
            <a:off x="868680" y="167335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包含建筑遮挡、电磁干扰、SINR通信约束的城市作战环境</a:t>
            </a:r>
            <a:endParaRPr lang="en-US" sz="850" dirty="0"/>
          </a:p>
        </p:txBody>
      </p:sp>
      <p:sp>
        <p:nvSpPr>
          <p:cNvPr id="13" name="Shape 10"/>
          <p:cNvSpPr/>
          <p:nvPr/>
        </p:nvSpPr>
        <p:spPr>
          <a:xfrm>
            <a:off x="457200" y="2194560"/>
            <a:ext cx="292608" cy="292608"/>
          </a:xfrm>
          <a:prstGeom prst="ellipse">
            <a:avLst/>
          </a:prstGeom>
          <a:solidFill>
            <a:srgbClr val="183A6A"/>
          </a:solidFill>
          <a:ln/>
        </p:spPr>
      </p:sp>
      <p:sp>
        <p:nvSpPr>
          <p:cNvPr id="14" name="Text 11"/>
          <p:cNvSpPr/>
          <p:nvPr/>
        </p:nvSpPr>
        <p:spPr>
          <a:xfrm>
            <a:off x="457200" y="21945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868680" y="217627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C-RRT*-APF 路径规划算法</a:t>
            </a:r>
            <a:endParaRPr lang="en-US" sz="1000" dirty="0"/>
          </a:p>
        </p:txBody>
      </p:sp>
      <p:sp>
        <p:nvSpPr>
          <p:cNvPr id="16" name="Text 13"/>
          <p:cNvSpPr/>
          <p:nvPr/>
        </p:nvSpPr>
        <p:spPr>
          <a:xfrm>
            <a:off x="868680" y="245059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分层分簇机制 + MBST-APF，实现高通信保持效果</a:t>
            </a:r>
            <a:endParaRPr lang="en-US" sz="850" dirty="0"/>
          </a:p>
        </p:txBody>
      </p:sp>
      <p:sp>
        <p:nvSpPr>
          <p:cNvPr id="17" name="Shape 14"/>
          <p:cNvSpPr/>
          <p:nvPr/>
        </p:nvSpPr>
        <p:spPr>
          <a:xfrm>
            <a:off x="457200" y="2971800"/>
            <a:ext cx="292608" cy="292608"/>
          </a:xfrm>
          <a:prstGeom prst="ellipse">
            <a:avLst/>
          </a:prstGeom>
          <a:solidFill>
            <a:srgbClr val="183A6A"/>
          </a:solidFill>
          <a:ln/>
        </p:spPr>
      </p:sp>
      <p:sp>
        <p:nvSpPr>
          <p:cNvPr id="18" name="Text 15"/>
          <p:cNvSpPr/>
          <p:nvPr/>
        </p:nvSpPr>
        <p:spPr>
          <a:xfrm>
            <a:off x="457200" y="29718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68680" y="295351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MPG-NSGA-II 区域覆盖算法</a:t>
            </a:r>
            <a:endParaRPr lang="en-US" sz="1000" dirty="0"/>
          </a:p>
        </p:txBody>
      </p:sp>
      <p:sp>
        <p:nvSpPr>
          <p:cNvPr id="20" name="Text 17"/>
          <p:cNvSpPr/>
          <p:nvPr/>
        </p:nvSpPr>
        <p:spPr>
          <a:xfrm>
            <a:off x="868680" y="322783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多种群协同进化 + 领域知识引导变异，实现覆盖与连通协同最优</a:t>
            </a:r>
            <a:endParaRPr lang="en-US" sz="850" dirty="0"/>
          </a:p>
        </p:txBody>
      </p:sp>
      <p:sp>
        <p:nvSpPr>
          <p:cNvPr id="21" name="Text 18"/>
          <p:cNvSpPr/>
          <p:nvPr/>
        </p:nvSpPr>
        <p:spPr>
          <a:xfrm>
            <a:off x="475488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不足与未来展望</a:t>
            </a:r>
            <a:endParaRPr lang="en-US" sz="1200" dirty="0"/>
          </a:p>
        </p:txBody>
      </p:sp>
      <p:sp>
        <p:nvSpPr>
          <p:cNvPr id="22" name="Shape 19"/>
          <p:cNvSpPr/>
          <p:nvPr/>
        </p:nvSpPr>
        <p:spPr>
          <a:xfrm>
            <a:off x="4754880" y="1417320"/>
            <a:ext cx="3931920" cy="731520"/>
          </a:xfrm>
          <a:prstGeom prst="rect">
            <a:avLst/>
          </a:prstGeom>
          <a:solidFill>
            <a:srgbClr val="FFFFFF"/>
          </a:solidFill>
          <a:ln w="15875">
            <a:solidFill>
              <a:srgbClr val="3874B8"/>
            </a:solidFill>
            <a:prstDash val="dash"/>
          </a:ln>
        </p:spPr>
      </p:sp>
      <p:sp>
        <p:nvSpPr>
          <p:cNvPr id="23" name="Shape 20"/>
          <p:cNvSpPr/>
          <p:nvPr/>
        </p:nvSpPr>
        <p:spPr>
          <a:xfrm>
            <a:off x="4800600" y="1453896"/>
            <a:ext cx="3840480" cy="292608"/>
          </a:xfrm>
          <a:prstGeom prst="rect">
            <a:avLst/>
          </a:prstGeom>
          <a:solidFill>
            <a:srgbClr val="E8EDF5"/>
          </a:solidFill>
          <a:ln/>
        </p:spPr>
      </p:sp>
      <p:sp>
        <p:nvSpPr>
          <p:cNvPr id="24" name="Text 2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三维动态场景拓展</a:t>
            </a:r>
            <a:endParaRPr lang="en-US" sz="900" dirty="0"/>
          </a:p>
        </p:txBody>
      </p:sp>
      <p:sp>
        <p:nvSpPr>
          <p:cNvPr id="25" name="Text 22"/>
          <p:cNvSpPr/>
          <p:nvPr/>
        </p:nvSpPr>
        <p:spPr>
          <a:xfrm>
            <a:off x="4864608" y="181965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将二维静态场景拓展至三维连续空间，引入高机动动态干扰源</a:t>
            </a:r>
            <a:endParaRPr lang="en-US" sz="900" dirty="0"/>
          </a:p>
        </p:txBody>
      </p:sp>
      <p:sp>
        <p:nvSpPr>
          <p:cNvPr id="26" name="Shape 23"/>
          <p:cNvSpPr/>
          <p:nvPr/>
        </p:nvSpPr>
        <p:spPr>
          <a:xfrm>
            <a:off x="4754880" y="2194560"/>
            <a:ext cx="3931920" cy="731520"/>
          </a:xfrm>
          <a:prstGeom prst="rect">
            <a:avLst/>
          </a:prstGeom>
          <a:solidFill>
            <a:srgbClr val="FFFFFF"/>
          </a:solidFill>
          <a:ln w="15875">
            <a:solidFill>
              <a:srgbClr val="3874B8"/>
            </a:solidFill>
            <a:prstDash val="dash"/>
          </a:ln>
        </p:spPr>
      </p:sp>
      <p:sp>
        <p:nvSpPr>
          <p:cNvPr id="27" name="Shape 24"/>
          <p:cNvSpPr/>
          <p:nvPr/>
        </p:nvSpPr>
        <p:spPr>
          <a:xfrm>
            <a:off x="4800600" y="2231136"/>
            <a:ext cx="3840480" cy="292608"/>
          </a:xfrm>
          <a:prstGeom prst="rect">
            <a:avLst/>
          </a:prstGeom>
          <a:solidFill>
            <a:srgbClr val="E8EDF5"/>
          </a:solidFill>
          <a:ln/>
        </p:spPr>
      </p:sp>
      <p:sp>
        <p:nvSpPr>
          <p:cNvPr id="28" name="Text 25"/>
          <p:cNvSpPr/>
          <p:nvPr/>
        </p:nvSpPr>
        <p:spPr>
          <a:xfrm>
            <a:off x="4800600" y="223113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多目标约束增加</a:t>
            </a:r>
            <a:endParaRPr lang="en-US" sz="900" dirty="0"/>
          </a:p>
        </p:txBody>
      </p:sp>
      <p:sp>
        <p:nvSpPr>
          <p:cNvPr id="29" name="Text 26"/>
          <p:cNvSpPr/>
          <p:nvPr/>
        </p:nvSpPr>
        <p:spPr>
          <a:xfrm>
            <a:off x="4864608" y="259689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建立包含机械推进与通信功耗的综合能耗模型</a:t>
            </a:r>
            <a:endParaRPr lang="en-US" sz="900" dirty="0"/>
          </a:p>
        </p:txBody>
      </p:sp>
      <p:sp>
        <p:nvSpPr>
          <p:cNvPr id="30" name="Shape 27"/>
          <p:cNvSpPr/>
          <p:nvPr/>
        </p:nvSpPr>
        <p:spPr>
          <a:xfrm>
            <a:off x="4754880" y="2971800"/>
            <a:ext cx="3931920" cy="731520"/>
          </a:xfrm>
          <a:prstGeom prst="rect">
            <a:avLst/>
          </a:prstGeom>
          <a:solidFill>
            <a:srgbClr val="FFFFFF"/>
          </a:solidFill>
          <a:ln w="15875">
            <a:solidFill>
              <a:srgbClr val="3874B8"/>
            </a:solidFill>
            <a:prstDash val="dash"/>
          </a:ln>
        </p:spPr>
      </p:sp>
      <p:sp>
        <p:nvSpPr>
          <p:cNvPr id="31" name="Shape 28"/>
          <p:cNvSpPr/>
          <p:nvPr/>
        </p:nvSpPr>
        <p:spPr>
          <a:xfrm>
            <a:off x="4800600" y="3008376"/>
            <a:ext cx="3840480" cy="292608"/>
          </a:xfrm>
          <a:prstGeom prst="rect">
            <a:avLst/>
          </a:prstGeom>
          <a:solidFill>
            <a:srgbClr val="E8EDF5"/>
          </a:solidFill>
          <a:ln/>
        </p:spPr>
      </p:sp>
      <p:sp>
        <p:nvSpPr>
          <p:cNvPr id="32" name="Text 29"/>
          <p:cNvSpPr/>
          <p:nvPr/>
        </p:nvSpPr>
        <p:spPr>
          <a:xfrm>
            <a:off x="4800600" y="300837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实物验证与工程落地</a:t>
            </a:r>
            <a:endParaRPr lang="en-US" sz="900" dirty="0"/>
          </a:p>
        </p:txBody>
      </p:sp>
      <p:sp>
        <p:nvSpPr>
          <p:cNvPr id="33" name="Text 30"/>
          <p:cNvSpPr/>
          <p:nvPr/>
        </p:nvSpPr>
        <p:spPr>
          <a:xfrm>
            <a:off x="4864608" y="337413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结合ROS飞控系统开展半物理仿真或多机实飞测试</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2571750"/>
          </a:xfrm>
          <a:prstGeom prst="rect">
            <a:avLst/>
          </a:prstGeom>
          <a:solidFill>
            <a:srgbClr val="183A6A"/>
          </a:solidFill>
          <a:ln/>
        </p:spPr>
      </p:sp>
      <p:pic>
        <p:nvPicPr>
          <p:cNvPr id="3"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3474720" y="135988"/>
            <a:ext cx="2194560" cy="493776"/>
          </a:xfrm>
          <a:prstGeom prst="rect">
            <a:avLst/>
          </a:prstGeom>
          <a:noFill/>
        </p:spPr>
      </p:pic>
      <p:sp>
        <p:nvSpPr>
          <p:cNvPr id="4" name="Text 1"/>
          <p:cNvSpPr/>
          <p:nvPr/>
        </p:nvSpPr>
        <p:spPr>
          <a:xfrm>
            <a:off x="1371600" y="822960"/>
            <a:ext cx="6400800" cy="640080"/>
          </a:xfrm>
          <a:prstGeom prst="rect">
            <a:avLst/>
          </a:prstGeom>
          <a:noFill/>
          <a:ln/>
        </p:spPr>
        <p:txBody>
          <a:bodyPr wrap="square" rtlCol="0" anchor="ctr"/>
          <a:lstStyle/>
          <a:p>
            <a:pPr marL="0" indent="0" algn="ctr">
              <a:buNone/>
            </a:pPr>
            <a:r>
              <a:rPr lang="en-US" sz="3600" b="1" dirty="0">
                <a:solidFill>
                  <a:srgbClr val="FFFFFF"/>
                </a:solidFill>
                <a:latin typeface="Microsoft YaHei" pitchFamily="34" charset="0"/>
                <a:ea typeface="Microsoft YaHei" pitchFamily="34" charset="-122"/>
                <a:cs typeface="Microsoft YaHei" pitchFamily="34" charset="-120"/>
              </a:rPr>
              <a:t>谢谢各位老师！</a:t>
            </a:r>
            <a:endParaRPr lang="en-US" sz="3600" dirty="0"/>
          </a:p>
        </p:txBody>
      </p:sp>
      <p:sp>
        <p:nvSpPr>
          <p:cNvPr id="5" name="Text 2"/>
          <p:cNvSpPr/>
          <p:nvPr/>
        </p:nvSpPr>
        <p:spPr>
          <a:xfrm>
            <a:off x="3549162" y="1528689"/>
            <a:ext cx="2045677" cy="320040"/>
          </a:xfrm>
          <a:prstGeom prst="rect">
            <a:avLst/>
          </a:prstGeom>
          <a:noFill/>
          <a:ln/>
        </p:spPr>
        <p:txBody>
          <a:bodyPr wrap="square" rtlCol="0" anchor="ctr"/>
          <a:lstStyle/>
          <a:p>
            <a:pPr marL="0" indent="0" algn="ctr">
              <a:buNone/>
            </a:pPr>
            <a:r>
              <a:rPr lang="en-US" sz="2400" b="1" dirty="0">
                <a:solidFill>
                  <a:schemeClr val="bg1"/>
                </a:solidFill>
                <a:latin typeface="Microsoft YaHei" pitchFamily="34" charset="0"/>
                <a:ea typeface="Microsoft YaHei" pitchFamily="34" charset="-122"/>
                <a:cs typeface="Microsoft YaHei" pitchFamily="34" charset="-120"/>
              </a:rPr>
              <a:t>敬请批评指正</a:t>
            </a:r>
            <a:endParaRPr lang="en-US" sz="2400" b="1" dirty="0">
              <a:solidFill>
                <a:schemeClr val="bg1"/>
              </a:solidFill>
            </a:endParaRPr>
          </a:p>
        </p:txBody>
      </p:sp>
      <p:sp>
        <p:nvSpPr>
          <p:cNvPr id="6" name="Shape 3"/>
          <p:cNvSpPr/>
          <p:nvPr/>
        </p:nvSpPr>
        <p:spPr>
          <a:xfrm>
            <a:off x="0" y="2683119"/>
            <a:ext cx="9144000" cy="0"/>
          </a:xfrm>
          <a:prstGeom prst="line">
            <a:avLst/>
          </a:prstGeom>
          <a:noFill/>
          <a:ln w="31750">
            <a:solidFill>
              <a:srgbClr val="183A6A"/>
            </a:solidFill>
            <a:prstDash val="solid"/>
          </a:ln>
        </p:spPr>
        <p:txBody>
          <a:bodyPr/>
          <a:lstStyle/>
          <a:p>
            <a:endParaRPr lang="zh-CN" altLang="en-US" dirty="0"/>
          </a:p>
        </p:txBody>
      </p:sp>
      <p:sp>
        <p:nvSpPr>
          <p:cNvPr id="7" name="Shape 4"/>
          <p:cNvSpPr/>
          <p:nvPr/>
        </p:nvSpPr>
        <p:spPr>
          <a:xfrm>
            <a:off x="457200" y="2800350"/>
            <a:ext cx="4876800" cy="2011680"/>
          </a:xfrm>
          <a:prstGeom prst="rect">
            <a:avLst/>
          </a:prstGeom>
          <a:solidFill>
            <a:srgbClr val="FFFFFF"/>
          </a:solidFill>
          <a:ln w="15875">
            <a:solidFill>
              <a:srgbClr val="3874B8"/>
            </a:solidFill>
            <a:prstDash val="dash"/>
          </a:ln>
        </p:spPr>
      </p:sp>
      <p:sp>
        <p:nvSpPr>
          <p:cNvPr id="8" name="Shape 5"/>
          <p:cNvSpPr/>
          <p:nvPr/>
        </p:nvSpPr>
        <p:spPr>
          <a:xfrm>
            <a:off x="502920" y="2836926"/>
            <a:ext cx="4763386" cy="292608"/>
          </a:xfrm>
          <a:prstGeom prst="rect">
            <a:avLst/>
          </a:prstGeom>
          <a:solidFill>
            <a:srgbClr val="E8EDF5"/>
          </a:solidFill>
          <a:ln/>
        </p:spPr>
      </p:sp>
      <p:sp>
        <p:nvSpPr>
          <p:cNvPr id="9" name="Text 6"/>
          <p:cNvSpPr/>
          <p:nvPr/>
        </p:nvSpPr>
        <p:spPr>
          <a:xfrm>
            <a:off x="964373" y="2836926"/>
            <a:ext cx="38404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论文核心贡献</a:t>
            </a:r>
            <a:endParaRPr lang="en-US" sz="1200" dirty="0"/>
          </a:p>
        </p:txBody>
      </p:sp>
      <p:sp>
        <p:nvSpPr>
          <p:cNvPr id="10" name="Text 7"/>
          <p:cNvSpPr/>
          <p:nvPr/>
        </p:nvSpPr>
        <p:spPr>
          <a:xfrm>
            <a:off x="594360" y="3184398"/>
            <a:ext cx="4616548" cy="1554480"/>
          </a:xfrm>
          <a:prstGeom prst="rect">
            <a:avLst/>
          </a:prstGeom>
          <a:noFill/>
          <a:ln/>
        </p:spPr>
        <p:txBody>
          <a:bodyPr wrap="square" lIns="0" tIns="0" rIns="0" bIns="0" rtlCol="0" anchor="t"/>
          <a:lstStyle/>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C-RRT*-APF：</a:t>
            </a:r>
            <a:r>
              <a:rPr lang="en-US" sz="1100" dirty="0">
                <a:solidFill>
                  <a:srgbClr val="333333"/>
                </a:solidFill>
                <a:latin typeface="Microsoft YaHei" pitchFamily="34" charset="0"/>
                <a:ea typeface="Microsoft YaHei" pitchFamily="34" charset="-122"/>
                <a:cs typeface="Microsoft YaHei" pitchFamily="34" charset="-120"/>
              </a:rPr>
              <a:t>分层分簇通信保持路径规划，平均到达时间降低29%，通信连通率提升17%</a:t>
            </a:r>
            <a:r>
              <a:rPr lang="zh-CN" altLang="en-US" sz="900" dirty="0">
                <a:solidFill>
                  <a:srgbClr val="333333"/>
                </a:solidFill>
                <a:latin typeface="Microsoft YaHei" pitchFamily="34" charset="0"/>
                <a:ea typeface="Microsoft YaHei" pitchFamily="34" charset="-122"/>
                <a:cs typeface="Microsoft YaHei" pitchFamily="34" charset="-120"/>
              </a:rPr>
              <a:t>。</a:t>
            </a:r>
            <a:endParaRPr lang="en-US" sz="900" dirty="0"/>
          </a:p>
          <a:p>
            <a:pPr marL="0" indent="0">
              <a:lnSpc>
                <a:spcPct val="130000"/>
              </a:lnSpc>
              <a:buNone/>
            </a:pPr>
            <a:r>
              <a:rPr lang="en-US" sz="900" b="1" dirty="0">
                <a:solidFill>
                  <a:schemeClr val="accent1"/>
                </a:solidFill>
                <a:latin typeface="Microsoft YaHei" pitchFamily="34" charset="0"/>
                <a:ea typeface="Microsoft YaHei" pitchFamily="34" charset="-122"/>
                <a:cs typeface="Microsoft YaHei" pitchFamily="34" charset="-120"/>
              </a:rPr>
              <a:t>MPG-NSGA-II：</a:t>
            </a:r>
            <a:r>
              <a:rPr lang="en-US" sz="1100" dirty="0">
                <a:solidFill>
                  <a:srgbClr val="333333"/>
                </a:solidFill>
                <a:latin typeface="Microsoft YaHei" pitchFamily="34" charset="0"/>
                <a:ea typeface="Microsoft YaHei" pitchFamily="34" charset="-122"/>
                <a:cs typeface="Microsoft YaHei" pitchFamily="34" charset="-120"/>
              </a:rPr>
              <a:t>多种群引导协同进化区域覆盖，各连通度目标下覆盖率平均提升约7%</a:t>
            </a:r>
            <a:r>
              <a:rPr lang="zh-CN" altLang="en-US" sz="1100" dirty="0">
                <a:solidFill>
                  <a:srgbClr val="333333"/>
                </a:solidFill>
                <a:latin typeface="Microsoft YaHei" pitchFamily="34" charset="0"/>
                <a:ea typeface="Microsoft YaHei" pitchFamily="34" charset="-122"/>
                <a:cs typeface="Microsoft YaHei" pitchFamily="34" charset="-120"/>
              </a:rPr>
              <a:t>。</a:t>
            </a:r>
            <a:endParaRPr lang="en-US" sz="1100" dirty="0"/>
          </a:p>
          <a:p>
            <a:pPr marL="0" indent="0">
              <a:lnSpc>
                <a:spcPct val="130000"/>
              </a:lnSpc>
              <a:buNone/>
            </a:pPr>
            <a:endParaRPr lang="en-US" sz="900" b="1" dirty="0"/>
          </a:p>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已录用论文</a:t>
            </a:r>
            <a:r>
              <a:rPr lang="en-US" sz="1100" b="1" dirty="0">
                <a:solidFill>
                  <a:srgbClr val="666666"/>
                </a:solidFill>
                <a:latin typeface="Microsoft YaHei" pitchFamily="34" charset="0"/>
                <a:ea typeface="Microsoft YaHei" pitchFamily="34" charset="-122"/>
                <a:cs typeface="Microsoft YaHei" pitchFamily="34" charset="-120"/>
              </a:rPr>
              <a:t xml:space="preserve">： </a:t>
            </a:r>
            <a:r>
              <a:rPr lang="en-US" sz="1100" dirty="0">
                <a:solidFill>
                  <a:srgbClr val="666666"/>
                </a:solidFill>
                <a:latin typeface="Microsoft YaHei" pitchFamily="34" charset="0"/>
                <a:ea typeface="Microsoft YaHei" pitchFamily="34" charset="-122"/>
                <a:cs typeface="Microsoft YaHei" pitchFamily="34" charset="-120"/>
              </a:rPr>
              <a:t>何运璐</a:t>
            </a:r>
            <a:r>
              <a:rPr lang="zh-CN" altLang="en-US" sz="1100" dirty="0">
                <a:solidFill>
                  <a:srgbClr val="666666"/>
                </a:solidFill>
                <a:latin typeface="Microsoft YaHei" pitchFamily="34" charset="0"/>
                <a:ea typeface="Microsoft YaHei" pitchFamily="34" charset="-122"/>
                <a:cs typeface="Microsoft YaHei" pitchFamily="34" charset="-120"/>
              </a:rPr>
              <a:t>，丁良辉</a:t>
            </a:r>
            <a:r>
              <a:rPr lang="en-US" sz="1100" dirty="0">
                <a:solidFill>
                  <a:srgbClr val="666666"/>
                </a:solidFill>
                <a:latin typeface="Microsoft YaHei" pitchFamily="34" charset="0"/>
                <a:ea typeface="Microsoft YaHei" pitchFamily="34" charset="-122"/>
                <a:cs typeface="Microsoft YaHei" pitchFamily="34" charset="-120"/>
              </a:rPr>
              <a:t>等，《复杂对抗环境下集群连通保持分簇路径规划》，指挥与控制学报，2026</a:t>
            </a:r>
            <a:endParaRPr lang="en-US" sz="1100" dirty="0"/>
          </a:p>
        </p:txBody>
      </p:sp>
      <p:sp>
        <p:nvSpPr>
          <p:cNvPr id="11" name="Shape 8"/>
          <p:cNvSpPr/>
          <p:nvPr/>
        </p:nvSpPr>
        <p:spPr>
          <a:xfrm>
            <a:off x="5691554" y="2800350"/>
            <a:ext cx="2995246" cy="2011680"/>
          </a:xfrm>
          <a:prstGeom prst="rect">
            <a:avLst/>
          </a:prstGeom>
          <a:solidFill>
            <a:srgbClr val="FFFFFF"/>
          </a:solidFill>
          <a:ln w="15875">
            <a:solidFill>
              <a:srgbClr val="3874B8"/>
            </a:solidFill>
            <a:prstDash val="dash"/>
          </a:ln>
        </p:spPr>
      </p:sp>
      <p:sp>
        <p:nvSpPr>
          <p:cNvPr id="12" name="Shape 9"/>
          <p:cNvSpPr/>
          <p:nvPr/>
        </p:nvSpPr>
        <p:spPr>
          <a:xfrm>
            <a:off x="5715491" y="2836926"/>
            <a:ext cx="2925589" cy="292608"/>
          </a:xfrm>
          <a:prstGeom prst="rect">
            <a:avLst/>
          </a:prstGeom>
          <a:solidFill>
            <a:srgbClr val="E8EDF5"/>
          </a:solidFill>
          <a:ln/>
        </p:spPr>
      </p:sp>
      <p:sp>
        <p:nvSpPr>
          <p:cNvPr id="13" name="Text 10"/>
          <p:cNvSpPr/>
          <p:nvPr/>
        </p:nvSpPr>
        <p:spPr>
          <a:xfrm>
            <a:off x="6743945" y="2836926"/>
            <a:ext cx="8686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基  本 信 息</a:t>
            </a:r>
            <a:endParaRPr lang="en-US" sz="1200" dirty="0"/>
          </a:p>
        </p:txBody>
      </p:sp>
      <p:sp>
        <p:nvSpPr>
          <p:cNvPr id="14" name="Text 11"/>
          <p:cNvSpPr/>
          <p:nvPr/>
        </p:nvSpPr>
        <p:spPr>
          <a:xfrm>
            <a:off x="5989320" y="3006435"/>
            <a:ext cx="1783080" cy="1656240"/>
          </a:xfrm>
          <a:prstGeom prst="rect">
            <a:avLst/>
          </a:prstGeom>
          <a:noFill/>
          <a:ln/>
        </p:spPr>
        <p:txBody>
          <a:bodyPr wrap="square" lIns="0" tIns="0" rIns="0" bIns="0" rtlCol="0" anchor="ctr"/>
          <a:lstStyle/>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答  辩 人：  何运璐</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导　   师：  丁良辉 教授</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专　   业：  电子与通信工程</a:t>
            </a:r>
          </a:p>
          <a:p>
            <a:pPr marL="0" indent="0">
              <a:lnSpc>
                <a:spcPct val="160000"/>
              </a:lnSpc>
              <a:buNone/>
            </a:pPr>
            <a:r>
              <a:rPr lang="zh-CN" altLang="en-US" sz="1000" dirty="0">
                <a:solidFill>
                  <a:srgbClr val="333333"/>
                </a:solidFill>
                <a:latin typeface="Microsoft YaHei" pitchFamily="34" charset="0"/>
                <a:ea typeface="Microsoft YaHei" pitchFamily="34" charset="-122"/>
              </a:rPr>
              <a:t>学位类型：  专业型硕士</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日　   期：   2026 年 4 月</a:t>
            </a:r>
            <a:endParaRPr lang="en-US" sz="1000" dirty="0"/>
          </a:p>
        </p:txBody>
      </p:sp>
      <p:sp>
        <p:nvSpPr>
          <p:cNvPr id="15" name="Text 1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1579</Words>
  <Application>Microsoft Office PowerPoint</Application>
  <PresentationFormat>全屏显示(16:9)</PresentationFormat>
  <Paragraphs>462</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等线</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复杂城市作战环境下大规模无人机集群通信保持任务规划研究</dc:title>
  <dc:subject>PptxGenJS Presentation</dc:subject>
  <dc:creator>何运璐</dc:creator>
  <cp:lastModifiedBy>运璐 何</cp:lastModifiedBy>
  <cp:revision>18</cp:revision>
  <dcterms:created xsi:type="dcterms:W3CDTF">2026-04-28T07:00:37Z</dcterms:created>
  <dcterms:modified xsi:type="dcterms:W3CDTF">2026-04-28T13:33:08Z</dcterms:modified>
</cp:coreProperties>
</file>