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A6A"/>
        </a:solidFill>
      </p:bgPr>
    </p:bg>
    <p:spTree>
      <p:nvGrpSpPr>
        <p:cNvPr id="1" name=""/>
        <p:cNvGrpSpPr/>
        <p:nvPr/>
      </p:nvGrpSpPr>
      <p:grpSpPr>
        <a:xfrm>
          <a:off x="0" y="0"/>
          <a:ext cx="0" cy="0"/>
          <a:chOff x="0" y="0"/>
          <a:chExt cx="0" cy="0"/>
        </a:xfrm>
      </p:grpSpPr>
      <p:sp>
        <p:nvSpPr>
          <p:cNvPr id="2" name="Shape 0"/>
          <p:cNvSpPr/>
          <p:nvPr/>
        </p:nvSpPr>
        <p:spPr>
          <a:xfrm>
            <a:off x="1371600" y="914400"/>
            <a:ext cx="6400800" cy="0"/>
          </a:xfrm>
          <a:prstGeom prst="line">
            <a:avLst/>
          </a:prstGeom>
          <a:noFill/>
          <a:ln w="12700">
            <a:solidFill>
              <a:srgbClr val="FFFFFF"/>
            </a:solidFill>
            <a:prstDash val="solid"/>
          </a:ln>
        </p:spPr>
      </p:sp>
      <p:sp>
        <p:nvSpPr>
          <p:cNvPr id="3" name="Text 1"/>
          <p:cNvSpPr/>
          <p:nvPr/>
        </p:nvSpPr>
        <p:spPr>
          <a:xfrm>
            <a:off x="914400" y="1051560"/>
            <a:ext cx="7315200" cy="1097280"/>
          </a:xfrm>
          <a:prstGeom prst="rect">
            <a:avLst/>
          </a:prstGeom>
          <a:noFill/>
          <a:ln/>
        </p:spPr>
        <p:txBody>
          <a:bodyPr wrap="square" rtlCol="0" anchor="ctr"/>
          <a:lstStyle/>
          <a:p>
            <a:pPr algn="ctr" indent="0" marL="0">
              <a:buNone/>
            </a:pPr>
            <a:r>
              <a:rPr lang="en-US" sz="2400" b="1" dirty="0">
                <a:solidFill>
                  <a:srgbClr val="FFFFFF"/>
                </a:solidFill>
                <a:latin typeface="Microsoft YaHei" pitchFamily="34" charset="0"/>
                <a:ea typeface="Microsoft YaHei" pitchFamily="34" charset="-122"/>
                <a:cs typeface="Microsoft YaHei" pitchFamily="34" charset="-120"/>
              </a:rPr>
              <a:t>复杂城市作战环境下大规模无人机集群</a:t>
            </a:r>
            <a:endParaRPr lang="en-US" sz="2400" dirty="0"/>
          </a:p>
          <a:p>
            <a:pPr algn="ctr" indent="0" marL="0">
              <a:buNone/>
            </a:pPr>
            <a:r>
              <a:rPr lang="en-US" sz="2400" b="1" dirty="0">
                <a:solidFill>
                  <a:srgbClr val="FFFFFF"/>
                </a:solidFill>
                <a:latin typeface="Microsoft YaHei" pitchFamily="34" charset="0"/>
                <a:ea typeface="Microsoft YaHei" pitchFamily="34" charset="-122"/>
                <a:cs typeface="Microsoft YaHei" pitchFamily="34" charset="-120"/>
              </a:rPr>
              <a:t>通信保持任务规划研究</a:t>
            </a:r>
            <a:endParaRPr lang="en-US" sz="2400" dirty="0"/>
          </a:p>
        </p:txBody>
      </p:sp>
      <p:sp>
        <p:nvSpPr>
          <p:cNvPr id="4" name="Text 2"/>
          <p:cNvSpPr/>
          <p:nvPr/>
        </p:nvSpPr>
        <p:spPr>
          <a:xfrm>
            <a:off x="914400" y="2148840"/>
            <a:ext cx="7315200" cy="548640"/>
          </a:xfrm>
          <a:prstGeom prst="rect">
            <a:avLst/>
          </a:prstGeom>
          <a:noFill/>
          <a:ln/>
        </p:spPr>
        <p:txBody>
          <a:bodyPr wrap="square" rtlCol="0" anchor="t"/>
          <a:lstStyle/>
          <a:p>
            <a:pPr algn="ctr" indent="0" marL="0">
              <a:buNone/>
            </a:pPr>
            <a:r>
              <a:rPr lang="en-US" sz="1000" dirty="0">
                <a:solidFill>
                  <a:srgbClr val="B0C4E0"/>
                </a:solidFill>
                <a:latin typeface="Calibri" pitchFamily="34" charset="0"/>
                <a:ea typeface="Calibri" pitchFamily="34" charset="-122"/>
                <a:cs typeface="Calibri" pitchFamily="34" charset="-120"/>
              </a:rPr>
              <a:t>Connectivity-Preserving Mission Planning for Large-Scale UAV Swarms</a:t>
            </a:r>
            <a:endParaRPr lang="en-US" sz="1000" dirty="0"/>
          </a:p>
          <a:p>
            <a:pPr algn="ctr" indent="0" marL="0">
              <a:buNone/>
            </a:pPr>
            <a:r>
              <a:rPr lang="en-US" sz="1000" dirty="0">
                <a:solidFill>
                  <a:srgbClr val="B0C4E0"/>
                </a:solidFill>
                <a:latin typeface="Calibri" pitchFamily="34" charset="0"/>
                <a:ea typeface="Calibri" pitchFamily="34" charset="-122"/>
                <a:cs typeface="Calibri" pitchFamily="34" charset="-120"/>
              </a:rPr>
              <a:t>in Complex Urban Combat Environments</a:t>
            </a:r>
            <a:endParaRPr lang="en-US" sz="1000" dirty="0"/>
          </a:p>
        </p:txBody>
      </p:sp>
      <p:sp>
        <p:nvSpPr>
          <p:cNvPr id="5" name="Shape 3"/>
          <p:cNvSpPr/>
          <p:nvPr/>
        </p:nvSpPr>
        <p:spPr>
          <a:xfrm>
            <a:off x="1371600" y="2834640"/>
            <a:ext cx="6400800" cy="0"/>
          </a:xfrm>
          <a:prstGeom prst="line">
            <a:avLst/>
          </a:prstGeom>
          <a:noFill/>
          <a:ln w="12700">
            <a:solidFill>
              <a:srgbClr val="FFFFFF"/>
            </a:solidFill>
            <a:prstDash val="solid"/>
          </a:ln>
        </p:spPr>
      </p:sp>
      <p:sp>
        <p:nvSpPr>
          <p:cNvPr id="6" name="Text 4"/>
          <p:cNvSpPr/>
          <p:nvPr/>
        </p:nvSpPr>
        <p:spPr>
          <a:xfrm>
            <a:off x="2286000" y="3108960"/>
            <a:ext cx="4572000" cy="1188720"/>
          </a:xfrm>
          <a:prstGeom prst="rect">
            <a:avLst/>
          </a:prstGeom>
          <a:noFill/>
          <a:ln/>
        </p:spPr>
        <p:txBody>
          <a:bodyPr wrap="square" rtlCol="0" anchor="ctr"/>
          <a:lstStyle/>
          <a:p>
            <a:pPr algn="ctr" indent="0" marL="0">
              <a:lnSpc>
                <a:spcPct val="150000"/>
              </a:lnSpc>
              <a:buNone/>
            </a:pPr>
            <a:r>
              <a:rPr lang="en-US" sz="1200" dirty="0">
                <a:solidFill>
                  <a:srgbClr val="FFFFFF"/>
                </a:solidFill>
                <a:latin typeface="Microsoft YaHei" pitchFamily="34" charset="0"/>
                <a:ea typeface="Microsoft YaHei" pitchFamily="34" charset="-122"/>
                <a:cs typeface="Microsoft YaHei" pitchFamily="34" charset="-120"/>
              </a:rPr>
              <a:t>答辩人：何运璐</a:t>
            </a:r>
            <a:endParaRPr lang="en-US" sz="1200" dirty="0"/>
          </a:p>
          <a:p>
            <a:pPr algn="ctr" indent="0" marL="0">
              <a:lnSpc>
                <a:spcPct val="150000"/>
              </a:lnSpc>
              <a:buNone/>
            </a:pPr>
            <a:r>
              <a:rPr lang="en-US" sz="1200" dirty="0">
                <a:solidFill>
                  <a:srgbClr val="FFFFFF"/>
                </a:solidFill>
                <a:latin typeface="Microsoft YaHei" pitchFamily="34" charset="0"/>
                <a:ea typeface="Microsoft YaHei" pitchFamily="34" charset="-122"/>
                <a:cs typeface="Microsoft YaHei" pitchFamily="34" charset="-120"/>
              </a:rPr>
              <a:t>导　师：丁良辉 教授</a:t>
            </a:r>
            <a:endParaRPr lang="en-US" sz="1200" dirty="0"/>
          </a:p>
          <a:p>
            <a:pPr algn="ctr" indent="0" marL="0">
              <a:lnSpc>
                <a:spcPct val="150000"/>
              </a:lnSpc>
              <a:buNone/>
            </a:pPr>
            <a:r>
              <a:rPr lang="en-US" sz="1200" dirty="0">
                <a:solidFill>
                  <a:srgbClr val="FFFFFF"/>
                </a:solidFill>
                <a:latin typeface="Microsoft YaHei" pitchFamily="34" charset="0"/>
                <a:ea typeface="Microsoft YaHei" pitchFamily="34" charset="-122"/>
                <a:cs typeface="Microsoft YaHei" pitchFamily="34" charset="-120"/>
              </a:rPr>
              <a:t>院　系：集成电路学院</a:t>
            </a:r>
            <a:endParaRPr lang="en-US" sz="1200" dirty="0"/>
          </a:p>
          <a:p>
            <a:pPr algn="ctr" indent="0" marL="0">
              <a:lnSpc>
                <a:spcPct val="150000"/>
              </a:lnSpc>
              <a:buNone/>
            </a:pPr>
            <a:r>
              <a:rPr lang="en-US" sz="1200" dirty="0">
                <a:solidFill>
                  <a:srgbClr val="FFFFFF"/>
                </a:solidFill>
                <a:latin typeface="Microsoft YaHei" pitchFamily="34" charset="0"/>
                <a:ea typeface="Microsoft YaHei" pitchFamily="34" charset="-122"/>
                <a:cs typeface="Microsoft YaHei" pitchFamily="34" charset="-120"/>
              </a:rPr>
              <a:t>日　期：2026年4月</a:t>
            </a:r>
            <a:endParaRPr lang="en-US" sz="1200" dirty="0"/>
          </a:p>
        </p:txBody>
      </p:sp>
      <p:sp>
        <p:nvSpPr>
          <p:cNvPr id="7" name="Text 5"/>
          <p:cNvSpPr/>
          <p:nvPr/>
        </p:nvSpPr>
        <p:spPr>
          <a:xfrm>
            <a:off x="1371600" y="4572000"/>
            <a:ext cx="6400800" cy="320040"/>
          </a:xfrm>
          <a:prstGeom prst="rect">
            <a:avLst/>
          </a:prstGeom>
          <a:noFill/>
          <a:ln/>
        </p:spPr>
        <p:txBody>
          <a:bodyPr wrap="square" rtlCol="0" anchor="ctr"/>
          <a:lstStyle/>
          <a:p>
            <a:pPr algn="ctr" indent="0" marL="0">
              <a:buNone/>
            </a:pPr>
            <a:r>
              <a:rPr lang="en-US" sz="1000" dirty="0">
                <a:solidFill>
                  <a:srgbClr val="8FA8CC"/>
                </a:solidFill>
                <a:latin typeface="Microsoft YaHei" pitchFamily="34" charset="0"/>
                <a:ea typeface="Microsoft YaHei" pitchFamily="34" charset="-122"/>
                <a:cs typeface="Microsoft YaHei" pitchFamily="34" charset="-120"/>
              </a:rPr>
              <a:t>上海交通大学 · 电子与通信工程 · 工学硕士</a:t>
            </a:r>
            <a:endParaRPr lang="en-US" sz="1000" dirty="0"/>
          </a:p>
        </p:txBody>
      </p:sp>
      <p:pic>
        <p:nvPicPr>
          <p:cNvPr id="8" name="Image 0" descr="/home/claude/sjtu_logo.png">    </p:cNvPr>
          <p:cNvPicPr>
            <a:picLocks noChangeAspect="1"/>
          </p:cNvPicPr>
          <p:nvPr/>
        </p:nvPicPr>
        <p:blipFill>
          <a:blip r:embed="rId1"/>
          <a:stretch>
            <a:fillRect/>
          </a:stretch>
        </p:blipFill>
        <p:spPr>
          <a:xfrm>
            <a:off x="3474720" y="228600"/>
            <a:ext cx="2194560" cy="4937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3A6A"/>
        </a:solidFill>
      </p:bgPr>
    </p:bg>
    <p:spTree>
      <p:nvGrpSpPr>
        <p:cNvPr id="1" name=""/>
        <p:cNvGrpSpPr/>
        <p:nvPr/>
      </p:nvGrpSpPr>
      <p:grpSpPr>
        <a:xfrm>
          <a:off x="0" y="0"/>
          <a:ext cx="0" cy="0"/>
          <a:chOff x="0" y="0"/>
          <a:chExt cx="0" cy="0"/>
        </a:xfrm>
      </p:grpSpPr>
      <p:pic>
        <p:nvPicPr>
          <p:cNvPr id="2" name="Image 0" descr="/home/claude/sjtu_logo.png">    </p:cNvPr>
          <p:cNvPicPr>
            <a:picLocks noChangeAspect="1"/>
          </p:cNvPicPr>
          <p:nvPr/>
        </p:nvPicPr>
        <p:blipFill>
          <a:blip r:embed="rId1"/>
          <a:stretch>
            <a:fillRect/>
          </a:stretch>
        </p:blipFill>
        <p:spPr>
          <a:xfrm>
            <a:off x="7132320" y="182880"/>
            <a:ext cx="1645920" cy="374904"/>
          </a:xfrm>
          <a:prstGeom prst="rect">
            <a:avLst/>
          </a:prstGeom>
        </p:spPr>
      </p:pic>
      <p:sp>
        <p:nvSpPr>
          <p:cNvPr id="3" name="Text 0"/>
          <p:cNvSpPr/>
          <p:nvPr/>
        </p:nvSpPr>
        <p:spPr>
          <a:xfrm>
            <a:off x="457200" y="548640"/>
            <a:ext cx="2743200" cy="320040"/>
          </a:xfrm>
          <a:prstGeom prst="rect">
            <a:avLst/>
          </a:prstGeom>
          <a:noFill/>
          <a:ln/>
        </p:spPr>
        <p:txBody>
          <a:bodyPr wrap="square" lIns="0" tIns="0" rIns="0" bIns="0" rtlCol="0" anchor="ctr"/>
          <a:lstStyle/>
          <a:p>
            <a:pPr indent="0" marL="0">
              <a:buNone/>
            </a:pPr>
            <a:r>
              <a:rPr lang="en-US" sz="1400" b="1" spc="400" kern="0" dirty="0">
                <a:solidFill>
                  <a:srgbClr val="5B8DBF"/>
                </a:solidFill>
                <a:latin typeface="Calibri" pitchFamily="34" charset="0"/>
                <a:ea typeface="Calibri" pitchFamily="34" charset="-122"/>
                <a:cs typeface="Calibri" pitchFamily="34" charset="-120"/>
              </a:rPr>
              <a:t>CONTENTS</a:t>
            </a:r>
            <a:endParaRPr lang="en-US" sz="1400" dirty="0"/>
          </a:p>
        </p:txBody>
      </p:sp>
      <p:sp>
        <p:nvSpPr>
          <p:cNvPr id="4" name="Text 1"/>
          <p:cNvSpPr/>
          <p:nvPr/>
        </p:nvSpPr>
        <p:spPr>
          <a:xfrm>
            <a:off x="457200" y="868680"/>
            <a:ext cx="2743200" cy="457200"/>
          </a:xfrm>
          <a:prstGeom prst="rect">
            <a:avLst/>
          </a:prstGeom>
          <a:noFill/>
          <a:ln/>
        </p:spPr>
        <p:txBody>
          <a:bodyPr wrap="square" lIns="0" tIns="0" rIns="0" bIns="0"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答辩目录</a:t>
            </a:r>
            <a:endParaRPr lang="en-US" sz="2200" dirty="0"/>
          </a:p>
        </p:txBody>
      </p:sp>
      <p:sp>
        <p:nvSpPr>
          <p:cNvPr id="5" name="Shape 2"/>
          <p:cNvSpPr/>
          <p:nvPr/>
        </p:nvSpPr>
        <p:spPr>
          <a:xfrm>
            <a:off x="457200" y="1371600"/>
            <a:ext cx="2286000" cy="0"/>
          </a:xfrm>
          <a:prstGeom prst="line">
            <a:avLst/>
          </a:prstGeom>
          <a:noFill/>
          <a:ln w="25400">
            <a:solidFill>
              <a:srgbClr val="5B8DBF"/>
            </a:solidFill>
            <a:prstDash val="solid"/>
          </a:ln>
        </p:spPr>
      </p:sp>
      <p:sp>
        <p:nvSpPr>
          <p:cNvPr id="6" name="Shape 3"/>
          <p:cNvSpPr/>
          <p:nvPr/>
        </p:nvSpPr>
        <p:spPr>
          <a:xfrm>
            <a:off x="457200" y="1645920"/>
            <a:ext cx="3657600" cy="1051560"/>
          </a:xfrm>
          <a:prstGeom prst="rect">
            <a:avLst/>
          </a:prstGeom>
          <a:solidFill>
            <a:srgbClr val="1F4D82"/>
          </a:solidFill>
          <a:ln w="9525">
            <a:solidFill>
              <a:srgbClr val="2B6AAF"/>
            </a:solidFill>
            <a:prstDash val="solid"/>
          </a:ln>
        </p:spPr>
      </p:sp>
      <p:sp>
        <p:nvSpPr>
          <p:cNvPr id="7" name="Text 4"/>
          <p:cNvSpPr/>
          <p:nvPr/>
        </p:nvSpPr>
        <p:spPr>
          <a:xfrm>
            <a:off x="594360" y="1755648"/>
            <a:ext cx="502920" cy="502920"/>
          </a:xfrm>
          <a:prstGeom prst="rect">
            <a:avLst/>
          </a:prstGeom>
          <a:noFill/>
          <a:ln/>
        </p:spPr>
        <p:txBody>
          <a:bodyPr wrap="square" lIns="0" tIns="0" rIns="0" bIns="0" rtlCol="0" anchor="ctr"/>
          <a:lstStyle/>
          <a:p>
            <a:pPr algn="ctr" indent="0" marL="0">
              <a:buNone/>
            </a:pPr>
            <a:r>
              <a:rPr lang="en-US" sz="2200" b="1" dirty="0">
                <a:solidFill>
                  <a:srgbClr val="5B8DBF"/>
                </a:solidFill>
                <a:latin typeface="Calibri" pitchFamily="34" charset="0"/>
                <a:ea typeface="Calibri" pitchFamily="34" charset="-122"/>
                <a:cs typeface="Calibri" pitchFamily="34" charset="-120"/>
              </a:rPr>
              <a:t>01</a:t>
            </a:r>
            <a:endParaRPr lang="en-US" sz="2200" dirty="0"/>
          </a:p>
        </p:txBody>
      </p:sp>
      <p:sp>
        <p:nvSpPr>
          <p:cNvPr id="8" name="Shape 5"/>
          <p:cNvSpPr/>
          <p:nvPr/>
        </p:nvSpPr>
        <p:spPr>
          <a:xfrm>
            <a:off x="1188720" y="1828800"/>
            <a:ext cx="0" cy="685800"/>
          </a:xfrm>
          <a:prstGeom prst="line">
            <a:avLst/>
          </a:prstGeom>
          <a:noFill/>
          <a:ln w="12700">
            <a:solidFill>
              <a:srgbClr val="2B6AAF"/>
            </a:solidFill>
            <a:prstDash val="solid"/>
          </a:ln>
        </p:spPr>
      </p:sp>
      <p:sp>
        <p:nvSpPr>
          <p:cNvPr id="9" name="Text 6"/>
          <p:cNvSpPr/>
          <p:nvPr/>
        </p:nvSpPr>
        <p:spPr>
          <a:xfrm>
            <a:off x="1371600" y="1737360"/>
            <a:ext cx="2560320" cy="868680"/>
          </a:xfrm>
          <a:prstGeom prst="rect">
            <a:avLst/>
          </a:prstGeom>
          <a:noFill/>
          <a:ln/>
        </p:spPr>
        <p:txBody>
          <a:bodyPr wrap="square" lIns="0" tIns="0" rIns="0" bIns="0"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研究背景与动机</a:t>
            </a:r>
            <a:endParaRPr lang="en-US" sz="1200" dirty="0"/>
          </a:p>
        </p:txBody>
      </p:sp>
      <p:sp>
        <p:nvSpPr>
          <p:cNvPr id="10" name="Shape 7"/>
          <p:cNvSpPr/>
          <p:nvPr/>
        </p:nvSpPr>
        <p:spPr>
          <a:xfrm>
            <a:off x="457200" y="2807208"/>
            <a:ext cx="3657600" cy="1051560"/>
          </a:xfrm>
          <a:prstGeom prst="rect">
            <a:avLst/>
          </a:prstGeom>
          <a:solidFill>
            <a:srgbClr val="1F4D82"/>
          </a:solidFill>
          <a:ln w="9525">
            <a:solidFill>
              <a:srgbClr val="2B6AAF"/>
            </a:solidFill>
            <a:prstDash val="solid"/>
          </a:ln>
        </p:spPr>
      </p:sp>
      <p:sp>
        <p:nvSpPr>
          <p:cNvPr id="11" name="Text 8"/>
          <p:cNvSpPr/>
          <p:nvPr/>
        </p:nvSpPr>
        <p:spPr>
          <a:xfrm>
            <a:off x="594360" y="2916936"/>
            <a:ext cx="502920" cy="502920"/>
          </a:xfrm>
          <a:prstGeom prst="rect">
            <a:avLst/>
          </a:prstGeom>
          <a:noFill/>
          <a:ln/>
        </p:spPr>
        <p:txBody>
          <a:bodyPr wrap="square" lIns="0" tIns="0" rIns="0" bIns="0" rtlCol="0" anchor="ctr"/>
          <a:lstStyle/>
          <a:p>
            <a:pPr algn="ctr" indent="0" marL="0">
              <a:buNone/>
            </a:pPr>
            <a:r>
              <a:rPr lang="en-US" sz="2200" b="1" dirty="0">
                <a:solidFill>
                  <a:srgbClr val="5B8DBF"/>
                </a:solidFill>
                <a:latin typeface="Calibri" pitchFamily="34" charset="0"/>
                <a:ea typeface="Calibri" pitchFamily="34" charset="-122"/>
                <a:cs typeface="Calibri" pitchFamily="34" charset="-120"/>
              </a:rPr>
              <a:t>02</a:t>
            </a:r>
            <a:endParaRPr lang="en-US" sz="2200" dirty="0"/>
          </a:p>
        </p:txBody>
      </p:sp>
      <p:sp>
        <p:nvSpPr>
          <p:cNvPr id="12" name="Shape 9"/>
          <p:cNvSpPr/>
          <p:nvPr/>
        </p:nvSpPr>
        <p:spPr>
          <a:xfrm>
            <a:off x="1188720" y="2990088"/>
            <a:ext cx="0" cy="685800"/>
          </a:xfrm>
          <a:prstGeom prst="line">
            <a:avLst/>
          </a:prstGeom>
          <a:noFill/>
          <a:ln w="12700">
            <a:solidFill>
              <a:srgbClr val="2B6AAF"/>
            </a:solidFill>
            <a:prstDash val="solid"/>
          </a:ln>
        </p:spPr>
      </p:sp>
      <p:sp>
        <p:nvSpPr>
          <p:cNvPr id="13" name="Text 10"/>
          <p:cNvSpPr/>
          <p:nvPr/>
        </p:nvSpPr>
        <p:spPr>
          <a:xfrm>
            <a:off x="1371600" y="2898648"/>
            <a:ext cx="2560320" cy="868680"/>
          </a:xfrm>
          <a:prstGeom prst="rect">
            <a:avLst/>
          </a:prstGeom>
          <a:noFill/>
          <a:ln/>
        </p:spPr>
        <p:txBody>
          <a:bodyPr wrap="square" lIns="0" tIns="0" rIns="0" bIns="0"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sp>
        <p:nvSpPr>
          <p:cNvPr id="14" name="Shape 11"/>
          <p:cNvSpPr/>
          <p:nvPr/>
        </p:nvSpPr>
        <p:spPr>
          <a:xfrm>
            <a:off x="457200" y="3968496"/>
            <a:ext cx="3657600" cy="1051560"/>
          </a:xfrm>
          <a:prstGeom prst="rect">
            <a:avLst/>
          </a:prstGeom>
          <a:solidFill>
            <a:srgbClr val="1F4D82"/>
          </a:solidFill>
          <a:ln w="9525">
            <a:solidFill>
              <a:srgbClr val="2B6AAF"/>
            </a:solidFill>
            <a:prstDash val="solid"/>
          </a:ln>
        </p:spPr>
      </p:sp>
      <p:sp>
        <p:nvSpPr>
          <p:cNvPr id="15" name="Text 12"/>
          <p:cNvSpPr/>
          <p:nvPr/>
        </p:nvSpPr>
        <p:spPr>
          <a:xfrm>
            <a:off x="594360" y="4078224"/>
            <a:ext cx="502920" cy="502920"/>
          </a:xfrm>
          <a:prstGeom prst="rect">
            <a:avLst/>
          </a:prstGeom>
          <a:noFill/>
          <a:ln/>
        </p:spPr>
        <p:txBody>
          <a:bodyPr wrap="square" lIns="0" tIns="0" rIns="0" bIns="0" rtlCol="0" anchor="ctr"/>
          <a:lstStyle/>
          <a:p>
            <a:pPr algn="ctr" indent="0" marL="0">
              <a:buNone/>
            </a:pPr>
            <a:r>
              <a:rPr lang="en-US" sz="2200" b="1" dirty="0">
                <a:solidFill>
                  <a:srgbClr val="5B8DBF"/>
                </a:solidFill>
                <a:latin typeface="Calibri" pitchFamily="34" charset="0"/>
                <a:ea typeface="Calibri" pitchFamily="34" charset="-122"/>
                <a:cs typeface="Calibri" pitchFamily="34" charset="-120"/>
              </a:rPr>
              <a:t>03</a:t>
            </a:r>
            <a:endParaRPr lang="en-US" sz="2200" dirty="0"/>
          </a:p>
        </p:txBody>
      </p:sp>
      <p:sp>
        <p:nvSpPr>
          <p:cNvPr id="16" name="Shape 13"/>
          <p:cNvSpPr/>
          <p:nvPr/>
        </p:nvSpPr>
        <p:spPr>
          <a:xfrm>
            <a:off x="1188720" y="4151376"/>
            <a:ext cx="0" cy="685800"/>
          </a:xfrm>
          <a:prstGeom prst="line">
            <a:avLst/>
          </a:prstGeom>
          <a:noFill/>
          <a:ln w="12700">
            <a:solidFill>
              <a:srgbClr val="2B6AAF"/>
            </a:solidFill>
            <a:prstDash val="solid"/>
          </a:ln>
        </p:spPr>
      </p:sp>
      <p:sp>
        <p:nvSpPr>
          <p:cNvPr id="17" name="Text 14"/>
          <p:cNvSpPr/>
          <p:nvPr/>
        </p:nvSpPr>
        <p:spPr>
          <a:xfrm>
            <a:off x="1371600" y="4059936"/>
            <a:ext cx="2560320" cy="868680"/>
          </a:xfrm>
          <a:prstGeom prst="rect">
            <a:avLst/>
          </a:prstGeom>
          <a:noFill/>
          <a:ln/>
        </p:spPr>
        <p:txBody>
          <a:bodyPr wrap="square" lIns="0" tIns="0" rIns="0" bIns="0"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sp>
        <p:nvSpPr>
          <p:cNvPr id="18" name="Shape 15"/>
          <p:cNvSpPr/>
          <p:nvPr/>
        </p:nvSpPr>
        <p:spPr>
          <a:xfrm>
            <a:off x="4663440" y="1645920"/>
            <a:ext cx="3657600" cy="1051560"/>
          </a:xfrm>
          <a:prstGeom prst="rect">
            <a:avLst/>
          </a:prstGeom>
          <a:solidFill>
            <a:srgbClr val="1F4D82"/>
          </a:solidFill>
          <a:ln w="9525">
            <a:solidFill>
              <a:srgbClr val="2B6AAF"/>
            </a:solidFill>
            <a:prstDash val="solid"/>
          </a:ln>
        </p:spPr>
      </p:sp>
      <p:sp>
        <p:nvSpPr>
          <p:cNvPr id="19" name="Text 16"/>
          <p:cNvSpPr/>
          <p:nvPr/>
        </p:nvSpPr>
        <p:spPr>
          <a:xfrm>
            <a:off x="4800600" y="1755648"/>
            <a:ext cx="502920" cy="502920"/>
          </a:xfrm>
          <a:prstGeom prst="rect">
            <a:avLst/>
          </a:prstGeom>
          <a:noFill/>
          <a:ln/>
        </p:spPr>
        <p:txBody>
          <a:bodyPr wrap="square" lIns="0" tIns="0" rIns="0" bIns="0" rtlCol="0" anchor="ctr"/>
          <a:lstStyle/>
          <a:p>
            <a:pPr algn="ctr" indent="0" marL="0">
              <a:buNone/>
            </a:pPr>
            <a:r>
              <a:rPr lang="en-US" sz="2200" b="1" dirty="0">
                <a:solidFill>
                  <a:srgbClr val="5B8DBF"/>
                </a:solidFill>
                <a:latin typeface="Calibri" pitchFamily="34" charset="0"/>
                <a:ea typeface="Calibri" pitchFamily="34" charset="-122"/>
                <a:cs typeface="Calibri" pitchFamily="34" charset="-120"/>
              </a:rPr>
              <a:t>04</a:t>
            </a:r>
            <a:endParaRPr lang="en-US" sz="2200" dirty="0"/>
          </a:p>
        </p:txBody>
      </p:sp>
      <p:sp>
        <p:nvSpPr>
          <p:cNvPr id="20" name="Shape 17"/>
          <p:cNvSpPr/>
          <p:nvPr/>
        </p:nvSpPr>
        <p:spPr>
          <a:xfrm>
            <a:off x="5394960" y="1828800"/>
            <a:ext cx="0" cy="685800"/>
          </a:xfrm>
          <a:prstGeom prst="line">
            <a:avLst/>
          </a:prstGeom>
          <a:noFill/>
          <a:ln w="12700">
            <a:solidFill>
              <a:srgbClr val="2B6AAF"/>
            </a:solidFill>
            <a:prstDash val="solid"/>
          </a:ln>
        </p:spPr>
      </p:sp>
      <p:sp>
        <p:nvSpPr>
          <p:cNvPr id="21" name="Text 18"/>
          <p:cNvSpPr/>
          <p:nvPr/>
        </p:nvSpPr>
        <p:spPr>
          <a:xfrm>
            <a:off x="5577840" y="1737360"/>
            <a:ext cx="2560320" cy="868680"/>
          </a:xfrm>
          <a:prstGeom prst="rect">
            <a:avLst/>
          </a:prstGeom>
          <a:noFill/>
          <a:ln/>
        </p:spPr>
        <p:txBody>
          <a:bodyPr wrap="square" lIns="0" tIns="0" rIns="0" bIns="0"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sp>
        <p:nvSpPr>
          <p:cNvPr id="22" name="Shape 19"/>
          <p:cNvSpPr/>
          <p:nvPr/>
        </p:nvSpPr>
        <p:spPr>
          <a:xfrm>
            <a:off x="4663440" y="2807208"/>
            <a:ext cx="3657600" cy="1051560"/>
          </a:xfrm>
          <a:prstGeom prst="rect">
            <a:avLst/>
          </a:prstGeom>
          <a:solidFill>
            <a:srgbClr val="1F4D82"/>
          </a:solidFill>
          <a:ln w="9525">
            <a:solidFill>
              <a:srgbClr val="2B6AAF"/>
            </a:solidFill>
            <a:prstDash val="solid"/>
          </a:ln>
        </p:spPr>
      </p:sp>
      <p:sp>
        <p:nvSpPr>
          <p:cNvPr id="23" name="Text 20"/>
          <p:cNvSpPr/>
          <p:nvPr/>
        </p:nvSpPr>
        <p:spPr>
          <a:xfrm>
            <a:off x="4800600" y="2916936"/>
            <a:ext cx="502920" cy="502920"/>
          </a:xfrm>
          <a:prstGeom prst="rect">
            <a:avLst/>
          </a:prstGeom>
          <a:noFill/>
          <a:ln/>
        </p:spPr>
        <p:txBody>
          <a:bodyPr wrap="square" lIns="0" tIns="0" rIns="0" bIns="0" rtlCol="0" anchor="ctr"/>
          <a:lstStyle/>
          <a:p>
            <a:pPr algn="ctr" indent="0" marL="0">
              <a:buNone/>
            </a:pPr>
            <a:r>
              <a:rPr lang="en-US" sz="2200" b="1" dirty="0">
                <a:solidFill>
                  <a:srgbClr val="5B8DBF"/>
                </a:solidFill>
                <a:latin typeface="Calibri" pitchFamily="34" charset="0"/>
                <a:ea typeface="Calibri" pitchFamily="34" charset="-122"/>
                <a:cs typeface="Calibri" pitchFamily="34" charset="-120"/>
              </a:rPr>
              <a:t>05</a:t>
            </a:r>
            <a:endParaRPr lang="en-US" sz="2200" dirty="0"/>
          </a:p>
        </p:txBody>
      </p:sp>
      <p:sp>
        <p:nvSpPr>
          <p:cNvPr id="24" name="Shape 21"/>
          <p:cNvSpPr/>
          <p:nvPr/>
        </p:nvSpPr>
        <p:spPr>
          <a:xfrm>
            <a:off x="5394960" y="2990088"/>
            <a:ext cx="0" cy="685800"/>
          </a:xfrm>
          <a:prstGeom prst="line">
            <a:avLst/>
          </a:prstGeom>
          <a:noFill/>
          <a:ln w="12700">
            <a:solidFill>
              <a:srgbClr val="2B6AAF"/>
            </a:solidFill>
            <a:prstDash val="solid"/>
          </a:ln>
        </p:spPr>
      </p:sp>
      <p:sp>
        <p:nvSpPr>
          <p:cNvPr id="25" name="Text 22"/>
          <p:cNvSpPr/>
          <p:nvPr/>
        </p:nvSpPr>
        <p:spPr>
          <a:xfrm>
            <a:off x="5577840" y="2898648"/>
            <a:ext cx="2560320" cy="868680"/>
          </a:xfrm>
          <a:prstGeom prst="rect">
            <a:avLst/>
          </a:prstGeom>
          <a:noFill/>
          <a:ln/>
        </p:spPr>
        <p:txBody>
          <a:bodyPr wrap="square" lIns="0" tIns="0" rIns="0" bIns="0"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总结与展望</a:t>
            </a:r>
            <a:endParaRPr lang="en-US" sz="1200" dirty="0"/>
          </a:p>
        </p:txBody>
      </p:sp>
      <p:sp>
        <p:nvSpPr>
          <p:cNvPr id="26" name="Shape 23"/>
          <p:cNvSpPr/>
          <p:nvPr/>
        </p:nvSpPr>
        <p:spPr>
          <a:xfrm>
            <a:off x="4663440" y="3968496"/>
            <a:ext cx="3657600" cy="1051560"/>
          </a:xfrm>
          <a:prstGeom prst="rect">
            <a:avLst/>
          </a:prstGeom>
          <a:solidFill>
            <a:srgbClr val="1F4D82"/>
          </a:solidFill>
          <a:ln w="9525">
            <a:solidFill>
              <a:srgbClr val="2B6AAF"/>
            </a:solidFill>
            <a:prstDash val="solid"/>
          </a:ln>
        </p:spPr>
      </p:sp>
      <p:sp>
        <p:nvSpPr>
          <p:cNvPr id="27" name="Text 24"/>
          <p:cNvSpPr/>
          <p:nvPr/>
        </p:nvSpPr>
        <p:spPr>
          <a:xfrm>
            <a:off x="4800600" y="4078224"/>
            <a:ext cx="502920" cy="502920"/>
          </a:xfrm>
          <a:prstGeom prst="rect">
            <a:avLst/>
          </a:prstGeom>
          <a:noFill/>
          <a:ln/>
        </p:spPr>
        <p:txBody>
          <a:bodyPr wrap="square" lIns="0" tIns="0" rIns="0" bIns="0" rtlCol="0" anchor="ctr"/>
          <a:lstStyle/>
          <a:p>
            <a:pPr algn="ctr" indent="0" marL="0">
              <a:buNone/>
            </a:pPr>
            <a:r>
              <a:rPr lang="en-US" sz="2200" b="1" dirty="0">
                <a:solidFill>
                  <a:srgbClr val="5B8DBF"/>
                </a:solidFill>
                <a:latin typeface="Calibri" pitchFamily="34" charset="0"/>
                <a:ea typeface="Calibri" pitchFamily="34" charset="-122"/>
                <a:cs typeface="Calibri" pitchFamily="34" charset="-120"/>
              </a:rPr>
              <a:t>06</a:t>
            </a:r>
            <a:endParaRPr lang="en-US" sz="2200" dirty="0"/>
          </a:p>
        </p:txBody>
      </p:sp>
      <p:sp>
        <p:nvSpPr>
          <p:cNvPr id="28" name="Shape 25"/>
          <p:cNvSpPr/>
          <p:nvPr/>
        </p:nvSpPr>
        <p:spPr>
          <a:xfrm>
            <a:off x="5394960" y="4151376"/>
            <a:ext cx="0" cy="685800"/>
          </a:xfrm>
          <a:prstGeom prst="line">
            <a:avLst/>
          </a:prstGeom>
          <a:noFill/>
          <a:ln w="12700">
            <a:solidFill>
              <a:srgbClr val="2B6AAF"/>
            </a:solidFill>
            <a:prstDash val="solid"/>
          </a:ln>
        </p:spPr>
      </p:sp>
      <p:sp>
        <p:nvSpPr>
          <p:cNvPr id="29" name="Text 26"/>
          <p:cNvSpPr/>
          <p:nvPr/>
        </p:nvSpPr>
        <p:spPr>
          <a:xfrm>
            <a:off x="5577840" y="4059936"/>
            <a:ext cx="2560320" cy="868680"/>
          </a:xfrm>
          <a:prstGeom prst="rect">
            <a:avLst/>
          </a:prstGeom>
          <a:noFill/>
          <a:ln/>
        </p:spPr>
        <p:txBody>
          <a:bodyPr wrap="square" lIns="0" tIns="0" rIns="0" bIns="0"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致谢</a:t>
            </a:r>
            <a:endParaRPr lang="en-US" sz="1200" dirty="0"/>
          </a:p>
        </p:txBody>
      </p:sp>
      <p:sp>
        <p:nvSpPr>
          <p:cNvPr id="30" name="Text 27"/>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01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研究背景与动机</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城市作战中的无人机集群通信挑战</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2560320" cy="1737360"/>
          </a:xfrm>
          <a:prstGeom prst="rect">
            <a:avLst/>
          </a:prstGeom>
          <a:solidFill>
            <a:srgbClr val="FFFFFF"/>
          </a:solidFill>
          <a:ln w="15875">
            <a:solidFill>
              <a:srgbClr val="3874B8"/>
            </a:solidFill>
            <a:prstDash val="dash"/>
          </a:ln>
        </p:spPr>
      </p:sp>
      <p:sp>
        <p:nvSpPr>
          <p:cNvPr id="9" name="Shape 6"/>
          <p:cNvSpPr/>
          <p:nvPr/>
        </p:nvSpPr>
        <p:spPr>
          <a:xfrm>
            <a:off x="502920" y="1225296"/>
            <a:ext cx="2468880" cy="292608"/>
          </a:xfrm>
          <a:prstGeom prst="rect">
            <a:avLst/>
          </a:prstGeom>
          <a:solidFill>
            <a:srgbClr val="E8EDF5"/>
          </a:solidFill>
          <a:ln/>
        </p:spPr>
      </p:sp>
      <p:sp>
        <p:nvSpPr>
          <p:cNvPr id="10" name="Text 7"/>
          <p:cNvSpPr/>
          <p:nvPr/>
        </p:nvSpPr>
        <p:spPr>
          <a:xfrm>
            <a:off x="502920" y="1225296"/>
            <a:ext cx="24688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城市作战场景特点</a:t>
            </a:r>
            <a:endParaRPr lang="en-US" sz="1000" dirty="0"/>
          </a:p>
        </p:txBody>
      </p:sp>
      <p:sp>
        <p:nvSpPr>
          <p:cNvPr id="11" name="Text 8"/>
          <p:cNvSpPr/>
          <p:nvPr/>
        </p:nvSpPr>
        <p:spPr>
          <a:xfrm>
            <a:off x="566928" y="1591056"/>
            <a:ext cx="2340864" cy="1261872"/>
          </a:xfrm>
          <a:prstGeom prst="rect">
            <a:avLst/>
          </a:prstGeom>
          <a:noFill/>
          <a:ln/>
        </p:spPr>
        <p:txBody>
          <a:bodyPr wrap="square" lIns="0" tIns="0" rIns="0" bIns="0" rtlCol="0" anchor="t"/>
          <a:lstStyle/>
          <a:p>
            <a:pPr indent="0" marL="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任务类型：</a:t>
            </a:r>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路径规划、区域侦察、协同打击</a:t>
            </a:r>
            <a:endParaRPr lang="en-US" sz="900" dirty="0"/>
          </a:p>
          <a:p>
            <a:pPr indent="0" marL="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场景特点：</a:t>
            </a:r>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建筑物密集、空间尺度受限、通信遮挡与多径效应显著以及敌对干扰信号</a:t>
            </a:r>
            <a:endParaRPr lang="en-US" sz="900" dirty="0"/>
          </a:p>
        </p:txBody>
      </p:sp>
      <p:sp>
        <p:nvSpPr>
          <p:cNvPr id="12" name="Shape 9"/>
          <p:cNvSpPr/>
          <p:nvPr/>
        </p:nvSpPr>
        <p:spPr>
          <a:xfrm>
            <a:off x="3291840" y="1188720"/>
            <a:ext cx="2560320" cy="1737360"/>
          </a:xfrm>
          <a:prstGeom prst="rect">
            <a:avLst/>
          </a:prstGeom>
          <a:solidFill>
            <a:srgbClr val="FFFFFF"/>
          </a:solidFill>
          <a:ln w="15875">
            <a:solidFill>
              <a:srgbClr val="3874B8"/>
            </a:solidFill>
            <a:prstDash val="dash"/>
          </a:ln>
        </p:spPr>
      </p:sp>
      <p:sp>
        <p:nvSpPr>
          <p:cNvPr id="13" name="Shape 10"/>
          <p:cNvSpPr/>
          <p:nvPr/>
        </p:nvSpPr>
        <p:spPr>
          <a:xfrm>
            <a:off x="3337560" y="1225296"/>
            <a:ext cx="2468880" cy="292608"/>
          </a:xfrm>
          <a:prstGeom prst="rect">
            <a:avLst/>
          </a:prstGeom>
          <a:solidFill>
            <a:srgbClr val="E8EDF5"/>
          </a:solidFill>
          <a:ln/>
        </p:spPr>
      </p:sp>
      <p:sp>
        <p:nvSpPr>
          <p:cNvPr id="14" name="Text 11"/>
          <p:cNvSpPr/>
          <p:nvPr/>
        </p:nvSpPr>
        <p:spPr>
          <a:xfrm>
            <a:off x="3337560" y="1225296"/>
            <a:ext cx="24688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关键挑战</a:t>
            </a:r>
            <a:endParaRPr lang="en-US" sz="1000" dirty="0"/>
          </a:p>
        </p:txBody>
      </p:sp>
      <p:sp>
        <p:nvSpPr>
          <p:cNvPr id="15" name="Text 12"/>
          <p:cNvSpPr/>
          <p:nvPr/>
        </p:nvSpPr>
        <p:spPr>
          <a:xfrm>
            <a:off x="3401568" y="15910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高密度建筑群造成通信信号非视距衰减</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敌对信号干扰使通信链路受影响</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空间受限使无人机机动与感知不确定性增强</a:t>
            </a:r>
            <a:endParaRPr lang="en-US" sz="900" dirty="0"/>
          </a:p>
        </p:txBody>
      </p:sp>
      <p:sp>
        <p:nvSpPr>
          <p:cNvPr id="16" name="Shape 13"/>
          <p:cNvSpPr/>
          <p:nvPr/>
        </p:nvSpPr>
        <p:spPr>
          <a:xfrm>
            <a:off x="6126480" y="1188720"/>
            <a:ext cx="2560320" cy="1737360"/>
          </a:xfrm>
          <a:prstGeom prst="rect">
            <a:avLst/>
          </a:prstGeom>
          <a:solidFill>
            <a:srgbClr val="FFFFFF"/>
          </a:solidFill>
          <a:ln w="15875">
            <a:solidFill>
              <a:srgbClr val="3874B8"/>
            </a:solidFill>
            <a:prstDash val="dash"/>
          </a:ln>
        </p:spPr>
      </p:sp>
      <p:sp>
        <p:nvSpPr>
          <p:cNvPr id="17" name="Shape 14"/>
          <p:cNvSpPr/>
          <p:nvPr/>
        </p:nvSpPr>
        <p:spPr>
          <a:xfrm>
            <a:off x="6172200" y="1225296"/>
            <a:ext cx="2468880" cy="292608"/>
          </a:xfrm>
          <a:prstGeom prst="rect">
            <a:avLst/>
          </a:prstGeom>
          <a:solidFill>
            <a:srgbClr val="E8EDF5"/>
          </a:solidFill>
          <a:ln/>
        </p:spPr>
      </p:sp>
      <p:sp>
        <p:nvSpPr>
          <p:cNvPr id="18" name="Text 15"/>
          <p:cNvSpPr/>
          <p:nvPr/>
        </p:nvSpPr>
        <p:spPr>
          <a:xfrm>
            <a:off x="6172200" y="1225296"/>
            <a:ext cx="24688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智能蜂群组网需求</a:t>
            </a:r>
            <a:endParaRPr lang="en-US" sz="1000" dirty="0"/>
          </a:p>
        </p:txBody>
      </p:sp>
      <p:sp>
        <p:nvSpPr>
          <p:cNvPr id="19" name="Text 16"/>
          <p:cNvSpPr/>
          <p:nvPr/>
        </p:nvSpPr>
        <p:spPr>
          <a:xfrm>
            <a:off x="6236208" y="15910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无人机集群智能协同依赖实时稳定的通信网络</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KDN等智能组网技术使通信成为集群智能交互的核心纽带</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通信保持是协同作战任务的必要要求</a:t>
            </a:r>
            <a:endParaRPr lang="en-US" sz="900" dirty="0"/>
          </a:p>
        </p:txBody>
      </p:sp>
      <p:sp>
        <p:nvSpPr>
          <p:cNvPr id="20" name="Shape 17"/>
          <p:cNvSpPr/>
          <p:nvPr/>
        </p:nvSpPr>
        <p:spPr>
          <a:xfrm>
            <a:off x="457200" y="3383280"/>
            <a:ext cx="8229600" cy="502920"/>
          </a:xfrm>
          <a:prstGeom prst="rect">
            <a:avLst/>
          </a:prstGeom>
          <a:solidFill>
            <a:srgbClr val="E8EDF5"/>
          </a:solidFill>
          <a:ln/>
        </p:spPr>
      </p:sp>
      <p:sp>
        <p:nvSpPr>
          <p:cNvPr id="21" name="Text 18"/>
          <p:cNvSpPr/>
          <p:nvPr/>
        </p:nvSpPr>
        <p:spPr>
          <a:xfrm>
            <a:off x="594360" y="3383280"/>
            <a:ext cx="7955280" cy="50292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本文针对上述需求与挑战，在城市作战场景下分别研究通信保持路径规划与区域覆盖部署两个核心作战任务，以满足智能无人机集群组网的通信需求。</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02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现有方法分类</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3931920" cy="182880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通信保持路径规划</a:t>
            </a:r>
            <a:endParaRPr lang="en-US" sz="1000" dirty="0"/>
          </a:p>
        </p:txBody>
      </p:sp>
      <p:sp>
        <p:nvSpPr>
          <p:cNvPr id="11" name="Text 8"/>
          <p:cNvSpPr/>
          <p:nvPr/>
        </p:nvSpPr>
        <p:spPr>
          <a:xfrm>
            <a:off x="566928" y="1591056"/>
            <a:ext cx="3712464" cy="1353312"/>
          </a:xfrm>
          <a:prstGeom prst="rect">
            <a:avLst/>
          </a:prstGeom>
          <a:noFill/>
          <a:ln/>
        </p:spPr>
        <p:txBody>
          <a:bodyPr wrap="square" lIns="0" tIns="0" rIns="0" bIns="0" rtlCol="0" anchor="t"/>
          <a:lstStyle/>
          <a:p>
            <a:pPr indent="0" marL="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涵盖基于启发式优化、强化学习与改进人工势场法三类主要方向，各有侧重但均存在通信建模不足的问题。</a:t>
            </a:r>
            <a:endParaRPr lang="en-US" sz="900" dirty="0"/>
          </a:p>
        </p:txBody>
      </p:sp>
      <p:sp>
        <p:nvSpPr>
          <p:cNvPr id="12" name="Shape 9"/>
          <p:cNvSpPr/>
          <p:nvPr/>
        </p:nvSpPr>
        <p:spPr>
          <a:xfrm>
            <a:off x="4754880" y="1188720"/>
            <a:ext cx="3931920" cy="182880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区域覆盖侦察部署</a:t>
            </a:r>
            <a:endParaRPr lang="en-US" sz="1000" dirty="0"/>
          </a:p>
        </p:txBody>
      </p:sp>
      <p:sp>
        <p:nvSpPr>
          <p:cNvPr id="15" name="Text 12"/>
          <p:cNvSpPr/>
          <p:nvPr/>
        </p:nvSpPr>
        <p:spPr>
          <a:xfrm>
            <a:off x="4864608" y="1591056"/>
            <a:ext cx="3712464" cy="1353312"/>
          </a:xfrm>
          <a:prstGeom prst="rect">
            <a:avLst/>
          </a:prstGeom>
          <a:noFill/>
          <a:ln/>
        </p:spPr>
        <p:txBody>
          <a:bodyPr wrap="square" lIns="0" tIns="0" rIns="0" bIns="0" rtlCol="0" anchor="t"/>
          <a:lstStyle/>
          <a:p>
            <a:pPr indent="0" marL="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涵盖虚拟力法、网格法、Voronoi图法与元启发式优化法四类方向，在复杂约束场景下全局搜索能力有限。</a:t>
            </a:r>
            <a:endParaRPr lang="en-US" sz="900" dirty="0"/>
          </a:p>
        </p:txBody>
      </p:sp>
      <p:pic>
        <p:nvPicPr>
          <p:cNvPr id="16" name="Image 1" descr="/home/claude/img_s4_1.png">    </p:cNvPr>
          <p:cNvPicPr>
            <a:picLocks noChangeAspect="1"/>
          </p:cNvPicPr>
          <p:nvPr/>
        </p:nvPicPr>
        <p:blipFill>
          <a:blip r:embed="rId2"/>
          <a:srcRect l="0" r="0" t="0" b="0"/>
          <a:stretch/>
        </p:blipFill>
        <p:spPr>
          <a:xfrm>
            <a:off x="594360" y="2011680"/>
            <a:ext cx="3657600" cy="1097280"/>
          </a:xfrm>
          <a:prstGeom prst="rect">
            <a:avLst/>
          </a:prstGeom>
        </p:spPr>
      </p:pic>
      <p:pic>
        <p:nvPicPr>
          <p:cNvPr id="17" name="Image 2" descr="/home/claude/img_s4_2.png">    </p:cNvPr>
          <p:cNvPicPr>
            <a:picLocks noChangeAspect="1"/>
          </p:cNvPicPr>
          <p:nvPr/>
        </p:nvPicPr>
        <p:blipFill>
          <a:blip r:embed="rId3"/>
          <a:srcRect l="0" r="0" t="0" b="0"/>
          <a:stretch/>
        </p:blipFill>
        <p:spPr>
          <a:xfrm>
            <a:off x="4892040" y="2011680"/>
            <a:ext cx="3657600" cy="10972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02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现有方法不足</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70432"/>
            <a:ext cx="8229600" cy="502920"/>
          </a:xfrm>
          <a:prstGeom prst="rect">
            <a:avLst/>
          </a:prstGeom>
          <a:solidFill>
            <a:srgbClr val="E8EDF5"/>
          </a:solidFill>
          <a:ln/>
        </p:spPr>
      </p:sp>
      <p:sp>
        <p:nvSpPr>
          <p:cNvPr id="9" name="Text 6"/>
          <p:cNvSpPr/>
          <p:nvPr/>
        </p:nvSpPr>
        <p:spPr>
          <a:xfrm>
            <a:off x="548640" y="1170432"/>
            <a:ext cx="8046720" cy="50292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核心结论：</a:t>
            </a:r>
            <a:pPr indent="0" marL="0">
              <a:buNone/>
            </a:pPr>
            <a:r>
              <a:rPr lang="en-US" sz="900" dirty="0">
                <a:solidFill>
                  <a:srgbClr val="183A6A"/>
                </a:solidFill>
                <a:latin typeface="Microsoft YaHei" pitchFamily="34" charset="0"/>
                <a:ea typeface="Microsoft YaHei" pitchFamily="34" charset="-122"/>
                <a:cs typeface="Microsoft YaHei" pitchFamily="34" charset="-120"/>
              </a:rPr>
              <a:t>现有方法缺乏对动态复杂通信拓扑的显式建模约束，在大规模集群协同中面临计算效率低、易陷入局部最优等问题，难以满足城市作战对通信保持的基本需求。</a:t>
            </a:r>
            <a:endParaRPr lang="en-US" sz="900" dirty="0"/>
          </a:p>
        </p:txBody>
      </p:sp>
      <p:sp>
        <p:nvSpPr>
          <p:cNvPr id="10" name="Shape 7"/>
          <p:cNvSpPr/>
          <p:nvPr/>
        </p:nvSpPr>
        <p:spPr>
          <a:xfrm>
            <a:off x="457200" y="2057400"/>
            <a:ext cx="3931920" cy="1554480"/>
          </a:xfrm>
          <a:prstGeom prst="rect">
            <a:avLst/>
          </a:prstGeom>
          <a:solidFill>
            <a:srgbClr val="FFFFFF"/>
          </a:solidFill>
          <a:ln w="15875">
            <a:solidFill>
              <a:srgbClr val="3874B8"/>
            </a:solidFill>
            <a:prstDash val="dash"/>
          </a:ln>
        </p:spPr>
      </p:sp>
      <p:sp>
        <p:nvSpPr>
          <p:cNvPr id="11" name="Shape 8"/>
          <p:cNvSpPr/>
          <p:nvPr/>
        </p:nvSpPr>
        <p:spPr>
          <a:xfrm>
            <a:off x="502920" y="2093976"/>
            <a:ext cx="3840480" cy="292608"/>
          </a:xfrm>
          <a:prstGeom prst="rect">
            <a:avLst/>
          </a:prstGeom>
          <a:solidFill>
            <a:srgbClr val="E8EDF5"/>
          </a:solidFill>
          <a:ln/>
        </p:spPr>
      </p:sp>
      <p:sp>
        <p:nvSpPr>
          <p:cNvPr id="12" name="Text 9"/>
          <p:cNvSpPr/>
          <p:nvPr/>
        </p:nvSpPr>
        <p:spPr>
          <a:xfrm>
            <a:off x="502920" y="209397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路径规划方向的不足</a:t>
            </a:r>
            <a:endParaRPr lang="en-US" sz="1000" dirty="0"/>
          </a:p>
        </p:txBody>
      </p:sp>
      <p:sp>
        <p:nvSpPr>
          <p:cNvPr id="13" name="Text 10"/>
          <p:cNvSpPr/>
          <p:nvPr/>
        </p:nvSpPr>
        <p:spPr>
          <a:xfrm>
            <a:off x="56692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改进人工势场法在大规模场景下多源势场叠加导致局部震荡与死锁</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启发式与强化学习方法计算复杂度随集群规模指数级增长</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缺少对城市复杂电磁信道的精细化通信约束建模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现有方法难以同时兼顾大规模集群的实时性与通信保持效果</a:t>
            </a:r>
            <a:endParaRPr lang="en-US" sz="900" dirty="0"/>
          </a:p>
        </p:txBody>
      </p:sp>
      <p:sp>
        <p:nvSpPr>
          <p:cNvPr id="14" name="Shape 11"/>
          <p:cNvSpPr/>
          <p:nvPr/>
        </p:nvSpPr>
        <p:spPr>
          <a:xfrm>
            <a:off x="4754880" y="2057400"/>
            <a:ext cx="3931920" cy="1554480"/>
          </a:xfrm>
          <a:prstGeom prst="rect">
            <a:avLst/>
          </a:prstGeom>
          <a:solidFill>
            <a:srgbClr val="FFFFFF"/>
          </a:solidFill>
          <a:ln w="15875">
            <a:solidFill>
              <a:srgbClr val="3874B8"/>
            </a:solidFill>
            <a:prstDash val="dash"/>
          </a:ln>
        </p:spPr>
      </p:sp>
      <p:sp>
        <p:nvSpPr>
          <p:cNvPr id="15" name="Shape 12"/>
          <p:cNvSpPr/>
          <p:nvPr/>
        </p:nvSpPr>
        <p:spPr>
          <a:xfrm>
            <a:off x="4800600" y="2093976"/>
            <a:ext cx="3840480" cy="292608"/>
          </a:xfrm>
          <a:prstGeom prst="rect">
            <a:avLst/>
          </a:prstGeom>
          <a:solidFill>
            <a:srgbClr val="E8EDF5"/>
          </a:solidFill>
          <a:ln/>
        </p:spPr>
      </p:sp>
      <p:sp>
        <p:nvSpPr>
          <p:cNvPr id="16" name="Text 13"/>
          <p:cNvSpPr/>
          <p:nvPr/>
        </p:nvSpPr>
        <p:spPr>
          <a:xfrm>
            <a:off x="4800600" y="209397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区域覆盖方向的不足</a:t>
            </a:r>
            <a:endParaRPr lang="en-US" sz="1000" dirty="0"/>
          </a:p>
        </p:txBody>
      </p:sp>
      <p:sp>
        <p:nvSpPr>
          <p:cNvPr id="17" name="Text 14"/>
          <p:cNvSpPr/>
          <p:nvPr/>
        </p:nvSpPr>
        <p:spPr>
          <a:xfrm>
            <a:off x="486460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传统方法通信约束建模简单（理想半径模型），无法刻画建筑遮挡与干扰</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现有多目标优化算法缺乏领域知识引导，高维复杂场景下搜索效率下降</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单目标方法无法兼顾覆盖率与网络连通性的多维权衡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算法在引入干扰信号后早熟收敛问题突出</a:t>
            </a:r>
            <a:endParaRPr lang="en-US" sz="900" dirty="0"/>
          </a:p>
        </p:txBody>
      </p:sp>
      <p:sp>
        <p:nvSpPr>
          <p:cNvPr id="18" name="Shape 15"/>
          <p:cNvSpPr/>
          <p:nvPr/>
        </p:nvSpPr>
        <p:spPr>
          <a:xfrm>
            <a:off x="457200" y="3840480"/>
            <a:ext cx="8229600" cy="411480"/>
          </a:xfrm>
          <a:prstGeom prst="rect">
            <a:avLst/>
          </a:prstGeom>
          <a:solidFill>
            <a:srgbClr val="E8EDF5"/>
          </a:solidFill>
          <a:ln/>
        </p:spPr>
      </p:sp>
      <p:sp>
        <p:nvSpPr>
          <p:cNvPr id="19" name="Text 16"/>
          <p:cNvSpPr/>
          <p:nvPr/>
        </p:nvSpPr>
        <p:spPr>
          <a:xfrm>
            <a:off x="548640" y="3840480"/>
            <a:ext cx="8046720" cy="41148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本文研究目标：针对上述两类核心任务，分别提出 C-RRT*-APF 路径规划算法与 MPG-NSGA-II 区域覆盖算法，以解决上述不足。</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系统模型</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pic>
        <p:nvPicPr>
          <p:cNvPr id="8" name="Image 1" descr="/home/claude/img_s6.png">    </p:cNvPr>
          <p:cNvPicPr>
            <a:picLocks noChangeAspect="1"/>
          </p:cNvPicPr>
          <p:nvPr/>
        </p:nvPicPr>
        <p:blipFill>
          <a:blip r:embed="rId2"/>
          <a:srcRect l="0" r="0" t="0" b="0"/>
          <a:stretch/>
        </p:blipFill>
        <p:spPr>
          <a:xfrm>
            <a:off x="457200" y="1417320"/>
            <a:ext cx="4114800" cy="3154680"/>
          </a:xfrm>
          <a:prstGeom prst="rect">
            <a:avLst/>
          </a:prstGeom>
        </p:spPr>
      </p:pic>
      <p:sp>
        <p:nvSpPr>
          <p:cNvPr id="9" name="Shape 5"/>
          <p:cNvSpPr/>
          <p:nvPr/>
        </p:nvSpPr>
        <p:spPr>
          <a:xfrm>
            <a:off x="4754880" y="1417320"/>
            <a:ext cx="3931920" cy="960120"/>
          </a:xfrm>
          <a:prstGeom prst="rect">
            <a:avLst/>
          </a:prstGeom>
          <a:solidFill>
            <a:srgbClr val="FFFFFF"/>
          </a:solidFill>
          <a:ln w="15875">
            <a:solidFill>
              <a:srgbClr val="3874B8"/>
            </a:solidFill>
            <a:prstDash val="dash"/>
          </a:ln>
        </p:spPr>
      </p:sp>
      <p:sp>
        <p:nvSpPr>
          <p:cNvPr id="10" name="Shape 6"/>
          <p:cNvSpPr/>
          <p:nvPr/>
        </p:nvSpPr>
        <p:spPr>
          <a:xfrm>
            <a:off x="4800600" y="1453896"/>
            <a:ext cx="3840480" cy="292608"/>
          </a:xfrm>
          <a:prstGeom prst="rect">
            <a:avLst/>
          </a:prstGeom>
          <a:solidFill>
            <a:srgbClr val="E8EDF5"/>
          </a:solidFill>
          <a:ln/>
        </p:spPr>
      </p:sp>
      <p:sp>
        <p:nvSpPr>
          <p:cNvPr id="11" name="Text 7"/>
          <p:cNvSpPr/>
          <p:nvPr/>
        </p:nvSpPr>
        <p:spPr>
          <a:xfrm>
            <a:off x="4800600" y="14538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864608" y="1819656"/>
            <a:ext cx="3712464" cy="484632"/>
          </a:xfrm>
          <a:prstGeom prst="rect">
            <a:avLst/>
          </a:prstGeom>
          <a:noFill/>
          <a:ln/>
        </p:spPr>
        <p:txBody>
          <a:bodyPr wrap="square" lIns="0" tIns="0" rIns="0" bIns="0" rtlCol="0" anchor="t"/>
          <a:lstStyle/>
          <a:p>
            <a:pPr indent="0" marL="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1km×1km 二维城市矩形区域；建筑物数量 M 可调（10/20/30 栋）；干扰节点位置固定，干扰功率 PJ（20–30 dBm）；集群规模 N 可变（12/24/36 架），每簇 ≤10 架</a:t>
            </a:r>
            <a:endParaRPr lang="en-US" sz="900" dirty="0"/>
          </a:p>
        </p:txBody>
      </p:sp>
      <p:sp>
        <p:nvSpPr>
          <p:cNvPr id="13" name="Shape 9"/>
          <p:cNvSpPr/>
          <p:nvPr/>
        </p:nvSpPr>
        <p:spPr>
          <a:xfrm>
            <a:off x="4754880" y="2487168"/>
            <a:ext cx="3931920" cy="960120"/>
          </a:xfrm>
          <a:prstGeom prst="rect">
            <a:avLst/>
          </a:prstGeom>
          <a:solidFill>
            <a:srgbClr val="FFFFFF"/>
          </a:solidFill>
          <a:ln w="15875">
            <a:solidFill>
              <a:srgbClr val="3874B8"/>
            </a:solidFill>
            <a:prstDash val="dash"/>
          </a:ln>
        </p:spPr>
      </p:sp>
      <p:sp>
        <p:nvSpPr>
          <p:cNvPr id="14" name="Shape 10"/>
          <p:cNvSpPr/>
          <p:nvPr/>
        </p:nvSpPr>
        <p:spPr>
          <a:xfrm>
            <a:off x="4800600" y="2523744"/>
            <a:ext cx="3840480" cy="292608"/>
          </a:xfrm>
          <a:prstGeom prst="rect">
            <a:avLst/>
          </a:prstGeom>
          <a:solidFill>
            <a:srgbClr val="E8EDF5"/>
          </a:solidFill>
          <a:ln/>
        </p:spPr>
      </p:sp>
      <p:sp>
        <p:nvSpPr>
          <p:cNvPr id="15" name="Text 11"/>
          <p:cNvSpPr/>
          <p:nvPr/>
        </p:nvSpPr>
        <p:spPr>
          <a:xfrm>
            <a:off x="4800600" y="2523744"/>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通信模型</a:t>
            </a:r>
            <a:endParaRPr lang="en-US" sz="1000" dirty="0"/>
          </a:p>
        </p:txBody>
      </p:sp>
      <p:sp>
        <p:nvSpPr>
          <p:cNvPr id="16" name="Text 12"/>
          <p:cNvSpPr/>
          <p:nvPr/>
        </p:nvSpPr>
        <p:spPr>
          <a:xfrm>
            <a:off x="4864608" y="2889504"/>
            <a:ext cx="3712464" cy="484632"/>
          </a:xfrm>
          <a:prstGeom prst="rect">
            <a:avLst/>
          </a:prstGeom>
          <a:noFill/>
          <a:ln/>
        </p:spPr>
        <p:txBody>
          <a:bodyPr wrap="square" lIns="0" tIns="0" rIns="0" bIns="0" rtlCol="0" anchor="t"/>
          <a:lstStyle/>
          <a:p>
            <a:pPr indent="0" marL="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自由空间传播 + 城市路径损耗补偿因子；视距信道 ηLOS=1.0，非视距 ηNLOS=20.0；双向 SINR 均满足门限 γth=10dB 时链路有效</a:t>
            </a:r>
            <a:endParaRPr lang="en-US" sz="900" dirty="0"/>
          </a:p>
        </p:txBody>
      </p:sp>
      <p:sp>
        <p:nvSpPr>
          <p:cNvPr id="17" name="Shape 13"/>
          <p:cNvSpPr/>
          <p:nvPr/>
        </p:nvSpPr>
        <p:spPr>
          <a:xfrm>
            <a:off x="4754880" y="3557016"/>
            <a:ext cx="3931920" cy="960120"/>
          </a:xfrm>
          <a:prstGeom prst="rect">
            <a:avLst/>
          </a:prstGeom>
          <a:solidFill>
            <a:srgbClr val="FFFFFF"/>
          </a:solidFill>
          <a:ln w="15875">
            <a:solidFill>
              <a:srgbClr val="3874B8"/>
            </a:solidFill>
            <a:prstDash val="dash"/>
          </a:ln>
        </p:spPr>
      </p:sp>
      <p:sp>
        <p:nvSpPr>
          <p:cNvPr id="18" name="Shape 14"/>
          <p:cNvSpPr/>
          <p:nvPr/>
        </p:nvSpPr>
        <p:spPr>
          <a:xfrm>
            <a:off x="4800600" y="3593592"/>
            <a:ext cx="3840480" cy="292608"/>
          </a:xfrm>
          <a:prstGeom prst="rect">
            <a:avLst/>
          </a:prstGeom>
          <a:solidFill>
            <a:srgbClr val="E8EDF5"/>
          </a:solidFill>
          <a:ln/>
        </p:spPr>
      </p:sp>
      <p:sp>
        <p:nvSpPr>
          <p:cNvPr id="19" name="Text 15"/>
          <p:cNvSpPr/>
          <p:nvPr/>
        </p:nvSpPr>
        <p:spPr>
          <a:xfrm>
            <a:off x="4800600" y="3593592"/>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核心约束</a:t>
            </a:r>
            <a:endParaRPr lang="en-US" sz="1000" dirty="0"/>
          </a:p>
        </p:txBody>
      </p:sp>
      <p:sp>
        <p:nvSpPr>
          <p:cNvPr id="20" name="Text 16"/>
          <p:cNvSpPr/>
          <p:nvPr/>
        </p:nvSpPr>
        <p:spPr>
          <a:xfrm>
            <a:off x="4864608" y="3959352"/>
            <a:ext cx="3712464" cy="484632"/>
          </a:xfrm>
          <a:prstGeom prst="rect">
            <a:avLst/>
          </a:prstGeom>
          <a:noFill/>
          <a:ln/>
        </p:spPr>
        <p:txBody>
          <a:bodyPr wrap="square" lIns="0" tIns="0" rIns="0" bIns="0" rtlCol="0" anchor="t"/>
          <a:lstStyle/>
          <a:p>
            <a:pPr indent="0" marL="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建筑遮挡引入严重非视距衰减（损耗差达 19dB）；干扰半径 Jr=50–170m 形成通信禁区；安全半径 dsafe=10m，单步步长 dmove=5m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框架与三大创新点</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1577340" y="1188720"/>
            <a:ext cx="365760" cy="365760"/>
          </a:xfrm>
          <a:prstGeom prst="ellipse">
            <a:avLst/>
          </a:prstGeom>
          <a:solidFill>
            <a:srgbClr val="183A6A"/>
          </a:solidFill>
          <a:ln/>
        </p:spPr>
      </p:sp>
      <p:sp>
        <p:nvSpPr>
          <p:cNvPr id="9" name="Text 6"/>
          <p:cNvSpPr/>
          <p:nvPr/>
        </p:nvSpPr>
        <p:spPr>
          <a:xfrm>
            <a:off x="1577340" y="1188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6459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682496"/>
            <a:ext cx="2514600" cy="292608"/>
          </a:xfrm>
          <a:prstGeom prst="rect">
            <a:avLst/>
          </a:prstGeom>
          <a:solidFill>
            <a:srgbClr val="E8EDF5"/>
          </a:solidFill>
          <a:ln/>
        </p:spPr>
      </p:sp>
      <p:sp>
        <p:nvSpPr>
          <p:cNvPr id="12" name="Text 9"/>
          <p:cNvSpPr/>
          <p:nvPr/>
        </p:nvSpPr>
        <p:spPr>
          <a:xfrm>
            <a:off x="502920" y="16824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分层分簇预处理</a:t>
            </a:r>
            <a:endParaRPr lang="en-US" sz="1000" dirty="0"/>
          </a:p>
        </p:txBody>
      </p:sp>
      <p:sp>
        <p:nvSpPr>
          <p:cNvPr id="13" name="Text 10"/>
          <p:cNvSpPr/>
          <p:nvPr/>
        </p:nvSpPr>
        <p:spPr>
          <a:xfrm>
            <a:off x="566928" y="2048256"/>
            <a:ext cx="2386584" cy="8961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将大规模集群划分为若干簇（每簇≤10架），从规模上抑制局部势场叠加复杂度，为分层规划提供结构基础</a:t>
            </a:r>
            <a:endParaRPr lang="en-US" sz="900" dirty="0"/>
          </a:p>
        </p:txBody>
      </p:sp>
      <p:sp>
        <p:nvSpPr>
          <p:cNvPr id="14" name="Shape 11"/>
          <p:cNvSpPr/>
          <p:nvPr/>
        </p:nvSpPr>
        <p:spPr>
          <a:xfrm>
            <a:off x="4384548" y="1188720"/>
            <a:ext cx="365760" cy="365760"/>
          </a:xfrm>
          <a:prstGeom prst="ellipse">
            <a:avLst/>
          </a:prstGeom>
          <a:solidFill>
            <a:srgbClr val="183A6A"/>
          </a:solidFill>
          <a:ln/>
        </p:spPr>
      </p:sp>
      <p:sp>
        <p:nvSpPr>
          <p:cNvPr id="15" name="Text 12"/>
          <p:cNvSpPr/>
          <p:nvPr/>
        </p:nvSpPr>
        <p:spPr>
          <a:xfrm>
            <a:off x="4384548" y="1188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6459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682496"/>
            <a:ext cx="2514600" cy="292608"/>
          </a:xfrm>
          <a:prstGeom prst="rect">
            <a:avLst/>
          </a:prstGeom>
          <a:solidFill>
            <a:srgbClr val="E8EDF5"/>
          </a:solidFill>
          <a:ln/>
        </p:spPr>
      </p:sp>
      <p:sp>
        <p:nvSpPr>
          <p:cNvPr id="18" name="Text 15"/>
          <p:cNvSpPr/>
          <p:nvPr/>
        </p:nvSpPr>
        <p:spPr>
          <a:xfrm>
            <a:off x="3310128" y="16824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全局层 C-RRT* 引导规划</a:t>
            </a:r>
            <a:endParaRPr lang="en-US" sz="1000" dirty="0"/>
          </a:p>
        </p:txBody>
      </p:sp>
      <p:sp>
        <p:nvSpPr>
          <p:cNvPr id="19" name="Text 16"/>
          <p:cNvSpPr/>
          <p:nvPr/>
        </p:nvSpPr>
        <p:spPr>
          <a:xfrm>
            <a:off x="3374136" y="2048256"/>
            <a:ext cx="2386584" cy="8961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RRT*为各簇独立搜索可行全局路径，引入簇间距离约束机制，在全局层保障不同簇空间协调，为跨簇通信连通奠定拓扑基础</a:t>
            </a:r>
            <a:endParaRPr lang="en-US" sz="900" dirty="0"/>
          </a:p>
        </p:txBody>
      </p:sp>
      <p:sp>
        <p:nvSpPr>
          <p:cNvPr id="20" name="Shape 17"/>
          <p:cNvSpPr/>
          <p:nvPr/>
        </p:nvSpPr>
        <p:spPr>
          <a:xfrm>
            <a:off x="7191756" y="1188720"/>
            <a:ext cx="365760" cy="365760"/>
          </a:xfrm>
          <a:prstGeom prst="ellipse">
            <a:avLst/>
          </a:prstGeom>
          <a:solidFill>
            <a:srgbClr val="183A6A"/>
          </a:solidFill>
          <a:ln/>
        </p:spPr>
      </p:sp>
      <p:sp>
        <p:nvSpPr>
          <p:cNvPr id="21" name="Text 18"/>
          <p:cNvSpPr/>
          <p:nvPr/>
        </p:nvSpPr>
        <p:spPr>
          <a:xfrm>
            <a:off x="7191756" y="1188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6459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682496"/>
            <a:ext cx="2514600" cy="292608"/>
          </a:xfrm>
          <a:prstGeom prst="rect">
            <a:avLst/>
          </a:prstGeom>
          <a:solidFill>
            <a:srgbClr val="E8EDF5"/>
          </a:solidFill>
          <a:ln/>
        </p:spPr>
      </p:sp>
      <p:sp>
        <p:nvSpPr>
          <p:cNvPr id="24" name="Text 21"/>
          <p:cNvSpPr/>
          <p:nvPr/>
        </p:nvSpPr>
        <p:spPr>
          <a:xfrm>
            <a:off x="6117336" y="16824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局部层 MBST-APF 实时规划</a:t>
            </a:r>
            <a:endParaRPr lang="en-US" sz="1000" dirty="0"/>
          </a:p>
        </p:txBody>
      </p:sp>
      <p:sp>
        <p:nvSpPr>
          <p:cNvPr id="25" name="Text 22"/>
          <p:cNvSpPr/>
          <p:nvPr/>
        </p:nvSpPr>
        <p:spPr>
          <a:xfrm>
            <a:off x="6181344" y="2048256"/>
            <a:ext cx="2386584" cy="8961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基于最大SINR瓶颈生成树构建通信主干，仅对关键 N-1 条链路构建势场约束，有效降低多势场叠加复杂度</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全局规划层：单簇搜索与簇间距离约束</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417320"/>
            <a:ext cx="3931920" cy="1371600"/>
          </a:xfrm>
          <a:prstGeom prst="rect">
            <a:avLst/>
          </a:prstGeom>
          <a:solidFill>
            <a:srgbClr val="FFFFFF"/>
          </a:solidFill>
          <a:ln w="15875">
            <a:solidFill>
              <a:srgbClr val="3874B8"/>
            </a:solidFill>
            <a:prstDash val="dash"/>
          </a:ln>
        </p:spPr>
      </p:sp>
      <p:sp>
        <p:nvSpPr>
          <p:cNvPr id="9" name="Shape 6"/>
          <p:cNvSpPr/>
          <p:nvPr/>
        </p:nvSpPr>
        <p:spPr>
          <a:xfrm>
            <a:off x="502920" y="1453896"/>
            <a:ext cx="3840480" cy="292608"/>
          </a:xfrm>
          <a:prstGeom prst="rect">
            <a:avLst/>
          </a:prstGeom>
          <a:solidFill>
            <a:srgbClr val="E8EDF5"/>
          </a:solidFill>
          <a:ln/>
        </p:spPr>
      </p:sp>
      <p:sp>
        <p:nvSpPr>
          <p:cNvPr id="10" name="Text 7"/>
          <p:cNvSpPr/>
          <p:nvPr/>
        </p:nvSpPr>
        <p:spPr>
          <a:xfrm>
            <a:off x="502920" y="14538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图示：单簇 RRT* 路径搜索四步过程</a:t>
            </a:r>
            <a:endParaRPr lang="en-US" sz="1000" dirty="0"/>
          </a:p>
        </p:txBody>
      </p:sp>
      <p:sp>
        <p:nvSpPr>
          <p:cNvPr id="11" name="Text 8"/>
          <p:cNvSpPr/>
          <p:nvPr/>
        </p:nvSpPr>
        <p:spPr>
          <a:xfrm>
            <a:off x="566928" y="1819656"/>
            <a:ext cx="3712464" cy="8961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(a) 采样扩展  (b) 父节点重选  (c) 邻域重连  (d) 回溯获取路径</a:t>
            </a:r>
            <a:endParaRPr lang="en-US" sz="900" dirty="0"/>
          </a:p>
        </p:txBody>
      </p:sp>
      <p:sp>
        <p:nvSpPr>
          <p:cNvPr id="12" name="Shape 9"/>
          <p:cNvSpPr/>
          <p:nvPr/>
        </p:nvSpPr>
        <p:spPr>
          <a:xfrm>
            <a:off x="4754880" y="1417320"/>
            <a:ext cx="3931920" cy="1371600"/>
          </a:xfrm>
          <a:prstGeom prst="rect">
            <a:avLst/>
          </a:prstGeom>
          <a:solidFill>
            <a:srgbClr val="FFFFFF"/>
          </a:solidFill>
          <a:ln w="15875">
            <a:solidFill>
              <a:srgbClr val="3874B8"/>
            </a:solidFill>
            <a:prstDash val="dash"/>
          </a:ln>
        </p:spPr>
      </p:sp>
      <p:sp>
        <p:nvSpPr>
          <p:cNvPr id="13" name="Shape 10"/>
          <p:cNvSpPr/>
          <p:nvPr/>
        </p:nvSpPr>
        <p:spPr>
          <a:xfrm>
            <a:off x="4800600" y="1453896"/>
            <a:ext cx="3840480" cy="292608"/>
          </a:xfrm>
          <a:prstGeom prst="rect">
            <a:avLst/>
          </a:prstGeom>
          <a:solidFill>
            <a:srgbClr val="E8EDF5"/>
          </a:solidFill>
          <a:ln/>
        </p:spPr>
      </p:sp>
      <p:sp>
        <p:nvSpPr>
          <p:cNvPr id="14" name="Text 11"/>
          <p:cNvSpPr/>
          <p:nvPr/>
        </p:nvSpPr>
        <p:spPr>
          <a:xfrm>
            <a:off x="4800600" y="14538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簇间距离约束机制</a:t>
            </a:r>
            <a:endParaRPr lang="en-US" sz="1000" dirty="0"/>
          </a:p>
        </p:txBody>
      </p:sp>
      <p:sp>
        <p:nvSpPr>
          <p:cNvPr id="15" name="Text 12"/>
          <p:cNvSpPr/>
          <p:nvPr/>
        </p:nvSpPr>
        <p:spPr>
          <a:xfrm>
            <a:off x="4864608" y="1819656"/>
            <a:ext cx="3712464" cy="89611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下界约束：L = αL · √K · dsafe（防止簇间拥挤碰撞）</a:t>
            </a:r>
            <a:endParaRPr lang="en-US" sz="900" dirty="0"/>
          </a:p>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上界约束：U = αU · 2Jr（防止干扰区两侧分裂）</a:t>
            </a:r>
            <a:endParaRPr lang="en-US" sz="900" dirty="0"/>
          </a:p>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以 Fréchet 距离评估路径间距是否满足区间 [L, U]，不满足则触发重规划。</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选择性更新策略避免全局重规划的计算负担，仅针对不满足约束的簇进行路径重规划。</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局部规划层：MBST-APF 通信保持机制</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417320"/>
            <a:ext cx="3931920" cy="1463040"/>
          </a:xfrm>
          <a:prstGeom prst="rect">
            <a:avLst/>
          </a:prstGeom>
          <a:solidFill>
            <a:srgbClr val="FFFFFF"/>
          </a:solidFill>
          <a:ln w="15875">
            <a:solidFill>
              <a:srgbClr val="3874B8"/>
            </a:solidFill>
            <a:prstDash val="dash"/>
          </a:ln>
        </p:spPr>
      </p:sp>
      <p:sp>
        <p:nvSpPr>
          <p:cNvPr id="9" name="Shape 6"/>
          <p:cNvSpPr/>
          <p:nvPr/>
        </p:nvSpPr>
        <p:spPr>
          <a:xfrm>
            <a:off x="502920" y="1453896"/>
            <a:ext cx="3840480" cy="292608"/>
          </a:xfrm>
          <a:prstGeom prst="rect">
            <a:avLst/>
          </a:prstGeom>
          <a:solidFill>
            <a:srgbClr val="E8EDF5"/>
          </a:solidFill>
          <a:ln/>
        </p:spPr>
      </p:sp>
      <p:sp>
        <p:nvSpPr>
          <p:cNvPr id="10" name="Text 7"/>
          <p:cNvSpPr/>
          <p:nvPr/>
        </p:nvSpPr>
        <p:spPr>
          <a:xfrm>
            <a:off x="502920" y="14538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MBST 通信主干构建</a:t>
            </a:r>
            <a:endParaRPr lang="en-US" sz="1000" dirty="0"/>
          </a:p>
        </p:txBody>
      </p:sp>
      <p:sp>
        <p:nvSpPr>
          <p:cNvPr id="11" name="Text 8"/>
          <p:cNvSpPr/>
          <p:nvPr/>
        </p:nvSpPr>
        <p:spPr>
          <a:xfrm>
            <a:off x="566928" y="1819656"/>
            <a:ext cx="3712464" cy="98755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采用降序 Kruskal 算法，以双向 SINR 最小值为边权，动态生成最大 SINR 瓶颈生成树，仅保留 N-1 条关键主干链路，大幅降低势场耦合复杂度。</a:t>
            </a:r>
            <a:endParaRPr lang="en-US" sz="900" dirty="0"/>
          </a:p>
        </p:txBody>
      </p:sp>
      <p:sp>
        <p:nvSpPr>
          <p:cNvPr id="12" name="Shape 9"/>
          <p:cNvSpPr/>
          <p:nvPr/>
        </p:nvSpPr>
        <p:spPr>
          <a:xfrm>
            <a:off x="4754880" y="1417320"/>
            <a:ext cx="3931920" cy="1463040"/>
          </a:xfrm>
          <a:prstGeom prst="rect">
            <a:avLst/>
          </a:prstGeom>
          <a:solidFill>
            <a:srgbClr val="FFFFFF"/>
          </a:solidFill>
          <a:ln w="15875">
            <a:solidFill>
              <a:srgbClr val="3874B8"/>
            </a:solidFill>
            <a:prstDash val="dash"/>
          </a:ln>
        </p:spPr>
      </p:sp>
      <p:sp>
        <p:nvSpPr>
          <p:cNvPr id="13" name="Shape 10"/>
          <p:cNvSpPr/>
          <p:nvPr/>
        </p:nvSpPr>
        <p:spPr>
          <a:xfrm>
            <a:off x="4800600" y="1453896"/>
            <a:ext cx="3840480" cy="292608"/>
          </a:xfrm>
          <a:prstGeom prst="rect">
            <a:avLst/>
          </a:prstGeom>
          <a:solidFill>
            <a:srgbClr val="E8EDF5"/>
          </a:solidFill>
          <a:ln/>
        </p:spPr>
      </p:sp>
      <p:sp>
        <p:nvSpPr>
          <p:cNvPr id="14" name="Text 11"/>
          <p:cNvSpPr/>
          <p:nvPr/>
        </p:nvSpPr>
        <p:spPr>
          <a:xfrm>
            <a:off x="4800600" y="14538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APF 三力合成</a:t>
            </a:r>
            <a:endParaRPr lang="en-US" sz="1000" dirty="0"/>
          </a:p>
        </p:txBody>
      </p:sp>
      <p:sp>
        <p:nvSpPr>
          <p:cNvPr id="15" name="Text 12"/>
          <p:cNvSpPr/>
          <p:nvPr/>
        </p:nvSpPr>
        <p:spPr>
          <a:xfrm>
            <a:off x="4864608" y="1819656"/>
            <a:ext cx="3712464" cy="987552"/>
          </a:xfrm>
          <a:prstGeom prst="rect">
            <a:avLst/>
          </a:prstGeom>
          <a:noFill/>
          <a:ln/>
        </p:spPr>
        <p:txBody>
          <a:bodyPr wrap="square" lIns="0" tIns="0" rIns="0" bIns="0" rtlCol="0" anchor="t"/>
          <a:lstStyle/>
          <a:p>
            <a:pPr indent="0" marL="0">
              <a:lnSpc>
                <a:spcPct val="115000"/>
              </a:lnSpc>
              <a:buNone/>
            </a:pPr>
            <a:r>
              <a:rPr lang="en-US" sz="900" b="1" dirty="0">
                <a:solidFill>
                  <a:srgbClr val="183A6A"/>
                </a:solidFill>
                <a:latin typeface="Calibri" pitchFamily="34" charset="0"/>
                <a:ea typeface="Calibri" pitchFamily="34" charset="-122"/>
                <a:cs typeface="Calibri" pitchFamily="34" charset="-120"/>
              </a:rPr>
              <a:t>合力：Fi(t) = α·fatt + β·frep + η·fcoh</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fatt — 目标导向引力，引导朝下一关键点运动</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frep — 碰撞避免斥力，优先级最高（β≫η≈α）</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fcoh — 通信保持引力，仅对 MBST 主干链路中邻居施加自适应引力</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链路接近失效时引力增强，仅对 MBST 关键 N-1 条链路构建势场约束，有效降低多势场叠加复杂度。</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典型场景仿真效果对比</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8229600" cy="274320"/>
          </a:xfrm>
          <a:prstGeom prst="rect">
            <a:avLst/>
          </a:prstGeom>
          <a:noFill/>
          <a:ln/>
        </p:spPr>
        <p:txBody>
          <a:bodyPr wrap="square" lIns="0" tIns="0" rIns="0" bIns="0" rtlCol="0" anchor="ctr"/>
          <a:lstStyle/>
          <a:p>
            <a:pPr indent="0" marL="0">
              <a:buNone/>
            </a:pPr>
            <a:r>
              <a:rPr lang="en-US" sz="900" i="1" dirty="0">
                <a:solidFill>
                  <a:srgbClr val="666666"/>
                </a:solidFill>
                <a:latin typeface="Microsoft YaHei" pitchFamily="34" charset="0"/>
                <a:ea typeface="Microsoft YaHei" pitchFamily="34" charset="-122"/>
                <a:cs typeface="Microsoft YaHei" pitchFamily="34" charset="-120"/>
              </a:rPr>
              <a:t>典型场景：36架无人机，20栋建筑，单中心干扰源（25 dBm）</a:t>
            </a:r>
            <a:endParaRPr lang="en-US" sz="900" dirty="0"/>
          </a:p>
        </p:txBody>
      </p:sp>
      <p:sp>
        <p:nvSpPr>
          <p:cNvPr id="9" name="Shape 6"/>
          <p:cNvSpPr/>
          <p:nvPr/>
        </p:nvSpPr>
        <p:spPr>
          <a:xfrm>
            <a:off x="457200" y="1737360"/>
            <a:ext cx="1920240" cy="1828800"/>
          </a:xfrm>
          <a:prstGeom prst="rect">
            <a:avLst/>
          </a:prstGeom>
          <a:solidFill>
            <a:srgbClr val="FFFFFF"/>
          </a:solidFill>
          <a:ln w="15875">
            <a:solidFill>
              <a:srgbClr val="3874B8"/>
            </a:solidFill>
            <a:prstDash val="dash"/>
          </a:ln>
        </p:spPr>
      </p:sp>
      <p:sp>
        <p:nvSpPr>
          <p:cNvPr id="10" name="Shape 7"/>
          <p:cNvSpPr/>
          <p:nvPr/>
        </p:nvSpPr>
        <p:spPr>
          <a:xfrm>
            <a:off x="502920" y="1773936"/>
            <a:ext cx="1828800" cy="292608"/>
          </a:xfrm>
          <a:prstGeom prst="rect">
            <a:avLst/>
          </a:prstGeom>
          <a:solidFill>
            <a:srgbClr val="E8EDF5"/>
          </a:solidFill>
          <a:ln/>
        </p:spPr>
      </p:sp>
      <p:sp>
        <p:nvSpPr>
          <p:cNvPr id="11" name="Text 8"/>
          <p:cNvSpPr/>
          <p:nvPr/>
        </p:nvSpPr>
        <p:spPr>
          <a:xfrm>
            <a:off x="502920" y="1773936"/>
            <a:ext cx="18288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K-CBS</a:t>
            </a:r>
            <a:endParaRPr lang="en-US" sz="900" dirty="0"/>
          </a:p>
        </p:txBody>
      </p:sp>
      <p:sp>
        <p:nvSpPr>
          <p:cNvPr id="12" name="Text 9"/>
          <p:cNvSpPr/>
          <p:nvPr/>
        </p:nvSpPr>
        <p:spPr>
          <a:xfrm>
            <a:off x="566928" y="2139696"/>
            <a:ext cx="1700784" cy="135331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路径折线抖动明显，平滑性差；缺乏通信保持机制，连通率低</a:t>
            </a:r>
            <a:endParaRPr lang="en-US" sz="900" dirty="0"/>
          </a:p>
        </p:txBody>
      </p:sp>
      <p:sp>
        <p:nvSpPr>
          <p:cNvPr id="13" name="Shape 10"/>
          <p:cNvSpPr/>
          <p:nvPr/>
        </p:nvSpPr>
        <p:spPr>
          <a:xfrm>
            <a:off x="2487168" y="1737360"/>
            <a:ext cx="1920240" cy="1828800"/>
          </a:xfrm>
          <a:prstGeom prst="rect">
            <a:avLst/>
          </a:prstGeom>
          <a:solidFill>
            <a:srgbClr val="FFFFFF"/>
          </a:solidFill>
          <a:ln w="15875">
            <a:solidFill>
              <a:srgbClr val="3874B8"/>
            </a:solidFill>
            <a:prstDash val="dash"/>
          </a:ln>
        </p:spPr>
      </p:sp>
      <p:sp>
        <p:nvSpPr>
          <p:cNvPr id="14" name="Shape 11"/>
          <p:cNvSpPr/>
          <p:nvPr/>
        </p:nvSpPr>
        <p:spPr>
          <a:xfrm>
            <a:off x="2532888" y="1773936"/>
            <a:ext cx="1828800" cy="292608"/>
          </a:xfrm>
          <a:prstGeom prst="rect">
            <a:avLst/>
          </a:prstGeom>
          <a:solidFill>
            <a:srgbClr val="E8EDF5"/>
          </a:solidFill>
          <a:ln/>
        </p:spPr>
      </p:sp>
      <p:sp>
        <p:nvSpPr>
          <p:cNvPr id="15" name="Text 12"/>
          <p:cNvSpPr/>
          <p:nvPr/>
        </p:nvSpPr>
        <p:spPr>
          <a:xfrm>
            <a:off x="2532888" y="1773936"/>
            <a:ext cx="18288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PPSwarm</a:t>
            </a:r>
            <a:endParaRPr lang="en-US" sz="900" dirty="0"/>
          </a:p>
        </p:txBody>
      </p:sp>
      <p:sp>
        <p:nvSpPr>
          <p:cNvPr id="16" name="Text 13"/>
          <p:cNvSpPr/>
          <p:nvPr/>
        </p:nvSpPr>
        <p:spPr>
          <a:xfrm>
            <a:off x="2596896" y="2139696"/>
            <a:ext cx="1700784" cy="135331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路径较平滑，效率优于K-CBS；但依赖全局信息，无法适应未知环境</a:t>
            </a:r>
            <a:endParaRPr lang="en-US" sz="900" dirty="0"/>
          </a:p>
        </p:txBody>
      </p:sp>
      <p:sp>
        <p:nvSpPr>
          <p:cNvPr id="17" name="Shape 14"/>
          <p:cNvSpPr/>
          <p:nvPr/>
        </p:nvSpPr>
        <p:spPr>
          <a:xfrm>
            <a:off x="4517136" y="1737360"/>
            <a:ext cx="1920240" cy="1828800"/>
          </a:xfrm>
          <a:prstGeom prst="rect">
            <a:avLst/>
          </a:prstGeom>
          <a:solidFill>
            <a:srgbClr val="FFFFFF"/>
          </a:solidFill>
          <a:ln w="15875">
            <a:solidFill>
              <a:srgbClr val="3874B8"/>
            </a:solidFill>
            <a:prstDash val="dash"/>
          </a:ln>
        </p:spPr>
      </p:sp>
      <p:sp>
        <p:nvSpPr>
          <p:cNvPr id="18" name="Shape 15"/>
          <p:cNvSpPr/>
          <p:nvPr/>
        </p:nvSpPr>
        <p:spPr>
          <a:xfrm>
            <a:off x="4562856" y="1773936"/>
            <a:ext cx="1828800" cy="292608"/>
          </a:xfrm>
          <a:prstGeom prst="rect">
            <a:avLst/>
          </a:prstGeom>
          <a:solidFill>
            <a:srgbClr val="E8EDF5"/>
          </a:solidFill>
          <a:ln/>
        </p:spPr>
      </p:sp>
      <p:sp>
        <p:nvSpPr>
          <p:cNvPr id="19" name="Text 16"/>
          <p:cNvSpPr/>
          <p:nvPr/>
        </p:nvSpPr>
        <p:spPr>
          <a:xfrm>
            <a:off x="4562856" y="1773936"/>
            <a:ext cx="18288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APF / CMUFC</a:t>
            </a:r>
            <a:endParaRPr lang="en-US" sz="900" dirty="0"/>
          </a:p>
        </p:txBody>
      </p:sp>
      <p:sp>
        <p:nvSpPr>
          <p:cNvPr id="20" name="Text 17"/>
          <p:cNvSpPr/>
          <p:nvPr/>
        </p:nvSpPr>
        <p:spPr>
          <a:xfrm>
            <a:off x="4626864" y="2139696"/>
            <a:ext cx="1700784" cy="135331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APF在干扰区附近局部震荡；CMUFC势场耦合复杂，路径震荡严重</a:t>
            </a:r>
            <a:endParaRPr lang="en-US" sz="900" dirty="0"/>
          </a:p>
        </p:txBody>
      </p:sp>
      <p:sp>
        <p:nvSpPr>
          <p:cNvPr id="21" name="Shape 18"/>
          <p:cNvSpPr/>
          <p:nvPr/>
        </p:nvSpPr>
        <p:spPr>
          <a:xfrm>
            <a:off x="6547104" y="1737360"/>
            <a:ext cx="1920240" cy="1828800"/>
          </a:xfrm>
          <a:prstGeom prst="rect">
            <a:avLst/>
          </a:prstGeom>
          <a:solidFill>
            <a:srgbClr val="FFFFFF"/>
          </a:solidFill>
          <a:ln w="15875">
            <a:solidFill>
              <a:srgbClr val="3874B8"/>
            </a:solidFill>
            <a:prstDash val="dash"/>
          </a:ln>
        </p:spPr>
      </p:sp>
      <p:sp>
        <p:nvSpPr>
          <p:cNvPr id="22" name="Shape 19"/>
          <p:cNvSpPr/>
          <p:nvPr/>
        </p:nvSpPr>
        <p:spPr>
          <a:xfrm>
            <a:off x="6592824" y="1773936"/>
            <a:ext cx="1828800" cy="292608"/>
          </a:xfrm>
          <a:prstGeom prst="rect">
            <a:avLst/>
          </a:prstGeom>
          <a:solidFill>
            <a:srgbClr val="E8EDF5"/>
          </a:solidFill>
          <a:ln/>
        </p:spPr>
      </p:sp>
      <p:sp>
        <p:nvSpPr>
          <p:cNvPr id="23" name="Text 20"/>
          <p:cNvSpPr/>
          <p:nvPr/>
        </p:nvSpPr>
        <p:spPr>
          <a:xfrm>
            <a:off x="6592824" y="1773936"/>
            <a:ext cx="18288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C-RRT*-APF（本文）</a:t>
            </a:r>
            <a:endParaRPr lang="en-US" sz="900" dirty="0"/>
          </a:p>
        </p:txBody>
      </p:sp>
      <p:sp>
        <p:nvSpPr>
          <p:cNvPr id="24" name="Text 21"/>
          <p:cNvSpPr/>
          <p:nvPr/>
        </p:nvSpPr>
        <p:spPr>
          <a:xfrm>
            <a:off x="6656832" y="2139696"/>
            <a:ext cx="1700784" cy="135331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无人机沿干扰同侧协同穿越，路径平滑，通信连通率显著提升</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量化指标分析</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algn="ctr" indent="0" marL="0">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algn="ctr" indent="0" marL="0">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algn="ctr" indent="0" marL="0">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algn="ctr" indent="0" marL="0">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algn="ctr" indent="0" marL="0">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algn="ctr" indent="0" marL="0">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algn="ctr" indent="0" marL="0">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algn="ctr" indent="0" marL="0">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algn="ctr" indent="0" marL="0">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1280160"/>
        </p:xfrm>
        <a:graphic>
          <a:graphicData uri="http://schemas.openxmlformats.org/drawingml/2006/table">
            <a:tbl>
              <a:tblPr/>
              <a:tblGrid>
                <a:gridCol w="4114800"/>
                <a:gridCol w="2057400"/>
                <a:gridCol w="2057400"/>
              </a:tblGrid>
              <a:tr h="274320">
                <a:tc>
                  <a:txBody>
                    <a:bodyP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r>
              <a:tr h="274320">
                <a:tc>
                  <a:txBody>
                    <a:bodyPr/>
                    <a:lstStyle/>
                    <a:p>
                      <a:pPr algn="ctr" indent="0" marL="0">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algn="ctr" indent="0" marL="0">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algn="ctr" indent="0" marL="0">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r>
              <a:tr h="274320">
                <a:tc>
                  <a:txBody>
                    <a:bodyPr/>
                    <a:lstStyle/>
                    <a:p>
                      <a:pPr algn="ctr" indent="0" marL="0">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r>
              <a:tr h="274320">
                <a:tc>
                  <a:txBody>
                    <a:bodyPr/>
                    <a:lstStyle/>
                    <a:p>
                      <a:pPr algn="ctr" indent="0" marL="0">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多场景鲁棒性验证</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2606040" cy="173736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不同建筑密度</a:t>
            </a:r>
            <a:endParaRPr lang="en-US" sz="1000" dirty="0"/>
          </a:p>
        </p:txBody>
      </p:sp>
      <p:sp>
        <p:nvSpPr>
          <p:cNvPr id="11" name="Text 8"/>
          <p:cNvSpPr/>
          <p:nvPr/>
        </p:nvSpPr>
        <p:spPr>
          <a:xfrm>
            <a:off x="566928" y="1591056"/>
            <a:ext cx="2386584" cy="126187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随建筑数量增加，C-RRT*-APF通信连通率下降曲线最平缓；全局关键点引导机制有效减少路径震荡</a:t>
            </a:r>
            <a:endParaRPr lang="en-US" sz="900" dirty="0"/>
          </a:p>
        </p:txBody>
      </p:sp>
      <p:sp>
        <p:nvSpPr>
          <p:cNvPr id="12" name="Shape 9"/>
          <p:cNvSpPr/>
          <p:nvPr/>
        </p:nvSpPr>
        <p:spPr>
          <a:xfrm>
            <a:off x="3264408" y="1188720"/>
            <a:ext cx="2606040" cy="173736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不同集群规模</a:t>
            </a:r>
            <a:endParaRPr lang="en-US" sz="1000" dirty="0"/>
          </a:p>
        </p:txBody>
      </p:sp>
      <p:sp>
        <p:nvSpPr>
          <p:cNvPr id="15" name="Text 12"/>
          <p:cNvSpPr/>
          <p:nvPr/>
        </p:nvSpPr>
        <p:spPr>
          <a:xfrm>
            <a:off x="3374136" y="1591056"/>
            <a:ext cx="2386584" cy="126187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分簇分层结构降低全局耦合复杂度；规模扩展时到达时间变化幅度最小，通信连通率波动最小</a:t>
            </a:r>
            <a:endParaRPr lang="en-US" sz="900" dirty="0"/>
          </a:p>
        </p:txBody>
      </p:sp>
      <p:sp>
        <p:nvSpPr>
          <p:cNvPr id="16" name="Shape 13"/>
          <p:cNvSpPr/>
          <p:nvPr/>
        </p:nvSpPr>
        <p:spPr>
          <a:xfrm>
            <a:off x="6071616" y="1188720"/>
            <a:ext cx="2606040" cy="173736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不同干扰强度</a:t>
            </a:r>
            <a:endParaRPr lang="en-US" sz="1000" dirty="0"/>
          </a:p>
        </p:txBody>
      </p:sp>
      <p:sp>
        <p:nvSpPr>
          <p:cNvPr id="19" name="Text 16"/>
          <p:cNvSpPr/>
          <p:nvPr/>
        </p:nvSpPr>
        <p:spPr>
          <a:xfrm>
            <a:off x="6181344" y="1591056"/>
            <a:ext cx="2386584" cy="126187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归一化代数连通度显著高于对比算法；簇间距离约束有效规避强干扰区域，主干链路维持策略保证核心通信结构稳定</a:t>
            </a:r>
            <a:endParaRPr lang="en-US" sz="900" dirty="0"/>
          </a:p>
        </p:txBody>
      </p:sp>
      <p:pic>
        <p:nvPicPr>
          <p:cNvPr id="20" name="Image 1" descr="/home/claude/img_s12.png">    </p:cNvPr>
          <p:cNvPicPr>
            <a:picLocks noChangeAspect="1"/>
          </p:cNvPicPr>
          <p:nvPr/>
        </p:nvPicPr>
        <p:blipFill>
          <a:blip r:embed="rId2"/>
          <a:srcRect l="0" r="0" t="0" b="0"/>
          <a:stretch/>
        </p:blipFill>
        <p:spPr>
          <a:xfrm>
            <a:off x="914400" y="3291840"/>
            <a:ext cx="7315200" cy="1371600"/>
          </a:xfrm>
          <a:prstGeom prst="rect">
            <a:avLst/>
          </a:prstGeom>
        </p:spPr>
      </p:pic>
      <p:sp>
        <p:nvSpPr>
          <p:cNvPr id="21" name="Shape 17"/>
          <p:cNvSpPr/>
          <p:nvPr/>
        </p:nvSpPr>
        <p:spPr>
          <a:xfrm>
            <a:off x="457200" y="4572000"/>
            <a:ext cx="8229600" cy="274320"/>
          </a:xfrm>
          <a:prstGeom prst="rect">
            <a:avLst/>
          </a:prstGeom>
          <a:solidFill>
            <a:srgbClr val="E8EDF5"/>
          </a:solidFill>
          <a:ln/>
        </p:spPr>
      </p:sp>
      <p:sp>
        <p:nvSpPr>
          <p:cNvPr id="22" name="Text 18"/>
          <p:cNvSpPr/>
          <p:nvPr/>
        </p:nvSpPr>
        <p:spPr>
          <a:xfrm>
            <a:off x="548640" y="4572000"/>
            <a:ext cx="8046720" cy="27432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在30次独立重复实验统计下，C-RRT*-APF在各维度均保持最优或次优综合性能。</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04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区域覆盖系统模型</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pic>
        <p:nvPicPr>
          <p:cNvPr id="8" name="Image 1" descr="/home/claude/img_s13.png">    </p:cNvPr>
          <p:cNvPicPr>
            <a:picLocks noChangeAspect="1"/>
          </p:cNvPicPr>
          <p:nvPr/>
        </p:nvPicPr>
        <p:blipFill>
          <a:blip r:embed="rId2"/>
          <a:srcRect l="0" r="0" t="0" b="0"/>
          <a:stretch/>
        </p:blipFill>
        <p:spPr>
          <a:xfrm>
            <a:off x="457200" y="1417320"/>
            <a:ext cx="3931920" cy="3154680"/>
          </a:xfrm>
          <a:prstGeom prst="rect">
            <a:avLst/>
          </a:prstGeom>
        </p:spPr>
      </p:pic>
      <p:sp>
        <p:nvSpPr>
          <p:cNvPr id="9" name="Shape 5"/>
          <p:cNvSpPr/>
          <p:nvPr/>
        </p:nvSpPr>
        <p:spPr>
          <a:xfrm>
            <a:off x="4663440" y="1417320"/>
            <a:ext cx="4023360" cy="1463040"/>
          </a:xfrm>
          <a:prstGeom prst="rect">
            <a:avLst/>
          </a:prstGeom>
          <a:solidFill>
            <a:srgbClr val="FFFFFF"/>
          </a:solidFill>
          <a:ln w="15875">
            <a:solidFill>
              <a:srgbClr val="3874B8"/>
            </a:solidFill>
            <a:prstDash val="dash"/>
          </a:ln>
        </p:spPr>
      </p:sp>
      <p:sp>
        <p:nvSpPr>
          <p:cNvPr id="10" name="Shape 6"/>
          <p:cNvSpPr/>
          <p:nvPr/>
        </p:nvSpPr>
        <p:spPr>
          <a:xfrm>
            <a:off x="4709160" y="1453896"/>
            <a:ext cx="3931920" cy="292608"/>
          </a:xfrm>
          <a:prstGeom prst="rect">
            <a:avLst/>
          </a:prstGeom>
          <a:solidFill>
            <a:srgbClr val="E8EDF5"/>
          </a:solidFill>
          <a:ln/>
        </p:spPr>
      </p:sp>
      <p:sp>
        <p:nvSpPr>
          <p:cNvPr id="11" name="Text 7"/>
          <p:cNvSpPr/>
          <p:nvPr/>
        </p:nvSpPr>
        <p:spPr>
          <a:xfrm>
            <a:off x="4709160" y="1453896"/>
            <a:ext cx="393192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773168" y="1819656"/>
            <a:ext cx="3803904" cy="98755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1km×1km 二维城市区域，建筑物数量 M=10</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干扰源位于 (100m, 900m)，功率 25dBm，禁区半径 RJ=150m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无人机数量 N=15–25，覆盖半径 Rs=150m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有效任务区域 Stask = S ∖ (O ∪ Sjam)</a:t>
            </a:r>
            <a:endParaRPr lang="en-US" sz="900" dirty="0"/>
          </a:p>
        </p:txBody>
      </p:sp>
      <p:sp>
        <p:nvSpPr>
          <p:cNvPr id="13" name="Shape 9"/>
          <p:cNvSpPr/>
          <p:nvPr/>
        </p:nvSpPr>
        <p:spPr>
          <a:xfrm>
            <a:off x="4663440" y="3063240"/>
            <a:ext cx="4023360" cy="1508760"/>
          </a:xfrm>
          <a:prstGeom prst="rect">
            <a:avLst/>
          </a:prstGeom>
          <a:solidFill>
            <a:srgbClr val="FFFFFF"/>
          </a:solidFill>
          <a:ln w="15875">
            <a:solidFill>
              <a:srgbClr val="3874B8"/>
            </a:solidFill>
            <a:prstDash val="dash"/>
          </a:ln>
        </p:spPr>
      </p:sp>
      <p:sp>
        <p:nvSpPr>
          <p:cNvPr id="14" name="Shape 10"/>
          <p:cNvSpPr/>
          <p:nvPr/>
        </p:nvSpPr>
        <p:spPr>
          <a:xfrm>
            <a:off x="4709160" y="3099816"/>
            <a:ext cx="3931920" cy="292608"/>
          </a:xfrm>
          <a:prstGeom prst="rect">
            <a:avLst/>
          </a:prstGeom>
          <a:solidFill>
            <a:srgbClr val="E8EDF5"/>
          </a:solidFill>
          <a:ln/>
        </p:spPr>
      </p:sp>
      <p:sp>
        <p:nvSpPr>
          <p:cNvPr id="15" name="Text 11"/>
          <p:cNvSpPr/>
          <p:nvPr/>
        </p:nvSpPr>
        <p:spPr>
          <a:xfrm>
            <a:off x="4709160" y="3099816"/>
            <a:ext cx="393192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双目标优化问题</a:t>
            </a:r>
            <a:endParaRPr lang="en-US" sz="1000" dirty="0"/>
          </a:p>
        </p:txBody>
      </p:sp>
      <p:sp>
        <p:nvSpPr>
          <p:cNvPr id="16" name="Text 12"/>
          <p:cNvSpPr/>
          <p:nvPr/>
        </p:nvSpPr>
        <p:spPr>
          <a:xfrm>
            <a:off x="4773168" y="3465576"/>
            <a:ext cx="3803904" cy="1033272"/>
          </a:xfrm>
          <a:prstGeom prst="rect">
            <a:avLst/>
          </a:prstGeom>
          <a:noFill/>
          <a:ln/>
        </p:spPr>
        <p:txBody>
          <a:bodyPr wrap="square" lIns="0" tIns="0" rIns="0" bIns="0" rtlCol="0" anchor="t"/>
          <a:lstStyle/>
          <a:p>
            <a:pPr indent="0" marL="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最大化 F(X) = [fcov(X), fcon(X)]ᵀ</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覆盖率 fcov：联合有效覆盖面积 / 有效任务区域总面积（含视距约束）</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归一化代数连通度 fcon：λ₂(G)/N，衡量网络抗损毁能力</a:t>
            </a:r>
            <a:endParaRPr lang="en-US" sz="900" dirty="0"/>
          </a:p>
          <a:p>
            <a:pPr indent="0" marL="0">
              <a:lnSpc>
                <a:spcPct val="115000"/>
              </a:lnSpc>
              <a:buNone/>
            </a:pPr>
            <a:r>
              <a:rPr lang="en-US" sz="850" i="1" dirty="0">
                <a:solidFill>
                  <a:srgbClr val="666666"/>
                </a:solidFill>
                <a:latin typeface="Microsoft YaHei" pitchFamily="34" charset="0"/>
                <a:ea typeface="Microsoft YaHei" pitchFamily="34" charset="-122"/>
                <a:cs typeface="Microsoft YaHei" pitchFamily="34" charset="-120"/>
              </a:rPr>
              <a:t>典型NP-hard非线性非凸多约束问题</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04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总体框架与三大创新点</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1577340" y="1188720"/>
            <a:ext cx="365760" cy="365760"/>
          </a:xfrm>
          <a:prstGeom prst="ellipse">
            <a:avLst/>
          </a:prstGeom>
          <a:solidFill>
            <a:srgbClr val="183A6A"/>
          </a:solidFill>
          <a:ln/>
        </p:spPr>
      </p:sp>
      <p:sp>
        <p:nvSpPr>
          <p:cNvPr id="9" name="Text 6"/>
          <p:cNvSpPr/>
          <p:nvPr/>
        </p:nvSpPr>
        <p:spPr>
          <a:xfrm>
            <a:off x="1577340" y="1188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6459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682496"/>
            <a:ext cx="2514600" cy="292608"/>
          </a:xfrm>
          <a:prstGeom prst="rect">
            <a:avLst/>
          </a:prstGeom>
          <a:solidFill>
            <a:srgbClr val="E8EDF5"/>
          </a:solidFill>
          <a:ln/>
        </p:spPr>
      </p:sp>
      <p:sp>
        <p:nvSpPr>
          <p:cNvPr id="12" name="Text 9"/>
          <p:cNvSpPr/>
          <p:nvPr/>
        </p:nvSpPr>
        <p:spPr>
          <a:xfrm>
            <a:off x="502920" y="168249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连通-贪心覆盖混合初始化（CGCI）</a:t>
            </a:r>
            <a:endParaRPr lang="en-US" sz="900" dirty="0"/>
          </a:p>
        </p:txBody>
      </p:sp>
      <p:sp>
        <p:nvSpPr>
          <p:cNvPr id="13" name="Text 10"/>
          <p:cNvSpPr/>
          <p:nvPr/>
        </p:nvSpPr>
        <p:spPr>
          <a:xfrm>
            <a:off x="566928" y="2048256"/>
            <a:ext cx="2386584" cy="89611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基于权重向量动态切换贪心覆盖与聚集连通两种初始化策略，保障初始种群质量与多样性</a:t>
            </a:r>
            <a:endParaRPr lang="en-US" sz="900" dirty="0"/>
          </a:p>
        </p:txBody>
      </p:sp>
      <p:sp>
        <p:nvSpPr>
          <p:cNvPr id="14" name="Shape 11"/>
          <p:cNvSpPr/>
          <p:nvPr/>
        </p:nvSpPr>
        <p:spPr>
          <a:xfrm>
            <a:off x="4384548" y="1188720"/>
            <a:ext cx="365760" cy="365760"/>
          </a:xfrm>
          <a:prstGeom prst="ellipse">
            <a:avLst/>
          </a:prstGeom>
          <a:solidFill>
            <a:srgbClr val="183A6A"/>
          </a:solidFill>
          <a:ln/>
        </p:spPr>
      </p:sp>
      <p:sp>
        <p:nvSpPr>
          <p:cNvPr id="15" name="Text 12"/>
          <p:cNvSpPr/>
          <p:nvPr/>
        </p:nvSpPr>
        <p:spPr>
          <a:xfrm>
            <a:off x="4384548" y="1188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6459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682496"/>
            <a:ext cx="2514600" cy="292608"/>
          </a:xfrm>
          <a:prstGeom prst="rect">
            <a:avLst/>
          </a:prstGeom>
          <a:solidFill>
            <a:srgbClr val="E8EDF5"/>
          </a:solidFill>
          <a:ln/>
        </p:spPr>
      </p:sp>
      <p:sp>
        <p:nvSpPr>
          <p:cNvPr id="18" name="Text 15"/>
          <p:cNvSpPr/>
          <p:nvPr/>
        </p:nvSpPr>
        <p:spPr>
          <a:xfrm>
            <a:off x="3310128" y="168249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局部引导变异算子</a:t>
            </a:r>
            <a:endParaRPr lang="en-US" sz="900" dirty="0"/>
          </a:p>
        </p:txBody>
      </p:sp>
      <p:sp>
        <p:nvSpPr>
          <p:cNvPr id="19" name="Text 16"/>
          <p:cNvSpPr/>
          <p:nvPr/>
        </p:nvSpPr>
        <p:spPr>
          <a:xfrm>
            <a:off x="3374136" y="2048256"/>
            <a:ext cx="2386584" cy="89611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VCGO（Voronoi覆盖引导）：计算视距责任区域质心，引导无人机填补覆盖盲区；DCGO（节点度连通引导）：识别低度数节点，引导其向链路修复位置定向变异</a:t>
            </a:r>
            <a:endParaRPr lang="en-US" sz="900" dirty="0"/>
          </a:p>
        </p:txBody>
      </p:sp>
      <p:sp>
        <p:nvSpPr>
          <p:cNvPr id="20" name="Shape 17"/>
          <p:cNvSpPr/>
          <p:nvPr/>
        </p:nvSpPr>
        <p:spPr>
          <a:xfrm>
            <a:off x="7191756" y="1188720"/>
            <a:ext cx="365760" cy="365760"/>
          </a:xfrm>
          <a:prstGeom prst="ellipse">
            <a:avLst/>
          </a:prstGeom>
          <a:solidFill>
            <a:srgbClr val="183A6A"/>
          </a:solidFill>
          <a:ln/>
        </p:spPr>
      </p:sp>
      <p:sp>
        <p:nvSpPr>
          <p:cNvPr id="21" name="Text 18"/>
          <p:cNvSpPr/>
          <p:nvPr/>
        </p:nvSpPr>
        <p:spPr>
          <a:xfrm>
            <a:off x="7191756" y="1188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6459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682496"/>
            <a:ext cx="2514600" cy="292608"/>
          </a:xfrm>
          <a:prstGeom prst="rect">
            <a:avLst/>
          </a:prstGeom>
          <a:solidFill>
            <a:srgbClr val="E8EDF5"/>
          </a:solidFill>
          <a:ln/>
        </p:spPr>
      </p:sp>
      <p:sp>
        <p:nvSpPr>
          <p:cNvPr id="24" name="Text 21"/>
          <p:cNvSpPr/>
          <p:nvPr/>
        </p:nvSpPr>
        <p:spPr>
          <a:xfrm>
            <a:off x="6117336" y="168249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多种群精英迁移机制</a:t>
            </a:r>
            <a:endParaRPr lang="en-US" sz="900" dirty="0"/>
          </a:p>
        </p:txBody>
      </p:sp>
      <p:sp>
        <p:nvSpPr>
          <p:cNvPr id="25" name="Text 22"/>
          <p:cNvSpPr/>
          <p:nvPr/>
        </p:nvSpPr>
        <p:spPr>
          <a:xfrm>
            <a:off x="6181344" y="2048256"/>
            <a:ext cx="2386584" cy="89611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基于岛模型，三个异构子种群（主导P₁、覆盖导向P₂、连通导向P₃）按比例精英迁移，平衡全局探索与局部开发</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04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局部引导变异算子：VCGO 与 DCGO</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3931920" cy="23774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VCGO：Voronoi 覆盖引导算子</a:t>
            </a:r>
            <a:endParaRPr lang="en-US" sz="1000" dirty="0"/>
          </a:p>
        </p:txBody>
      </p:sp>
      <p:sp>
        <p:nvSpPr>
          <p:cNvPr id="11" name="Text 8"/>
          <p:cNvSpPr/>
          <p:nvPr/>
        </p:nvSpPr>
        <p:spPr>
          <a:xfrm>
            <a:off x="566928" y="1591056"/>
            <a:ext cx="3712464" cy="190195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为每架无人机构造视距 Voronoi 责任区域（排除建筑遮挡背面），计算几何质心 ci，以 oi→ci 方向为变异向量，驱使无人机主动向未覆盖区域中心移动，高效消除覆盖盲区。</a:t>
            </a:r>
            <a:endParaRPr lang="en-US" sz="900" dirty="0"/>
          </a:p>
        </p:txBody>
      </p:sp>
      <p:sp>
        <p:nvSpPr>
          <p:cNvPr id="12" name="Shape 9"/>
          <p:cNvSpPr/>
          <p:nvPr/>
        </p:nvSpPr>
        <p:spPr>
          <a:xfrm>
            <a:off x="4754880" y="1188720"/>
            <a:ext cx="3931920" cy="23774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DCGO：节点度连通引导算子</a:t>
            </a:r>
            <a:endParaRPr lang="en-US" sz="1000" dirty="0"/>
          </a:p>
        </p:txBody>
      </p:sp>
      <p:sp>
        <p:nvSpPr>
          <p:cNvPr id="15" name="Text 12"/>
          <p:cNvSpPr/>
          <p:nvPr/>
        </p:nvSpPr>
        <p:spPr>
          <a:xfrm>
            <a:off x="4864608" y="1591056"/>
            <a:ext cx="3712464" cy="190195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按节点度从低到高排序，优先对弱连通节点执行定向变异：若存在 SINR 接近阈值的非邻接节点 uj，则变异方向指向 uj（修复链路）；否则指向集群虚拟中心（增强整体连通性）。</a:t>
            </a:r>
            <a:endParaRPr lang="en-US" sz="900" dirty="0"/>
          </a:p>
        </p:txBody>
      </p:sp>
      <p:sp>
        <p:nvSpPr>
          <p:cNvPr id="16" name="Shape 13"/>
          <p:cNvSpPr/>
          <p:nvPr/>
        </p:nvSpPr>
        <p:spPr>
          <a:xfrm>
            <a:off x="457200" y="4023360"/>
            <a:ext cx="8229600" cy="502920"/>
          </a:xfrm>
          <a:prstGeom prst="rect">
            <a:avLst/>
          </a:prstGeom>
          <a:solidFill>
            <a:srgbClr val="E8ED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两种算子结合领域先验知识，相较于随机多项式变异，大幅加快种群向真实帕累托前沿进化的速度与搜索效果。</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04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16</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多种群精英迁移机制</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2606040" cy="137160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主导种群 P₁（n₁=120）</a:t>
            </a:r>
            <a:endParaRPr lang="en-US" sz="1000" dirty="0"/>
          </a:p>
        </p:txBody>
      </p:sp>
      <p:sp>
        <p:nvSpPr>
          <p:cNvPr id="11" name="Text 8"/>
          <p:cNvSpPr/>
          <p:nvPr/>
        </p:nvSpPr>
        <p:spPr>
          <a:xfrm>
            <a:off x="566928" y="1591056"/>
            <a:ext cx="2386584" cy="8961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采用标准多项式变异，维持种群遗传多样性与全局探索能力</a:t>
            </a:r>
            <a:endParaRPr lang="en-US" sz="900" dirty="0"/>
          </a:p>
        </p:txBody>
      </p:sp>
      <p:sp>
        <p:nvSpPr>
          <p:cNvPr id="12" name="Shape 9"/>
          <p:cNvSpPr/>
          <p:nvPr/>
        </p:nvSpPr>
        <p:spPr>
          <a:xfrm>
            <a:off x="3264408" y="1188720"/>
            <a:ext cx="2606040" cy="137160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覆盖导向 P₂（n₂=40）</a:t>
            </a:r>
            <a:endParaRPr lang="en-US" sz="1000" dirty="0"/>
          </a:p>
        </p:txBody>
      </p:sp>
      <p:sp>
        <p:nvSpPr>
          <p:cNvPr id="15" name="Text 12"/>
          <p:cNvSpPr/>
          <p:nvPr/>
        </p:nvSpPr>
        <p:spPr>
          <a:xfrm>
            <a:off x="3374136" y="1591056"/>
            <a:ext cx="2386584" cy="8961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VCGO 算子，专注于覆盖目标的局部精细化搜索</a:t>
            </a:r>
            <a:endParaRPr lang="en-US" sz="900" dirty="0"/>
          </a:p>
        </p:txBody>
      </p:sp>
      <p:sp>
        <p:nvSpPr>
          <p:cNvPr id="16" name="Shape 13"/>
          <p:cNvSpPr/>
          <p:nvPr/>
        </p:nvSpPr>
        <p:spPr>
          <a:xfrm>
            <a:off x="6071616" y="1188720"/>
            <a:ext cx="2606040" cy="137160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连通导向 P₃（n₃=40）</a:t>
            </a:r>
            <a:endParaRPr lang="en-US" sz="1000" dirty="0"/>
          </a:p>
        </p:txBody>
      </p:sp>
      <p:sp>
        <p:nvSpPr>
          <p:cNvPr id="19" name="Text 16"/>
          <p:cNvSpPr/>
          <p:nvPr/>
        </p:nvSpPr>
        <p:spPr>
          <a:xfrm>
            <a:off x="6181344" y="1591056"/>
            <a:ext cx="2386584" cy="8961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DCGO 算子，专注于网络连通性目标的定向优化</a:t>
            </a:r>
            <a:endParaRPr lang="en-US" sz="900" dirty="0"/>
          </a:p>
        </p:txBody>
      </p:sp>
      <p:sp>
        <p:nvSpPr>
          <p:cNvPr id="20" name="Shape 17"/>
          <p:cNvSpPr/>
          <p:nvPr/>
        </p:nvSpPr>
        <p:spPr>
          <a:xfrm>
            <a:off x="457200" y="2971800"/>
            <a:ext cx="8229600" cy="1691640"/>
          </a:xfrm>
          <a:prstGeom prst="rect">
            <a:avLst/>
          </a:prstGeom>
          <a:solidFill>
            <a:srgbClr val="FFFFFF"/>
          </a:solidFill>
          <a:ln w="15875">
            <a:solidFill>
              <a:srgbClr val="3874B8"/>
            </a:solidFill>
            <a:prstDash val="dash"/>
          </a:ln>
        </p:spPr>
      </p:sp>
      <p:sp>
        <p:nvSpPr>
          <p:cNvPr id="21" name="Shape 18"/>
          <p:cNvSpPr/>
          <p:nvPr/>
        </p:nvSpPr>
        <p:spPr>
          <a:xfrm>
            <a:off x="502920" y="3008376"/>
            <a:ext cx="8138160" cy="292608"/>
          </a:xfrm>
          <a:prstGeom prst="rect">
            <a:avLst/>
          </a:prstGeom>
          <a:solidFill>
            <a:srgbClr val="E8EDF5"/>
          </a:solidFill>
          <a:ln/>
        </p:spPr>
      </p:sp>
      <p:sp>
        <p:nvSpPr>
          <p:cNvPr id="22" name="Text 19"/>
          <p:cNvSpPr/>
          <p:nvPr/>
        </p:nvSpPr>
        <p:spPr>
          <a:xfrm>
            <a:off x="502920" y="3008376"/>
            <a:ext cx="8138160" cy="292608"/>
          </a:xfrm>
          <a:prstGeom prst="rect">
            <a:avLst/>
          </a:prstGeom>
          <a:noFill/>
          <a:ln/>
        </p:spPr>
        <p:txBody>
          <a:bodyPr wrap="square" lIns="0" tIns="0" rIns="0" bIns="0" rtlCol="0" anchor="ctr"/>
          <a:lstStyle/>
          <a:p>
            <a:pPr algn="ctr" indent="0" marL="0">
              <a:buNone/>
            </a:pPr>
            <a:r>
              <a:rPr lang="en-US" sz="1000" b="1" dirty="0">
                <a:solidFill>
                  <a:srgbClr val="183A6A"/>
                </a:solidFill>
                <a:latin typeface="Microsoft YaHei" pitchFamily="34" charset="0"/>
                <a:ea typeface="Microsoft YaHei" pitchFamily="34" charset="-122"/>
                <a:cs typeface="Microsoft YaHei" pitchFamily="34" charset="-120"/>
              </a:rPr>
              <a:t>迁移规则（迁移周期 T=40 代）</a:t>
            </a:r>
            <a:endParaRPr lang="en-US" sz="1000" dirty="0"/>
          </a:p>
        </p:txBody>
      </p:sp>
      <p:sp>
        <p:nvSpPr>
          <p:cNvPr id="23" name="Text 20"/>
          <p:cNvSpPr/>
          <p:nvPr/>
        </p:nvSpPr>
        <p:spPr>
          <a:xfrm>
            <a:off x="566928" y="3374136"/>
            <a:ext cx="8010144" cy="121615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P₂、P₃ 精英个体 → P₁（提升主种群质量与多样性）</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P₁ 第一前沿随机个体 → P₂、P₃（防止子种群局部最优）</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 覆盖最优个体 ↔ P₃ 连通最优个体（互补进化）</a:t>
            </a:r>
            <a:endParaRPr lang="en-US" sz="900" dirty="0"/>
          </a:p>
          <a:p>
            <a:pPr indent="0" marL="0">
              <a:lnSpc>
                <a:spcPct val="115000"/>
              </a:lnSpc>
              <a:buNone/>
            </a:pPr>
            <a:r>
              <a:rPr lang="en-US" sz="900" i="1" dirty="0">
                <a:solidFill>
                  <a:srgbClr val="666666"/>
                </a:solidFill>
                <a:latin typeface="Microsoft YaHei" pitchFamily="34" charset="0"/>
                <a:ea typeface="Microsoft YaHei" pitchFamily="34" charset="-122"/>
                <a:cs typeface="Microsoft YaHei" pitchFamily="34" charset="-120"/>
              </a:rPr>
              <a:t>迁移比例 r = 0.1–0.2，按非支配排序与拥挤度距离综合排序选取精英。</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04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解集质量与收敛效果分析</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pic>
        <p:nvPicPr>
          <p:cNvPr id="8" name="Image 1" descr="/home/claude/img_s17.png">    </p:cNvPr>
          <p:cNvPicPr>
            <a:picLocks noChangeAspect="1"/>
          </p:cNvPicPr>
          <p:nvPr/>
        </p:nvPicPr>
        <p:blipFill>
          <a:blip r:embed="rId2"/>
          <a:srcRect l="0" r="0" t="0" b="0"/>
          <a:stretch/>
        </p:blipFill>
        <p:spPr>
          <a:xfrm>
            <a:off x="457200" y="14173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417320"/>
            <a:ext cx="393192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7373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2194560"/>
        </p:xfrm>
        <a:graphic>
          <a:graphicData uri="http://schemas.openxmlformats.org/drawingml/2006/table">
            <a:tbl>
              <a:tblPr/>
              <a:tblGrid>
                <a:gridCol w="640080"/>
                <a:gridCol w="1463040"/>
                <a:gridCol w="914400"/>
                <a:gridCol w="914400"/>
              </a:tblGrid>
              <a:tr h="313509">
                <a:tc>
                  <a:txBody>
                    <a:bodyP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r>
              <a:tr h="313509">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r>
              <a:tr h="313509">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r>
              <a:tr h="313509">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r>
              <a:tr h="313509">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r>
              <a:tr h="313509">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r>
              <a:tr h="313509">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marL="91440" marR="91440" marT="45720" marB="45720">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indent="0" marL="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04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多场景鲁棒性验证</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2606040" cy="201168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高建筑密度场景（M=40）</a:t>
            </a:r>
            <a:endParaRPr lang="en-US" sz="900" dirty="0"/>
          </a:p>
        </p:txBody>
      </p:sp>
      <p:sp>
        <p:nvSpPr>
          <p:cNvPr id="11" name="Text 8"/>
          <p:cNvSpPr/>
          <p:nvPr/>
        </p:nvSpPr>
        <p:spPr>
          <a:xfrm>
            <a:off x="566928" y="1591056"/>
            <a:ext cx="2386584" cy="153619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视距空间被进一步压缩，通信链路建立难度提高。MPG-NSGA-II 通过 DCGO 识别关键连通节点并优化部署，在高连通度约束下覆盖率优势更加明显。</a:t>
            </a:r>
            <a:endParaRPr lang="en-US" sz="900" dirty="0"/>
          </a:p>
        </p:txBody>
      </p:sp>
      <p:sp>
        <p:nvSpPr>
          <p:cNvPr id="12" name="Shape 9"/>
          <p:cNvSpPr/>
          <p:nvPr/>
        </p:nvSpPr>
        <p:spPr>
          <a:xfrm>
            <a:off x="3264408" y="1188720"/>
            <a:ext cx="2606040" cy="201168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强干扰场景（3个干扰源）</a:t>
            </a:r>
            <a:endParaRPr lang="en-US" sz="900" dirty="0"/>
          </a:p>
        </p:txBody>
      </p:sp>
      <p:sp>
        <p:nvSpPr>
          <p:cNvPr id="15" name="Text 12"/>
          <p:cNvSpPr/>
          <p:nvPr/>
        </p:nvSpPr>
        <p:spPr>
          <a:xfrm>
            <a:off x="3374136" y="1591056"/>
            <a:ext cx="2386584" cy="153619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多干扰源叠加导致更多区域通信链路无法建立。MPG-NSGA-II 通过 DCGO 引导节点主动远离强干扰区域并重建链路，保持更高覆盖率。</a:t>
            </a:r>
            <a:endParaRPr lang="en-US" sz="900" dirty="0"/>
          </a:p>
        </p:txBody>
      </p:sp>
      <p:sp>
        <p:nvSpPr>
          <p:cNvPr id="16" name="Shape 13"/>
          <p:cNvSpPr/>
          <p:nvPr/>
        </p:nvSpPr>
        <p:spPr>
          <a:xfrm>
            <a:off x="6071616" y="1188720"/>
            <a:ext cx="2606040" cy="201168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大规模场景（1.5km×1.5km，50架）</a:t>
            </a:r>
            <a:endParaRPr lang="en-US" sz="900" dirty="0"/>
          </a:p>
        </p:txBody>
      </p:sp>
      <p:sp>
        <p:nvSpPr>
          <p:cNvPr id="19" name="Text 16"/>
          <p:cNvSpPr/>
          <p:nvPr/>
        </p:nvSpPr>
        <p:spPr>
          <a:xfrm>
            <a:off x="6181344" y="1591056"/>
            <a:ext cx="2386584" cy="153619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优化变量维度达100维。MPG-NSGA-II 通过多种群协同进化机制，在全局探索与局部优化间实现更好平衡，各连通度约束下均保持领先优势。</a:t>
            </a:r>
            <a:endParaRPr lang="en-US" sz="900" dirty="0"/>
          </a:p>
        </p:txBody>
      </p:sp>
      <p:sp>
        <p:nvSpPr>
          <p:cNvPr id="20" name="Shape 17"/>
          <p:cNvSpPr/>
          <p:nvPr/>
        </p:nvSpPr>
        <p:spPr>
          <a:xfrm>
            <a:off x="457200" y="3657600"/>
            <a:ext cx="8229600" cy="411480"/>
          </a:xfrm>
          <a:prstGeom prst="rect">
            <a:avLst/>
          </a:prstGeom>
          <a:solidFill>
            <a:srgbClr val="E8EDF5"/>
          </a:solidFill>
          <a:ln/>
        </p:spPr>
      </p:sp>
      <p:sp>
        <p:nvSpPr>
          <p:cNvPr id="21" name="Text 18"/>
          <p:cNvSpPr/>
          <p:nvPr/>
        </p:nvSpPr>
        <p:spPr>
          <a:xfrm>
            <a:off x="548640" y="3657600"/>
            <a:ext cx="8046720" cy="41148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在三类复杂场景下，MPG-NSGA-II 均展现出良好的稳定性与规模适应能力，体现出较强的工程应用潜力。</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04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19</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典型部署方案可视化</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8229600" cy="228600"/>
          </a:xfrm>
          <a:prstGeom prst="rect">
            <a:avLst/>
          </a:prstGeom>
          <a:noFill/>
          <a:ln/>
        </p:spPr>
        <p:txBody>
          <a:bodyPr wrap="square" lIns="0" tIns="0" rIns="0" bIns="0" rtlCol="0" anchor="ctr"/>
          <a:lstStyle/>
          <a:p>
            <a:pPr indent="0" marL="0">
              <a:buNone/>
            </a:pPr>
            <a:r>
              <a:rPr lang="en-US" sz="900" i="1" dirty="0">
                <a:solidFill>
                  <a:srgbClr val="666666"/>
                </a:solidFill>
                <a:latin typeface="Microsoft YaHei" pitchFamily="34" charset="0"/>
                <a:ea typeface="Microsoft YaHei" pitchFamily="34" charset="-122"/>
                <a:cs typeface="Microsoft YaHei" pitchFamily="34" charset="-120"/>
              </a:rPr>
              <a:t>25节点规模下，不同顶点连通度约束（k=0, 5, 10）对应的最优部署方案对比</a:t>
            </a:r>
            <a:endParaRPr lang="en-US" sz="900" dirty="0"/>
          </a:p>
        </p:txBody>
      </p:sp>
      <p:sp>
        <p:nvSpPr>
          <p:cNvPr id="9" name="Shape 6"/>
          <p:cNvSpPr/>
          <p:nvPr/>
        </p:nvSpPr>
        <p:spPr>
          <a:xfrm>
            <a:off x="457200" y="1737360"/>
            <a:ext cx="2606040" cy="1828800"/>
          </a:xfrm>
          <a:prstGeom prst="rect">
            <a:avLst/>
          </a:prstGeom>
          <a:solidFill>
            <a:srgbClr val="FFFFFF"/>
          </a:solidFill>
          <a:ln w="15875">
            <a:solidFill>
              <a:srgbClr val="3874B8"/>
            </a:solidFill>
            <a:prstDash val="dash"/>
          </a:ln>
        </p:spPr>
      </p:sp>
      <p:sp>
        <p:nvSpPr>
          <p:cNvPr id="10" name="Shape 7"/>
          <p:cNvSpPr/>
          <p:nvPr/>
        </p:nvSpPr>
        <p:spPr>
          <a:xfrm>
            <a:off x="502920" y="1773936"/>
            <a:ext cx="2514600" cy="292608"/>
          </a:xfrm>
          <a:prstGeom prst="rect">
            <a:avLst/>
          </a:prstGeom>
          <a:solidFill>
            <a:srgbClr val="E8EDF5"/>
          </a:solidFill>
          <a:ln/>
        </p:spPr>
      </p:sp>
      <p:sp>
        <p:nvSpPr>
          <p:cNvPr id="11" name="Text 8"/>
          <p:cNvSpPr/>
          <p:nvPr/>
        </p:nvSpPr>
        <p:spPr>
          <a:xfrm>
            <a:off x="502920" y="177393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k = 0（无连通约束）</a:t>
            </a:r>
            <a:endParaRPr lang="en-US" sz="900" dirty="0"/>
          </a:p>
        </p:txBody>
      </p:sp>
      <p:sp>
        <p:nvSpPr>
          <p:cNvPr id="12" name="Text 9"/>
          <p:cNvSpPr/>
          <p:nvPr/>
        </p:nvSpPr>
        <p:spPr>
          <a:xfrm>
            <a:off x="566928" y="2139696"/>
            <a:ext cx="2386584" cy="13533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节点资源主要用于最大化覆盖区域，分布均匀分散，覆盖率接近 100%</a:t>
            </a:r>
            <a:endParaRPr lang="en-US" sz="900" dirty="0"/>
          </a:p>
        </p:txBody>
      </p:sp>
      <p:sp>
        <p:nvSpPr>
          <p:cNvPr id="13" name="Shape 10"/>
          <p:cNvSpPr/>
          <p:nvPr/>
        </p:nvSpPr>
        <p:spPr>
          <a:xfrm>
            <a:off x="3264408" y="1737360"/>
            <a:ext cx="2606040" cy="1828800"/>
          </a:xfrm>
          <a:prstGeom prst="rect">
            <a:avLst/>
          </a:prstGeom>
          <a:solidFill>
            <a:srgbClr val="FFFFFF"/>
          </a:solidFill>
          <a:ln w="15875">
            <a:solidFill>
              <a:srgbClr val="3874B8"/>
            </a:solidFill>
            <a:prstDash val="dash"/>
          </a:ln>
        </p:spPr>
      </p:sp>
      <p:sp>
        <p:nvSpPr>
          <p:cNvPr id="14" name="Shape 11"/>
          <p:cNvSpPr/>
          <p:nvPr/>
        </p:nvSpPr>
        <p:spPr>
          <a:xfrm>
            <a:off x="3310128" y="1773936"/>
            <a:ext cx="2514600" cy="292608"/>
          </a:xfrm>
          <a:prstGeom prst="rect">
            <a:avLst/>
          </a:prstGeom>
          <a:solidFill>
            <a:srgbClr val="E8EDF5"/>
          </a:solidFill>
          <a:ln/>
        </p:spPr>
      </p:sp>
      <p:sp>
        <p:nvSpPr>
          <p:cNvPr id="15" name="Text 12"/>
          <p:cNvSpPr/>
          <p:nvPr/>
        </p:nvSpPr>
        <p:spPr>
          <a:xfrm>
            <a:off x="3310128" y="177393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k = 5（中等连通约束）</a:t>
            </a:r>
            <a:endParaRPr lang="en-US" sz="900" dirty="0"/>
          </a:p>
        </p:txBody>
      </p:sp>
      <p:sp>
        <p:nvSpPr>
          <p:cNvPr id="16" name="Text 13"/>
          <p:cNvSpPr/>
          <p:nvPr/>
        </p:nvSpPr>
        <p:spPr>
          <a:xfrm>
            <a:off x="3374136" y="2139696"/>
            <a:ext cx="2386584" cy="13533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节点在维持5-连通网络结构的同时尽量向外围扩展，覆盖率仍维持在 99% 以上</a:t>
            </a:r>
            <a:endParaRPr lang="en-US" sz="900" dirty="0"/>
          </a:p>
        </p:txBody>
      </p:sp>
      <p:sp>
        <p:nvSpPr>
          <p:cNvPr id="17" name="Shape 14"/>
          <p:cNvSpPr/>
          <p:nvPr/>
        </p:nvSpPr>
        <p:spPr>
          <a:xfrm>
            <a:off x="6071616" y="1737360"/>
            <a:ext cx="2606040" cy="1828800"/>
          </a:xfrm>
          <a:prstGeom prst="rect">
            <a:avLst/>
          </a:prstGeom>
          <a:solidFill>
            <a:srgbClr val="FFFFFF"/>
          </a:solidFill>
          <a:ln w="15875">
            <a:solidFill>
              <a:srgbClr val="3874B8"/>
            </a:solidFill>
            <a:prstDash val="dash"/>
          </a:ln>
        </p:spPr>
      </p:sp>
      <p:sp>
        <p:nvSpPr>
          <p:cNvPr id="18" name="Shape 15"/>
          <p:cNvSpPr/>
          <p:nvPr/>
        </p:nvSpPr>
        <p:spPr>
          <a:xfrm>
            <a:off x="6117336" y="1773936"/>
            <a:ext cx="2514600" cy="292608"/>
          </a:xfrm>
          <a:prstGeom prst="rect">
            <a:avLst/>
          </a:prstGeom>
          <a:solidFill>
            <a:srgbClr val="E8EDF5"/>
          </a:solidFill>
          <a:ln/>
        </p:spPr>
      </p:sp>
      <p:sp>
        <p:nvSpPr>
          <p:cNvPr id="19" name="Text 16"/>
          <p:cNvSpPr/>
          <p:nvPr/>
        </p:nvSpPr>
        <p:spPr>
          <a:xfrm>
            <a:off x="6117336" y="1773936"/>
            <a:ext cx="251460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k = 10（高连通约束）</a:t>
            </a:r>
            <a:endParaRPr lang="en-US" sz="900" dirty="0"/>
          </a:p>
        </p:txBody>
      </p:sp>
      <p:sp>
        <p:nvSpPr>
          <p:cNvPr id="20" name="Text 17"/>
          <p:cNvSpPr/>
          <p:nvPr/>
        </p:nvSpPr>
        <p:spPr>
          <a:xfrm>
            <a:off x="6181344" y="2139696"/>
            <a:ext cx="2386584" cy="1353312"/>
          </a:xfrm>
          <a:prstGeom prst="rect">
            <a:avLst/>
          </a:prstGeom>
          <a:noFill/>
          <a:ln/>
        </p:spPr>
        <p:txBody>
          <a:bodyPr wrap="square" lIns="0" tIns="0" rIns="0" bIns="0" rtlCol="0" anchor="t"/>
          <a:lstStyle/>
          <a:p>
            <a:pPr indent="0" marL="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节点高度聚集以满足严苛连通性要求，整体仍保持 99.0% 覆盖水平</a:t>
            </a:r>
            <a:endParaRPr lang="en-US" sz="900" dirty="0"/>
          </a:p>
        </p:txBody>
      </p:sp>
      <p:sp>
        <p:nvSpPr>
          <p:cNvPr id="21" name="Shape 18"/>
          <p:cNvSpPr/>
          <p:nvPr/>
        </p:nvSpPr>
        <p:spPr>
          <a:xfrm>
            <a:off x="457200" y="3794760"/>
            <a:ext cx="8229600" cy="365760"/>
          </a:xfrm>
          <a:prstGeom prst="rect">
            <a:avLst/>
          </a:prstGeom>
          <a:solidFill>
            <a:srgbClr val="E8EDF5"/>
          </a:solidFill>
          <a:ln/>
        </p:spPr>
      </p:sp>
      <p:sp>
        <p:nvSpPr>
          <p:cNvPr id="22" name="Text 19"/>
          <p:cNvSpPr/>
          <p:nvPr/>
        </p:nvSpPr>
        <p:spPr>
          <a:xfrm>
            <a:off x="548640" y="3794760"/>
            <a:ext cx="8046720" cy="36576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所提算法在优化过程中有效平衡了连通冗余度与空间分布均匀性，实现了覆盖与连通的协同最优。</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4" name="Text 1"/>
          <p:cNvSpPr/>
          <p:nvPr/>
        </p:nvSpPr>
        <p:spPr>
          <a:xfrm>
            <a:off x="457200" y="45720"/>
            <a:ext cx="3657600" cy="41148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两项工作综合总结</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685800"/>
          <a:ext cx="8229600" cy="3931920"/>
        </p:xfrm>
        <a:graphic>
          <a:graphicData uri="http://schemas.openxmlformats.org/drawingml/2006/table">
            <a:tbl>
              <a:tblPr/>
              <a:tblGrid>
                <a:gridCol w="1097280"/>
                <a:gridCol w="3566160"/>
                <a:gridCol w="3566160"/>
              </a:tblGrid>
              <a:tr h="548640">
                <a:tc>
                  <a:txBody>
                    <a:bodyPr/>
                    <a:lstStyle/>
                    <a:p>
                      <a:pPr indent="0" marL="0">
                        <a:buNone/>
                      </a:pP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C-RRT*-APF</a:t>
                      </a:r>
                      <a:endParaRPr lang="en-US" sz="1000" dirty="0">
                        <a:latin typeface="Microsoft YaHei" charset="0"/>
                        <a:ea typeface="Microsoft YaHei" charset="0"/>
                        <a:cs typeface="Microsoft YaHei" charset="0"/>
                      </a:endParaRPr>
                    </a:p>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通信保持路径规划</a:t>
                      </a:r>
                      <a:endParaRPr lang="en-US" sz="10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MPG-NSGA-II</a:t>
                      </a:r>
                      <a:endParaRPr lang="en-US" sz="1000" dirty="0">
                        <a:latin typeface="Microsoft YaHei" charset="0"/>
                        <a:ea typeface="Microsoft YaHei" charset="0"/>
                        <a:cs typeface="Microsoft YaHei" charset="0"/>
                      </a:endParaRPr>
                    </a:p>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通信保持区域覆盖</a:t>
                      </a:r>
                      <a:endParaRPr lang="en-US" sz="10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r>
              <a:tr h="640080">
                <a:tc>
                  <a:txBody>
                    <a:bodyP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研究问题</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indent="0" marL="0">
                        <a:buNone/>
                      </a:pPr>
                      <a:r>
                        <a:rPr lang="en-US" sz="900" dirty="0">
                          <a:solidFill>
                            <a:srgbClr val="000000"/>
                          </a:solidFill>
                          <a:latin typeface="Microsoft YaHei" pitchFamily="34" charset="0"/>
                          <a:ea typeface="Microsoft YaHei" pitchFamily="34" charset="-122"/>
                          <a:cs typeface="Microsoft YaHei" pitchFamily="34" charset="-120"/>
                        </a:rPr>
                        <a:t>大规模集群在密集建筑与强干扰下的通信保持路径规划</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indent="0" marL="0">
                        <a:buNone/>
                      </a:pPr>
                      <a:r>
                        <a:rPr lang="en-US" sz="900" dirty="0">
                          <a:solidFill>
                            <a:srgbClr val="000000"/>
                          </a:solidFill>
                          <a:latin typeface="Microsoft YaHei" pitchFamily="34" charset="0"/>
                          <a:ea typeface="Microsoft YaHei" pitchFamily="34" charset="-122"/>
                          <a:cs typeface="Microsoft YaHei" pitchFamily="34" charset="-120"/>
                        </a:rPr>
                        <a:t>复杂城市环境下覆盖率与网络连通度的多目标协同优化</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r>
              <a:tr h="640080">
                <a:tc>
                  <a:txBody>
                    <a:bodyP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核心创新</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indent="0" marL="0">
                        <a:buNone/>
                      </a:pPr>
                      <a:r>
                        <a:rPr lang="en-US" sz="900" dirty="0">
                          <a:solidFill>
                            <a:srgbClr val="000000"/>
                          </a:solidFill>
                          <a:latin typeface="Microsoft YaHei" pitchFamily="34" charset="0"/>
                          <a:ea typeface="Microsoft YaHei" pitchFamily="34" charset="-122"/>
                          <a:cs typeface="Microsoft YaHei" pitchFamily="34" charset="-120"/>
                        </a:rPr>
                        <a:t>分层分簇 + 簇间距离约束 + MBST-APF 三力合成</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indent="0" marL="0">
                        <a:buNone/>
                      </a:pPr>
                      <a:r>
                        <a:rPr lang="en-US" sz="900" dirty="0">
                          <a:solidFill>
                            <a:srgbClr val="000000"/>
                          </a:solidFill>
                          <a:latin typeface="Microsoft YaHei" pitchFamily="34" charset="0"/>
                          <a:ea typeface="Microsoft YaHei" pitchFamily="34" charset="-122"/>
                          <a:cs typeface="Microsoft YaHei" pitchFamily="34" charset="-120"/>
                        </a:rPr>
                        <a:t>CGCI 初始化 + VCGO/DCGO 引导变异 + 多种群精英迁移</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r>
              <a:tr h="822960">
                <a:tc>
                  <a:txBody>
                    <a:bodyP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关键效果</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平均到达时间降低 29%</a:t>
                      </a:r>
                      <a:endParaRPr lang="en-US" sz="900" dirty="0">
                        <a:latin typeface="Microsoft YaHei" charset="0"/>
                        <a:ea typeface="Microsoft YaHei" charset="0"/>
                        <a:cs typeface="Microsoft YaHei" charset="0"/>
                      </a:endParaRPr>
                    </a:p>
                    <a:p>
                      <a:pPr indent="0" marL="0">
                        <a:buNone/>
                      </a:pPr>
                      <a:r>
                        <a:rPr lang="en-US" sz="900" b="1" dirty="0">
                          <a:solidFill>
                            <a:srgbClr val="183A6A"/>
                          </a:solidFill>
                          <a:latin typeface="Microsoft YaHei" pitchFamily="34" charset="0"/>
                          <a:ea typeface="Microsoft YaHei" pitchFamily="34" charset="-122"/>
                          <a:cs typeface="Microsoft YaHei" pitchFamily="34" charset="-120"/>
                        </a:rPr>
                        <a:t>通信连通率提升 17%（vs CMUFC）</a:t>
                      </a:r>
                      <a:endParaRPr lang="en-US" sz="900" dirty="0">
                        <a:latin typeface="Microsoft YaHei" charset="0"/>
                        <a:ea typeface="Microsoft YaHei" charset="0"/>
                        <a:cs typeface="Microsoft YaHei" charset="0"/>
                      </a:endParaRPr>
                    </a:p>
                    <a:p>
                      <a:pPr indent="0" marL="0">
                        <a:buNone/>
                      </a:pPr>
                      <a:r>
                        <a:rPr lang="en-US" sz="900" b="1" dirty="0">
                          <a:solidFill>
                            <a:srgbClr val="183A6A"/>
                          </a:solidFill>
                          <a:latin typeface="Microsoft YaHei" pitchFamily="34" charset="0"/>
                          <a:ea typeface="Microsoft YaHei" pitchFamily="34" charset="-122"/>
                          <a:cs typeface="Microsoft YaHei" pitchFamily="34" charset="-120"/>
                        </a:rPr>
                        <a:t>连通率中位数达 95%</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各连通度目标下覆盖率平均提升约 7%（vs NSGA-II）</a:t>
                      </a:r>
                      <a:endParaRPr lang="en-US" sz="900" dirty="0">
                        <a:latin typeface="Microsoft YaHei" charset="0"/>
                        <a:ea typeface="Microsoft YaHei" charset="0"/>
                        <a:cs typeface="Microsoft YaHei" charset="0"/>
                      </a:endParaRPr>
                    </a:p>
                    <a:p>
                      <a:pPr indent="0" marL="0">
                        <a:buNone/>
                      </a:pPr>
                      <a:r>
                        <a:rPr lang="en-US" sz="900" b="1" dirty="0">
                          <a:solidFill>
                            <a:srgbClr val="183A6A"/>
                          </a:solidFill>
                          <a:latin typeface="Microsoft YaHei" pitchFamily="34" charset="0"/>
                          <a:ea typeface="Microsoft YaHei" pitchFamily="34" charset="-122"/>
                          <a:cs typeface="Microsoft YaHei" pitchFamily="34" charset="-120"/>
                        </a:rPr>
                        <a:t>HV 指标提升显著</a:t>
                      </a:r>
                      <a:endParaRPr lang="en-US" sz="900" dirty="0">
                        <a:latin typeface="Microsoft YaHei" charset="0"/>
                        <a:ea typeface="Microsoft YaHei" charset="0"/>
                        <a:cs typeface="Microsoft YaHei" charset="0"/>
                      </a:endParaRPr>
                    </a:p>
                    <a:p>
                      <a:pPr indent="0" marL="0">
                        <a:buNone/>
                      </a:pPr>
                      <a:r>
                        <a:rPr lang="en-US" sz="900" b="1" dirty="0">
                          <a:solidFill>
                            <a:srgbClr val="183A6A"/>
                          </a:solidFill>
                          <a:latin typeface="Microsoft YaHei" pitchFamily="34" charset="0"/>
                          <a:ea typeface="Microsoft YaHei" pitchFamily="34" charset="-122"/>
                          <a:cs typeface="Microsoft YaHei" pitchFamily="34" charset="-120"/>
                        </a:rPr>
                        <a:t>以更少节点实现全覆盖</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r>
              <a:tr h="640080">
                <a:tc>
                  <a:txBody>
                    <a:bodyP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研究价值</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indent="0" marL="0">
                        <a:buNone/>
                      </a:pPr>
                      <a:r>
                        <a:rPr lang="en-US" sz="900" dirty="0">
                          <a:solidFill>
                            <a:srgbClr val="000000"/>
                          </a:solidFill>
                          <a:latin typeface="Microsoft YaHei" pitchFamily="34" charset="0"/>
                          <a:ea typeface="Microsoft YaHei" pitchFamily="34" charset="-122"/>
                          <a:cs typeface="Microsoft YaHei" pitchFamily="34" charset="-120"/>
                        </a:rPr>
                        <a:t>有效解决多源势场叠加导致的震荡与死锁，实现大规模集群高通信保持效果</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indent="0" marL="0">
                        <a:buNone/>
                      </a:pPr>
                      <a:r>
                        <a:rPr lang="en-US" sz="900" dirty="0">
                          <a:solidFill>
                            <a:srgbClr val="000000"/>
                          </a:solidFill>
                          <a:latin typeface="Microsoft YaHei" pitchFamily="34" charset="0"/>
                          <a:ea typeface="Microsoft YaHei" pitchFamily="34" charset="-122"/>
                          <a:cs typeface="Microsoft YaHei" pitchFamily="34" charset="-120"/>
                        </a:rPr>
                        <a:t>有效克服传统多目标算法在高维复杂场景下的早熟收敛问题</a:t>
                      </a:r>
                      <a:endParaRPr lang="en-US" sz="900" dirty="0">
                        <a:latin typeface="Microsoft YaHei" charset="0"/>
                        <a:ea typeface="Microsoft YaHei" charset="0"/>
                        <a:cs typeface="Microsoft YaHei" charset="0"/>
                      </a:endParaRPr>
                    </a:p>
                  </a:txBody>
                  <a:tcPr marL="91440" marR="91440" marT="45720" marB="45720"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r>
            </a:tbl>
          </a:graphicData>
        </a:graphic>
      </p:graphicFrame>
      <p:sp>
        <p:nvSpPr>
          <p:cNvPr id="7" name="Shape 3"/>
          <p:cNvSpPr/>
          <p:nvPr/>
        </p:nvSpPr>
        <p:spPr>
          <a:xfrm>
            <a:off x="457200" y="4709160"/>
            <a:ext cx="8229600" cy="320040"/>
          </a:xfrm>
          <a:prstGeom prst="rect">
            <a:avLst/>
          </a:prstGeom>
          <a:solidFill>
            <a:srgbClr val="E8EDF5"/>
          </a:solidFill>
          <a:ln/>
        </p:spPr>
      </p:sp>
      <p:sp>
        <p:nvSpPr>
          <p:cNvPr id="8" name="Text 4"/>
          <p:cNvSpPr/>
          <p:nvPr/>
        </p:nvSpPr>
        <p:spPr>
          <a:xfrm>
            <a:off x="548640" y="4709160"/>
            <a:ext cx="8046720" cy="320040"/>
          </a:xfrm>
          <a:prstGeom prst="rect">
            <a:avLst/>
          </a:prstGeom>
          <a:noFill/>
          <a:ln/>
        </p:spPr>
        <p:txBody>
          <a:bodyPr wrap="square" lIns="0" tIns="0" rIns="0" bIns="0" rtlCol="0" anchor="ctr"/>
          <a:lstStyle/>
          <a:p>
            <a:pPr indent="0" marL="0">
              <a:buNone/>
            </a:pPr>
            <a:r>
              <a:rPr lang="en-US" sz="900" b="1" dirty="0">
                <a:solidFill>
                  <a:srgbClr val="183A6A"/>
                </a:solidFill>
                <a:latin typeface="Microsoft YaHei" pitchFamily="34" charset="0"/>
                <a:ea typeface="Microsoft YaHei" pitchFamily="34" charset="-122"/>
                <a:cs typeface="Microsoft YaHei" pitchFamily="34" charset="-120"/>
              </a:rPr>
              <a:t>两项工作互为补充，分别解决路径规划与区域覆盖两个核心任务中的通信保持难题，形成完整的通信保持任务规划方案。</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05  </a:t>
            </a:r>
            <a:pPr indent="0" marL="0">
              <a:buNone/>
            </a:pPr>
            <a:r>
              <a:rPr lang="en-US" sz="1200" b="1" dirty="0">
                <a:solidFill>
                  <a:srgbClr val="FFFFFF"/>
                </a:solidFill>
                <a:latin typeface="Microsoft YaHei" pitchFamily="34" charset="0"/>
                <a:ea typeface="Microsoft YaHei" pitchFamily="34" charset="-122"/>
                <a:cs typeface="Microsoft YaHei" pitchFamily="34" charset="-120"/>
              </a:rPr>
              <a:t>总结与展望</a:t>
            </a:r>
            <a:endParaRPr lang="en-US" sz="1200" dirty="0"/>
          </a:p>
        </p:txBody>
      </p:sp>
      <p:pic>
        <p:nvPicPr>
          <p:cNvPr id="4" name="Image 0" descr="/home/claude/sjtu_logo.png">    </p:cNvPr>
          <p:cNvPicPr>
            <a:picLocks noChangeAspect="1"/>
          </p:cNvPicPr>
          <p:nvPr/>
        </p:nvPicPr>
        <p:blipFill>
          <a:blip r:embed="rId1"/>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indent="0" marL="0">
              <a:buNone/>
            </a:pPr>
            <a:r>
              <a:rPr lang="en-US" sz="1400" b="1" dirty="0">
                <a:solidFill>
                  <a:srgbClr val="183A6A"/>
                </a:solidFill>
                <a:latin typeface="Microsoft YaHei" pitchFamily="34" charset="0"/>
                <a:ea typeface="Microsoft YaHei" pitchFamily="34" charset="-122"/>
                <a:cs typeface="Microsoft YaHei" pitchFamily="34" charset="-120"/>
              </a:rPr>
              <a:t>全文总结与未来展望</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3931920" cy="274320"/>
          </a:xfrm>
          <a:prstGeom prst="rect">
            <a:avLst/>
          </a:prstGeom>
          <a:noFill/>
          <a:ln/>
        </p:spPr>
        <p:txBody>
          <a:bodyPr wrap="square" lIns="0" tIns="0" rIns="0" bIns="0" rtlCol="0" anchor="ctr"/>
          <a:lstStyle/>
          <a:p>
            <a:pPr indent="0" marL="0">
              <a:buNone/>
            </a:pPr>
            <a:r>
              <a:rPr lang="en-US" sz="1200" b="1" dirty="0">
                <a:solidFill>
                  <a:srgbClr val="183A6A"/>
                </a:solidFill>
                <a:latin typeface="Microsoft YaHei" pitchFamily="34" charset="0"/>
                <a:ea typeface="Microsoft YaHei" pitchFamily="34" charset="-122"/>
                <a:cs typeface="Microsoft YaHei" pitchFamily="34" charset="-120"/>
              </a:rPr>
              <a:t>全文贡献</a:t>
            </a:r>
            <a:endParaRPr lang="en-US" sz="1200" dirty="0"/>
          </a:p>
        </p:txBody>
      </p:sp>
      <p:sp>
        <p:nvSpPr>
          <p:cNvPr id="9" name="Shape 6"/>
          <p:cNvSpPr/>
          <p:nvPr/>
        </p:nvSpPr>
        <p:spPr>
          <a:xfrm>
            <a:off x="457200" y="1417320"/>
            <a:ext cx="292608" cy="292608"/>
          </a:xfrm>
          <a:prstGeom prst="ellipse">
            <a:avLst/>
          </a:prstGeom>
          <a:solidFill>
            <a:srgbClr val="183A6A"/>
          </a:solidFill>
          <a:ln/>
        </p:spPr>
      </p:sp>
      <p:sp>
        <p:nvSpPr>
          <p:cNvPr id="10" name="Text 7"/>
          <p:cNvSpPr/>
          <p:nvPr/>
        </p:nvSpPr>
        <p:spPr>
          <a:xfrm>
            <a:off x="457200" y="14173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68680" y="1399032"/>
            <a:ext cx="3520440" cy="274320"/>
          </a:xfrm>
          <a:prstGeom prst="rect">
            <a:avLst/>
          </a:prstGeom>
          <a:noFill/>
          <a:ln/>
        </p:spPr>
        <p:txBody>
          <a:bodyPr wrap="square" lIns="0" tIns="0" rIns="0" bIns="0" rtlCol="0" anchor="ctr"/>
          <a:lstStyle/>
          <a:p>
            <a:pPr indent="0" marL="0">
              <a:buNone/>
            </a:pPr>
            <a:r>
              <a:rPr lang="en-US" sz="1000" b="1" dirty="0">
                <a:solidFill>
                  <a:srgbClr val="333333"/>
                </a:solidFill>
                <a:latin typeface="Microsoft YaHei" pitchFamily="34" charset="0"/>
                <a:ea typeface="Microsoft YaHei" pitchFamily="34" charset="-122"/>
                <a:cs typeface="Microsoft YaHei" pitchFamily="34" charset="-120"/>
              </a:rPr>
              <a:t>建立综合城市作战仿真模型</a:t>
            </a:r>
            <a:endParaRPr lang="en-US" sz="1000" dirty="0"/>
          </a:p>
        </p:txBody>
      </p:sp>
      <p:sp>
        <p:nvSpPr>
          <p:cNvPr id="12" name="Text 9"/>
          <p:cNvSpPr/>
          <p:nvPr/>
        </p:nvSpPr>
        <p:spPr>
          <a:xfrm>
            <a:off x="868680" y="1673352"/>
            <a:ext cx="3520440" cy="457200"/>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包含建筑遮挡、电磁干扰、SINR通信约束的城市作战环境</a:t>
            </a:r>
            <a:endParaRPr lang="en-US" sz="850" dirty="0"/>
          </a:p>
        </p:txBody>
      </p:sp>
      <p:sp>
        <p:nvSpPr>
          <p:cNvPr id="13" name="Shape 10"/>
          <p:cNvSpPr/>
          <p:nvPr/>
        </p:nvSpPr>
        <p:spPr>
          <a:xfrm>
            <a:off x="457200" y="2194560"/>
            <a:ext cx="292608" cy="292608"/>
          </a:xfrm>
          <a:prstGeom prst="ellipse">
            <a:avLst/>
          </a:prstGeom>
          <a:solidFill>
            <a:srgbClr val="183A6A"/>
          </a:solidFill>
          <a:ln/>
        </p:spPr>
      </p:sp>
      <p:sp>
        <p:nvSpPr>
          <p:cNvPr id="14" name="Text 11"/>
          <p:cNvSpPr/>
          <p:nvPr/>
        </p:nvSpPr>
        <p:spPr>
          <a:xfrm>
            <a:off x="457200" y="219456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868680" y="2176272"/>
            <a:ext cx="3520440" cy="274320"/>
          </a:xfrm>
          <a:prstGeom prst="rect">
            <a:avLst/>
          </a:prstGeom>
          <a:noFill/>
          <a:ln/>
        </p:spPr>
        <p:txBody>
          <a:bodyPr wrap="square" lIns="0" tIns="0" rIns="0" bIns="0" rtlCol="0" anchor="ctr"/>
          <a:lstStyle/>
          <a:p>
            <a:pPr indent="0" marL="0">
              <a:buNone/>
            </a:pPr>
            <a:r>
              <a:rPr lang="en-US" sz="1000" b="1" dirty="0">
                <a:solidFill>
                  <a:srgbClr val="333333"/>
                </a:solidFill>
                <a:latin typeface="Microsoft YaHei" pitchFamily="34" charset="0"/>
                <a:ea typeface="Microsoft YaHei" pitchFamily="34" charset="-122"/>
                <a:cs typeface="Microsoft YaHei" pitchFamily="34" charset="-120"/>
              </a:rPr>
              <a:t>提出 C-RRT*-APF 路径规划算法</a:t>
            </a:r>
            <a:endParaRPr lang="en-US" sz="1000" dirty="0"/>
          </a:p>
        </p:txBody>
      </p:sp>
      <p:sp>
        <p:nvSpPr>
          <p:cNvPr id="16" name="Text 13"/>
          <p:cNvSpPr/>
          <p:nvPr/>
        </p:nvSpPr>
        <p:spPr>
          <a:xfrm>
            <a:off x="868680" y="2450592"/>
            <a:ext cx="3520440" cy="457200"/>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分层分簇机制 + MBST-APF，实现高通信保持效果</a:t>
            </a:r>
            <a:endParaRPr lang="en-US" sz="850" dirty="0"/>
          </a:p>
        </p:txBody>
      </p:sp>
      <p:sp>
        <p:nvSpPr>
          <p:cNvPr id="17" name="Shape 14"/>
          <p:cNvSpPr/>
          <p:nvPr/>
        </p:nvSpPr>
        <p:spPr>
          <a:xfrm>
            <a:off x="457200" y="2971800"/>
            <a:ext cx="292608" cy="292608"/>
          </a:xfrm>
          <a:prstGeom prst="ellipse">
            <a:avLst/>
          </a:prstGeom>
          <a:solidFill>
            <a:srgbClr val="183A6A"/>
          </a:solidFill>
          <a:ln/>
        </p:spPr>
      </p:sp>
      <p:sp>
        <p:nvSpPr>
          <p:cNvPr id="18" name="Text 15"/>
          <p:cNvSpPr/>
          <p:nvPr/>
        </p:nvSpPr>
        <p:spPr>
          <a:xfrm>
            <a:off x="457200" y="2971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868680" y="2953512"/>
            <a:ext cx="3520440" cy="274320"/>
          </a:xfrm>
          <a:prstGeom prst="rect">
            <a:avLst/>
          </a:prstGeom>
          <a:noFill/>
          <a:ln/>
        </p:spPr>
        <p:txBody>
          <a:bodyPr wrap="square" lIns="0" tIns="0" rIns="0" bIns="0" rtlCol="0" anchor="ctr"/>
          <a:lstStyle/>
          <a:p>
            <a:pPr indent="0" marL="0">
              <a:buNone/>
            </a:pPr>
            <a:r>
              <a:rPr lang="en-US" sz="1000" b="1" dirty="0">
                <a:solidFill>
                  <a:srgbClr val="333333"/>
                </a:solidFill>
                <a:latin typeface="Microsoft YaHei" pitchFamily="34" charset="0"/>
                <a:ea typeface="Microsoft YaHei" pitchFamily="34" charset="-122"/>
                <a:cs typeface="Microsoft YaHei" pitchFamily="34" charset="-120"/>
              </a:rPr>
              <a:t>提出 MPG-NSGA-II 区域覆盖算法</a:t>
            </a:r>
            <a:endParaRPr lang="en-US" sz="1000" dirty="0"/>
          </a:p>
        </p:txBody>
      </p:sp>
      <p:sp>
        <p:nvSpPr>
          <p:cNvPr id="20" name="Text 17"/>
          <p:cNvSpPr/>
          <p:nvPr/>
        </p:nvSpPr>
        <p:spPr>
          <a:xfrm>
            <a:off x="868680" y="3227832"/>
            <a:ext cx="3520440" cy="457200"/>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多种群协同进化 + 领域知识引导变异，实现覆盖与连通协同最优</a:t>
            </a:r>
            <a:endParaRPr lang="en-US" sz="850" dirty="0"/>
          </a:p>
        </p:txBody>
      </p:sp>
      <p:sp>
        <p:nvSpPr>
          <p:cNvPr id="21" name="Text 18"/>
          <p:cNvSpPr/>
          <p:nvPr/>
        </p:nvSpPr>
        <p:spPr>
          <a:xfrm>
            <a:off x="4754880" y="1143000"/>
            <a:ext cx="3931920" cy="274320"/>
          </a:xfrm>
          <a:prstGeom prst="rect">
            <a:avLst/>
          </a:prstGeom>
          <a:noFill/>
          <a:ln/>
        </p:spPr>
        <p:txBody>
          <a:bodyPr wrap="square" lIns="0" tIns="0" rIns="0" bIns="0" rtlCol="0" anchor="ctr"/>
          <a:lstStyle/>
          <a:p>
            <a:pPr indent="0" marL="0">
              <a:buNone/>
            </a:pPr>
            <a:r>
              <a:rPr lang="en-US" sz="1200" b="1" dirty="0">
                <a:solidFill>
                  <a:srgbClr val="183A6A"/>
                </a:solidFill>
                <a:latin typeface="Microsoft YaHei" pitchFamily="34" charset="0"/>
                <a:ea typeface="Microsoft YaHei" pitchFamily="34" charset="-122"/>
                <a:cs typeface="Microsoft YaHei" pitchFamily="34" charset="-120"/>
              </a:rPr>
              <a:t>不足与未来展望</a:t>
            </a:r>
            <a:endParaRPr lang="en-US" sz="1200" dirty="0"/>
          </a:p>
        </p:txBody>
      </p:sp>
      <p:sp>
        <p:nvSpPr>
          <p:cNvPr id="22" name="Shape 19"/>
          <p:cNvSpPr/>
          <p:nvPr/>
        </p:nvSpPr>
        <p:spPr>
          <a:xfrm>
            <a:off x="4754880" y="1417320"/>
            <a:ext cx="3931920" cy="731520"/>
          </a:xfrm>
          <a:prstGeom prst="rect">
            <a:avLst/>
          </a:prstGeom>
          <a:solidFill>
            <a:srgbClr val="FFFFFF"/>
          </a:solidFill>
          <a:ln w="15875">
            <a:solidFill>
              <a:srgbClr val="3874B8"/>
            </a:solidFill>
            <a:prstDash val="dash"/>
          </a:ln>
        </p:spPr>
      </p:sp>
      <p:sp>
        <p:nvSpPr>
          <p:cNvPr id="23" name="Shape 20"/>
          <p:cNvSpPr/>
          <p:nvPr/>
        </p:nvSpPr>
        <p:spPr>
          <a:xfrm>
            <a:off x="4800600" y="1453896"/>
            <a:ext cx="3840480" cy="292608"/>
          </a:xfrm>
          <a:prstGeom prst="rect">
            <a:avLst/>
          </a:prstGeom>
          <a:solidFill>
            <a:srgbClr val="E8EDF5"/>
          </a:solidFill>
          <a:ln/>
        </p:spPr>
      </p:sp>
      <p:sp>
        <p:nvSpPr>
          <p:cNvPr id="24" name="Text 21"/>
          <p:cNvSpPr/>
          <p:nvPr/>
        </p:nvSpPr>
        <p:spPr>
          <a:xfrm>
            <a:off x="4800600" y="1453896"/>
            <a:ext cx="384048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三维动态场景拓展</a:t>
            </a:r>
            <a:endParaRPr lang="en-US" sz="900" dirty="0"/>
          </a:p>
        </p:txBody>
      </p:sp>
      <p:sp>
        <p:nvSpPr>
          <p:cNvPr id="25" name="Text 22"/>
          <p:cNvSpPr/>
          <p:nvPr/>
        </p:nvSpPr>
        <p:spPr>
          <a:xfrm>
            <a:off x="4864608" y="1819656"/>
            <a:ext cx="3712464" cy="25603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将二维静态场景拓展至三维连续空间，引入高机动动态干扰源</a:t>
            </a:r>
            <a:endParaRPr lang="en-US" sz="900" dirty="0"/>
          </a:p>
        </p:txBody>
      </p:sp>
      <p:sp>
        <p:nvSpPr>
          <p:cNvPr id="26" name="Shape 23"/>
          <p:cNvSpPr/>
          <p:nvPr/>
        </p:nvSpPr>
        <p:spPr>
          <a:xfrm>
            <a:off x="4754880" y="2194560"/>
            <a:ext cx="3931920" cy="731520"/>
          </a:xfrm>
          <a:prstGeom prst="rect">
            <a:avLst/>
          </a:prstGeom>
          <a:solidFill>
            <a:srgbClr val="FFFFFF"/>
          </a:solidFill>
          <a:ln w="15875">
            <a:solidFill>
              <a:srgbClr val="3874B8"/>
            </a:solidFill>
            <a:prstDash val="dash"/>
          </a:ln>
        </p:spPr>
      </p:sp>
      <p:sp>
        <p:nvSpPr>
          <p:cNvPr id="27" name="Shape 24"/>
          <p:cNvSpPr/>
          <p:nvPr/>
        </p:nvSpPr>
        <p:spPr>
          <a:xfrm>
            <a:off x="4800600" y="2231136"/>
            <a:ext cx="3840480" cy="292608"/>
          </a:xfrm>
          <a:prstGeom prst="rect">
            <a:avLst/>
          </a:prstGeom>
          <a:solidFill>
            <a:srgbClr val="E8EDF5"/>
          </a:solidFill>
          <a:ln/>
        </p:spPr>
      </p:sp>
      <p:sp>
        <p:nvSpPr>
          <p:cNvPr id="28" name="Text 25"/>
          <p:cNvSpPr/>
          <p:nvPr/>
        </p:nvSpPr>
        <p:spPr>
          <a:xfrm>
            <a:off x="4800600" y="2231136"/>
            <a:ext cx="384048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多目标约束增加</a:t>
            </a:r>
            <a:endParaRPr lang="en-US" sz="900" dirty="0"/>
          </a:p>
        </p:txBody>
      </p:sp>
      <p:sp>
        <p:nvSpPr>
          <p:cNvPr id="29" name="Text 26"/>
          <p:cNvSpPr/>
          <p:nvPr/>
        </p:nvSpPr>
        <p:spPr>
          <a:xfrm>
            <a:off x="4864608" y="2596896"/>
            <a:ext cx="3712464" cy="25603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建立包含机械推进与通信功耗的综合能耗模型</a:t>
            </a:r>
            <a:endParaRPr lang="en-US" sz="900" dirty="0"/>
          </a:p>
        </p:txBody>
      </p:sp>
      <p:sp>
        <p:nvSpPr>
          <p:cNvPr id="30" name="Shape 27"/>
          <p:cNvSpPr/>
          <p:nvPr/>
        </p:nvSpPr>
        <p:spPr>
          <a:xfrm>
            <a:off x="4754880" y="2971800"/>
            <a:ext cx="3931920" cy="731520"/>
          </a:xfrm>
          <a:prstGeom prst="rect">
            <a:avLst/>
          </a:prstGeom>
          <a:solidFill>
            <a:srgbClr val="FFFFFF"/>
          </a:solidFill>
          <a:ln w="15875">
            <a:solidFill>
              <a:srgbClr val="3874B8"/>
            </a:solidFill>
            <a:prstDash val="dash"/>
          </a:ln>
        </p:spPr>
      </p:sp>
      <p:sp>
        <p:nvSpPr>
          <p:cNvPr id="31" name="Shape 28"/>
          <p:cNvSpPr/>
          <p:nvPr/>
        </p:nvSpPr>
        <p:spPr>
          <a:xfrm>
            <a:off x="4800600" y="3008376"/>
            <a:ext cx="3840480" cy="292608"/>
          </a:xfrm>
          <a:prstGeom prst="rect">
            <a:avLst/>
          </a:prstGeom>
          <a:solidFill>
            <a:srgbClr val="E8EDF5"/>
          </a:solidFill>
          <a:ln/>
        </p:spPr>
      </p:sp>
      <p:sp>
        <p:nvSpPr>
          <p:cNvPr id="32" name="Text 29"/>
          <p:cNvSpPr/>
          <p:nvPr/>
        </p:nvSpPr>
        <p:spPr>
          <a:xfrm>
            <a:off x="4800600" y="3008376"/>
            <a:ext cx="3840480" cy="292608"/>
          </a:xfrm>
          <a:prstGeom prst="rect">
            <a:avLst/>
          </a:prstGeom>
          <a:noFill/>
          <a:ln/>
        </p:spPr>
        <p:txBody>
          <a:bodyPr wrap="square" lIns="0" tIns="0" rIns="0" bIns="0" rtlCol="0" anchor="ctr"/>
          <a:lstStyle/>
          <a:p>
            <a:pPr algn="ctr" indent="0" marL="0">
              <a:buNone/>
            </a:pPr>
            <a:r>
              <a:rPr lang="en-US" sz="900" b="1" dirty="0">
                <a:solidFill>
                  <a:srgbClr val="183A6A"/>
                </a:solidFill>
                <a:latin typeface="Microsoft YaHei" pitchFamily="34" charset="0"/>
                <a:ea typeface="Microsoft YaHei" pitchFamily="34" charset="-122"/>
                <a:cs typeface="Microsoft YaHei" pitchFamily="34" charset="-120"/>
              </a:rPr>
              <a:t>实物验证与工程落地</a:t>
            </a:r>
            <a:endParaRPr lang="en-US" sz="900" dirty="0"/>
          </a:p>
        </p:txBody>
      </p:sp>
      <p:sp>
        <p:nvSpPr>
          <p:cNvPr id="33" name="Text 30"/>
          <p:cNvSpPr/>
          <p:nvPr/>
        </p:nvSpPr>
        <p:spPr>
          <a:xfrm>
            <a:off x="4864608" y="3374136"/>
            <a:ext cx="3712464" cy="256032"/>
          </a:xfrm>
          <a:prstGeom prst="rect">
            <a:avLst/>
          </a:prstGeom>
          <a:noFill/>
          <a:ln/>
        </p:spPr>
        <p:txBody>
          <a:bodyPr wrap="square" lIns="0" tIns="0" rIns="0" bIns="0" rtlCol="0" anchor="t"/>
          <a:lstStyle/>
          <a:p>
            <a:pPr indent="0" marL="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结合ROS飞控系统开展半物理仿真或多机实飞测试</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83A6A"/>
        </a:solidFill>
      </p:bgPr>
    </p:bg>
    <p:spTree>
      <p:nvGrpSpPr>
        <p:cNvPr id="1" name=""/>
        <p:cNvGrpSpPr/>
        <p:nvPr/>
      </p:nvGrpSpPr>
      <p:grpSpPr>
        <a:xfrm>
          <a:off x="0" y="0"/>
          <a:ext cx="0" cy="0"/>
          <a:chOff x="0" y="0"/>
          <a:chExt cx="0" cy="0"/>
        </a:xfrm>
      </p:grpSpPr>
      <p:pic>
        <p:nvPicPr>
          <p:cNvPr id="2" name="Image 0" descr="/home/claude/sjtu_logo.png">    </p:cNvPr>
          <p:cNvPicPr>
            <a:picLocks noChangeAspect="1"/>
          </p:cNvPicPr>
          <p:nvPr/>
        </p:nvPicPr>
        <p:blipFill>
          <a:blip r:embed="rId1"/>
          <a:stretch>
            <a:fillRect/>
          </a:stretch>
        </p:blipFill>
        <p:spPr>
          <a:xfrm>
            <a:off x="3474720" y="457200"/>
            <a:ext cx="2194560" cy="493776"/>
          </a:xfrm>
          <a:prstGeom prst="rect">
            <a:avLst/>
          </a:prstGeom>
        </p:spPr>
      </p:pic>
      <p:sp>
        <p:nvSpPr>
          <p:cNvPr id="3" name="Text 0"/>
          <p:cNvSpPr/>
          <p:nvPr/>
        </p:nvSpPr>
        <p:spPr>
          <a:xfrm>
            <a:off x="1371600" y="1188720"/>
            <a:ext cx="6400800" cy="731520"/>
          </a:xfrm>
          <a:prstGeom prst="rect">
            <a:avLst/>
          </a:prstGeom>
          <a:noFill/>
          <a:ln/>
        </p:spPr>
        <p:txBody>
          <a:bodyPr wrap="square" rtlCol="0" anchor="ctr"/>
          <a:lstStyle/>
          <a:p>
            <a:pPr algn="ctr" indent="0" marL="0">
              <a:buNone/>
            </a:pPr>
            <a:r>
              <a:rPr lang="en-US" sz="2800" b="1" dirty="0">
                <a:solidFill>
                  <a:srgbClr val="FFFFFF"/>
                </a:solidFill>
                <a:latin typeface="Microsoft YaHei" pitchFamily="34" charset="0"/>
                <a:ea typeface="Microsoft YaHei" pitchFamily="34" charset="-122"/>
                <a:cs typeface="Microsoft YaHei" pitchFamily="34" charset="-120"/>
              </a:rPr>
              <a:t>谢谢各位老师！</a:t>
            </a:r>
            <a:endParaRPr lang="en-US" sz="2800" dirty="0"/>
          </a:p>
        </p:txBody>
      </p:sp>
      <p:sp>
        <p:nvSpPr>
          <p:cNvPr id="4" name="Text 1"/>
          <p:cNvSpPr/>
          <p:nvPr/>
        </p:nvSpPr>
        <p:spPr>
          <a:xfrm>
            <a:off x="1371600" y="1828800"/>
            <a:ext cx="6400800" cy="365760"/>
          </a:xfrm>
          <a:prstGeom prst="rect">
            <a:avLst/>
          </a:prstGeom>
          <a:noFill/>
          <a:ln/>
        </p:spPr>
        <p:txBody>
          <a:bodyPr wrap="square" rtlCol="0" anchor="ctr"/>
          <a:lstStyle/>
          <a:p>
            <a:pPr algn="ctr" indent="0" marL="0">
              <a:buNone/>
            </a:pPr>
            <a:r>
              <a:rPr lang="en-US" sz="1400" dirty="0">
                <a:solidFill>
                  <a:srgbClr val="B0C4E0"/>
                </a:solidFill>
                <a:latin typeface="Microsoft YaHei" pitchFamily="34" charset="0"/>
                <a:ea typeface="Microsoft YaHei" pitchFamily="34" charset="-122"/>
                <a:cs typeface="Microsoft YaHei" pitchFamily="34" charset="-120"/>
              </a:rPr>
              <a:t>敬请批评指正</a:t>
            </a:r>
            <a:endParaRPr lang="en-US" sz="1400" dirty="0"/>
          </a:p>
        </p:txBody>
      </p:sp>
      <p:sp>
        <p:nvSpPr>
          <p:cNvPr id="5" name="Shape 2"/>
          <p:cNvSpPr/>
          <p:nvPr/>
        </p:nvSpPr>
        <p:spPr>
          <a:xfrm>
            <a:off x="1828800" y="2377440"/>
            <a:ext cx="5486400" cy="0"/>
          </a:xfrm>
          <a:prstGeom prst="line">
            <a:avLst/>
          </a:prstGeom>
          <a:noFill/>
          <a:ln w="12700">
            <a:solidFill>
              <a:srgbClr val="FFFFFF"/>
            </a:solidFill>
            <a:prstDash val="solid"/>
          </a:ln>
        </p:spPr>
      </p:sp>
      <p:sp>
        <p:nvSpPr>
          <p:cNvPr id="6" name="Shape 3"/>
          <p:cNvSpPr/>
          <p:nvPr/>
        </p:nvSpPr>
        <p:spPr>
          <a:xfrm>
            <a:off x="1097280" y="2606040"/>
            <a:ext cx="3200400" cy="1188720"/>
          </a:xfrm>
          <a:prstGeom prst="rect">
            <a:avLst/>
          </a:prstGeom>
          <a:solidFill>
            <a:srgbClr val="1A4D8C"/>
          </a:solidFill>
          <a:ln w="12700">
            <a:solidFill>
              <a:srgbClr val="5B8DBF"/>
            </a:solidFill>
            <a:prstDash val="dash"/>
          </a:ln>
        </p:spPr>
      </p:sp>
      <p:sp>
        <p:nvSpPr>
          <p:cNvPr id="7" name="Shape 4"/>
          <p:cNvSpPr/>
          <p:nvPr/>
        </p:nvSpPr>
        <p:spPr>
          <a:xfrm>
            <a:off x="1143000" y="2633472"/>
            <a:ext cx="3108960" cy="274320"/>
          </a:xfrm>
          <a:prstGeom prst="rect">
            <a:avLst/>
          </a:prstGeom>
          <a:solidFill>
            <a:srgbClr val="1F5B9E"/>
          </a:solidFill>
          <a:ln/>
        </p:spPr>
      </p:sp>
      <p:sp>
        <p:nvSpPr>
          <p:cNvPr id="8" name="Text 5"/>
          <p:cNvSpPr/>
          <p:nvPr/>
        </p:nvSpPr>
        <p:spPr>
          <a:xfrm>
            <a:off x="1143000" y="2633472"/>
            <a:ext cx="3108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论文核心贡献</a:t>
            </a:r>
            <a:endParaRPr lang="en-US" sz="1000" dirty="0"/>
          </a:p>
        </p:txBody>
      </p:sp>
      <p:sp>
        <p:nvSpPr>
          <p:cNvPr id="9" name="Text 6"/>
          <p:cNvSpPr/>
          <p:nvPr/>
        </p:nvSpPr>
        <p:spPr>
          <a:xfrm>
            <a:off x="1234440" y="2971800"/>
            <a:ext cx="2926080" cy="731520"/>
          </a:xfrm>
          <a:prstGeom prst="rect">
            <a:avLst/>
          </a:prstGeom>
          <a:noFill/>
          <a:ln/>
        </p:spPr>
        <p:txBody>
          <a:bodyPr wrap="square" lIns="0" tIns="0" rIns="0" bIns="0" rtlCol="0" anchor="t"/>
          <a:lstStyle/>
          <a:p>
            <a:pPr indent="0" marL="0">
              <a:lnSpc>
                <a:spcPct val="130000"/>
              </a:lnSpc>
              <a:buNone/>
            </a:pPr>
            <a:r>
              <a:rPr lang="en-US" sz="850" dirty="0">
                <a:solidFill>
                  <a:srgbClr val="D0E0F0"/>
                </a:solidFill>
                <a:latin typeface="Microsoft YaHei" pitchFamily="34" charset="0"/>
                <a:ea typeface="Microsoft YaHei" pitchFamily="34" charset="-122"/>
                <a:cs typeface="Microsoft YaHei" pitchFamily="34" charset="-120"/>
              </a:rPr>
              <a:t>C-RRT*-APF：平均到达时间降低29%，通信连通率提升17%</a:t>
            </a:r>
            <a:endParaRPr lang="en-US" sz="850" dirty="0"/>
          </a:p>
          <a:p>
            <a:pPr indent="0" marL="0">
              <a:lnSpc>
                <a:spcPct val="130000"/>
              </a:lnSpc>
              <a:buNone/>
            </a:pPr>
            <a:r>
              <a:rPr lang="en-US" sz="850" dirty="0">
                <a:solidFill>
                  <a:srgbClr val="D0E0F0"/>
                </a:solidFill>
                <a:latin typeface="Microsoft YaHei" pitchFamily="34" charset="0"/>
                <a:ea typeface="Microsoft YaHei" pitchFamily="34" charset="-122"/>
                <a:cs typeface="Microsoft YaHei" pitchFamily="34" charset="-120"/>
              </a:rPr>
              <a:t>MPG-NSGA-II：各连通度目标下覆盖率平均提升约7%</a:t>
            </a:r>
            <a:endParaRPr lang="en-US" sz="850" dirty="0"/>
          </a:p>
        </p:txBody>
      </p:sp>
      <p:sp>
        <p:nvSpPr>
          <p:cNvPr id="10" name="Text 7"/>
          <p:cNvSpPr/>
          <p:nvPr/>
        </p:nvSpPr>
        <p:spPr>
          <a:xfrm>
            <a:off x="4846320" y="2606040"/>
            <a:ext cx="3200400" cy="1371600"/>
          </a:xfrm>
          <a:prstGeom prst="rect">
            <a:avLst/>
          </a:prstGeom>
          <a:noFill/>
          <a:ln/>
        </p:spPr>
        <p:txBody>
          <a:bodyPr wrap="square" rtlCol="0" anchor="ctr"/>
          <a:lstStyle/>
          <a:p>
            <a:pPr indent="0" marL="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答辩人：何运璐</a:t>
            </a:r>
            <a:endParaRPr lang="en-US" sz="1000" dirty="0"/>
          </a:p>
          <a:p>
            <a:pPr indent="0" marL="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导　师：丁良辉 教授</a:t>
            </a:r>
            <a:endParaRPr lang="en-US" sz="1000" dirty="0"/>
          </a:p>
          <a:p>
            <a:pPr indent="0" marL="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院　系：上海交通大学 集成电路学院</a:t>
            </a:r>
            <a:endParaRPr lang="en-US" sz="1000" dirty="0"/>
          </a:p>
          <a:p>
            <a:pPr indent="0" marL="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专　业：电子与通信工程</a:t>
            </a:r>
            <a:endParaRPr lang="en-US" sz="1000" dirty="0"/>
          </a:p>
          <a:p>
            <a:pPr indent="0" marL="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日　期：2026年4月</a:t>
            </a:r>
            <a:endParaRPr lang="en-US" sz="1000" dirty="0"/>
          </a:p>
        </p:txBody>
      </p:sp>
      <p:sp>
        <p:nvSpPr>
          <p:cNvPr id="11" name="Shape 8"/>
          <p:cNvSpPr/>
          <p:nvPr/>
        </p:nvSpPr>
        <p:spPr>
          <a:xfrm>
            <a:off x="1097280" y="4114800"/>
            <a:ext cx="6949440" cy="502920"/>
          </a:xfrm>
          <a:prstGeom prst="rect">
            <a:avLst/>
          </a:prstGeom>
          <a:solidFill>
            <a:srgbClr val="1A4D8C"/>
          </a:solidFill>
          <a:ln/>
        </p:spPr>
      </p:sp>
      <p:sp>
        <p:nvSpPr>
          <p:cNvPr id="12" name="Text 9"/>
          <p:cNvSpPr/>
          <p:nvPr/>
        </p:nvSpPr>
        <p:spPr>
          <a:xfrm>
            <a:off x="1280160" y="4114800"/>
            <a:ext cx="6583680" cy="502920"/>
          </a:xfrm>
          <a:prstGeom prst="rect">
            <a:avLst/>
          </a:prstGeom>
          <a:noFill/>
          <a:ln/>
        </p:spPr>
        <p:txBody>
          <a:bodyPr wrap="square" lIns="0" tIns="0" rIns="0" bIns="0" rtlCol="0" anchor="ctr"/>
          <a:lstStyle/>
          <a:p>
            <a:pPr indent="0" marL="0">
              <a:buNone/>
            </a:pPr>
            <a:r>
              <a:rPr lang="en-US" sz="900" dirty="0">
                <a:solidFill>
                  <a:srgbClr val="B0C4E0"/>
                </a:solidFill>
                <a:latin typeface="Microsoft YaHei" pitchFamily="34" charset="0"/>
                <a:ea typeface="Microsoft YaHei" pitchFamily="34" charset="-122"/>
                <a:cs typeface="Microsoft YaHei" pitchFamily="34" charset="-120"/>
              </a:rPr>
              <a:t>已录用论文：何运璐等，《复杂对抗环境下集群连通保持分簇路径规划》，指挥与控制学报，2026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复杂城市作战环境下大规模无人机集群通信保持任务规划研究</dc:title>
  <dc:subject>PptxGenJS Presentation</dc:subject>
  <dc:creator>何运璐</dc:creator>
  <cp:lastModifiedBy>何运璐</cp:lastModifiedBy>
  <cp:revision>1</cp:revision>
  <dcterms:created xsi:type="dcterms:W3CDTF">2026-04-28T06:50:39Z</dcterms:created>
  <dcterms:modified xsi:type="dcterms:W3CDTF">2026-04-28T06:50:39Z</dcterms:modified>
</cp:coreProperties>
</file>