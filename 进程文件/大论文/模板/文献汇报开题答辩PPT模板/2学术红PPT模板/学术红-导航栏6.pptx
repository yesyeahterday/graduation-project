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p:scale>
          <a:sx n="50" d="100"/>
          <a:sy n="50" d="100"/>
        </p:scale>
        <p:origin x="4320" y="1214"/>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03E-3"/>
          <c:w val="0.78336741114659814"/>
          <c:h val="0.15050110916845977"/>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237440842644588"/>
          <c:h val="0.72357390247432685"/>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3E-3"/>
          <c:w val="0.77743474180509176"/>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12E-3"/>
          <c:w val="0.78336741114659825"/>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57114555173591"/>
          <c:y val="4.2628647492758458E-2"/>
          <c:w val="0.69965791387726106"/>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3799832670696210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5327406269661E-3"/>
              <c:y val="0.1084665617352324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27"/>
          <c:y val="2.7579323864472503E-3"/>
          <c:w val="0.77743474180509176"/>
          <c:h val="0.1100175201984936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689577047389884"/>
          <c:h val="0.7081914952244893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3977812750941402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3443059687792112"/>
          <c:y val="2.75793238644723E-3"/>
          <c:w val="0.76556940312207888"/>
          <c:h val="9.463511294865606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986163800533375"/>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4155792831186594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33"/>
          <c:y val="2.75793238644723E-3"/>
          <c:w val="0.77153383793722485"/>
          <c:h val="7.925270569881852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65AF5B6E-8333-4242-9061-E28FAA53F346}"/>
              </a:ext>
            </a:extLst>
          </p:cNvPr>
          <p:cNvGrpSpPr/>
          <p:nvPr userDrawn="1"/>
        </p:nvGrpSpPr>
        <p:grpSpPr>
          <a:xfrm>
            <a:off x="11372673" y="304817"/>
            <a:ext cx="549102" cy="451012"/>
            <a:chOff x="301625" y="297823"/>
            <a:chExt cx="635651" cy="522101"/>
          </a:xfrm>
        </p:grpSpPr>
        <p:sp>
          <p:nvSpPr>
            <p:cNvPr id="9" name="graduate-hat_59495">
              <a:extLst>
                <a:ext uri="{FF2B5EF4-FFF2-40B4-BE49-F238E27FC236}">
                  <a16:creationId xmlns:a16="http://schemas.microsoft.com/office/drawing/2014/main" id="{3EAD54FE-9A41-4665-B0F9-0E47F7FD2F65}"/>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duate-hat_59495">
              <a:extLst>
                <a:ext uri="{FF2B5EF4-FFF2-40B4-BE49-F238E27FC236}">
                  <a16:creationId xmlns:a16="http://schemas.microsoft.com/office/drawing/2014/main" id="{ED0C2C07-8C2E-401E-95AC-873BD5F8CC8D}"/>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矩形 6">
            <a:extLst>
              <a:ext uri="{FF2B5EF4-FFF2-40B4-BE49-F238E27FC236}">
                <a16:creationId xmlns:a16="http://schemas.microsoft.com/office/drawing/2014/main" id="{513CE5EC-023A-4E29-88FE-64B79A94E2E4}"/>
              </a:ext>
            </a:extLst>
          </p:cNvPr>
          <p:cNvSpPr/>
          <p:nvPr userDrawn="1"/>
        </p:nvSpPr>
        <p:spPr>
          <a:xfrm>
            <a:off x="1" y="0"/>
            <a:ext cx="20407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a:extLst>
              <a:ext uri="{FF2B5EF4-FFF2-40B4-BE49-F238E27FC236}">
                <a16:creationId xmlns:a16="http://schemas.microsoft.com/office/drawing/2014/main" id="{B614E0F7-782D-472D-92F3-61B2D101AA4B}"/>
              </a:ext>
            </a:extLst>
          </p:cNvPr>
          <p:cNvSpPr/>
          <p:nvPr userDrawn="1"/>
        </p:nvSpPr>
        <p:spPr>
          <a:xfrm>
            <a:off x="312770" y="244888"/>
            <a:ext cx="1415214" cy="1415214"/>
          </a:xfrm>
          <a:prstGeom prst="rect">
            <a:avLst/>
          </a:prstGeom>
          <a:blipFill dpi="0" rotWithShape="1">
            <a:blip r:embed="rId2"/>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1.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2389111" y="6024679"/>
            <a:ext cx="9467927"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2445499"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研究背景</a:t>
            </a:r>
          </a:p>
        </p:txBody>
      </p:sp>
      <p:grpSp>
        <p:nvGrpSpPr>
          <p:cNvPr id="4099" name="组合 4098">
            <a:extLst>
              <a:ext uri="{FF2B5EF4-FFF2-40B4-BE49-F238E27FC236}">
                <a16:creationId xmlns:a16="http://schemas.microsoft.com/office/drawing/2014/main" id="{15EDA950-5DB6-4A0B-B572-85AF9CFBD135}"/>
              </a:ext>
            </a:extLst>
          </p:cNvPr>
          <p:cNvGrpSpPr/>
          <p:nvPr/>
        </p:nvGrpSpPr>
        <p:grpSpPr>
          <a:xfrm>
            <a:off x="2391287" y="1215535"/>
            <a:ext cx="9465752" cy="476900"/>
            <a:chOff x="6248217" y="1215535"/>
            <a:chExt cx="9108949" cy="476900"/>
          </a:xfrm>
        </p:grpSpPr>
        <p:sp>
          <p:nvSpPr>
            <p:cNvPr id="43" name="矩形: 圆角 42">
              <a:extLst>
                <a:ext uri="{FF2B5EF4-FFF2-40B4-BE49-F238E27FC236}">
                  <a16:creationId xmlns:a16="http://schemas.microsoft.com/office/drawing/2014/main" id="{C7BEF58F-2A83-4042-ABAD-BE236E92725C}"/>
                </a:ext>
              </a:extLst>
            </p:cNvPr>
            <p:cNvSpPr/>
            <p:nvPr/>
          </p:nvSpPr>
          <p:spPr>
            <a:xfrm>
              <a:off x="6248217"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21879E-185E-47EC-92F3-C3352A3EA9D1}"/>
                </a:ext>
              </a:extLst>
            </p:cNvPr>
            <p:cNvSpPr txBox="1"/>
            <p:nvPr/>
          </p:nvSpPr>
          <p:spPr>
            <a:xfrm>
              <a:off x="6282942"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grpSp>
      <p:sp>
        <p:nvSpPr>
          <p:cNvPr id="44" name="文本框 43">
            <a:extLst>
              <a:ext uri="{FF2B5EF4-FFF2-40B4-BE49-F238E27FC236}">
                <a16:creationId xmlns:a16="http://schemas.microsoft.com/office/drawing/2014/main" id="{A6D4BFAA-7C6A-499D-851D-6583A38FEBCC}"/>
              </a:ext>
            </a:extLst>
          </p:cNvPr>
          <p:cNvSpPr txBox="1"/>
          <p:nvPr/>
        </p:nvSpPr>
        <p:spPr>
          <a:xfrm>
            <a:off x="4207914"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sp>
        <p:nvSpPr>
          <p:cNvPr id="8" name="矩形: 圆角 7">
            <a:extLst>
              <a:ext uri="{FF2B5EF4-FFF2-40B4-BE49-F238E27FC236}">
                <a16:creationId xmlns:a16="http://schemas.microsoft.com/office/drawing/2014/main" id="{6586EA71-76DC-4244-B27E-07A0375E043F}"/>
              </a:ext>
            </a:extLst>
          </p:cNvPr>
          <p:cNvSpPr/>
          <p:nvPr/>
        </p:nvSpPr>
        <p:spPr>
          <a:xfrm>
            <a:off x="2391286"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顶角 14">
            <a:extLst>
              <a:ext uri="{FF2B5EF4-FFF2-40B4-BE49-F238E27FC236}">
                <a16:creationId xmlns:a16="http://schemas.microsoft.com/office/drawing/2014/main" id="{07FDFDF1-9143-4E15-BE17-D3ECA5F5F7AC}"/>
              </a:ext>
            </a:extLst>
          </p:cNvPr>
          <p:cNvSpPr/>
          <p:nvPr/>
        </p:nvSpPr>
        <p:spPr>
          <a:xfrm>
            <a:off x="2874079"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2391286" y="5041888"/>
            <a:ext cx="3031104"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2406020" y="2881595"/>
            <a:ext cx="3003527" cy="1518133"/>
          </a:xfrm>
          <a:prstGeom prst="rect">
            <a:avLst/>
          </a:prstGeom>
        </p:spPr>
      </p:pic>
      <p:sp>
        <p:nvSpPr>
          <p:cNvPr id="12" name="矩形: 圆角 11">
            <a:extLst>
              <a:ext uri="{FF2B5EF4-FFF2-40B4-BE49-F238E27FC236}">
                <a16:creationId xmlns:a16="http://schemas.microsoft.com/office/drawing/2014/main" id="{9FEC5120-235E-477C-A6BD-771C96D07E9E}"/>
              </a:ext>
            </a:extLst>
          </p:cNvPr>
          <p:cNvSpPr/>
          <p:nvPr/>
        </p:nvSpPr>
        <p:spPr>
          <a:xfrm>
            <a:off x="5607664"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680BEEA9-6374-4521-A7AB-CCDC24EA9116}"/>
              </a:ext>
            </a:extLst>
          </p:cNvPr>
          <p:cNvSpPr txBox="1"/>
          <p:nvPr/>
        </p:nvSpPr>
        <p:spPr>
          <a:xfrm>
            <a:off x="5607664" y="5041888"/>
            <a:ext cx="3032995"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5688237" y="2426741"/>
            <a:ext cx="2871849" cy="2489145"/>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6090457"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13" name="矩形: 圆角 12">
            <a:extLst>
              <a:ext uri="{FF2B5EF4-FFF2-40B4-BE49-F238E27FC236}">
                <a16:creationId xmlns:a16="http://schemas.microsoft.com/office/drawing/2014/main" id="{3B557AEB-8ED7-4D26-BDFD-CD44720F1166}"/>
              </a:ext>
            </a:extLst>
          </p:cNvPr>
          <p:cNvSpPr/>
          <p:nvPr/>
        </p:nvSpPr>
        <p:spPr>
          <a:xfrm>
            <a:off x="8824043"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顶角 35">
            <a:extLst>
              <a:ext uri="{FF2B5EF4-FFF2-40B4-BE49-F238E27FC236}">
                <a16:creationId xmlns:a16="http://schemas.microsoft.com/office/drawing/2014/main" id="{8487AA3B-2DBA-4B44-B88E-621EF3284E64}"/>
              </a:ext>
            </a:extLst>
          </p:cNvPr>
          <p:cNvSpPr/>
          <p:nvPr/>
        </p:nvSpPr>
        <p:spPr>
          <a:xfrm>
            <a:off x="9306836"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824043" y="4761811"/>
            <a:ext cx="3032995"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a:t>
            </a:r>
            <a:r>
              <a:rPr lang="en-US" altLang="zh-CN" sz="1400" dirty="0">
                <a:latin typeface="思源黑体 CN Regular" panose="020B0500000000000000" pitchFamily="34" charset="-122"/>
                <a:ea typeface="思源黑体 CN Regular" panose="020B0500000000000000" pitchFamily="34" charset="-122"/>
              </a:rPr>
              <a:t>z</a:t>
            </a:r>
            <a:r>
              <a:rPr lang="zh-CN" altLang="en-US" sz="1400" dirty="0">
                <a:latin typeface="思源黑体 CN Regular" panose="020B0500000000000000" pitchFamily="34" charset="-122"/>
                <a:ea typeface="思源黑体 CN Regular" panose="020B0500000000000000" pitchFamily="34" charset="-122"/>
              </a:rPr>
              <a:t>现个性化服务，精准适配性研究不足。</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956693" y="2480548"/>
            <a:ext cx="2767696" cy="2286422"/>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2499974"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62" name="任意矩形：001">
            <a:extLst>
              <a:ext uri="{FF2B5EF4-FFF2-40B4-BE49-F238E27FC236}">
                <a16:creationId xmlns:a16="http://schemas.microsoft.com/office/drawing/2014/main" id="{E659416B-631C-458F-AD30-C1DD9251AD2A}"/>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3" name="文本框 102">
            <a:extLst>
              <a:ext uri="{FF2B5EF4-FFF2-40B4-BE49-F238E27FC236}">
                <a16:creationId xmlns:a16="http://schemas.microsoft.com/office/drawing/2014/main" id="{E110E0CE-094F-431B-82C5-FA2C25CD12A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 name="文本框 104">
            <a:extLst>
              <a:ext uri="{FF2B5EF4-FFF2-40B4-BE49-F238E27FC236}">
                <a16:creationId xmlns:a16="http://schemas.microsoft.com/office/drawing/2014/main" id="{0AF75F27-FEE8-49E9-8171-36F315F9FE05}"/>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7" name="文本框 106">
            <a:extLst>
              <a:ext uri="{FF2B5EF4-FFF2-40B4-BE49-F238E27FC236}">
                <a16:creationId xmlns:a16="http://schemas.microsoft.com/office/drawing/2014/main" id="{9172FD85-70B0-4338-8D8C-742441A03C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50AA970F-36F5-4774-BF3F-59F819C99425}"/>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任意矩形：005">
            <a:extLst>
              <a:ext uri="{FF2B5EF4-FFF2-40B4-BE49-F238E27FC236}">
                <a16:creationId xmlns:a16="http://schemas.microsoft.com/office/drawing/2014/main" id="{D0A75F3C-3FF9-4FDB-B803-45DFEC65A3C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5170E354-3C9D-4F9F-9279-6F4A839AB12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6" name="任意矩形：006">
            <a:extLst>
              <a:ext uri="{FF2B5EF4-FFF2-40B4-BE49-F238E27FC236}">
                <a16:creationId xmlns:a16="http://schemas.microsoft.com/office/drawing/2014/main" id="{86C1B167-29F7-4A54-AEEB-D09FBB83AA8F}"/>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669184F9-9C2C-4822-855E-8B3A4CDFE976}"/>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1.2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72" name="矩形 71">
            <a:extLst>
              <a:ext uri="{FF2B5EF4-FFF2-40B4-BE49-F238E27FC236}">
                <a16:creationId xmlns:a16="http://schemas.microsoft.com/office/drawing/2014/main" id="{7A3353A9-1593-4C31-A14F-B171598F61CD}"/>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文本框 72">
            <a:extLst>
              <a:ext uri="{FF2B5EF4-FFF2-40B4-BE49-F238E27FC236}">
                <a16:creationId xmlns:a16="http://schemas.microsoft.com/office/drawing/2014/main" id="{C277F087-EC69-4345-A2D2-EF6883D6196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74" name="任意矩形：001">
            <a:extLst>
              <a:ext uri="{FF2B5EF4-FFF2-40B4-BE49-F238E27FC236}">
                <a16:creationId xmlns:a16="http://schemas.microsoft.com/office/drawing/2014/main" id="{19AE9B85-8905-4DCA-AE3E-EC6F67C512A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任意矩形：002">
            <a:extLst>
              <a:ext uri="{FF2B5EF4-FFF2-40B4-BE49-F238E27FC236}">
                <a16:creationId xmlns:a16="http://schemas.microsoft.com/office/drawing/2014/main" id="{52A56603-6675-4030-8A18-CD0E38156E2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76" name="文本框 75">
            <a:extLst>
              <a:ext uri="{FF2B5EF4-FFF2-40B4-BE49-F238E27FC236}">
                <a16:creationId xmlns:a16="http://schemas.microsoft.com/office/drawing/2014/main" id="{12966546-3C3C-421F-8747-C983CF63336D}"/>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77" name="任意矩形：003">
            <a:extLst>
              <a:ext uri="{FF2B5EF4-FFF2-40B4-BE49-F238E27FC236}">
                <a16:creationId xmlns:a16="http://schemas.microsoft.com/office/drawing/2014/main" id="{0450C6E1-EC04-41A2-BA37-DC77D9E9F87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8" name="文本框 77">
            <a:extLst>
              <a:ext uri="{FF2B5EF4-FFF2-40B4-BE49-F238E27FC236}">
                <a16:creationId xmlns:a16="http://schemas.microsoft.com/office/drawing/2014/main" id="{5C086EF5-8B83-40F1-AA8C-DD9BF993E38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79" name="文本框 78">
            <a:extLst>
              <a:ext uri="{FF2B5EF4-FFF2-40B4-BE49-F238E27FC236}">
                <a16:creationId xmlns:a16="http://schemas.microsoft.com/office/drawing/2014/main" id="{00333C44-3320-4CD8-B5FD-AE14A4BA2631}"/>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0" name="任意矩形：004">
            <a:extLst>
              <a:ext uri="{FF2B5EF4-FFF2-40B4-BE49-F238E27FC236}">
                <a16:creationId xmlns:a16="http://schemas.microsoft.com/office/drawing/2014/main" id="{EA6E45C1-D809-49DC-B803-076F51860BA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1" name="文本框 80">
            <a:extLst>
              <a:ext uri="{FF2B5EF4-FFF2-40B4-BE49-F238E27FC236}">
                <a16:creationId xmlns:a16="http://schemas.microsoft.com/office/drawing/2014/main" id="{62015132-25DA-4F59-B76C-D4CCB07C3A6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2" name="任意矩形：005">
            <a:extLst>
              <a:ext uri="{FF2B5EF4-FFF2-40B4-BE49-F238E27FC236}">
                <a16:creationId xmlns:a16="http://schemas.microsoft.com/office/drawing/2014/main" id="{D0246B9A-8DD8-4002-93F7-4FA516EF7EF9}"/>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组合 3">
            <a:extLst>
              <a:ext uri="{FF2B5EF4-FFF2-40B4-BE49-F238E27FC236}">
                <a16:creationId xmlns:a16="http://schemas.microsoft.com/office/drawing/2014/main" id="{BD6FB37C-A785-4C5A-BB78-719EE9A7B384}"/>
              </a:ext>
            </a:extLst>
          </p:cNvPr>
          <p:cNvGrpSpPr/>
          <p:nvPr/>
        </p:nvGrpSpPr>
        <p:grpSpPr>
          <a:xfrm>
            <a:off x="2387601" y="1611611"/>
            <a:ext cx="9469438" cy="4516115"/>
            <a:chOff x="2304926" y="1611611"/>
            <a:chExt cx="9623549" cy="4516115"/>
          </a:xfrm>
        </p:grpSpPr>
        <p:sp>
          <p:nvSpPr>
            <p:cNvPr id="11" name="矩形: 圆角 10">
              <a:extLst>
                <a:ext uri="{FF2B5EF4-FFF2-40B4-BE49-F238E27FC236}">
                  <a16:creationId xmlns:a16="http://schemas.microsoft.com/office/drawing/2014/main" id="{8BE4F5B9-0A7A-4D0C-81A2-093ACA468498}"/>
                </a:ext>
              </a:extLst>
            </p:cNvPr>
            <p:cNvSpPr/>
            <p:nvPr/>
          </p:nvSpPr>
          <p:spPr>
            <a:xfrm>
              <a:off x="2304926"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7236829"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3445308"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2592695"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2739928" y="2763577"/>
              <a:ext cx="3821643" cy="333430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475056D-9A07-4153-BD89-DE48B7F054A9}"/>
                </a:ext>
              </a:extLst>
            </p:cNvPr>
            <p:cNvGrpSpPr/>
            <p:nvPr/>
          </p:nvGrpSpPr>
          <p:grpSpPr>
            <a:xfrm>
              <a:off x="7307572" y="3100764"/>
              <a:ext cx="4539582" cy="2793282"/>
              <a:chOff x="7438247" y="3267087"/>
              <a:chExt cx="4867623" cy="2995131"/>
            </a:xfrm>
          </p:grpSpPr>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4764" r="2570" b="54667"/>
              <a:stretch/>
            </p:blipFill>
            <p:spPr>
              <a:xfrm>
                <a:off x="7438247" y="3267087"/>
                <a:ext cx="2968348" cy="1941172"/>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5536" r="10577"/>
              <a:stretch/>
            </p:blipFill>
            <p:spPr>
              <a:xfrm>
                <a:off x="10277546" y="4309649"/>
                <a:ext cx="2028324" cy="1952569"/>
              </a:xfrm>
              <a:prstGeom prst="rect">
                <a:avLst/>
              </a:prstGeom>
            </p:spPr>
          </p:pic>
        </p:grpSp>
        <p:sp>
          <p:nvSpPr>
            <p:cNvPr id="21" name="矩形: 圆顶角 20">
              <a:extLst>
                <a:ext uri="{FF2B5EF4-FFF2-40B4-BE49-F238E27FC236}">
                  <a16:creationId xmlns:a16="http://schemas.microsoft.com/office/drawing/2014/main" id="{3D7BF2E2-5C77-4676-9D87-EFC46B230ED4}"/>
                </a:ext>
              </a:extLst>
            </p:cNvPr>
            <p:cNvSpPr/>
            <p:nvPr/>
          </p:nvSpPr>
          <p:spPr>
            <a:xfrm>
              <a:off x="8377211"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88" name="文本框 87">
              <a:extLst>
                <a:ext uri="{FF2B5EF4-FFF2-40B4-BE49-F238E27FC236}">
                  <a16:creationId xmlns:a16="http://schemas.microsoft.com/office/drawing/2014/main" id="{80657E8A-D308-4DD3-BCE7-8542EFCD6EAF}"/>
                </a:ext>
              </a:extLst>
            </p:cNvPr>
            <p:cNvSpPr txBox="1"/>
            <p:nvPr/>
          </p:nvSpPr>
          <p:spPr>
            <a:xfrm>
              <a:off x="7524598"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sp>
        <p:nvSpPr>
          <p:cNvPr id="91" name="文本框 90">
            <a:extLst>
              <a:ext uri="{FF2B5EF4-FFF2-40B4-BE49-F238E27FC236}">
                <a16:creationId xmlns:a16="http://schemas.microsoft.com/office/drawing/2014/main" id="{515C0838-AF61-4AC7-A535-2AF47A9A452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6" name="任意矩形：006">
            <a:extLst>
              <a:ext uri="{FF2B5EF4-FFF2-40B4-BE49-F238E27FC236}">
                <a16:creationId xmlns:a16="http://schemas.microsoft.com/office/drawing/2014/main" id="{05B97671-D8CC-44E2-82B3-FE686B4ED61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圆角 125">
            <a:extLst>
              <a:ext uri="{FF2B5EF4-FFF2-40B4-BE49-F238E27FC236}">
                <a16:creationId xmlns:a16="http://schemas.microsoft.com/office/drawing/2014/main" id="{37500F2A-A779-4EE7-B601-6510E98E88F3}"/>
              </a:ext>
            </a:extLst>
          </p:cNvPr>
          <p:cNvSpPr/>
          <p:nvPr/>
        </p:nvSpPr>
        <p:spPr>
          <a:xfrm>
            <a:off x="9523996"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圆角 39">
            <a:extLst>
              <a:ext uri="{FF2B5EF4-FFF2-40B4-BE49-F238E27FC236}">
                <a16:creationId xmlns:a16="http://schemas.microsoft.com/office/drawing/2014/main" id="{D9B6D686-A1A6-48C3-8B2F-CEB5A7BDDD5D}"/>
              </a:ext>
            </a:extLst>
          </p:cNvPr>
          <p:cNvSpPr/>
          <p:nvPr/>
        </p:nvSpPr>
        <p:spPr>
          <a:xfrm>
            <a:off x="5266165" y="1362936"/>
            <a:ext cx="371230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5338029" y="1559707"/>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4817922"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97FD7EA7-74EA-4012-9612-9662D839B8C7}"/>
              </a:ext>
            </a:extLst>
          </p:cNvPr>
          <p:cNvSpPr/>
          <p:nvPr/>
        </p:nvSpPr>
        <p:spPr>
          <a:xfrm>
            <a:off x="2387600"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2387600"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2459465" y="2294411"/>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2459465"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cxnSp>
        <p:nvCxnSpPr>
          <p:cNvPr id="62" name="直接连接符 61">
            <a:extLst>
              <a:ext uri="{FF2B5EF4-FFF2-40B4-BE49-F238E27FC236}">
                <a16:creationId xmlns:a16="http://schemas.microsoft.com/office/drawing/2014/main" id="{C38DD591-C403-4D88-BDC2-92E25A602719}"/>
              </a:ext>
            </a:extLst>
          </p:cNvPr>
          <p:cNvCxnSpPr>
            <a:cxnSpLocks/>
          </p:cNvCxnSpPr>
          <p:nvPr/>
        </p:nvCxnSpPr>
        <p:spPr>
          <a:xfrm>
            <a:off x="2529527"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100CA2E4-9825-41A7-AA9F-74D7DC52BB18}"/>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1.3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112" name="矩形 111">
            <a:extLst>
              <a:ext uri="{FF2B5EF4-FFF2-40B4-BE49-F238E27FC236}">
                <a16:creationId xmlns:a16="http://schemas.microsoft.com/office/drawing/2014/main" id="{A5C3F5A5-B3D4-43AF-B380-8F39CD59BFEB}"/>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文本框 112">
            <a:extLst>
              <a:ext uri="{FF2B5EF4-FFF2-40B4-BE49-F238E27FC236}">
                <a16:creationId xmlns:a16="http://schemas.microsoft.com/office/drawing/2014/main" id="{2E37C6AB-D64E-4A24-BD23-47B23EE2D38B}"/>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114" name="任意矩形：001">
            <a:extLst>
              <a:ext uri="{FF2B5EF4-FFF2-40B4-BE49-F238E27FC236}">
                <a16:creationId xmlns:a16="http://schemas.microsoft.com/office/drawing/2014/main" id="{A6E06603-35C2-49B4-B1E8-78F02DDA22A4}"/>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任意矩形：002">
            <a:extLst>
              <a:ext uri="{FF2B5EF4-FFF2-40B4-BE49-F238E27FC236}">
                <a16:creationId xmlns:a16="http://schemas.microsoft.com/office/drawing/2014/main" id="{89C218F4-9A5D-450D-AC3C-41EB87784E37}"/>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6" name="文本框 115">
            <a:extLst>
              <a:ext uri="{FF2B5EF4-FFF2-40B4-BE49-F238E27FC236}">
                <a16:creationId xmlns:a16="http://schemas.microsoft.com/office/drawing/2014/main" id="{870FAC35-9B2B-45D8-95AC-F80E41C0FE03}"/>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7" name="任意矩形：003">
            <a:extLst>
              <a:ext uri="{FF2B5EF4-FFF2-40B4-BE49-F238E27FC236}">
                <a16:creationId xmlns:a16="http://schemas.microsoft.com/office/drawing/2014/main" id="{9533D150-4053-40AC-AFAC-806D22EE05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文本框 117">
            <a:extLst>
              <a:ext uri="{FF2B5EF4-FFF2-40B4-BE49-F238E27FC236}">
                <a16:creationId xmlns:a16="http://schemas.microsoft.com/office/drawing/2014/main" id="{C128A8DF-0FF2-4F9D-A308-312F5CD0253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9" name="文本框 118">
            <a:extLst>
              <a:ext uri="{FF2B5EF4-FFF2-40B4-BE49-F238E27FC236}">
                <a16:creationId xmlns:a16="http://schemas.microsoft.com/office/drawing/2014/main" id="{23267456-25EA-478C-A294-EE001FB189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0" name="任意矩形：004">
            <a:extLst>
              <a:ext uri="{FF2B5EF4-FFF2-40B4-BE49-F238E27FC236}">
                <a16:creationId xmlns:a16="http://schemas.microsoft.com/office/drawing/2014/main" id="{0D06917A-C68F-4282-9BB9-F6D841C77B4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文本框 120">
            <a:extLst>
              <a:ext uri="{FF2B5EF4-FFF2-40B4-BE49-F238E27FC236}">
                <a16:creationId xmlns:a16="http://schemas.microsoft.com/office/drawing/2014/main" id="{51C9F3DA-3B74-414E-9DB0-5551334E6642}"/>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2" name="任意矩形：005">
            <a:extLst>
              <a:ext uri="{FF2B5EF4-FFF2-40B4-BE49-F238E27FC236}">
                <a16:creationId xmlns:a16="http://schemas.microsoft.com/office/drawing/2014/main" id="{7CD3C82C-DE96-4903-AC80-30B4C170BD9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7" name="矩形: 圆角 126">
            <a:extLst>
              <a:ext uri="{FF2B5EF4-FFF2-40B4-BE49-F238E27FC236}">
                <a16:creationId xmlns:a16="http://schemas.microsoft.com/office/drawing/2014/main" id="{A998723D-16B0-4E79-B2B1-32DD5F153552}"/>
              </a:ext>
            </a:extLst>
          </p:cNvPr>
          <p:cNvSpPr/>
          <p:nvPr/>
        </p:nvSpPr>
        <p:spPr>
          <a:xfrm>
            <a:off x="9523996"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128" name="文本框 127">
            <a:extLst>
              <a:ext uri="{FF2B5EF4-FFF2-40B4-BE49-F238E27FC236}">
                <a16:creationId xmlns:a16="http://schemas.microsoft.com/office/drawing/2014/main" id="{2138DF13-B41A-4AB0-8CF9-9AF021C4B36D}"/>
              </a:ext>
            </a:extLst>
          </p:cNvPr>
          <p:cNvSpPr txBox="1"/>
          <p:nvPr/>
        </p:nvSpPr>
        <p:spPr>
          <a:xfrm>
            <a:off x="9595861" y="2294411"/>
            <a:ext cx="2189313"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现有预测模型多聚焦单一病种，缺乏多慢性病共病风险耦合分析，泛化能力不足。</a:t>
            </a:r>
          </a:p>
        </p:txBody>
      </p:sp>
      <p:sp>
        <p:nvSpPr>
          <p:cNvPr id="129" name="文本框 128">
            <a:extLst>
              <a:ext uri="{FF2B5EF4-FFF2-40B4-BE49-F238E27FC236}">
                <a16:creationId xmlns:a16="http://schemas.microsoft.com/office/drawing/2014/main" id="{7E0A42F5-CA6C-4498-9B3B-BF50E68ABC98}"/>
              </a:ext>
            </a:extLst>
          </p:cNvPr>
          <p:cNvSpPr txBox="1"/>
          <p:nvPr/>
        </p:nvSpPr>
        <p:spPr>
          <a:xfrm>
            <a:off x="9595861"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130" name="直接连接符 129">
            <a:extLst>
              <a:ext uri="{FF2B5EF4-FFF2-40B4-BE49-F238E27FC236}">
                <a16:creationId xmlns:a16="http://schemas.microsoft.com/office/drawing/2014/main" id="{DDB08C49-0643-42C3-98B1-319693EB282B}"/>
              </a:ext>
            </a:extLst>
          </p:cNvPr>
          <p:cNvCxnSpPr>
            <a:cxnSpLocks/>
          </p:cNvCxnSpPr>
          <p:nvPr/>
        </p:nvCxnSpPr>
        <p:spPr>
          <a:xfrm>
            <a:off x="9665923"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箭头: 右 130">
            <a:extLst>
              <a:ext uri="{FF2B5EF4-FFF2-40B4-BE49-F238E27FC236}">
                <a16:creationId xmlns:a16="http://schemas.microsoft.com/office/drawing/2014/main" id="{4DAB4348-2685-4830-9DE3-000C94394C60}"/>
              </a:ext>
            </a:extLst>
          </p:cNvPr>
          <p:cNvSpPr/>
          <p:nvPr/>
        </p:nvSpPr>
        <p:spPr>
          <a:xfrm flipH="1">
            <a:off x="9075753"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B56C3179-4FA0-4A49-800A-1F172C8BF89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3" name="任意矩形：006">
            <a:extLst>
              <a:ext uri="{FF2B5EF4-FFF2-40B4-BE49-F238E27FC236}">
                <a16:creationId xmlns:a16="http://schemas.microsoft.com/office/drawing/2014/main" id="{A099A332-D759-4183-9B86-C8FF5333133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矩形 131">
            <a:extLst>
              <a:ext uri="{FF2B5EF4-FFF2-40B4-BE49-F238E27FC236}">
                <a16:creationId xmlns:a16="http://schemas.microsoft.com/office/drawing/2014/main" id="{2E926FB5-EF53-44E2-9EE4-615EEEDD8128}"/>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角 42">
            <a:extLst>
              <a:ext uri="{FF2B5EF4-FFF2-40B4-BE49-F238E27FC236}">
                <a16:creationId xmlns:a16="http://schemas.microsoft.com/office/drawing/2014/main" id="{C7BEF58F-2A83-4042-ABAD-BE236E92725C}"/>
              </a:ext>
            </a:extLst>
          </p:cNvPr>
          <p:cNvSpPr/>
          <p:nvPr/>
        </p:nvSpPr>
        <p:spPr>
          <a:xfrm>
            <a:off x="3570041" y="1215534"/>
            <a:ext cx="8286998" cy="929711"/>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94305" y="1480334"/>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3824844" y="1288775"/>
            <a:ext cx="7994181" cy="783228"/>
          </a:xfrm>
          <a:prstGeom prst="rect">
            <a:avLst/>
          </a:prstGeom>
          <a:noFill/>
        </p:spPr>
        <p:txBody>
          <a:bodyPr wrap="square" rtlCol="0">
            <a:spAutoFit/>
          </a:bodyPr>
          <a:lstStyle/>
          <a:p>
            <a:pPr>
              <a:lnSpc>
                <a:spcPct val="130000"/>
              </a:lnSpc>
            </a:pPr>
            <a:r>
              <a:rPr lang="zh-CN" altLang="en-US"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dirty="0">
                <a:latin typeface="思源黑体 CN Regular" panose="020B0500000000000000" pitchFamily="34" charset="-122"/>
                <a:ea typeface="思源黑体 CN Regular" panose="020B0500000000000000" pitchFamily="34" charset="-122"/>
              </a:rPr>
              <a:t>85%</a:t>
            </a:r>
            <a:r>
              <a:rPr lang="zh-CN" altLang="en-US"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48" name="矩形: 圆角 47">
            <a:extLst>
              <a:ext uri="{FF2B5EF4-FFF2-40B4-BE49-F238E27FC236}">
                <a16:creationId xmlns:a16="http://schemas.microsoft.com/office/drawing/2014/main" id="{937B5271-3FEF-40F3-8D33-35A77A090AEA}"/>
              </a:ext>
            </a:extLst>
          </p:cNvPr>
          <p:cNvSpPr/>
          <p:nvPr/>
        </p:nvSpPr>
        <p:spPr>
          <a:xfrm>
            <a:off x="2393514" y="5805753"/>
            <a:ext cx="9463524"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9" name="矩形: 圆角 48">
            <a:extLst>
              <a:ext uri="{FF2B5EF4-FFF2-40B4-BE49-F238E27FC236}">
                <a16:creationId xmlns:a16="http://schemas.microsoft.com/office/drawing/2014/main" id="{80FFF5DE-434F-4A5C-A85E-CA7FEC649378}"/>
              </a:ext>
            </a:extLst>
          </p:cNvPr>
          <p:cNvSpPr/>
          <p:nvPr/>
        </p:nvSpPr>
        <p:spPr>
          <a:xfrm>
            <a:off x="2452329"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3249678" y="5992641"/>
            <a:ext cx="4126633"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2418892"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7861256" y="5992641"/>
            <a:ext cx="3905178"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dirty="0">
                <a:solidFill>
                  <a:schemeClr val="accent1"/>
                </a:solidFill>
                <a:latin typeface="思源黑体 CN Bold" panose="020B0800000000000000" pitchFamily="34" charset="-122"/>
                <a:ea typeface="思源黑体 CN Bold" panose="020B0800000000000000" pitchFamily="34" charset="-122"/>
              </a:rPr>
              <a:t>?</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7235129"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文本框 32">
            <a:extLst>
              <a:ext uri="{FF2B5EF4-FFF2-40B4-BE49-F238E27FC236}">
                <a16:creationId xmlns:a16="http://schemas.microsoft.com/office/drawing/2014/main" id="{BC12DBEE-9AD2-4646-B218-49751FCF7846}"/>
              </a:ext>
            </a:extLst>
          </p:cNvPr>
          <p:cNvSpPr txBox="1"/>
          <p:nvPr/>
        </p:nvSpPr>
        <p:spPr>
          <a:xfrm>
            <a:off x="2294305" y="3777476"/>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357004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4011518"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366064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366064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376221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376221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34" name="矩形: 圆角 33">
            <a:extLst>
              <a:ext uri="{FF2B5EF4-FFF2-40B4-BE49-F238E27FC236}">
                <a16:creationId xmlns:a16="http://schemas.microsoft.com/office/drawing/2014/main" id="{4F06A20E-30D4-4340-8A7B-63DAAB411F88}"/>
              </a:ext>
            </a:extLst>
          </p:cNvPr>
          <p:cNvSpPr/>
          <p:nvPr/>
        </p:nvSpPr>
        <p:spPr>
          <a:xfrm>
            <a:off x="638603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1" name="矩形: 圆顶角 40">
            <a:extLst>
              <a:ext uri="{FF2B5EF4-FFF2-40B4-BE49-F238E27FC236}">
                <a16:creationId xmlns:a16="http://schemas.microsoft.com/office/drawing/2014/main" id="{B74D0B9B-BE7F-45F0-A2D9-25CA83654A59}"/>
              </a:ext>
            </a:extLst>
          </p:cNvPr>
          <p:cNvSpPr/>
          <p:nvPr/>
        </p:nvSpPr>
        <p:spPr>
          <a:xfrm>
            <a:off x="682750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61" name="文本框 60">
            <a:extLst>
              <a:ext uri="{FF2B5EF4-FFF2-40B4-BE49-F238E27FC236}">
                <a16:creationId xmlns:a16="http://schemas.microsoft.com/office/drawing/2014/main" id="{C9E5CF8C-785A-4CB5-9B43-6A603568F683}"/>
              </a:ext>
            </a:extLst>
          </p:cNvPr>
          <p:cNvSpPr txBox="1"/>
          <p:nvPr/>
        </p:nvSpPr>
        <p:spPr>
          <a:xfrm>
            <a:off x="6386033" y="2851334"/>
            <a:ext cx="2655015"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647663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657820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657820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38" name="矩形: 圆角 37">
            <a:extLst>
              <a:ext uri="{FF2B5EF4-FFF2-40B4-BE49-F238E27FC236}">
                <a16:creationId xmlns:a16="http://schemas.microsoft.com/office/drawing/2014/main" id="{33B03D95-2A98-4D16-925B-4EE9BAD22EEA}"/>
              </a:ext>
            </a:extLst>
          </p:cNvPr>
          <p:cNvSpPr/>
          <p:nvPr/>
        </p:nvSpPr>
        <p:spPr>
          <a:xfrm>
            <a:off x="920202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7" name="矩形: 圆顶角 46">
            <a:extLst>
              <a:ext uri="{FF2B5EF4-FFF2-40B4-BE49-F238E27FC236}">
                <a16:creationId xmlns:a16="http://schemas.microsoft.com/office/drawing/2014/main" id="{19ECDA69-0BF0-416A-9BC2-5BEA4E1D4FDB}"/>
              </a:ext>
            </a:extLst>
          </p:cNvPr>
          <p:cNvSpPr/>
          <p:nvPr/>
        </p:nvSpPr>
        <p:spPr>
          <a:xfrm>
            <a:off x="964349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929262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929262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939419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939419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105" name="文本框 104">
            <a:extLst>
              <a:ext uri="{FF2B5EF4-FFF2-40B4-BE49-F238E27FC236}">
                <a16:creationId xmlns:a16="http://schemas.microsoft.com/office/drawing/2014/main" id="{651784C5-070F-4CF6-85CB-A106CD9E0E60}"/>
              </a:ext>
            </a:extLst>
          </p:cNvPr>
          <p:cNvSpPr txBox="1"/>
          <p:nvPr/>
        </p:nvSpPr>
        <p:spPr>
          <a:xfrm>
            <a:off x="2209656" y="248670"/>
            <a:ext cx="348685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研究目标和研究内容</a:t>
            </a:r>
          </a:p>
        </p:txBody>
      </p:sp>
      <p:sp>
        <p:nvSpPr>
          <p:cNvPr id="107" name="文本框 106">
            <a:extLst>
              <a:ext uri="{FF2B5EF4-FFF2-40B4-BE49-F238E27FC236}">
                <a16:creationId xmlns:a16="http://schemas.microsoft.com/office/drawing/2014/main" id="{763C75AD-CE05-40A3-8DD7-FC25F12AD8A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1" name="任意矩形：001">
            <a:extLst>
              <a:ext uri="{FF2B5EF4-FFF2-40B4-BE49-F238E27FC236}">
                <a16:creationId xmlns:a16="http://schemas.microsoft.com/office/drawing/2014/main" id="{15F8ACD2-E4AD-47DD-9FE9-FF8892117ED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任意矩形：002">
            <a:extLst>
              <a:ext uri="{FF2B5EF4-FFF2-40B4-BE49-F238E27FC236}">
                <a16:creationId xmlns:a16="http://schemas.microsoft.com/office/drawing/2014/main" id="{02270AC7-8AB4-40C8-95F8-7E15D047A50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3" name="文本框 122">
            <a:extLst>
              <a:ext uri="{FF2B5EF4-FFF2-40B4-BE49-F238E27FC236}">
                <a16:creationId xmlns:a16="http://schemas.microsoft.com/office/drawing/2014/main" id="{4764F9A5-2875-4DCF-B297-938F48D01E7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4" name="任意矩形：003">
            <a:extLst>
              <a:ext uri="{FF2B5EF4-FFF2-40B4-BE49-F238E27FC236}">
                <a16:creationId xmlns:a16="http://schemas.microsoft.com/office/drawing/2014/main" id="{0B41FCDA-D3A7-40A5-A3CF-961BF32B5223}"/>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文本框 124">
            <a:extLst>
              <a:ext uri="{FF2B5EF4-FFF2-40B4-BE49-F238E27FC236}">
                <a16:creationId xmlns:a16="http://schemas.microsoft.com/office/drawing/2014/main" id="{38069428-7805-412D-B2EB-67E944BEACF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6" name="文本框 125">
            <a:extLst>
              <a:ext uri="{FF2B5EF4-FFF2-40B4-BE49-F238E27FC236}">
                <a16:creationId xmlns:a16="http://schemas.microsoft.com/office/drawing/2014/main" id="{11918BAB-DFD2-45AB-80FA-05A2DB5205A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任意矩形：004">
            <a:extLst>
              <a:ext uri="{FF2B5EF4-FFF2-40B4-BE49-F238E27FC236}">
                <a16:creationId xmlns:a16="http://schemas.microsoft.com/office/drawing/2014/main" id="{986A0A8E-4B97-42F8-8E25-21A3C34B2AA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624ED90A-576D-4402-B101-3CA323C740C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任意矩形：005">
            <a:extLst>
              <a:ext uri="{FF2B5EF4-FFF2-40B4-BE49-F238E27FC236}">
                <a16:creationId xmlns:a16="http://schemas.microsoft.com/office/drawing/2014/main" id="{2D8449C2-F861-4D0F-9176-34861A41FCE1}"/>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DD7C4C3-1315-4AC2-8E4F-4C33003C67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4" name="任意矩形：006">
            <a:extLst>
              <a:ext uri="{FF2B5EF4-FFF2-40B4-BE49-F238E27FC236}">
                <a16:creationId xmlns:a16="http://schemas.microsoft.com/office/drawing/2014/main" id="{76EA553C-5D1C-44ED-A6CC-808C3F816DE4}"/>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834425" y="1989799"/>
            <a:ext cx="1915851"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834425" y="3678676"/>
            <a:ext cx="1915851"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834425" y="5212233"/>
            <a:ext cx="1915851"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599945" y="3120513"/>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599945" y="465407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175C6E7B-ADA9-42C0-9F7A-50D900CAF9DE}"/>
              </a:ext>
            </a:extLst>
          </p:cNvPr>
          <p:cNvSpPr/>
          <p:nvPr/>
        </p:nvSpPr>
        <p:spPr>
          <a:xfrm>
            <a:off x="5899316" y="1354766"/>
            <a:ext cx="3410074" cy="511198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l="2648" r="2652" b="488"/>
          <a:stretch/>
        </p:blipFill>
        <p:spPr>
          <a:xfrm>
            <a:off x="5989626" y="1889609"/>
            <a:ext cx="3229454"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6839305" y="1354766"/>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sp>
        <p:nvSpPr>
          <p:cNvPr id="72" name="箭头: 右 71">
            <a:extLst>
              <a:ext uri="{FF2B5EF4-FFF2-40B4-BE49-F238E27FC236}">
                <a16:creationId xmlns:a16="http://schemas.microsoft.com/office/drawing/2014/main" id="{274B5535-BCB7-485E-8FF7-D7F11797836D}"/>
              </a:ext>
            </a:extLst>
          </p:cNvPr>
          <p:cNvSpPr/>
          <p:nvPr/>
        </p:nvSpPr>
        <p:spPr>
          <a:xfrm>
            <a:off x="5545846"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5545846"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D459F362-7BD7-427F-960D-4022BD02D3ED}"/>
              </a:ext>
            </a:extLst>
          </p:cNvPr>
          <p:cNvSpPr/>
          <p:nvPr/>
        </p:nvSpPr>
        <p:spPr>
          <a:xfrm>
            <a:off x="2389958" y="1354766"/>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圆角 32">
            <a:extLst>
              <a:ext uri="{FF2B5EF4-FFF2-40B4-BE49-F238E27FC236}">
                <a16:creationId xmlns:a16="http://schemas.microsoft.com/office/drawing/2014/main" id="{03185492-F7DE-4AB0-9133-888A01A33ED0}"/>
              </a:ext>
            </a:extLst>
          </p:cNvPr>
          <p:cNvSpPr/>
          <p:nvPr/>
        </p:nvSpPr>
        <p:spPr>
          <a:xfrm>
            <a:off x="2389958" y="4011538"/>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2505218" y="1790287"/>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2412800" y="3115355"/>
            <a:ext cx="3045402" cy="679940"/>
          </a:xfrm>
          <a:prstGeom prst="roundRect">
            <a:avLst>
              <a:gd name="adj" fmla="val 21530"/>
            </a:avLst>
          </a:prstGeom>
          <a:solidFill>
            <a:srgbClr val="911D22"/>
          </a:solidFill>
          <a:ln>
            <a:noFill/>
          </a:ln>
          <a:extLst/>
        </p:spPr>
      </p:pic>
      <p:sp>
        <p:nvSpPr>
          <p:cNvPr id="32" name="矩形: 圆顶角 31">
            <a:extLst>
              <a:ext uri="{FF2B5EF4-FFF2-40B4-BE49-F238E27FC236}">
                <a16:creationId xmlns:a16="http://schemas.microsoft.com/office/drawing/2014/main" id="{3217AD8B-C595-4F25-BAB9-26E69ECF2B0C}"/>
              </a:ext>
            </a:extLst>
          </p:cNvPr>
          <p:cNvSpPr/>
          <p:nvPr/>
        </p:nvSpPr>
        <p:spPr>
          <a:xfrm>
            <a:off x="3237736" y="1354766"/>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4" name="文本框 33">
            <a:extLst>
              <a:ext uri="{FF2B5EF4-FFF2-40B4-BE49-F238E27FC236}">
                <a16:creationId xmlns:a16="http://schemas.microsoft.com/office/drawing/2014/main" id="{24AAD6B2-B86A-4D9E-AABA-13D3E1ADD220}"/>
              </a:ext>
            </a:extLst>
          </p:cNvPr>
          <p:cNvSpPr txBox="1"/>
          <p:nvPr/>
        </p:nvSpPr>
        <p:spPr>
          <a:xfrm>
            <a:off x="2505218" y="4448292"/>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3237736" y="4011538"/>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2409210" y="5683192"/>
            <a:ext cx="3052583" cy="768875"/>
          </a:xfrm>
          <a:prstGeom prst="roundRect">
            <a:avLst>
              <a:gd name="adj" fmla="val 21530"/>
            </a:avLst>
          </a:prstGeom>
          <a:solidFill>
            <a:srgbClr val="911D22"/>
          </a:solidFill>
          <a:ln>
            <a:noFill/>
          </a:ln>
          <a:extLst/>
        </p:spPr>
      </p:pic>
      <p:sp>
        <p:nvSpPr>
          <p:cNvPr id="121" name="文本框 120">
            <a:extLst>
              <a:ext uri="{FF2B5EF4-FFF2-40B4-BE49-F238E27FC236}">
                <a16:creationId xmlns:a16="http://schemas.microsoft.com/office/drawing/2014/main" id="{73FC90F2-6CCC-4BE6-98E1-68D9C63E546D}"/>
              </a:ext>
            </a:extLst>
          </p:cNvPr>
          <p:cNvSpPr txBox="1"/>
          <p:nvPr/>
        </p:nvSpPr>
        <p:spPr>
          <a:xfrm>
            <a:off x="2209656" y="248670"/>
            <a:ext cx="614527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研究内容一：</a:t>
            </a:r>
            <a:r>
              <a:rPr lang="en-US" altLang="zh-CN" sz="24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4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400" dirty="0">
                <a:solidFill>
                  <a:schemeClr val="accent1"/>
                </a:solidFill>
                <a:latin typeface="思源黑体 CN Bold" panose="020B0800000000000000" pitchFamily="34" charset="-122"/>
                <a:ea typeface="思源黑体 CN Bold" panose="020B0800000000000000" pitchFamily="34" charset="-122"/>
              </a:rPr>
              <a:t>HSC</a:t>
            </a:r>
          </a:p>
        </p:txBody>
      </p:sp>
      <p:sp>
        <p:nvSpPr>
          <p:cNvPr id="136" name="箭头: 右 135">
            <a:extLst>
              <a:ext uri="{FF2B5EF4-FFF2-40B4-BE49-F238E27FC236}">
                <a16:creationId xmlns:a16="http://schemas.microsoft.com/office/drawing/2014/main" id="{A9889658-600D-4E8A-BAC8-4D6A507842D1}"/>
              </a:ext>
            </a:extLst>
          </p:cNvPr>
          <p:cNvSpPr/>
          <p:nvPr/>
        </p:nvSpPr>
        <p:spPr>
          <a:xfrm>
            <a:off x="9374192"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右 136">
            <a:extLst>
              <a:ext uri="{FF2B5EF4-FFF2-40B4-BE49-F238E27FC236}">
                <a16:creationId xmlns:a16="http://schemas.microsoft.com/office/drawing/2014/main" id="{D8C1390D-10ED-49C3-B86F-CF85892F861B}"/>
              </a:ext>
            </a:extLst>
          </p:cNvPr>
          <p:cNvSpPr/>
          <p:nvPr/>
        </p:nvSpPr>
        <p:spPr>
          <a:xfrm>
            <a:off x="9374192"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8DB4FF0C-CC18-442C-82AE-B90F0548F6A7}"/>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632B28-6C6E-4A05-806A-2CCC1D13AD58}"/>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429C0C51-A537-45D0-A34F-1AFAD1E1757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D6B65068-792C-4609-9952-5E74EFF1080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540188EA-6A35-48E4-AFA3-856CE8CFB47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A9C1700D-FECD-444E-968E-006EEADBAE88}"/>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934737D5-7885-4D13-8564-F64D74EB955F}"/>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45" name="文本框 144">
            <a:extLst>
              <a:ext uri="{FF2B5EF4-FFF2-40B4-BE49-F238E27FC236}">
                <a16:creationId xmlns:a16="http://schemas.microsoft.com/office/drawing/2014/main" id="{C6965285-429E-4481-BD65-BD7F2C46F546}"/>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46" name="任意矩形：004">
            <a:extLst>
              <a:ext uri="{FF2B5EF4-FFF2-40B4-BE49-F238E27FC236}">
                <a16:creationId xmlns:a16="http://schemas.microsoft.com/office/drawing/2014/main" id="{53D78DFD-F2E8-476E-A0B1-4EB12AD675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7C038CEB-531E-47A1-B845-F3E0DC85F593}"/>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48" name="任意矩形：005">
            <a:extLst>
              <a:ext uri="{FF2B5EF4-FFF2-40B4-BE49-F238E27FC236}">
                <a16:creationId xmlns:a16="http://schemas.microsoft.com/office/drawing/2014/main" id="{99252D93-410D-4C94-81F6-44AF28898A3F}"/>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1" name="文本框 150">
            <a:extLst>
              <a:ext uri="{FF2B5EF4-FFF2-40B4-BE49-F238E27FC236}">
                <a16:creationId xmlns:a16="http://schemas.microsoft.com/office/drawing/2014/main" id="{E1128E9D-9C28-464D-93D4-4DD07F9754CD}"/>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2" name="任意矩形：006">
            <a:extLst>
              <a:ext uri="{FF2B5EF4-FFF2-40B4-BE49-F238E27FC236}">
                <a16:creationId xmlns:a16="http://schemas.microsoft.com/office/drawing/2014/main" id="{88873725-57EC-44F8-84A1-D8E580CF92C5}"/>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8760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599163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a:extLst>
              <a:ext uri="{FF2B5EF4-FFF2-40B4-BE49-F238E27FC236}">
                <a16:creationId xmlns:a16="http://schemas.microsoft.com/office/drawing/2014/main" id="{555C93AF-07A7-4AC8-8081-CC514C969919}"/>
              </a:ext>
            </a:extLst>
          </p:cNvPr>
          <p:cNvSpPr/>
          <p:nvPr/>
        </p:nvSpPr>
        <p:spPr>
          <a:xfrm>
            <a:off x="2387600" y="3644387"/>
            <a:ext cx="6921790" cy="282236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250193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sp>
        <p:nvSpPr>
          <p:cNvPr id="47" name="矩形: 圆角 46">
            <a:extLst>
              <a:ext uri="{FF2B5EF4-FFF2-40B4-BE49-F238E27FC236}">
                <a16:creationId xmlns:a16="http://schemas.microsoft.com/office/drawing/2014/main" id="{9B354758-55E9-4234-ACD6-5F97E06E2119}"/>
              </a:ext>
            </a:extLst>
          </p:cNvPr>
          <p:cNvSpPr/>
          <p:nvPr/>
        </p:nvSpPr>
        <p:spPr>
          <a:xfrm>
            <a:off x="5989122"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610596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2619778" y="3839705"/>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6213680" y="3839705"/>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19" name="文本框 118">
            <a:extLst>
              <a:ext uri="{FF2B5EF4-FFF2-40B4-BE49-F238E27FC236}">
                <a16:creationId xmlns:a16="http://schemas.microsoft.com/office/drawing/2014/main" id="{A3550BBF-89CB-4D1E-8360-2EFFD6B218E3}"/>
              </a:ext>
            </a:extLst>
          </p:cNvPr>
          <p:cNvSpPr txBox="1"/>
          <p:nvPr/>
        </p:nvSpPr>
        <p:spPr>
          <a:xfrm>
            <a:off x="2209656" y="248670"/>
            <a:ext cx="681462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研究内容二：</a:t>
            </a:r>
            <a:r>
              <a:rPr lang="en-US" altLang="zh-CN" sz="2400" dirty="0">
                <a:solidFill>
                  <a:schemeClr val="accent1"/>
                </a:solidFill>
                <a:latin typeface="思源黑体 CN Bold" panose="020B0800000000000000" pitchFamily="34" charset="-122"/>
                <a:ea typeface="思源黑体 CN Bold" panose="020B0800000000000000" pitchFamily="34" charset="-122"/>
              </a:rPr>
              <a:t>CRISPR </a:t>
            </a:r>
            <a:r>
              <a:rPr lang="zh-CN" altLang="en-US" sz="2400" dirty="0">
                <a:solidFill>
                  <a:schemeClr val="accent1"/>
                </a:solidFill>
                <a:latin typeface="思源黑体 CN Bold" panose="020B0800000000000000" pitchFamily="34" charset="-122"/>
                <a:ea typeface="思源黑体 CN Bold" panose="020B0800000000000000" pitchFamily="34" charset="-122"/>
              </a:rPr>
              <a:t>构建 </a:t>
            </a:r>
            <a:r>
              <a:rPr lang="en-US" altLang="zh-CN" sz="2400" dirty="0">
                <a:solidFill>
                  <a:schemeClr val="accent1"/>
                </a:solidFill>
                <a:latin typeface="思源黑体 CN Bold" panose="020B0800000000000000" pitchFamily="34" charset="-122"/>
                <a:ea typeface="思源黑体 CN Bold" panose="020B0800000000000000" pitchFamily="34" charset="-122"/>
              </a:rPr>
              <a:t>MYSM1 </a:t>
            </a:r>
            <a:r>
              <a:rPr lang="zh-CN" altLang="en-US" sz="2400" dirty="0">
                <a:solidFill>
                  <a:schemeClr val="accent1"/>
                </a:solidFill>
                <a:latin typeface="思源黑体 CN Bold" panose="020B0800000000000000" pitchFamily="34" charset="-122"/>
                <a:ea typeface="思源黑体 CN Bold" panose="020B0800000000000000" pitchFamily="34" charset="-122"/>
              </a:rPr>
              <a:t>敲除模型</a:t>
            </a:r>
          </a:p>
        </p:txBody>
      </p:sp>
      <p:sp>
        <p:nvSpPr>
          <p:cNvPr id="120" name="矩形 119">
            <a:extLst>
              <a:ext uri="{FF2B5EF4-FFF2-40B4-BE49-F238E27FC236}">
                <a16:creationId xmlns:a16="http://schemas.microsoft.com/office/drawing/2014/main" id="{D1E9A0F0-48DC-409B-8919-08A36851A432}"/>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文本框 120">
            <a:extLst>
              <a:ext uri="{FF2B5EF4-FFF2-40B4-BE49-F238E27FC236}">
                <a16:creationId xmlns:a16="http://schemas.microsoft.com/office/drawing/2014/main" id="{61A0A034-AB6E-4E8C-BFAC-6CD7EC467AD5}"/>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2" name="任意矩形：001">
            <a:extLst>
              <a:ext uri="{FF2B5EF4-FFF2-40B4-BE49-F238E27FC236}">
                <a16:creationId xmlns:a16="http://schemas.microsoft.com/office/drawing/2014/main" id="{10A1DCE0-399C-4EAE-B706-F4B1F9B01CF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任意矩形：002">
            <a:extLst>
              <a:ext uri="{FF2B5EF4-FFF2-40B4-BE49-F238E27FC236}">
                <a16:creationId xmlns:a16="http://schemas.microsoft.com/office/drawing/2014/main" id="{97AE29B7-D3AB-4C9E-8C71-B577FC424669}"/>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4" name="文本框 123">
            <a:extLst>
              <a:ext uri="{FF2B5EF4-FFF2-40B4-BE49-F238E27FC236}">
                <a16:creationId xmlns:a16="http://schemas.microsoft.com/office/drawing/2014/main" id="{87EE1F9B-8BA4-4860-91C5-323E2FC7D01E}"/>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5" name="任意矩形：003">
            <a:extLst>
              <a:ext uri="{FF2B5EF4-FFF2-40B4-BE49-F238E27FC236}">
                <a16:creationId xmlns:a16="http://schemas.microsoft.com/office/drawing/2014/main" id="{D713D3D0-B450-4F0F-B4F4-934F72527AB7}"/>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6" name="文本框 125">
            <a:extLst>
              <a:ext uri="{FF2B5EF4-FFF2-40B4-BE49-F238E27FC236}">
                <a16:creationId xmlns:a16="http://schemas.microsoft.com/office/drawing/2014/main" id="{08FA3FD3-39A2-41B3-B560-8F40079B0F7D}"/>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7" name="文本框 126">
            <a:extLst>
              <a:ext uri="{FF2B5EF4-FFF2-40B4-BE49-F238E27FC236}">
                <a16:creationId xmlns:a16="http://schemas.microsoft.com/office/drawing/2014/main" id="{3581E3E2-8796-48D5-85A6-776D3D37D9C9}"/>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8" name="任意矩形：004">
            <a:extLst>
              <a:ext uri="{FF2B5EF4-FFF2-40B4-BE49-F238E27FC236}">
                <a16:creationId xmlns:a16="http://schemas.microsoft.com/office/drawing/2014/main" id="{78C3DA15-80BC-4D6F-A655-2E2D357D695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9" name="文本框 128">
            <a:extLst>
              <a:ext uri="{FF2B5EF4-FFF2-40B4-BE49-F238E27FC236}">
                <a16:creationId xmlns:a16="http://schemas.microsoft.com/office/drawing/2014/main" id="{0AB5F0E0-F611-4B55-9E67-FD550BBAA36C}"/>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0" name="任意矩形：005">
            <a:extLst>
              <a:ext uri="{FF2B5EF4-FFF2-40B4-BE49-F238E27FC236}">
                <a16:creationId xmlns:a16="http://schemas.microsoft.com/office/drawing/2014/main" id="{4A7CEE4B-B791-475E-9D3A-CA30F5B4532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矩形: 圆角 132">
            <a:extLst>
              <a:ext uri="{FF2B5EF4-FFF2-40B4-BE49-F238E27FC236}">
                <a16:creationId xmlns:a16="http://schemas.microsoft.com/office/drawing/2014/main" id="{6D00C9F2-1FB2-4672-BD08-3375C015C517}"/>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矩形: 圆角 133">
            <a:extLst>
              <a:ext uri="{FF2B5EF4-FFF2-40B4-BE49-F238E27FC236}">
                <a16:creationId xmlns:a16="http://schemas.microsoft.com/office/drawing/2014/main" id="{2754E430-0EF9-494F-A808-B7EC293C83CB}"/>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5" name="矩形: 圆顶角 134">
            <a:extLst>
              <a:ext uri="{FF2B5EF4-FFF2-40B4-BE49-F238E27FC236}">
                <a16:creationId xmlns:a16="http://schemas.microsoft.com/office/drawing/2014/main" id="{B3DCB162-E5C6-46EC-9DB6-1E09EA72ADD5}"/>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6" name="矩形: 圆角 135">
            <a:extLst>
              <a:ext uri="{FF2B5EF4-FFF2-40B4-BE49-F238E27FC236}">
                <a16:creationId xmlns:a16="http://schemas.microsoft.com/office/drawing/2014/main" id="{F380EC28-C521-4679-BAA6-124B3ABBBD5E}"/>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7" name="矩形: 圆角 136">
            <a:extLst>
              <a:ext uri="{FF2B5EF4-FFF2-40B4-BE49-F238E27FC236}">
                <a16:creationId xmlns:a16="http://schemas.microsoft.com/office/drawing/2014/main" id="{4700FF88-1CE4-4366-B799-9CCBCB211AA8}"/>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38" name="箭头: 右 137">
            <a:extLst>
              <a:ext uri="{FF2B5EF4-FFF2-40B4-BE49-F238E27FC236}">
                <a16:creationId xmlns:a16="http://schemas.microsoft.com/office/drawing/2014/main" id="{0FFF7061-C850-451B-BE6D-03E63D5ADB1B}"/>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箭头: 右 138">
            <a:extLst>
              <a:ext uri="{FF2B5EF4-FFF2-40B4-BE49-F238E27FC236}">
                <a16:creationId xmlns:a16="http://schemas.microsoft.com/office/drawing/2014/main" id="{F46A9FA8-9C60-4000-8D8C-6641A73EE939}"/>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176EE192-8758-40B5-ADB5-77276D4BEA18}"/>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0E82BE2-9687-4C44-B37F-2B7398107C7A}"/>
              </a:ext>
            </a:extLst>
          </p:cNvPr>
          <p:cNvGrpSpPr/>
          <p:nvPr/>
        </p:nvGrpSpPr>
        <p:grpSpPr>
          <a:xfrm>
            <a:off x="3996384" y="3284667"/>
            <a:ext cx="3704222" cy="288668"/>
            <a:chOff x="3996384" y="3284795"/>
            <a:chExt cx="3704222" cy="288668"/>
          </a:xfrm>
        </p:grpSpPr>
        <p:sp>
          <p:nvSpPr>
            <p:cNvPr id="142" name="箭头: 右 141">
              <a:extLst>
                <a:ext uri="{FF2B5EF4-FFF2-40B4-BE49-F238E27FC236}">
                  <a16:creationId xmlns:a16="http://schemas.microsoft.com/office/drawing/2014/main" id="{A0D04613-5CFE-45FB-8FED-506DEFEBE138}"/>
                </a:ext>
              </a:extLst>
            </p:cNvPr>
            <p:cNvSpPr/>
            <p:nvPr/>
          </p:nvSpPr>
          <p:spPr>
            <a:xfrm rot="5400000">
              <a:off x="390214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0FA5B9EF-D9CE-4183-9FE3-E252DB93A897}"/>
                </a:ext>
              </a:extLst>
            </p:cNvPr>
            <p:cNvSpPr/>
            <p:nvPr/>
          </p:nvSpPr>
          <p:spPr>
            <a:xfrm rot="5400000">
              <a:off x="750617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圆角 143">
            <a:extLst>
              <a:ext uri="{FF2B5EF4-FFF2-40B4-BE49-F238E27FC236}">
                <a16:creationId xmlns:a16="http://schemas.microsoft.com/office/drawing/2014/main" id="{BCB4A5EB-E904-424F-879C-69489D1D1340}"/>
              </a:ext>
            </a:extLst>
          </p:cNvPr>
          <p:cNvSpPr/>
          <p:nvPr/>
        </p:nvSpPr>
        <p:spPr>
          <a:xfrm>
            <a:off x="2385993"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145" name="文本框 144">
            <a:extLst>
              <a:ext uri="{FF2B5EF4-FFF2-40B4-BE49-F238E27FC236}">
                <a16:creationId xmlns:a16="http://schemas.microsoft.com/office/drawing/2014/main" id="{60C76007-5C01-4B9B-BBBB-C6C7623150A2}"/>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6" name="任意矩形：006">
            <a:extLst>
              <a:ext uri="{FF2B5EF4-FFF2-40B4-BE49-F238E27FC236}">
                <a16:creationId xmlns:a16="http://schemas.microsoft.com/office/drawing/2014/main" id="{4CD3BBFD-B7DA-4D8B-AAAA-DFB17DCC505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923" y="1362386"/>
            <a:ext cx="2489591" cy="510436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5056819" y="1362386"/>
            <a:ext cx="4252572" cy="5104363"/>
          </a:xfrm>
          <a:prstGeom prst="roundRect">
            <a:avLst>
              <a:gd name="adj" fmla="val 3646"/>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10900"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6189478"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grpSp>
        <p:nvGrpSpPr>
          <p:cNvPr id="13" name="组合 12">
            <a:extLst>
              <a:ext uri="{FF2B5EF4-FFF2-40B4-BE49-F238E27FC236}">
                <a16:creationId xmlns:a16="http://schemas.microsoft.com/office/drawing/2014/main" id="{7EF6407D-242F-4333-98BB-949ADEF08079}"/>
              </a:ext>
            </a:extLst>
          </p:cNvPr>
          <p:cNvGrpSpPr/>
          <p:nvPr/>
        </p:nvGrpSpPr>
        <p:grpSpPr>
          <a:xfrm>
            <a:off x="2459856" y="1932927"/>
            <a:ext cx="2359724" cy="1341488"/>
            <a:chOff x="2459856" y="1932927"/>
            <a:chExt cx="2359724" cy="1341488"/>
          </a:xfrm>
        </p:grpSpPr>
        <p:sp>
          <p:nvSpPr>
            <p:cNvPr id="26" name="文本框 25">
              <a:extLst>
                <a:ext uri="{FF2B5EF4-FFF2-40B4-BE49-F238E27FC236}">
                  <a16:creationId xmlns:a16="http://schemas.microsoft.com/office/drawing/2014/main" id="{AA6B332E-9FAE-4A5C-B6C8-7C0CE3FB3915}"/>
                </a:ext>
              </a:extLst>
            </p:cNvPr>
            <p:cNvSpPr txBox="1"/>
            <p:nvPr/>
          </p:nvSpPr>
          <p:spPr>
            <a:xfrm>
              <a:off x="2459856" y="1932927"/>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2459856" y="2247852"/>
              <a:ext cx="2359724"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12" name="组合 11">
            <a:extLst>
              <a:ext uri="{FF2B5EF4-FFF2-40B4-BE49-F238E27FC236}">
                <a16:creationId xmlns:a16="http://schemas.microsoft.com/office/drawing/2014/main" id="{0769A6A1-A07E-4CC9-AB93-4A152B68D715}"/>
              </a:ext>
            </a:extLst>
          </p:cNvPr>
          <p:cNvGrpSpPr/>
          <p:nvPr/>
        </p:nvGrpSpPr>
        <p:grpSpPr>
          <a:xfrm>
            <a:off x="2425195" y="3639634"/>
            <a:ext cx="2429046" cy="1021400"/>
            <a:chOff x="2425195" y="3601645"/>
            <a:chExt cx="2429046"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2459856" y="3601645"/>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2425195" y="3916570"/>
              <a:ext cx="242904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设计自适应权重算法，优化策略资源分配实时性；</a:t>
              </a:r>
            </a:p>
          </p:txBody>
        </p:sp>
      </p:grpSp>
      <p:grpSp>
        <p:nvGrpSpPr>
          <p:cNvPr id="10" name="组合 9">
            <a:extLst>
              <a:ext uri="{FF2B5EF4-FFF2-40B4-BE49-F238E27FC236}">
                <a16:creationId xmlns:a16="http://schemas.microsoft.com/office/drawing/2014/main" id="{1521A6E8-F12F-4657-A394-9ECB173A8F42}"/>
              </a:ext>
            </a:extLst>
          </p:cNvPr>
          <p:cNvGrpSpPr/>
          <p:nvPr/>
        </p:nvGrpSpPr>
        <p:grpSpPr>
          <a:xfrm>
            <a:off x="2455468" y="5026252"/>
            <a:ext cx="2474816" cy="1021400"/>
            <a:chOff x="2455468" y="4950276"/>
            <a:chExt cx="2474816"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2459856" y="4950276"/>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2455468" y="5265201"/>
              <a:ext cx="247481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5247006" y="2020549"/>
            <a:ext cx="3977531" cy="1929525"/>
            <a:chOff x="4027743" y="2427031"/>
            <a:chExt cx="2603458"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4645" b="70009"/>
            <a:stretch/>
          </p:blipFill>
          <p:spPr bwMode="auto">
            <a:xfrm>
              <a:off x="5337545" y="2888048"/>
              <a:ext cx="1293656"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5163581" y="4227234"/>
            <a:ext cx="4103849" cy="1862296"/>
          </a:xfrm>
          <a:prstGeom prst="rect">
            <a:avLst/>
          </a:prstGeom>
          <a:noFill/>
          <a:extLst>
            <a:ext uri="{909E8E84-426E-40DD-AFC4-6F175D3DCCD1}">
              <a14:hiddenFill xmlns:a14="http://schemas.microsoft.com/office/drawing/2010/main">
                <a:solidFill>
                  <a:srgbClr val="FFFFFF"/>
                </a:solidFill>
              </a14:hiddenFill>
            </a:ext>
          </a:extLst>
        </p:spPr>
      </p:pic>
      <p:sp>
        <p:nvSpPr>
          <p:cNvPr id="121" name="文本框 120">
            <a:extLst>
              <a:ext uri="{FF2B5EF4-FFF2-40B4-BE49-F238E27FC236}">
                <a16:creationId xmlns:a16="http://schemas.microsoft.com/office/drawing/2014/main" id="{397D2973-2893-4DDE-BBAB-ED163194A9FB}"/>
              </a:ext>
            </a:extLst>
          </p:cNvPr>
          <p:cNvSpPr txBox="1"/>
          <p:nvPr/>
        </p:nvSpPr>
        <p:spPr>
          <a:xfrm>
            <a:off x="2209656" y="248670"/>
            <a:ext cx="633218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2.4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研究内容三：</a:t>
            </a:r>
            <a:r>
              <a:rPr lang="en-US" altLang="zh-CN" sz="2400" dirty="0">
                <a:solidFill>
                  <a:schemeClr val="accent1"/>
                </a:solidFill>
                <a:latin typeface="思源黑体 CN Bold" panose="020B0800000000000000" pitchFamily="34" charset="-122"/>
                <a:ea typeface="思源黑体 CN Bold" panose="020B0800000000000000" pitchFamily="34" charset="-122"/>
              </a:rPr>
              <a:t>DXSVDFB</a:t>
            </a:r>
            <a:r>
              <a:rPr lang="zh-CN" altLang="en-US" sz="2400" dirty="0">
                <a:solidFill>
                  <a:schemeClr val="accent1"/>
                </a:solidFill>
                <a:latin typeface="思源黑体 CN Bold" panose="020B0800000000000000" pitchFamily="34" charset="-122"/>
                <a:ea typeface="思源黑体 CN Bold" panose="020B0800000000000000" pitchFamily="34" charset="-122"/>
              </a:rPr>
              <a:t>策略构建与验证</a:t>
            </a:r>
          </a:p>
        </p:txBody>
      </p:sp>
      <p:sp>
        <p:nvSpPr>
          <p:cNvPr id="122" name="矩形 121">
            <a:extLst>
              <a:ext uri="{FF2B5EF4-FFF2-40B4-BE49-F238E27FC236}">
                <a16:creationId xmlns:a16="http://schemas.microsoft.com/office/drawing/2014/main" id="{FD90BDA2-03ED-4577-9653-11F51C36FDB4}"/>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文本框 122">
            <a:extLst>
              <a:ext uri="{FF2B5EF4-FFF2-40B4-BE49-F238E27FC236}">
                <a16:creationId xmlns:a16="http://schemas.microsoft.com/office/drawing/2014/main" id="{697F834A-E36A-4989-887D-9C6732E66A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34DA294B-113A-4CF5-B87E-87522597CD92}"/>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BC9E81FD-21AA-417D-8A3A-B9903A44A970}"/>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71368E05-8BB9-4577-8EEE-F1BBF6E8D7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054AF0B1-69C2-44BF-BE1C-4ED4CA96584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FAA6C295-DC7B-4234-83BE-8D60B77043B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9" name="文本框 128">
            <a:extLst>
              <a:ext uri="{FF2B5EF4-FFF2-40B4-BE49-F238E27FC236}">
                <a16:creationId xmlns:a16="http://schemas.microsoft.com/office/drawing/2014/main" id="{01393E1A-B472-4C5D-80A3-3510155A6097}"/>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0" name="任意矩形：004">
            <a:extLst>
              <a:ext uri="{FF2B5EF4-FFF2-40B4-BE49-F238E27FC236}">
                <a16:creationId xmlns:a16="http://schemas.microsoft.com/office/drawing/2014/main" id="{CED4B0F6-290A-464D-82CE-DD57E5A0FF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38B53B61-0566-4889-89B1-3A8EC60DC72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2" name="任意矩形：005">
            <a:extLst>
              <a:ext uri="{FF2B5EF4-FFF2-40B4-BE49-F238E27FC236}">
                <a16:creationId xmlns:a16="http://schemas.microsoft.com/office/drawing/2014/main" id="{3128317C-5D66-4DB7-8380-D03C5D51903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矩形: 圆角 134">
            <a:extLst>
              <a:ext uri="{FF2B5EF4-FFF2-40B4-BE49-F238E27FC236}">
                <a16:creationId xmlns:a16="http://schemas.microsoft.com/office/drawing/2014/main" id="{58364AF4-F5FE-4137-833C-E40099CC14A3}"/>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矩形: 圆角 135">
            <a:extLst>
              <a:ext uri="{FF2B5EF4-FFF2-40B4-BE49-F238E27FC236}">
                <a16:creationId xmlns:a16="http://schemas.microsoft.com/office/drawing/2014/main" id="{1FE1EB60-5B59-45ED-9925-52FB339BE1CF}"/>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7" name="矩形: 圆顶角 136">
            <a:extLst>
              <a:ext uri="{FF2B5EF4-FFF2-40B4-BE49-F238E27FC236}">
                <a16:creationId xmlns:a16="http://schemas.microsoft.com/office/drawing/2014/main" id="{1AB143C8-6401-4839-9F56-B4FA07FEA8A3}"/>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8" name="矩形: 圆角 137">
            <a:extLst>
              <a:ext uri="{FF2B5EF4-FFF2-40B4-BE49-F238E27FC236}">
                <a16:creationId xmlns:a16="http://schemas.microsoft.com/office/drawing/2014/main" id="{6887E3D6-5F04-4CD6-9105-99F04F63EA0C}"/>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9" name="矩形: 圆角 138">
            <a:extLst>
              <a:ext uri="{FF2B5EF4-FFF2-40B4-BE49-F238E27FC236}">
                <a16:creationId xmlns:a16="http://schemas.microsoft.com/office/drawing/2014/main" id="{75CF7401-57D5-4AA7-95C6-05BB3153AF35}"/>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40" name="箭头: 右 139">
            <a:extLst>
              <a:ext uri="{FF2B5EF4-FFF2-40B4-BE49-F238E27FC236}">
                <a16:creationId xmlns:a16="http://schemas.microsoft.com/office/drawing/2014/main" id="{1D02A628-C32A-436F-BF52-5F19E3D00663}"/>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7C207E5A-6F4B-4747-B068-A2DF7D09C322}"/>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08C9A9-3B97-4552-AA00-D603A6497FE0}"/>
              </a:ext>
            </a:extLst>
          </p:cNvPr>
          <p:cNvGrpSpPr/>
          <p:nvPr/>
        </p:nvGrpSpPr>
        <p:grpSpPr>
          <a:xfrm>
            <a:off x="9374192" y="2565442"/>
            <a:ext cx="288668" cy="2696347"/>
            <a:chOff x="9374192" y="2437453"/>
            <a:chExt cx="288668" cy="2696347"/>
          </a:xfrm>
        </p:grpSpPr>
        <p:sp>
          <p:nvSpPr>
            <p:cNvPr id="142" name="箭头: 右 141">
              <a:extLst>
                <a:ext uri="{FF2B5EF4-FFF2-40B4-BE49-F238E27FC236}">
                  <a16:creationId xmlns:a16="http://schemas.microsoft.com/office/drawing/2014/main" id="{968BC4B3-1952-4204-8037-F2B8FF5E2443}"/>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351B9E64-66F7-44E1-91B6-77FB19025183}"/>
                </a:ext>
              </a:extLst>
            </p:cNvPr>
            <p:cNvSpPr/>
            <p:nvPr/>
          </p:nvSpPr>
          <p:spPr>
            <a:xfrm>
              <a:off x="9374192" y="243745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文本框 143">
            <a:extLst>
              <a:ext uri="{FF2B5EF4-FFF2-40B4-BE49-F238E27FC236}">
                <a16:creationId xmlns:a16="http://schemas.microsoft.com/office/drawing/2014/main" id="{3476CD46-BB92-478C-95A8-CF7CD9AF95B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5" name="任意矩形：006">
            <a:extLst>
              <a:ext uri="{FF2B5EF4-FFF2-40B4-BE49-F238E27FC236}">
                <a16:creationId xmlns:a16="http://schemas.microsoft.com/office/drawing/2014/main" id="{AE3D6E5C-4B40-45DE-80A0-B22C983D5D8D}"/>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6616"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50304"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sp>
        <p:nvSpPr>
          <p:cNvPr id="25" name="文本框 24">
            <a:extLst>
              <a:ext uri="{FF2B5EF4-FFF2-40B4-BE49-F238E27FC236}">
                <a16:creationId xmlns:a16="http://schemas.microsoft.com/office/drawing/2014/main" id="{648F0C32-6652-49A2-A421-9D93B5241977}"/>
              </a:ext>
            </a:extLst>
          </p:cNvPr>
          <p:cNvSpPr txBox="1"/>
          <p:nvPr/>
        </p:nvSpPr>
        <p:spPr>
          <a:xfrm>
            <a:off x="2484111" y="1809943"/>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2396616"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2650304"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2484111" y="4895819"/>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8108008"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8361695"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8195503" y="1809943"/>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8108008"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8361695"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8195503" y="4895819"/>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93" name="文本框 92">
            <a:extLst>
              <a:ext uri="{FF2B5EF4-FFF2-40B4-BE49-F238E27FC236}">
                <a16:creationId xmlns:a16="http://schemas.microsoft.com/office/drawing/2014/main" id="{68A930E2-EE28-4BED-856C-7EA009EC290D}"/>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sp>
        <p:nvSpPr>
          <p:cNvPr id="94" name="矩形 93">
            <a:extLst>
              <a:ext uri="{FF2B5EF4-FFF2-40B4-BE49-F238E27FC236}">
                <a16:creationId xmlns:a16="http://schemas.microsoft.com/office/drawing/2014/main" id="{94A48F32-C9EE-4A91-B63E-0C9CF6022E78}"/>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144FAF0E-09E2-4122-A248-32765085589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0E2879A3-16B8-4E0B-8E08-3C71542FF16B}"/>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4B5598DC-4831-46B7-B13F-6D6435A02321}"/>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4077F8B8-318D-4A9D-BF31-A5E27A744099}"/>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2B57105E-3AA1-4D43-9703-CE81F3875A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8E8558AF-4F3E-48E5-AAAB-783D4927B39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EA4CAA90-5E9A-4FF7-9C3A-DAB3015842D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任意矩形：004">
            <a:extLst>
              <a:ext uri="{FF2B5EF4-FFF2-40B4-BE49-F238E27FC236}">
                <a16:creationId xmlns:a16="http://schemas.microsoft.com/office/drawing/2014/main" id="{74F604BD-FE67-457A-B2CD-F729F24FB4EB}"/>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文本框 115">
            <a:extLst>
              <a:ext uri="{FF2B5EF4-FFF2-40B4-BE49-F238E27FC236}">
                <a16:creationId xmlns:a16="http://schemas.microsoft.com/office/drawing/2014/main" id="{284BDD2B-89C2-4878-ABB1-20F3B25C063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任意矩形：005">
            <a:extLst>
              <a:ext uri="{FF2B5EF4-FFF2-40B4-BE49-F238E27FC236}">
                <a16:creationId xmlns:a16="http://schemas.microsoft.com/office/drawing/2014/main" id="{D996438C-6D1A-434C-9607-264DB45AD2C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7" name="组合 16">
            <a:extLst>
              <a:ext uri="{FF2B5EF4-FFF2-40B4-BE49-F238E27FC236}">
                <a16:creationId xmlns:a16="http://schemas.microsoft.com/office/drawing/2014/main" id="{6290AF55-6D22-4989-857D-A43119E655B2}"/>
              </a:ext>
            </a:extLst>
          </p:cNvPr>
          <p:cNvGrpSpPr/>
          <p:nvPr/>
        </p:nvGrpSpPr>
        <p:grpSpPr>
          <a:xfrm>
            <a:off x="6135055" y="2918461"/>
            <a:ext cx="1983010" cy="1984602"/>
            <a:chOff x="6135055" y="2918461"/>
            <a:chExt cx="1983010" cy="1984602"/>
          </a:xfrm>
        </p:grpSpPr>
        <p:grpSp>
          <p:nvGrpSpPr>
            <p:cNvPr id="15" name="组合 14">
              <a:extLst>
                <a:ext uri="{FF2B5EF4-FFF2-40B4-BE49-F238E27FC236}">
                  <a16:creationId xmlns:a16="http://schemas.microsoft.com/office/drawing/2014/main" id="{73F48008-6618-425C-9AB8-21E30E663281}"/>
                </a:ext>
              </a:extLst>
            </p:cNvPr>
            <p:cNvGrpSpPr/>
            <p:nvPr/>
          </p:nvGrpSpPr>
          <p:grpSpPr>
            <a:xfrm>
              <a:off x="7138506" y="3923504"/>
              <a:ext cx="979559" cy="979559"/>
              <a:chOff x="7138506" y="3923504"/>
              <a:chExt cx="979559" cy="979559"/>
            </a:xfrm>
          </p:grpSpPr>
          <p:sp>
            <p:nvSpPr>
              <p:cNvPr id="142" name="靖飞在肝PPT19">
                <a:extLst>
                  <a:ext uri="{FF2B5EF4-FFF2-40B4-BE49-F238E27FC236}">
                    <a16:creationId xmlns:a16="http://schemas.microsoft.com/office/drawing/2014/main" id="{B246A18C-23AD-47B3-96F4-C48E95A72BE2}"/>
                  </a:ext>
                </a:extLst>
              </p:cNvPr>
              <p:cNvSpPr/>
              <p:nvPr/>
            </p:nvSpPr>
            <p:spPr bwMode="auto">
              <a:xfrm>
                <a:off x="7138506" y="3923504"/>
                <a:ext cx="979559" cy="979559"/>
              </a:xfrm>
              <a:custGeom>
                <a:avLst/>
                <a:gdLst>
                  <a:gd name="T0" fmla="*/ 1208 w 1230"/>
                  <a:gd name="T1" fmla="*/ 134 h 1230"/>
                  <a:gd name="T2" fmla="*/ 1228 w 1230"/>
                  <a:gd name="T3" fmla="*/ 102 h 1230"/>
                  <a:gd name="T4" fmla="*/ 1228 w 1230"/>
                  <a:gd name="T5" fmla="*/ 66 h 1230"/>
                  <a:gd name="T6" fmla="*/ 1218 w 1230"/>
                  <a:gd name="T7" fmla="*/ 38 h 1230"/>
                  <a:gd name="T8" fmla="*/ 1192 w 1230"/>
                  <a:gd name="T9" fmla="*/ 12 h 1230"/>
                  <a:gd name="T10" fmla="*/ 1156 w 1230"/>
                  <a:gd name="T11" fmla="*/ 0 h 1230"/>
                  <a:gd name="T12" fmla="*/ 452 w 1230"/>
                  <a:gd name="T13" fmla="*/ 0 h 1230"/>
                  <a:gd name="T14" fmla="*/ 422 w 1230"/>
                  <a:gd name="T15" fmla="*/ 6 h 1230"/>
                  <a:gd name="T16" fmla="*/ 396 w 1230"/>
                  <a:gd name="T17" fmla="*/ 22 h 1230"/>
                  <a:gd name="T18" fmla="*/ 108 w 1230"/>
                  <a:gd name="T19" fmla="*/ 312 h 1230"/>
                  <a:gd name="T20" fmla="*/ 102 w 1230"/>
                  <a:gd name="T21" fmla="*/ 318 h 1230"/>
                  <a:gd name="T22" fmla="*/ 68 w 1230"/>
                  <a:gd name="T23" fmla="*/ 364 h 1230"/>
                  <a:gd name="T24" fmla="*/ 68 w 1230"/>
                  <a:gd name="T25" fmla="*/ 364 h 1230"/>
                  <a:gd name="T26" fmla="*/ 56 w 1230"/>
                  <a:gd name="T27" fmla="*/ 364 h 1230"/>
                  <a:gd name="T28" fmla="*/ 26 w 1230"/>
                  <a:gd name="T29" fmla="*/ 392 h 1230"/>
                  <a:gd name="T30" fmla="*/ 6 w 1230"/>
                  <a:gd name="T31" fmla="*/ 426 h 1230"/>
                  <a:gd name="T32" fmla="*/ 0 w 1230"/>
                  <a:gd name="T33" fmla="*/ 454 h 1230"/>
                  <a:gd name="T34" fmla="*/ 2 w 1230"/>
                  <a:gd name="T35" fmla="*/ 1156 h 1230"/>
                  <a:gd name="T36" fmla="*/ 12 w 1230"/>
                  <a:gd name="T37" fmla="*/ 1188 h 1230"/>
                  <a:gd name="T38" fmla="*/ 30 w 1230"/>
                  <a:gd name="T39" fmla="*/ 1208 h 1230"/>
                  <a:gd name="T40" fmla="*/ 74 w 1230"/>
                  <a:gd name="T41" fmla="*/ 1228 h 1230"/>
                  <a:gd name="T42" fmla="*/ 120 w 1230"/>
                  <a:gd name="T43" fmla="*/ 1218 h 1230"/>
                  <a:gd name="T44" fmla="*/ 162 w 1230"/>
                  <a:gd name="T45" fmla="*/ 1182 h 1230"/>
                  <a:gd name="T46" fmla="*/ 452 w 1230"/>
                  <a:gd name="T47" fmla="*/ 890 h 1230"/>
                  <a:gd name="T48" fmla="*/ 496 w 1230"/>
                  <a:gd name="T49" fmla="*/ 864 h 1230"/>
                  <a:gd name="T50" fmla="*/ 542 w 1230"/>
                  <a:gd name="T51" fmla="*/ 868 h 1230"/>
                  <a:gd name="T52" fmla="*/ 572 w 1230"/>
                  <a:gd name="T53" fmla="*/ 888 h 1230"/>
                  <a:gd name="T54" fmla="*/ 666 w 1230"/>
                  <a:gd name="T55" fmla="*/ 982 h 1230"/>
                  <a:gd name="T56" fmla="*/ 674 w 1230"/>
                  <a:gd name="T57" fmla="*/ 1006 h 1230"/>
                  <a:gd name="T58" fmla="*/ 666 w 1230"/>
                  <a:gd name="T59" fmla="*/ 1028 h 1230"/>
                  <a:gd name="T60" fmla="*/ 632 w 1230"/>
                  <a:gd name="T61" fmla="*/ 1064 h 1230"/>
                  <a:gd name="T62" fmla="*/ 594 w 1230"/>
                  <a:gd name="T63" fmla="*/ 1104 h 1230"/>
                  <a:gd name="T64" fmla="*/ 588 w 1230"/>
                  <a:gd name="T65" fmla="*/ 1134 h 1230"/>
                  <a:gd name="T66" fmla="*/ 598 w 1230"/>
                  <a:gd name="T67" fmla="*/ 1152 h 1230"/>
                  <a:gd name="T68" fmla="*/ 632 w 1230"/>
                  <a:gd name="T69" fmla="*/ 1164 h 1230"/>
                  <a:gd name="T70" fmla="*/ 1122 w 1230"/>
                  <a:gd name="T71" fmla="*/ 1164 h 1230"/>
                  <a:gd name="T72" fmla="*/ 1148 w 1230"/>
                  <a:gd name="T73" fmla="*/ 1158 h 1230"/>
                  <a:gd name="T74" fmla="*/ 1162 w 1230"/>
                  <a:gd name="T75" fmla="*/ 1140 h 1230"/>
                  <a:gd name="T76" fmla="*/ 1166 w 1230"/>
                  <a:gd name="T77" fmla="*/ 1120 h 1230"/>
                  <a:gd name="T78" fmla="*/ 1164 w 1230"/>
                  <a:gd name="T79" fmla="*/ 618 h 1230"/>
                  <a:gd name="T80" fmla="*/ 1150 w 1230"/>
                  <a:gd name="T81" fmla="*/ 592 h 1230"/>
                  <a:gd name="T82" fmla="*/ 1130 w 1230"/>
                  <a:gd name="T83" fmla="*/ 586 h 1230"/>
                  <a:gd name="T84" fmla="*/ 1094 w 1230"/>
                  <a:gd name="T85" fmla="*/ 602 h 1230"/>
                  <a:gd name="T86" fmla="*/ 1038 w 1230"/>
                  <a:gd name="T87" fmla="*/ 658 h 1230"/>
                  <a:gd name="T88" fmla="*/ 1022 w 1230"/>
                  <a:gd name="T89" fmla="*/ 670 h 1230"/>
                  <a:gd name="T90" fmla="*/ 1000 w 1230"/>
                  <a:gd name="T91" fmla="*/ 672 h 1230"/>
                  <a:gd name="T92" fmla="*/ 976 w 1230"/>
                  <a:gd name="T93" fmla="*/ 658 h 1230"/>
                  <a:gd name="T94" fmla="*/ 904 w 1230"/>
                  <a:gd name="T95" fmla="*/ 586 h 1230"/>
                  <a:gd name="T96" fmla="*/ 866 w 1230"/>
                  <a:gd name="T97" fmla="*/ 530 h 1230"/>
                  <a:gd name="T98" fmla="*/ 864 w 1230"/>
                  <a:gd name="T99" fmla="*/ 504 h 1230"/>
                  <a:gd name="T100" fmla="*/ 886 w 1230"/>
                  <a:gd name="T101" fmla="*/ 458 h 1230"/>
                  <a:gd name="T102" fmla="*/ 1200 w 1230"/>
                  <a:gd name="T103" fmla="*/ 144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0" h="1230">
                    <a:moveTo>
                      <a:pt x="1200" y="144"/>
                    </a:moveTo>
                    <a:lnTo>
                      <a:pt x="1200" y="144"/>
                    </a:lnTo>
                    <a:lnTo>
                      <a:pt x="1208" y="134"/>
                    </a:lnTo>
                    <a:lnTo>
                      <a:pt x="1216" y="124"/>
                    </a:lnTo>
                    <a:lnTo>
                      <a:pt x="1222" y="112"/>
                    </a:lnTo>
                    <a:lnTo>
                      <a:pt x="1228" y="102"/>
                    </a:lnTo>
                    <a:lnTo>
                      <a:pt x="1230" y="90"/>
                    </a:lnTo>
                    <a:lnTo>
                      <a:pt x="1230" y="78"/>
                    </a:lnTo>
                    <a:lnTo>
                      <a:pt x="1228" y="66"/>
                    </a:lnTo>
                    <a:lnTo>
                      <a:pt x="1224" y="52"/>
                    </a:lnTo>
                    <a:lnTo>
                      <a:pt x="1224" y="52"/>
                    </a:lnTo>
                    <a:lnTo>
                      <a:pt x="1218" y="38"/>
                    </a:lnTo>
                    <a:lnTo>
                      <a:pt x="1212" y="28"/>
                    </a:lnTo>
                    <a:lnTo>
                      <a:pt x="1202" y="18"/>
                    </a:lnTo>
                    <a:lnTo>
                      <a:pt x="1192" y="12"/>
                    </a:lnTo>
                    <a:lnTo>
                      <a:pt x="1182" y="6"/>
                    </a:lnTo>
                    <a:lnTo>
                      <a:pt x="1168" y="2"/>
                    </a:lnTo>
                    <a:lnTo>
                      <a:pt x="1156" y="0"/>
                    </a:lnTo>
                    <a:lnTo>
                      <a:pt x="1142" y="0"/>
                    </a:lnTo>
                    <a:lnTo>
                      <a:pt x="1142" y="0"/>
                    </a:lnTo>
                    <a:lnTo>
                      <a:pt x="452" y="0"/>
                    </a:lnTo>
                    <a:lnTo>
                      <a:pt x="452" y="0"/>
                    </a:lnTo>
                    <a:lnTo>
                      <a:pt x="436" y="2"/>
                    </a:lnTo>
                    <a:lnTo>
                      <a:pt x="422" y="6"/>
                    </a:lnTo>
                    <a:lnTo>
                      <a:pt x="408" y="12"/>
                    </a:lnTo>
                    <a:lnTo>
                      <a:pt x="396" y="22"/>
                    </a:lnTo>
                    <a:lnTo>
                      <a:pt x="396" y="22"/>
                    </a:lnTo>
                    <a:lnTo>
                      <a:pt x="144" y="276"/>
                    </a:lnTo>
                    <a:lnTo>
                      <a:pt x="144" y="276"/>
                    </a:lnTo>
                    <a:lnTo>
                      <a:pt x="108" y="312"/>
                    </a:lnTo>
                    <a:lnTo>
                      <a:pt x="108" y="312"/>
                    </a:lnTo>
                    <a:lnTo>
                      <a:pt x="102" y="318"/>
                    </a:lnTo>
                    <a:lnTo>
                      <a:pt x="102" y="318"/>
                    </a:lnTo>
                    <a:lnTo>
                      <a:pt x="58" y="362"/>
                    </a:lnTo>
                    <a:lnTo>
                      <a:pt x="58" y="362"/>
                    </a:lnTo>
                    <a:lnTo>
                      <a:pt x="68" y="364"/>
                    </a:lnTo>
                    <a:lnTo>
                      <a:pt x="76" y="364"/>
                    </a:lnTo>
                    <a:lnTo>
                      <a:pt x="76" y="364"/>
                    </a:lnTo>
                    <a:lnTo>
                      <a:pt x="68" y="364"/>
                    </a:lnTo>
                    <a:lnTo>
                      <a:pt x="58" y="362"/>
                    </a:lnTo>
                    <a:lnTo>
                      <a:pt x="58" y="362"/>
                    </a:lnTo>
                    <a:lnTo>
                      <a:pt x="56" y="364"/>
                    </a:lnTo>
                    <a:lnTo>
                      <a:pt x="56" y="364"/>
                    </a:lnTo>
                    <a:lnTo>
                      <a:pt x="36" y="382"/>
                    </a:lnTo>
                    <a:lnTo>
                      <a:pt x="26" y="392"/>
                    </a:lnTo>
                    <a:lnTo>
                      <a:pt x="18" y="402"/>
                    </a:lnTo>
                    <a:lnTo>
                      <a:pt x="10" y="414"/>
                    </a:lnTo>
                    <a:lnTo>
                      <a:pt x="6" y="426"/>
                    </a:lnTo>
                    <a:lnTo>
                      <a:pt x="2" y="440"/>
                    </a:lnTo>
                    <a:lnTo>
                      <a:pt x="0" y="454"/>
                    </a:lnTo>
                    <a:lnTo>
                      <a:pt x="0" y="454"/>
                    </a:lnTo>
                    <a:lnTo>
                      <a:pt x="2" y="1142"/>
                    </a:lnTo>
                    <a:lnTo>
                      <a:pt x="2" y="1142"/>
                    </a:lnTo>
                    <a:lnTo>
                      <a:pt x="2" y="1156"/>
                    </a:lnTo>
                    <a:lnTo>
                      <a:pt x="4" y="1170"/>
                    </a:lnTo>
                    <a:lnTo>
                      <a:pt x="8" y="1182"/>
                    </a:lnTo>
                    <a:lnTo>
                      <a:pt x="12" y="1188"/>
                    </a:lnTo>
                    <a:lnTo>
                      <a:pt x="18" y="1194"/>
                    </a:lnTo>
                    <a:lnTo>
                      <a:pt x="18" y="1194"/>
                    </a:lnTo>
                    <a:lnTo>
                      <a:pt x="30" y="1208"/>
                    </a:lnTo>
                    <a:lnTo>
                      <a:pt x="44" y="1218"/>
                    </a:lnTo>
                    <a:lnTo>
                      <a:pt x="58" y="1226"/>
                    </a:lnTo>
                    <a:lnTo>
                      <a:pt x="74" y="1228"/>
                    </a:lnTo>
                    <a:lnTo>
                      <a:pt x="90" y="1230"/>
                    </a:lnTo>
                    <a:lnTo>
                      <a:pt x="104" y="1226"/>
                    </a:lnTo>
                    <a:lnTo>
                      <a:pt x="120" y="1218"/>
                    </a:lnTo>
                    <a:lnTo>
                      <a:pt x="134" y="1208"/>
                    </a:lnTo>
                    <a:lnTo>
                      <a:pt x="134" y="1208"/>
                    </a:lnTo>
                    <a:lnTo>
                      <a:pt x="162" y="1182"/>
                    </a:lnTo>
                    <a:lnTo>
                      <a:pt x="162" y="1182"/>
                    </a:lnTo>
                    <a:lnTo>
                      <a:pt x="452" y="890"/>
                    </a:lnTo>
                    <a:lnTo>
                      <a:pt x="452" y="890"/>
                    </a:lnTo>
                    <a:lnTo>
                      <a:pt x="466" y="878"/>
                    </a:lnTo>
                    <a:lnTo>
                      <a:pt x="482" y="870"/>
                    </a:lnTo>
                    <a:lnTo>
                      <a:pt x="496" y="864"/>
                    </a:lnTo>
                    <a:lnTo>
                      <a:pt x="512" y="862"/>
                    </a:lnTo>
                    <a:lnTo>
                      <a:pt x="528" y="864"/>
                    </a:lnTo>
                    <a:lnTo>
                      <a:pt x="542" y="868"/>
                    </a:lnTo>
                    <a:lnTo>
                      <a:pt x="558" y="876"/>
                    </a:lnTo>
                    <a:lnTo>
                      <a:pt x="572" y="888"/>
                    </a:lnTo>
                    <a:lnTo>
                      <a:pt x="572" y="888"/>
                    </a:lnTo>
                    <a:lnTo>
                      <a:pt x="658" y="976"/>
                    </a:lnTo>
                    <a:lnTo>
                      <a:pt x="658" y="976"/>
                    </a:lnTo>
                    <a:lnTo>
                      <a:pt x="666" y="982"/>
                    </a:lnTo>
                    <a:lnTo>
                      <a:pt x="670" y="990"/>
                    </a:lnTo>
                    <a:lnTo>
                      <a:pt x="672" y="998"/>
                    </a:lnTo>
                    <a:lnTo>
                      <a:pt x="674" y="1006"/>
                    </a:lnTo>
                    <a:lnTo>
                      <a:pt x="674" y="1014"/>
                    </a:lnTo>
                    <a:lnTo>
                      <a:pt x="670" y="1020"/>
                    </a:lnTo>
                    <a:lnTo>
                      <a:pt x="666" y="1028"/>
                    </a:lnTo>
                    <a:lnTo>
                      <a:pt x="660" y="1036"/>
                    </a:lnTo>
                    <a:lnTo>
                      <a:pt x="660" y="1036"/>
                    </a:lnTo>
                    <a:lnTo>
                      <a:pt x="632" y="1064"/>
                    </a:lnTo>
                    <a:lnTo>
                      <a:pt x="602" y="1094"/>
                    </a:lnTo>
                    <a:lnTo>
                      <a:pt x="602" y="1094"/>
                    </a:lnTo>
                    <a:lnTo>
                      <a:pt x="594" y="1104"/>
                    </a:lnTo>
                    <a:lnTo>
                      <a:pt x="588" y="1116"/>
                    </a:lnTo>
                    <a:lnTo>
                      <a:pt x="586" y="1128"/>
                    </a:lnTo>
                    <a:lnTo>
                      <a:pt x="588" y="1134"/>
                    </a:lnTo>
                    <a:lnTo>
                      <a:pt x="590" y="1142"/>
                    </a:lnTo>
                    <a:lnTo>
                      <a:pt x="590" y="1142"/>
                    </a:lnTo>
                    <a:lnTo>
                      <a:pt x="598" y="1152"/>
                    </a:lnTo>
                    <a:lnTo>
                      <a:pt x="608" y="1160"/>
                    </a:lnTo>
                    <a:lnTo>
                      <a:pt x="620" y="1164"/>
                    </a:lnTo>
                    <a:lnTo>
                      <a:pt x="632" y="1164"/>
                    </a:lnTo>
                    <a:lnTo>
                      <a:pt x="632" y="1164"/>
                    </a:lnTo>
                    <a:lnTo>
                      <a:pt x="1122" y="1164"/>
                    </a:lnTo>
                    <a:lnTo>
                      <a:pt x="1122" y="1164"/>
                    </a:lnTo>
                    <a:lnTo>
                      <a:pt x="1132" y="1164"/>
                    </a:lnTo>
                    <a:lnTo>
                      <a:pt x="1142" y="1162"/>
                    </a:lnTo>
                    <a:lnTo>
                      <a:pt x="1148" y="1158"/>
                    </a:lnTo>
                    <a:lnTo>
                      <a:pt x="1154" y="1154"/>
                    </a:lnTo>
                    <a:lnTo>
                      <a:pt x="1160" y="1148"/>
                    </a:lnTo>
                    <a:lnTo>
                      <a:pt x="1162" y="1140"/>
                    </a:lnTo>
                    <a:lnTo>
                      <a:pt x="1164" y="1130"/>
                    </a:lnTo>
                    <a:lnTo>
                      <a:pt x="1166" y="1120"/>
                    </a:lnTo>
                    <a:lnTo>
                      <a:pt x="1166" y="1120"/>
                    </a:lnTo>
                    <a:lnTo>
                      <a:pt x="1166" y="632"/>
                    </a:lnTo>
                    <a:lnTo>
                      <a:pt x="1166" y="632"/>
                    </a:lnTo>
                    <a:lnTo>
                      <a:pt x="1164" y="618"/>
                    </a:lnTo>
                    <a:lnTo>
                      <a:pt x="1162" y="606"/>
                    </a:lnTo>
                    <a:lnTo>
                      <a:pt x="1154" y="596"/>
                    </a:lnTo>
                    <a:lnTo>
                      <a:pt x="1150" y="592"/>
                    </a:lnTo>
                    <a:lnTo>
                      <a:pt x="1144" y="590"/>
                    </a:lnTo>
                    <a:lnTo>
                      <a:pt x="1144" y="590"/>
                    </a:lnTo>
                    <a:lnTo>
                      <a:pt x="1130" y="586"/>
                    </a:lnTo>
                    <a:lnTo>
                      <a:pt x="1118" y="586"/>
                    </a:lnTo>
                    <a:lnTo>
                      <a:pt x="1106" y="592"/>
                    </a:lnTo>
                    <a:lnTo>
                      <a:pt x="1094" y="602"/>
                    </a:lnTo>
                    <a:lnTo>
                      <a:pt x="1094" y="602"/>
                    </a:lnTo>
                    <a:lnTo>
                      <a:pt x="1066" y="630"/>
                    </a:lnTo>
                    <a:lnTo>
                      <a:pt x="1038" y="658"/>
                    </a:lnTo>
                    <a:lnTo>
                      <a:pt x="1038" y="658"/>
                    </a:lnTo>
                    <a:lnTo>
                      <a:pt x="1030" y="664"/>
                    </a:lnTo>
                    <a:lnTo>
                      <a:pt x="1022" y="670"/>
                    </a:lnTo>
                    <a:lnTo>
                      <a:pt x="1014" y="672"/>
                    </a:lnTo>
                    <a:lnTo>
                      <a:pt x="1006" y="672"/>
                    </a:lnTo>
                    <a:lnTo>
                      <a:pt x="1000" y="672"/>
                    </a:lnTo>
                    <a:lnTo>
                      <a:pt x="992" y="668"/>
                    </a:lnTo>
                    <a:lnTo>
                      <a:pt x="984" y="664"/>
                    </a:lnTo>
                    <a:lnTo>
                      <a:pt x="976" y="658"/>
                    </a:lnTo>
                    <a:lnTo>
                      <a:pt x="976" y="658"/>
                    </a:lnTo>
                    <a:lnTo>
                      <a:pt x="904" y="586"/>
                    </a:lnTo>
                    <a:lnTo>
                      <a:pt x="904" y="586"/>
                    </a:lnTo>
                    <a:lnTo>
                      <a:pt x="886" y="566"/>
                    </a:lnTo>
                    <a:lnTo>
                      <a:pt x="874" y="546"/>
                    </a:lnTo>
                    <a:lnTo>
                      <a:pt x="866" y="530"/>
                    </a:lnTo>
                    <a:lnTo>
                      <a:pt x="864" y="520"/>
                    </a:lnTo>
                    <a:lnTo>
                      <a:pt x="862" y="512"/>
                    </a:lnTo>
                    <a:lnTo>
                      <a:pt x="864" y="504"/>
                    </a:lnTo>
                    <a:lnTo>
                      <a:pt x="866" y="494"/>
                    </a:lnTo>
                    <a:lnTo>
                      <a:pt x="874" y="478"/>
                    </a:lnTo>
                    <a:lnTo>
                      <a:pt x="886" y="458"/>
                    </a:lnTo>
                    <a:lnTo>
                      <a:pt x="904" y="438"/>
                    </a:lnTo>
                    <a:lnTo>
                      <a:pt x="904" y="438"/>
                    </a:lnTo>
                    <a:lnTo>
                      <a:pt x="1200" y="144"/>
                    </a:lnTo>
                    <a:lnTo>
                      <a:pt x="1200" y="14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8" name="靖飞在肝PPT22-1">
                <a:extLst>
                  <a:ext uri="{FF2B5EF4-FFF2-40B4-BE49-F238E27FC236}">
                    <a16:creationId xmlns:a16="http://schemas.microsoft.com/office/drawing/2014/main" id="{B6CFB8F7-5C80-4859-9FAC-9617E4B94DE2}"/>
                  </a:ext>
                </a:extLst>
              </p:cNvPr>
              <p:cNvSpPr txBox="1"/>
              <p:nvPr/>
            </p:nvSpPr>
            <p:spPr>
              <a:xfrm rot="18900000">
                <a:off x="7607042"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4</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3" name="组合 12">
              <a:extLst>
                <a:ext uri="{FF2B5EF4-FFF2-40B4-BE49-F238E27FC236}">
                  <a16:creationId xmlns:a16="http://schemas.microsoft.com/office/drawing/2014/main" id="{1FD02EFA-3292-4D84-B145-A6AFB9371D19}"/>
                </a:ext>
              </a:extLst>
            </p:cNvPr>
            <p:cNvGrpSpPr/>
            <p:nvPr/>
          </p:nvGrpSpPr>
          <p:grpSpPr>
            <a:xfrm>
              <a:off x="6135055" y="2918461"/>
              <a:ext cx="979559" cy="979559"/>
              <a:chOff x="6135055" y="2918461"/>
              <a:chExt cx="979559" cy="979559"/>
            </a:xfrm>
          </p:grpSpPr>
          <p:sp>
            <p:nvSpPr>
              <p:cNvPr id="141" name="靖飞在肝PPT18">
                <a:extLst>
                  <a:ext uri="{FF2B5EF4-FFF2-40B4-BE49-F238E27FC236}">
                    <a16:creationId xmlns:a16="http://schemas.microsoft.com/office/drawing/2014/main" id="{AAB20313-872E-4DE8-A988-3BEB8E7FC1A3}"/>
                  </a:ext>
                </a:extLst>
              </p:cNvPr>
              <p:cNvSpPr>
                <a:spLocks noEditPoints="1"/>
              </p:cNvSpPr>
              <p:nvPr/>
            </p:nvSpPr>
            <p:spPr bwMode="auto">
              <a:xfrm>
                <a:off x="6135055" y="2918461"/>
                <a:ext cx="979559" cy="979559"/>
              </a:xfrm>
              <a:custGeom>
                <a:avLst/>
                <a:gdLst>
                  <a:gd name="T0" fmla="*/ 1228 w 1230"/>
                  <a:gd name="T1" fmla="*/ 590 h 1230"/>
                  <a:gd name="T2" fmla="*/ 1230 w 1230"/>
                  <a:gd name="T3" fmla="*/ 92 h 1230"/>
                  <a:gd name="T4" fmla="*/ 1218 w 1230"/>
                  <a:gd name="T5" fmla="*/ 40 h 1230"/>
                  <a:gd name="T6" fmla="*/ 1180 w 1230"/>
                  <a:gd name="T7" fmla="*/ 8 h 1230"/>
                  <a:gd name="T8" fmla="*/ 1142 w 1230"/>
                  <a:gd name="T9" fmla="*/ 0 h 1230"/>
                  <a:gd name="T10" fmla="*/ 1096 w 1230"/>
                  <a:gd name="T11" fmla="*/ 22 h 1230"/>
                  <a:gd name="T12" fmla="*/ 774 w 1230"/>
                  <a:gd name="T13" fmla="*/ 340 h 1230"/>
                  <a:gd name="T14" fmla="*/ 722 w 1230"/>
                  <a:gd name="T15" fmla="*/ 368 h 1230"/>
                  <a:gd name="T16" fmla="*/ 668 w 1230"/>
                  <a:gd name="T17" fmla="*/ 348 h 1230"/>
                  <a:gd name="T18" fmla="*/ 570 w 1230"/>
                  <a:gd name="T19" fmla="*/ 250 h 1230"/>
                  <a:gd name="T20" fmla="*/ 558 w 1230"/>
                  <a:gd name="T21" fmla="*/ 230 h 1230"/>
                  <a:gd name="T22" fmla="*/ 566 w 1230"/>
                  <a:gd name="T23" fmla="*/ 204 h 1230"/>
                  <a:gd name="T24" fmla="*/ 634 w 1230"/>
                  <a:gd name="T25" fmla="*/ 130 h 1230"/>
                  <a:gd name="T26" fmla="*/ 644 w 1230"/>
                  <a:gd name="T27" fmla="*/ 98 h 1230"/>
                  <a:gd name="T28" fmla="*/ 628 w 1230"/>
                  <a:gd name="T29" fmla="*/ 72 h 1230"/>
                  <a:gd name="T30" fmla="*/ 586 w 1230"/>
                  <a:gd name="T31" fmla="*/ 66 h 1230"/>
                  <a:gd name="T32" fmla="*/ 106 w 1230"/>
                  <a:gd name="T33" fmla="*/ 66 h 1230"/>
                  <a:gd name="T34" fmla="*/ 70 w 1230"/>
                  <a:gd name="T35" fmla="*/ 84 h 1230"/>
                  <a:gd name="T36" fmla="*/ 66 w 1230"/>
                  <a:gd name="T37" fmla="*/ 122 h 1230"/>
                  <a:gd name="T38" fmla="*/ 66 w 1230"/>
                  <a:gd name="T39" fmla="*/ 614 h 1230"/>
                  <a:gd name="T40" fmla="*/ 84 w 1230"/>
                  <a:gd name="T41" fmla="*/ 642 h 1230"/>
                  <a:gd name="T42" fmla="*/ 124 w 1230"/>
                  <a:gd name="T43" fmla="*/ 640 h 1230"/>
                  <a:gd name="T44" fmla="*/ 198 w 1230"/>
                  <a:gd name="T45" fmla="*/ 572 h 1230"/>
                  <a:gd name="T46" fmla="*/ 222 w 1230"/>
                  <a:gd name="T47" fmla="*/ 560 h 1230"/>
                  <a:gd name="T48" fmla="*/ 248 w 1230"/>
                  <a:gd name="T49" fmla="*/ 572 h 1230"/>
                  <a:gd name="T50" fmla="*/ 332 w 1230"/>
                  <a:gd name="T51" fmla="*/ 652 h 1230"/>
                  <a:gd name="T52" fmla="*/ 366 w 1230"/>
                  <a:gd name="T53" fmla="*/ 718 h 1230"/>
                  <a:gd name="T54" fmla="*/ 330 w 1230"/>
                  <a:gd name="T55" fmla="*/ 784 h 1230"/>
                  <a:gd name="T56" fmla="*/ 22 w 1230"/>
                  <a:gd name="T57" fmla="*/ 1094 h 1230"/>
                  <a:gd name="T58" fmla="*/ 0 w 1230"/>
                  <a:gd name="T59" fmla="*/ 1142 h 1230"/>
                  <a:gd name="T60" fmla="*/ 8 w 1230"/>
                  <a:gd name="T61" fmla="*/ 1182 h 1230"/>
                  <a:gd name="T62" fmla="*/ 42 w 1230"/>
                  <a:gd name="T63" fmla="*/ 1220 h 1230"/>
                  <a:gd name="T64" fmla="*/ 94 w 1230"/>
                  <a:gd name="T65" fmla="*/ 1230 h 1230"/>
                  <a:gd name="T66" fmla="*/ 792 w 1230"/>
                  <a:gd name="T67" fmla="*/ 1228 h 1230"/>
                  <a:gd name="T68" fmla="*/ 838 w 1230"/>
                  <a:gd name="T69" fmla="*/ 1204 h 1230"/>
                  <a:gd name="T70" fmla="*/ 1174 w 1230"/>
                  <a:gd name="T71" fmla="*/ 870 h 1230"/>
                  <a:gd name="T72" fmla="*/ 1224 w 1230"/>
                  <a:gd name="T73" fmla="*/ 800 h 1230"/>
                  <a:gd name="T74" fmla="*/ 1230 w 1230"/>
                  <a:gd name="T75" fmla="*/ 746 h 1230"/>
                  <a:gd name="T76" fmla="*/ 738 w 1230"/>
                  <a:gd name="T77" fmla="*/ 754 h 1230"/>
                  <a:gd name="T78" fmla="*/ 738 w 1230"/>
                  <a:gd name="T79" fmla="*/ 740 h 1230"/>
                  <a:gd name="T80" fmla="*/ 692 w 1230"/>
                  <a:gd name="T81" fmla="*/ 728 h 1230"/>
                  <a:gd name="T82" fmla="*/ 696 w 1230"/>
                  <a:gd name="T83" fmla="*/ 716 h 1230"/>
                  <a:gd name="T84" fmla="*/ 702 w 1230"/>
                  <a:gd name="T85" fmla="*/ 706 h 1230"/>
                  <a:gd name="T86" fmla="*/ 708 w 1230"/>
                  <a:gd name="T87" fmla="*/ 686 h 1230"/>
                  <a:gd name="T88" fmla="*/ 706 w 1230"/>
                  <a:gd name="T89" fmla="*/ 690 h 1230"/>
                  <a:gd name="T90" fmla="*/ 726 w 1230"/>
                  <a:gd name="T91" fmla="*/ 726 h 1230"/>
                  <a:gd name="T92" fmla="*/ 726 w 1230"/>
                  <a:gd name="T93" fmla="*/ 726 h 1230"/>
                  <a:gd name="T94" fmla="*/ 724 w 1230"/>
                  <a:gd name="T95" fmla="*/ 774 h 1230"/>
                  <a:gd name="T96" fmla="*/ 742 w 1230"/>
                  <a:gd name="T97" fmla="*/ 784 h 1230"/>
                  <a:gd name="T98" fmla="*/ 730 w 1230"/>
                  <a:gd name="T99" fmla="*/ 776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30" h="1230">
                    <a:moveTo>
                      <a:pt x="1230" y="746"/>
                    </a:moveTo>
                    <a:lnTo>
                      <a:pt x="1230" y="746"/>
                    </a:lnTo>
                    <a:lnTo>
                      <a:pt x="1228" y="668"/>
                    </a:lnTo>
                    <a:lnTo>
                      <a:pt x="1228" y="590"/>
                    </a:lnTo>
                    <a:lnTo>
                      <a:pt x="1230" y="434"/>
                    </a:lnTo>
                    <a:lnTo>
                      <a:pt x="1230" y="434"/>
                    </a:lnTo>
                    <a:lnTo>
                      <a:pt x="1230" y="92"/>
                    </a:lnTo>
                    <a:lnTo>
                      <a:pt x="1230" y="92"/>
                    </a:lnTo>
                    <a:lnTo>
                      <a:pt x="1228" y="78"/>
                    </a:lnTo>
                    <a:lnTo>
                      <a:pt x="1226" y="64"/>
                    </a:lnTo>
                    <a:lnTo>
                      <a:pt x="1224" y="52"/>
                    </a:lnTo>
                    <a:lnTo>
                      <a:pt x="1218" y="40"/>
                    </a:lnTo>
                    <a:lnTo>
                      <a:pt x="1212" y="30"/>
                    </a:lnTo>
                    <a:lnTo>
                      <a:pt x="1204" y="22"/>
                    </a:lnTo>
                    <a:lnTo>
                      <a:pt x="1192" y="14"/>
                    </a:lnTo>
                    <a:lnTo>
                      <a:pt x="1180" y="8"/>
                    </a:lnTo>
                    <a:lnTo>
                      <a:pt x="1180" y="8"/>
                    </a:lnTo>
                    <a:lnTo>
                      <a:pt x="1166" y="2"/>
                    </a:lnTo>
                    <a:lnTo>
                      <a:pt x="1154" y="0"/>
                    </a:lnTo>
                    <a:lnTo>
                      <a:pt x="1142" y="0"/>
                    </a:lnTo>
                    <a:lnTo>
                      <a:pt x="1130" y="2"/>
                    </a:lnTo>
                    <a:lnTo>
                      <a:pt x="1118" y="8"/>
                    </a:lnTo>
                    <a:lnTo>
                      <a:pt x="1106" y="14"/>
                    </a:lnTo>
                    <a:lnTo>
                      <a:pt x="1096" y="22"/>
                    </a:lnTo>
                    <a:lnTo>
                      <a:pt x="1086" y="30"/>
                    </a:lnTo>
                    <a:lnTo>
                      <a:pt x="1086" y="30"/>
                    </a:lnTo>
                    <a:lnTo>
                      <a:pt x="774" y="340"/>
                    </a:lnTo>
                    <a:lnTo>
                      <a:pt x="774" y="340"/>
                    </a:lnTo>
                    <a:lnTo>
                      <a:pt x="762" y="352"/>
                    </a:lnTo>
                    <a:lnTo>
                      <a:pt x="750" y="360"/>
                    </a:lnTo>
                    <a:lnTo>
                      <a:pt x="736" y="366"/>
                    </a:lnTo>
                    <a:lnTo>
                      <a:pt x="722" y="368"/>
                    </a:lnTo>
                    <a:lnTo>
                      <a:pt x="708" y="368"/>
                    </a:lnTo>
                    <a:lnTo>
                      <a:pt x="694" y="364"/>
                    </a:lnTo>
                    <a:lnTo>
                      <a:pt x="682" y="358"/>
                    </a:lnTo>
                    <a:lnTo>
                      <a:pt x="668" y="348"/>
                    </a:lnTo>
                    <a:lnTo>
                      <a:pt x="668" y="348"/>
                    </a:lnTo>
                    <a:lnTo>
                      <a:pt x="642" y="324"/>
                    </a:lnTo>
                    <a:lnTo>
                      <a:pt x="616" y="300"/>
                    </a:lnTo>
                    <a:lnTo>
                      <a:pt x="570" y="250"/>
                    </a:lnTo>
                    <a:lnTo>
                      <a:pt x="570" y="250"/>
                    </a:lnTo>
                    <a:lnTo>
                      <a:pt x="564" y="242"/>
                    </a:lnTo>
                    <a:lnTo>
                      <a:pt x="560" y="236"/>
                    </a:lnTo>
                    <a:lnTo>
                      <a:pt x="558" y="230"/>
                    </a:lnTo>
                    <a:lnTo>
                      <a:pt x="558" y="224"/>
                    </a:lnTo>
                    <a:lnTo>
                      <a:pt x="558" y="216"/>
                    </a:lnTo>
                    <a:lnTo>
                      <a:pt x="562" y="210"/>
                    </a:lnTo>
                    <a:lnTo>
                      <a:pt x="566" y="204"/>
                    </a:lnTo>
                    <a:lnTo>
                      <a:pt x="572" y="198"/>
                    </a:lnTo>
                    <a:lnTo>
                      <a:pt x="572" y="198"/>
                    </a:lnTo>
                    <a:lnTo>
                      <a:pt x="604" y="164"/>
                    </a:lnTo>
                    <a:lnTo>
                      <a:pt x="634" y="130"/>
                    </a:lnTo>
                    <a:lnTo>
                      <a:pt x="634" y="130"/>
                    </a:lnTo>
                    <a:lnTo>
                      <a:pt x="642" y="120"/>
                    </a:lnTo>
                    <a:lnTo>
                      <a:pt x="644" y="110"/>
                    </a:lnTo>
                    <a:lnTo>
                      <a:pt x="644" y="98"/>
                    </a:lnTo>
                    <a:lnTo>
                      <a:pt x="640" y="88"/>
                    </a:lnTo>
                    <a:lnTo>
                      <a:pt x="640" y="88"/>
                    </a:lnTo>
                    <a:lnTo>
                      <a:pt x="636" y="78"/>
                    </a:lnTo>
                    <a:lnTo>
                      <a:pt x="628" y="72"/>
                    </a:lnTo>
                    <a:lnTo>
                      <a:pt x="618" y="68"/>
                    </a:lnTo>
                    <a:lnTo>
                      <a:pt x="608" y="66"/>
                    </a:lnTo>
                    <a:lnTo>
                      <a:pt x="608" y="66"/>
                    </a:lnTo>
                    <a:lnTo>
                      <a:pt x="586" y="66"/>
                    </a:lnTo>
                    <a:lnTo>
                      <a:pt x="586" y="66"/>
                    </a:lnTo>
                    <a:lnTo>
                      <a:pt x="122" y="66"/>
                    </a:lnTo>
                    <a:lnTo>
                      <a:pt x="122" y="66"/>
                    </a:lnTo>
                    <a:lnTo>
                      <a:pt x="106" y="66"/>
                    </a:lnTo>
                    <a:lnTo>
                      <a:pt x="92" y="68"/>
                    </a:lnTo>
                    <a:lnTo>
                      <a:pt x="82" y="72"/>
                    </a:lnTo>
                    <a:lnTo>
                      <a:pt x="76" y="76"/>
                    </a:lnTo>
                    <a:lnTo>
                      <a:pt x="70" y="84"/>
                    </a:lnTo>
                    <a:lnTo>
                      <a:pt x="68" y="92"/>
                    </a:lnTo>
                    <a:lnTo>
                      <a:pt x="66" y="106"/>
                    </a:lnTo>
                    <a:lnTo>
                      <a:pt x="66" y="122"/>
                    </a:lnTo>
                    <a:lnTo>
                      <a:pt x="66" y="122"/>
                    </a:lnTo>
                    <a:lnTo>
                      <a:pt x="66" y="568"/>
                    </a:lnTo>
                    <a:lnTo>
                      <a:pt x="66" y="568"/>
                    </a:lnTo>
                    <a:lnTo>
                      <a:pt x="66" y="614"/>
                    </a:lnTo>
                    <a:lnTo>
                      <a:pt x="66" y="614"/>
                    </a:lnTo>
                    <a:lnTo>
                      <a:pt x="70" y="626"/>
                    </a:lnTo>
                    <a:lnTo>
                      <a:pt x="72" y="632"/>
                    </a:lnTo>
                    <a:lnTo>
                      <a:pt x="76" y="636"/>
                    </a:lnTo>
                    <a:lnTo>
                      <a:pt x="84" y="642"/>
                    </a:lnTo>
                    <a:lnTo>
                      <a:pt x="98" y="644"/>
                    </a:lnTo>
                    <a:lnTo>
                      <a:pt x="98" y="644"/>
                    </a:lnTo>
                    <a:lnTo>
                      <a:pt x="112" y="644"/>
                    </a:lnTo>
                    <a:lnTo>
                      <a:pt x="124" y="640"/>
                    </a:lnTo>
                    <a:lnTo>
                      <a:pt x="134" y="634"/>
                    </a:lnTo>
                    <a:lnTo>
                      <a:pt x="144" y="624"/>
                    </a:lnTo>
                    <a:lnTo>
                      <a:pt x="144" y="624"/>
                    </a:lnTo>
                    <a:lnTo>
                      <a:pt x="198" y="572"/>
                    </a:lnTo>
                    <a:lnTo>
                      <a:pt x="198" y="572"/>
                    </a:lnTo>
                    <a:lnTo>
                      <a:pt x="210" y="564"/>
                    </a:lnTo>
                    <a:lnTo>
                      <a:pt x="216" y="560"/>
                    </a:lnTo>
                    <a:lnTo>
                      <a:pt x="222" y="560"/>
                    </a:lnTo>
                    <a:lnTo>
                      <a:pt x="230" y="560"/>
                    </a:lnTo>
                    <a:lnTo>
                      <a:pt x="236" y="562"/>
                    </a:lnTo>
                    <a:lnTo>
                      <a:pt x="242" y="566"/>
                    </a:lnTo>
                    <a:lnTo>
                      <a:pt x="248" y="572"/>
                    </a:lnTo>
                    <a:lnTo>
                      <a:pt x="248" y="572"/>
                    </a:lnTo>
                    <a:lnTo>
                      <a:pt x="290" y="610"/>
                    </a:lnTo>
                    <a:lnTo>
                      <a:pt x="332" y="652"/>
                    </a:lnTo>
                    <a:lnTo>
                      <a:pt x="332" y="652"/>
                    </a:lnTo>
                    <a:lnTo>
                      <a:pt x="348" y="668"/>
                    </a:lnTo>
                    <a:lnTo>
                      <a:pt x="358" y="686"/>
                    </a:lnTo>
                    <a:lnTo>
                      <a:pt x="364" y="702"/>
                    </a:lnTo>
                    <a:lnTo>
                      <a:pt x="366" y="718"/>
                    </a:lnTo>
                    <a:lnTo>
                      <a:pt x="364" y="734"/>
                    </a:lnTo>
                    <a:lnTo>
                      <a:pt x="358" y="750"/>
                    </a:lnTo>
                    <a:lnTo>
                      <a:pt x="346" y="768"/>
                    </a:lnTo>
                    <a:lnTo>
                      <a:pt x="330" y="784"/>
                    </a:lnTo>
                    <a:lnTo>
                      <a:pt x="330" y="784"/>
                    </a:lnTo>
                    <a:lnTo>
                      <a:pt x="32" y="1082"/>
                    </a:lnTo>
                    <a:lnTo>
                      <a:pt x="32" y="1082"/>
                    </a:lnTo>
                    <a:lnTo>
                      <a:pt x="22" y="1094"/>
                    </a:lnTo>
                    <a:lnTo>
                      <a:pt x="14" y="1106"/>
                    </a:lnTo>
                    <a:lnTo>
                      <a:pt x="8" y="1116"/>
                    </a:lnTo>
                    <a:lnTo>
                      <a:pt x="2" y="1128"/>
                    </a:lnTo>
                    <a:lnTo>
                      <a:pt x="0" y="1142"/>
                    </a:lnTo>
                    <a:lnTo>
                      <a:pt x="0" y="1154"/>
                    </a:lnTo>
                    <a:lnTo>
                      <a:pt x="2" y="1168"/>
                    </a:lnTo>
                    <a:lnTo>
                      <a:pt x="8" y="1182"/>
                    </a:lnTo>
                    <a:lnTo>
                      <a:pt x="8" y="1182"/>
                    </a:lnTo>
                    <a:lnTo>
                      <a:pt x="14" y="1196"/>
                    </a:lnTo>
                    <a:lnTo>
                      <a:pt x="22" y="1206"/>
                    </a:lnTo>
                    <a:lnTo>
                      <a:pt x="32" y="1214"/>
                    </a:lnTo>
                    <a:lnTo>
                      <a:pt x="42" y="1220"/>
                    </a:lnTo>
                    <a:lnTo>
                      <a:pt x="54" y="1224"/>
                    </a:lnTo>
                    <a:lnTo>
                      <a:pt x="66" y="1228"/>
                    </a:lnTo>
                    <a:lnTo>
                      <a:pt x="80" y="1230"/>
                    </a:lnTo>
                    <a:lnTo>
                      <a:pt x="94" y="1230"/>
                    </a:lnTo>
                    <a:lnTo>
                      <a:pt x="94" y="1230"/>
                    </a:lnTo>
                    <a:lnTo>
                      <a:pt x="774" y="1230"/>
                    </a:lnTo>
                    <a:lnTo>
                      <a:pt x="774" y="1230"/>
                    </a:lnTo>
                    <a:lnTo>
                      <a:pt x="792" y="1228"/>
                    </a:lnTo>
                    <a:lnTo>
                      <a:pt x="810" y="1224"/>
                    </a:lnTo>
                    <a:lnTo>
                      <a:pt x="824" y="1216"/>
                    </a:lnTo>
                    <a:lnTo>
                      <a:pt x="838" y="1204"/>
                    </a:lnTo>
                    <a:lnTo>
                      <a:pt x="838" y="1204"/>
                    </a:lnTo>
                    <a:lnTo>
                      <a:pt x="900" y="1144"/>
                    </a:lnTo>
                    <a:lnTo>
                      <a:pt x="900" y="1144"/>
                    </a:lnTo>
                    <a:lnTo>
                      <a:pt x="1174" y="870"/>
                    </a:lnTo>
                    <a:lnTo>
                      <a:pt x="1174" y="870"/>
                    </a:lnTo>
                    <a:lnTo>
                      <a:pt x="1198" y="844"/>
                    </a:lnTo>
                    <a:lnTo>
                      <a:pt x="1208" y="830"/>
                    </a:lnTo>
                    <a:lnTo>
                      <a:pt x="1216" y="816"/>
                    </a:lnTo>
                    <a:lnTo>
                      <a:pt x="1224" y="800"/>
                    </a:lnTo>
                    <a:lnTo>
                      <a:pt x="1228" y="784"/>
                    </a:lnTo>
                    <a:lnTo>
                      <a:pt x="1230" y="766"/>
                    </a:lnTo>
                    <a:lnTo>
                      <a:pt x="1230" y="746"/>
                    </a:lnTo>
                    <a:lnTo>
                      <a:pt x="1230" y="746"/>
                    </a:lnTo>
                    <a:close/>
                    <a:moveTo>
                      <a:pt x="738" y="740"/>
                    </a:moveTo>
                    <a:lnTo>
                      <a:pt x="738" y="740"/>
                    </a:lnTo>
                    <a:lnTo>
                      <a:pt x="740" y="748"/>
                    </a:lnTo>
                    <a:lnTo>
                      <a:pt x="738" y="754"/>
                    </a:lnTo>
                    <a:lnTo>
                      <a:pt x="738" y="754"/>
                    </a:lnTo>
                    <a:lnTo>
                      <a:pt x="740" y="748"/>
                    </a:lnTo>
                    <a:lnTo>
                      <a:pt x="738" y="740"/>
                    </a:lnTo>
                    <a:lnTo>
                      <a:pt x="738" y="740"/>
                    </a:lnTo>
                    <a:close/>
                    <a:moveTo>
                      <a:pt x="702" y="706"/>
                    </a:moveTo>
                    <a:lnTo>
                      <a:pt x="702" y="706"/>
                    </a:lnTo>
                    <a:lnTo>
                      <a:pt x="696" y="716"/>
                    </a:lnTo>
                    <a:lnTo>
                      <a:pt x="692" y="728"/>
                    </a:lnTo>
                    <a:lnTo>
                      <a:pt x="682" y="750"/>
                    </a:lnTo>
                    <a:lnTo>
                      <a:pt x="682" y="750"/>
                    </a:lnTo>
                    <a:lnTo>
                      <a:pt x="692" y="728"/>
                    </a:lnTo>
                    <a:lnTo>
                      <a:pt x="696" y="716"/>
                    </a:lnTo>
                    <a:lnTo>
                      <a:pt x="702" y="706"/>
                    </a:lnTo>
                    <a:lnTo>
                      <a:pt x="702" y="706"/>
                    </a:lnTo>
                    <a:lnTo>
                      <a:pt x="702" y="706"/>
                    </a:lnTo>
                    <a:lnTo>
                      <a:pt x="702" y="706"/>
                    </a:lnTo>
                    <a:close/>
                    <a:moveTo>
                      <a:pt x="704" y="698"/>
                    </a:moveTo>
                    <a:lnTo>
                      <a:pt x="704" y="698"/>
                    </a:lnTo>
                    <a:lnTo>
                      <a:pt x="706" y="690"/>
                    </a:lnTo>
                    <a:lnTo>
                      <a:pt x="708" y="686"/>
                    </a:lnTo>
                    <a:lnTo>
                      <a:pt x="712" y="684"/>
                    </a:lnTo>
                    <a:lnTo>
                      <a:pt x="712" y="684"/>
                    </a:lnTo>
                    <a:lnTo>
                      <a:pt x="708" y="686"/>
                    </a:lnTo>
                    <a:lnTo>
                      <a:pt x="706" y="690"/>
                    </a:lnTo>
                    <a:lnTo>
                      <a:pt x="704" y="698"/>
                    </a:lnTo>
                    <a:lnTo>
                      <a:pt x="704" y="698"/>
                    </a:lnTo>
                    <a:close/>
                    <a:moveTo>
                      <a:pt x="726" y="726"/>
                    </a:moveTo>
                    <a:lnTo>
                      <a:pt x="726" y="726"/>
                    </a:lnTo>
                    <a:lnTo>
                      <a:pt x="724" y="720"/>
                    </a:lnTo>
                    <a:lnTo>
                      <a:pt x="724" y="720"/>
                    </a:lnTo>
                    <a:lnTo>
                      <a:pt x="726" y="726"/>
                    </a:lnTo>
                    <a:lnTo>
                      <a:pt x="726" y="726"/>
                    </a:lnTo>
                    <a:close/>
                    <a:moveTo>
                      <a:pt x="724" y="774"/>
                    </a:moveTo>
                    <a:lnTo>
                      <a:pt x="724" y="774"/>
                    </a:lnTo>
                    <a:lnTo>
                      <a:pt x="724" y="774"/>
                    </a:lnTo>
                    <a:lnTo>
                      <a:pt x="724" y="774"/>
                    </a:lnTo>
                    <a:lnTo>
                      <a:pt x="730" y="776"/>
                    </a:lnTo>
                    <a:lnTo>
                      <a:pt x="736" y="776"/>
                    </a:lnTo>
                    <a:lnTo>
                      <a:pt x="740" y="780"/>
                    </a:lnTo>
                    <a:lnTo>
                      <a:pt x="742" y="784"/>
                    </a:lnTo>
                    <a:lnTo>
                      <a:pt x="742" y="784"/>
                    </a:lnTo>
                    <a:lnTo>
                      <a:pt x="740" y="780"/>
                    </a:lnTo>
                    <a:lnTo>
                      <a:pt x="736" y="776"/>
                    </a:lnTo>
                    <a:lnTo>
                      <a:pt x="730" y="776"/>
                    </a:lnTo>
                    <a:lnTo>
                      <a:pt x="724" y="774"/>
                    </a:lnTo>
                    <a:lnTo>
                      <a:pt x="724" y="77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5" name="靖飞在肝PPT21-1">
                <a:extLst>
                  <a:ext uri="{FF2B5EF4-FFF2-40B4-BE49-F238E27FC236}">
                    <a16:creationId xmlns:a16="http://schemas.microsoft.com/office/drawing/2014/main" id="{EA17BCDC-50BB-4A5A-A2C4-D7438F33F777}"/>
                  </a:ext>
                </a:extLst>
              </p:cNvPr>
              <p:cNvSpPr txBox="1"/>
              <p:nvPr/>
            </p:nvSpPr>
            <p:spPr>
              <a:xfrm rot="18900000">
                <a:off x="6236757"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1</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0" name="组合 9">
              <a:extLst>
                <a:ext uri="{FF2B5EF4-FFF2-40B4-BE49-F238E27FC236}">
                  <a16:creationId xmlns:a16="http://schemas.microsoft.com/office/drawing/2014/main" id="{DC1F5327-D114-4C6D-88B6-AF0C5CAA5FEB}"/>
                </a:ext>
              </a:extLst>
            </p:cNvPr>
            <p:cNvGrpSpPr/>
            <p:nvPr/>
          </p:nvGrpSpPr>
          <p:grpSpPr>
            <a:xfrm>
              <a:off x="7138506" y="2918461"/>
              <a:ext cx="979559" cy="977966"/>
              <a:chOff x="7138506" y="2918461"/>
              <a:chExt cx="979559" cy="977966"/>
            </a:xfrm>
          </p:grpSpPr>
          <p:sp>
            <p:nvSpPr>
              <p:cNvPr id="140" name="靖飞在肝PPT17">
                <a:extLst>
                  <a:ext uri="{FF2B5EF4-FFF2-40B4-BE49-F238E27FC236}">
                    <a16:creationId xmlns:a16="http://schemas.microsoft.com/office/drawing/2014/main" id="{E3038F30-DCC5-43EC-B068-87CD88FE2010}"/>
                  </a:ext>
                </a:extLst>
              </p:cNvPr>
              <p:cNvSpPr/>
              <p:nvPr/>
            </p:nvSpPr>
            <p:spPr bwMode="auto">
              <a:xfrm>
                <a:off x="7138506" y="2918461"/>
                <a:ext cx="979559" cy="977966"/>
              </a:xfrm>
              <a:custGeom>
                <a:avLst/>
                <a:gdLst>
                  <a:gd name="T0" fmla="*/ 894 w 1230"/>
                  <a:gd name="T1" fmla="*/ 780 h 1228"/>
                  <a:gd name="T2" fmla="*/ 872 w 1230"/>
                  <a:gd name="T3" fmla="*/ 752 h 1228"/>
                  <a:gd name="T4" fmla="*/ 864 w 1230"/>
                  <a:gd name="T5" fmla="*/ 706 h 1228"/>
                  <a:gd name="T6" fmla="*/ 886 w 1230"/>
                  <a:gd name="T7" fmla="*/ 662 h 1228"/>
                  <a:gd name="T8" fmla="*/ 978 w 1230"/>
                  <a:gd name="T9" fmla="*/ 572 h 1228"/>
                  <a:gd name="T10" fmla="*/ 992 w 1230"/>
                  <a:gd name="T11" fmla="*/ 562 h 1228"/>
                  <a:gd name="T12" fmla="*/ 1016 w 1230"/>
                  <a:gd name="T13" fmla="*/ 558 h 1228"/>
                  <a:gd name="T14" fmla="*/ 1038 w 1230"/>
                  <a:gd name="T15" fmla="*/ 572 h 1228"/>
                  <a:gd name="T16" fmla="*/ 1086 w 1230"/>
                  <a:gd name="T17" fmla="*/ 622 h 1228"/>
                  <a:gd name="T18" fmla="*/ 1118 w 1230"/>
                  <a:gd name="T19" fmla="*/ 644 h 1228"/>
                  <a:gd name="T20" fmla="*/ 1142 w 1230"/>
                  <a:gd name="T21" fmla="*/ 642 h 1228"/>
                  <a:gd name="T22" fmla="*/ 1156 w 1230"/>
                  <a:gd name="T23" fmla="*/ 632 h 1228"/>
                  <a:gd name="T24" fmla="*/ 1166 w 1230"/>
                  <a:gd name="T25" fmla="*/ 604 h 1228"/>
                  <a:gd name="T26" fmla="*/ 1166 w 1230"/>
                  <a:gd name="T27" fmla="*/ 126 h 1228"/>
                  <a:gd name="T28" fmla="*/ 1162 w 1230"/>
                  <a:gd name="T29" fmla="*/ 94 h 1228"/>
                  <a:gd name="T30" fmla="*/ 1146 w 1230"/>
                  <a:gd name="T31" fmla="*/ 70 h 1228"/>
                  <a:gd name="T32" fmla="*/ 1102 w 1230"/>
                  <a:gd name="T33" fmla="*/ 64 h 1228"/>
                  <a:gd name="T34" fmla="*/ 664 w 1230"/>
                  <a:gd name="T35" fmla="*/ 64 h 1228"/>
                  <a:gd name="T36" fmla="*/ 626 w 1230"/>
                  <a:gd name="T37" fmla="*/ 64 h 1228"/>
                  <a:gd name="T38" fmla="*/ 594 w 1230"/>
                  <a:gd name="T39" fmla="*/ 80 h 1228"/>
                  <a:gd name="T40" fmla="*/ 586 w 1230"/>
                  <a:gd name="T41" fmla="*/ 104 h 1228"/>
                  <a:gd name="T42" fmla="*/ 600 w 1230"/>
                  <a:gd name="T43" fmla="*/ 134 h 1228"/>
                  <a:gd name="T44" fmla="*/ 654 w 1230"/>
                  <a:gd name="T45" fmla="*/ 188 h 1228"/>
                  <a:gd name="T46" fmla="*/ 672 w 1230"/>
                  <a:gd name="T47" fmla="*/ 216 h 1228"/>
                  <a:gd name="T48" fmla="*/ 668 w 1230"/>
                  <a:gd name="T49" fmla="*/ 242 h 1228"/>
                  <a:gd name="T50" fmla="*/ 654 w 1230"/>
                  <a:gd name="T51" fmla="*/ 260 h 1228"/>
                  <a:gd name="T52" fmla="*/ 564 w 1230"/>
                  <a:gd name="T53" fmla="*/ 348 h 1228"/>
                  <a:gd name="T54" fmla="*/ 514 w 1230"/>
                  <a:gd name="T55" fmla="*/ 368 h 1228"/>
                  <a:gd name="T56" fmla="*/ 462 w 1230"/>
                  <a:gd name="T57" fmla="*/ 346 h 1228"/>
                  <a:gd name="T58" fmla="*/ 148 w 1230"/>
                  <a:gd name="T59" fmla="*/ 34 h 1228"/>
                  <a:gd name="T60" fmla="*/ 128 w 1230"/>
                  <a:gd name="T61" fmla="*/ 16 h 1228"/>
                  <a:gd name="T62" fmla="*/ 92 w 1230"/>
                  <a:gd name="T63" fmla="*/ 2 h 1228"/>
                  <a:gd name="T64" fmla="*/ 52 w 1230"/>
                  <a:gd name="T65" fmla="*/ 6 h 1228"/>
                  <a:gd name="T66" fmla="*/ 28 w 1230"/>
                  <a:gd name="T67" fmla="*/ 22 h 1228"/>
                  <a:gd name="T68" fmla="*/ 6 w 1230"/>
                  <a:gd name="T69" fmla="*/ 54 h 1228"/>
                  <a:gd name="T70" fmla="*/ 0 w 1230"/>
                  <a:gd name="T71" fmla="*/ 96 h 1228"/>
                  <a:gd name="T72" fmla="*/ 2 w 1230"/>
                  <a:gd name="T73" fmla="*/ 468 h 1228"/>
                  <a:gd name="T74" fmla="*/ 2 w 1230"/>
                  <a:gd name="T75" fmla="*/ 690 h 1228"/>
                  <a:gd name="T76" fmla="*/ 4 w 1230"/>
                  <a:gd name="T77" fmla="*/ 794 h 1228"/>
                  <a:gd name="T78" fmla="*/ 6 w 1230"/>
                  <a:gd name="T79" fmla="*/ 800 h 1228"/>
                  <a:gd name="T80" fmla="*/ 12 w 1230"/>
                  <a:gd name="T81" fmla="*/ 820 h 1228"/>
                  <a:gd name="T82" fmla="*/ 26 w 1230"/>
                  <a:gd name="T83" fmla="*/ 836 h 1228"/>
                  <a:gd name="T84" fmla="*/ 234 w 1230"/>
                  <a:gd name="T85" fmla="*/ 1046 h 1228"/>
                  <a:gd name="T86" fmla="*/ 400 w 1230"/>
                  <a:gd name="T87" fmla="*/ 1212 h 1228"/>
                  <a:gd name="T88" fmla="*/ 434 w 1230"/>
                  <a:gd name="T89" fmla="*/ 1226 h 1228"/>
                  <a:gd name="T90" fmla="*/ 1152 w 1230"/>
                  <a:gd name="T91" fmla="*/ 1228 h 1228"/>
                  <a:gd name="T92" fmla="*/ 1172 w 1230"/>
                  <a:gd name="T93" fmla="*/ 1226 h 1228"/>
                  <a:gd name="T94" fmla="*/ 1192 w 1230"/>
                  <a:gd name="T95" fmla="*/ 1218 h 1228"/>
                  <a:gd name="T96" fmla="*/ 1226 w 1230"/>
                  <a:gd name="T97" fmla="*/ 1176 h 1228"/>
                  <a:gd name="T98" fmla="*/ 1224 w 1230"/>
                  <a:gd name="T99" fmla="*/ 1122 h 1228"/>
                  <a:gd name="T100" fmla="*/ 1202 w 1230"/>
                  <a:gd name="T101" fmla="*/ 1088 h 1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30" h="1228">
                    <a:moveTo>
                      <a:pt x="1202" y="1088"/>
                    </a:moveTo>
                    <a:lnTo>
                      <a:pt x="1202" y="1088"/>
                    </a:lnTo>
                    <a:lnTo>
                      <a:pt x="894" y="780"/>
                    </a:lnTo>
                    <a:lnTo>
                      <a:pt x="894" y="780"/>
                    </a:lnTo>
                    <a:lnTo>
                      <a:pt x="882" y="766"/>
                    </a:lnTo>
                    <a:lnTo>
                      <a:pt x="872" y="752"/>
                    </a:lnTo>
                    <a:lnTo>
                      <a:pt x="866" y="736"/>
                    </a:lnTo>
                    <a:lnTo>
                      <a:pt x="864" y="720"/>
                    </a:lnTo>
                    <a:lnTo>
                      <a:pt x="864" y="706"/>
                    </a:lnTo>
                    <a:lnTo>
                      <a:pt x="868" y="692"/>
                    </a:lnTo>
                    <a:lnTo>
                      <a:pt x="876" y="676"/>
                    </a:lnTo>
                    <a:lnTo>
                      <a:pt x="886" y="662"/>
                    </a:lnTo>
                    <a:lnTo>
                      <a:pt x="886" y="662"/>
                    </a:lnTo>
                    <a:lnTo>
                      <a:pt x="930" y="616"/>
                    </a:lnTo>
                    <a:lnTo>
                      <a:pt x="978" y="572"/>
                    </a:lnTo>
                    <a:lnTo>
                      <a:pt x="978" y="572"/>
                    </a:lnTo>
                    <a:lnTo>
                      <a:pt x="984" y="566"/>
                    </a:lnTo>
                    <a:lnTo>
                      <a:pt x="992" y="562"/>
                    </a:lnTo>
                    <a:lnTo>
                      <a:pt x="1000" y="558"/>
                    </a:lnTo>
                    <a:lnTo>
                      <a:pt x="1008" y="558"/>
                    </a:lnTo>
                    <a:lnTo>
                      <a:pt x="1016" y="558"/>
                    </a:lnTo>
                    <a:lnTo>
                      <a:pt x="1022" y="562"/>
                    </a:lnTo>
                    <a:lnTo>
                      <a:pt x="1030" y="566"/>
                    </a:lnTo>
                    <a:lnTo>
                      <a:pt x="1038" y="572"/>
                    </a:lnTo>
                    <a:lnTo>
                      <a:pt x="1038" y="572"/>
                    </a:lnTo>
                    <a:lnTo>
                      <a:pt x="1086" y="622"/>
                    </a:lnTo>
                    <a:lnTo>
                      <a:pt x="1086" y="622"/>
                    </a:lnTo>
                    <a:lnTo>
                      <a:pt x="1098" y="632"/>
                    </a:lnTo>
                    <a:lnTo>
                      <a:pt x="1110" y="640"/>
                    </a:lnTo>
                    <a:lnTo>
                      <a:pt x="1118" y="644"/>
                    </a:lnTo>
                    <a:lnTo>
                      <a:pt x="1124" y="644"/>
                    </a:lnTo>
                    <a:lnTo>
                      <a:pt x="1132" y="644"/>
                    </a:lnTo>
                    <a:lnTo>
                      <a:pt x="1142" y="642"/>
                    </a:lnTo>
                    <a:lnTo>
                      <a:pt x="1142" y="642"/>
                    </a:lnTo>
                    <a:lnTo>
                      <a:pt x="1150" y="636"/>
                    </a:lnTo>
                    <a:lnTo>
                      <a:pt x="1156" y="632"/>
                    </a:lnTo>
                    <a:lnTo>
                      <a:pt x="1160" y="626"/>
                    </a:lnTo>
                    <a:lnTo>
                      <a:pt x="1162" y="618"/>
                    </a:lnTo>
                    <a:lnTo>
                      <a:pt x="1166" y="604"/>
                    </a:lnTo>
                    <a:lnTo>
                      <a:pt x="1166" y="588"/>
                    </a:lnTo>
                    <a:lnTo>
                      <a:pt x="1166" y="588"/>
                    </a:lnTo>
                    <a:lnTo>
                      <a:pt x="1166" y="126"/>
                    </a:lnTo>
                    <a:lnTo>
                      <a:pt x="1166" y="126"/>
                    </a:lnTo>
                    <a:lnTo>
                      <a:pt x="1164" y="108"/>
                    </a:lnTo>
                    <a:lnTo>
                      <a:pt x="1162" y="94"/>
                    </a:lnTo>
                    <a:lnTo>
                      <a:pt x="1160" y="84"/>
                    </a:lnTo>
                    <a:lnTo>
                      <a:pt x="1154" y="76"/>
                    </a:lnTo>
                    <a:lnTo>
                      <a:pt x="1146" y="70"/>
                    </a:lnTo>
                    <a:lnTo>
                      <a:pt x="1134" y="66"/>
                    </a:lnTo>
                    <a:lnTo>
                      <a:pt x="1120" y="64"/>
                    </a:lnTo>
                    <a:lnTo>
                      <a:pt x="1102" y="64"/>
                    </a:lnTo>
                    <a:lnTo>
                      <a:pt x="1102" y="64"/>
                    </a:lnTo>
                    <a:lnTo>
                      <a:pt x="664" y="64"/>
                    </a:lnTo>
                    <a:lnTo>
                      <a:pt x="664" y="64"/>
                    </a:lnTo>
                    <a:lnTo>
                      <a:pt x="644" y="64"/>
                    </a:lnTo>
                    <a:lnTo>
                      <a:pt x="626" y="64"/>
                    </a:lnTo>
                    <a:lnTo>
                      <a:pt x="626" y="64"/>
                    </a:lnTo>
                    <a:lnTo>
                      <a:pt x="614" y="68"/>
                    </a:lnTo>
                    <a:lnTo>
                      <a:pt x="602" y="72"/>
                    </a:lnTo>
                    <a:lnTo>
                      <a:pt x="594" y="80"/>
                    </a:lnTo>
                    <a:lnTo>
                      <a:pt x="590" y="92"/>
                    </a:lnTo>
                    <a:lnTo>
                      <a:pt x="590" y="92"/>
                    </a:lnTo>
                    <a:lnTo>
                      <a:pt x="586" y="104"/>
                    </a:lnTo>
                    <a:lnTo>
                      <a:pt x="588" y="114"/>
                    </a:lnTo>
                    <a:lnTo>
                      <a:pt x="592" y="124"/>
                    </a:lnTo>
                    <a:lnTo>
                      <a:pt x="600" y="134"/>
                    </a:lnTo>
                    <a:lnTo>
                      <a:pt x="600" y="134"/>
                    </a:lnTo>
                    <a:lnTo>
                      <a:pt x="654" y="188"/>
                    </a:lnTo>
                    <a:lnTo>
                      <a:pt x="654" y="188"/>
                    </a:lnTo>
                    <a:lnTo>
                      <a:pt x="662" y="198"/>
                    </a:lnTo>
                    <a:lnTo>
                      <a:pt x="668" y="208"/>
                    </a:lnTo>
                    <a:lnTo>
                      <a:pt x="672" y="216"/>
                    </a:lnTo>
                    <a:lnTo>
                      <a:pt x="674" y="224"/>
                    </a:lnTo>
                    <a:lnTo>
                      <a:pt x="672" y="232"/>
                    </a:lnTo>
                    <a:lnTo>
                      <a:pt x="668" y="242"/>
                    </a:lnTo>
                    <a:lnTo>
                      <a:pt x="662" y="250"/>
                    </a:lnTo>
                    <a:lnTo>
                      <a:pt x="654" y="260"/>
                    </a:lnTo>
                    <a:lnTo>
                      <a:pt x="654" y="260"/>
                    </a:lnTo>
                    <a:lnTo>
                      <a:pt x="582" y="332"/>
                    </a:lnTo>
                    <a:lnTo>
                      <a:pt x="582" y="332"/>
                    </a:lnTo>
                    <a:lnTo>
                      <a:pt x="564" y="348"/>
                    </a:lnTo>
                    <a:lnTo>
                      <a:pt x="546" y="358"/>
                    </a:lnTo>
                    <a:lnTo>
                      <a:pt x="530" y="366"/>
                    </a:lnTo>
                    <a:lnTo>
                      <a:pt x="514" y="368"/>
                    </a:lnTo>
                    <a:lnTo>
                      <a:pt x="496" y="366"/>
                    </a:lnTo>
                    <a:lnTo>
                      <a:pt x="480" y="358"/>
                    </a:lnTo>
                    <a:lnTo>
                      <a:pt x="462" y="346"/>
                    </a:lnTo>
                    <a:lnTo>
                      <a:pt x="446" y="332"/>
                    </a:lnTo>
                    <a:lnTo>
                      <a:pt x="446" y="332"/>
                    </a:lnTo>
                    <a:lnTo>
                      <a:pt x="148" y="34"/>
                    </a:lnTo>
                    <a:lnTo>
                      <a:pt x="148" y="34"/>
                    </a:lnTo>
                    <a:lnTo>
                      <a:pt x="138" y="24"/>
                    </a:lnTo>
                    <a:lnTo>
                      <a:pt x="128" y="16"/>
                    </a:lnTo>
                    <a:lnTo>
                      <a:pt x="116" y="10"/>
                    </a:lnTo>
                    <a:lnTo>
                      <a:pt x="104" y="4"/>
                    </a:lnTo>
                    <a:lnTo>
                      <a:pt x="92" y="2"/>
                    </a:lnTo>
                    <a:lnTo>
                      <a:pt x="80" y="0"/>
                    </a:lnTo>
                    <a:lnTo>
                      <a:pt x="66" y="2"/>
                    </a:lnTo>
                    <a:lnTo>
                      <a:pt x="52" y="6"/>
                    </a:lnTo>
                    <a:lnTo>
                      <a:pt x="52" y="6"/>
                    </a:lnTo>
                    <a:lnTo>
                      <a:pt x="38" y="14"/>
                    </a:lnTo>
                    <a:lnTo>
                      <a:pt x="28" y="22"/>
                    </a:lnTo>
                    <a:lnTo>
                      <a:pt x="18" y="32"/>
                    </a:lnTo>
                    <a:lnTo>
                      <a:pt x="12" y="42"/>
                    </a:lnTo>
                    <a:lnTo>
                      <a:pt x="6" y="54"/>
                    </a:lnTo>
                    <a:lnTo>
                      <a:pt x="4" y="68"/>
                    </a:lnTo>
                    <a:lnTo>
                      <a:pt x="2" y="82"/>
                    </a:lnTo>
                    <a:lnTo>
                      <a:pt x="0" y="96"/>
                    </a:lnTo>
                    <a:lnTo>
                      <a:pt x="0" y="96"/>
                    </a:lnTo>
                    <a:lnTo>
                      <a:pt x="2" y="468"/>
                    </a:lnTo>
                    <a:lnTo>
                      <a:pt x="2" y="468"/>
                    </a:lnTo>
                    <a:lnTo>
                      <a:pt x="4" y="584"/>
                    </a:lnTo>
                    <a:lnTo>
                      <a:pt x="4" y="584"/>
                    </a:lnTo>
                    <a:lnTo>
                      <a:pt x="2" y="690"/>
                    </a:lnTo>
                    <a:lnTo>
                      <a:pt x="2" y="742"/>
                    </a:lnTo>
                    <a:lnTo>
                      <a:pt x="4" y="794"/>
                    </a:lnTo>
                    <a:lnTo>
                      <a:pt x="4" y="794"/>
                    </a:lnTo>
                    <a:lnTo>
                      <a:pt x="6" y="798"/>
                    </a:lnTo>
                    <a:lnTo>
                      <a:pt x="6" y="798"/>
                    </a:lnTo>
                    <a:lnTo>
                      <a:pt x="6" y="800"/>
                    </a:lnTo>
                    <a:lnTo>
                      <a:pt x="6" y="800"/>
                    </a:lnTo>
                    <a:lnTo>
                      <a:pt x="8" y="812"/>
                    </a:lnTo>
                    <a:lnTo>
                      <a:pt x="12" y="820"/>
                    </a:lnTo>
                    <a:lnTo>
                      <a:pt x="18" y="828"/>
                    </a:lnTo>
                    <a:lnTo>
                      <a:pt x="26" y="836"/>
                    </a:lnTo>
                    <a:lnTo>
                      <a:pt x="26" y="836"/>
                    </a:lnTo>
                    <a:lnTo>
                      <a:pt x="180" y="988"/>
                    </a:lnTo>
                    <a:lnTo>
                      <a:pt x="180" y="988"/>
                    </a:lnTo>
                    <a:lnTo>
                      <a:pt x="234" y="1046"/>
                    </a:lnTo>
                    <a:lnTo>
                      <a:pt x="288" y="1102"/>
                    </a:lnTo>
                    <a:lnTo>
                      <a:pt x="400" y="1212"/>
                    </a:lnTo>
                    <a:lnTo>
                      <a:pt x="400" y="1212"/>
                    </a:lnTo>
                    <a:lnTo>
                      <a:pt x="410" y="1220"/>
                    </a:lnTo>
                    <a:lnTo>
                      <a:pt x="422" y="1224"/>
                    </a:lnTo>
                    <a:lnTo>
                      <a:pt x="434" y="1226"/>
                    </a:lnTo>
                    <a:lnTo>
                      <a:pt x="448" y="1228"/>
                    </a:lnTo>
                    <a:lnTo>
                      <a:pt x="448" y="1228"/>
                    </a:lnTo>
                    <a:lnTo>
                      <a:pt x="1152" y="1228"/>
                    </a:lnTo>
                    <a:lnTo>
                      <a:pt x="1152" y="1228"/>
                    </a:lnTo>
                    <a:lnTo>
                      <a:pt x="1162" y="1228"/>
                    </a:lnTo>
                    <a:lnTo>
                      <a:pt x="1172" y="1226"/>
                    </a:lnTo>
                    <a:lnTo>
                      <a:pt x="1182" y="1222"/>
                    </a:lnTo>
                    <a:lnTo>
                      <a:pt x="1192" y="1218"/>
                    </a:lnTo>
                    <a:lnTo>
                      <a:pt x="1192" y="1218"/>
                    </a:lnTo>
                    <a:lnTo>
                      <a:pt x="1208" y="1206"/>
                    </a:lnTo>
                    <a:lnTo>
                      <a:pt x="1220" y="1192"/>
                    </a:lnTo>
                    <a:lnTo>
                      <a:pt x="1226" y="1176"/>
                    </a:lnTo>
                    <a:lnTo>
                      <a:pt x="1230" y="1158"/>
                    </a:lnTo>
                    <a:lnTo>
                      <a:pt x="1230" y="1140"/>
                    </a:lnTo>
                    <a:lnTo>
                      <a:pt x="1224" y="1122"/>
                    </a:lnTo>
                    <a:lnTo>
                      <a:pt x="1214" y="1104"/>
                    </a:lnTo>
                    <a:lnTo>
                      <a:pt x="1202" y="1088"/>
                    </a:lnTo>
                    <a:lnTo>
                      <a:pt x="1202" y="1088"/>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mj-ea"/>
                  <a:ea typeface="+mj-ea"/>
                  <a:cs typeface="OPPOSans M" panose="00020600040101010101" pitchFamily="18" charset="-122"/>
                </a:endParaRPr>
              </a:p>
            </p:txBody>
          </p:sp>
          <p:sp>
            <p:nvSpPr>
              <p:cNvPr id="146" name="靖飞在肝PPT21-2">
                <a:extLst>
                  <a:ext uri="{FF2B5EF4-FFF2-40B4-BE49-F238E27FC236}">
                    <a16:creationId xmlns:a16="http://schemas.microsoft.com/office/drawing/2014/main" id="{8039FC55-C142-4120-B47D-3E0515F9F5B8}"/>
                  </a:ext>
                </a:extLst>
              </p:cNvPr>
              <p:cNvSpPr txBox="1"/>
              <p:nvPr/>
            </p:nvSpPr>
            <p:spPr>
              <a:xfrm rot="2700000" flipH="1">
                <a:off x="7607042"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2</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4" name="组合 13">
              <a:extLst>
                <a:ext uri="{FF2B5EF4-FFF2-40B4-BE49-F238E27FC236}">
                  <a16:creationId xmlns:a16="http://schemas.microsoft.com/office/drawing/2014/main" id="{07CB0157-80BD-4A18-BC50-89570ECA48FE}"/>
                </a:ext>
              </a:extLst>
            </p:cNvPr>
            <p:cNvGrpSpPr/>
            <p:nvPr/>
          </p:nvGrpSpPr>
          <p:grpSpPr>
            <a:xfrm>
              <a:off x="6135055" y="3923504"/>
              <a:ext cx="977966" cy="979559"/>
              <a:chOff x="6135055" y="3923504"/>
              <a:chExt cx="977966" cy="979559"/>
            </a:xfrm>
          </p:grpSpPr>
          <p:sp>
            <p:nvSpPr>
              <p:cNvPr id="143" name="靖飞在肝PPT20">
                <a:extLst>
                  <a:ext uri="{FF2B5EF4-FFF2-40B4-BE49-F238E27FC236}">
                    <a16:creationId xmlns:a16="http://schemas.microsoft.com/office/drawing/2014/main" id="{48F54AB9-6963-4E18-8998-E525A3F044B7}"/>
                  </a:ext>
                </a:extLst>
              </p:cNvPr>
              <p:cNvSpPr/>
              <p:nvPr/>
            </p:nvSpPr>
            <p:spPr bwMode="auto">
              <a:xfrm>
                <a:off x="6135055" y="3923504"/>
                <a:ext cx="977966" cy="979559"/>
              </a:xfrm>
              <a:custGeom>
                <a:avLst/>
                <a:gdLst>
                  <a:gd name="T0" fmla="*/ 1228 w 1228"/>
                  <a:gd name="T1" fmla="*/ 456 h 1230"/>
                  <a:gd name="T2" fmla="*/ 1224 w 1228"/>
                  <a:gd name="T3" fmla="*/ 424 h 1230"/>
                  <a:gd name="T4" fmla="*/ 1208 w 1228"/>
                  <a:gd name="T5" fmla="*/ 398 h 1230"/>
                  <a:gd name="T6" fmla="*/ 1122 w 1228"/>
                  <a:gd name="T7" fmla="*/ 316 h 1230"/>
                  <a:gd name="T8" fmla="*/ 1116 w 1228"/>
                  <a:gd name="T9" fmla="*/ 302 h 1230"/>
                  <a:gd name="T10" fmla="*/ 1062 w 1228"/>
                  <a:gd name="T11" fmla="*/ 252 h 1230"/>
                  <a:gd name="T12" fmla="*/ 930 w 1228"/>
                  <a:gd name="T13" fmla="*/ 118 h 1230"/>
                  <a:gd name="T14" fmla="*/ 826 w 1228"/>
                  <a:gd name="T15" fmla="*/ 14 h 1230"/>
                  <a:gd name="T16" fmla="*/ 780 w 1228"/>
                  <a:gd name="T17" fmla="*/ 0 h 1230"/>
                  <a:gd name="T18" fmla="*/ 90 w 1228"/>
                  <a:gd name="T19" fmla="*/ 0 h 1230"/>
                  <a:gd name="T20" fmla="*/ 50 w 1228"/>
                  <a:gd name="T21" fmla="*/ 6 h 1230"/>
                  <a:gd name="T22" fmla="*/ 20 w 1228"/>
                  <a:gd name="T23" fmla="*/ 28 h 1230"/>
                  <a:gd name="T24" fmla="*/ 6 w 1228"/>
                  <a:gd name="T25" fmla="*/ 52 h 1230"/>
                  <a:gd name="T26" fmla="*/ 0 w 1228"/>
                  <a:gd name="T27" fmla="*/ 90 h 1230"/>
                  <a:gd name="T28" fmla="*/ 14 w 1228"/>
                  <a:gd name="T29" fmla="*/ 122 h 1230"/>
                  <a:gd name="T30" fmla="*/ 30 w 1228"/>
                  <a:gd name="T31" fmla="*/ 142 h 1230"/>
                  <a:gd name="T32" fmla="*/ 218 w 1228"/>
                  <a:gd name="T33" fmla="*/ 330 h 1230"/>
                  <a:gd name="T34" fmla="*/ 350 w 1228"/>
                  <a:gd name="T35" fmla="*/ 466 h 1230"/>
                  <a:gd name="T36" fmla="*/ 364 w 1228"/>
                  <a:gd name="T37" fmla="*/ 492 h 1230"/>
                  <a:gd name="T38" fmla="*/ 366 w 1228"/>
                  <a:gd name="T39" fmla="*/ 532 h 1230"/>
                  <a:gd name="T40" fmla="*/ 344 w 1228"/>
                  <a:gd name="T41" fmla="*/ 568 h 1230"/>
                  <a:gd name="T42" fmla="*/ 260 w 1228"/>
                  <a:gd name="T43" fmla="*/ 652 h 1230"/>
                  <a:gd name="T44" fmla="*/ 234 w 1228"/>
                  <a:gd name="T45" fmla="*/ 670 h 1230"/>
                  <a:gd name="T46" fmla="*/ 208 w 1228"/>
                  <a:gd name="T47" fmla="*/ 668 h 1230"/>
                  <a:gd name="T48" fmla="*/ 188 w 1228"/>
                  <a:gd name="T49" fmla="*/ 654 h 1230"/>
                  <a:gd name="T50" fmla="*/ 136 w 1228"/>
                  <a:gd name="T51" fmla="*/ 600 h 1230"/>
                  <a:gd name="T52" fmla="*/ 102 w 1228"/>
                  <a:gd name="T53" fmla="*/ 586 h 1230"/>
                  <a:gd name="T54" fmla="*/ 82 w 1228"/>
                  <a:gd name="T55" fmla="*/ 592 h 1230"/>
                  <a:gd name="T56" fmla="*/ 66 w 1228"/>
                  <a:gd name="T57" fmla="*/ 616 h 1230"/>
                  <a:gd name="T58" fmla="*/ 66 w 1228"/>
                  <a:gd name="T59" fmla="*/ 1118 h 1230"/>
                  <a:gd name="T60" fmla="*/ 68 w 1228"/>
                  <a:gd name="T61" fmla="*/ 1140 h 1230"/>
                  <a:gd name="T62" fmla="*/ 82 w 1228"/>
                  <a:gd name="T63" fmla="*/ 1158 h 1230"/>
                  <a:gd name="T64" fmla="*/ 112 w 1228"/>
                  <a:gd name="T65" fmla="*/ 1164 h 1230"/>
                  <a:gd name="T66" fmla="*/ 598 w 1228"/>
                  <a:gd name="T67" fmla="*/ 1164 h 1230"/>
                  <a:gd name="T68" fmla="*/ 632 w 1228"/>
                  <a:gd name="T69" fmla="*/ 1152 h 1230"/>
                  <a:gd name="T70" fmla="*/ 638 w 1228"/>
                  <a:gd name="T71" fmla="*/ 1142 h 1230"/>
                  <a:gd name="T72" fmla="*/ 636 w 1228"/>
                  <a:gd name="T73" fmla="*/ 1104 h 1230"/>
                  <a:gd name="T74" fmla="*/ 576 w 1228"/>
                  <a:gd name="T75" fmla="*/ 1042 h 1230"/>
                  <a:gd name="T76" fmla="*/ 562 w 1228"/>
                  <a:gd name="T77" fmla="*/ 1022 h 1230"/>
                  <a:gd name="T78" fmla="*/ 558 w 1228"/>
                  <a:gd name="T79" fmla="*/ 996 h 1230"/>
                  <a:gd name="T80" fmla="*/ 576 w 1228"/>
                  <a:gd name="T81" fmla="*/ 970 h 1230"/>
                  <a:gd name="T82" fmla="*/ 652 w 1228"/>
                  <a:gd name="T83" fmla="*/ 894 h 1230"/>
                  <a:gd name="T84" fmla="*/ 700 w 1228"/>
                  <a:gd name="T85" fmla="*/ 864 h 1230"/>
                  <a:gd name="T86" fmla="*/ 750 w 1228"/>
                  <a:gd name="T87" fmla="*/ 870 h 1230"/>
                  <a:gd name="T88" fmla="*/ 782 w 1228"/>
                  <a:gd name="T89" fmla="*/ 894 h 1230"/>
                  <a:gd name="T90" fmla="*/ 1100 w 1228"/>
                  <a:gd name="T91" fmla="*/ 1210 h 1230"/>
                  <a:gd name="T92" fmla="*/ 1130 w 1228"/>
                  <a:gd name="T93" fmla="*/ 1226 h 1230"/>
                  <a:gd name="T94" fmla="*/ 1164 w 1228"/>
                  <a:gd name="T95" fmla="*/ 1228 h 1230"/>
                  <a:gd name="T96" fmla="*/ 1188 w 1228"/>
                  <a:gd name="T97" fmla="*/ 1218 h 1230"/>
                  <a:gd name="T98" fmla="*/ 1214 w 1228"/>
                  <a:gd name="T99" fmla="*/ 1194 h 1230"/>
                  <a:gd name="T100" fmla="*/ 1228 w 1228"/>
                  <a:gd name="T101" fmla="*/ 1162 h 1230"/>
                  <a:gd name="T102" fmla="*/ 1228 w 1228"/>
                  <a:gd name="T103" fmla="*/ 910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8" h="1230">
                    <a:moveTo>
                      <a:pt x="1228" y="670"/>
                    </a:moveTo>
                    <a:lnTo>
                      <a:pt x="1228" y="670"/>
                    </a:lnTo>
                    <a:lnTo>
                      <a:pt x="1228" y="456"/>
                    </a:lnTo>
                    <a:lnTo>
                      <a:pt x="1228" y="456"/>
                    </a:lnTo>
                    <a:lnTo>
                      <a:pt x="1228" y="440"/>
                    </a:lnTo>
                    <a:lnTo>
                      <a:pt x="1224" y="424"/>
                    </a:lnTo>
                    <a:lnTo>
                      <a:pt x="1218" y="410"/>
                    </a:lnTo>
                    <a:lnTo>
                      <a:pt x="1208" y="398"/>
                    </a:lnTo>
                    <a:lnTo>
                      <a:pt x="1208" y="398"/>
                    </a:lnTo>
                    <a:lnTo>
                      <a:pt x="1168" y="356"/>
                    </a:lnTo>
                    <a:lnTo>
                      <a:pt x="1146" y="334"/>
                    </a:lnTo>
                    <a:lnTo>
                      <a:pt x="1122" y="316"/>
                    </a:lnTo>
                    <a:lnTo>
                      <a:pt x="1122" y="316"/>
                    </a:lnTo>
                    <a:lnTo>
                      <a:pt x="1120" y="308"/>
                    </a:lnTo>
                    <a:lnTo>
                      <a:pt x="1116" y="302"/>
                    </a:lnTo>
                    <a:lnTo>
                      <a:pt x="1104" y="290"/>
                    </a:lnTo>
                    <a:lnTo>
                      <a:pt x="1104" y="290"/>
                    </a:lnTo>
                    <a:lnTo>
                      <a:pt x="1062" y="252"/>
                    </a:lnTo>
                    <a:lnTo>
                      <a:pt x="1022" y="212"/>
                    </a:lnTo>
                    <a:lnTo>
                      <a:pt x="1022" y="212"/>
                    </a:lnTo>
                    <a:lnTo>
                      <a:pt x="930" y="118"/>
                    </a:lnTo>
                    <a:lnTo>
                      <a:pt x="838" y="24"/>
                    </a:lnTo>
                    <a:lnTo>
                      <a:pt x="838" y="24"/>
                    </a:lnTo>
                    <a:lnTo>
                      <a:pt x="826" y="14"/>
                    </a:lnTo>
                    <a:lnTo>
                      <a:pt x="812" y="6"/>
                    </a:lnTo>
                    <a:lnTo>
                      <a:pt x="796" y="2"/>
                    </a:lnTo>
                    <a:lnTo>
                      <a:pt x="780" y="0"/>
                    </a:lnTo>
                    <a:lnTo>
                      <a:pt x="780" y="0"/>
                    </a:lnTo>
                    <a:lnTo>
                      <a:pt x="90" y="0"/>
                    </a:lnTo>
                    <a:lnTo>
                      <a:pt x="90" y="0"/>
                    </a:lnTo>
                    <a:lnTo>
                      <a:pt x="76" y="0"/>
                    </a:lnTo>
                    <a:lnTo>
                      <a:pt x="62" y="2"/>
                    </a:lnTo>
                    <a:lnTo>
                      <a:pt x="50" y="6"/>
                    </a:lnTo>
                    <a:lnTo>
                      <a:pt x="40" y="12"/>
                    </a:lnTo>
                    <a:lnTo>
                      <a:pt x="30" y="20"/>
                    </a:lnTo>
                    <a:lnTo>
                      <a:pt x="20" y="28"/>
                    </a:lnTo>
                    <a:lnTo>
                      <a:pt x="12" y="38"/>
                    </a:lnTo>
                    <a:lnTo>
                      <a:pt x="6" y="52"/>
                    </a:lnTo>
                    <a:lnTo>
                      <a:pt x="6" y="52"/>
                    </a:lnTo>
                    <a:lnTo>
                      <a:pt x="2" y="64"/>
                    </a:lnTo>
                    <a:lnTo>
                      <a:pt x="0" y="78"/>
                    </a:lnTo>
                    <a:lnTo>
                      <a:pt x="0" y="90"/>
                    </a:lnTo>
                    <a:lnTo>
                      <a:pt x="2" y="100"/>
                    </a:lnTo>
                    <a:lnTo>
                      <a:pt x="8" y="112"/>
                    </a:lnTo>
                    <a:lnTo>
                      <a:pt x="14" y="122"/>
                    </a:lnTo>
                    <a:lnTo>
                      <a:pt x="22" y="132"/>
                    </a:lnTo>
                    <a:lnTo>
                      <a:pt x="30" y="142"/>
                    </a:lnTo>
                    <a:lnTo>
                      <a:pt x="30" y="142"/>
                    </a:lnTo>
                    <a:lnTo>
                      <a:pt x="124" y="236"/>
                    </a:lnTo>
                    <a:lnTo>
                      <a:pt x="218" y="330"/>
                    </a:lnTo>
                    <a:lnTo>
                      <a:pt x="218" y="330"/>
                    </a:lnTo>
                    <a:lnTo>
                      <a:pt x="286" y="396"/>
                    </a:lnTo>
                    <a:lnTo>
                      <a:pt x="320" y="430"/>
                    </a:lnTo>
                    <a:lnTo>
                      <a:pt x="350" y="466"/>
                    </a:lnTo>
                    <a:lnTo>
                      <a:pt x="350" y="466"/>
                    </a:lnTo>
                    <a:lnTo>
                      <a:pt x="358" y="480"/>
                    </a:lnTo>
                    <a:lnTo>
                      <a:pt x="364" y="492"/>
                    </a:lnTo>
                    <a:lnTo>
                      <a:pt x="368" y="506"/>
                    </a:lnTo>
                    <a:lnTo>
                      <a:pt x="368" y="518"/>
                    </a:lnTo>
                    <a:lnTo>
                      <a:pt x="366" y="532"/>
                    </a:lnTo>
                    <a:lnTo>
                      <a:pt x="360" y="544"/>
                    </a:lnTo>
                    <a:lnTo>
                      <a:pt x="354" y="556"/>
                    </a:lnTo>
                    <a:lnTo>
                      <a:pt x="344" y="568"/>
                    </a:lnTo>
                    <a:lnTo>
                      <a:pt x="344" y="568"/>
                    </a:lnTo>
                    <a:lnTo>
                      <a:pt x="260" y="652"/>
                    </a:lnTo>
                    <a:lnTo>
                      <a:pt x="260" y="652"/>
                    </a:lnTo>
                    <a:lnTo>
                      <a:pt x="252" y="662"/>
                    </a:lnTo>
                    <a:lnTo>
                      <a:pt x="242" y="668"/>
                    </a:lnTo>
                    <a:lnTo>
                      <a:pt x="234" y="670"/>
                    </a:lnTo>
                    <a:lnTo>
                      <a:pt x="226" y="672"/>
                    </a:lnTo>
                    <a:lnTo>
                      <a:pt x="216" y="670"/>
                    </a:lnTo>
                    <a:lnTo>
                      <a:pt x="208" y="668"/>
                    </a:lnTo>
                    <a:lnTo>
                      <a:pt x="198" y="662"/>
                    </a:lnTo>
                    <a:lnTo>
                      <a:pt x="188" y="654"/>
                    </a:lnTo>
                    <a:lnTo>
                      <a:pt x="188" y="654"/>
                    </a:lnTo>
                    <a:lnTo>
                      <a:pt x="162" y="628"/>
                    </a:lnTo>
                    <a:lnTo>
                      <a:pt x="136" y="600"/>
                    </a:lnTo>
                    <a:lnTo>
                      <a:pt x="136" y="600"/>
                    </a:lnTo>
                    <a:lnTo>
                      <a:pt x="126" y="592"/>
                    </a:lnTo>
                    <a:lnTo>
                      <a:pt x="114" y="588"/>
                    </a:lnTo>
                    <a:lnTo>
                      <a:pt x="102" y="586"/>
                    </a:lnTo>
                    <a:lnTo>
                      <a:pt x="90" y="590"/>
                    </a:lnTo>
                    <a:lnTo>
                      <a:pt x="90" y="590"/>
                    </a:lnTo>
                    <a:lnTo>
                      <a:pt x="82" y="592"/>
                    </a:lnTo>
                    <a:lnTo>
                      <a:pt x="78" y="596"/>
                    </a:lnTo>
                    <a:lnTo>
                      <a:pt x="70" y="606"/>
                    </a:lnTo>
                    <a:lnTo>
                      <a:pt x="66" y="616"/>
                    </a:lnTo>
                    <a:lnTo>
                      <a:pt x="66" y="630"/>
                    </a:lnTo>
                    <a:lnTo>
                      <a:pt x="66" y="630"/>
                    </a:lnTo>
                    <a:lnTo>
                      <a:pt x="66" y="1118"/>
                    </a:lnTo>
                    <a:lnTo>
                      <a:pt x="66" y="1118"/>
                    </a:lnTo>
                    <a:lnTo>
                      <a:pt x="66" y="1130"/>
                    </a:lnTo>
                    <a:lnTo>
                      <a:pt x="68" y="1140"/>
                    </a:lnTo>
                    <a:lnTo>
                      <a:pt x="72" y="1148"/>
                    </a:lnTo>
                    <a:lnTo>
                      <a:pt x="76" y="1154"/>
                    </a:lnTo>
                    <a:lnTo>
                      <a:pt x="82" y="1158"/>
                    </a:lnTo>
                    <a:lnTo>
                      <a:pt x="90" y="1162"/>
                    </a:lnTo>
                    <a:lnTo>
                      <a:pt x="100" y="1164"/>
                    </a:lnTo>
                    <a:lnTo>
                      <a:pt x="112" y="1164"/>
                    </a:lnTo>
                    <a:lnTo>
                      <a:pt x="112" y="1164"/>
                    </a:lnTo>
                    <a:lnTo>
                      <a:pt x="598" y="1164"/>
                    </a:lnTo>
                    <a:lnTo>
                      <a:pt x="598" y="1164"/>
                    </a:lnTo>
                    <a:lnTo>
                      <a:pt x="610" y="1164"/>
                    </a:lnTo>
                    <a:lnTo>
                      <a:pt x="622" y="1160"/>
                    </a:lnTo>
                    <a:lnTo>
                      <a:pt x="632" y="1152"/>
                    </a:lnTo>
                    <a:lnTo>
                      <a:pt x="636" y="1148"/>
                    </a:lnTo>
                    <a:lnTo>
                      <a:pt x="638" y="1142"/>
                    </a:lnTo>
                    <a:lnTo>
                      <a:pt x="638" y="1142"/>
                    </a:lnTo>
                    <a:lnTo>
                      <a:pt x="642" y="1128"/>
                    </a:lnTo>
                    <a:lnTo>
                      <a:pt x="642" y="1114"/>
                    </a:lnTo>
                    <a:lnTo>
                      <a:pt x="636" y="1104"/>
                    </a:lnTo>
                    <a:lnTo>
                      <a:pt x="628" y="1092"/>
                    </a:lnTo>
                    <a:lnTo>
                      <a:pt x="628" y="1092"/>
                    </a:lnTo>
                    <a:lnTo>
                      <a:pt x="576" y="1042"/>
                    </a:lnTo>
                    <a:lnTo>
                      <a:pt x="576" y="1042"/>
                    </a:lnTo>
                    <a:lnTo>
                      <a:pt x="568" y="1032"/>
                    </a:lnTo>
                    <a:lnTo>
                      <a:pt x="562" y="1022"/>
                    </a:lnTo>
                    <a:lnTo>
                      <a:pt x="558" y="1014"/>
                    </a:lnTo>
                    <a:lnTo>
                      <a:pt x="556" y="1006"/>
                    </a:lnTo>
                    <a:lnTo>
                      <a:pt x="558" y="996"/>
                    </a:lnTo>
                    <a:lnTo>
                      <a:pt x="562" y="988"/>
                    </a:lnTo>
                    <a:lnTo>
                      <a:pt x="568" y="980"/>
                    </a:lnTo>
                    <a:lnTo>
                      <a:pt x="576" y="970"/>
                    </a:lnTo>
                    <a:lnTo>
                      <a:pt x="576" y="970"/>
                    </a:lnTo>
                    <a:lnTo>
                      <a:pt x="652" y="894"/>
                    </a:lnTo>
                    <a:lnTo>
                      <a:pt x="652" y="894"/>
                    </a:lnTo>
                    <a:lnTo>
                      <a:pt x="668" y="880"/>
                    </a:lnTo>
                    <a:lnTo>
                      <a:pt x="684" y="870"/>
                    </a:lnTo>
                    <a:lnTo>
                      <a:pt x="700" y="864"/>
                    </a:lnTo>
                    <a:lnTo>
                      <a:pt x="716" y="862"/>
                    </a:lnTo>
                    <a:lnTo>
                      <a:pt x="734" y="864"/>
                    </a:lnTo>
                    <a:lnTo>
                      <a:pt x="750" y="870"/>
                    </a:lnTo>
                    <a:lnTo>
                      <a:pt x="766" y="880"/>
                    </a:lnTo>
                    <a:lnTo>
                      <a:pt x="782" y="894"/>
                    </a:lnTo>
                    <a:lnTo>
                      <a:pt x="782" y="894"/>
                    </a:lnTo>
                    <a:lnTo>
                      <a:pt x="1090" y="1202"/>
                    </a:lnTo>
                    <a:lnTo>
                      <a:pt x="1090" y="1202"/>
                    </a:lnTo>
                    <a:lnTo>
                      <a:pt x="1100" y="1210"/>
                    </a:lnTo>
                    <a:lnTo>
                      <a:pt x="1108" y="1218"/>
                    </a:lnTo>
                    <a:lnTo>
                      <a:pt x="1118" y="1222"/>
                    </a:lnTo>
                    <a:lnTo>
                      <a:pt x="1130" y="1226"/>
                    </a:lnTo>
                    <a:lnTo>
                      <a:pt x="1140" y="1230"/>
                    </a:lnTo>
                    <a:lnTo>
                      <a:pt x="1152" y="1230"/>
                    </a:lnTo>
                    <a:lnTo>
                      <a:pt x="1164" y="1228"/>
                    </a:lnTo>
                    <a:lnTo>
                      <a:pt x="1176" y="1224"/>
                    </a:lnTo>
                    <a:lnTo>
                      <a:pt x="1176" y="1224"/>
                    </a:lnTo>
                    <a:lnTo>
                      <a:pt x="1188" y="1218"/>
                    </a:lnTo>
                    <a:lnTo>
                      <a:pt x="1198" y="1212"/>
                    </a:lnTo>
                    <a:lnTo>
                      <a:pt x="1208" y="1204"/>
                    </a:lnTo>
                    <a:lnTo>
                      <a:pt x="1214" y="1194"/>
                    </a:lnTo>
                    <a:lnTo>
                      <a:pt x="1220" y="1184"/>
                    </a:lnTo>
                    <a:lnTo>
                      <a:pt x="1226" y="1174"/>
                    </a:lnTo>
                    <a:lnTo>
                      <a:pt x="1228" y="1162"/>
                    </a:lnTo>
                    <a:lnTo>
                      <a:pt x="1228" y="1150"/>
                    </a:lnTo>
                    <a:lnTo>
                      <a:pt x="1228" y="1150"/>
                    </a:lnTo>
                    <a:lnTo>
                      <a:pt x="1228" y="910"/>
                    </a:lnTo>
                    <a:lnTo>
                      <a:pt x="1228" y="670"/>
                    </a:lnTo>
                    <a:lnTo>
                      <a:pt x="1228" y="670"/>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9" name="靖飞在肝PPT22-2">
                <a:extLst>
                  <a:ext uri="{FF2B5EF4-FFF2-40B4-BE49-F238E27FC236}">
                    <a16:creationId xmlns:a16="http://schemas.microsoft.com/office/drawing/2014/main" id="{2A0E57E5-6F99-4DB8-9F0A-EAE88223C251}"/>
                  </a:ext>
                </a:extLst>
              </p:cNvPr>
              <p:cNvSpPr txBox="1"/>
              <p:nvPr/>
            </p:nvSpPr>
            <p:spPr>
              <a:xfrm rot="2700000" flipH="1">
                <a:off x="6236757"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3</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sp>
          <p:nvSpPr>
            <p:cNvPr id="150" name="流程图: 接点 149">
              <a:extLst>
                <a:ext uri="{FF2B5EF4-FFF2-40B4-BE49-F238E27FC236}">
                  <a16:creationId xmlns:a16="http://schemas.microsoft.com/office/drawing/2014/main" id="{7D49C632-1F58-4FA7-BA98-141816EFF36B}"/>
                </a:ext>
              </a:extLst>
            </p:cNvPr>
            <p:cNvSpPr/>
            <p:nvPr/>
          </p:nvSpPr>
          <p:spPr>
            <a:xfrm>
              <a:off x="6494875" y="3279077"/>
              <a:ext cx="1263370" cy="1263370"/>
            </a:xfrm>
            <a:prstGeom prst="flowChartConnector">
              <a:avLst/>
            </a:prstGeom>
            <a:solidFill>
              <a:schemeClr val="bg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1" name="文本框 150">
              <a:extLst>
                <a:ext uri="{FF2B5EF4-FFF2-40B4-BE49-F238E27FC236}">
                  <a16:creationId xmlns:a16="http://schemas.microsoft.com/office/drawing/2014/main" id="{38CFC9D7-4679-4DC5-8BA6-65BEF80CCFE7}"/>
                </a:ext>
              </a:extLst>
            </p:cNvPr>
            <p:cNvSpPr txBox="1"/>
            <p:nvPr/>
          </p:nvSpPr>
          <p:spPr>
            <a:xfrm>
              <a:off x="6617880" y="3506412"/>
              <a:ext cx="1017360" cy="830997"/>
            </a:xfrm>
            <a:prstGeom prst="rect">
              <a:avLst/>
            </a:prstGeom>
            <a:noFill/>
          </p:spPr>
          <p:txBody>
            <a:bodyPr wrap="square" rtlCol="0">
              <a:spAutoFit/>
            </a:bodyPr>
            <a:lstStyle/>
            <a:p>
              <a:pPr algn="ct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grpSp>
      <p:sp>
        <p:nvSpPr>
          <p:cNvPr id="152" name="文本框 151">
            <a:extLst>
              <a:ext uri="{FF2B5EF4-FFF2-40B4-BE49-F238E27FC236}">
                <a16:creationId xmlns:a16="http://schemas.microsoft.com/office/drawing/2014/main" id="{806D11DA-9446-4004-94EE-35EEF06E98FA}"/>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3" name="任意矩形：006">
            <a:extLst>
              <a:ext uri="{FF2B5EF4-FFF2-40B4-BE49-F238E27FC236}">
                <a16:creationId xmlns:a16="http://schemas.microsoft.com/office/drawing/2014/main" id="{81B4CDC3-67F1-4233-8B3C-8FBA7E567409}"/>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C1A30B15-8195-4307-A38C-A12C001EC6E1}"/>
              </a:ext>
            </a:extLst>
          </p:cNvPr>
          <p:cNvSpPr/>
          <p:nvPr/>
        </p:nvSpPr>
        <p:spPr>
          <a:xfrm>
            <a:off x="6755176" y="1373270"/>
            <a:ext cx="5101862"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6377683" y="1867550"/>
            <a:ext cx="95812" cy="4166372"/>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rotWithShape="1">
          <a:blip r:embed="rId2"/>
          <a:srcRect l="1800"/>
          <a:stretch/>
        </p:blipFill>
        <p:spPr>
          <a:xfrm>
            <a:off x="6827525" y="1788490"/>
            <a:ext cx="4983130" cy="4324490"/>
          </a:xfrm>
          <a:prstGeom prst="rect">
            <a:avLst/>
          </a:prstGeom>
        </p:spPr>
      </p:pic>
      <p:grpSp>
        <p:nvGrpSpPr>
          <p:cNvPr id="15" name="组合 14">
            <a:extLst>
              <a:ext uri="{FF2B5EF4-FFF2-40B4-BE49-F238E27FC236}">
                <a16:creationId xmlns:a16="http://schemas.microsoft.com/office/drawing/2014/main" id="{C5BC6DF2-F9C9-4EF4-9FEC-397167620B1D}"/>
              </a:ext>
            </a:extLst>
          </p:cNvPr>
          <p:cNvGrpSpPr/>
          <p:nvPr/>
        </p:nvGrpSpPr>
        <p:grpSpPr>
          <a:xfrm>
            <a:off x="2387601" y="1867549"/>
            <a:ext cx="3708400" cy="4166373"/>
            <a:chOff x="2387601" y="1708315"/>
            <a:chExt cx="3708400" cy="4166373"/>
          </a:xfrm>
        </p:grpSpPr>
        <p:grpSp>
          <p:nvGrpSpPr>
            <p:cNvPr id="12" name="组合 11">
              <a:extLst>
                <a:ext uri="{FF2B5EF4-FFF2-40B4-BE49-F238E27FC236}">
                  <a16:creationId xmlns:a16="http://schemas.microsoft.com/office/drawing/2014/main" id="{093D173E-B674-4F93-8EC7-35EC0DAD4C57}"/>
                </a:ext>
              </a:extLst>
            </p:cNvPr>
            <p:cNvGrpSpPr/>
            <p:nvPr/>
          </p:nvGrpSpPr>
          <p:grpSpPr>
            <a:xfrm>
              <a:off x="4130004" y="2158586"/>
              <a:ext cx="223594" cy="223592"/>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2765218" y="5358932"/>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2387601" y="3023211"/>
              <a:ext cx="3708400"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7603F3EA-A7C6-4BB1-8A0F-71C4AA639687}"/>
                </a:ext>
              </a:extLst>
            </p:cNvPr>
            <p:cNvSpPr txBox="1"/>
            <p:nvPr/>
          </p:nvSpPr>
          <p:spPr>
            <a:xfrm>
              <a:off x="2992289" y="170831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2525714" y="3212625"/>
              <a:ext cx="3432175" cy="166673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1" name="文本框 20">
              <a:extLst>
                <a:ext uri="{FF2B5EF4-FFF2-40B4-BE49-F238E27FC236}">
                  <a16:creationId xmlns:a16="http://schemas.microsoft.com/office/drawing/2014/main" id="{85AD66F0-7EDB-40DD-AB32-6D3602A82B02}"/>
                </a:ext>
              </a:extLst>
            </p:cNvPr>
            <p:cNvSpPr txBox="1"/>
            <p:nvPr/>
          </p:nvSpPr>
          <p:spPr>
            <a:xfrm>
              <a:off x="2992289" y="242382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cxnSp>
          <p:nvCxnSpPr>
            <p:cNvPr id="13" name="直接连接符 12">
              <a:extLst>
                <a:ext uri="{FF2B5EF4-FFF2-40B4-BE49-F238E27FC236}">
                  <a16:creationId xmlns:a16="http://schemas.microsoft.com/office/drawing/2014/main" id="{0FF2BCAD-1D00-4BB3-B620-30AFFC127DEF}"/>
                </a:ext>
              </a:extLst>
            </p:cNvPr>
            <p:cNvCxnSpPr/>
            <p:nvPr/>
          </p:nvCxnSpPr>
          <p:spPr>
            <a:xfrm>
              <a:off x="4241801" y="5068777"/>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3" name="文本框 92">
            <a:extLst>
              <a:ext uri="{FF2B5EF4-FFF2-40B4-BE49-F238E27FC236}">
                <a16:creationId xmlns:a16="http://schemas.microsoft.com/office/drawing/2014/main" id="{1A6F520E-7DC1-4511-A3A1-2A7857ED3EE3}"/>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研究材料</a:t>
            </a:r>
          </a:p>
        </p:txBody>
      </p:sp>
      <p:sp>
        <p:nvSpPr>
          <p:cNvPr id="94" name="矩形 93">
            <a:extLst>
              <a:ext uri="{FF2B5EF4-FFF2-40B4-BE49-F238E27FC236}">
                <a16:creationId xmlns:a16="http://schemas.microsoft.com/office/drawing/2014/main" id="{B07A27FE-6E9A-470D-ACAB-2C8A82CA4AEF}"/>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4849F687-108D-4BBE-8D0D-0576F1A973D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7B187B36-1FF3-4754-B5AC-542FFB9111CE}"/>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031215E6-8FA0-4944-9DAF-73401F29C3F3}"/>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26B08840-F485-4262-9667-BA7EFA87CAB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94F1B7ED-5B9D-4D05-BD01-A41422D2941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5B847256-D901-421C-8D10-90DEBBC5209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F1F76ECD-36B4-4E8E-A2DA-A97B8F0F2D9E}"/>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2" name="任意矩形：004">
            <a:extLst>
              <a:ext uri="{FF2B5EF4-FFF2-40B4-BE49-F238E27FC236}">
                <a16:creationId xmlns:a16="http://schemas.microsoft.com/office/drawing/2014/main" id="{DF481234-9A98-48FC-B60F-1451605DC18D}"/>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文本框 102">
            <a:extLst>
              <a:ext uri="{FF2B5EF4-FFF2-40B4-BE49-F238E27FC236}">
                <a16:creationId xmlns:a16="http://schemas.microsoft.com/office/drawing/2014/main" id="{D603F8B3-9BC9-4C1E-B622-FE0FE53BB4A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4" name="任意矩形：005">
            <a:extLst>
              <a:ext uri="{FF2B5EF4-FFF2-40B4-BE49-F238E27FC236}">
                <a16:creationId xmlns:a16="http://schemas.microsoft.com/office/drawing/2014/main" id="{014CB8FB-7835-43DA-AE5C-C97C42A929F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8776F8B8-3323-4813-83D0-9305AD5498B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0" name="任意矩形：006">
            <a:extLst>
              <a:ext uri="{FF2B5EF4-FFF2-40B4-BE49-F238E27FC236}">
                <a16:creationId xmlns:a16="http://schemas.microsoft.com/office/drawing/2014/main" id="{844B2B95-1808-4C85-9F43-0FA396F4B08A}"/>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箭头: 五边形 8">
            <a:extLst>
              <a:ext uri="{FF2B5EF4-FFF2-40B4-BE49-F238E27FC236}">
                <a16:creationId xmlns:a16="http://schemas.microsoft.com/office/drawing/2014/main" id="{382F7EDE-8AEC-4B6B-86E1-58F59D1D9AB1}"/>
              </a:ext>
            </a:extLst>
          </p:cNvPr>
          <p:cNvSpPr/>
          <p:nvPr/>
        </p:nvSpPr>
        <p:spPr>
          <a:xfrm>
            <a:off x="2387601" y="3648672"/>
            <a:ext cx="1966036"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五边形 19">
            <a:extLst>
              <a:ext uri="{FF2B5EF4-FFF2-40B4-BE49-F238E27FC236}">
                <a16:creationId xmlns:a16="http://schemas.microsoft.com/office/drawing/2014/main" id="{CB5BE0A2-FBEE-4F79-9167-6A82E95E4CC9}"/>
              </a:ext>
            </a:extLst>
          </p:cNvPr>
          <p:cNvSpPr/>
          <p:nvPr/>
        </p:nvSpPr>
        <p:spPr>
          <a:xfrm>
            <a:off x="448542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422687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箭头: 五边形 36">
            <a:extLst>
              <a:ext uri="{FF2B5EF4-FFF2-40B4-BE49-F238E27FC236}">
                <a16:creationId xmlns:a16="http://schemas.microsoft.com/office/drawing/2014/main" id="{7DBC23B7-7267-4359-AC90-B7EB0B9B8CC1}"/>
              </a:ext>
            </a:extLst>
          </p:cNvPr>
          <p:cNvSpPr/>
          <p:nvPr/>
        </p:nvSpPr>
        <p:spPr>
          <a:xfrm>
            <a:off x="636127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610272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箭头: 五边形 39">
            <a:extLst>
              <a:ext uri="{FF2B5EF4-FFF2-40B4-BE49-F238E27FC236}">
                <a16:creationId xmlns:a16="http://schemas.microsoft.com/office/drawing/2014/main" id="{C4DB5728-3AA9-4994-A70C-C4548588BC2F}"/>
              </a:ext>
            </a:extLst>
          </p:cNvPr>
          <p:cNvSpPr/>
          <p:nvPr/>
        </p:nvSpPr>
        <p:spPr>
          <a:xfrm>
            <a:off x="823712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797857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箭头: 五边形 42">
            <a:extLst>
              <a:ext uri="{FF2B5EF4-FFF2-40B4-BE49-F238E27FC236}">
                <a16:creationId xmlns:a16="http://schemas.microsoft.com/office/drawing/2014/main" id="{B3CF8191-CBAD-41E9-89CF-9EF614203BCC}"/>
              </a:ext>
            </a:extLst>
          </p:cNvPr>
          <p:cNvSpPr/>
          <p:nvPr/>
        </p:nvSpPr>
        <p:spPr>
          <a:xfrm>
            <a:off x="1011297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985442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a:extLst>
              <a:ext uri="{FF2B5EF4-FFF2-40B4-BE49-F238E27FC236}">
                <a16:creationId xmlns:a16="http://schemas.microsoft.com/office/drawing/2014/main" id="{C0D64F46-363F-4C4C-82FD-D488063E79F6}"/>
              </a:ext>
            </a:extLst>
          </p:cNvPr>
          <p:cNvSpPr txBox="1"/>
          <p:nvPr/>
        </p:nvSpPr>
        <p:spPr>
          <a:xfrm>
            <a:off x="2743760"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8" name="文本框 67">
            <a:extLst>
              <a:ext uri="{FF2B5EF4-FFF2-40B4-BE49-F238E27FC236}">
                <a16:creationId xmlns:a16="http://schemas.microsoft.com/office/drawing/2014/main" id="{7EF220C1-0CA3-46FF-A552-C93E059ACBE6}"/>
              </a:ext>
            </a:extLst>
          </p:cNvPr>
          <p:cNvSpPr txBox="1"/>
          <p:nvPr/>
        </p:nvSpPr>
        <p:spPr>
          <a:xfrm>
            <a:off x="469172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656757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844342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1031927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a:extLst>
              <a:ext uri="{FF2B5EF4-FFF2-40B4-BE49-F238E27FC236}">
                <a16:creationId xmlns:a16="http://schemas.microsoft.com/office/drawing/2014/main" id="{847D05DC-12B3-4F4A-91A7-1FD7AEAD420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研究思路</a:t>
            </a:r>
          </a:p>
        </p:txBody>
      </p:sp>
      <p:sp>
        <p:nvSpPr>
          <p:cNvPr id="127" name="矩形 126">
            <a:extLst>
              <a:ext uri="{FF2B5EF4-FFF2-40B4-BE49-F238E27FC236}">
                <a16:creationId xmlns:a16="http://schemas.microsoft.com/office/drawing/2014/main" id="{7FC725D7-296E-42E8-B9D7-61D8333DA880}"/>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文本框 127">
            <a:extLst>
              <a:ext uri="{FF2B5EF4-FFF2-40B4-BE49-F238E27FC236}">
                <a16:creationId xmlns:a16="http://schemas.microsoft.com/office/drawing/2014/main" id="{0644A8E7-FDE3-4653-847A-9D4144295C0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9" name="任意矩形：001">
            <a:extLst>
              <a:ext uri="{FF2B5EF4-FFF2-40B4-BE49-F238E27FC236}">
                <a16:creationId xmlns:a16="http://schemas.microsoft.com/office/drawing/2014/main" id="{8141DD6C-A9FA-40A0-A3AE-6E236FF7A4D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任意矩形：002">
            <a:extLst>
              <a:ext uri="{FF2B5EF4-FFF2-40B4-BE49-F238E27FC236}">
                <a16:creationId xmlns:a16="http://schemas.microsoft.com/office/drawing/2014/main" id="{D677889F-B7A5-4DDA-B604-61F8587BED2D}"/>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1" name="文本框 130">
            <a:extLst>
              <a:ext uri="{FF2B5EF4-FFF2-40B4-BE49-F238E27FC236}">
                <a16:creationId xmlns:a16="http://schemas.microsoft.com/office/drawing/2014/main" id="{1F602EA9-F9F7-4F5E-A0EC-3EABEF542E4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2" name="任意矩形：003">
            <a:extLst>
              <a:ext uri="{FF2B5EF4-FFF2-40B4-BE49-F238E27FC236}">
                <a16:creationId xmlns:a16="http://schemas.microsoft.com/office/drawing/2014/main" id="{A0755130-A9CA-4BDB-B2BF-54698BFB14AD}"/>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E1E121B-F310-497C-8529-1812CCBBD969}"/>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34" name="文本框 133">
            <a:extLst>
              <a:ext uri="{FF2B5EF4-FFF2-40B4-BE49-F238E27FC236}">
                <a16:creationId xmlns:a16="http://schemas.microsoft.com/office/drawing/2014/main" id="{33B9CBD3-1B20-42B7-AFF2-AAC89A1821E2}"/>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5" name="任意矩形：004">
            <a:extLst>
              <a:ext uri="{FF2B5EF4-FFF2-40B4-BE49-F238E27FC236}">
                <a16:creationId xmlns:a16="http://schemas.microsoft.com/office/drawing/2014/main" id="{150C961D-9D02-46B8-83DC-F9FE6C37D28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文本框 135">
            <a:extLst>
              <a:ext uri="{FF2B5EF4-FFF2-40B4-BE49-F238E27FC236}">
                <a16:creationId xmlns:a16="http://schemas.microsoft.com/office/drawing/2014/main" id="{74E507F1-350E-4BEA-A6CE-E9BE72117BD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7" name="任意矩形：005">
            <a:extLst>
              <a:ext uri="{FF2B5EF4-FFF2-40B4-BE49-F238E27FC236}">
                <a16:creationId xmlns:a16="http://schemas.microsoft.com/office/drawing/2014/main" id="{75C56F8E-2DFA-4329-90D8-65052270085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 name="组合 5">
            <a:extLst>
              <a:ext uri="{FF2B5EF4-FFF2-40B4-BE49-F238E27FC236}">
                <a16:creationId xmlns:a16="http://schemas.microsoft.com/office/drawing/2014/main" id="{7B85E33D-82F9-4F7F-9920-FDADE8A740CC}"/>
              </a:ext>
            </a:extLst>
          </p:cNvPr>
          <p:cNvGrpSpPr/>
          <p:nvPr/>
        </p:nvGrpSpPr>
        <p:grpSpPr>
          <a:xfrm>
            <a:off x="2394673" y="1220245"/>
            <a:ext cx="2627454" cy="2428427"/>
            <a:chOff x="2394673" y="1220245"/>
            <a:chExt cx="2627454" cy="2428427"/>
          </a:xfrm>
        </p:grpSpPr>
        <p:sp>
          <p:nvSpPr>
            <p:cNvPr id="275" name="靖飞在肝PPT54-1">
              <a:extLst>
                <a:ext uri="{FF2B5EF4-FFF2-40B4-BE49-F238E27FC236}">
                  <a16:creationId xmlns:a16="http://schemas.microsoft.com/office/drawing/2014/main" id="{BE63C6A6-F184-48A8-BD52-9465E1821385}"/>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靖飞在肝PPT54-2">
              <a:extLst>
                <a:ext uri="{FF2B5EF4-FFF2-40B4-BE49-F238E27FC236}">
                  <a16:creationId xmlns:a16="http://schemas.microsoft.com/office/drawing/2014/main" id="{6A47AD27-A63C-45DE-A066-3754EE16A374}"/>
                </a:ext>
              </a:extLst>
            </p:cNvPr>
            <p:cNvSpPr txBox="1"/>
            <p:nvPr/>
          </p:nvSpPr>
          <p:spPr>
            <a:xfrm>
              <a:off x="2471545" y="1624377"/>
              <a:ext cx="2473710" cy="1626151"/>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77" name="靖飞在肝PPT54-3">
              <a:extLst>
                <a:ext uri="{FF2B5EF4-FFF2-40B4-BE49-F238E27FC236}">
                  <a16:creationId xmlns:a16="http://schemas.microsoft.com/office/drawing/2014/main" id="{D35C0549-5CEA-4B60-9221-9A9FAAC1679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研究背景与科学问题</a:t>
              </a:r>
            </a:p>
          </p:txBody>
        </p:sp>
        <p:grpSp>
          <p:nvGrpSpPr>
            <p:cNvPr id="5" name="组合 4">
              <a:extLst>
                <a:ext uri="{FF2B5EF4-FFF2-40B4-BE49-F238E27FC236}">
                  <a16:creationId xmlns:a16="http://schemas.microsoft.com/office/drawing/2014/main" id="{82C6845B-E1F7-4EC5-A4CE-9CF5A10D450A}"/>
                </a:ext>
              </a:extLst>
            </p:cNvPr>
            <p:cNvGrpSpPr/>
            <p:nvPr/>
          </p:nvGrpSpPr>
          <p:grpSpPr>
            <a:xfrm>
              <a:off x="3604729" y="3224304"/>
              <a:ext cx="207342" cy="424368"/>
              <a:chOff x="3748901" y="3224304"/>
              <a:chExt cx="207342" cy="424368"/>
            </a:xfrm>
          </p:grpSpPr>
          <p:sp>
            <p:nvSpPr>
              <p:cNvPr id="279" name="靖飞在肝PPT54-5">
                <a:extLst>
                  <a:ext uri="{FF2B5EF4-FFF2-40B4-BE49-F238E27FC236}">
                    <a16:creationId xmlns:a16="http://schemas.microsoft.com/office/drawing/2014/main" id="{523D129F-A1C6-4B07-B1ED-7823052BF9F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靖飞在肝PPT54-6">
                <a:extLst>
                  <a:ext uri="{FF2B5EF4-FFF2-40B4-BE49-F238E27FC236}">
                    <a16:creationId xmlns:a16="http://schemas.microsoft.com/office/drawing/2014/main" id="{DFE84E99-F110-41D4-AAEB-A82DB8E54F1A}"/>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9">
            <a:extLst>
              <a:ext uri="{FF2B5EF4-FFF2-40B4-BE49-F238E27FC236}">
                <a16:creationId xmlns:a16="http://schemas.microsoft.com/office/drawing/2014/main" id="{A3C6D781-2430-4D4A-883C-AE6D9A8772CB}"/>
              </a:ext>
            </a:extLst>
          </p:cNvPr>
          <p:cNvGrpSpPr/>
          <p:nvPr/>
        </p:nvGrpSpPr>
        <p:grpSpPr>
          <a:xfrm>
            <a:off x="4103401" y="4157639"/>
            <a:ext cx="2627454" cy="2440054"/>
            <a:chOff x="3415878" y="4157639"/>
            <a:chExt cx="2627454" cy="2440054"/>
          </a:xfrm>
        </p:grpSpPr>
        <p:sp>
          <p:nvSpPr>
            <p:cNvPr id="303" name="靖飞在肝PPT57">
              <a:extLst>
                <a:ext uri="{FF2B5EF4-FFF2-40B4-BE49-F238E27FC236}">
                  <a16:creationId xmlns:a16="http://schemas.microsoft.com/office/drawing/2014/main" id="{1120AEA7-5E82-45EA-96EC-6825DFE581C3}"/>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靖飞在肝PPT58">
              <a:extLst>
                <a:ext uri="{FF2B5EF4-FFF2-40B4-BE49-F238E27FC236}">
                  <a16:creationId xmlns:a16="http://schemas.microsoft.com/office/drawing/2014/main" id="{A55C851D-8FDA-4AB1-B94A-CDE565DB1CDB}"/>
                </a:ext>
              </a:extLst>
            </p:cNvPr>
            <p:cNvSpPr txBox="1"/>
            <p:nvPr/>
          </p:nvSpPr>
          <p:spPr>
            <a:xfrm>
              <a:off x="3504680" y="4980646"/>
              <a:ext cx="2454160" cy="1367618"/>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推测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催化</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第</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452</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位精氨酸单甲基化，增强其</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mRNA</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结合能力，稳定耐药相关靶基因（如</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HEG1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）表达，介导奥沙利铂耐药。</a:t>
              </a:r>
            </a:p>
          </p:txBody>
        </p:sp>
        <p:sp>
          <p:nvSpPr>
            <p:cNvPr id="305" name="靖飞在肝PPT59">
              <a:extLst>
                <a:ext uri="{FF2B5EF4-FFF2-40B4-BE49-F238E27FC236}">
                  <a16:creationId xmlns:a16="http://schemas.microsoft.com/office/drawing/2014/main" id="{93DC69B1-8C9B-48B7-8BD3-19C75068B9EE}"/>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高端机型推广突破</a:t>
              </a:r>
            </a:p>
          </p:txBody>
        </p:sp>
        <p:grpSp>
          <p:nvGrpSpPr>
            <p:cNvPr id="7" name="组合 6">
              <a:extLst>
                <a:ext uri="{FF2B5EF4-FFF2-40B4-BE49-F238E27FC236}">
                  <a16:creationId xmlns:a16="http://schemas.microsoft.com/office/drawing/2014/main" id="{D17F8A80-B9A0-4493-B495-B21B722E651A}"/>
                </a:ext>
              </a:extLst>
            </p:cNvPr>
            <p:cNvGrpSpPr/>
            <p:nvPr/>
          </p:nvGrpSpPr>
          <p:grpSpPr>
            <a:xfrm>
              <a:off x="4623596" y="4157639"/>
              <a:ext cx="207342" cy="444689"/>
              <a:chOff x="4754866" y="4157639"/>
              <a:chExt cx="207342" cy="444689"/>
            </a:xfrm>
          </p:grpSpPr>
          <p:sp>
            <p:nvSpPr>
              <p:cNvPr id="316" name="靖飞在肝PPT69-1">
                <a:extLst>
                  <a:ext uri="{FF2B5EF4-FFF2-40B4-BE49-F238E27FC236}">
                    <a16:creationId xmlns:a16="http://schemas.microsoft.com/office/drawing/2014/main" id="{7B97F61A-D5F5-4E1C-8576-5DFD9BAB1DDB}"/>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靖飞在肝PPT69-2">
                <a:extLst>
                  <a:ext uri="{FF2B5EF4-FFF2-40B4-BE49-F238E27FC236}">
                    <a16:creationId xmlns:a16="http://schemas.microsoft.com/office/drawing/2014/main" id="{0CBECDB0-B9A6-48A2-A46B-AF88CD425A23}"/>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0" name="组合 349">
            <a:extLst>
              <a:ext uri="{FF2B5EF4-FFF2-40B4-BE49-F238E27FC236}">
                <a16:creationId xmlns:a16="http://schemas.microsoft.com/office/drawing/2014/main" id="{66624794-545B-4C3C-BFB4-1C77F35EE46B}"/>
              </a:ext>
            </a:extLst>
          </p:cNvPr>
          <p:cNvGrpSpPr/>
          <p:nvPr/>
        </p:nvGrpSpPr>
        <p:grpSpPr>
          <a:xfrm>
            <a:off x="5812129" y="1220245"/>
            <a:ext cx="2627454" cy="2428427"/>
            <a:chOff x="2394673" y="1220245"/>
            <a:chExt cx="2627454" cy="2428427"/>
          </a:xfrm>
        </p:grpSpPr>
        <p:sp>
          <p:nvSpPr>
            <p:cNvPr id="351" name="靖飞在肝PPT54-1">
              <a:extLst>
                <a:ext uri="{FF2B5EF4-FFF2-40B4-BE49-F238E27FC236}">
                  <a16:creationId xmlns:a16="http://schemas.microsoft.com/office/drawing/2014/main" id="{10AD5BCB-FE69-49FB-B273-4ED5A9126F6C}"/>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靖飞在肝PPT54-2">
              <a:extLst>
                <a:ext uri="{FF2B5EF4-FFF2-40B4-BE49-F238E27FC236}">
                  <a16:creationId xmlns:a16="http://schemas.microsoft.com/office/drawing/2014/main" id="{BC8E12E7-2E48-46B0-A428-831D7C05EB81}"/>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353" name="靖飞在肝PPT54-3">
              <a:extLst>
                <a:ext uri="{FF2B5EF4-FFF2-40B4-BE49-F238E27FC236}">
                  <a16:creationId xmlns:a16="http://schemas.microsoft.com/office/drawing/2014/main" id="{0E1FF058-462D-4B24-BA82-5C96C51728A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机制验证策略</a:t>
              </a:r>
            </a:p>
          </p:txBody>
        </p:sp>
        <p:grpSp>
          <p:nvGrpSpPr>
            <p:cNvPr id="354" name="组合 353">
              <a:extLst>
                <a:ext uri="{FF2B5EF4-FFF2-40B4-BE49-F238E27FC236}">
                  <a16:creationId xmlns:a16="http://schemas.microsoft.com/office/drawing/2014/main" id="{FC530025-CE9A-459E-9AFE-EDCA767A915D}"/>
                </a:ext>
              </a:extLst>
            </p:cNvPr>
            <p:cNvGrpSpPr/>
            <p:nvPr/>
          </p:nvGrpSpPr>
          <p:grpSpPr>
            <a:xfrm>
              <a:off x="3604729" y="3224304"/>
              <a:ext cx="207342" cy="424368"/>
              <a:chOff x="3748901" y="3224304"/>
              <a:chExt cx="207342" cy="424368"/>
            </a:xfrm>
          </p:grpSpPr>
          <p:sp>
            <p:nvSpPr>
              <p:cNvPr id="355" name="靖飞在肝PPT54-5">
                <a:extLst>
                  <a:ext uri="{FF2B5EF4-FFF2-40B4-BE49-F238E27FC236}">
                    <a16:creationId xmlns:a16="http://schemas.microsoft.com/office/drawing/2014/main" id="{0370E686-34FD-498F-9FB3-D7C005BBE510}"/>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靖飞在肝PPT54-6">
                <a:extLst>
                  <a:ext uri="{FF2B5EF4-FFF2-40B4-BE49-F238E27FC236}">
                    <a16:creationId xmlns:a16="http://schemas.microsoft.com/office/drawing/2014/main" id="{BACAA78F-5E75-4128-9E14-B7877C27D999}"/>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7" name="组合 356">
            <a:extLst>
              <a:ext uri="{FF2B5EF4-FFF2-40B4-BE49-F238E27FC236}">
                <a16:creationId xmlns:a16="http://schemas.microsoft.com/office/drawing/2014/main" id="{B047290D-F1C8-48C3-9F32-27D3B3FCE356}"/>
              </a:ext>
            </a:extLst>
          </p:cNvPr>
          <p:cNvGrpSpPr/>
          <p:nvPr/>
        </p:nvGrpSpPr>
        <p:grpSpPr>
          <a:xfrm>
            <a:off x="9229584" y="1220245"/>
            <a:ext cx="2627454" cy="2428427"/>
            <a:chOff x="2394673" y="1220245"/>
            <a:chExt cx="2627454" cy="2428427"/>
          </a:xfrm>
        </p:grpSpPr>
        <p:sp>
          <p:nvSpPr>
            <p:cNvPr id="358" name="靖飞在肝PPT54-1">
              <a:extLst>
                <a:ext uri="{FF2B5EF4-FFF2-40B4-BE49-F238E27FC236}">
                  <a16:creationId xmlns:a16="http://schemas.microsoft.com/office/drawing/2014/main" id="{83E0DB01-B808-4F38-8FCB-3CD8CE108620}"/>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靖飞在肝PPT54-2">
              <a:extLst>
                <a:ext uri="{FF2B5EF4-FFF2-40B4-BE49-F238E27FC236}">
                  <a16:creationId xmlns:a16="http://schemas.microsoft.com/office/drawing/2014/main" id="{67F752E2-17EB-4328-87BA-95C99F179264}"/>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360" name="靖飞在肝PPT54-3">
              <a:extLst>
                <a:ext uri="{FF2B5EF4-FFF2-40B4-BE49-F238E27FC236}">
                  <a16:creationId xmlns:a16="http://schemas.microsoft.com/office/drawing/2014/main" id="{F8036AB0-4A30-4168-9401-C6CFF287C848}"/>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研究意义与展望</a:t>
              </a:r>
            </a:p>
          </p:txBody>
        </p:sp>
        <p:grpSp>
          <p:nvGrpSpPr>
            <p:cNvPr id="361" name="组合 360">
              <a:extLst>
                <a:ext uri="{FF2B5EF4-FFF2-40B4-BE49-F238E27FC236}">
                  <a16:creationId xmlns:a16="http://schemas.microsoft.com/office/drawing/2014/main" id="{56134C91-17D7-4A18-8E62-97941E9B8205}"/>
                </a:ext>
              </a:extLst>
            </p:cNvPr>
            <p:cNvGrpSpPr/>
            <p:nvPr/>
          </p:nvGrpSpPr>
          <p:grpSpPr>
            <a:xfrm>
              <a:off x="3604729" y="3224304"/>
              <a:ext cx="207342" cy="424368"/>
              <a:chOff x="3748901" y="3224304"/>
              <a:chExt cx="207342" cy="424368"/>
            </a:xfrm>
          </p:grpSpPr>
          <p:sp>
            <p:nvSpPr>
              <p:cNvPr id="362" name="靖飞在肝PPT54-5">
                <a:extLst>
                  <a:ext uri="{FF2B5EF4-FFF2-40B4-BE49-F238E27FC236}">
                    <a16:creationId xmlns:a16="http://schemas.microsoft.com/office/drawing/2014/main" id="{54A4C9C1-E0A7-4CA6-8BFD-3A9E2F96281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靖飞在肝PPT54-6">
                <a:extLst>
                  <a:ext uri="{FF2B5EF4-FFF2-40B4-BE49-F238E27FC236}">
                    <a16:creationId xmlns:a16="http://schemas.microsoft.com/office/drawing/2014/main" id="{4046CE0F-083F-4F3D-A730-B6620039BF58}"/>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64" name="组合 363">
            <a:extLst>
              <a:ext uri="{FF2B5EF4-FFF2-40B4-BE49-F238E27FC236}">
                <a16:creationId xmlns:a16="http://schemas.microsoft.com/office/drawing/2014/main" id="{F53173C5-4D1C-46A6-93EA-4585FD336B08}"/>
              </a:ext>
            </a:extLst>
          </p:cNvPr>
          <p:cNvGrpSpPr/>
          <p:nvPr/>
        </p:nvGrpSpPr>
        <p:grpSpPr>
          <a:xfrm>
            <a:off x="7520857" y="4157639"/>
            <a:ext cx="2627454" cy="2440054"/>
            <a:chOff x="3415878" y="4157639"/>
            <a:chExt cx="2627454" cy="2440054"/>
          </a:xfrm>
        </p:grpSpPr>
        <p:sp>
          <p:nvSpPr>
            <p:cNvPr id="365" name="靖飞在肝PPT57">
              <a:extLst>
                <a:ext uri="{FF2B5EF4-FFF2-40B4-BE49-F238E27FC236}">
                  <a16:creationId xmlns:a16="http://schemas.microsoft.com/office/drawing/2014/main" id="{6A54B964-8997-4625-84E9-08016202E330}"/>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靖飞在肝PPT58">
              <a:extLst>
                <a:ext uri="{FF2B5EF4-FFF2-40B4-BE49-F238E27FC236}">
                  <a16:creationId xmlns:a16="http://schemas.microsoft.com/office/drawing/2014/main" id="{660EFBA5-014D-4013-9E47-7C0FE3E52413}"/>
                </a:ext>
              </a:extLst>
            </p:cNvPr>
            <p:cNvSpPr txBox="1"/>
            <p:nvPr/>
          </p:nvSpPr>
          <p:spPr>
            <a:xfrm>
              <a:off x="3504680" y="4980646"/>
              <a:ext cx="2454160" cy="1109086"/>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收集肝癌患者化疗样本，检测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甲基化水平，分析其与奥沙利铂疗效及患者预后的相关性。</a:t>
              </a:r>
            </a:p>
          </p:txBody>
        </p:sp>
        <p:sp>
          <p:nvSpPr>
            <p:cNvPr id="367" name="靖飞在肝PPT59">
              <a:extLst>
                <a:ext uri="{FF2B5EF4-FFF2-40B4-BE49-F238E27FC236}">
                  <a16:creationId xmlns:a16="http://schemas.microsoft.com/office/drawing/2014/main" id="{C67C07BB-9AF6-4C8C-A9CB-FE4CE0643F54}"/>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临床关联分析</a:t>
              </a:r>
            </a:p>
          </p:txBody>
        </p:sp>
        <p:grpSp>
          <p:nvGrpSpPr>
            <p:cNvPr id="368" name="组合 367">
              <a:extLst>
                <a:ext uri="{FF2B5EF4-FFF2-40B4-BE49-F238E27FC236}">
                  <a16:creationId xmlns:a16="http://schemas.microsoft.com/office/drawing/2014/main" id="{89E62ADC-E0A8-42E4-8899-30E08FA41C01}"/>
                </a:ext>
              </a:extLst>
            </p:cNvPr>
            <p:cNvGrpSpPr/>
            <p:nvPr/>
          </p:nvGrpSpPr>
          <p:grpSpPr>
            <a:xfrm>
              <a:off x="4623596" y="4157639"/>
              <a:ext cx="207342" cy="444689"/>
              <a:chOff x="4754866" y="4157639"/>
              <a:chExt cx="207342" cy="444689"/>
            </a:xfrm>
          </p:grpSpPr>
          <p:sp>
            <p:nvSpPr>
              <p:cNvPr id="369" name="靖飞在肝PPT69-1">
                <a:extLst>
                  <a:ext uri="{FF2B5EF4-FFF2-40B4-BE49-F238E27FC236}">
                    <a16:creationId xmlns:a16="http://schemas.microsoft.com/office/drawing/2014/main" id="{292530C9-45BA-4B56-8727-81D3EB87CF48}"/>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靖飞在肝PPT69-2">
                <a:extLst>
                  <a:ext uri="{FF2B5EF4-FFF2-40B4-BE49-F238E27FC236}">
                    <a16:creationId xmlns:a16="http://schemas.microsoft.com/office/drawing/2014/main" id="{B972E024-4686-4341-A77F-5559C6B55644}"/>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1" name="文本框 370">
            <a:extLst>
              <a:ext uri="{FF2B5EF4-FFF2-40B4-BE49-F238E27FC236}">
                <a16:creationId xmlns:a16="http://schemas.microsoft.com/office/drawing/2014/main" id="{624F1CBC-B9CA-4BFD-9074-FF1A962C0CF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372" name="任意矩形：006">
            <a:extLst>
              <a:ext uri="{FF2B5EF4-FFF2-40B4-BE49-F238E27FC236}">
                <a16:creationId xmlns:a16="http://schemas.microsoft.com/office/drawing/2014/main" id="{5E94A1AD-B938-445E-9E33-D2FA813BB9A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a:extLst>
              <a:ext uri="{FF2B5EF4-FFF2-40B4-BE49-F238E27FC236}">
                <a16:creationId xmlns:a16="http://schemas.microsoft.com/office/drawing/2014/main" id="{09C035FF-A8E5-4111-A72B-CB4E753D6305}"/>
              </a:ext>
            </a:extLst>
          </p:cNvPr>
          <p:cNvSpPr/>
          <p:nvPr/>
        </p:nvSpPr>
        <p:spPr>
          <a:xfrm>
            <a:off x="0" y="409827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281D2AFF-12E4-4C6B-AE89-1839244B8856}"/>
              </a:ext>
            </a:extLst>
          </p:cNvPr>
          <p:cNvSpPr txBox="1"/>
          <p:nvPr/>
        </p:nvSpPr>
        <p:spPr>
          <a:xfrm>
            <a:off x="2298152" y="4103237"/>
            <a:ext cx="1107996"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352351"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 name="组合 2">
            <a:extLst>
              <a:ext uri="{FF2B5EF4-FFF2-40B4-BE49-F238E27FC236}">
                <a16:creationId xmlns:a16="http://schemas.microsoft.com/office/drawing/2014/main" id="{7DAFEA67-BB63-43DE-8CFB-F5B0889DF35F}"/>
              </a:ext>
            </a:extLst>
          </p:cNvPr>
          <p:cNvGrpSpPr/>
          <p:nvPr/>
        </p:nvGrpSpPr>
        <p:grpSpPr>
          <a:xfrm>
            <a:off x="2298152" y="1218365"/>
            <a:ext cx="3797848" cy="1862844"/>
            <a:chOff x="2298152" y="1288460"/>
            <a:chExt cx="3797848" cy="1862844"/>
          </a:xfrm>
        </p:grpSpPr>
        <p:sp>
          <p:nvSpPr>
            <p:cNvPr id="7" name="文本框 6">
              <a:extLst>
                <a:ext uri="{FF2B5EF4-FFF2-40B4-BE49-F238E27FC236}">
                  <a16:creationId xmlns:a16="http://schemas.microsoft.com/office/drawing/2014/main" id="{F156FF6F-37CA-4A60-B7D2-6BC5C4A2AC5A}"/>
                </a:ext>
              </a:extLst>
            </p:cNvPr>
            <p:cNvSpPr txBox="1"/>
            <p:nvPr/>
          </p:nvSpPr>
          <p:spPr>
            <a:xfrm>
              <a:off x="2298152" y="1288460"/>
              <a:ext cx="1415772"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关键技术</a:t>
              </a:r>
            </a:p>
          </p:txBody>
        </p:sp>
        <p:sp>
          <p:nvSpPr>
            <p:cNvPr id="26" name="文本框 25">
              <a:extLst>
                <a:ext uri="{FF2B5EF4-FFF2-40B4-BE49-F238E27FC236}">
                  <a16:creationId xmlns:a16="http://schemas.microsoft.com/office/drawing/2014/main" id="{06008D4A-6DD2-4A62-A1B6-32AA1B8AA3DE}"/>
                </a:ext>
              </a:extLst>
            </p:cNvPr>
            <p:cNvSpPr txBox="1"/>
            <p:nvPr/>
          </p:nvSpPr>
          <p:spPr>
            <a:xfrm>
              <a:off x="2298152" y="171367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构建</a:t>
              </a:r>
              <a:r>
                <a:rPr lang="en-US" altLang="zh-CN" sz="1600" dirty="0">
                  <a:latin typeface="思源黑体 CN Regular" panose="020B0500000000000000" pitchFamily="34" charset="-122"/>
                  <a:ea typeface="思源黑体 CN Regular" panose="020B0500000000000000" pitchFamily="34" charset="-122"/>
                </a:rPr>
                <a:t>PRMT3/IGF2BP1</a:t>
              </a:r>
              <a:r>
                <a:rPr lang="zh-CN" altLang="en-US" sz="1600" dirty="0">
                  <a:latin typeface="思源黑体 CN Regular" panose="020B0500000000000000" pitchFamily="34" charset="-122"/>
                  <a:ea typeface="思源黑体 CN Regular" panose="020B0500000000000000" pitchFamily="34" charset="-122"/>
                </a:rPr>
                <a:t>调控的肝癌耐药细胞模型（</a:t>
              </a:r>
              <a:r>
                <a:rPr lang="en-US" altLang="zh-CN" sz="1600" dirty="0">
                  <a:latin typeface="思源黑体 CN Regular" panose="020B0500000000000000" pitchFamily="34" charset="-122"/>
                  <a:ea typeface="思源黑体 CN Regular" panose="020B0500000000000000" pitchFamily="34" charset="-122"/>
                </a:rPr>
                <a:t>HepG2/</a:t>
              </a:r>
              <a:r>
                <a:rPr lang="en-US" altLang="zh-CN" sz="1600" dirty="0" err="1">
                  <a:latin typeface="思源黑体 CN Regular" panose="020B0500000000000000" pitchFamily="34" charset="-122"/>
                  <a:ea typeface="思源黑体 CN Regular" panose="020B0500000000000000" pitchFamily="34" charset="-122"/>
                </a:rPr>
                <a:t>OxR</a:t>
              </a:r>
              <a:r>
                <a:rPr lang="zh-CN" altLang="en-US" sz="1600"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2298152" y="248791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采用</a:t>
              </a:r>
              <a:r>
                <a:rPr lang="en-US" altLang="zh-CN" sz="1600" dirty="0">
                  <a:latin typeface="思源黑体 CN Regular" panose="020B0500000000000000" pitchFamily="34" charset="-122"/>
                  <a:ea typeface="思源黑体 CN Regular" panose="020B0500000000000000" pitchFamily="34" charset="-122"/>
                </a:rPr>
                <a:t>Co-IP</a:t>
              </a:r>
              <a:r>
                <a:rPr lang="zh-CN" altLang="en-US" sz="1600" dirty="0">
                  <a:latin typeface="思源黑体 CN Regular" panose="020B0500000000000000" pitchFamily="34" charset="-122"/>
                  <a:ea typeface="思源黑体 CN Regular" panose="020B0500000000000000" pitchFamily="34" charset="-122"/>
                </a:rPr>
                <a:t>联合质谱验证二者甲基化修饰互作关系。</a:t>
              </a:r>
            </a:p>
          </p:txBody>
        </p:sp>
      </p:grpSp>
      <p:sp>
        <p:nvSpPr>
          <p:cNvPr id="30" name="矩形: 圆角 29">
            <a:extLst>
              <a:ext uri="{FF2B5EF4-FFF2-40B4-BE49-F238E27FC236}">
                <a16:creationId xmlns:a16="http://schemas.microsoft.com/office/drawing/2014/main" id="{0C240E77-961D-4CCD-AE89-091A83223A27}"/>
              </a:ext>
            </a:extLst>
          </p:cNvPr>
          <p:cNvSpPr/>
          <p:nvPr/>
        </p:nvSpPr>
        <p:spPr>
          <a:xfrm>
            <a:off x="6352351" y="3571293"/>
            <a:ext cx="5504687" cy="30263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2298152" y="452680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首次证实</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2298152" y="530104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揭示甲基化修饰调控</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779873"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784909"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845671" y="3871426"/>
            <a:ext cx="4518047" cy="2681215"/>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955597" y="3571293"/>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97" name="文本框 96">
            <a:extLst>
              <a:ext uri="{FF2B5EF4-FFF2-40B4-BE49-F238E27FC236}">
                <a16:creationId xmlns:a16="http://schemas.microsoft.com/office/drawing/2014/main" id="{EAE397E7-18A2-4D33-9963-47F236F3A24F}"/>
              </a:ext>
            </a:extLst>
          </p:cNvPr>
          <p:cNvSpPr txBox="1"/>
          <p:nvPr/>
        </p:nvSpPr>
        <p:spPr>
          <a:xfrm>
            <a:off x="2209656" y="248670"/>
            <a:ext cx="2997937"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4. </a:t>
            </a:r>
            <a:r>
              <a:rPr lang="zh-CN" altLang="en-US" sz="2400" dirty="0">
                <a:solidFill>
                  <a:schemeClr val="accent1"/>
                </a:solidFill>
                <a:latin typeface="思源黑体 CN Bold" panose="020B0800000000000000" pitchFamily="34" charset="-122"/>
                <a:ea typeface="思源黑体 CN Bold" panose="020B0800000000000000" pitchFamily="34" charset="-122"/>
              </a:rPr>
              <a:t>关键技术与创新点</a:t>
            </a:r>
          </a:p>
        </p:txBody>
      </p:sp>
      <p:sp>
        <p:nvSpPr>
          <p:cNvPr id="99" name="文本框 98">
            <a:extLst>
              <a:ext uri="{FF2B5EF4-FFF2-40B4-BE49-F238E27FC236}">
                <a16:creationId xmlns:a16="http://schemas.microsoft.com/office/drawing/2014/main" id="{331B8016-E14C-4CE7-8415-6137B3DC490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0" name="任意矩形：001">
            <a:extLst>
              <a:ext uri="{FF2B5EF4-FFF2-40B4-BE49-F238E27FC236}">
                <a16:creationId xmlns:a16="http://schemas.microsoft.com/office/drawing/2014/main" id="{FAA4189B-BE62-493F-82E8-4C595E803CD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任意矩形：002">
            <a:extLst>
              <a:ext uri="{FF2B5EF4-FFF2-40B4-BE49-F238E27FC236}">
                <a16:creationId xmlns:a16="http://schemas.microsoft.com/office/drawing/2014/main" id="{C8F8B218-BAAB-453A-AED7-A59DCA3EF9A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2" name="文本框 101">
            <a:extLst>
              <a:ext uri="{FF2B5EF4-FFF2-40B4-BE49-F238E27FC236}">
                <a16:creationId xmlns:a16="http://schemas.microsoft.com/office/drawing/2014/main" id="{8866EC7A-51EF-479A-B84C-1F452310521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任意矩形：003">
            <a:extLst>
              <a:ext uri="{FF2B5EF4-FFF2-40B4-BE49-F238E27FC236}">
                <a16:creationId xmlns:a16="http://schemas.microsoft.com/office/drawing/2014/main" id="{06BC1536-CC5A-446E-B1D9-213B7C099D3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 name="文本框 103">
            <a:extLst>
              <a:ext uri="{FF2B5EF4-FFF2-40B4-BE49-F238E27FC236}">
                <a16:creationId xmlns:a16="http://schemas.microsoft.com/office/drawing/2014/main" id="{40F70965-29AB-4F11-B37D-52267A919265}"/>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5" name="文本框 104">
            <a:extLst>
              <a:ext uri="{FF2B5EF4-FFF2-40B4-BE49-F238E27FC236}">
                <a16:creationId xmlns:a16="http://schemas.microsoft.com/office/drawing/2014/main" id="{034591DC-2BAB-46FA-BEB4-F3D906271C7F}"/>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关键技术与创新</a:t>
            </a:r>
          </a:p>
        </p:txBody>
      </p:sp>
      <p:sp>
        <p:nvSpPr>
          <p:cNvPr id="106" name="任意矩形：004">
            <a:extLst>
              <a:ext uri="{FF2B5EF4-FFF2-40B4-BE49-F238E27FC236}">
                <a16:creationId xmlns:a16="http://schemas.microsoft.com/office/drawing/2014/main" id="{31AACEE5-61A7-4D82-85C0-0DF82F988EA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7" name="文本框 106">
            <a:extLst>
              <a:ext uri="{FF2B5EF4-FFF2-40B4-BE49-F238E27FC236}">
                <a16:creationId xmlns:a16="http://schemas.microsoft.com/office/drawing/2014/main" id="{1D065B9D-9BA2-462D-BA6A-ED82F3EA91FA}"/>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8" name="任意矩形：005">
            <a:extLst>
              <a:ext uri="{FF2B5EF4-FFF2-40B4-BE49-F238E27FC236}">
                <a16:creationId xmlns:a16="http://schemas.microsoft.com/office/drawing/2014/main" id="{0A826E41-1BF2-4EA5-9CB1-AD59F03ED95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直接连接符 4">
            <a:extLst>
              <a:ext uri="{FF2B5EF4-FFF2-40B4-BE49-F238E27FC236}">
                <a16:creationId xmlns:a16="http://schemas.microsoft.com/office/drawing/2014/main" id="{0591B80B-BA5C-4DEC-9D03-B08D33E8D3BC}"/>
              </a:ext>
            </a:extLst>
          </p:cNvPr>
          <p:cNvCxnSpPr/>
          <p:nvPr/>
        </p:nvCxnSpPr>
        <p:spPr>
          <a:xfrm>
            <a:off x="2387600" y="3393440"/>
            <a:ext cx="946943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FC9D03FE-ECC2-42D8-97BD-44E98FD84916}"/>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2" name="任意矩形：006">
            <a:extLst>
              <a:ext uri="{FF2B5EF4-FFF2-40B4-BE49-F238E27FC236}">
                <a16:creationId xmlns:a16="http://schemas.microsoft.com/office/drawing/2014/main" id="{94108A96-276D-41E4-92F5-4BB77EDAA87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矩形 123">
            <a:extLst>
              <a:ext uri="{FF2B5EF4-FFF2-40B4-BE49-F238E27FC236}">
                <a16:creationId xmlns:a16="http://schemas.microsoft.com/office/drawing/2014/main" id="{9EDADD73-C589-48F6-8A29-C0D13336E3A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矩形: 圆角 57">
            <a:extLst>
              <a:ext uri="{FF2B5EF4-FFF2-40B4-BE49-F238E27FC236}">
                <a16:creationId xmlns:a16="http://schemas.microsoft.com/office/drawing/2014/main" id="{3808CFB2-1928-415D-9C91-29FD5B07BB38}"/>
              </a:ext>
            </a:extLst>
          </p:cNvPr>
          <p:cNvSpPr/>
          <p:nvPr/>
        </p:nvSpPr>
        <p:spPr>
          <a:xfrm>
            <a:off x="2395220" y="2316480"/>
            <a:ext cx="2581725"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70614"/>
            <a:ext cx="9347514"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2443048" y="2670153"/>
            <a:ext cx="2516219" cy="3072699"/>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2465235"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521528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658392"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extLst/>
          </p:nvPr>
        </p:nvGraphicFramePr>
        <p:xfrm>
          <a:off x="5163562" y="2913190"/>
          <a:ext cx="2140689" cy="16512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extLst/>
          </p:nvPr>
        </p:nvGraphicFramePr>
        <p:xfrm>
          <a:off x="7600966" y="2913190"/>
          <a:ext cx="2140689" cy="16512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extLst/>
          </p:nvPr>
        </p:nvGraphicFramePr>
        <p:xfrm>
          <a:off x="9867870" y="2913190"/>
          <a:ext cx="2140689" cy="1651237"/>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7452608" y="2316480"/>
            <a:ext cx="0" cy="428117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extLst/>
          </p:nvPr>
        </p:nvGraphicFramePr>
        <p:xfrm>
          <a:off x="5163562" y="4952945"/>
          <a:ext cx="2140689" cy="165123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7600966" y="4952945"/>
          <a:ext cx="2140689" cy="16512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867870" y="4952945"/>
          <a:ext cx="2140689" cy="1651237"/>
        </p:xfrm>
        <a:graphic>
          <a:graphicData uri="http://schemas.openxmlformats.org/drawingml/2006/chart">
            <c:chart xmlns:c="http://schemas.openxmlformats.org/drawingml/2006/chart" xmlns:r="http://schemas.openxmlformats.org/officeDocument/2006/relationships" r:id="rId8"/>
          </a:graphicData>
        </a:graphic>
      </p:graphicFrame>
      <p:sp>
        <p:nvSpPr>
          <p:cNvPr id="125" name="文本框 124">
            <a:extLst>
              <a:ext uri="{FF2B5EF4-FFF2-40B4-BE49-F238E27FC236}">
                <a16:creationId xmlns:a16="http://schemas.microsoft.com/office/drawing/2014/main" id="{BB0D138B-2924-408E-BE89-60C8B097CD7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5.1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初步明确</a:t>
            </a:r>
          </a:p>
        </p:txBody>
      </p:sp>
      <p:sp>
        <p:nvSpPr>
          <p:cNvPr id="126" name="文本框 125">
            <a:extLst>
              <a:ext uri="{FF2B5EF4-FFF2-40B4-BE49-F238E27FC236}">
                <a16:creationId xmlns:a16="http://schemas.microsoft.com/office/drawing/2014/main" id="{33B2C15C-CD6F-436C-B942-90E90DD54040}"/>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7" name="任意矩形：001">
            <a:extLst>
              <a:ext uri="{FF2B5EF4-FFF2-40B4-BE49-F238E27FC236}">
                <a16:creationId xmlns:a16="http://schemas.microsoft.com/office/drawing/2014/main" id="{8B63503F-5F6B-465B-9338-121F7A38B1B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任意矩形：002">
            <a:extLst>
              <a:ext uri="{FF2B5EF4-FFF2-40B4-BE49-F238E27FC236}">
                <a16:creationId xmlns:a16="http://schemas.microsoft.com/office/drawing/2014/main" id="{1117E88F-5C88-4CD3-8604-A596276E702C}"/>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9" name="文本框 128">
            <a:extLst>
              <a:ext uri="{FF2B5EF4-FFF2-40B4-BE49-F238E27FC236}">
                <a16:creationId xmlns:a16="http://schemas.microsoft.com/office/drawing/2014/main" id="{9BC41950-B9CC-42B1-A663-8054CD4628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任意矩形：003">
            <a:extLst>
              <a:ext uri="{FF2B5EF4-FFF2-40B4-BE49-F238E27FC236}">
                <a16:creationId xmlns:a16="http://schemas.microsoft.com/office/drawing/2014/main" id="{1EC24CA1-35B7-49EC-9962-519344A7FB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8CCBBE44-DF9E-4C0F-B2E5-CEBF99D12269}"/>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32" name="文本框 131">
            <a:extLst>
              <a:ext uri="{FF2B5EF4-FFF2-40B4-BE49-F238E27FC236}">
                <a16:creationId xmlns:a16="http://schemas.microsoft.com/office/drawing/2014/main" id="{97FD83DE-CED2-4EB8-B200-7AC0146D9C15}"/>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3" name="任意矩形：004">
            <a:extLst>
              <a:ext uri="{FF2B5EF4-FFF2-40B4-BE49-F238E27FC236}">
                <a16:creationId xmlns:a16="http://schemas.microsoft.com/office/drawing/2014/main" id="{F5DFB88B-E58D-40A3-A35C-B1AFD3B46C8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4" name="文本框 133">
            <a:extLst>
              <a:ext uri="{FF2B5EF4-FFF2-40B4-BE49-F238E27FC236}">
                <a16:creationId xmlns:a16="http://schemas.microsoft.com/office/drawing/2014/main" id="{7567D2B6-B02D-4F67-BF1B-B711482E857D}"/>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5" name="任意矩形：005">
            <a:extLst>
              <a:ext uri="{FF2B5EF4-FFF2-40B4-BE49-F238E27FC236}">
                <a16:creationId xmlns:a16="http://schemas.microsoft.com/office/drawing/2014/main" id="{8E07B85F-7E4A-4954-B9F5-0D413138EAA4}"/>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8" name="文本框 137">
            <a:extLst>
              <a:ext uri="{FF2B5EF4-FFF2-40B4-BE49-F238E27FC236}">
                <a16:creationId xmlns:a16="http://schemas.microsoft.com/office/drawing/2014/main" id="{70027444-D39F-4CFD-BAF5-6F09C492F4E5}"/>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9" name="任意矩形：006">
            <a:extLst>
              <a:ext uri="{FF2B5EF4-FFF2-40B4-BE49-F238E27FC236}">
                <a16:creationId xmlns:a16="http://schemas.microsoft.com/office/drawing/2014/main" id="{B7E90DE1-B1D8-453D-A7F3-285B3154D668}"/>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矩形: 圆角 112">
            <a:extLst>
              <a:ext uri="{FF2B5EF4-FFF2-40B4-BE49-F238E27FC236}">
                <a16:creationId xmlns:a16="http://schemas.microsoft.com/office/drawing/2014/main" id="{FD4AFA34-24DA-4A10-84A6-0A6FBC36F154}"/>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3808CFB2-1928-415D-9C91-29FD5B07BB38}"/>
              </a:ext>
            </a:extLst>
          </p:cNvPr>
          <p:cNvSpPr/>
          <p:nvPr/>
        </p:nvSpPr>
        <p:spPr>
          <a:xfrm>
            <a:off x="2398581" y="2316480"/>
            <a:ext cx="9469434" cy="4281170"/>
          </a:xfrm>
          <a:prstGeom prst="roundRect">
            <a:avLst>
              <a:gd name="adj" fmla="val 302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5095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6043770" y="2510058"/>
            <a:ext cx="2292757" cy="174575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2545896" y="2442840"/>
            <a:ext cx="3448971" cy="1777908"/>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6043770"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998012" y="2510058"/>
            <a:ext cx="2478650"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2649231" y="4546109"/>
            <a:ext cx="2768591"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998012"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sp>
        <p:nvSpPr>
          <p:cNvPr id="99" name="矩形 98">
            <a:extLst>
              <a:ext uri="{FF2B5EF4-FFF2-40B4-BE49-F238E27FC236}">
                <a16:creationId xmlns:a16="http://schemas.microsoft.com/office/drawing/2014/main" id="{61E3B5B6-F446-4D37-B501-A703771FBA53}"/>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文本框 99">
            <a:extLst>
              <a:ext uri="{FF2B5EF4-FFF2-40B4-BE49-F238E27FC236}">
                <a16:creationId xmlns:a16="http://schemas.microsoft.com/office/drawing/2014/main" id="{DA960F68-406C-42FE-B6D9-6A5AC1AFB3E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1" name="文本框 100">
            <a:extLst>
              <a:ext uri="{FF2B5EF4-FFF2-40B4-BE49-F238E27FC236}">
                <a16:creationId xmlns:a16="http://schemas.microsoft.com/office/drawing/2014/main" id="{AAEC0B70-3189-414B-97FE-1B7339447AFA}"/>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2" name="任意矩形：001">
            <a:extLst>
              <a:ext uri="{FF2B5EF4-FFF2-40B4-BE49-F238E27FC236}">
                <a16:creationId xmlns:a16="http://schemas.microsoft.com/office/drawing/2014/main" id="{BA573D36-B3F3-4E7C-8128-E2FF1688D6E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任意矩形：002">
            <a:extLst>
              <a:ext uri="{FF2B5EF4-FFF2-40B4-BE49-F238E27FC236}">
                <a16:creationId xmlns:a16="http://schemas.microsoft.com/office/drawing/2014/main" id="{D5CFECFC-5E10-4520-922F-E00F8A461E76}"/>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4" name="文本框 103">
            <a:extLst>
              <a:ext uri="{FF2B5EF4-FFF2-40B4-BE49-F238E27FC236}">
                <a16:creationId xmlns:a16="http://schemas.microsoft.com/office/drawing/2014/main" id="{74F560CD-0C25-41DD-9004-C0B84D638407}"/>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5" name="任意矩形：003">
            <a:extLst>
              <a:ext uri="{FF2B5EF4-FFF2-40B4-BE49-F238E27FC236}">
                <a16:creationId xmlns:a16="http://schemas.microsoft.com/office/drawing/2014/main" id="{D2359D2C-7AF2-42BB-9350-F0CCAE64C031}"/>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 name="文本框 105">
            <a:extLst>
              <a:ext uri="{FF2B5EF4-FFF2-40B4-BE49-F238E27FC236}">
                <a16:creationId xmlns:a16="http://schemas.microsoft.com/office/drawing/2014/main" id="{5B6F4AA8-6B7B-4554-A61A-98D9A7849386}"/>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7" name="文本框 106">
            <a:extLst>
              <a:ext uri="{FF2B5EF4-FFF2-40B4-BE49-F238E27FC236}">
                <a16:creationId xmlns:a16="http://schemas.microsoft.com/office/drawing/2014/main" id="{3775B89D-798E-4DD9-BCF2-FAC43876C213}"/>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08" name="任意矩形：004">
            <a:extLst>
              <a:ext uri="{FF2B5EF4-FFF2-40B4-BE49-F238E27FC236}">
                <a16:creationId xmlns:a16="http://schemas.microsoft.com/office/drawing/2014/main" id="{8897FE03-478F-4A25-A50A-AC334FD1631E}"/>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646A4059-CFE2-491F-9E3C-F96F07B506CF}"/>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0" name="任意矩形：005">
            <a:extLst>
              <a:ext uri="{FF2B5EF4-FFF2-40B4-BE49-F238E27FC236}">
                <a16:creationId xmlns:a16="http://schemas.microsoft.com/office/drawing/2014/main" id="{53FA425E-49E6-4848-8143-615796C094BC}"/>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70D9582-1D76-4209-B3AD-537EC187F03E}"/>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6">
            <a:extLst>
              <a:ext uri="{FF2B5EF4-FFF2-40B4-BE49-F238E27FC236}">
                <a16:creationId xmlns:a16="http://schemas.microsoft.com/office/drawing/2014/main" id="{5F5B61BA-6026-45E4-B3BE-32BEA46F27F0}"/>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2391537" y="1258891"/>
            <a:ext cx="9465502" cy="2682361"/>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80009" r="66779" b="919"/>
          <a:stretch/>
        </p:blipFill>
        <p:spPr bwMode="auto">
          <a:xfrm>
            <a:off x="7429025" y="1300234"/>
            <a:ext cx="3818095" cy="2541954"/>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2391537" y="4170556"/>
            <a:ext cx="4870975" cy="2427094"/>
          </a:xfrm>
          <a:prstGeom prst="roundRect">
            <a:avLst>
              <a:gd name="adj" fmla="val 5622"/>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11567" b="919"/>
          <a:stretch/>
        </p:blipFill>
        <p:spPr bwMode="auto">
          <a:xfrm>
            <a:off x="2569593" y="4232439"/>
            <a:ext cx="4502182" cy="1872486"/>
          </a:xfrm>
          <a:prstGeom prst="rect">
            <a:avLst/>
          </a:prstGeom>
          <a:noFill/>
          <a:extLst>
            <a:ext uri="{909E8E84-426E-40DD-AFC4-6F175D3DCCD1}">
              <a14:hiddenFill xmlns:a14="http://schemas.microsoft.com/office/drawing/2010/main">
                <a:solidFill>
                  <a:srgbClr val="FFFFFF"/>
                </a:solidFill>
              </a14:hiddenFill>
            </a:ext>
          </a:extLst>
        </p:spPr>
      </p:pic>
      <p:sp>
        <p:nvSpPr>
          <p:cNvPr id="36" name="矩形: 圆角 35">
            <a:extLst>
              <a:ext uri="{FF2B5EF4-FFF2-40B4-BE49-F238E27FC236}">
                <a16:creationId xmlns:a16="http://schemas.microsoft.com/office/drawing/2014/main" id="{8122EB69-6BB6-4BDD-A0D2-9F974D333983}"/>
              </a:ext>
            </a:extLst>
          </p:cNvPr>
          <p:cNvSpPr/>
          <p:nvPr/>
        </p:nvSpPr>
        <p:spPr>
          <a:xfrm>
            <a:off x="7806082" y="5718892"/>
            <a:ext cx="3714724"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7860333" y="5866946"/>
            <a:ext cx="3606222"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rPr>
              <a:t>初步验证</a:t>
            </a:r>
            <a:r>
              <a:rPr lang="en-US" altLang="zh-CN" sz="1600" dirty="0">
                <a:solidFill>
                  <a:schemeClr val="bg1"/>
                </a:solidFill>
                <a:latin typeface="思源黑体 CN Bold" panose="020B0800000000000000" pitchFamily="34" charset="-122"/>
                <a:ea typeface="思源黑体 CN Bold" panose="020B0800000000000000" pitchFamily="34" charset="-122"/>
              </a:rPr>
              <a:t>PRMT3-IGF2BP1</a:t>
            </a:r>
            <a:r>
              <a:rPr lang="zh-CN" altLang="en-US" sz="1600" dirty="0">
                <a:solidFill>
                  <a:schemeClr val="bg1"/>
                </a:solidFill>
                <a:latin typeface="思源黑体 CN Bold" panose="020B0800000000000000" pitchFamily="34" charset="-122"/>
                <a:ea typeface="思源黑体 CN Bold" panose="020B0800000000000000" pitchFamily="34" charset="-122"/>
              </a:rPr>
              <a:t>调控耐药</a:t>
            </a:r>
          </a:p>
        </p:txBody>
      </p:sp>
      <p:grpSp>
        <p:nvGrpSpPr>
          <p:cNvPr id="10" name="组合 9">
            <a:extLst>
              <a:ext uri="{FF2B5EF4-FFF2-40B4-BE49-F238E27FC236}">
                <a16:creationId xmlns:a16="http://schemas.microsoft.com/office/drawing/2014/main" id="{AE8B8A4E-CFB0-4937-9F10-39E39D6D2C14}"/>
              </a:ext>
            </a:extLst>
          </p:cNvPr>
          <p:cNvGrpSpPr/>
          <p:nvPr/>
        </p:nvGrpSpPr>
        <p:grpSpPr>
          <a:xfrm>
            <a:off x="9768045" y="4350852"/>
            <a:ext cx="2087129" cy="1269477"/>
            <a:chOff x="9647671" y="4350852"/>
            <a:chExt cx="2087129" cy="1269477"/>
          </a:xfrm>
        </p:grpSpPr>
        <p:sp>
          <p:nvSpPr>
            <p:cNvPr id="35" name="矩形: 圆角 34">
              <a:extLst>
                <a:ext uri="{FF2B5EF4-FFF2-40B4-BE49-F238E27FC236}">
                  <a16:creationId xmlns:a16="http://schemas.microsoft.com/office/drawing/2014/main" id="{934B5386-AFD2-4370-8345-64E0CFA974EE}"/>
                </a:ext>
              </a:extLst>
            </p:cNvPr>
            <p:cNvSpPr/>
            <p:nvPr/>
          </p:nvSpPr>
          <p:spPr>
            <a:xfrm>
              <a:off x="9647671"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2204AE-81FC-43F0-9B0C-6CBB7D91700F}"/>
                </a:ext>
              </a:extLst>
            </p:cNvPr>
            <p:cNvSpPr txBox="1"/>
            <p:nvPr/>
          </p:nvSpPr>
          <p:spPr>
            <a:xfrm>
              <a:off x="9669586"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507924"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E4C5E538-227E-44D9-B73F-8E1FA9429B5D}"/>
              </a:ext>
            </a:extLst>
          </p:cNvPr>
          <p:cNvGrpSpPr/>
          <p:nvPr/>
        </p:nvGrpSpPr>
        <p:grpSpPr>
          <a:xfrm>
            <a:off x="7471714" y="4350852"/>
            <a:ext cx="2087129" cy="1269477"/>
            <a:chOff x="7351340" y="4350852"/>
            <a:chExt cx="2087129" cy="1269477"/>
          </a:xfrm>
        </p:grpSpPr>
        <p:sp>
          <p:nvSpPr>
            <p:cNvPr id="33" name="矩形: 圆角 32">
              <a:extLst>
                <a:ext uri="{FF2B5EF4-FFF2-40B4-BE49-F238E27FC236}">
                  <a16:creationId xmlns:a16="http://schemas.microsoft.com/office/drawing/2014/main" id="{37A4C69C-607C-48E2-A617-A7269016395D}"/>
                </a:ext>
              </a:extLst>
            </p:cNvPr>
            <p:cNvSpPr/>
            <p:nvPr/>
          </p:nvSpPr>
          <p:spPr>
            <a:xfrm>
              <a:off x="7351340"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501765A0-FBDD-49F7-A5A0-9C6A4171408E}"/>
                </a:ext>
              </a:extLst>
            </p:cNvPr>
            <p:cNvSpPr txBox="1"/>
            <p:nvPr/>
          </p:nvSpPr>
          <p:spPr>
            <a:xfrm>
              <a:off x="7373255"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8211593"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矩形 103">
            <a:extLst>
              <a:ext uri="{FF2B5EF4-FFF2-40B4-BE49-F238E27FC236}">
                <a16:creationId xmlns:a16="http://schemas.microsoft.com/office/drawing/2014/main" id="{EBDE20DC-7DB8-4A80-9767-671F526EEB0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文本框 104">
            <a:extLst>
              <a:ext uri="{FF2B5EF4-FFF2-40B4-BE49-F238E27FC236}">
                <a16:creationId xmlns:a16="http://schemas.microsoft.com/office/drawing/2014/main" id="{0D823774-2982-4BEA-A055-2EA40F0FD499}"/>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6" name="文本框 105">
            <a:extLst>
              <a:ext uri="{FF2B5EF4-FFF2-40B4-BE49-F238E27FC236}">
                <a16:creationId xmlns:a16="http://schemas.microsoft.com/office/drawing/2014/main" id="{6D5D2C7D-712C-41B1-8C48-6FFCC6D4AB3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7" name="任意矩形：001">
            <a:extLst>
              <a:ext uri="{FF2B5EF4-FFF2-40B4-BE49-F238E27FC236}">
                <a16:creationId xmlns:a16="http://schemas.microsoft.com/office/drawing/2014/main" id="{9C812503-FB92-42B6-B32C-37FB1E03D08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任意矩形：002">
            <a:extLst>
              <a:ext uri="{FF2B5EF4-FFF2-40B4-BE49-F238E27FC236}">
                <a16:creationId xmlns:a16="http://schemas.microsoft.com/office/drawing/2014/main" id="{BFC6D32A-D636-4FE2-B284-0C631A3E298E}"/>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9" name="文本框 108">
            <a:extLst>
              <a:ext uri="{FF2B5EF4-FFF2-40B4-BE49-F238E27FC236}">
                <a16:creationId xmlns:a16="http://schemas.microsoft.com/office/drawing/2014/main" id="{2862802E-77E6-4A59-BD6F-861FBDD4866B}"/>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0" name="任意矩形：003">
            <a:extLst>
              <a:ext uri="{FF2B5EF4-FFF2-40B4-BE49-F238E27FC236}">
                <a16:creationId xmlns:a16="http://schemas.microsoft.com/office/drawing/2014/main" id="{66376D77-8264-402B-9F40-7560311DEDD4}"/>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0259BB2A-5558-45F2-ABEB-344C801C9243}"/>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12" name="文本框 111">
            <a:extLst>
              <a:ext uri="{FF2B5EF4-FFF2-40B4-BE49-F238E27FC236}">
                <a16:creationId xmlns:a16="http://schemas.microsoft.com/office/drawing/2014/main" id="{B7E91DE3-C267-49DC-8B11-9FE1C84E49B8}"/>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13" name="任意矩形：004">
            <a:extLst>
              <a:ext uri="{FF2B5EF4-FFF2-40B4-BE49-F238E27FC236}">
                <a16:creationId xmlns:a16="http://schemas.microsoft.com/office/drawing/2014/main" id="{E5FB78B8-0003-46B9-87A8-D3FF90EDBF4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EAD1A7E-3FC9-4A36-BA2C-4616FB53E7B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5" name="任意矩形：005">
            <a:extLst>
              <a:ext uri="{FF2B5EF4-FFF2-40B4-BE49-F238E27FC236}">
                <a16:creationId xmlns:a16="http://schemas.microsoft.com/office/drawing/2014/main" id="{D0D58B8B-2F3D-4EFF-896E-223927769072}"/>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8" name="组合 7">
            <a:extLst>
              <a:ext uri="{FF2B5EF4-FFF2-40B4-BE49-F238E27FC236}">
                <a16:creationId xmlns:a16="http://schemas.microsoft.com/office/drawing/2014/main" id="{FAAE7E29-9AFD-4E0F-BB1C-9FB4CE05C54D}"/>
              </a:ext>
            </a:extLst>
          </p:cNvPr>
          <p:cNvGrpSpPr/>
          <p:nvPr/>
        </p:nvGrpSpPr>
        <p:grpSpPr>
          <a:xfrm>
            <a:off x="2622086" y="6176130"/>
            <a:ext cx="4407558" cy="279933"/>
            <a:chOff x="2550240" y="6130410"/>
            <a:chExt cx="4407558" cy="279933"/>
          </a:xfrm>
        </p:grpSpPr>
        <p:pic>
          <p:nvPicPr>
            <p:cNvPr id="132" name="Picture 2" descr="查看图片">
              <a:extLst>
                <a:ext uri="{FF2B5EF4-FFF2-40B4-BE49-F238E27FC236}">
                  <a16:creationId xmlns:a16="http://schemas.microsoft.com/office/drawing/2014/main" id="{FD147175-CEE7-4F94-B7FF-65BA0639D0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82278" r="2123" b="16476"/>
            <a:stretch/>
          </p:blipFill>
          <p:spPr bwMode="auto">
            <a:xfrm>
              <a:off x="2550240"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查看图片">
              <a:extLst>
                <a:ext uri="{FF2B5EF4-FFF2-40B4-BE49-F238E27FC236}">
                  <a16:creationId xmlns:a16="http://schemas.microsoft.com/office/drawing/2014/main" id="{C6E8D8D4-ECB4-4AB8-966B-CE97A85B40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3669" r="2173" b="15085"/>
            <a:stretch/>
          </p:blipFill>
          <p:spPr bwMode="auto">
            <a:xfrm>
              <a:off x="3217991"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查看图片">
              <a:extLst>
                <a:ext uri="{FF2B5EF4-FFF2-40B4-BE49-F238E27FC236}">
                  <a16:creationId xmlns:a16="http://schemas.microsoft.com/office/drawing/2014/main" id="{337C7290-D77D-410A-B607-786B2040C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4935" r="404" b="13819"/>
            <a:stretch/>
          </p:blipFill>
          <p:spPr bwMode="auto">
            <a:xfrm>
              <a:off x="3827692"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查看图片">
              <a:extLst>
                <a:ext uri="{FF2B5EF4-FFF2-40B4-BE49-F238E27FC236}">
                  <a16:creationId xmlns:a16="http://schemas.microsoft.com/office/drawing/2014/main" id="{ED97297F-3F8B-4EDF-A70B-D09621F60E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6281" r="404" b="12473"/>
            <a:stretch/>
          </p:blipFill>
          <p:spPr bwMode="auto">
            <a:xfrm>
              <a:off x="4641465"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查看图片">
              <a:extLst>
                <a:ext uri="{FF2B5EF4-FFF2-40B4-BE49-F238E27FC236}">
                  <a16:creationId xmlns:a16="http://schemas.microsoft.com/office/drawing/2014/main" id="{6B1F2687-A625-4206-8B1F-BDAF3092B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7527" r="404" b="11227"/>
            <a:stretch/>
          </p:blipFill>
          <p:spPr bwMode="auto">
            <a:xfrm>
              <a:off x="5436998"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查看图片">
              <a:extLst>
                <a:ext uri="{FF2B5EF4-FFF2-40B4-BE49-F238E27FC236}">
                  <a16:creationId xmlns:a16="http://schemas.microsoft.com/office/drawing/2014/main" id="{57563543-05C9-4565-BCF1-EBA6CF31F6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8773" r="2620" b="9981"/>
            <a:stretch/>
          </p:blipFill>
          <p:spPr bwMode="auto">
            <a:xfrm>
              <a:off x="6117302" y="6130410"/>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查看图片">
              <a:extLst>
                <a:ext uri="{FF2B5EF4-FFF2-40B4-BE49-F238E27FC236}">
                  <a16:creationId xmlns:a16="http://schemas.microsoft.com/office/drawing/2014/main" id="{0A637C57-178B-46A5-9507-DEFE707C9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90236" r="2123" b="8518"/>
            <a:stretch/>
          </p:blipFill>
          <p:spPr bwMode="auto">
            <a:xfrm>
              <a:off x="2550240" y="6292232"/>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查看图片">
              <a:extLst>
                <a:ext uri="{FF2B5EF4-FFF2-40B4-BE49-F238E27FC236}">
                  <a16:creationId xmlns:a16="http://schemas.microsoft.com/office/drawing/2014/main" id="{E9939007-0494-4305-811F-EC67D5DB17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2836" r="404" b="5918"/>
            <a:stretch/>
          </p:blipFill>
          <p:spPr bwMode="auto">
            <a:xfrm>
              <a:off x="4082067"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查看图片">
              <a:extLst>
                <a:ext uri="{FF2B5EF4-FFF2-40B4-BE49-F238E27FC236}">
                  <a16:creationId xmlns:a16="http://schemas.microsoft.com/office/drawing/2014/main" id="{602B875A-3A6B-4A5C-A979-E58AED896D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4206" r="404" b="4548"/>
            <a:stretch/>
          </p:blipFill>
          <p:spPr bwMode="auto">
            <a:xfrm>
              <a:off x="4903460"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查看图片">
              <a:extLst>
                <a:ext uri="{FF2B5EF4-FFF2-40B4-BE49-F238E27FC236}">
                  <a16:creationId xmlns:a16="http://schemas.microsoft.com/office/drawing/2014/main" id="{C6AE5D5A-7E9D-4480-B703-C78651281A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5465" r="404" b="3289"/>
            <a:stretch/>
          </p:blipFill>
          <p:spPr bwMode="auto">
            <a:xfrm>
              <a:off x="5691373"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查看图片">
              <a:extLst>
                <a:ext uri="{FF2B5EF4-FFF2-40B4-BE49-F238E27FC236}">
                  <a16:creationId xmlns:a16="http://schemas.microsoft.com/office/drawing/2014/main" id="{CB9D762E-4997-4EFB-B122-D3AEF2CE29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6771" r="2620" b="1983"/>
            <a:stretch/>
          </p:blipFill>
          <p:spPr bwMode="auto">
            <a:xfrm>
              <a:off x="6301767" y="6292232"/>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查看图片">
              <a:extLst>
                <a:ext uri="{FF2B5EF4-FFF2-40B4-BE49-F238E27FC236}">
                  <a16:creationId xmlns:a16="http://schemas.microsoft.com/office/drawing/2014/main" id="{273902B2-B2F3-4C3F-BE1F-7421478811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1507" r="188" b="7247"/>
            <a:stretch/>
          </p:blipFill>
          <p:spPr bwMode="auto">
            <a:xfrm>
              <a:off x="3217991" y="6292232"/>
              <a:ext cx="854899" cy="1181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组合 6">
            <a:extLst>
              <a:ext uri="{FF2B5EF4-FFF2-40B4-BE49-F238E27FC236}">
                <a16:creationId xmlns:a16="http://schemas.microsoft.com/office/drawing/2014/main" id="{71C31FE9-AACA-47DC-B97E-BC7235757EA8}"/>
              </a:ext>
            </a:extLst>
          </p:cNvPr>
          <p:cNvGrpSpPr/>
          <p:nvPr/>
        </p:nvGrpSpPr>
        <p:grpSpPr>
          <a:xfrm>
            <a:off x="2655484" y="1312955"/>
            <a:ext cx="4156228" cy="2505200"/>
            <a:chOff x="2542619" y="1350497"/>
            <a:chExt cx="3858181" cy="2325550"/>
          </a:xfrm>
        </p:grpSpPr>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9" t="66984" r="50229" b="20259"/>
            <a:stretch/>
          </p:blipFill>
          <p:spPr bwMode="auto">
            <a:xfrm>
              <a:off x="2542619" y="1350497"/>
              <a:ext cx="3850747" cy="117533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查看图片">
              <a:extLst>
                <a:ext uri="{FF2B5EF4-FFF2-40B4-BE49-F238E27FC236}">
                  <a16:creationId xmlns:a16="http://schemas.microsoft.com/office/drawing/2014/main" id="{C7DC8CB4-1AD8-4692-A713-766964C2C5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27" t="66984" r="3403" b="20452"/>
            <a:stretch/>
          </p:blipFill>
          <p:spPr bwMode="auto">
            <a:xfrm>
              <a:off x="2661424" y="2518522"/>
              <a:ext cx="3739376" cy="1157525"/>
            </a:xfrm>
            <a:prstGeom prst="rect">
              <a:avLst/>
            </a:prstGeom>
            <a:noFill/>
            <a:extLst>
              <a:ext uri="{909E8E84-426E-40DD-AFC4-6F175D3DCCD1}">
                <a14:hiddenFill xmlns:a14="http://schemas.microsoft.com/office/drawing/2010/main">
                  <a:solidFill>
                    <a:srgbClr val="FFFFFF"/>
                  </a:solidFill>
                </a14:hiddenFill>
              </a:ext>
            </a:extLst>
          </p:spPr>
        </p:pic>
      </p:grpSp>
      <p:sp>
        <p:nvSpPr>
          <p:cNvPr id="147" name="文本框 146">
            <a:extLst>
              <a:ext uri="{FF2B5EF4-FFF2-40B4-BE49-F238E27FC236}">
                <a16:creationId xmlns:a16="http://schemas.microsoft.com/office/drawing/2014/main" id="{E302B6E5-972C-4A41-98A9-D554FA037C7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8" name="任意矩形：006">
            <a:extLst>
              <a:ext uri="{FF2B5EF4-FFF2-40B4-BE49-F238E27FC236}">
                <a16:creationId xmlns:a16="http://schemas.microsoft.com/office/drawing/2014/main" id="{C7D2078D-48D8-463E-B7BA-6F1861B364E7}"/>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177" y="1231500"/>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圆角 51">
            <a:extLst>
              <a:ext uri="{FF2B5EF4-FFF2-40B4-BE49-F238E27FC236}">
                <a16:creationId xmlns:a16="http://schemas.microsoft.com/office/drawing/2014/main" id="{C65CA254-39A6-4840-899F-F4F9E86A7B1A}"/>
              </a:ext>
            </a:extLst>
          </p:cNvPr>
          <p:cNvSpPr/>
          <p:nvPr/>
        </p:nvSpPr>
        <p:spPr>
          <a:xfrm>
            <a:off x="2394177" y="3073064"/>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圆角 61">
            <a:extLst>
              <a:ext uri="{FF2B5EF4-FFF2-40B4-BE49-F238E27FC236}">
                <a16:creationId xmlns:a16="http://schemas.microsoft.com/office/drawing/2014/main" id="{460A7BA7-AFFE-4994-A09D-7E412E9CA041}"/>
              </a:ext>
            </a:extLst>
          </p:cNvPr>
          <p:cNvSpPr/>
          <p:nvPr/>
        </p:nvSpPr>
        <p:spPr>
          <a:xfrm>
            <a:off x="2394177" y="4914628"/>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2729964" y="1550159"/>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2729964" y="1932474"/>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前期检测到肝癌奥沙利铂耐药组织中</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10034228" y="1558300"/>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a:extLst>
              <a:ext uri="{FF2B5EF4-FFF2-40B4-BE49-F238E27FC236}">
                <a16:creationId xmlns:a16="http://schemas.microsoft.com/office/drawing/2014/main" id="{8A39F97E-D909-40B2-9E9B-7585D36C3C44}"/>
              </a:ext>
            </a:extLst>
          </p:cNvPr>
          <p:cNvSpPr txBox="1"/>
          <p:nvPr/>
        </p:nvSpPr>
        <p:spPr>
          <a:xfrm>
            <a:off x="10034230" y="1591933"/>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10034228" y="2153047"/>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CDDC01F1-DECC-4103-85B4-C65C088E7D40}"/>
              </a:ext>
            </a:extLst>
          </p:cNvPr>
          <p:cNvSpPr txBox="1"/>
          <p:nvPr/>
        </p:nvSpPr>
        <p:spPr>
          <a:xfrm>
            <a:off x="10034230" y="2186680"/>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靶点关联明确</a:t>
            </a:r>
          </a:p>
        </p:txBody>
      </p:sp>
      <p:sp>
        <p:nvSpPr>
          <p:cNvPr id="53" name="文本框 52">
            <a:extLst>
              <a:ext uri="{FF2B5EF4-FFF2-40B4-BE49-F238E27FC236}">
                <a16:creationId xmlns:a16="http://schemas.microsoft.com/office/drawing/2014/main" id="{69011767-41A5-4C40-9716-6EDFCE5B8E97}"/>
              </a:ext>
            </a:extLst>
          </p:cNvPr>
          <p:cNvSpPr txBox="1"/>
          <p:nvPr/>
        </p:nvSpPr>
        <p:spPr>
          <a:xfrm>
            <a:off x="2729964" y="3391723"/>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2729964" y="3774038"/>
            <a:ext cx="7067859" cy="663387"/>
          </a:xfrm>
          <a:prstGeom prst="rect">
            <a:avLst/>
          </a:prstGeom>
          <a:noFill/>
        </p:spPr>
        <p:txBody>
          <a:bodyPr wrap="square" rtlCol="0">
            <a:spAutoFit/>
          </a:bodyPr>
          <a:lstStyle/>
          <a:p>
            <a:pPr>
              <a:lnSpc>
                <a:spcPct val="120000"/>
              </a:lnSpc>
            </a:pP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可催化</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精氨酸甲基化，修饰后</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稳定性增强，进而调控耐药相关</a:t>
            </a:r>
            <a:r>
              <a:rPr lang="en-US" altLang="zh-CN" sz="1600" dirty="0">
                <a:solidFill>
                  <a:schemeClr val="bg1"/>
                </a:solidFill>
                <a:latin typeface="思源黑体 CN Regular" panose="020B0500000000000000" pitchFamily="34" charset="-122"/>
                <a:ea typeface="思源黑体 CN Regular" panose="020B0500000000000000" pitchFamily="34" charset="-122"/>
              </a:rPr>
              <a:t>mRNA</a:t>
            </a:r>
            <a:r>
              <a:rPr lang="zh-CN" altLang="en-US" sz="1600" dirty="0">
                <a:solidFill>
                  <a:schemeClr val="bg1"/>
                </a:solidFill>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10034228" y="3399864"/>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文本框 56">
            <a:extLst>
              <a:ext uri="{FF2B5EF4-FFF2-40B4-BE49-F238E27FC236}">
                <a16:creationId xmlns:a16="http://schemas.microsoft.com/office/drawing/2014/main" id="{E36A55A0-4D2E-4E0B-A93B-87AD6D036C4E}"/>
              </a:ext>
            </a:extLst>
          </p:cNvPr>
          <p:cNvSpPr txBox="1"/>
          <p:nvPr/>
        </p:nvSpPr>
        <p:spPr>
          <a:xfrm>
            <a:off x="10034230" y="3433497"/>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10034228" y="3994611"/>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9D91FC89-0ED4-41DD-BD13-C8B312DE72BC}"/>
              </a:ext>
            </a:extLst>
          </p:cNvPr>
          <p:cNvSpPr txBox="1"/>
          <p:nvPr/>
        </p:nvSpPr>
        <p:spPr>
          <a:xfrm>
            <a:off x="10034230" y="4028244"/>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耐药基因调控</a:t>
            </a:r>
          </a:p>
        </p:txBody>
      </p:sp>
      <p:sp>
        <p:nvSpPr>
          <p:cNvPr id="68" name="文本框 67">
            <a:extLst>
              <a:ext uri="{FF2B5EF4-FFF2-40B4-BE49-F238E27FC236}">
                <a16:creationId xmlns:a16="http://schemas.microsoft.com/office/drawing/2014/main" id="{42F6DE39-236F-41D5-8476-D989DC0BDFFA}"/>
              </a:ext>
            </a:extLst>
          </p:cNvPr>
          <p:cNvSpPr txBox="1"/>
          <p:nvPr/>
        </p:nvSpPr>
        <p:spPr>
          <a:xfrm>
            <a:off x="2729964" y="5233287"/>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2729964" y="5615602"/>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采用</a:t>
            </a:r>
            <a:r>
              <a:rPr lang="en-US" altLang="zh-CN" sz="1600" dirty="0">
                <a:solidFill>
                  <a:schemeClr val="bg1"/>
                </a:solidFill>
                <a:latin typeface="思源黑体 CN Regular" panose="020B0500000000000000" pitchFamily="34" charset="-122"/>
                <a:ea typeface="思源黑体 CN Regular" panose="020B0500000000000000" pitchFamily="34" charset="-122"/>
              </a:rPr>
              <a:t>Western blot</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Co-IP</a:t>
            </a: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、甲基化检测等成熟技术，可构建</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敲低</a:t>
            </a:r>
            <a:r>
              <a:rPr lang="en-US" altLang="zh-CN" sz="1600" dirty="0">
                <a:solidFill>
                  <a:schemeClr val="bg1"/>
                </a:solidFill>
                <a:latin typeface="思源黑体 CN Regular" panose="020B0500000000000000" pitchFamily="34" charset="-122"/>
                <a:ea typeface="思源黑体 CN Regular" panose="020B0500000000000000" pitchFamily="34" charset="-122"/>
              </a:rPr>
              <a:t>/</a:t>
            </a:r>
            <a:r>
              <a:rPr lang="zh-CN" altLang="en-US" sz="1600" dirty="0">
                <a:solidFill>
                  <a:schemeClr val="bg1"/>
                </a:solidFill>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10034228" y="5241428"/>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a:extLst>
              <a:ext uri="{FF2B5EF4-FFF2-40B4-BE49-F238E27FC236}">
                <a16:creationId xmlns:a16="http://schemas.microsoft.com/office/drawing/2014/main" id="{A2DCF551-FD82-4D12-8B9F-355F20F7D031}"/>
              </a:ext>
            </a:extLst>
          </p:cNvPr>
          <p:cNvSpPr txBox="1"/>
          <p:nvPr/>
        </p:nvSpPr>
        <p:spPr>
          <a:xfrm>
            <a:off x="10034230" y="5275061"/>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10034228" y="5836175"/>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a:extLst>
              <a:ext uri="{FF2B5EF4-FFF2-40B4-BE49-F238E27FC236}">
                <a16:creationId xmlns:a16="http://schemas.microsoft.com/office/drawing/2014/main" id="{022432F9-BC6F-435B-A6AD-EFDEA8BB10B1}"/>
              </a:ext>
            </a:extLst>
          </p:cNvPr>
          <p:cNvSpPr txBox="1"/>
          <p:nvPr/>
        </p:nvSpPr>
        <p:spPr>
          <a:xfrm>
            <a:off x="10034230" y="5869808"/>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实验条件完备</a:t>
            </a:r>
          </a:p>
        </p:txBody>
      </p:sp>
      <p:sp>
        <p:nvSpPr>
          <p:cNvPr id="121" name="矩形 120">
            <a:extLst>
              <a:ext uri="{FF2B5EF4-FFF2-40B4-BE49-F238E27FC236}">
                <a16:creationId xmlns:a16="http://schemas.microsoft.com/office/drawing/2014/main" id="{402031BB-3324-47DC-A6AB-C331C71B29C0}"/>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文本框 121">
            <a:extLst>
              <a:ext uri="{FF2B5EF4-FFF2-40B4-BE49-F238E27FC236}">
                <a16:creationId xmlns:a16="http://schemas.microsoft.com/office/drawing/2014/main" id="{042522C8-F8B8-409D-AD52-B5F8E34549B4}"/>
              </a:ext>
            </a:extLst>
          </p:cNvPr>
          <p:cNvSpPr txBox="1"/>
          <p:nvPr/>
        </p:nvSpPr>
        <p:spPr>
          <a:xfrm>
            <a:off x="2209656" y="248670"/>
            <a:ext cx="2255746"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5.3 </a:t>
            </a:r>
            <a:r>
              <a:rPr lang="zh-CN" altLang="en-US" sz="2400" dirty="0">
                <a:solidFill>
                  <a:schemeClr val="accent1"/>
                </a:solidFill>
                <a:latin typeface="思源黑体 CN Bold" panose="020B0800000000000000" pitchFamily="34" charset="-122"/>
                <a:ea typeface="思源黑体 CN Bold" panose="020B0800000000000000" pitchFamily="34" charset="-122"/>
              </a:rPr>
              <a:t>可行性分析</a:t>
            </a:r>
          </a:p>
        </p:txBody>
      </p:sp>
      <p:sp>
        <p:nvSpPr>
          <p:cNvPr id="123" name="文本框 122">
            <a:extLst>
              <a:ext uri="{FF2B5EF4-FFF2-40B4-BE49-F238E27FC236}">
                <a16:creationId xmlns:a16="http://schemas.microsoft.com/office/drawing/2014/main" id="{C062D898-32C0-479A-9141-9123F0C9AC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DBD5FFBF-2B0E-43B3-9B90-919C7380BA5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6BAD6569-466C-49CD-9681-8D91748243E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0D88158D-0362-4FA6-A095-CAEAF32E081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8AB858EF-28C7-481A-ACC9-E0A1DBCCFE76}"/>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EE07F65F-1D04-49B9-98D9-25C2F9B64CC7}"/>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29" name="文本框 128">
            <a:extLst>
              <a:ext uri="{FF2B5EF4-FFF2-40B4-BE49-F238E27FC236}">
                <a16:creationId xmlns:a16="http://schemas.microsoft.com/office/drawing/2014/main" id="{00773996-6AF8-4D62-AE6A-FC1DCC01AC04}"/>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0" name="任意矩形：004">
            <a:extLst>
              <a:ext uri="{FF2B5EF4-FFF2-40B4-BE49-F238E27FC236}">
                <a16:creationId xmlns:a16="http://schemas.microsoft.com/office/drawing/2014/main" id="{0E7A631F-210F-445D-A9CB-8A1E36928D0A}"/>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E84CCD35-147C-4E01-95B9-616C2941E00C}"/>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2" name="任意矩形：005">
            <a:extLst>
              <a:ext uri="{FF2B5EF4-FFF2-40B4-BE49-F238E27FC236}">
                <a16:creationId xmlns:a16="http://schemas.microsoft.com/office/drawing/2014/main" id="{A71AC665-D784-436C-A761-8CBAD81B3113}"/>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文本框 134">
            <a:extLst>
              <a:ext uri="{FF2B5EF4-FFF2-40B4-BE49-F238E27FC236}">
                <a16:creationId xmlns:a16="http://schemas.microsoft.com/office/drawing/2014/main" id="{9C52E7D4-6B4B-42D0-98E5-C624AAE5B727}"/>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6" name="任意矩形：006">
            <a:extLst>
              <a:ext uri="{FF2B5EF4-FFF2-40B4-BE49-F238E27FC236}">
                <a16:creationId xmlns:a16="http://schemas.microsoft.com/office/drawing/2014/main" id="{674E95B7-3940-4FD8-8823-EE3496A5F286}"/>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矩形 137">
            <a:extLst>
              <a:ext uri="{FF2B5EF4-FFF2-40B4-BE49-F238E27FC236}">
                <a16:creationId xmlns:a16="http://schemas.microsoft.com/office/drawing/2014/main" id="{C5D6C303-241C-44B1-BB84-B5D015E85852}"/>
              </a:ext>
            </a:extLst>
          </p:cNvPr>
          <p:cNvSpPr/>
          <p:nvPr/>
        </p:nvSpPr>
        <p:spPr>
          <a:xfrm>
            <a:off x="0" y="5476300"/>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靖飞在肝PPT59">
            <a:extLst>
              <a:ext uri="{FF2B5EF4-FFF2-40B4-BE49-F238E27FC236}">
                <a16:creationId xmlns:a16="http://schemas.microsoft.com/office/drawing/2014/main" id="{D7E2CA22-5969-486B-89DE-9ABEF21D54B8}"/>
              </a:ext>
            </a:extLst>
          </p:cNvPr>
          <p:cNvSpPr/>
          <p:nvPr/>
        </p:nvSpPr>
        <p:spPr>
          <a:xfrm>
            <a:off x="4523160" y="1785546"/>
            <a:ext cx="734226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2296624" y="1157658"/>
            <a:ext cx="1723549"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3816770" y="1188138"/>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452935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5261975"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5994598"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6727220"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748611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82137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89413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96689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10423018"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11157196"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5584858"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853476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10746776"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10396910"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7460035"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0377ADC-E651-4354-BE09-6D23194859D4}"/>
              </a:ext>
            </a:extLst>
          </p:cNvPr>
          <p:cNvGrpSpPr/>
          <p:nvPr/>
        </p:nvGrpSpPr>
        <p:grpSpPr>
          <a:xfrm>
            <a:off x="4519075" y="2523910"/>
            <a:ext cx="7346352" cy="3734258"/>
            <a:chOff x="4519074" y="2523910"/>
            <a:chExt cx="8814711" cy="3734258"/>
          </a:xfrm>
        </p:grpSpPr>
        <p:sp>
          <p:nvSpPr>
            <p:cNvPr id="41" name="靖飞在肝PPT13">
              <a:extLst>
                <a:ext uri="{FF2B5EF4-FFF2-40B4-BE49-F238E27FC236}">
                  <a16:creationId xmlns:a16="http://schemas.microsoft.com/office/drawing/2014/main" id="{339E1AD8-3E84-4C4E-903D-C1F03C3DF462}"/>
                </a:ext>
              </a:extLst>
            </p:cNvPr>
            <p:cNvSpPr/>
            <p:nvPr/>
          </p:nvSpPr>
          <p:spPr>
            <a:xfrm>
              <a:off x="4519074"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4519074"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4519074"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4519074"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4519074"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4519074"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4519074"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4519074"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9" name="靖飞在肝PPT13">
              <a:extLst>
                <a:ext uri="{FF2B5EF4-FFF2-40B4-BE49-F238E27FC236}">
                  <a16:creationId xmlns:a16="http://schemas.microsoft.com/office/drawing/2014/main" id="{9FFBB017-58C0-4EC7-A992-21B04529503C}"/>
                </a:ext>
              </a:extLst>
            </p:cNvPr>
            <p:cNvSpPr/>
            <p:nvPr/>
          </p:nvSpPr>
          <p:spPr>
            <a:xfrm>
              <a:off x="4519074"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4519074"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4519074"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4519074"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sp>
        <p:nvSpPr>
          <p:cNvPr id="183" name="靖飞在肝PPT60">
            <a:extLst>
              <a:ext uri="{FF2B5EF4-FFF2-40B4-BE49-F238E27FC236}">
                <a16:creationId xmlns:a16="http://schemas.microsoft.com/office/drawing/2014/main" id="{4CC9C1B2-8766-47D1-978C-5EFF387AAA97}"/>
              </a:ext>
            </a:extLst>
          </p:cNvPr>
          <p:cNvSpPr txBox="1"/>
          <p:nvPr/>
        </p:nvSpPr>
        <p:spPr>
          <a:xfrm flipH="1">
            <a:off x="2191244"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2191244"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2191244"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2191244"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2191244"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2191244"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2191244"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2191244"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2191244"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2191244"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2191244"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2191244"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4536549"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4536549"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5617137"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7711444" y="2864625"/>
            <a:ext cx="2057361"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7082567"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7810130"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7082567"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7810130"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9114138"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9114138"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8741075"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8218744"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8741075"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9001159"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10400904"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10887142"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39" name="文本框 138">
            <a:extLst>
              <a:ext uri="{FF2B5EF4-FFF2-40B4-BE49-F238E27FC236}">
                <a16:creationId xmlns:a16="http://schemas.microsoft.com/office/drawing/2014/main" id="{238E3CF2-5120-4AE2-B71A-AAFB6C2714C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E3290B71-F414-475A-959A-252AA69C813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A3F9079B-4C45-4899-9641-5537D7CFBBCB}"/>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ED94338F-B4A7-47EC-A46E-8D722AEA9880}"/>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95EEF4D1-9DD9-4E29-893C-4A67E564A78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06E8FC8C-A4A9-4C0F-B49C-E9384EABACCF}"/>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45" name="文本框 144">
            <a:extLst>
              <a:ext uri="{FF2B5EF4-FFF2-40B4-BE49-F238E27FC236}">
                <a16:creationId xmlns:a16="http://schemas.microsoft.com/office/drawing/2014/main" id="{EBCD0BDB-318F-4FF2-85BB-54495B0613F9}"/>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46" name="任意矩形：004">
            <a:extLst>
              <a:ext uri="{FF2B5EF4-FFF2-40B4-BE49-F238E27FC236}">
                <a16:creationId xmlns:a16="http://schemas.microsoft.com/office/drawing/2014/main" id="{08F0093C-7519-46FF-AFC3-C96D218592A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1EF23F4A-6E0E-409B-9DC6-D584C18CA30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48" name="任意矩形：005">
            <a:extLst>
              <a:ext uri="{FF2B5EF4-FFF2-40B4-BE49-F238E27FC236}">
                <a16:creationId xmlns:a16="http://schemas.microsoft.com/office/drawing/2014/main" id="{289CEAA8-F60F-4FC3-87FD-316D5CAD33B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9" name="文本框 148">
            <a:extLst>
              <a:ext uri="{FF2B5EF4-FFF2-40B4-BE49-F238E27FC236}">
                <a16:creationId xmlns:a16="http://schemas.microsoft.com/office/drawing/2014/main" id="{F1E86376-FB53-41FE-AAA4-E32BD7EAA8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预期成果</a:t>
            </a:r>
          </a:p>
        </p:txBody>
      </p:sp>
      <p:sp>
        <p:nvSpPr>
          <p:cNvPr id="150" name="任意矩形：006">
            <a:extLst>
              <a:ext uri="{FF2B5EF4-FFF2-40B4-BE49-F238E27FC236}">
                <a16:creationId xmlns:a16="http://schemas.microsoft.com/office/drawing/2014/main" id="{152966DC-CC1E-4AFE-9935-70CC589F859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文本框 150">
            <a:extLst>
              <a:ext uri="{FF2B5EF4-FFF2-40B4-BE49-F238E27FC236}">
                <a16:creationId xmlns:a16="http://schemas.microsoft.com/office/drawing/2014/main" id="{FCD1E9EB-AC21-46AA-B806-ED6B90CD9329}"/>
              </a:ext>
            </a:extLst>
          </p:cNvPr>
          <p:cNvSpPr txBox="1"/>
          <p:nvPr/>
        </p:nvSpPr>
        <p:spPr>
          <a:xfrm>
            <a:off x="2209656" y="248670"/>
            <a:ext cx="330571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6. </a:t>
            </a:r>
            <a:r>
              <a:rPr lang="zh-CN" altLang="en-US" sz="2400" dirty="0">
                <a:solidFill>
                  <a:schemeClr val="accent1"/>
                </a:solidFill>
                <a:latin typeface="思源黑体 CN Bold" panose="020B0800000000000000" pitchFamily="34" charset="-122"/>
                <a:ea typeface="思源黑体 CN Bold" panose="020B0800000000000000" pitchFamily="34" charset="-122"/>
              </a:rPr>
              <a:t>进度安排及预期成果</a:t>
            </a:r>
          </a:p>
        </p:txBody>
      </p:sp>
      <p:grpSp>
        <p:nvGrpSpPr>
          <p:cNvPr id="16" name="组合 15">
            <a:extLst>
              <a:ext uri="{FF2B5EF4-FFF2-40B4-BE49-F238E27FC236}">
                <a16:creationId xmlns:a16="http://schemas.microsoft.com/office/drawing/2014/main" id="{82B21C9C-CD51-4A9C-9982-8174C64C835E}"/>
              </a:ext>
            </a:extLst>
          </p:cNvPr>
          <p:cNvGrpSpPr/>
          <p:nvPr/>
        </p:nvGrpSpPr>
        <p:grpSpPr>
          <a:xfrm>
            <a:off x="5546099" y="2708419"/>
            <a:ext cx="2139195" cy="670779"/>
            <a:chOff x="5546099" y="2708419"/>
            <a:chExt cx="2139195" cy="670779"/>
          </a:xfrm>
        </p:grpSpPr>
        <p:sp>
          <p:nvSpPr>
            <p:cNvPr id="152" name="靖飞在肝PPT1">
              <a:extLst>
                <a:ext uri="{FF2B5EF4-FFF2-40B4-BE49-F238E27FC236}">
                  <a16:creationId xmlns:a16="http://schemas.microsoft.com/office/drawing/2014/main" id="{6E8C9012-ED76-4449-8C8D-E3FE7453D81E}"/>
                </a:ext>
              </a:extLst>
            </p:cNvPr>
            <p:cNvSpPr/>
            <p:nvPr/>
          </p:nvSpPr>
          <p:spPr>
            <a:xfrm>
              <a:off x="5546099" y="2708419"/>
              <a:ext cx="213918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4" name="靖飞在肝PPT7">
              <a:extLst>
                <a:ext uri="{FF2B5EF4-FFF2-40B4-BE49-F238E27FC236}">
                  <a16:creationId xmlns:a16="http://schemas.microsoft.com/office/drawing/2014/main" id="{013597E9-E221-4855-9DAD-A62200DB77CE}"/>
                </a:ext>
              </a:extLst>
            </p:cNvPr>
            <p:cNvSpPr/>
            <p:nvPr/>
          </p:nvSpPr>
          <p:spPr>
            <a:xfrm flipV="1">
              <a:off x="7433925" y="3053667"/>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7" name="直接连接符 6">
              <a:extLst>
                <a:ext uri="{FF2B5EF4-FFF2-40B4-BE49-F238E27FC236}">
                  <a16:creationId xmlns:a16="http://schemas.microsoft.com/office/drawing/2014/main" id="{ADE945AE-2806-4A97-9FAC-F7B9A0EB55AC}"/>
                </a:ext>
              </a:extLst>
            </p:cNvPr>
            <p:cNvCxnSpPr/>
            <p:nvPr/>
          </p:nvCxnSpPr>
          <p:spPr>
            <a:xfrm>
              <a:off x="6154091" y="3053667"/>
              <a:ext cx="1508556"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5" name="组合 14">
            <a:extLst>
              <a:ext uri="{FF2B5EF4-FFF2-40B4-BE49-F238E27FC236}">
                <a16:creationId xmlns:a16="http://schemas.microsoft.com/office/drawing/2014/main" id="{672CF696-1B14-46F5-B8FB-54A53BDEF7FE}"/>
              </a:ext>
            </a:extLst>
          </p:cNvPr>
          <p:cNvGrpSpPr/>
          <p:nvPr/>
        </p:nvGrpSpPr>
        <p:grpSpPr>
          <a:xfrm>
            <a:off x="7920330" y="3712258"/>
            <a:ext cx="1110220" cy="687260"/>
            <a:chOff x="7920330" y="3712258"/>
            <a:chExt cx="1110220" cy="687260"/>
          </a:xfrm>
        </p:grpSpPr>
        <p:sp>
          <p:nvSpPr>
            <p:cNvPr id="155" name="靖飞在肝PPT1">
              <a:extLst>
                <a:ext uri="{FF2B5EF4-FFF2-40B4-BE49-F238E27FC236}">
                  <a16:creationId xmlns:a16="http://schemas.microsoft.com/office/drawing/2014/main" id="{2DD88776-7C46-4276-996A-59F2E2678BB3}"/>
                </a:ext>
              </a:extLst>
            </p:cNvPr>
            <p:cNvSpPr/>
            <p:nvPr/>
          </p:nvSpPr>
          <p:spPr>
            <a:xfrm>
              <a:off x="8147522" y="3712258"/>
              <a:ext cx="878972"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6" name="靖飞在肝PPT7">
              <a:extLst>
                <a:ext uri="{FF2B5EF4-FFF2-40B4-BE49-F238E27FC236}">
                  <a16:creationId xmlns:a16="http://schemas.microsoft.com/office/drawing/2014/main" id="{E7F75939-D858-48B5-8192-6248B9748A46}"/>
                </a:ext>
              </a:extLst>
            </p:cNvPr>
            <p:cNvSpPr/>
            <p:nvPr/>
          </p:nvSpPr>
          <p:spPr>
            <a:xfrm flipV="1">
              <a:off x="7920330" y="4049745"/>
              <a:ext cx="1106164"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57" name="直接连接符 156">
              <a:extLst>
                <a:ext uri="{FF2B5EF4-FFF2-40B4-BE49-F238E27FC236}">
                  <a16:creationId xmlns:a16="http://schemas.microsoft.com/office/drawing/2014/main" id="{C9309DC6-2411-4183-84FC-6F06E82E5938}"/>
                </a:ext>
              </a:extLst>
            </p:cNvPr>
            <p:cNvCxnSpPr>
              <a:cxnSpLocks/>
            </p:cNvCxnSpPr>
            <p:nvPr/>
          </p:nvCxnSpPr>
          <p:spPr>
            <a:xfrm>
              <a:off x="8769512" y="4053026"/>
              <a:ext cx="261038"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4" name="组合 13">
            <a:extLst>
              <a:ext uri="{FF2B5EF4-FFF2-40B4-BE49-F238E27FC236}">
                <a16:creationId xmlns:a16="http://schemas.microsoft.com/office/drawing/2014/main" id="{5225D5D2-C689-438C-B69B-40156927B7FB}"/>
              </a:ext>
            </a:extLst>
          </p:cNvPr>
          <p:cNvGrpSpPr/>
          <p:nvPr/>
        </p:nvGrpSpPr>
        <p:grpSpPr>
          <a:xfrm>
            <a:off x="8915604" y="4726931"/>
            <a:ext cx="1455199" cy="678390"/>
            <a:chOff x="8915604" y="4726931"/>
            <a:chExt cx="1455199" cy="678390"/>
          </a:xfrm>
        </p:grpSpPr>
        <p:sp>
          <p:nvSpPr>
            <p:cNvPr id="158" name="靖飞在肝PPT1">
              <a:extLst>
                <a:ext uri="{FF2B5EF4-FFF2-40B4-BE49-F238E27FC236}">
                  <a16:creationId xmlns:a16="http://schemas.microsoft.com/office/drawing/2014/main" id="{8C0A8711-3430-4267-950A-EF398CEEB7F6}"/>
                </a:ext>
              </a:extLst>
            </p:cNvPr>
            <p:cNvSpPr/>
            <p:nvPr/>
          </p:nvSpPr>
          <p:spPr>
            <a:xfrm>
              <a:off x="8915604" y="4726931"/>
              <a:ext cx="1439976" cy="322236"/>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60" name="靖飞在肝PPT7">
              <a:extLst>
                <a:ext uri="{FF2B5EF4-FFF2-40B4-BE49-F238E27FC236}">
                  <a16:creationId xmlns:a16="http://schemas.microsoft.com/office/drawing/2014/main" id="{2D0C427E-9F38-44C4-B7C0-3C6926074E27}"/>
                </a:ext>
              </a:extLst>
            </p:cNvPr>
            <p:cNvSpPr/>
            <p:nvPr/>
          </p:nvSpPr>
          <p:spPr>
            <a:xfrm flipV="1">
              <a:off x="8976693" y="5055548"/>
              <a:ext cx="1378879"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63" name="直接连接符 162">
              <a:extLst>
                <a:ext uri="{FF2B5EF4-FFF2-40B4-BE49-F238E27FC236}">
                  <a16:creationId xmlns:a16="http://schemas.microsoft.com/office/drawing/2014/main" id="{8C6A761C-C210-4201-9491-B181A0A37F85}"/>
                </a:ext>
              </a:extLst>
            </p:cNvPr>
            <p:cNvCxnSpPr>
              <a:cxnSpLocks/>
            </p:cNvCxnSpPr>
            <p:nvPr/>
          </p:nvCxnSpPr>
          <p:spPr>
            <a:xfrm>
              <a:off x="9643203" y="5058830"/>
              <a:ext cx="727600"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3" name="组合 12">
            <a:extLst>
              <a:ext uri="{FF2B5EF4-FFF2-40B4-BE49-F238E27FC236}">
                <a16:creationId xmlns:a16="http://schemas.microsoft.com/office/drawing/2014/main" id="{7BF1FD95-6F31-4511-9508-1CCB9E582EDD}"/>
              </a:ext>
            </a:extLst>
          </p:cNvPr>
          <p:cNvGrpSpPr/>
          <p:nvPr/>
        </p:nvGrpSpPr>
        <p:grpSpPr>
          <a:xfrm>
            <a:off x="9643203" y="5760788"/>
            <a:ext cx="1295303" cy="670779"/>
            <a:chOff x="9643203" y="5760788"/>
            <a:chExt cx="1379615" cy="670779"/>
          </a:xfrm>
        </p:grpSpPr>
        <p:sp>
          <p:nvSpPr>
            <p:cNvPr id="176" name="靖飞在肝PPT1">
              <a:extLst>
                <a:ext uri="{FF2B5EF4-FFF2-40B4-BE49-F238E27FC236}">
                  <a16:creationId xmlns:a16="http://schemas.microsoft.com/office/drawing/2014/main" id="{B077C632-5FC9-428D-85E3-E6D2D4B806B4}"/>
                </a:ext>
              </a:extLst>
            </p:cNvPr>
            <p:cNvSpPr/>
            <p:nvPr/>
          </p:nvSpPr>
          <p:spPr>
            <a:xfrm>
              <a:off x="9643203" y="5760788"/>
              <a:ext cx="137960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77" name="靖飞在肝PPT7">
              <a:extLst>
                <a:ext uri="{FF2B5EF4-FFF2-40B4-BE49-F238E27FC236}">
                  <a16:creationId xmlns:a16="http://schemas.microsoft.com/office/drawing/2014/main" id="{C2344555-606D-4B03-9642-49858FB2990C}"/>
                </a:ext>
              </a:extLst>
            </p:cNvPr>
            <p:cNvSpPr/>
            <p:nvPr/>
          </p:nvSpPr>
          <p:spPr>
            <a:xfrm flipV="1">
              <a:off x="10771449" y="6106036"/>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78" name="直接连接符 177">
              <a:extLst>
                <a:ext uri="{FF2B5EF4-FFF2-40B4-BE49-F238E27FC236}">
                  <a16:creationId xmlns:a16="http://schemas.microsoft.com/office/drawing/2014/main" id="{5A90DAC4-9F29-4EDB-8B0B-38E802CA7BE4}"/>
                </a:ext>
              </a:extLst>
            </p:cNvPr>
            <p:cNvCxnSpPr>
              <a:cxnSpLocks/>
            </p:cNvCxnSpPr>
            <p:nvPr/>
          </p:nvCxnSpPr>
          <p:spPr>
            <a:xfrm>
              <a:off x="10016266" y="6106036"/>
              <a:ext cx="983905"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5893</TotalTime>
  <Words>2263</Words>
  <Application>Microsoft Office PowerPoint</Application>
  <PresentationFormat>宽屏</PresentationFormat>
  <Paragraphs>337</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501</cp:revision>
  <dcterms:created xsi:type="dcterms:W3CDTF">2025-12-29T13:01:08Z</dcterms:created>
  <dcterms:modified xsi:type="dcterms:W3CDTF">2026-01-15T05:22:24Z</dcterms:modified>
</cp:coreProperties>
</file>