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1D22"/>
    <a:srgbClr val="F3C5C7"/>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66" autoAdjust="0"/>
    <p:restoredTop sz="94660"/>
  </p:normalViewPr>
  <p:slideViewPr>
    <p:cSldViewPr snapToGrid="0" showGuides="1">
      <p:cViewPr varScale="1">
        <p:scale>
          <a:sx n="103" d="100"/>
          <a:sy n="103" d="100"/>
        </p:scale>
        <p:origin x="2246"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D88D9DE-9CCF-4F00-882E-E723033C8EC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D81B61E2-D29B-463F-B3F9-8E03ACABCE76}"/>
              </a:ext>
            </a:extLst>
          </p:cNvPr>
          <p:cNvGrpSpPr/>
          <p:nvPr userDrawn="1"/>
        </p:nvGrpSpPr>
        <p:grpSpPr>
          <a:xfrm>
            <a:off x="263525" y="297823"/>
            <a:ext cx="635651" cy="522101"/>
            <a:chOff x="301625" y="297823"/>
            <a:chExt cx="635651" cy="522101"/>
          </a:xfrm>
        </p:grpSpPr>
        <p:sp>
          <p:nvSpPr>
            <p:cNvPr id="9" name="graduate-hat_59495">
              <a:extLst>
                <a:ext uri="{FF2B5EF4-FFF2-40B4-BE49-F238E27FC236}">
                  <a16:creationId xmlns:a16="http://schemas.microsoft.com/office/drawing/2014/main" id="{5866AA4C-BAD3-4B42-A370-213EE61D2BEA}"/>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duate-hat_59495">
              <a:extLst>
                <a:ext uri="{FF2B5EF4-FFF2-40B4-BE49-F238E27FC236}">
                  <a16:creationId xmlns:a16="http://schemas.microsoft.com/office/drawing/2014/main" id="{7E764E82-50AD-4C9E-9E23-CB00A2F746AB}"/>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图片 10">
            <a:extLst>
              <a:ext uri="{FF2B5EF4-FFF2-40B4-BE49-F238E27FC236}">
                <a16:creationId xmlns:a16="http://schemas.microsoft.com/office/drawing/2014/main" id="{3A4F6F4F-F51E-4BD9-83D2-A4CC8062AC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12" name="图片 11">
            <a:extLst>
              <a:ext uri="{FF2B5EF4-FFF2-40B4-BE49-F238E27FC236}">
                <a16:creationId xmlns:a16="http://schemas.microsoft.com/office/drawing/2014/main" id="{5B1633F8-D937-412A-9465-C7E2BFCBAEF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598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0496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9.jpg"/><Relationship Id="rId5" Type="http://schemas.microsoft.com/office/2007/relationships/hdphoto" Target="../media/hdphoto1.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2">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042534" y="2298133"/>
            <a:ext cx="10106934"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论文答辩</a:t>
            </a:r>
            <a:r>
              <a:rPr lang="en-US" altLang="zh-CN" sz="5400" dirty="0">
                <a:solidFill>
                  <a:schemeClr val="bg1"/>
                </a:solidFill>
                <a:latin typeface="思源黑体 CN Bold" panose="020B0800000000000000" pitchFamily="34" charset="-122"/>
                <a:ea typeface="思源黑体 CN Bold" panose="020B0800000000000000" pitchFamily="34" charset="-122"/>
              </a:rPr>
              <a:t>/</a:t>
            </a:r>
            <a:r>
              <a:rPr lang="zh-CN" altLang="en-US" sz="5400" dirty="0">
                <a:solidFill>
                  <a:schemeClr val="bg1"/>
                </a:solidFill>
                <a:latin typeface="思源黑体 CN Bold" panose="020B0800000000000000" pitchFamily="34" charset="-122"/>
                <a:ea typeface="思源黑体 CN Bold" panose="020B0800000000000000" pitchFamily="34" charset="-122"/>
              </a:rPr>
              <a:t>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4047505" cy="584775"/>
            <a:chOff x="6717178" y="1451134"/>
            <a:chExt cx="4047505"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grpSp>
        <p:nvGrpSpPr>
          <p:cNvPr id="17" name="组合 16">
            <a:extLst>
              <a:ext uri="{FF2B5EF4-FFF2-40B4-BE49-F238E27FC236}">
                <a16:creationId xmlns:a16="http://schemas.microsoft.com/office/drawing/2014/main" id="{70A3D56F-6CCC-4162-8F33-7A88B8F03B58}"/>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368A92C6-49B2-4273-B87C-8D6AD9750BC4}"/>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07F5D67F-4031-4303-B2A6-C202AA9A764D}"/>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253930"/>
            <a:ext cx="3166251"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0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000" dirty="0">
                <a:solidFill>
                  <a:schemeClr val="accent1"/>
                </a:solidFill>
                <a:latin typeface="思源黑体 CN Bold" panose="020B0800000000000000" pitchFamily="34" charset="-122"/>
                <a:ea typeface="思源黑体 CN Bold" panose="020B0800000000000000" pitchFamily="34" charset="-122"/>
              </a:rPr>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rgbClr val="911D22"/>
                  </a:solidFill>
                  <a:latin typeface="思源黑体 CN Heavy" panose="020B0A00000000000000" pitchFamily="34" charset="-122"/>
                  <a:ea typeface="思源黑体 CN Heavy" panose="020B0A00000000000000" pitchFamily="34" charset="-122"/>
                </a:rPr>
                <a:t>02</a:t>
              </a:r>
              <a:endParaRPr lang="zh-CN" altLang="en-US" sz="3200" dirty="0">
                <a:solidFill>
                  <a:srgbClr val="911D22"/>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253930"/>
            <a:ext cx="3725122"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CRISPR </a:t>
            </a:r>
            <a:r>
              <a:rPr lang="zh-CN" altLang="en-US" sz="2000" dirty="0">
                <a:solidFill>
                  <a:schemeClr val="accent1"/>
                </a:solidFill>
                <a:latin typeface="思源黑体 CN Bold" panose="020B0800000000000000" pitchFamily="34" charset="-122"/>
                <a:ea typeface="思源黑体 CN Bold" panose="020B0800000000000000" pitchFamily="34" charset="-122"/>
              </a:rPr>
              <a:t>构建 </a:t>
            </a:r>
            <a:r>
              <a:rPr lang="en-US" altLang="zh-CN" sz="2000" dirty="0">
                <a:solidFill>
                  <a:schemeClr val="accent1"/>
                </a:solidFill>
                <a:latin typeface="思源黑体 CN Bold" panose="020B0800000000000000" pitchFamily="34" charset="-122"/>
                <a:ea typeface="思源黑体 CN Bold" panose="020B0800000000000000" pitchFamily="34" charset="-122"/>
              </a:rPr>
              <a:t>MYSM1 </a:t>
            </a:r>
            <a:r>
              <a:rPr lang="zh-CN" altLang="en-US" sz="2000" dirty="0">
                <a:solidFill>
                  <a:schemeClr val="accent1"/>
                </a:solidFill>
                <a:latin typeface="思源黑体 CN Bold" panose="020B0800000000000000" pitchFamily="34" charset="-122"/>
                <a:ea typeface="思源黑体 CN Bold" panose="020B0800000000000000" pitchFamily="34" charset="-122"/>
              </a:rPr>
              <a:t>敲除模型</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253930"/>
            <a:ext cx="3138167"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DXSVDFB</a:t>
            </a:r>
            <a:r>
              <a:rPr lang="zh-CN" altLang="en-US" sz="2000" dirty="0">
                <a:solidFill>
                  <a:schemeClr val="accent1"/>
                </a:solidFill>
                <a:latin typeface="思源黑体 CN Bold" panose="020B0800000000000000" pitchFamily="34" charset="-122"/>
                <a:ea typeface="思源黑体 CN Bold" panose="020B0800000000000000" pitchFamily="34" charset="-122"/>
              </a:rPr>
              <a:t>策略构建与验证</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3329360" cy="584775"/>
            <a:chOff x="6717178" y="1451134"/>
            <a:chExt cx="3329360"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defPPr>
                <a:defRPr lang="zh-CN"/>
              </a:defPPr>
              <a:lvl1pPr>
                <a:defRPr sz="3200">
                  <a:solidFill>
                    <a:schemeClr val="accent1"/>
                  </a:solidFill>
                  <a:latin typeface="思源黑体 CN Heavy" panose="020B0A00000000000000" pitchFamily="34" charset="-122"/>
                  <a:ea typeface="思源黑体 CN Heavy" panose="020B0A00000000000000" pitchFamily="34" charset="-122"/>
                </a:defRPr>
              </a:lvl1pPr>
            </a:lstStyle>
            <a:p>
              <a:r>
                <a:rPr lang="en-US" altLang="zh-CN" dirty="0"/>
                <a:t>03</a:t>
              </a:r>
              <a:endParaRPr lang="zh-CN" altLang="en-US" dirty="0"/>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6" name="矩形: 圆角 5">
            <a:extLst>
              <a:ext uri="{FF2B5EF4-FFF2-40B4-BE49-F238E27FC236}">
                <a16:creationId xmlns:a16="http://schemas.microsoft.com/office/drawing/2014/main" id="{C1A30B15-8195-4307-A38C-A12C001EC6E1}"/>
              </a:ext>
            </a:extLst>
          </p:cNvPr>
          <p:cNvSpPr/>
          <p:nvPr/>
        </p:nvSpPr>
        <p:spPr>
          <a:xfrm>
            <a:off x="6096000" y="144272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44751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46520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12948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7525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8197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7894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8197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72802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7504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5D8AF1D-5CAF-4596-90E1-7A8ABECBF02E}"/>
              </a:ext>
            </a:extLst>
          </p:cNvPr>
          <p:cNvGrpSpPr/>
          <p:nvPr/>
        </p:nvGrpSpPr>
        <p:grpSpPr>
          <a:xfrm>
            <a:off x="1001750" y="267494"/>
            <a:ext cx="3688432" cy="584775"/>
            <a:chOff x="6717178" y="1451134"/>
            <a:chExt cx="3688432" cy="584775"/>
          </a:xfrm>
        </p:grpSpPr>
        <p:sp>
          <p:nvSpPr>
            <p:cNvPr id="4" name="文本框 3">
              <a:extLst>
                <a:ext uri="{FF2B5EF4-FFF2-40B4-BE49-F238E27FC236}">
                  <a16:creationId xmlns:a16="http://schemas.microsoft.com/office/drawing/2014/main" id="{34134F62-D028-4FCF-93D2-9B455FBBDA00}"/>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04</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BACA0E63-5055-4509-98F9-57AF229CBE6B}"/>
                </a:ext>
              </a:extLst>
            </p:cNvPr>
            <p:cNvSpPr txBox="1"/>
            <p:nvPr/>
          </p:nvSpPr>
          <p:spPr>
            <a:xfrm>
              <a:off x="7348363" y="1477804"/>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grpSp>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3169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6" name="组合 25">
            <a:extLst>
              <a:ext uri="{FF2B5EF4-FFF2-40B4-BE49-F238E27FC236}">
                <a16:creationId xmlns:a16="http://schemas.microsoft.com/office/drawing/2014/main" id="{C252ED32-B842-4899-9FF8-E1EB732A26CE}"/>
              </a:ext>
            </a:extLst>
          </p:cNvPr>
          <p:cNvGrpSpPr/>
          <p:nvPr/>
        </p:nvGrpSpPr>
        <p:grpSpPr>
          <a:xfrm>
            <a:off x="1001750" y="267494"/>
            <a:ext cx="4765650" cy="584775"/>
            <a:chOff x="6717178" y="1451134"/>
            <a:chExt cx="4765650" cy="584775"/>
          </a:xfrm>
        </p:grpSpPr>
        <p:sp>
          <p:nvSpPr>
            <p:cNvPr id="27" name="文本框 26">
              <a:extLst>
                <a:ext uri="{FF2B5EF4-FFF2-40B4-BE49-F238E27FC236}">
                  <a16:creationId xmlns:a16="http://schemas.microsoft.com/office/drawing/2014/main" id="{4B6ADAFA-9187-4778-8EA8-D5B050B7F793}"/>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8" name="文本框 27">
              <a:extLst>
                <a:ext uri="{FF2B5EF4-FFF2-40B4-BE49-F238E27FC236}">
                  <a16:creationId xmlns:a16="http://schemas.microsoft.com/office/drawing/2014/main" id="{3C2D271D-5F67-4AED-9A08-C27171670796}"/>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679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469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组合 81">
            <a:extLst>
              <a:ext uri="{FF2B5EF4-FFF2-40B4-BE49-F238E27FC236}">
                <a16:creationId xmlns:a16="http://schemas.microsoft.com/office/drawing/2014/main" id="{3FCB8E53-261B-4586-988B-0FFE64BDECAE}"/>
              </a:ext>
            </a:extLst>
          </p:cNvPr>
          <p:cNvGrpSpPr/>
          <p:nvPr/>
        </p:nvGrpSpPr>
        <p:grpSpPr>
          <a:xfrm>
            <a:off x="1001750" y="267494"/>
            <a:ext cx="4765650" cy="584775"/>
            <a:chOff x="6717178" y="1451134"/>
            <a:chExt cx="4765650" cy="584775"/>
          </a:xfrm>
        </p:grpSpPr>
        <p:sp>
          <p:nvSpPr>
            <p:cNvPr id="83" name="文本框 82">
              <a:extLst>
                <a:ext uri="{FF2B5EF4-FFF2-40B4-BE49-F238E27FC236}">
                  <a16:creationId xmlns:a16="http://schemas.microsoft.com/office/drawing/2014/main" id="{26DAB4B5-2643-4625-8F04-82546467EF32}"/>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4" name="文本框 83">
              <a:extLst>
                <a:ext uri="{FF2B5EF4-FFF2-40B4-BE49-F238E27FC236}">
                  <a16:creationId xmlns:a16="http://schemas.microsoft.com/office/drawing/2014/main" id="{6CEF7ACF-7D3E-4C31-A0C3-6169BAF80E81}"/>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02692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2216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40071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10632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22026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53570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74704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9510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8D571208-1B45-4006-B3FC-6E3F6DAEDA71}"/>
              </a:ext>
            </a:extLst>
          </p:cNvPr>
          <p:cNvGrpSpPr/>
          <p:nvPr/>
        </p:nvGrpSpPr>
        <p:grpSpPr>
          <a:xfrm>
            <a:off x="1001750" y="267494"/>
            <a:ext cx="4765650" cy="584775"/>
            <a:chOff x="6717178" y="1451134"/>
            <a:chExt cx="4765650" cy="584775"/>
          </a:xfrm>
        </p:grpSpPr>
        <p:sp>
          <p:nvSpPr>
            <p:cNvPr id="43" name="文本框 42">
              <a:extLst>
                <a:ext uri="{FF2B5EF4-FFF2-40B4-BE49-F238E27FC236}">
                  <a16:creationId xmlns:a16="http://schemas.microsoft.com/office/drawing/2014/main" id="{158C075D-0A8E-4A03-934F-0376EA6E414F}"/>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4" name="文本框 43">
              <a:extLst>
                <a:ext uri="{FF2B5EF4-FFF2-40B4-BE49-F238E27FC236}">
                  <a16:creationId xmlns:a16="http://schemas.microsoft.com/office/drawing/2014/main" id="{4ACAC822-9482-4138-B0E2-2A00027EA302}"/>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765650" cy="584775"/>
            <a:chOff x="6717178" y="1451134"/>
            <a:chExt cx="4765650"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82626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4351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9113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979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9342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545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81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6371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8096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859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72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308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9199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2562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10116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841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604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3469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833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94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630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047505" cy="584775"/>
            <a:chOff x="6717178" y="1451134"/>
            <a:chExt cx="4047505"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06</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gr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25363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rgbClr val="911D2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alpha val="40000"/>
                </a:scheme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alpha val="40000"/>
                </a:scheme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alpha val="40000"/>
                </a:scheme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56">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5076</TotalTime>
  <Words>2013</Words>
  <Application>Microsoft Office PowerPoint</Application>
  <PresentationFormat>宽屏</PresentationFormat>
  <Paragraphs>275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325</cp:revision>
  <dcterms:created xsi:type="dcterms:W3CDTF">2025-12-29T13:01:08Z</dcterms:created>
  <dcterms:modified xsi:type="dcterms:W3CDTF">2026-01-15T06:27:30Z</dcterms:modified>
</cp:coreProperties>
</file>