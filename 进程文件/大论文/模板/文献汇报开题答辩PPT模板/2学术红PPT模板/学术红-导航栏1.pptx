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14" r:id="rId2"/>
    <p:sldId id="315" r:id="rId3"/>
    <p:sldId id="276" r:id="rId4"/>
    <p:sldId id="313" r:id="rId5"/>
    <p:sldId id="274" r:id="rId6"/>
    <p:sldId id="275" r:id="rId7"/>
    <p:sldId id="256" r:id="rId8"/>
    <p:sldId id="257" r:id="rId9"/>
    <p:sldId id="258" r:id="rId10"/>
    <p:sldId id="259" r:id="rId11"/>
    <p:sldId id="260" r:id="rId12"/>
    <p:sldId id="261" r:id="rId13"/>
    <p:sldId id="263" r:id="rId14"/>
    <p:sldId id="262" r:id="rId15"/>
    <p:sldId id="264" r:id="rId16"/>
    <p:sldId id="265" r:id="rId17"/>
    <p:sldId id="266" r:id="rId18"/>
    <p:sldId id="267" r:id="rId19"/>
    <p:sldId id="269" r:id="rId20"/>
    <p:sldId id="268" r:id="rId21"/>
    <p:sldId id="270" r:id="rId22"/>
    <p:sldId id="271" r:id="rId23"/>
    <p:sldId id="272" r:id="rId24"/>
    <p:sldId id="273"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166" userDrawn="1">
          <p15:clr>
            <a:srgbClr val="A4A3A4"/>
          </p15:clr>
        </p15:guide>
        <p15:guide id="2" pos="7514" userDrawn="1">
          <p15:clr>
            <a:srgbClr val="A4A3A4"/>
          </p15:clr>
        </p15:guide>
        <p15:guide id="3" orient="horz" pos="4156" userDrawn="1">
          <p15:clr>
            <a:srgbClr val="A4A3A4"/>
          </p15:clr>
        </p15:guide>
        <p15:guide id="4" pos="7310" userDrawn="1">
          <p15:clr>
            <a:srgbClr val="A4A3A4"/>
          </p15:clr>
        </p15:guide>
        <p15:guide id="5" pos="37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5C7"/>
    <a:srgbClr val="911D22"/>
    <a:srgbClr val="DC9090"/>
    <a:srgbClr val="009A48"/>
    <a:srgbClr val="D51A18"/>
    <a:srgbClr val="9307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60" autoAdjust="0"/>
    <p:restoredTop sz="94660"/>
  </p:normalViewPr>
  <p:slideViewPr>
    <p:cSldViewPr snapToGrid="0" showGuides="1">
      <p:cViewPr varScale="1">
        <p:scale>
          <a:sx n="103" d="100"/>
          <a:sy n="103" d="100"/>
        </p:scale>
        <p:origin x="2304" y="82"/>
      </p:cViewPr>
      <p:guideLst>
        <p:guide pos="166"/>
        <p:guide pos="7514"/>
        <p:guide orient="horz" pos="4156"/>
        <p:guide pos="7310"/>
        <p:guide pos="37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1.5</c:v>
                </c:pt>
                <c:pt idx="2">
                  <c:v>3</c:v>
                </c:pt>
                <c:pt idx="3">
                  <c:v>3.5</c:v>
                </c:pt>
                <c:pt idx="4">
                  <c:v>4.2</c:v>
                </c:pt>
                <c:pt idx="5">
                  <c:v>4.5999999999999996</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4</c:v>
                </c:pt>
                <c:pt idx="4">
                  <c:v>4.4000000000000004</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SK-Hep1</a:t>
                </a:r>
                <a:endParaRPr lang="zh-CN" sz="900" dirty="0"/>
              </a:p>
            </c:rich>
          </c:tx>
          <c:layout>
            <c:manualLayout>
              <c:xMode val="edge"/>
              <c:yMode val="edge"/>
              <c:x val="0.32673985132799166"/>
              <c:y val="0.87156321986478869"/>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0</c:v>
                </c:pt>
                <c:pt idx="1">
                  <c:v>1</c:v>
                </c:pt>
                <c:pt idx="2">
                  <c:v>3</c:v>
                </c:pt>
                <c:pt idx="3">
                  <c:v>3.3</c:v>
                </c:pt>
                <c:pt idx="4">
                  <c:v>4</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0</c:v>
                </c:pt>
                <c:pt idx="1">
                  <c:v>3</c:v>
                </c:pt>
                <c:pt idx="2">
                  <c:v>3</c:v>
                </c:pt>
                <c:pt idx="3">
                  <c:v>2</c:v>
                </c:pt>
                <c:pt idx="4">
                  <c:v>3</c:v>
                </c:pt>
                <c:pt idx="5">
                  <c:v>4</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0</c:v>
                </c:pt>
                <c:pt idx="1">
                  <c:v>2</c:v>
                </c:pt>
                <c:pt idx="2">
                  <c:v>3.1</c:v>
                </c:pt>
                <c:pt idx="3">
                  <c:v>3</c:v>
                </c:pt>
                <c:pt idx="4">
                  <c:v>2</c:v>
                </c:pt>
                <c:pt idx="5">
                  <c:v>5</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Hep3B</a:t>
                </a:r>
                <a:endParaRPr lang="zh-CN" sz="900" dirty="0"/>
              </a:p>
            </c:rich>
          </c:tx>
          <c:layout>
            <c:manualLayout>
              <c:xMode val="edge"/>
              <c:yMode val="edge"/>
              <c:x val="0.35227312480221767"/>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lineChart>
        <c:grouping val="standard"/>
        <c:varyColors val="0"/>
        <c:ser>
          <c:idx val="0"/>
          <c:order val="0"/>
          <c:tx>
            <c:strRef>
              <c:f>Sheet1!$B$1</c:f>
              <c:strCache>
                <c:ptCount val="1"/>
                <c:pt idx="0">
                  <c:v>shNMT1#2</c:v>
                </c:pt>
              </c:strCache>
            </c:strRef>
          </c:tx>
          <c:spPr>
            <a:ln w="22225" cap="rnd">
              <a:solidFill>
                <a:srgbClr val="D51A18"/>
              </a:solidFill>
              <a:round/>
            </a:ln>
            <a:effectLst/>
          </c:spPr>
          <c:marker>
            <c:symbol val="circle"/>
            <c:size val="5"/>
            <c:spPr>
              <a:solidFill>
                <a:schemeClr val="accent1"/>
              </a:solidFill>
              <a:ln w="9525">
                <a:solidFill>
                  <a:schemeClr val="accent1"/>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Sheet1!$B$2:$B$7</c:f>
              <c:numCache>
                <c:formatCode>General</c:formatCode>
                <c:ptCount val="6"/>
                <c:pt idx="0">
                  <c:v>2</c:v>
                </c:pt>
                <c:pt idx="1">
                  <c:v>1</c:v>
                </c:pt>
                <c:pt idx="2">
                  <c:v>2.5</c:v>
                </c:pt>
                <c:pt idx="3">
                  <c:v>3.3</c:v>
                </c:pt>
                <c:pt idx="4">
                  <c:v>4.2</c:v>
                </c:pt>
                <c:pt idx="5">
                  <c:v>4.5</c:v>
                </c:pt>
              </c:numCache>
            </c:numRef>
          </c: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2225" cap="rnd">
              <a:solidFill>
                <a:srgbClr val="009A48"/>
              </a:solidFill>
              <a:round/>
            </a:ln>
            <a:effectLst/>
          </c:spPr>
          <c:marker>
            <c:symbol val="circle"/>
            <c:size val="5"/>
            <c:spPr>
              <a:solidFill>
                <a:schemeClr val="accent2"/>
              </a:solidFill>
              <a:ln w="9525">
                <a:solidFill>
                  <a:schemeClr val="accent2"/>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Sheet1!$C$2:$C$7</c:f>
              <c:numCache>
                <c:formatCode>General</c:formatCode>
                <c:ptCount val="6"/>
                <c:pt idx="0">
                  <c:v>3</c:v>
                </c:pt>
                <c:pt idx="1">
                  <c:v>2</c:v>
                </c:pt>
                <c:pt idx="2">
                  <c:v>2</c:v>
                </c:pt>
                <c:pt idx="3">
                  <c:v>4</c:v>
                </c:pt>
                <c:pt idx="4">
                  <c:v>3</c:v>
                </c:pt>
                <c:pt idx="5">
                  <c:v>5</c:v>
                </c:pt>
              </c:numCache>
            </c:numRef>
          </c: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2225" cap="rnd">
              <a:solidFill>
                <a:schemeClr val="tx1"/>
              </a:solidFill>
              <a:round/>
            </a:ln>
            <a:effectLst/>
          </c:spPr>
          <c:marker>
            <c:symbol val="circle"/>
            <c:size val="5"/>
            <c:spPr>
              <a:solidFill>
                <a:schemeClr val="accent3"/>
              </a:solidFill>
              <a:ln w="9525">
                <a:solidFill>
                  <a:schemeClr val="accent3"/>
                </a:solidFill>
              </a:ln>
              <a:effectLst/>
            </c:spPr>
          </c:marker>
          <c:cat>
            <c:numRef>
              <c:f>Sheet1!$A$2:$A$7</c:f>
              <c:numCache>
                <c:formatCode>General</c:formatCode>
                <c:ptCount val="6"/>
                <c:pt idx="0">
                  <c:v>0</c:v>
                </c:pt>
                <c:pt idx="1">
                  <c:v>1</c:v>
                </c:pt>
                <c:pt idx="2">
                  <c:v>2</c:v>
                </c:pt>
                <c:pt idx="3">
                  <c:v>3</c:v>
                </c:pt>
                <c:pt idx="4">
                  <c:v>4</c:v>
                </c:pt>
                <c:pt idx="5">
                  <c:v>5</c:v>
                </c:pt>
              </c:numCache>
            </c:numRef>
          </c:cat>
          <c:val>
            <c:numRef>
              <c:f>Sheet1!$D$2:$D$7</c:f>
              <c:numCache>
                <c:formatCode>General</c:formatCode>
                <c:ptCount val="6"/>
                <c:pt idx="0">
                  <c:v>5</c:v>
                </c:pt>
                <c:pt idx="1">
                  <c:v>4</c:v>
                </c:pt>
                <c:pt idx="2">
                  <c:v>2</c:v>
                </c:pt>
                <c:pt idx="3">
                  <c:v>3</c:v>
                </c:pt>
                <c:pt idx="4">
                  <c:v>2</c:v>
                </c:pt>
                <c:pt idx="5">
                  <c:v>1</c:v>
                </c:pt>
              </c:numCache>
            </c:numRef>
          </c: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marker val="1"/>
        <c:smooth val="0"/>
        <c:axId val="1990895"/>
        <c:axId val="1991223"/>
      </c:lineChart>
      <c:catAx>
        <c:axId val="1990895"/>
        <c:scaling>
          <c:orientation val="minMax"/>
        </c:scaling>
        <c:delete val="0"/>
        <c:axPos val="b"/>
        <c:title>
          <c:tx>
            <c:rich>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Huh7</a:t>
                </a:r>
                <a:endParaRPr lang="zh-CN" sz="900" dirty="0"/>
              </a:p>
            </c:rich>
          </c:tx>
          <c:layout>
            <c:manualLayout>
              <c:xMode val="edge"/>
              <c:yMode val="edge"/>
              <c:x val="0.36759308888675324"/>
              <c:y val="0.87156321986478869"/>
            </c:manualLayout>
          </c:layout>
          <c:overlay val="0"/>
          <c:spPr>
            <a:noFill/>
            <a:ln>
              <a:noFill/>
            </a:ln>
            <a:effectLst/>
          </c:spPr>
          <c:txPr>
            <a:bodyPr rot="0" spcFirstLastPara="1" vertOverflow="ellipsis" vert="horz" wrap="square" anchor="ctr" anchorCtr="1"/>
            <a:lstStyle/>
            <a:p>
              <a:pPr algn="ct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auto val="1"/>
        <c:lblAlgn val="ctr"/>
        <c:lblOffset val="100"/>
        <c:noMultiLvlLbl val="0"/>
      </c:cat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30875397223346984"/>
          <c:h val="0.39661966221643941"/>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30</c:v>
                </c:pt>
                <c:pt idx="3">
                  <c:v>35</c:v>
                </c:pt>
                <c:pt idx="4">
                  <c:v>42</c:v>
                </c:pt>
                <c:pt idx="5">
                  <c:v>46</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cycle </a:t>
                </a:r>
                <a:r>
                  <a:rPr lang="en-US" altLang="zh-CN" sz="900" baseline="0" dirty="0"/>
                  <a:t>%</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30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50</c:v>
                </c:pt>
                <c:pt idx="2">
                  <c:v>40</c:v>
                </c:pt>
                <c:pt idx="3">
                  <c:v>35</c:v>
                </c:pt>
                <c:pt idx="4">
                  <c:v>20</c:v>
                </c:pt>
                <c:pt idx="5">
                  <c:v>1.5</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20</c:v>
                </c:pt>
                <c:pt idx="2">
                  <c:v>31</c:v>
                </c:pt>
                <c:pt idx="3">
                  <c:v>40</c:v>
                </c:pt>
                <c:pt idx="4">
                  <c:v>44</c:v>
                </c:pt>
                <c:pt idx="5">
                  <c:v>50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altLang="zh-CN" sz="900" dirty="0"/>
                  <a:t>Gait </a:t>
                </a:r>
                <a:r>
                  <a:rPr lang="en-US" altLang="zh-CN" sz="900" dirty="0" err="1"/>
                  <a:t>cyle</a:t>
                </a:r>
                <a:r>
                  <a:rPr lang="en-US" altLang="zh-CN"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184053726786122"/>
          <c:y val="3.6693393051973881E-2"/>
          <c:w val="0.53389873785209274"/>
          <c:h val="0.7543388021554176"/>
        </c:manualLayout>
      </c:layout>
      <c:scatterChart>
        <c:scatterStyle val="lineMarker"/>
        <c:varyColors val="0"/>
        <c:ser>
          <c:idx val="0"/>
          <c:order val="0"/>
          <c:tx>
            <c:strRef>
              <c:f>Sheet1!$B$1</c:f>
              <c:strCache>
                <c:ptCount val="1"/>
                <c:pt idx="0">
                  <c:v>shNMT1#2</c:v>
                </c:pt>
              </c:strCache>
            </c:strRef>
          </c:tx>
          <c:spPr>
            <a:ln w="25400" cap="rnd">
              <a:noFill/>
              <a:round/>
            </a:ln>
            <a:effectLst/>
          </c:spPr>
          <c:marker>
            <c:symbol val="circle"/>
            <c:size val="5"/>
            <c:spPr>
              <a:solidFill>
                <a:schemeClr val="accent1"/>
              </a:solidFill>
              <a:ln w="9525">
                <a:solidFill>
                  <a:schemeClr val="accent1"/>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Sheet1!$B$2:$B$7</c:f>
              <c:numCache>
                <c:formatCode>General</c:formatCode>
                <c:ptCount val="6"/>
                <c:pt idx="0">
                  <c:v>0</c:v>
                </c:pt>
                <c:pt idx="1">
                  <c:v>10</c:v>
                </c:pt>
                <c:pt idx="2">
                  <c:v>25</c:v>
                </c:pt>
                <c:pt idx="3">
                  <c:v>33</c:v>
                </c:pt>
                <c:pt idx="4">
                  <c:v>42</c:v>
                </c:pt>
                <c:pt idx="5">
                  <c:v>45</c:v>
                </c:pt>
              </c:numCache>
            </c:numRef>
          </c:yVal>
          <c:smooth val="0"/>
          <c:extLst>
            <c:ext xmlns:c16="http://schemas.microsoft.com/office/drawing/2014/chart" uri="{C3380CC4-5D6E-409C-BE32-E72D297353CC}">
              <c16:uniqueId val="{00000000-6E55-4D81-99FB-3C7772639494}"/>
            </c:ext>
          </c:extLst>
        </c:ser>
        <c:ser>
          <c:idx val="1"/>
          <c:order val="1"/>
          <c:tx>
            <c:strRef>
              <c:f>Sheet1!$C$1</c:f>
              <c:strCache>
                <c:ptCount val="1"/>
                <c:pt idx="0">
                  <c:v>shNMT1#1</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Sheet1!$C$2:$C$7</c:f>
              <c:numCache>
                <c:formatCode>General</c:formatCode>
                <c:ptCount val="6"/>
                <c:pt idx="0">
                  <c:v>0</c:v>
                </c:pt>
                <c:pt idx="1">
                  <c:v>15</c:v>
                </c:pt>
                <c:pt idx="2">
                  <c:v>10</c:v>
                </c:pt>
                <c:pt idx="3">
                  <c:v>50</c:v>
                </c:pt>
                <c:pt idx="4">
                  <c:v>42</c:v>
                </c:pt>
                <c:pt idx="5">
                  <c:v>20</c:v>
                </c:pt>
              </c:numCache>
            </c:numRef>
          </c:yVal>
          <c:smooth val="0"/>
          <c:extLst>
            <c:ext xmlns:c16="http://schemas.microsoft.com/office/drawing/2014/chart" uri="{C3380CC4-5D6E-409C-BE32-E72D297353CC}">
              <c16:uniqueId val="{00000001-6E55-4D81-99FB-3C7772639494}"/>
            </c:ext>
          </c:extLst>
        </c:ser>
        <c:ser>
          <c:idx val="2"/>
          <c:order val="2"/>
          <c:tx>
            <c:strRef>
              <c:f>Sheet1!$D$1</c:f>
              <c:strCache>
                <c:ptCount val="1"/>
                <c:pt idx="0">
                  <c:v>shCON</c:v>
                </c:pt>
              </c:strCache>
            </c:strRef>
          </c:tx>
          <c:spPr>
            <a:ln w="25400" cap="rnd">
              <a:noFill/>
              <a:round/>
            </a:ln>
            <a:effectLst/>
          </c:spPr>
          <c:marker>
            <c:symbol val="circle"/>
            <c:size val="5"/>
            <c:spPr>
              <a:solidFill>
                <a:schemeClr val="accent3"/>
              </a:solidFill>
              <a:ln w="9525">
                <a:solidFill>
                  <a:schemeClr val="accent3"/>
                </a:solidFill>
              </a:ln>
              <a:effectLst/>
            </c:spPr>
          </c:marker>
          <c:xVal>
            <c:numRef>
              <c:f>Sheet1!$A$2:$A$7</c:f>
              <c:numCache>
                <c:formatCode>General</c:formatCode>
                <c:ptCount val="6"/>
                <c:pt idx="0">
                  <c:v>0</c:v>
                </c:pt>
                <c:pt idx="1">
                  <c:v>10</c:v>
                </c:pt>
                <c:pt idx="2">
                  <c:v>20</c:v>
                </c:pt>
                <c:pt idx="3">
                  <c:v>30</c:v>
                </c:pt>
                <c:pt idx="4">
                  <c:v>40</c:v>
                </c:pt>
                <c:pt idx="5">
                  <c:v>50</c:v>
                </c:pt>
              </c:numCache>
            </c:numRef>
          </c:xVal>
          <c:yVal>
            <c:numRef>
              <c:f>Sheet1!$D$2:$D$7</c:f>
              <c:numCache>
                <c:formatCode>General</c:formatCode>
                <c:ptCount val="6"/>
                <c:pt idx="0">
                  <c:v>0</c:v>
                </c:pt>
                <c:pt idx="1">
                  <c:v>10</c:v>
                </c:pt>
                <c:pt idx="2">
                  <c:v>31</c:v>
                </c:pt>
                <c:pt idx="3">
                  <c:v>30</c:v>
                </c:pt>
                <c:pt idx="4">
                  <c:v>44</c:v>
                </c:pt>
                <c:pt idx="5">
                  <c:v>40</c:v>
                </c:pt>
              </c:numCache>
            </c:numRef>
          </c:yVal>
          <c:smooth val="0"/>
          <c:extLst>
            <c:ext xmlns:c16="http://schemas.microsoft.com/office/drawing/2014/chart" uri="{C3380CC4-5D6E-409C-BE32-E72D297353CC}">
              <c16:uniqueId val="{00000002-6E55-4D81-99FB-3C7772639494}"/>
            </c:ext>
          </c:extLst>
        </c:ser>
        <c:dLbls>
          <c:showLegendKey val="0"/>
          <c:showVal val="0"/>
          <c:showCatName val="0"/>
          <c:showSerName val="0"/>
          <c:showPercent val="0"/>
          <c:showBubbleSize val="0"/>
        </c:dLbls>
        <c:axId val="1990895"/>
        <c:axId val="1991223"/>
      </c:scatterChart>
      <c:valAx>
        <c:axId val="1990895"/>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900" dirty="0"/>
                  <a:t>Gait </a:t>
                </a:r>
                <a:r>
                  <a:rPr lang="en-US" sz="900" dirty="0" err="1"/>
                  <a:t>cyle</a:t>
                </a:r>
                <a:r>
                  <a:rPr lang="en-US" sz="900" dirty="0"/>
                  <a:t> %</a:t>
                </a:r>
                <a:endParaRPr lang="zh-CN" sz="900" dirty="0"/>
              </a:p>
            </c:rich>
          </c:tx>
          <c:layout>
            <c:manualLayout>
              <c:xMode val="edge"/>
              <c:yMode val="edge"/>
              <c:x val="0.29099326846407508"/>
              <c:y val="0.8649428747623583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19050" cap="flat" cmpd="sng" algn="ctr">
            <a:solidFill>
              <a:schemeClr val="tx1"/>
            </a:solidFill>
            <a:round/>
          </a:ln>
          <a:effectLst/>
        </c:spPr>
        <c:txPr>
          <a:bodyPr rot="0" spcFirstLastPara="1" vertOverflow="ellipsis"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1223"/>
        <c:crosses val="autoZero"/>
        <c:crossBetween val="midCat"/>
      </c:valAx>
      <c:valAx>
        <c:axId val="1991223"/>
        <c:scaling>
          <c:orientation val="minMax"/>
        </c:scaling>
        <c:delete val="0"/>
        <c:axPos val="l"/>
        <c:title>
          <c:tx>
            <c:rich>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r>
                  <a:rPr lang="en-US" sz="800" dirty="0"/>
                  <a:t>Absorbance, OD450 nm</a:t>
                </a:r>
                <a:endParaRPr lang="zh-CN" sz="800" dirty="0"/>
              </a:p>
            </c:rich>
          </c:tx>
          <c:layout>
            <c:manualLayout>
              <c:xMode val="edge"/>
              <c:yMode val="edge"/>
              <c:x val="1.7124853308414286E-3"/>
              <c:y val="0.10846679584158921"/>
            </c:manualLayout>
          </c:layout>
          <c:overlay val="0"/>
          <c:spPr>
            <a:noFill/>
            <a:ln>
              <a:noFill/>
            </a:ln>
            <a:effectLst/>
          </c:spPr>
          <c:txPr>
            <a:bodyPr rot="-54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title>
        <c:numFmt formatCode="General" sourceLinked="1"/>
        <c:majorTickMark val="out"/>
        <c:minorTickMark val="none"/>
        <c:tickLblPos val="nextTo"/>
        <c:spPr>
          <a:noFill/>
          <a:ln w="22225">
            <a:solidFill>
              <a:schemeClr val="tx1"/>
            </a:solidFill>
          </a:ln>
          <a:effectLst/>
        </c:spPr>
        <c:txPr>
          <a:bodyPr rot="-60000000" spcFirstLastPara="1" vertOverflow="ellipsis" vert="horz" wrap="square" anchor="ctr" anchorCtr="1"/>
          <a:lstStyle/>
          <a:p>
            <a:pPr>
              <a:defRPr sz="8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crossAx val="1990895"/>
        <c:crosses val="autoZero"/>
        <c:crossBetween val="midCat"/>
      </c:valAx>
      <c:spPr>
        <a:solidFill>
          <a:schemeClr val="bg1"/>
        </a:solidFill>
        <a:ln>
          <a:noFill/>
        </a:ln>
        <a:effectLst/>
      </c:spPr>
    </c:plotArea>
    <c:legend>
      <c:legendPos val="r"/>
      <c:layout>
        <c:manualLayout>
          <c:xMode val="edge"/>
          <c:yMode val="edge"/>
          <c:x val="0.6912460277665301"/>
          <c:y val="0.38731833799103282"/>
          <c:w val="0.2494588755468041"/>
          <c:h val="0.30998853689851952"/>
        </c:manualLayout>
      </c:layout>
      <c:overlay val="0"/>
      <c:spPr>
        <a:noFill/>
        <a:ln w="25400">
          <a:noFill/>
        </a:ln>
        <a:effectLst/>
      </c:spPr>
      <c:txPr>
        <a:bodyPr rot="0" spcFirstLastPara="1" vertOverflow="ellipsis" vert="horz" wrap="square" anchor="ctr" anchorCtr="1"/>
        <a:lstStyle/>
        <a:p>
          <a:pPr>
            <a:defRPr sz="700" b="0" i="0" u="none" strike="noStrike" kern="1200" baseline="0">
              <a:solidFill>
                <a:schemeClr val="tx1"/>
              </a:solidFill>
              <a:latin typeface="思源黑体 CN Regular" panose="020B0500000000000000" pitchFamily="34" charset="-122"/>
              <a:ea typeface="思源黑体 CN Regular" panose="020B0500000000000000" pitchFamily="34" charset="-122"/>
              <a:cs typeface="+mn-cs"/>
            </a:defRPr>
          </a:pPr>
          <a:endParaRPr lang="zh-CN"/>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solidFill>
            <a:schemeClr val="tx1"/>
          </a:solidFill>
          <a:latin typeface="思源黑体 CN Regular" panose="020B0500000000000000" pitchFamily="34" charset="-122"/>
          <a:ea typeface="思源黑体 CN Regular" panose="020B05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ED7E7C3F-52B9-4993-BD28-A93C35607FA9}"/>
              </a:ext>
            </a:extLst>
          </p:cNvPr>
          <p:cNvSpPr/>
          <p:nvPr userDrawn="1"/>
        </p:nvSpPr>
        <p:spPr>
          <a:xfrm>
            <a:off x="0" y="0"/>
            <a:ext cx="12192000" cy="952495"/>
          </a:xfrm>
          <a:prstGeom prst="rect">
            <a:avLst/>
          </a:prstGeom>
          <a:solidFill>
            <a:schemeClr val="accent1">
              <a:alpha val="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 name="直接连接符 3">
            <a:extLst>
              <a:ext uri="{FF2B5EF4-FFF2-40B4-BE49-F238E27FC236}">
                <a16:creationId xmlns:a16="http://schemas.microsoft.com/office/drawing/2014/main" id="{B8DDAFDE-3FA7-4196-87E4-5223E75C2D37}"/>
              </a:ext>
            </a:extLst>
          </p:cNvPr>
          <p:cNvCxnSpPr>
            <a:cxnSpLocks/>
          </p:cNvCxnSpPr>
          <p:nvPr userDrawn="1"/>
        </p:nvCxnSpPr>
        <p:spPr>
          <a:xfrm>
            <a:off x="0" y="952495"/>
            <a:ext cx="12192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图片 11">
            <a:extLst>
              <a:ext uri="{FF2B5EF4-FFF2-40B4-BE49-F238E27FC236}">
                <a16:creationId xmlns:a16="http://schemas.microsoft.com/office/drawing/2014/main" id="{EBECE23B-94DD-48D7-BEC9-E1BD6A7804C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8435" y="116987"/>
            <a:ext cx="718520" cy="718520"/>
          </a:xfrm>
          <a:prstGeom prst="rect">
            <a:avLst/>
          </a:prstGeom>
        </p:spPr>
      </p:pic>
    </p:spTree>
    <p:extLst>
      <p:ext uri="{BB962C8B-B14F-4D97-AF65-F5344CB8AC3E}">
        <p14:creationId xmlns:p14="http://schemas.microsoft.com/office/powerpoint/2010/main" val="2876350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878157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cxnSp>
        <p:nvCxnSpPr>
          <p:cNvPr id="26" name="直接连接符 25">
            <a:extLst>
              <a:ext uri="{FF2B5EF4-FFF2-40B4-BE49-F238E27FC236}">
                <a16:creationId xmlns:a16="http://schemas.microsoft.com/office/drawing/2014/main" id="{B19038A5-F5AB-4D45-8987-C33CC63D55D2}"/>
              </a:ext>
            </a:extLst>
          </p:cNvPr>
          <p:cNvCxnSpPr/>
          <p:nvPr userDrawn="1"/>
        </p:nvCxnSpPr>
        <p:spPr>
          <a:xfrm>
            <a:off x="263525" y="1058679"/>
            <a:ext cx="11664949"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7" name="组合 26">
            <a:extLst>
              <a:ext uri="{FF2B5EF4-FFF2-40B4-BE49-F238E27FC236}">
                <a16:creationId xmlns:a16="http://schemas.microsoft.com/office/drawing/2014/main" id="{37E87341-5562-4A9D-97D9-918BEAB164C2}"/>
              </a:ext>
            </a:extLst>
          </p:cNvPr>
          <p:cNvGrpSpPr/>
          <p:nvPr userDrawn="1"/>
        </p:nvGrpSpPr>
        <p:grpSpPr>
          <a:xfrm>
            <a:off x="263525" y="297823"/>
            <a:ext cx="635651" cy="522101"/>
            <a:chOff x="301625" y="297823"/>
            <a:chExt cx="635651" cy="522101"/>
          </a:xfrm>
        </p:grpSpPr>
        <p:sp>
          <p:nvSpPr>
            <p:cNvPr id="28" name="graduate-hat_59495">
              <a:extLst>
                <a:ext uri="{FF2B5EF4-FFF2-40B4-BE49-F238E27FC236}">
                  <a16:creationId xmlns:a16="http://schemas.microsoft.com/office/drawing/2014/main" id="{648E1402-F25A-499B-BDAE-B2EC825743D0}"/>
                </a:ext>
              </a:extLst>
            </p:cNvPr>
            <p:cNvSpPr/>
            <p:nvPr userDrawn="1"/>
          </p:nvSpPr>
          <p:spPr>
            <a:xfrm>
              <a:off x="301625" y="34696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graduate-hat_59495">
              <a:extLst>
                <a:ext uri="{FF2B5EF4-FFF2-40B4-BE49-F238E27FC236}">
                  <a16:creationId xmlns:a16="http://schemas.microsoft.com/office/drawing/2014/main" id="{3094C0BE-7AB3-4860-8029-610F8FDB77B4}"/>
                </a:ext>
              </a:extLst>
            </p:cNvPr>
            <p:cNvSpPr/>
            <p:nvPr userDrawn="1"/>
          </p:nvSpPr>
          <p:spPr>
            <a:xfrm>
              <a:off x="301625" y="297823"/>
              <a:ext cx="635651" cy="472961"/>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30" name="图片 29">
            <a:extLst>
              <a:ext uri="{FF2B5EF4-FFF2-40B4-BE49-F238E27FC236}">
                <a16:creationId xmlns:a16="http://schemas.microsoft.com/office/drawing/2014/main" id="{D061B8E9-F2A0-47CB-A92C-13BBB5CA3346}"/>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8884" r="8884"/>
          <a:stretch/>
        </p:blipFill>
        <p:spPr>
          <a:xfrm>
            <a:off x="9888852" y="120567"/>
            <a:ext cx="2039622" cy="827471"/>
          </a:xfrm>
          <a:custGeom>
            <a:avLst/>
            <a:gdLst>
              <a:gd name="connsiteX0" fmla="*/ 0 w 2039622"/>
              <a:gd name="connsiteY0" fmla="*/ 0 h 827471"/>
              <a:gd name="connsiteX1" fmla="*/ 2039622 w 2039622"/>
              <a:gd name="connsiteY1" fmla="*/ 0 h 827471"/>
              <a:gd name="connsiteX2" fmla="*/ 2039622 w 2039622"/>
              <a:gd name="connsiteY2" fmla="*/ 553803 h 827471"/>
              <a:gd name="connsiteX3" fmla="*/ 635651 w 2039622"/>
              <a:gd name="connsiteY3" fmla="*/ 553803 h 827471"/>
              <a:gd name="connsiteX4" fmla="*/ 635651 w 2039622"/>
              <a:gd name="connsiteY4" fmla="*/ 755728 h 827471"/>
              <a:gd name="connsiteX5" fmla="*/ 2039622 w 2039622"/>
              <a:gd name="connsiteY5" fmla="*/ 755728 h 827471"/>
              <a:gd name="connsiteX6" fmla="*/ 2039622 w 2039622"/>
              <a:gd name="connsiteY6" fmla="*/ 827471 h 827471"/>
              <a:gd name="connsiteX7" fmla="*/ 0 w 2039622"/>
              <a:gd name="connsiteY7" fmla="*/ 827471 h 827471"/>
              <a:gd name="connsiteX8" fmla="*/ 0 w 2039622"/>
              <a:gd name="connsiteY8" fmla="*/ 0 h 8274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039622" h="827471">
                <a:moveTo>
                  <a:pt x="0" y="0"/>
                </a:moveTo>
                <a:lnTo>
                  <a:pt x="2039622" y="0"/>
                </a:lnTo>
                <a:lnTo>
                  <a:pt x="2039622" y="553803"/>
                </a:lnTo>
                <a:lnTo>
                  <a:pt x="635651" y="553803"/>
                </a:lnTo>
                <a:lnTo>
                  <a:pt x="635651" y="755728"/>
                </a:lnTo>
                <a:lnTo>
                  <a:pt x="2039622" y="755728"/>
                </a:lnTo>
                <a:lnTo>
                  <a:pt x="2039622" y="827471"/>
                </a:lnTo>
                <a:lnTo>
                  <a:pt x="0" y="827471"/>
                </a:lnTo>
                <a:lnTo>
                  <a:pt x="0" y="0"/>
                </a:lnTo>
                <a:close/>
              </a:path>
            </a:pathLst>
          </a:custGeom>
        </p:spPr>
      </p:pic>
      <p:pic>
        <p:nvPicPr>
          <p:cNvPr id="31" name="图片 30">
            <a:extLst>
              <a:ext uri="{FF2B5EF4-FFF2-40B4-BE49-F238E27FC236}">
                <a16:creationId xmlns:a16="http://schemas.microsoft.com/office/drawing/2014/main" id="{20A8C8A6-7024-45F1-AAA5-3169DF6AFDB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91116" t="66927" r="5940" b="8670"/>
          <a:stretch/>
        </p:blipFill>
        <p:spPr>
          <a:xfrm>
            <a:off x="11928474" y="674370"/>
            <a:ext cx="73026" cy="201925"/>
          </a:xfrm>
          <a:custGeom>
            <a:avLst/>
            <a:gdLst>
              <a:gd name="connsiteX0" fmla="*/ 0 w 73026"/>
              <a:gd name="connsiteY0" fmla="*/ 0 h 201925"/>
              <a:gd name="connsiteX1" fmla="*/ 73026 w 73026"/>
              <a:gd name="connsiteY1" fmla="*/ 0 h 201925"/>
              <a:gd name="connsiteX2" fmla="*/ 73026 w 73026"/>
              <a:gd name="connsiteY2" fmla="*/ 201925 h 201925"/>
              <a:gd name="connsiteX3" fmla="*/ 0 w 73026"/>
              <a:gd name="connsiteY3" fmla="*/ 201925 h 201925"/>
              <a:gd name="connsiteX4" fmla="*/ 0 w 73026"/>
              <a:gd name="connsiteY4" fmla="*/ 0 h 2019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26" h="201925">
                <a:moveTo>
                  <a:pt x="0" y="0"/>
                </a:moveTo>
                <a:lnTo>
                  <a:pt x="73026" y="0"/>
                </a:lnTo>
                <a:lnTo>
                  <a:pt x="73026" y="201925"/>
                </a:lnTo>
                <a:lnTo>
                  <a:pt x="0" y="201925"/>
                </a:lnTo>
                <a:lnTo>
                  <a:pt x="0" y="0"/>
                </a:lnTo>
                <a:close/>
              </a:path>
            </a:pathLst>
          </a:custGeom>
        </p:spPr>
      </p:pic>
    </p:spTree>
    <p:extLst>
      <p:ext uri="{BB962C8B-B14F-4D97-AF65-F5344CB8AC3E}">
        <p14:creationId xmlns:p14="http://schemas.microsoft.com/office/powerpoint/2010/main" val="42204962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BD82E7-8E73-4A2F-92BC-BA162C068897}"/>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B14A83B-ADFF-460B-87BB-87EC4FE55525}"/>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A5E1AFF-E102-4D54-A454-FCE840CA8CF0}"/>
              </a:ext>
            </a:extLst>
          </p:cNvPr>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35E3D532-73EB-4228-B6BF-61FF120006E7}"/>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D20FF200-9EA4-4D61-A971-83F6138C09C9}"/>
              </a:ext>
            </a:extLst>
          </p:cNvPr>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AB0D174B-F38A-4C9A-8FD6-3BB54879680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8" name="页脚占位符 7">
            <a:extLst>
              <a:ext uri="{FF2B5EF4-FFF2-40B4-BE49-F238E27FC236}">
                <a16:creationId xmlns:a16="http://schemas.microsoft.com/office/drawing/2014/main" id="{C65CA425-9DA7-4BFF-B212-447A9C372F50}"/>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3A511966-BA96-4C8E-8C66-6F75BC84327B}"/>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997652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1FBFBE-D5BB-417A-8B30-B943BD087069}"/>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8F0C94B-209C-459D-BBCA-3E09F26E6C1C}"/>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4" name="页脚占位符 3">
            <a:extLst>
              <a:ext uri="{FF2B5EF4-FFF2-40B4-BE49-F238E27FC236}">
                <a16:creationId xmlns:a16="http://schemas.microsoft.com/office/drawing/2014/main" id="{0D4185F5-7C9C-4521-87C6-93F19810684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580AF13A-6735-41FB-9094-C02C8E0B5B9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650614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420B00-362F-4406-ADB9-1976F70DD069}"/>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3" name="页脚占位符 2">
            <a:extLst>
              <a:ext uri="{FF2B5EF4-FFF2-40B4-BE49-F238E27FC236}">
                <a16:creationId xmlns:a16="http://schemas.microsoft.com/office/drawing/2014/main" id="{E868B2CD-A765-4214-80E9-A575CB741B5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5A677BA9-7694-4C1C-BCCA-925A8EB20CDC}"/>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422631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BD8C25-122D-449E-B969-99224EF4776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57853F-3870-493F-A60D-CB48BCCCBB3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AF072C0B-6564-413B-A573-E5F36F977636}"/>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46D7867-564A-4E63-A409-40F273358F86}"/>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16BB47CB-6CFE-4058-9D2D-08C850340392}"/>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38411D7-B515-4646-A70E-BBD9841A21A7}"/>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4255665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0B404D-1716-4127-A67A-44D79275838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F798D99F-C54B-42AA-92C4-49EDF5191D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2276C667-CC3C-4B5E-928A-D4EBD020EC4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BC39AF53-E9F0-49D1-8B2A-2FD8B21908E1}"/>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6" name="页脚占位符 5">
            <a:extLst>
              <a:ext uri="{FF2B5EF4-FFF2-40B4-BE49-F238E27FC236}">
                <a16:creationId xmlns:a16="http://schemas.microsoft.com/office/drawing/2014/main" id="{49F7F8AF-4A92-4AA1-93A8-B795091628B4}"/>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6827B175-CEEE-4F54-9AA9-64D605AA9C4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1543979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1BD815-6AD6-40A3-9E06-7D71A910F5F3}"/>
              </a:ext>
            </a:extLst>
          </p:cNvPr>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8EA2F03-CBBB-483B-A6B8-936117958EB8}"/>
              </a:ext>
            </a:extLst>
          </p:cNvPr>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5F0E73CF-B044-4E1E-84F3-1C9852E0C00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6217A405-71AD-4FDE-BFF6-ADDC78ADADD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F4034D74-8293-4D86-8FFE-89B60FEFF138}"/>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123719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2A0AF6E-6139-43B6-B89E-0BF171C95F82}"/>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3FFFD76-5580-48D9-BFE7-DAFF22C9E4E1}"/>
              </a:ext>
            </a:extLst>
          </p:cNvPr>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25C4D58D-C981-4387-BC40-376F7F82036D}"/>
              </a:ext>
            </a:extLst>
          </p:cNvPr>
          <p:cNvSpPr>
            <a:spLocks noGrp="1"/>
          </p:cNvSpPr>
          <p:nvPr>
            <p:ph type="dt" sz="half" idx="10"/>
          </p:nvPr>
        </p:nvSpPr>
        <p:spPr>
          <a:xfrm>
            <a:off x="838200" y="6356350"/>
            <a:ext cx="2743200" cy="365125"/>
          </a:xfrm>
          <a:prstGeom prst="rect">
            <a:avLst/>
          </a:prstGeom>
        </p:spPr>
        <p:txBody>
          <a:bodyPr/>
          <a:lstStyle/>
          <a:p>
            <a:fld id="{28E9B696-EC6E-4CF1-97EE-1D0C044AEBAA}" type="datetimeFigureOut">
              <a:rPr lang="zh-CN" altLang="en-US" smtClean="0"/>
              <a:t>2026/1/15</a:t>
            </a:fld>
            <a:endParaRPr lang="zh-CN" altLang="en-US"/>
          </a:p>
        </p:txBody>
      </p:sp>
      <p:sp>
        <p:nvSpPr>
          <p:cNvPr id="5" name="页脚占位符 4">
            <a:extLst>
              <a:ext uri="{FF2B5EF4-FFF2-40B4-BE49-F238E27FC236}">
                <a16:creationId xmlns:a16="http://schemas.microsoft.com/office/drawing/2014/main" id="{8B70C98E-A51D-4D2E-824E-3941308D52B6}"/>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129DDD9D-6E63-45CA-A42B-67135E0BED6D}"/>
              </a:ext>
            </a:extLst>
          </p:cNvPr>
          <p:cNvSpPr>
            <a:spLocks noGrp="1"/>
          </p:cNvSpPr>
          <p:nvPr>
            <p:ph type="sldNum" sz="quarter" idx="12"/>
          </p:nvPr>
        </p:nvSpPr>
        <p:spPr>
          <a:xfrm>
            <a:off x="8610600" y="6356350"/>
            <a:ext cx="2743200" cy="365125"/>
          </a:xfrm>
          <a:prstGeom prst="rect">
            <a:avLst/>
          </a:prstGeom>
        </p:spPr>
        <p:txBody>
          <a:bodyPr/>
          <a:lstStyle/>
          <a:p>
            <a:fld id="{844447B2-D9F7-4B6A-98B2-6CC4720E7423}" type="slidenum">
              <a:rPr lang="zh-CN" altLang="en-US" smtClean="0"/>
              <a:t>‹#›</a:t>
            </a:fld>
            <a:endParaRPr lang="zh-CN" altLang="en-US"/>
          </a:p>
        </p:txBody>
      </p:sp>
    </p:spTree>
    <p:extLst>
      <p:ext uri="{BB962C8B-B14F-4D97-AF65-F5344CB8AC3E}">
        <p14:creationId xmlns:p14="http://schemas.microsoft.com/office/powerpoint/2010/main" val="26074187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8546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83010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9.jpg"/><Relationship Id="rId5" Type="http://schemas.microsoft.com/office/2007/relationships/hdphoto" Target="../media/hdphoto1.wdp"/><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3.xml"/><Relationship Id="rId3" Type="http://schemas.openxmlformats.org/officeDocument/2006/relationships/tags" Target="../tags/tag5.xml"/><Relationship Id="rId7" Type="http://schemas.openxmlformats.org/officeDocument/2006/relationships/tags" Target="../tags/tag9.xml"/><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chart" Target="../charts/chart1.xml"/><Relationship Id="rId7" Type="http://schemas.openxmlformats.org/officeDocument/2006/relationships/chart" Target="../charts/chart5.xml"/><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2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图片 31">
            <a:extLst>
              <a:ext uri="{FF2B5EF4-FFF2-40B4-BE49-F238E27FC236}">
                <a16:creationId xmlns:a16="http://schemas.microsoft.com/office/drawing/2014/main" id="{249542E5-CF95-49A3-B92C-200C3D562F01}"/>
              </a:ext>
            </a:extLst>
          </p:cNvPr>
          <p:cNvPicPr>
            <a:picLocks noChangeAspect="1"/>
          </p:cNvPicPr>
          <p:nvPr/>
        </p:nvPicPr>
        <p:blipFill>
          <a:blip r:embed="rId2"/>
          <a:stretch>
            <a:fillRect/>
          </a:stretch>
        </p:blipFill>
        <p:spPr>
          <a:xfrm>
            <a:off x="5471160" y="5744924"/>
            <a:ext cx="6710946" cy="1193842"/>
          </a:xfrm>
          <a:prstGeom prst="rect">
            <a:avLst/>
          </a:prstGeom>
        </p:spPr>
      </p:pic>
      <p:pic>
        <p:nvPicPr>
          <p:cNvPr id="25" name="图片 24">
            <a:extLst>
              <a:ext uri="{FF2B5EF4-FFF2-40B4-BE49-F238E27FC236}">
                <a16:creationId xmlns:a16="http://schemas.microsoft.com/office/drawing/2014/main" id="{8DB57C4A-3D43-4C63-8753-30A5F64C419F}"/>
              </a:ext>
            </a:extLst>
          </p:cNvPr>
          <p:cNvPicPr>
            <a:picLocks noChangeAspect="1"/>
          </p:cNvPicPr>
          <p:nvPr/>
        </p:nvPicPr>
        <p:blipFill rotWithShape="1">
          <a:blip r:embed="rId3"/>
          <a:srcRect b="48543"/>
          <a:stretch/>
        </p:blipFill>
        <p:spPr>
          <a:xfrm>
            <a:off x="5471159" y="3915636"/>
            <a:ext cx="6752847" cy="1195927"/>
          </a:xfrm>
          <a:prstGeom prst="rect">
            <a:avLst/>
          </a:prstGeom>
        </p:spPr>
      </p:pic>
      <p:pic>
        <p:nvPicPr>
          <p:cNvPr id="20" name="图片 19">
            <a:extLst>
              <a:ext uri="{FF2B5EF4-FFF2-40B4-BE49-F238E27FC236}">
                <a16:creationId xmlns:a16="http://schemas.microsoft.com/office/drawing/2014/main" id="{045932D8-F9CB-4A60-A980-6F80EA7E1791}"/>
              </a:ext>
            </a:extLst>
          </p:cNvPr>
          <p:cNvPicPr>
            <a:picLocks noChangeAspect="1"/>
          </p:cNvPicPr>
          <p:nvPr/>
        </p:nvPicPr>
        <p:blipFill rotWithShape="1">
          <a:blip r:embed="rId4"/>
          <a:srcRect r="7741"/>
          <a:stretch/>
        </p:blipFill>
        <p:spPr>
          <a:xfrm>
            <a:off x="5471161" y="2217825"/>
            <a:ext cx="6720839" cy="1094356"/>
          </a:xfrm>
          <a:prstGeom prst="rect">
            <a:avLst/>
          </a:prstGeom>
        </p:spPr>
      </p:pic>
      <p:sp>
        <p:nvSpPr>
          <p:cNvPr id="2" name="矩形 1">
            <a:extLst>
              <a:ext uri="{FF2B5EF4-FFF2-40B4-BE49-F238E27FC236}">
                <a16:creationId xmlns:a16="http://schemas.microsoft.com/office/drawing/2014/main" id="{3E98FBA2-67D1-4677-8330-40EA9B6CAFEF}"/>
              </a:ext>
            </a:extLst>
          </p:cNvPr>
          <p:cNvSpPr/>
          <p:nvPr/>
        </p:nvSpPr>
        <p:spPr>
          <a:xfrm>
            <a:off x="0" y="0"/>
            <a:ext cx="547116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42758374-A1F8-4D06-8A4F-C812EF1910B9}"/>
              </a:ext>
            </a:extLst>
          </p:cNvPr>
          <p:cNvGrpSpPr/>
          <p:nvPr/>
        </p:nvGrpSpPr>
        <p:grpSpPr>
          <a:xfrm>
            <a:off x="387950" y="2598003"/>
            <a:ext cx="4695260" cy="1661995"/>
            <a:chOff x="263525" y="2598003"/>
            <a:chExt cx="4695260" cy="1661995"/>
          </a:xfrm>
        </p:grpSpPr>
        <p:sp>
          <p:nvSpPr>
            <p:cNvPr id="3" name="文本框 2">
              <a:extLst>
                <a:ext uri="{FF2B5EF4-FFF2-40B4-BE49-F238E27FC236}">
                  <a16:creationId xmlns:a16="http://schemas.microsoft.com/office/drawing/2014/main" id="{E0D6E96A-D70B-477A-AB0C-04F31F9A76FB}"/>
                </a:ext>
              </a:extLst>
            </p:cNvPr>
            <p:cNvSpPr txBox="1"/>
            <p:nvPr/>
          </p:nvSpPr>
          <p:spPr>
            <a:xfrm>
              <a:off x="263525" y="2598003"/>
              <a:ext cx="4695260"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关于校徽</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替换</a:t>
              </a:r>
            </a:p>
          </p:txBody>
        </p:sp>
        <p:sp>
          <p:nvSpPr>
            <p:cNvPr id="4" name="文本框 3">
              <a:extLst>
                <a:ext uri="{FF2B5EF4-FFF2-40B4-BE49-F238E27FC236}">
                  <a16:creationId xmlns:a16="http://schemas.microsoft.com/office/drawing/2014/main" id="{B101C339-27B1-4920-8BCE-56DD6348F19E}"/>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AE854D98-F00B-4FEA-825D-10B47B13434A}"/>
                </a:ext>
              </a:extLst>
            </p:cNvPr>
            <p:cNvCxnSpPr>
              <a:cxnSpLocks/>
            </p:cNvCxnSpPr>
            <p:nvPr/>
          </p:nvCxnSpPr>
          <p:spPr>
            <a:xfrm>
              <a:off x="3604376" y="3906055"/>
              <a:ext cx="1165744"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 name="组合 13">
            <a:extLst>
              <a:ext uri="{FF2B5EF4-FFF2-40B4-BE49-F238E27FC236}">
                <a16:creationId xmlns:a16="http://schemas.microsoft.com/office/drawing/2014/main" id="{7F59FB45-35D9-45DE-8D00-F2AABCF61137}"/>
              </a:ext>
            </a:extLst>
          </p:cNvPr>
          <p:cNvGrpSpPr/>
          <p:nvPr/>
        </p:nvGrpSpPr>
        <p:grpSpPr>
          <a:xfrm>
            <a:off x="5471161" y="162806"/>
            <a:ext cx="6720840" cy="1462897"/>
            <a:chOff x="5471161" y="223766"/>
            <a:chExt cx="6720840" cy="1462897"/>
          </a:xfrm>
        </p:grpSpPr>
        <p:pic>
          <p:nvPicPr>
            <p:cNvPr id="10" name="图片 9">
              <a:extLst>
                <a:ext uri="{FF2B5EF4-FFF2-40B4-BE49-F238E27FC236}">
                  <a16:creationId xmlns:a16="http://schemas.microsoft.com/office/drawing/2014/main" id="{EE2DD886-1100-4654-AAAF-2615B0EE5795}"/>
                </a:ext>
              </a:extLst>
            </p:cNvPr>
            <p:cNvPicPr>
              <a:picLocks noChangeAspect="1"/>
            </p:cNvPicPr>
            <p:nvPr/>
          </p:nvPicPr>
          <p:blipFill rotWithShape="1">
            <a:blip r:embed="rId5"/>
            <a:srcRect r="24130"/>
            <a:stretch/>
          </p:blipFill>
          <p:spPr>
            <a:xfrm>
              <a:off x="5471161" y="597408"/>
              <a:ext cx="6720840" cy="1089255"/>
            </a:xfrm>
            <a:prstGeom prst="rect">
              <a:avLst/>
            </a:prstGeom>
          </p:spPr>
        </p:pic>
        <p:sp>
          <p:nvSpPr>
            <p:cNvPr id="11" name="椭圆 10">
              <a:extLst>
                <a:ext uri="{FF2B5EF4-FFF2-40B4-BE49-F238E27FC236}">
                  <a16:creationId xmlns:a16="http://schemas.microsoft.com/office/drawing/2014/main" id="{751222FE-94F2-4646-B618-3E7E363F9098}"/>
                </a:ext>
              </a:extLst>
            </p:cNvPr>
            <p:cNvSpPr/>
            <p:nvPr/>
          </p:nvSpPr>
          <p:spPr>
            <a:xfrm>
              <a:off x="9613392" y="554736"/>
              <a:ext cx="542544" cy="310896"/>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a:extLst>
                <a:ext uri="{FF2B5EF4-FFF2-40B4-BE49-F238E27FC236}">
                  <a16:creationId xmlns:a16="http://schemas.microsoft.com/office/drawing/2014/main" id="{7FB900A4-9540-405E-A796-2A5FEF5AF754}"/>
                </a:ext>
              </a:extLst>
            </p:cNvPr>
            <p:cNvSpPr txBox="1"/>
            <p:nvPr/>
          </p:nvSpPr>
          <p:spPr>
            <a:xfrm>
              <a:off x="6096000" y="223766"/>
              <a:ext cx="355257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步：点击顶部菜单栏</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视图</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3" name="箭头: 下 12">
              <a:extLst>
                <a:ext uri="{FF2B5EF4-FFF2-40B4-BE49-F238E27FC236}">
                  <a16:creationId xmlns:a16="http://schemas.microsoft.com/office/drawing/2014/main" id="{C0DA706B-7D5F-47FD-A952-A877060F1259}"/>
                </a:ext>
              </a:extLst>
            </p:cNvPr>
            <p:cNvSpPr/>
            <p:nvPr/>
          </p:nvSpPr>
          <p:spPr>
            <a:xfrm rot="13500000">
              <a:off x="9335368" y="812683"/>
              <a:ext cx="355813" cy="718340"/>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7" name="椭圆 16">
            <a:extLst>
              <a:ext uri="{FF2B5EF4-FFF2-40B4-BE49-F238E27FC236}">
                <a16:creationId xmlns:a16="http://schemas.microsoft.com/office/drawing/2014/main" id="{81E4EAD4-4B3A-4159-9BAE-7C67B33FDB91}"/>
              </a:ext>
            </a:extLst>
          </p:cNvPr>
          <p:cNvSpPr/>
          <p:nvPr/>
        </p:nvSpPr>
        <p:spPr>
          <a:xfrm>
            <a:off x="7449739" y="2509508"/>
            <a:ext cx="795690" cy="533412"/>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890E005-922B-4C73-9676-DF05C8A0D26F}"/>
              </a:ext>
            </a:extLst>
          </p:cNvPr>
          <p:cNvSpPr txBox="1"/>
          <p:nvPr/>
        </p:nvSpPr>
        <p:spPr>
          <a:xfrm>
            <a:off x="6096000" y="1834023"/>
            <a:ext cx="3185487"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幻灯片母版</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19" name="箭头: 下 18">
            <a:extLst>
              <a:ext uri="{FF2B5EF4-FFF2-40B4-BE49-F238E27FC236}">
                <a16:creationId xmlns:a16="http://schemas.microsoft.com/office/drawing/2014/main" id="{0536FF3A-12A1-4005-BD70-20A5E34C50A5}"/>
              </a:ext>
            </a:extLst>
          </p:cNvPr>
          <p:cNvSpPr/>
          <p:nvPr/>
        </p:nvSpPr>
        <p:spPr>
          <a:xfrm rot="7200000">
            <a:off x="8239426" y="2850667"/>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2C585399-F1EC-4330-9F60-223CC99CC3F3}"/>
              </a:ext>
            </a:extLst>
          </p:cNvPr>
          <p:cNvSpPr txBox="1"/>
          <p:nvPr/>
        </p:nvSpPr>
        <p:spPr>
          <a:xfrm>
            <a:off x="6096000" y="3541994"/>
            <a:ext cx="468166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步：选择要改的页面</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替换</a:t>
            </a:r>
            <a:r>
              <a:rPr lang="en-US" altLang="zh-CN" dirty="0">
                <a:solidFill>
                  <a:schemeClr val="accent6"/>
                </a:solidFill>
                <a:latin typeface="思源黑体 CN Bold" panose="020B0800000000000000" pitchFamily="34" charset="-122"/>
                <a:ea typeface="思源黑体 CN Bold" panose="020B0800000000000000" pitchFamily="34" charset="-122"/>
              </a:rPr>
              <a:t>LOGO</a:t>
            </a:r>
            <a:r>
              <a:rPr lang="zh-CN" altLang="en-US" dirty="0">
                <a:solidFill>
                  <a:schemeClr val="accent6"/>
                </a:solidFill>
                <a:latin typeface="思源黑体 CN Bold" panose="020B0800000000000000" pitchFamily="34" charset="-122"/>
                <a:ea typeface="思源黑体 CN Bold" panose="020B0800000000000000" pitchFamily="34" charset="-122"/>
              </a:rPr>
              <a:t>即可</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4" name="箭头: 下 23">
            <a:extLst>
              <a:ext uri="{FF2B5EF4-FFF2-40B4-BE49-F238E27FC236}">
                <a16:creationId xmlns:a16="http://schemas.microsoft.com/office/drawing/2014/main" id="{86B4ECF2-2F44-47D8-A916-40E7999BBFAB}"/>
              </a:ext>
            </a:extLst>
          </p:cNvPr>
          <p:cNvSpPr/>
          <p:nvPr/>
        </p:nvSpPr>
        <p:spPr>
          <a:xfrm rot="15300000">
            <a:off x="10850546" y="4010528"/>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3F0234BF-D1EF-4FF2-BE3D-80C8AAFF149F}"/>
              </a:ext>
            </a:extLst>
          </p:cNvPr>
          <p:cNvSpPr/>
          <p:nvPr/>
        </p:nvSpPr>
        <p:spPr>
          <a:xfrm>
            <a:off x="5461264" y="3967006"/>
            <a:ext cx="1259577" cy="91995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77186A0-168B-4E37-A643-48F9536A8854}"/>
              </a:ext>
            </a:extLst>
          </p:cNvPr>
          <p:cNvSpPr txBox="1"/>
          <p:nvPr/>
        </p:nvSpPr>
        <p:spPr>
          <a:xfrm>
            <a:off x="6096000" y="5371282"/>
            <a:ext cx="378340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4</a:t>
            </a:r>
            <a:r>
              <a:rPr lang="zh-CN" altLang="en-US" dirty="0">
                <a:latin typeface="思源黑体 CN Bold" panose="020B0800000000000000" pitchFamily="34" charset="-122"/>
                <a:ea typeface="思源黑体 CN Bold" panose="020B0800000000000000" pitchFamily="34" charset="-122"/>
              </a:rPr>
              <a:t>步：关闭</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母版视图</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latin typeface="思源黑体 CN Bold" panose="020B0800000000000000" pitchFamily="34" charset="-122"/>
                <a:ea typeface="思源黑体 CN Bold" panose="020B0800000000000000" pitchFamily="34" charset="-122"/>
              </a:rPr>
              <a:t>就完成了</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30" name="箭头: 下 29">
            <a:extLst>
              <a:ext uri="{FF2B5EF4-FFF2-40B4-BE49-F238E27FC236}">
                <a16:creationId xmlns:a16="http://schemas.microsoft.com/office/drawing/2014/main" id="{886FD850-30D9-4B6D-BF5D-D999E0ACB1B5}"/>
              </a:ext>
            </a:extLst>
          </p:cNvPr>
          <p:cNvSpPr/>
          <p:nvPr/>
        </p:nvSpPr>
        <p:spPr>
          <a:xfrm rot="15300000">
            <a:off x="10112045" y="6162302"/>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FBD1C044-B897-4227-A53E-235B4F53CEA0}"/>
              </a:ext>
            </a:extLst>
          </p:cNvPr>
          <p:cNvSpPr/>
          <p:nvPr/>
        </p:nvSpPr>
        <p:spPr>
          <a:xfrm>
            <a:off x="10593767" y="6000332"/>
            <a:ext cx="607633" cy="857667"/>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073406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图片 30">
            <a:extLst>
              <a:ext uri="{FF2B5EF4-FFF2-40B4-BE49-F238E27FC236}">
                <a16:creationId xmlns:a16="http://schemas.microsoft.com/office/drawing/2014/main" id="{3C88904C-C00E-42A9-89E9-D456C2A73F4D}"/>
              </a:ext>
            </a:extLst>
          </p:cNvPr>
          <p:cNvPicPr>
            <a:picLocks noChangeAspect="1"/>
          </p:cNvPicPr>
          <p:nvPr/>
        </p:nvPicPr>
        <p:blipFill>
          <a:blip r:embed="rId2"/>
          <a:stretch>
            <a:fillRect/>
          </a:stretch>
        </p:blipFill>
        <p:spPr>
          <a:xfrm>
            <a:off x="6623600" y="3605042"/>
            <a:ext cx="2349283" cy="2992608"/>
          </a:xfrm>
          <a:prstGeom prst="rect">
            <a:avLst/>
          </a:prstGeom>
        </p:spPr>
      </p:pic>
      <p:sp>
        <p:nvSpPr>
          <p:cNvPr id="2" name="矩形 1">
            <a:extLst>
              <a:ext uri="{FF2B5EF4-FFF2-40B4-BE49-F238E27FC236}">
                <a16:creationId xmlns:a16="http://schemas.microsoft.com/office/drawing/2014/main" id="{BF271917-777A-4810-8014-A5B122EA8CC8}"/>
              </a:ext>
            </a:extLst>
          </p:cNvPr>
          <p:cNvSpPr/>
          <p:nvPr/>
        </p:nvSpPr>
        <p:spPr>
          <a:xfrm>
            <a:off x="0" y="0"/>
            <a:ext cx="4460240" cy="251530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CFF93C53-EC60-413E-AA77-7239C7F4E0A2}"/>
              </a:ext>
            </a:extLst>
          </p:cNvPr>
          <p:cNvGrpSpPr/>
          <p:nvPr/>
        </p:nvGrpSpPr>
        <p:grpSpPr>
          <a:xfrm>
            <a:off x="387950" y="212710"/>
            <a:ext cx="3808130" cy="2044441"/>
            <a:chOff x="263525" y="2215557"/>
            <a:chExt cx="3808130" cy="2044441"/>
          </a:xfrm>
        </p:grpSpPr>
        <p:sp>
          <p:nvSpPr>
            <p:cNvPr id="4" name="文本框 3">
              <a:extLst>
                <a:ext uri="{FF2B5EF4-FFF2-40B4-BE49-F238E27FC236}">
                  <a16:creationId xmlns:a16="http://schemas.microsoft.com/office/drawing/2014/main" id="{C5C04F61-78CB-4E48-85EA-BA914BA7D45B}"/>
                </a:ext>
              </a:extLst>
            </p:cNvPr>
            <p:cNvSpPr txBox="1"/>
            <p:nvPr/>
          </p:nvSpPr>
          <p:spPr>
            <a:xfrm>
              <a:off x="263525" y="2215557"/>
              <a:ext cx="3340851" cy="1323439"/>
            </a:xfrm>
            <a:prstGeom prst="rect">
              <a:avLst/>
            </a:prstGeom>
            <a:noFill/>
          </p:spPr>
          <p:txBody>
            <a:bodyPr wrap="squar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如何把</a:t>
              </a:r>
              <a:r>
                <a:rPr lang="en-US" altLang="zh-CN" sz="4000" dirty="0">
                  <a:solidFill>
                    <a:schemeClr val="bg1"/>
                  </a:solidFill>
                  <a:latin typeface="思源黑体 CN Bold" panose="020B0800000000000000" pitchFamily="34" charset="-122"/>
                  <a:ea typeface="思源黑体 CN Bold" panose="020B0800000000000000" pitchFamily="34" charset="-122"/>
                </a:rPr>
                <a:t>LOGO</a:t>
              </a:r>
              <a:r>
                <a:rPr lang="zh-CN" altLang="en-US" sz="4000" dirty="0">
                  <a:solidFill>
                    <a:schemeClr val="bg1"/>
                  </a:solidFill>
                  <a:latin typeface="思源黑体 CN Bold" panose="020B0800000000000000" pitchFamily="34" charset="-122"/>
                  <a:ea typeface="思源黑体 CN Bold" panose="020B0800000000000000" pitchFamily="34" charset="-122"/>
                </a:rPr>
                <a:t>改成白色</a:t>
              </a:r>
            </a:p>
          </p:txBody>
        </p:sp>
        <p:sp>
          <p:nvSpPr>
            <p:cNvPr id="5" name="文本框 4">
              <a:extLst>
                <a:ext uri="{FF2B5EF4-FFF2-40B4-BE49-F238E27FC236}">
                  <a16:creationId xmlns:a16="http://schemas.microsoft.com/office/drawing/2014/main" id="{237B648D-3E26-426F-B3A4-83D308FF8A09}"/>
                </a:ext>
              </a:extLst>
            </p:cNvPr>
            <p:cNvSpPr txBox="1"/>
            <p:nvPr/>
          </p:nvSpPr>
          <p:spPr>
            <a:xfrm>
              <a:off x="263525" y="3552112"/>
              <a:ext cx="3262432" cy="707886"/>
            </a:xfrm>
            <a:prstGeom prst="rect">
              <a:avLst/>
            </a:prstGeom>
            <a:noFill/>
          </p:spPr>
          <p:txBody>
            <a:bodyPr wrap="none" rtlCol="0">
              <a:spAutoFit/>
            </a:bodyPr>
            <a:lstStyle/>
            <a:p>
              <a:r>
                <a:rPr lang="zh-CN" altLang="en-US" sz="4000" dirty="0">
                  <a:solidFill>
                    <a:schemeClr val="bg1"/>
                  </a:solidFill>
                  <a:latin typeface="思源黑体 CN Bold" panose="020B0800000000000000" pitchFamily="34" charset="-122"/>
                  <a:ea typeface="思源黑体 CN Bold" panose="020B0800000000000000" pitchFamily="34" charset="-122"/>
                </a:rPr>
                <a:t>详细操作说明</a:t>
              </a:r>
            </a:p>
          </p:txBody>
        </p:sp>
        <p:cxnSp>
          <p:nvCxnSpPr>
            <p:cNvPr id="6" name="直接箭头连接符 5">
              <a:extLst>
                <a:ext uri="{FF2B5EF4-FFF2-40B4-BE49-F238E27FC236}">
                  <a16:creationId xmlns:a16="http://schemas.microsoft.com/office/drawing/2014/main" id="{74BD52FD-3B37-4981-84F1-3776BF8F770F}"/>
                </a:ext>
              </a:extLst>
            </p:cNvPr>
            <p:cNvCxnSpPr>
              <a:cxnSpLocks/>
            </p:cNvCxnSpPr>
            <p:nvPr/>
          </p:nvCxnSpPr>
          <p:spPr>
            <a:xfrm>
              <a:off x="3604376" y="3906055"/>
              <a:ext cx="467279" cy="0"/>
            </a:xfrm>
            <a:prstGeom prst="straightConnector1">
              <a:avLst/>
            </a:prstGeom>
            <a:ln w="2222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pic>
        <p:nvPicPr>
          <p:cNvPr id="8" name="图片 7">
            <a:extLst>
              <a:ext uri="{FF2B5EF4-FFF2-40B4-BE49-F238E27FC236}">
                <a16:creationId xmlns:a16="http://schemas.microsoft.com/office/drawing/2014/main" id="{30C8AD67-E783-4B22-8CC4-BDD92294A3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8190" y="368484"/>
            <a:ext cx="1702850" cy="1702850"/>
          </a:xfrm>
          <a:prstGeom prst="rect">
            <a:avLst/>
          </a:prstGeom>
        </p:spPr>
      </p:pic>
      <p:sp>
        <p:nvSpPr>
          <p:cNvPr id="9" name="箭头: 下 8">
            <a:extLst>
              <a:ext uri="{FF2B5EF4-FFF2-40B4-BE49-F238E27FC236}">
                <a16:creationId xmlns:a16="http://schemas.microsoft.com/office/drawing/2014/main" id="{4EA81DE8-2A6E-43CC-96D2-D2973FDBE280}"/>
              </a:ext>
            </a:extLst>
          </p:cNvPr>
          <p:cNvSpPr/>
          <p:nvPr/>
        </p:nvSpPr>
        <p:spPr>
          <a:xfrm rot="16200000">
            <a:off x="6852668" y="953047"/>
            <a:ext cx="355813" cy="533727"/>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28A31B92-97E9-4CBF-87D7-43E1FE329C51}"/>
              </a:ext>
            </a:extLst>
          </p:cNvPr>
          <p:cNvSpPr/>
          <p:nvPr/>
        </p:nvSpPr>
        <p:spPr>
          <a:xfrm>
            <a:off x="7529050" y="91334"/>
            <a:ext cx="2692400" cy="225715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a:extLst>
              <a:ext uri="{FF2B5EF4-FFF2-40B4-BE49-F238E27FC236}">
                <a16:creationId xmlns:a16="http://schemas.microsoft.com/office/drawing/2014/main" id="{5D38C759-A30E-4F29-8262-45CE04A3241A}"/>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023825" y="368484"/>
            <a:ext cx="1702850" cy="1702850"/>
          </a:xfrm>
          <a:prstGeom prst="rect">
            <a:avLst/>
          </a:prstGeom>
        </p:spPr>
      </p:pic>
      <p:pic>
        <p:nvPicPr>
          <p:cNvPr id="14" name="图片 13">
            <a:extLst>
              <a:ext uri="{FF2B5EF4-FFF2-40B4-BE49-F238E27FC236}">
                <a16:creationId xmlns:a16="http://schemas.microsoft.com/office/drawing/2014/main" id="{45953AD6-3398-4C21-B58F-B3E874D28D2C}"/>
              </a:ext>
            </a:extLst>
          </p:cNvPr>
          <p:cNvPicPr>
            <a:picLocks noChangeAspect="1"/>
          </p:cNvPicPr>
          <p:nvPr/>
        </p:nvPicPr>
        <p:blipFill rotWithShape="1">
          <a:blip r:embed="rId6">
            <a:extLst>
              <a:ext uri="{28A0092B-C50C-407E-A947-70E740481C1C}">
                <a14:useLocalDpi xmlns:a14="http://schemas.microsoft.com/office/drawing/2010/main" val="0"/>
              </a:ext>
            </a:extLst>
          </a:blip>
          <a:srcRect t="29833"/>
          <a:stretch/>
        </p:blipFill>
        <p:spPr>
          <a:xfrm>
            <a:off x="263525" y="3314355"/>
            <a:ext cx="2632075" cy="3283295"/>
          </a:xfrm>
          <a:prstGeom prst="rect">
            <a:avLst/>
          </a:prstGeom>
        </p:spPr>
      </p:pic>
      <p:sp>
        <p:nvSpPr>
          <p:cNvPr id="18" name="椭圆 17">
            <a:extLst>
              <a:ext uri="{FF2B5EF4-FFF2-40B4-BE49-F238E27FC236}">
                <a16:creationId xmlns:a16="http://schemas.microsoft.com/office/drawing/2014/main" id="{B47ABB9A-3FDC-4FDD-9C67-A6CBA84FB97C}"/>
              </a:ext>
            </a:extLst>
          </p:cNvPr>
          <p:cNvSpPr/>
          <p:nvPr/>
        </p:nvSpPr>
        <p:spPr>
          <a:xfrm>
            <a:off x="1252332" y="5964730"/>
            <a:ext cx="1241862" cy="205740"/>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箭头: 下 18">
            <a:extLst>
              <a:ext uri="{FF2B5EF4-FFF2-40B4-BE49-F238E27FC236}">
                <a16:creationId xmlns:a16="http://schemas.microsoft.com/office/drawing/2014/main" id="{C3D842F9-C4B3-42E9-B5D7-0A46CEE6320C}"/>
              </a:ext>
            </a:extLst>
          </p:cNvPr>
          <p:cNvSpPr/>
          <p:nvPr/>
        </p:nvSpPr>
        <p:spPr>
          <a:xfrm rot="18900000">
            <a:off x="901149" y="551042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B78DB020-0FCE-4B73-A243-E208FC88EB49}"/>
              </a:ext>
            </a:extLst>
          </p:cNvPr>
          <p:cNvSpPr txBox="1"/>
          <p:nvPr/>
        </p:nvSpPr>
        <p:spPr>
          <a:xfrm>
            <a:off x="179705" y="2757579"/>
            <a:ext cx="3773725"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1</a:t>
            </a:r>
            <a:r>
              <a:rPr lang="zh-CN" altLang="en-US" dirty="0">
                <a:latin typeface="思源黑体 CN Bold" panose="020B0800000000000000" pitchFamily="34" charset="-122"/>
                <a:ea typeface="思源黑体 CN Bold" panose="020B0800000000000000" pitchFamily="34" charset="-122"/>
              </a:rPr>
              <a:t>步：右键点击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设计图片格式</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pic>
        <p:nvPicPr>
          <p:cNvPr id="23" name="图片 22">
            <a:extLst>
              <a:ext uri="{FF2B5EF4-FFF2-40B4-BE49-F238E27FC236}">
                <a16:creationId xmlns:a16="http://schemas.microsoft.com/office/drawing/2014/main" id="{EB73657F-D47B-4747-92A0-0F34DBAC8821}"/>
              </a:ext>
            </a:extLst>
          </p:cNvPr>
          <p:cNvPicPr>
            <a:picLocks noChangeAspect="1"/>
          </p:cNvPicPr>
          <p:nvPr/>
        </p:nvPicPr>
        <p:blipFill>
          <a:blip r:embed="rId7"/>
          <a:stretch>
            <a:fillRect/>
          </a:stretch>
        </p:blipFill>
        <p:spPr>
          <a:xfrm>
            <a:off x="3728801" y="3605042"/>
            <a:ext cx="1970959" cy="2992608"/>
          </a:xfrm>
          <a:prstGeom prst="rect">
            <a:avLst/>
          </a:prstGeom>
        </p:spPr>
      </p:pic>
      <p:sp>
        <p:nvSpPr>
          <p:cNvPr id="24" name="文本框 23">
            <a:extLst>
              <a:ext uri="{FF2B5EF4-FFF2-40B4-BE49-F238E27FC236}">
                <a16:creationId xmlns:a16="http://schemas.microsoft.com/office/drawing/2014/main" id="{C70FB2CF-BBB6-45DD-9F44-FC2E600AFB95}"/>
              </a:ext>
            </a:extLst>
          </p:cNvPr>
          <p:cNvSpPr txBox="1"/>
          <p:nvPr/>
        </p:nvSpPr>
        <p:spPr>
          <a:xfrm>
            <a:off x="3642762" y="3162218"/>
            <a:ext cx="239841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2</a:t>
            </a:r>
            <a:r>
              <a:rPr lang="zh-CN" altLang="en-US" dirty="0">
                <a:latin typeface="思源黑体 CN Bold" panose="020B0800000000000000" pitchFamily="34" charset="-122"/>
                <a:ea typeface="思源黑体 CN Bold" panose="020B0800000000000000" pitchFamily="34" charset="-122"/>
              </a:rPr>
              <a:t>步：点击</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图片</a:t>
            </a:r>
            <a:r>
              <a:rPr lang="en-US" altLang="zh-CN" dirty="0">
                <a:solidFill>
                  <a:schemeClr val="accent6"/>
                </a:solidFill>
                <a:latin typeface="思源黑体 CN Bold" panose="020B0800000000000000" pitchFamily="34" charset="-122"/>
                <a:ea typeface="思源黑体 CN Bold" panose="020B0800000000000000" pitchFamily="34" charset="-122"/>
              </a:rPr>
              <a:t>】</a:t>
            </a:r>
            <a:endParaRPr lang="zh-CN" altLang="en-US" dirty="0">
              <a:solidFill>
                <a:schemeClr val="accent6"/>
              </a:solidFill>
              <a:latin typeface="思源黑体 CN Bold" panose="020B0800000000000000" pitchFamily="34" charset="-122"/>
              <a:ea typeface="思源黑体 CN Bold" panose="020B0800000000000000" pitchFamily="34" charset="-122"/>
            </a:endParaRPr>
          </a:p>
        </p:txBody>
      </p:sp>
      <p:sp>
        <p:nvSpPr>
          <p:cNvPr id="25" name="椭圆 24">
            <a:extLst>
              <a:ext uri="{FF2B5EF4-FFF2-40B4-BE49-F238E27FC236}">
                <a16:creationId xmlns:a16="http://schemas.microsoft.com/office/drawing/2014/main" id="{A884C083-BE45-4EA3-A9E5-67300B0163E4}"/>
              </a:ext>
            </a:extLst>
          </p:cNvPr>
          <p:cNvSpPr/>
          <p:nvPr/>
        </p:nvSpPr>
        <p:spPr>
          <a:xfrm>
            <a:off x="4511040" y="3835735"/>
            <a:ext cx="549346" cy="342724"/>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箭头: 下 25">
            <a:extLst>
              <a:ext uri="{FF2B5EF4-FFF2-40B4-BE49-F238E27FC236}">
                <a16:creationId xmlns:a16="http://schemas.microsoft.com/office/drawing/2014/main" id="{AE342FC9-872A-406A-B3B6-31EC93813257}"/>
              </a:ext>
            </a:extLst>
          </p:cNvPr>
          <p:cNvSpPr/>
          <p:nvPr/>
        </p:nvSpPr>
        <p:spPr>
          <a:xfrm rot="4500000">
            <a:off x="5186295" y="3670681"/>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F563CF4F-5DA3-49EE-BC9B-DBB3BD27A102}"/>
              </a:ext>
            </a:extLst>
          </p:cNvPr>
          <p:cNvSpPr txBox="1"/>
          <p:nvPr/>
        </p:nvSpPr>
        <p:spPr>
          <a:xfrm>
            <a:off x="6511037" y="3162218"/>
            <a:ext cx="4782078"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第</a:t>
            </a:r>
            <a:r>
              <a:rPr lang="en-US" altLang="zh-CN" dirty="0">
                <a:latin typeface="思源黑体 CN Bold" panose="020B0800000000000000" pitchFamily="34" charset="-122"/>
                <a:ea typeface="思源黑体 CN Bold" panose="020B0800000000000000" pitchFamily="34" charset="-122"/>
              </a:rPr>
              <a:t>3</a:t>
            </a:r>
            <a:r>
              <a:rPr lang="zh-CN" altLang="en-US" dirty="0">
                <a:latin typeface="思源黑体 CN Bold" panose="020B0800000000000000" pitchFamily="34" charset="-122"/>
                <a:ea typeface="思源黑体 CN Bold" panose="020B0800000000000000" pitchFamily="34" charset="-122"/>
              </a:rPr>
              <a:t>步：把</a:t>
            </a:r>
            <a:r>
              <a:rPr lang="en-US" altLang="zh-CN" dirty="0">
                <a:solidFill>
                  <a:schemeClr val="accent6"/>
                </a:solidFill>
                <a:latin typeface="思源黑体 CN Bold" panose="020B0800000000000000" pitchFamily="34" charset="-122"/>
                <a:ea typeface="思源黑体 CN Bold" panose="020B0800000000000000" pitchFamily="34" charset="-122"/>
              </a:rPr>
              <a:t>【</a:t>
            </a:r>
            <a:r>
              <a:rPr lang="zh-CN" altLang="en-US" dirty="0">
                <a:solidFill>
                  <a:schemeClr val="accent6"/>
                </a:solidFill>
                <a:latin typeface="思源黑体 CN Bold" panose="020B0800000000000000" pitchFamily="34" charset="-122"/>
                <a:ea typeface="思源黑体 CN Bold" panose="020B0800000000000000" pitchFamily="34" charset="-122"/>
              </a:rPr>
              <a:t>亮度参数拉到</a:t>
            </a:r>
            <a:r>
              <a:rPr lang="en-US" altLang="zh-CN" dirty="0">
                <a:solidFill>
                  <a:schemeClr val="accent6"/>
                </a:solidFill>
                <a:latin typeface="思源黑体 CN Bold" panose="020B0800000000000000" pitchFamily="34" charset="-122"/>
                <a:ea typeface="思源黑体 CN Bold" panose="020B0800000000000000" pitchFamily="34" charset="-122"/>
              </a:rPr>
              <a:t>100%】</a:t>
            </a:r>
            <a:r>
              <a:rPr lang="zh-CN" altLang="en-US" dirty="0">
                <a:latin typeface="思源黑体 CN Bold" panose="020B0800000000000000" pitchFamily="34" charset="-122"/>
                <a:ea typeface="思源黑体 CN Bold" panose="020B0800000000000000" pitchFamily="34" charset="-122"/>
              </a:rPr>
              <a:t>就可以了</a:t>
            </a:r>
          </a:p>
        </p:txBody>
      </p:sp>
      <p:sp>
        <p:nvSpPr>
          <p:cNvPr id="29" name="椭圆 28">
            <a:extLst>
              <a:ext uri="{FF2B5EF4-FFF2-40B4-BE49-F238E27FC236}">
                <a16:creationId xmlns:a16="http://schemas.microsoft.com/office/drawing/2014/main" id="{DDAD103E-A4A4-4D45-9270-84F4C5F9E506}"/>
              </a:ext>
            </a:extLst>
          </p:cNvPr>
          <p:cNvSpPr/>
          <p:nvPr/>
        </p:nvSpPr>
        <p:spPr>
          <a:xfrm>
            <a:off x="7379314" y="5029200"/>
            <a:ext cx="1728110" cy="557299"/>
          </a:xfrm>
          <a:prstGeom prst="ellipse">
            <a:avLst/>
          </a:prstGeom>
          <a:noFill/>
          <a:ln w="254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箭头: 下 29">
            <a:extLst>
              <a:ext uri="{FF2B5EF4-FFF2-40B4-BE49-F238E27FC236}">
                <a16:creationId xmlns:a16="http://schemas.microsoft.com/office/drawing/2014/main" id="{A607470C-1F67-4503-AA2F-EE8826774FAC}"/>
              </a:ext>
            </a:extLst>
          </p:cNvPr>
          <p:cNvSpPr/>
          <p:nvPr/>
        </p:nvSpPr>
        <p:spPr>
          <a:xfrm rot="19800000">
            <a:off x="7351143" y="4442273"/>
            <a:ext cx="355813" cy="533727"/>
          </a:xfrm>
          <a:prstGeom prst="downArrow">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36B54903-C697-44FD-92C5-5D9F6E3D4DF7}"/>
              </a:ext>
            </a:extLst>
          </p:cNvPr>
          <p:cNvPicPr>
            <a:picLocks noChangeAspect="1"/>
          </p:cNvPicPr>
          <p:nvPr/>
        </p:nvPicPr>
        <p:blipFill>
          <a:blip r:embed="rId8"/>
          <a:stretch>
            <a:fillRect/>
          </a:stretch>
        </p:blipFill>
        <p:spPr>
          <a:xfrm>
            <a:off x="9166570" y="3679992"/>
            <a:ext cx="2761905" cy="2809524"/>
          </a:xfrm>
          <a:prstGeom prst="rect">
            <a:avLst/>
          </a:prstGeom>
        </p:spPr>
      </p:pic>
    </p:spTree>
    <p:extLst>
      <p:ext uri="{BB962C8B-B14F-4D97-AF65-F5344CB8AC3E}">
        <p14:creationId xmlns:p14="http://schemas.microsoft.com/office/powerpoint/2010/main" val="2230648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876962"/>
            <a:ext cx="10688320" cy="1957202"/>
            <a:chOff x="751840" y="1883397"/>
            <a:chExt cx="10688320" cy="1957202"/>
          </a:xfrm>
        </p:grpSpPr>
        <p:sp>
          <p:nvSpPr>
            <p:cNvPr id="16" name="文本框 10">
              <a:extLst>
                <a:ext uri="{FF2B5EF4-FFF2-40B4-BE49-F238E27FC236}">
                  <a16:creationId xmlns:a16="http://schemas.microsoft.com/office/drawing/2014/main" id="{FCB6F13A-8D5D-4AE4-B0A3-431E47C512DA}"/>
                </a:ext>
              </a:extLst>
            </p:cNvPr>
            <p:cNvSpPr txBox="1"/>
            <p:nvPr>
              <p:custDataLst>
                <p:tags r:id="rId1"/>
              </p:custDataLst>
            </p:nvPr>
          </p:nvSpPr>
          <p:spPr>
            <a:xfrm>
              <a:off x="751840" y="2886492"/>
              <a:ext cx="10688320" cy="954107"/>
            </a:xfrm>
            <a:prstGeom prst="rect">
              <a:avLst/>
            </a:prstGeom>
            <a:noFill/>
          </p:spPr>
          <p:txBody>
            <a:bodyPr wrap="square" rtlCol="0">
              <a:spAutoFit/>
            </a:bodyPr>
            <a:lstStyle/>
            <a:p>
              <a:pPr lvl="0" algn="ctr">
                <a:defRPr/>
              </a:pPr>
              <a:r>
                <a:rPr lang="en-US" altLang="en-US" sz="2800" dirty="0">
                  <a:solidFill>
                    <a:schemeClr val="accent1"/>
                  </a:solidFill>
                  <a:latin typeface="思源黑体 CN Bold" panose="020B0800000000000000" pitchFamily="34" charset="-122"/>
                  <a:ea typeface="思源黑体 CN Bold" panose="020B08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2"/>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grpSp>
        <p:nvGrpSpPr>
          <p:cNvPr id="41" name="组合 40">
            <a:extLst>
              <a:ext uri="{FF2B5EF4-FFF2-40B4-BE49-F238E27FC236}">
                <a16:creationId xmlns:a16="http://schemas.microsoft.com/office/drawing/2014/main" id="{4165F933-1C6E-4B47-9A76-BA080568DFC6}"/>
              </a:ext>
            </a:extLst>
          </p:cNvPr>
          <p:cNvGrpSpPr/>
          <p:nvPr/>
        </p:nvGrpSpPr>
        <p:grpSpPr>
          <a:xfrm>
            <a:off x="-1" y="4630546"/>
            <a:ext cx="12192001" cy="1967104"/>
            <a:chOff x="-1" y="4468780"/>
            <a:chExt cx="12192001" cy="1967104"/>
          </a:xfrm>
        </p:grpSpPr>
        <p:grpSp>
          <p:nvGrpSpPr>
            <p:cNvPr id="15" name="组合 14">
              <a:extLst>
                <a:ext uri="{FF2B5EF4-FFF2-40B4-BE49-F238E27FC236}">
                  <a16:creationId xmlns:a16="http://schemas.microsoft.com/office/drawing/2014/main" id="{E0583FB6-742A-45D1-A138-8D99B3BAB71D}"/>
                </a:ext>
              </a:extLst>
            </p:cNvPr>
            <p:cNvGrpSpPr/>
            <p:nvPr/>
          </p:nvGrpSpPr>
          <p:grpSpPr>
            <a:xfrm>
              <a:off x="-1" y="4468780"/>
              <a:ext cx="12192001" cy="1967104"/>
              <a:chOff x="-1" y="4244349"/>
              <a:chExt cx="12192001" cy="1967104"/>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4"/>
              <a:srcRect t="41540" b="26134"/>
              <a:stretch/>
            </p:blipFill>
            <p:spPr>
              <a:xfrm>
                <a:off x="0" y="4244349"/>
                <a:ext cx="12192000" cy="1967104"/>
              </a:xfrm>
              <a:prstGeom prst="rect">
                <a:avLst/>
              </a:prstGeom>
            </p:spPr>
          </p:pic>
          <p:sp>
            <p:nvSpPr>
              <p:cNvPr id="2" name="矩形 1">
                <a:extLst>
                  <a:ext uri="{FF2B5EF4-FFF2-40B4-BE49-F238E27FC236}">
                    <a16:creationId xmlns:a16="http://schemas.microsoft.com/office/drawing/2014/main" id="{41287225-8C43-42AF-B9C8-A7100BF0358A}"/>
                  </a:ext>
                </a:extLst>
              </p:cNvPr>
              <p:cNvSpPr/>
              <p:nvPr/>
            </p:nvSpPr>
            <p:spPr>
              <a:xfrm>
                <a:off x="-1" y="4244349"/>
                <a:ext cx="12192001" cy="196710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a:extLst>
                <a:ext uri="{FF2B5EF4-FFF2-40B4-BE49-F238E27FC236}">
                  <a16:creationId xmlns:a16="http://schemas.microsoft.com/office/drawing/2014/main" id="{2CF20A7A-EA21-4941-B65C-1AE8CDAE98B7}"/>
                </a:ext>
              </a:extLst>
            </p:cNvPr>
            <p:cNvGrpSpPr/>
            <p:nvPr/>
          </p:nvGrpSpPr>
          <p:grpSpPr>
            <a:xfrm>
              <a:off x="1013460" y="4881045"/>
              <a:ext cx="10165080" cy="1142575"/>
              <a:chOff x="1013460" y="4667992"/>
              <a:chExt cx="10165080" cy="1142575"/>
            </a:xfrm>
          </p:grpSpPr>
          <p:sp>
            <p:nvSpPr>
              <p:cNvPr id="11" name="文本框 10">
                <a:extLst>
                  <a:ext uri="{FF2B5EF4-FFF2-40B4-BE49-F238E27FC236}">
                    <a16:creationId xmlns:a16="http://schemas.microsoft.com/office/drawing/2014/main" id="{592A2874-3547-4F6D-9F14-1B01DFFE73B0}"/>
                  </a:ext>
                </a:extLst>
              </p:cNvPr>
              <p:cNvSpPr txBox="1"/>
              <p:nvPr/>
            </p:nvSpPr>
            <p:spPr>
              <a:xfrm>
                <a:off x="4677082" y="4705018"/>
                <a:ext cx="2026517"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课题小组：</a:t>
                </a:r>
                <a:r>
                  <a:rPr lang="en-US" altLang="zh-CN" dirty="0">
                    <a:solidFill>
                      <a:schemeClr val="bg1"/>
                    </a:solidFill>
                    <a:latin typeface="思源黑体 CN Regular" panose="020B0500000000000000" pitchFamily="34" charset="-122"/>
                    <a:ea typeface="思源黑体 CN Regular" panose="020B0500000000000000" pitchFamily="34" charset="-122"/>
                  </a:rPr>
                  <a:t>XXX</a:t>
                </a:r>
              </a:p>
            </p:txBody>
          </p:sp>
          <p:sp>
            <p:nvSpPr>
              <p:cNvPr id="13" name="文本框 12">
                <a:extLst>
                  <a:ext uri="{FF2B5EF4-FFF2-40B4-BE49-F238E27FC236}">
                    <a16:creationId xmlns:a16="http://schemas.microsoft.com/office/drawing/2014/main" id="{F783CC5A-9F78-40B3-BA32-EDF67B2FA9C7}"/>
                  </a:ext>
                </a:extLst>
              </p:cNvPr>
              <p:cNvSpPr txBox="1"/>
              <p:nvPr/>
            </p:nvSpPr>
            <p:spPr>
              <a:xfrm>
                <a:off x="1013460" y="4705018"/>
                <a:ext cx="2539478"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指导教师：</a:t>
                </a:r>
                <a:r>
                  <a:rPr lang="en-US" altLang="zh-CN" dirty="0">
                    <a:solidFill>
                      <a:schemeClr val="bg1"/>
                    </a:solidFill>
                    <a:latin typeface="思源黑体 CN Regular" panose="020B0500000000000000" pitchFamily="34" charset="-122"/>
                    <a:ea typeface="思源黑体 CN Regular" panose="020B0500000000000000" pitchFamily="34" charset="-122"/>
                  </a:rPr>
                  <a:t>XXX </a:t>
                </a:r>
                <a:r>
                  <a:rPr lang="zh-CN" altLang="en-US" dirty="0">
                    <a:solidFill>
                      <a:schemeClr val="bg1"/>
                    </a:solidFill>
                    <a:latin typeface="思源黑体 CN Regular" panose="020B0500000000000000" pitchFamily="34" charset="-122"/>
                    <a:ea typeface="思源黑体 CN Regular" panose="020B0500000000000000" pitchFamily="34" charset="-122"/>
                  </a:rPr>
                  <a:t>教授</a:t>
                </a:r>
              </a:p>
            </p:txBody>
          </p:sp>
          <p:sp>
            <p:nvSpPr>
              <p:cNvPr id="14" name="文本框 13">
                <a:extLst>
                  <a:ext uri="{FF2B5EF4-FFF2-40B4-BE49-F238E27FC236}">
                    <a16:creationId xmlns:a16="http://schemas.microsoft.com/office/drawing/2014/main" id="{CA4A1C14-DBCC-46E2-8265-9653E8B82BB5}"/>
                  </a:ext>
                </a:extLst>
              </p:cNvPr>
              <p:cNvSpPr txBox="1"/>
              <p:nvPr/>
            </p:nvSpPr>
            <p:spPr>
              <a:xfrm>
                <a:off x="8858674" y="4667992"/>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专业：细胞生物学</a:t>
                </a:r>
              </a:p>
            </p:txBody>
          </p:sp>
          <p:sp>
            <p:nvSpPr>
              <p:cNvPr id="31" name="文本框 30">
                <a:extLst>
                  <a:ext uri="{FF2B5EF4-FFF2-40B4-BE49-F238E27FC236}">
                    <a16:creationId xmlns:a16="http://schemas.microsoft.com/office/drawing/2014/main" id="{FAD900D3-7EB2-4046-AEEE-CEA817B974B4}"/>
                  </a:ext>
                </a:extLst>
              </p:cNvPr>
              <p:cNvSpPr txBox="1"/>
              <p:nvPr/>
            </p:nvSpPr>
            <p:spPr>
              <a:xfrm>
                <a:off x="4677082" y="5441235"/>
                <a:ext cx="375615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研究方向： 造血干细胞与铁死亡</a:t>
                </a:r>
              </a:p>
            </p:txBody>
          </p:sp>
          <p:sp>
            <p:nvSpPr>
              <p:cNvPr id="34" name="文本框 33">
                <a:extLst>
                  <a:ext uri="{FF2B5EF4-FFF2-40B4-BE49-F238E27FC236}">
                    <a16:creationId xmlns:a16="http://schemas.microsoft.com/office/drawing/2014/main" id="{D3ABCDC6-1755-4F40-B444-6CCAB186F16B}"/>
                  </a:ext>
                </a:extLst>
              </p:cNvPr>
              <p:cNvSpPr txBox="1"/>
              <p:nvPr/>
            </p:nvSpPr>
            <p:spPr>
              <a:xfrm>
                <a:off x="1013460" y="5441235"/>
                <a:ext cx="1742785"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答辩人：</a:t>
                </a:r>
                <a:r>
                  <a:rPr lang="en-US" altLang="zh-CN" dirty="0">
                    <a:solidFill>
                      <a:schemeClr val="bg1"/>
                    </a:solidFill>
                    <a:latin typeface="思源黑体 CN Regular" panose="020B0500000000000000" pitchFamily="34" charset="-122"/>
                    <a:ea typeface="思源黑体 CN Regular" panose="020B0500000000000000" pitchFamily="34" charset="-122"/>
                  </a:rPr>
                  <a:t>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sp>
            <p:nvSpPr>
              <p:cNvPr id="37" name="文本框 36">
                <a:extLst>
                  <a:ext uri="{FF2B5EF4-FFF2-40B4-BE49-F238E27FC236}">
                    <a16:creationId xmlns:a16="http://schemas.microsoft.com/office/drawing/2014/main" id="{67D220C2-C6DF-48F8-BA17-92D24C00F61B}"/>
                  </a:ext>
                </a:extLst>
              </p:cNvPr>
              <p:cNvSpPr txBox="1"/>
              <p:nvPr/>
            </p:nvSpPr>
            <p:spPr>
              <a:xfrm>
                <a:off x="8858674" y="5441235"/>
                <a:ext cx="2319866" cy="369332"/>
              </a:xfrm>
              <a:prstGeom prst="rect">
                <a:avLst/>
              </a:prstGeom>
              <a:noFill/>
            </p:spPr>
            <p:txBody>
              <a:bodyPr wrap="none" rtlCol="0">
                <a:spAutoFit/>
              </a:bodyPr>
              <a:lstStyle/>
              <a:p>
                <a:pPr marL="285750" indent="-285750">
                  <a:buFont typeface="Wingdings" panose="05000000000000000000" pitchFamily="2" charset="2"/>
                  <a:buChar char="Ø"/>
                </a:pPr>
                <a:r>
                  <a:rPr lang="zh-CN" altLang="en-US" dirty="0">
                    <a:solidFill>
                      <a:schemeClr val="bg1"/>
                    </a:solidFill>
                    <a:latin typeface="思源黑体 CN Regular" panose="020B0500000000000000" pitchFamily="34" charset="-122"/>
                    <a:ea typeface="思源黑体 CN Regular" panose="020B0500000000000000" pitchFamily="34" charset="-122"/>
                  </a:rPr>
                  <a:t>日期：</a:t>
                </a:r>
                <a:r>
                  <a:rPr lang="en-US" altLang="zh-CN" dirty="0">
                    <a:solidFill>
                      <a:schemeClr val="bg1"/>
                    </a:solidFill>
                    <a:latin typeface="思源黑体 CN Regular" panose="020B0500000000000000" pitchFamily="34" charset="-122"/>
                    <a:ea typeface="思源黑体 CN Regular" panose="020B0500000000000000" pitchFamily="34" charset="-122"/>
                  </a:rPr>
                  <a:t>2026/xx/xx</a:t>
                </a:r>
                <a:endParaRPr lang="zh-CN" altLang="en-US" dirty="0">
                  <a:solidFill>
                    <a:schemeClr val="bg1"/>
                  </a:solidFill>
                  <a:latin typeface="思源黑体 CN Regular" panose="020B0500000000000000" pitchFamily="34" charset="-122"/>
                  <a:ea typeface="思源黑体 CN Regular" panose="020B0500000000000000" pitchFamily="34" charset="-122"/>
                </a:endParaRPr>
              </a:p>
            </p:txBody>
          </p:sp>
        </p:grpSp>
      </p:grpSp>
    </p:spTree>
    <p:extLst>
      <p:ext uri="{BB962C8B-B14F-4D97-AF65-F5344CB8AC3E}">
        <p14:creationId xmlns:p14="http://schemas.microsoft.com/office/powerpoint/2010/main" val="228387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组合 39">
            <a:extLst>
              <a:ext uri="{FF2B5EF4-FFF2-40B4-BE49-F238E27FC236}">
                <a16:creationId xmlns:a16="http://schemas.microsoft.com/office/drawing/2014/main" id="{A3581D15-2F6F-410E-BB54-8ECBF1D02959}"/>
              </a:ext>
            </a:extLst>
          </p:cNvPr>
          <p:cNvGrpSpPr/>
          <p:nvPr/>
        </p:nvGrpSpPr>
        <p:grpSpPr>
          <a:xfrm>
            <a:off x="751840" y="1464410"/>
            <a:ext cx="10688320" cy="1834092"/>
            <a:chOff x="751840" y="1883397"/>
            <a:chExt cx="10688320" cy="1834092"/>
          </a:xfrm>
        </p:grpSpPr>
        <p:sp>
          <p:nvSpPr>
            <p:cNvPr id="16" name="文本框 10">
              <a:extLst>
                <a:ext uri="{FF2B5EF4-FFF2-40B4-BE49-F238E27FC236}">
                  <a16:creationId xmlns:a16="http://schemas.microsoft.com/office/drawing/2014/main" id="{FCB6F13A-8D5D-4AE4-B0A3-431E47C512DA}"/>
                </a:ext>
              </a:extLst>
            </p:cNvPr>
            <p:cNvSpPr txBox="1"/>
            <p:nvPr>
              <p:custDataLst>
                <p:tags r:id="rId6"/>
              </p:custDataLst>
            </p:nvPr>
          </p:nvSpPr>
          <p:spPr>
            <a:xfrm>
              <a:off x="751840" y="2886492"/>
              <a:ext cx="10688320" cy="830997"/>
            </a:xfrm>
            <a:prstGeom prst="rect">
              <a:avLst/>
            </a:prstGeom>
            <a:noFill/>
          </p:spPr>
          <p:txBody>
            <a:bodyPr wrap="square" rtlCol="0">
              <a:spAutoFit/>
            </a:bodyPr>
            <a:lstStyle/>
            <a:p>
              <a:pPr lvl="0" algn="ctr">
                <a:defRPr/>
              </a:pPr>
              <a:r>
                <a:rPr lang="en-US" altLang="en-US" sz="2400" dirty="0">
                  <a:solidFill>
                    <a:schemeClr val="tx1">
                      <a:lumMod val="50000"/>
                      <a:lumOff val="50000"/>
                    </a:schemeClr>
                  </a:solidFill>
                  <a:latin typeface="思源黑体 CN Regular" panose="020B0500000000000000" pitchFamily="34" charset="-122"/>
                  <a:ea typeface="思源黑体 CN Regular" panose="020B0500000000000000" pitchFamily="34" charset="-122"/>
                  <a:cs typeface="Arial" panose="020B0604020202020204" pitchFamily="34" charset="0"/>
                  <a:sym typeface="+mn-lt"/>
                </a:rPr>
                <a:t>PRMT3-mediated arginine methylation of IGF2BP1 promotes oxaliplatin resistance in liver cancer.</a:t>
              </a:r>
            </a:p>
          </p:txBody>
        </p:sp>
        <p:sp>
          <p:nvSpPr>
            <p:cNvPr id="21" name="文本框 10">
              <a:extLst>
                <a:ext uri="{FF2B5EF4-FFF2-40B4-BE49-F238E27FC236}">
                  <a16:creationId xmlns:a16="http://schemas.microsoft.com/office/drawing/2014/main" id="{C6865005-1EBB-4801-9F7E-DCBDCA54F0F9}"/>
                </a:ext>
              </a:extLst>
            </p:cNvPr>
            <p:cNvSpPr txBox="1"/>
            <p:nvPr>
              <p:custDataLst>
                <p:tags r:id="rId7"/>
              </p:custDataLst>
            </p:nvPr>
          </p:nvSpPr>
          <p:spPr>
            <a:xfrm>
              <a:off x="1013460" y="1883397"/>
              <a:ext cx="10165080" cy="954107"/>
            </a:xfrm>
            <a:prstGeom prst="rect">
              <a:avLst/>
            </a:prstGeom>
            <a:noFill/>
          </p:spPr>
          <p:txBody>
            <a:bodyPr wrap="square" rtlCol="0">
              <a:spAutoFit/>
            </a:bodyPr>
            <a:lstStyle/>
            <a:p>
              <a:pPr lvl="0" algn="ctr">
                <a:defRPr/>
              </a:pPr>
              <a:r>
                <a:rPr lang="zh-CN" altLang="en-US" sz="5600" dirty="0">
                  <a:latin typeface="思源黑体 CN Bold"/>
                  <a:ea typeface="思源黑体 CN Bold"/>
                  <a:cs typeface="Arial" panose="020B0604020202020204" pitchFamily="34" charset="0"/>
                  <a:sym typeface="+mn-lt"/>
                </a:rPr>
                <a:t>开题答辩文献汇报通用</a:t>
              </a:r>
              <a:r>
                <a:rPr lang="en-US" altLang="zh-CN" sz="5600" dirty="0">
                  <a:latin typeface="思源黑体 CN Bold"/>
                  <a:ea typeface="思源黑体 CN Bold"/>
                  <a:cs typeface="Arial" panose="020B0604020202020204" pitchFamily="34" charset="0"/>
                  <a:sym typeface="+mn-lt"/>
                </a:rPr>
                <a:t>PPT</a:t>
              </a:r>
              <a:r>
                <a:rPr lang="zh-CN" altLang="en-US" sz="5600" dirty="0">
                  <a:latin typeface="思源黑体 CN Bold"/>
                  <a:ea typeface="思源黑体 CN Bold"/>
                  <a:cs typeface="Arial" panose="020B0604020202020204" pitchFamily="34" charset="0"/>
                  <a:sym typeface="+mn-lt"/>
                </a:rPr>
                <a:t>模板</a:t>
              </a:r>
            </a:p>
          </p:txBody>
        </p:sp>
      </p:grpSp>
      <p:sp>
        <p:nvSpPr>
          <p:cNvPr id="17" name="矩形 16">
            <a:extLst>
              <a:ext uri="{FF2B5EF4-FFF2-40B4-BE49-F238E27FC236}">
                <a16:creationId xmlns:a16="http://schemas.microsoft.com/office/drawing/2014/main" id="{117BF2DA-234A-41B0-A0D8-4C56A55819C3}"/>
              </a:ext>
            </a:extLst>
          </p:cNvPr>
          <p:cNvSpPr/>
          <p:nvPr/>
        </p:nvSpPr>
        <p:spPr>
          <a:xfrm>
            <a:off x="0" y="6597653"/>
            <a:ext cx="12192000" cy="260347"/>
          </a:xfrm>
          <a:prstGeom prst="rect">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4">
            <a:extLst>
              <a:ext uri="{FF2B5EF4-FFF2-40B4-BE49-F238E27FC236}">
                <a16:creationId xmlns:a16="http://schemas.microsoft.com/office/drawing/2014/main" id="{725AA8C3-28EF-44B6-BEF2-6FC6F0D91A9A}"/>
              </a:ext>
            </a:extLst>
          </p:cNvPr>
          <p:cNvSpPr/>
          <p:nvPr/>
        </p:nvSpPr>
        <p:spPr>
          <a:xfrm>
            <a:off x="897468" y="4090493"/>
            <a:ext cx="10442674" cy="2095070"/>
          </a:xfrm>
          <a:prstGeom prst="rect">
            <a:avLst/>
          </a:prstGeom>
          <a:solidFill>
            <a:schemeClr val="accent1">
              <a:alpha val="1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highlight>
                <a:srgbClr val="FF0000"/>
              </a:highlight>
              <a:uLnTx/>
              <a:uFillTx/>
              <a:latin typeface="Roboto"/>
              <a:ea typeface="思源黑体 CN Regular"/>
              <a:cs typeface="+mn-cs"/>
              <a:sym typeface="+mn-lt"/>
            </a:endParaRPr>
          </a:p>
        </p:txBody>
      </p:sp>
      <p:sp>
        <p:nvSpPr>
          <p:cNvPr id="29" name="矩形 11">
            <a:extLst>
              <a:ext uri="{FF2B5EF4-FFF2-40B4-BE49-F238E27FC236}">
                <a16:creationId xmlns:a16="http://schemas.microsoft.com/office/drawing/2014/main" id="{6EDA0C2F-456C-41D5-BCCF-76F563B6AAD9}"/>
              </a:ext>
            </a:extLst>
          </p:cNvPr>
          <p:cNvSpPr/>
          <p:nvPr/>
        </p:nvSpPr>
        <p:spPr>
          <a:xfrm>
            <a:off x="851858" y="4096948"/>
            <a:ext cx="91220" cy="2088614"/>
          </a:xfrm>
          <a:prstGeom prst="rect">
            <a:avLst/>
          </a:prstGeom>
          <a:solidFill>
            <a:schemeClr val="accent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highlight>
                <a:srgbClr val="FF0000"/>
              </a:highlight>
              <a:uLnTx/>
              <a:uFillTx/>
              <a:latin typeface="Roboto"/>
              <a:ea typeface="思源黑体 CN Regular"/>
              <a:cs typeface="+mn-cs"/>
              <a:sym typeface="+mn-lt"/>
            </a:endParaRPr>
          </a:p>
        </p:txBody>
      </p:sp>
      <p:grpSp>
        <p:nvGrpSpPr>
          <p:cNvPr id="30" name="组合 29">
            <a:extLst>
              <a:ext uri="{FF2B5EF4-FFF2-40B4-BE49-F238E27FC236}">
                <a16:creationId xmlns:a16="http://schemas.microsoft.com/office/drawing/2014/main" id="{4C0F1C06-EC30-4EC2-BFAC-0AF19038393E}"/>
              </a:ext>
            </a:extLst>
          </p:cNvPr>
          <p:cNvGrpSpPr/>
          <p:nvPr/>
        </p:nvGrpSpPr>
        <p:grpSpPr>
          <a:xfrm>
            <a:off x="1098785" y="4313027"/>
            <a:ext cx="7568838" cy="1650000"/>
            <a:chOff x="1019537" y="3901508"/>
            <a:chExt cx="7568838" cy="1650000"/>
          </a:xfrm>
        </p:grpSpPr>
        <p:sp>
          <p:nvSpPr>
            <p:cNvPr id="32" name="文本框 5">
              <a:extLst>
                <a:ext uri="{FF2B5EF4-FFF2-40B4-BE49-F238E27FC236}">
                  <a16:creationId xmlns:a16="http://schemas.microsoft.com/office/drawing/2014/main" id="{A0E0DD0A-35E2-434E-A381-AE9562B3D010}"/>
                </a:ext>
              </a:extLst>
            </p:cNvPr>
            <p:cNvSpPr txBox="1"/>
            <p:nvPr/>
          </p:nvSpPr>
          <p:spPr>
            <a:xfrm>
              <a:off x="1019537" y="3901508"/>
              <a:ext cx="42284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指导教师：</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 </a:t>
              </a: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教授</a:t>
              </a:r>
              <a:endParaRPr kumimoji="0" lang="en-US" altLang="zh-CN" sz="1800" i="1"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3" name="文本框 6">
              <a:extLst>
                <a:ext uri="{FF2B5EF4-FFF2-40B4-BE49-F238E27FC236}">
                  <a16:creationId xmlns:a16="http://schemas.microsoft.com/office/drawing/2014/main" id="{86A942D4-52AA-464B-AF2C-616480B478F0}"/>
                </a:ext>
              </a:extLst>
            </p:cNvPr>
            <p:cNvSpPr txBox="1"/>
            <p:nvPr>
              <p:custDataLst>
                <p:tags r:id="rId1"/>
              </p:custDataLst>
            </p:nvPr>
          </p:nvSpPr>
          <p:spPr>
            <a:xfrm>
              <a:off x="1019537" y="4541842"/>
              <a:ext cx="3866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专业：细胞生物学</a:t>
              </a:r>
            </a:p>
          </p:txBody>
        </p:sp>
        <p:sp>
          <p:nvSpPr>
            <p:cNvPr id="35" name="文本框 7">
              <a:extLst>
                <a:ext uri="{FF2B5EF4-FFF2-40B4-BE49-F238E27FC236}">
                  <a16:creationId xmlns:a16="http://schemas.microsoft.com/office/drawing/2014/main" id="{DFDDCD88-8124-4CC4-BE97-BD136765C870}"/>
                </a:ext>
              </a:extLst>
            </p:cNvPr>
            <p:cNvSpPr txBox="1"/>
            <p:nvPr>
              <p:custDataLst>
                <p:tags r:id="rId2"/>
              </p:custDataLst>
            </p:nvPr>
          </p:nvSpPr>
          <p:spPr>
            <a:xfrm>
              <a:off x="1019537" y="5182176"/>
              <a:ext cx="381051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研究方向： 造血干细胞与铁死亡</a:t>
              </a:r>
              <a:endPar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6" name="文本框 8">
              <a:extLst>
                <a:ext uri="{FF2B5EF4-FFF2-40B4-BE49-F238E27FC236}">
                  <a16:creationId xmlns:a16="http://schemas.microsoft.com/office/drawing/2014/main" id="{3CA07724-B4EB-4547-9625-9F1BE1E82E1F}"/>
                </a:ext>
              </a:extLst>
            </p:cNvPr>
            <p:cNvSpPr txBox="1"/>
            <p:nvPr>
              <p:custDataLst>
                <p:tags r:id="rId3"/>
              </p:custDataLst>
            </p:nvPr>
          </p:nvSpPr>
          <p:spPr>
            <a:xfrm>
              <a:off x="6036310" y="3901508"/>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课题小组：</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p>
          </p:txBody>
        </p:sp>
        <p:sp>
          <p:nvSpPr>
            <p:cNvPr id="38" name="文本框 9">
              <a:extLst>
                <a:ext uri="{FF2B5EF4-FFF2-40B4-BE49-F238E27FC236}">
                  <a16:creationId xmlns:a16="http://schemas.microsoft.com/office/drawing/2014/main" id="{3A4F9D34-E0C3-40A5-B66B-E28376B8B854}"/>
                </a:ext>
              </a:extLst>
            </p:cNvPr>
            <p:cNvSpPr txBox="1"/>
            <p:nvPr>
              <p:custDataLst>
                <p:tags r:id="rId4"/>
              </p:custDataLst>
            </p:nvPr>
          </p:nvSpPr>
          <p:spPr>
            <a:xfrm>
              <a:off x="6036310" y="4541842"/>
              <a:ext cx="2552065" cy="3683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答辩人：</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XXX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sp>
          <p:nvSpPr>
            <p:cNvPr id="39" name="文本框 13">
              <a:extLst>
                <a:ext uri="{FF2B5EF4-FFF2-40B4-BE49-F238E27FC236}">
                  <a16:creationId xmlns:a16="http://schemas.microsoft.com/office/drawing/2014/main" id="{9F3EF515-7084-4C5A-B4E0-FBCC11F366C3}"/>
                </a:ext>
              </a:extLst>
            </p:cNvPr>
            <p:cNvSpPr txBox="1"/>
            <p:nvPr>
              <p:custDataLst>
                <p:tags r:id="rId5"/>
              </p:custDataLst>
            </p:nvPr>
          </p:nvSpPr>
          <p:spPr>
            <a:xfrm>
              <a:off x="6036310" y="5182176"/>
              <a:ext cx="255206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答辩日期：</a:t>
              </a:r>
              <a:r>
                <a:rPr kumimoji="0" lang="en-US" altLang="zh-CN"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rPr>
                <a:t>2025.X.X</a:t>
              </a:r>
              <a:endParaRPr kumimoji="0" lang="zh-CN" altLang="en-US" sz="1800" i="0" u="none" strike="noStrike" kern="1200" cap="none" spc="0" normalizeH="0" baseline="0" noProof="0" dirty="0">
                <a:ln>
                  <a:noFill/>
                </a:ln>
                <a:solidFill>
                  <a:schemeClr val="tx1">
                    <a:lumMod val="50000"/>
                    <a:lumOff val="50000"/>
                  </a:schemeClr>
                </a:solidFill>
                <a:effectLst/>
                <a:uLnTx/>
                <a:uFillTx/>
                <a:latin typeface="思源黑体 CN Regular" panose="020B0500000000000000" pitchFamily="34" charset="-122"/>
                <a:ea typeface="思源黑体 CN Regular" panose="020B0500000000000000" pitchFamily="34" charset="-122"/>
                <a:sym typeface="+mn-lt"/>
              </a:endParaRPr>
            </a:p>
          </p:txBody>
        </p:sp>
      </p:grpSp>
      <p:cxnSp>
        <p:nvCxnSpPr>
          <p:cNvPr id="42" name="直接连接符 41">
            <a:extLst>
              <a:ext uri="{FF2B5EF4-FFF2-40B4-BE49-F238E27FC236}">
                <a16:creationId xmlns:a16="http://schemas.microsoft.com/office/drawing/2014/main" id="{4D893CFA-AF7A-41E0-9F74-623C8EF6F3BC}"/>
              </a:ext>
            </a:extLst>
          </p:cNvPr>
          <p:cNvCxnSpPr>
            <a:cxnSpLocks/>
          </p:cNvCxnSpPr>
          <p:nvPr/>
        </p:nvCxnSpPr>
        <p:spPr>
          <a:xfrm>
            <a:off x="851858" y="3648198"/>
            <a:ext cx="10470303" cy="0"/>
          </a:xfrm>
          <a:prstGeom prst="line">
            <a:avLst/>
          </a:prstGeom>
          <a:ln w="22225">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9746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1177185" y="2298133"/>
            <a:ext cx="9837629" cy="923330"/>
          </a:xfrm>
          <a:prstGeom prst="rect">
            <a:avLst/>
          </a:prstGeom>
          <a:noFill/>
        </p:spPr>
        <p:txBody>
          <a:bodyPr wrap="none" rtlCol="0">
            <a:spAutoFit/>
          </a:bodyPr>
          <a:lstStyle/>
          <a:p>
            <a:pPr algn="ctr"/>
            <a:r>
              <a:rPr lang="zh-CN" altLang="en-US" sz="5400" dirty="0">
                <a:solidFill>
                  <a:schemeClr val="bg1"/>
                </a:solidFill>
                <a:latin typeface="思源黑体 CN Bold" panose="020B0800000000000000" pitchFamily="34" charset="-122"/>
                <a:ea typeface="思源黑体 CN Bold" panose="020B0800000000000000" pitchFamily="34" charset="-122"/>
              </a:rPr>
              <a:t>开题答辩文献汇报通用</a:t>
            </a:r>
            <a:r>
              <a:rPr lang="en-US" altLang="zh-CN" sz="5400" dirty="0">
                <a:solidFill>
                  <a:schemeClr val="bg1"/>
                </a:solidFill>
                <a:latin typeface="思源黑体 CN Bold" panose="020B0800000000000000" pitchFamily="34" charset="-122"/>
                <a:ea typeface="思源黑体 CN Bold" panose="020B0800000000000000" pitchFamily="34" charset="-122"/>
              </a:rPr>
              <a:t>PPT</a:t>
            </a:r>
            <a:r>
              <a:rPr lang="zh-CN" altLang="en-US" sz="5400" dirty="0">
                <a:solidFill>
                  <a:schemeClr val="bg1"/>
                </a:solidFill>
                <a:latin typeface="思源黑体 CN Bold" panose="020B0800000000000000" pitchFamily="34" charset="-122"/>
                <a:ea typeface="思源黑体 CN Bold" panose="020B0800000000000000" pitchFamily="34" charset="-122"/>
              </a:rPr>
              <a:t>模板</a:t>
            </a:r>
          </a:p>
        </p:txBody>
      </p:sp>
      <p:sp>
        <p:nvSpPr>
          <p:cNvPr id="5" name="文本框 4">
            <a:extLst>
              <a:ext uri="{FF2B5EF4-FFF2-40B4-BE49-F238E27FC236}">
                <a16:creationId xmlns:a16="http://schemas.microsoft.com/office/drawing/2014/main" id="{7FB85967-7F6B-48D0-A5B3-A6F279C471BC}"/>
              </a:ext>
            </a:extLst>
          </p:cNvPr>
          <p:cNvSpPr txBox="1"/>
          <p:nvPr/>
        </p:nvSpPr>
        <p:spPr>
          <a:xfrm>
            <a:off x="1501136" y="3541584"/>
            <a:ext cx="9189724" cy="954107"/>
          </a:xfrm>
          <a:prstGeom prst="rect">
            <a:avLst/>
          </a:prstGeom>
          <a:noFill/>
        </p:spPr>
        <p:txBody>
          <a:bodyPr wrap="square" rtlCol="0">
            <a:spAutoFit/>
          </a:bodyPr>
          <a:lstStyle/>
          <a:p>
            <a:pPr algn="ctr"/>
            <a:r>
              <a:rPr lang="en-US" altLang="zh-CN" sz="28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cxnSp>
        <p:nvCxnSpPr>
          <p:cNvPr id="7" name="直接连接符 6">
            <a:extLst>
              <a:ext uri="{FF2B5EF4-FFF2-40B4-BE49-F238E27FC236}">
                <a16:creationId xmlns:a16="http://schemas.microsoft.com/office/drawing/2014/main" id="{70785E71-9968-49B1-9D54-9E3E3F39A9EE}"/>
              </a:ext>
            </a:extLst>
          </p:cNvPr>
          <p:cNvCxnSpPr>
            <a:cxnSpLocks/>
          </p:cNvCxnSpPr>
          <p:nvPr/>
        </p:nvCxnSpPr>
        <p:spPr>
          <a:xfrm>
            <a:off x="1304102" y="3347667"/>
            <a:ext cx="9583797"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385819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a:extLst>
              <a:ext uri="{FF2B5EF4-FFF2-40B4-BE49-F238E27FC236}">
                <a16:creationId xmlns:a16="http://schemas.microsoft.com/office/drawing/2014/main" id="{DEEF1C42-C0CA-44EE-9207-FD1A8A79E488}"/>
              </a:ext>
            </a:extLst>
          </p:cNvPr>
          <p:cNvPicPr>
            <a:picLocks noChangeAspect="1"/>
          </p:cNvPicPr>
          <p:nvPr/>
        </p:nvPicPr>
        <p:blipFill rotWithShape="1">
          <a:blip r:embed="rId2"/>
          <a:srcRect t="26466" b="11061"/>
          <a:stretch/>
        </p:blipFill>
        <p:spPr>
          <a:xfrm>
            <a:off x="0" y="1372236"/>
            <a:ext cx="12192000" cy="3801648"/>
          </a:xfrm>
          <a:prstGeom prst="rect">
            <a:avLst/>
          </a:prstGeom>
        </p:spPr>
      </p:pic>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299490"/>
            <a:ext cx="12192001" cy="0"/>
          </a:xfrm>
          <a:prstGeom prst="line">
            <a:avLst/>
          </a:prstGeom>
          <a:ln w="19050">
            <a:solidFill>
              <a:srgbClr val="911D22"/>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372235"/>
            <a:ext cx="12192001" cy="3801648"/>
          </a:xfrm>
          <a:prstGeom prst="rect">
            <a:avLst/>
          </a:prstGeom>
          <a:solidFill>
            <a:srgbClr val="911D22">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FB85967-7F6B-48D0-A5B3-A6F279C471BC}"/>
              </a:ext>
            </a:extLst>
          </p:cNvPr>
          <p:cNvSpPr txBox="1"/>
          <p:nvPr/>
        </p:nvSpPr>
        <p:spPr>
          <a:xfrm>
            <a:off x="918258" y="2210277"/>
            <a:ext cx="10355484" cy="2287614"/>
          </a:xfrm>
          <a:prstGeom prst="rect">
            <a:avLst/>
          </a:prstGeom>
          <a:noFill/>
        </p:spPr>
        <p:txBody>
          <a:bodyPr wrap="square" rtlCol="0">
            <a:spAutoFit/>
          </a:bodyPr>
          <a:lstStyle/>
          <a:p>
            <a:pPr algn="ctr">
              <a:lnSpc>
                <a:spcPct val="110000"/>
              </a:lnSpc>
            </a:pPr>
            <a:r>
              <a:rPr lang="en-US" altLang="zh-CN" sz="4400" dirty="0">
                <a:solidFill>
                  <a:schemeClr val="bg1"/>
                </a:solidFill>
                <a:latin typeface="思源黑体 CN Bold" panose="020B0800000000000000" pitchFamily="34" charset="-122"/>
                <a:ea typeface="思源黑体 CN Bold" panose="020B0800000000000000" pitchFamily="34" charset="-122"/>
              </a:rPr>
              <a:t>PRMT3-mediated arginine methylation of IGF2BP1 promotes oxaliplatin resistance in liver cancer.</a:t>
            </a:r>
          </a:p>
        </p:txBody>
      </p:sp>
      <p:grpSp>
        <p:nvGrpSpPr>
          <p:cNvPr id="12" name="组合 11">
            <a:extLst>
              <a:ext uri="{FF2B5EF4-FFF2-40B4-BE49-F238E27FC236}">
                <a16:creationId xmlns:a16="http://schemas.microsoft.com/office/drawing/2014/main" id="{142C7A83-A039-495F-93D1-EE226F0EC27E}"/>
              </a:ext>
            </a:extLst>
          </p:cNvPr>
          <p:cNvGrpSpPr/>
          <p:nvPr/>
        </p:nvGrpSpPr>
        <p:grpSpPr>
          <a:xfrm>
            <a:off x="5695157" y="927748"/>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grpSp>
        <p:nvGrpSpPr>
          <p:cNvPr id="3" name="组合 2">
            <a:extLst>
              <a:ext uri="{FF2B5EF4-FFF2-40B4-BE49-F238E27FC236}">
                <a16:creationId xmlns:a16="http://schemas.microsoft.com/office/drawing/2014/main" id="{1826A012-91DD-40A8-9224-540FC55E3F62}"/>
              </a:ext>
            </a:extLst>
          </p:cNvPr>
          <p:cNvGrpSpPr/>
          <p:nvPr/>
        </p:nvGrpSpPr>
        <p:grpSpPr>
          <a:xfrm>
            <a:off x="1470712" y="5862077"/>
            <a:ext cx="9461825" cy="369332"/>
            <a:chOff x="1470712" y="5782212"/>
            <a:chExt cx="9461825" cy="369332"/>
          </a:xfrm>
        </p:grpSpPr>
        <p:sp>
          <p:nvSpPr>
            <p:cNvPr id="11" name="文本框 10">
              <a:extLst>
                <a:ext uri="{FF2B5EF4-FFF2-40B4-BE49-F238E27FC236}">
                  <a16:creationId xmlns:a16="http://schemas.microsoft.com/office/drawing/2014/main" id="{592A2874-3547-4F6D-9F14-1B01DFFE73B0}"/>
                </a:ext>
              </a:extLst>
            </p:cNvPr>
            <p:cNvSpPr txBox="1"/>
            <p:nvPr/>
          </p:nvSpPr>
          <p:spPr>
            <a:xfrm>
              <a:off x="1825606" y="5782212"/>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843919"/>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782212"/>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793542"/>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782212"/>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835068"/>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rgbClr val="911D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761056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矩形 154">
            <a:extLst>
              <a:ext uri="{FF2B5EF4-FFF2-40B4-BE49-F238E27FC236}">
                <a16:creationId xmlns:a16="http://schemas.microsoft.com/office/drawing/2014/main" id="{C2CA6011-6896-4874-800D-6397A6F5DCE6}"/>
              </a:ext>
            </a:extLst>
          </p:cNvPr>
          <p:cNvSpPr/>
          <p:nvPr/>
        </p:nvSpPr>
        <p:spPr>
          <a:xfrm>
            <a:off x="-1" y="0"/>
            <a:ext cx="519176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1" name="矩形 160">
            <a:extLst>
              <a:ext uri="{FF2B5EF4-FFF2-40B4-BE49-F238E27FC236}">
                <a16:creationId xmlns:a16="http://schemas.microsoft.com/office/drawing/2014/main" id="{2527A780-F303-4665-996A-FD8BA25705E6}"/>
              </a:ext>
            </a:extLst>
          </p:cNvPr>
          <p:cNvSpPr/>
          <p:nvPr/>
        </p:nvSpPr>
        <p:spPr>
          <a:xfrm>
            <a:off x="529796" y="1362917"/>
            <a:ext cx="4132166" cy="4132166"/>
          </a:xfrm>
          <a:prstGeom prst="rect">
            <a:avLst/>
          </a:prstGeom>
          <a:blipFill dpi="0" rotWithShape="1">
            <a:blip r:embed="rId2">
              <a:alphaModFix amt="5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文本框 163">
            <a:extLst>
              <a:ext uri="{FF2B5EF4-FFF2-40B4-BE49-F238E27FC236}">
                <a16:creationId xmlns:a16="http://schemas.microsoft.com/office/drawing/2014/main" id="{2974BA8B-1D23-40DC-AACC-D36E521982F4}"/>
              </a:ext>
            </a:extLst>
          </p:cNvPr>
          <p:cNvSpPr txBox="1"/>
          <p:nvPr/>
        </p:nvSpPr>
        <p:spPr>
          <a:xfrm>
            <a:off x="1375032" y="2705725"/>
            <a:ext cx="2441694" cy="1446550"/>
          </a:xfrm>
          <a:prstGeom prst="rect">
            <a:avLst/>
          </a:prstGeom>
          <a:noFill/>
        </p:spPr>
        <p:txBody>
          <a:bodyPr wrap="none" rtlCol="0">
            <a:spAutoFit/>
          </a:bodyPr>
          <a:lstStyle/>
          <a:p>
            <a:r>
              <a:rPr lang="zh-CN" altLang="en-US" sz="8800" dirty="0">
                <a:solidFill>
                  <a:schemeClr val="bg1"/>
                </a:solidFill>
                <a:latin typeface="思源黑体 CN Bold" panose="020B0800000000000000" pitchFamily="34" charset="-122"/>
                <a:ea typeface="思源黑体 CN Bold" panose="020B0800000000000000" pitchFamily="34" charset="-122"/>
              </a:rPr>
              <a:t>目录</a:t>
            </a:r>
          </a:p>
        </p:txBody>
      </p:sp>
      <p:sp>
        <p:nvSpPr>
          <p:cNvPr id="180" name="文本框 179">
            <a:extLst>
              <a:ext uri="{FF2B5EF4-FFF2-40B4-BE49-F238E27FC236}">
                <a16:creationId xmlns:a16="http://schemas.microsoft.com/office/drawing/2014/main" id="{A651CCD4-21E3-462F-9E21-7E5E13600E07}"/>
              </a:ext>
            </a:extLst>
          </p:cNvPr>
          <p:cNvSpPr txBox="1"/>
          <p:nvPr/>
        </p:nvSpPr>
        <p:spPr>
          <a:xfrm>
            <a:off x="6487860" y="1409601"/>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01</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181" name="文本框 180">
            <a:extLst>
              <a:ext uri="{FF2B5EF4-FFF2-40B4-BE49-F238E27FC236}">
                <a16:creationId xmlns:a16="http://schemas.microsoft.com/office/drawing/2014/main" id="{C1FD39B7-1DC0-4C32-B470-5F7315FE9ED9}"/>
              </a:ext>
            </a:extLst>
          </p:cNvPr>
          <p:cNvSpPr txBox="1"/>
          <p:nvPr/>
        </p:nvSpPr>
        <p:spPr>
          <a:xfrm>
            <a:off x="7275255" y="1501934"/>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研究背景及现状</a:t>
            </a:r>
          </a:p>
        </p:txBody>
      </p:sp>
      <p:sp>
        <p:nvSpPr>
          <p:cNvPr id="259" name="文本框 258">
            <a:extLst>
              <a:ext uri="{FF2B5EF4-FFF2-40B4-BE49-F238E27FC236}">
                <a16:creationId xmlns:a16="http://schemas.microsoft.com/office/drawing/2014/main" id="{5D0022BE-CDEA-4C97-883B-DEC56661BAFB}"/>
              </a:ext>
            </a:extLst>
          </p:cNvPr>
          <p:cNvSpPr txBox="1"/>
          <p:nvPr/>
        </p:nvSpPr>
        <p:spPr>
          <a:xfrm>
            <a:off x="6487860" y="2287763"/>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02</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0" name="文本框 259">
            <a:extLst>
              <a:ext uri="{FF2B5EF4-FFF2-40B4-BE49-F238E27FC236}">
                <a16:creationId xmlns:a16="http://schemas.microsoft.com/office/drawing/2014/main" id="{6A549DB9-9476-495A-9E36-1DF6780D9AB5}"/>
              </a:ext>
            </a:extLst>
          </p:cNvPr>
          <p:cNvSpPr txBox="1"/>
          <p:nvPr/>
        </p:nvSpPr>
        <p:spPr>
          <a:xfrm>
            <a:off x="7275255" y="2380096"/>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研究目标和研究内容</a:t>
            </a:r>
          </a:p>
        </p:txBody>
      </p:sp>
      <p:sp>
        <p:nvSpPr>
          <p:cNvPr id="263" name="文本框 262">
            <a:extLst>
              <a:ext uri="{FF2B5EF4-FFF2-40B4-BE49-F238E27FC236}">
                <a16:creationId xmlns:a16="http://schemas.microsoft.com/office/drawing/2014/main" id="{2F737359-3EE0-421C-8287-575BE9A4EC17}"/>
              </a:ext>
            </a:extLst>
          </p:cNvPr>
          <p:cNvSpPr txBox="1"/>
          <p:nvPr/>
        </p:nvSpPr>
        <p:spPr>
          <a:xfrm>
            <a:off x="6487860" y="3165925"/>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03</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4" name="文本框 263">
            <a:extLst>
              <a:ext uri="{FF2B5EF4-FFF2-40B4-BE49-F238E27FC236}">
                <a16:creationId xmlns:a16="http://schemas.microsoft.com/office/drawing/2014/main" id="{AF6F239C-1CDF-4D61-8837-F94EB36D3598}"/>
              </a:ext>
            </a:extLst>
          </p:cNvPr>
          <p:cNvSpPr txBox="1"/>
          <p:nvPr/>
        </p:nvSpPr>
        <p:spPr>
          <a:xfrm>
            <a:off x="7275255" y="3258258"/>
            <a:ext cx="269817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研究方法与思路</a:t>
            </a:r>
          </a:p>
        </p:txBody>
      </p:sp>
      <p:sp>
        <p:nvSpPr>
          <p:cNvPr id="267" name="文本框 266">
            <a:extLst>
              <a:ext uri="{FF2B5EF4-FFF2-40B4-BE49-F238E27FC236}">
                <a16:creationId xmlns:a16="http://schemas.microsoft.com/office/drawing/2014/main" id="{EE2B8F3D-F0DA-43C4-A92B-0E6EB2469E6E}"/>
              </a:ext>
            </a:extLst>
          </p:cNvPr>
          <p:cNvSpPr txBox="1"/>
          <p:nvPr/>
        </p:nvSpPr>
        <p:spPr>
          <a:xfrm>
            <a:off x="6487860" y="4044087"/>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04</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68" name="文本框 267">
            <a:extLst>
              <a:ext uri="{FF2B5EF4-FFF2-40B4-BE49-F238E27FC236}">
                <a16:creationId xmlns:a16="http://schemas.microsoft.com/office/drawing/2014/main" id="{098D9AED-FA8E-47B3-96E2-31431805D0FD}"/>
              </a:ext>
            </a:extLst>
          </p:cNvPr>
          <p:cNvSpPr txBox="1"/>
          <p:nvPr/>
        </p:nvSpPr>
        <p:spPr>
          <a:xfrm>
            <a:off x="7275255" y="4136420"/>
            <a:ext cx="3057247"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关键技术与创新点</a:t>
            </a:r>
          </a:p>
        </p:txBody>
      </p:sp>
      <p:sp>
        <p:nvSpPr>
          <p:cNvPr id="271" name="文本框 270">
            <a:extLst>
              <a:ext uri="{FF2B5EF4-FFF2-40B4-BE49-F238E27FC236}">
                <a16:creationId xmlns:a16="http://schemas.microsoft.com/office/drawing/2014/main" id="{7EBE0905-66DC-4CCA-9AD2-737BCDDFED2D}"/>
              </a:ext>
            </a:extLst>
          </p:cNvPr>
          <p:cNvSpPr txBox="1"/>
          <p:nvPr/>
        </p:nvSpPr>
        <p:spPr>
          <a:xfrm>
            <a:off x="6487860" y="4922249"/>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05</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2" name="文本框 271">
            <a:extLst>
              <a:ext uri="{FF2B5EF4-FFF2-40B4-BE49-F238E27FC236}">
                <a16:creationId xmlns:a16="http://schemas.microsoft.com/office/drawing/2014/main" id="{FFAE6270-CB95-413D-94E6-DB9A94BF576D}"/>
              </a:ext>
            </a:extLst>
          </p:cNvPr>
          <p:cNvSpPr txBox="1"/>
          <p:nvPr/>
        </p:nvSpPr>
        <p:spPr>
          <a:xfrm>
            <a:off x="7275255" y="5014582"/>
            <a:ext cx="4134465"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已开展工作与可行性分析</a:t>
            </a:r>
          </a:p>
        </p:txBody>
      </p:sp>
      <p:sp>
        <p:nvSpPr>
          <p:cNvPr id="275" name="文本框 274">
            <a:extLst>
              <a:ext uri="{FF2B5EF4-FFF2-40B4-BE49-F238E27FC236}">
                <a16:creationId xmlns:a16="http://schemas.microsoft.com/office/drawing/2014/main" id="{B3CB216E-A2A8-49EF-B477-BF40CE30E4B7}"/>
              </a:ext>
            </a:extLst>
          </p:cNvPr>
          <p:cNvSpPr txBox="1"/>
          <p:nvPr/>
        </p:nvSpPr>
        <p:spPr>
          <a:xfrm>
            <a:off x="6487860" y="5800412"/>
            <a:ext cx="809837" cy="707886"/>
          </a:xfrm>
          <a:prstGeom prst="rect">
            <a:avLst/>
          </a:prstGeom>
          <a:noFill/>
        </p:spPr>
        <p:txBody>
          <a:bodyPr wrap="none" rtlCol="0">
            <a:spAutoFit/>
          </a:bodyPr>
          <a:lstStyle/>
          <a:p>
            <a:r>
              <a:rPr lang="en-US" altLang="zh-CN" sz="4000" dirty="0">
                <a:solidFill>
                  <a:schemeClr val="accent1"/>
                </a:solidFill>
                <a:latin typeface="思源黑体 CN Heavy" panose="020B0A00000000000000" pitchFamily="34" charset="-122"/>
                <a:ea typeface="思源黑体 CN Heavy" panose="020B0A00000000000000" pitchFamily="34" charset="-122"/>
              </a:rPr>
              <a:t>06</a:t>
            </a:r>
            <a:endParaRPr lang="zh-CN" altLang="en-US" sz="4000" dirty="0">
              <a:solidFill>
                <a:schemeClr val="accent1"/>
              </a:solidFill>
              <a:latin typeface="思源黑体 CN Heavy" panose="020B0A00000000000000" pitchFamily="34" charset="-122"/>
              <a:ea typeface="思源黑体 CN Heavy" panose="020B0A00000000000000" pitchFamily="34" charset="-122"/>
            </a:endParaRPr>
          </a:p>
        </p:txBody>
      </p:sp>
      <p:sp>
        <p:nvSpPr>
          <p:cNvPr id="276" name="文本框 275">
            <a:extLst>
              <a:ext uri="{FF2B5EF4-FFF2-40B4-BE49-F238E27FC236}">
                <a16:creationId xmlns:a16="http://schemas.microsoft.com/office/drawing/2014/main" id="{32F1FBD0-62A4-445D-A42B-A13ABC87C262}"/>
              </a:ext>
            </a:extLst>
          </p:cNvPr>
          <p:cNvSpPr txBox="1"/>
          <p:nvPr/>
        </p:nvSpPr>
        <p:spPr>
          <a:xfrm>
            <a:off x="7275255" y="5892745"/>
            <a:ext cx="3416320" cy="523220"/>
          </a:xfrm>
          <a:prstGeom prst="rect">
            <a:avLst/>
          </a:prstGeom>
          <a:noFill/>
        </p:spPr>
        <p:txBody>
          <a:bodyPr wrap="none" rtlCol="0">
            <a:spAutoFit/>
          </a:bodyPr>
          <a:lstStyle/>
          <a:p>
            <a:r>
              <a:rPr lang="zh-CN" altLang="en-US" sz="2800" dirty="0">
                <a:latin typeface="思源黑体 CN Bold" panose="020B0800000000000000" pitchFamily="34" charset="-122"/>
                <a:ea typeface="思源黑体 CN Bold" panose="020B0800000000000000" pitchFamily="34" charset="-122"/>
              </a:rPr>
              <a:t>进度安排及预期成果</a:t>
            </a:r>
          </a:p>
        </p:txBody>
      </p:sp>
    </p:spTree>
    <p:extLst>
      <p:ext uri="{BB962C8B-B14F-4D97-AF65-F5344CB8AC3E}">
        <p14:creationId xmlns:p14="http://schemas.microsoft.com/office/powerpoint/2010/main" val="3966907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圆角 41">
            <a:extLst>
              <a:ext uri="{FF2B5EF4-FFF2-40B4-BE49-F238E27FC236}">
                <a16:creationId xmlns:a16="http://schemas.microsoft.com/office/drawing/2014/main" id="{2AF5A3FE-FCC1-4F98-B5B9-1271B448A81A}"/>
              </a:ext>
            </a:extLst>
          </p:cNvPr>
          <p:cNvSpPr/>
          <p:nvPr/>
        </p:nvSpPr>
        <p:spPr>
          <a:xfrm>
            <a:off x="591312" y="6024679"/>
            <a:ext cx="11009376" cy="57740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圆角 45">
            <a:extLst>
              <a:ext uri="{FF2B5EF4-FFF2-40B4-BE49-F238E27FC236}">
                <a16:creationId xmlns:a16="http://schemas.microsoft.com/office/drawing/2014/main" id="{C7439EA8-BF95-4112-94E1-02B40D3F05D7}"/>
              </a:ext>
            </a:extLst>
          </p:cNvPr>
          <p:cNvSpPr/>
          <p:nvPr/>
        </p:nvSpPr>
        <p:spPr>
          <a:xfrm>
            <a:off x="647700" y="6076403"/>
            <a:ext cx="1691822" cy="473954"/>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圆角 42">
            <a:extLst>
              <a:ext uri="{FF2B5EF4-FFF2-40B4-BE49-F238E27FC236}">
                <a16:creationId xmlns:a16="http://schemas.microsoft.com/office/drawing/2014/main" id="{C7BEF58F-2A83-4042-ABAD-BE236E92725C}"/>
              </a:ext>
            </a:extLst>
          </p:cNvPr>
          <p:cNvSpPr/>
          <p:nvPr/>
        </p:nvSpPr>
        <p:spPr>
          <a:xfrm>
            <a:off x="2491738" y="1215535"/>
            <a:ext cx="9108949" cy="476900"/>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3B557AEB-8ED7-4D26-BDFD-CD44720F1166}"/>
              </a:ext>
            </a:extLst>
          </p:cNvPr>
          <p:cNvSpPr/>
          <p:nvPr/>
        </p:nvSpPr>
        <p:spPr>
          <a:xfrm>
            <a:off x="811255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研究背景</a:t>
            </a:r>
          </a:p>
        </p:txBody>
      </p:sp>
      <p:sp>
        <p:nvSpPr>
          <p:cNvPr id="8" name="矩形: 圆角 7">
            <a:extLst>
              <a:ext uri="{FF2B5EF4-FFF2-40B4-BE49-F238E27FC236}">
                <a16:creationId xmlns:a16="http://schemas.microsoft.com/office/drawing/2014/main" id="{6586EA71-76DC-4244-B27E-07A0375E043F}"/>
              </a:ext>
            </a:extLst>
          </p:cNvPr>
          <p:cNvSpPr/>
          <p:nvPr/>
        </p:nvSpPr>
        <p:spPr>
          <a:xfrm>
            <a:off x="593487"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矩形: 圆角 11">
            <a:extLst>
              <a:ext uri="{FF2B5EF4-FFF2-40B4-BE49-F238E27FC236}">
                <a16:creationId xmlns:a16="http://schemas.microsoft.com/office/drawing/2014/main" id="{9FEC5120-235E-477C-A6BD-771C96D07E9E}"/>
              </a:ext>
            </a:extLst>
          </p:cNvPr>
          <p:cNvSpPr/>
          <p:nvPr/>
        </p:nvSpPr>
        <p:spPr>
          <a:xfrm>
            <a:off x="4351933" y="1977009"/>
            <a:ext cx="3488135" cy="3795576"/>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F321879E-185E-47EC-92F3-C3352A3EA9D1}"/>
              </a:ext>
            </a:extLst>
          </p:cNvPr>
          <p:cNvSpPr txBox="1"/>
          <p:nvPr/>
        </p:nvSpPr>
        <p:spPr>
          <a:xfrm>
            <a:off x="2526463" y="1260791"/>
            <a:ext cx="7816598"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专业背景：计算机应用技术（智慧养老方向）</a:t>
            </a:r>
            <a:r>
              <a:rPr lang="en-US" altLang="zh-CN" sz="1600" dirty="0">
                <a:latin typeface="思源黑体 CN Bold" panose="020B0800000000000000" pitchFamily="34" charset="-122"/>
                <a:ea typeface="思源黑体 CN Bold" panose="020B0800000000000000" pitchFamily="34" charset="-122"/>
              </a:rPr>
              <a:t>|</a:t>
            </a:r>
            <a:r>
              <a:rPr lang="zh-CN" altLang="en-US" sz="1600" dirty="0">
                <a:latin typeface="思源黑体 CN Bold" panose="020B0800000000000000" pitchFamily="34" charset="-122"/>
                <a:ea typeface="思源黑体 CN Bold" panose="020B0800000000000000" pitchFamily="34" charset="-122"/>
              </a:rPr>
              <a:t> 行业背景：养老服务数字化转型</a:t>
            </a:r>
          </a:p>
        </p:txBody>
      </p:sp>
      <p:sp>
        <p:nvSpPr>
          <p:cNvPr id="15" name="矩形: 圆顶角 14">
            <a:extLst>
              <a:ext uri="{FF2B5EF4-FFF2-40B4-BE49-F238E27FC236}">
                <a16:creationId xmlns:a16="http://schemas.microsoft.com/office/drawing/2014/main" id="{07FDFDF1-9143-4E15-BE17-D3ECA5F5F7AC}"/>
              </a:ext>
            </a:extLst>
          </p:cNvPr>
          <p:cNvSpPr/>
          <p:nvPr/>
        </p:nvSpPr>
        <p:spPr>
          <a:xfrm>
            <a:off x="1227712"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行业现状与需求</a:t>
            </a:r>
          </a:p>
        </p:txBody>
      </p:sp>
      <p:sp>
        <p:nvSpPr>
          <p:cNvPr id="16" name="文本框 15">
            <a:extLst>
              <a:ext uri="{FF2B5EF4-FFF2-40B4-BE49-F238E27FC236}">
                <a16:creationId xmlns:a16="http://schemas.microsoft.com/office/drawing/2014/main" id="{46F4815B-3971-47DB-AB76-AA660FDEDE55}"/>
              </a:ext>
            </a:extLst>
          </p:cNvPr>
          <p:cNvSpPr txBox="1"/>
          <p:nvPr/>
        </p:nvSpPr>
        <p:spPr>
          <a:xfrm>
            <a:off x="766778"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2025 </a:t>
            </a:r>
            <a:r>
              <a:rPr lang="zh-CN" altLang="en-US" sz="1400" dirty="0">
                <a:latin typeface="思源黑体 CN Regular" panose="020B0500000000000000" pitchFamily="34" charset="-122"/>
                <a:ea typeface="思源黑体 CN Regular" panose="020B0500000000000000" pitchFamily="34" charset="-122"/>
              </a:rPr>
              <a:t>年我国 </a:t>
            </a:r>
            <a:r>
              <a:rPr lang="en-US" altLang="zh-CN" sz="1400" dirty="0">
                <a:latin typeface="思源黑体 CN Regular" panose="020B0500000000000000" pitchFamily="34" charset="-122"/>
                <a:ea typeface="思源黑体 CN Regular" panose="020B0500000000000000" pitchFamily="34" charset="-122"/>
              </a:rPr>
              <a:t>60 </a:t>
            </a:r>
            <a:r>
              <a:rPr lang="zh-CN" altLang="en-US" sz="1400" dirty="0">
                <a:latin typeface="思源黑体 CN Regular" panose="020B0500000000000000" pitchFamily="34" charset="-122"/>
                <a:ea typeface="思源黑体 CN Regular" panose="020B0500000000000000" pitchFamily="34" charset="-122"/>
              </a:rPr>
              <a:t>岁以上人口占比超 </a:t>
            </a:r>
            <a:r>
              <a:rPr lang="en-US" altLang="zh-CN" sz="1400" dirty="0">
                <a:latin typeface="思源黑体 CN Regular" panose="020B0500000000000000" pitchFamily="34" charset="-122"/>
                <a:ea typeface="思源黑体 CN Regular" panose="020B0500000000000000" pitchFamily="34" charset="-122"/>
              </a:rPr>
              <a:t>21%</a:t>
            </a:r>
            <a:r>
              <a:rPr lang="zh-CN" altLang="en-US" sz="1400" dirty="0">
                <a:latin typeface="思源黑体 CN Regular" panose="020B0500000000000000" pitchFamily="34" charset="-122"/>
                <a:ea typeface="思源黑体 CN Regular" panose="020B0500000000000000" pitchFamily="34" charset="-122"/>
              </a:rPr>
              <a:t>，智能养老需求激增。</a:t>
            </a:r>
          </a:p>
        </p:txBody>
      </p:sp>
      <p:sp>
        <p:nvSpPr>
          <p:cNvPr id="27" name="文本框 26">
            <a:extLst>
              <a:ext uri="{FF2B5EF4-FFF2-40B4-BE49-F238E27FC236}">
                <a16:creationId xmlns:a16="http://schemas.microsoft.com/office/drawing/2014/main" id="{680BEEA9-6374-4521-A7AB-CCDC24EA9116}"/>
              </a:ext>
            </a:extLst>
          </p:cNvPr>
          <p:cNvSpPr txBox="1"/>
          <p:nvPr/>
        </p:nvSpPr>
        <p:spPr>
          <a:xfrm>
            <a:off x="4532479" y="5076499"/>
            <a:ext cx="3127042" cy="629724"/>
          </a:xfrm>
          <a:prstGeom prst="rect">
            <a:avLst/>
          </a:prstGeom>
          <a:noFill/>
        </p:spPr>
        <p:txBody>
          <a:bodyPr wrap="square" rtlCol="0">
            <a:spAutoFit/>
          </a:bodyPr>
          <a:lstStyle/>
          <a:p>
            <a:pPr algn="ctr">
              <a:lnSpc>
                <a:spcPct val="130000"/>
              </a:lnSpc>
            </a:pPr>
            <a:r>
              <a:rPr lang="en-US" altLang="zh-CN" sz="1400" dirty="0">
                <a:latin typeface="思源黑体 CN Regular" panose="020B0500000000000000" pitchFamily="34" charset="-122"/>
                <a:ea typeface="思源黑体 CN Regular" panose="020B0500000000000000" pitchFamily="34" charset="-122"/>
              </a:rPr>
              <a:t>AI </a:t>
            </a:r>
            <a:r>
              <a:rPr lang="zh-CN" altLang="en-US" sz="1400" dirty="0">
                <a:latin typeface="思源黑体 CN Regular" panose="020B0500000000000000" pitchFamily="34" charset="-122"/>
                <a:ea typeface="思源黑体 CN Regular" panose="020B0500000000000000" pitchFamily="34" charset="-122"/>
              </a:rPr>
              <a:t>养老设备市场年增速达 </a:t>
            </a:r>
            <a:r>
              <a:rPr lang="en-US" altLang="zh-CN" sz="1400" dirty="0">
                <a:latin typeface="思源黑体 CN Regular" panose="020B0500000000000000" pitchFamily="34" charset="-122"/>
                <a:ea typeface="思源黑体 CN Regular" panose="020B0500000000000000" pitchFamily="34" charset="-122"/>
              </a:rPr>
              <a:t>35%</a:t>
            </a:r>
            <a:r>
              <a:rPr lang="zh-CN" altLang="en-US" sz="1400" dirty="0">
                <a:latin typeface="思源黑体 CN Regular" panose="020B0500000000000000" pitchFamily="34" charset="-122"/>
                <a:ea typeface="思源黑体 CN Regular" panose="020B0500000000000000" pitchFamily="34" charset="-122"/>
              </a:rPr>
              <a:t>，为智慧养老方案落地提供技术支撑。</a:t>
            </a:r>
          </a:p>
        </p:txBody>
      </p:sp>
      <p:pic>
        <p:nvPicPr>
          <p:cNvPr id="35" name="图片 34">
            <a:extLst>
              <a:ext uri="{FF2B5EF4-FFF2-40B4-BE49-F238E27FC236}">
                <a16:creationId xmlns:a16="http://schemas.microsoft.com/office/drawing/2014/main" id="{8D00331E-734E-4025-B297-2AD62638DE19}"/>
              </a:ext>
            </a:extLst>
          </p:cNvPr>
          <p:cNvPicPr>
            <a:picLocks noChangeAspect="1"/>
          </p:cNvPicPr>
          <p:nvPr/>
        </p:nvPicPr>
        <p:blipFill>
          <a:blip r:embed="rId2"/>
          <a:stretch>
            <a:fillRect/>
          </a:stretch>
        </p:blipFill>
        <p:spPr>
          <a:xfrm>
            <a:off x="610566" y="2971203"/>
            <a:ext cx="3453976" cy="1736273"/>
          </a:xfrm>
          <a:prstGeom prst="rect">
            <a:avLst/>
          </a:prstGeom>
        </p:spPr>
      </p:pic>
      <p:sp>
        <p:nvSpPr>
          <p:cNvPr id="36" name="矩形: 圆顶角 35">
            <a:extLst>
              <a:ext uri="{FF2B5EF4-FFF2-40B4-BE49-F238E27FC236}">
                <a16:creationId xmlns:a16="http://schemas.microsoft.com/office/drawing/2014/main" id="{8487AA3B-2DBA-4B44-B88E-621EF3284E64}"/>
              </a:ext>
            </a:extLst>
          </p:cNvPr>
          <p:cNvSpPr/>
          <p:nvPr/>
        </p:nvSpPr>
        <p:spPr>
          <a:xfrm>
            <a:off x="875403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现有研究缺口</a:t>
            </a:r>
          </a:p>
        </p:txBody>
      </p:sp>
      <p:sp>
        <p:nvSpPr>
          <p:cNvPr id="37" name="文本框 36">
            <a:extLst>
              <a:ext uri="{FF2B5EF4-FFF2-40B4-BE49-F238E27FC236}">
                <a16:creationId xmlns:a16="http://schemas.microsoft.com/office/drawing/2014/main" id="{2D1E83C9-A3D3-436B-9E2D-179310947127}"/>
              </a:ext>
            </a:extLst>
          </p:cNvPr>
          <p:cNvSpPr txBox="1"/>
          <p:nvPr/>
        </p:nvSpPr>
        <p:spPr>
          <a:xfrm>
            <a:off x="8293099" y="4796422"/>
            <a:ext cx="3127042" cy="909801"/>
          </a:xfrm>
          <a:prstGeom prst="rect">
            <a:avLst/>
          </a:prstGeom>
          <a:noFill/>
        </p:spPr>
        <p:txBody>
          <a:bodyPr wrap="square" rtlCol="0">
            <a:spAutoFit/>
          </a:bodyPr>
          <a:lstStyle/>
          <a:p>
            <a:pPr algn="ctr">
              <a:lnSpc>
                <a:spcPct val="130000"/>
              </a:lnSpc>
            </a:pPr>
            <a:r>
              <a:rPr lang="zh-CN" altLang="en-US" sz="1400" dirty="0">
                <a:latin typeface="思源黑体 CN Regular" panose="020B0500000000000000" pitchFamily="34" charset="-122"/>
                <a:ea typeface="思源黑体 CN Regular" panose="020B0500000000000000" pitchFamily="34" charset="-122"/>
              </a:rPr>
              <a:t>当前智能养老产品同质化严重，仅 </a:t>
            </a:r>
            <a:r>
              <a:rPr lang="en-US" altLang="zh-CN" sz="1400" dirty="0">
                <a:latin typeface="思源黑体 CN Regular" panose="020B0500000000000000" pitchFamily="34" charset="-122"/>
                <a:ea typeface="思源黑体 CN Regular" panose="020B0500000000000000" pitchFamily="34" charset="-122"/>
              </a:rPr>
              <a:t>12% </a:t>
            </a:r>
            <a:r>
              <a:rPr lang="zh-CN" altLang="en-US" sz="1400" dirty="0">
                <a:latin typeface="思源黑体 CN Regular" panose="020B0500000000000000" pitchFamily="34" charset="-122"/>
                <a:ea typeface="思源黑体 CN Regular" panose="020B0500000000000000" pitchFamily="34" charset="-122"/>
              </a:rPr>
              <a:t>养老机构实现个性化服务，精准适配性研究不足。</a:t>
            </a:r>
          </a:p>
        </p:txBody>
      </p:sp>
      <p:grpSp>
        <p:nvGrpSpPr>
          <p:cNvPr id="4100" name="组合 4099">
            <a:extLst>
              <a:ext uri="{FF2B5EF4-FFF2-40B4-BE49-F238E27FC236}">
                <a16:creationId xmlns:a16="http://schemas.microsoft.com/office/drawing/2014/main" id="{8355AC1A-1FF6-48B7-9485-B08B96A05BD0}"/>
              </a:ext>
            </a:extLst>
          </p:cNvPr>
          <p:cNvGrpSpPr/>
          <p:nvPr/>
        </p:nvGrpSpPr>
        <p:grpSpPr>
          <a:xfrm>
            <a:off x="4532479" y="2327526"/>
            <a:ext cx="3127042" cy="2695519"/>
            <a:chOff x="4676533" y="2858110"/>
            <a:chExt cx="2926665" cy="2522795"/>
          </a:xfrm>
        </p:grpSpPr>
        <p:pic>
          <p:nvPicPr>
            <p:cNvPr id="31" name="图片 30">
              <a:extLst>
                <a:ext uri="{FF2B5EF4-FFF2-40B4-BE49-F238E27FC236}">
                  <a16:creationId xmlns:a16="http://schemas.microsoft.com/office/drawing/2014/main" id="{F6802201-9935-4E91-80F9-EBEB5AE65117}"/>
                </a:ext>
              </a:extLst>
            </p:cNvPr>
            <p:cNvPicPr>
              <a:picLocks noChangeAspect="1"/>
            </p:cNvPicPr>
            <p:nvPr/>
          </p:nvPicPr>
          <p:blipFill rotWithShape="1">
            <a:blip r:embed="rId3"/>
            <a:srcRect t="60555"/>
            <a:stretch/>
          </p:blipFill>
          <p:spPr>
            <a:xfrm>
              <a:off x="4676533" y="4120155"/>
              <a:ext cx="2838935" cy="1260750"/>
            </a:xfrm>
            <a:prstGeom prst="rect">
              <a:avLst/>
            </a:prstGeom>
          </p:spPr>
        </p:pic>
        <p:pic>
          <p:nvPicPr>
            <p:cNvPr id="39" name="图片 38">
              <a:extLst>
                <a:ext uri="{FF2B5EF4-FFF2-40B4-BE49-F238E27FC236}">
                  <a16:creationId xmlns:a16="http://schemas.microsoft.com/office/drawing/2014/main" id="{A662D162-B827-49AB-8AE9-78673D701560}"/>
                </a:ext>
              </a:extLst>
            </p:cNvPr>
            <p:cNvPicPr>
              <a:picLocks noChangeAspect="1"/>
            </p:cNvPicPr>
            <p:nvPr/>
          </p:nvPicPr>
          <p:blipFill rotWithShape="1">
            <a:blip r:embed="rId3"/>
            <a:srcRect t="1097" r="49287" b="62909"/>
            <a:stretch/>
          </p:blipFill>
          <p:spPr>
            <a:xfrm>
              <a:off x="4676533" y="2858110"/>
              <a:ext cx="1577747" cy="1260750"/>
            </a:xfrm>
            <a:prstGeom prst="rect">
              <a:avLst/>
            </a:prstGeom>
          </p:spPr>
        </p:pic>
        <p:pic>
          <p:nvPicPr>
            <p:cNvPr id="40" name="图片 39">
              <a:extLst>
                <a:ext uri="{FF2B5EF4-FFF2-40B4-BE49-F238E27FC236}">
                  <a16:creationId xmlns:a16="http://schemas.microsoft.com/office/drawing/2014/main" id="{5A569C18-5BF2-432F-A7F3-AF9BD58ADD4A}"/>
                </a:ext>
              </a:extLst>
            </p:cNvPr>
            <p:cNvPicPr>
              <a:picLocks noChangeAspect="1"/>
            </p:cNvPicPr>
            <p:nvPr/>
          </p:nvPicPr>
          <p:blipFill rotWithShape="1">
            <a:blip r:embed="rId3"/>
            <a:srcRect l="54269" t="1158" r="7250" b="71295"/>
            <a:stretch/>
          </p:blipFill>
          <p:spPr>
            <a:xfrm>
              <a:off x="6197600" y="2941320"/>
              <a:ext cx="1405598" cy="1132840"/>
            </a:xfrm>
            <a:prstGeom prst="rect">
              <a:avLst/>
            </a:prstGeom>
          </p:spPr>
        </p:pic>
      </p:grpSp>
      <p:sp>
        <p:nvSpPr>
          <p:cNvPr id="26" name="矩形: 圆顶角 25">
            <a:extLst>
              <a:ext uri="{FF2B5EF4-FFF2-40B4-BE49-F238E27FC236}">
                <a16:creationId xmlns:a16="http://schemas.microsoft.com/office/drawing/2014/main" id="{1DA5F78B-4702-4C73-BC89-51780B54751F}"/>
              </a:ext>
            </a:extLst>
          </p:cNvPr>
          <p:cNvSpPr/>
          <p:nvPr/>
        </p:nvSpPr>
        <p:spPr>
          <a:xfrm>
            <a:off x="4993413" y="1970913"/>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技术发展与支撑</a:t>
            </a:r>
          </a:p>
        </p:txBody>
      </p:sp>
      <p:sp>
        <p:nvSpPr>
          <p:cNvPr id="44" name="文本框 43">
            <a:extLst>
              <a:ext uri="{FF2B5EF4-FFF2-40B4-BE49-F238E27FC236}">
                <a16:creationId xmlns:a16="http://schemas.microsoft.com/office/drawing/2014/main" id="{A6D4BFAA-7C6A-499D-851D-6583A38FEBCC}"/>
              </a:ext>
            </a:extLst>
          </p:cNvPr>
          <p:cNvSpPr txBox="1"/>
          <p:nvPr/>
        </p:nvSpPr>
        <p:spPr>
          <a:xfrm>
            <a:off x="2410115" y="6120186"/>
            <a:ext cx="4244727" cy="386388"/>
          </a:xfrm>
          <a:prstGeom prst="rect">
            <a:avLst/>
          </a:prstGeom>
          <a:noFill/>
        </p:spPr>
        <p:txBody>
          <a:bodyPr wrap="square" rtlCol="0">
            <a:spAutoFit/>
          </a:bodyPr>
          <a:lstStyle/>
          <a:p>
            <a:pPr>
              <a:lnSpc>
                <a:spcPct val="130000"/>
              </a:lnSpc>
            </a:pPr>
            <a:r>
              <a:rPr lang="zh-CN" altLang="en-US" sz="1600" dirty="0">
                <a:latin typeface="思源黑体 CN Bold" panose="020B0800000000000000" pitchFamily="34" charset="-122"/>
                <a:ea typeface="思源黑体 CN Bold" panose="020B0800000000000000" pitchFamily="34" charset="-122"/>
              </a:rPr>
              <a:t>老龄化下智能养老个性化服务缺口填补研究</a:t>
            </a:r>
          </a:p>
        </p:txBody>
      </p:sp>
      <p:pic>
        <p:nvPicPr>
          <p:cNvPr id="4101" name="图片 4100">
            <a:extLst>
              <a:ext uri="{FF2B5EF4-FFF2-40B4-BE49-F238E27FC236}">
                <a16:creationId xmlns:a16="http://schemas.microsoft.com/office/drawing/2014/main" id="{88AFEDDF-B9CE-42F7-8A3A-1BEDCD907369}"/>
              </a:ext>
            </a:extLst>
          </p:cNvPr>
          <p:cNvPicPr>
            <a:picLocks noChangeAspect="1"/>
          </p:cNvPicPr>
          <p:nvPr/>
        </p:nvPicPr>
        <p:blipFill>
          <a:blip r:embed="rId4"/>
          <a:stretch>
            <a:fillRect/>
          </a:stretch>
        </p:blipFill>
        <p:spPr>
          <a:xfrm>
            <a:off x="8380283" y="2382197"/>
            <a:ext cx="3013634" cy="2475988"/>
          </a:xfrm>
          <a:prstGeom prst="rect">
            <a:avLst/>
          </a:prstGeom>
        </p:spPr>
      </p:pic>
      <p:sp>
        <p:nvSpPr>
          <p:cNvPr id="50" name="文本框 49">
            <a:extLst>
              <a:ext uri="{FF2B5EF4-FFF2-40B4-BE49-F238E27FC236}">
                <a16:creationId xmlns:a16="http://schemas.microsoft.com/office/drawing/2014/main" id="{2BBD0928-9ED7-46ED-9A28-B16521DEDEFD}"/>
              </a:ext>
            </a:extLst>
          </p:cNvPr>
          <p:cNvSpPr txBox="1"/>
          <p:nvPr/>
        </p:nvSpPr>
        <p:spPr>
          <a:xfrm>
            <a:off x="702175" y="6102104"/>
            <a:ext cx="1582872" cy="422552"/>
          </a:xfrm>
          <a:prstGeom prst="rect">
            <a:avLst/>
          </a:prstGeom>
          <a:noFill/>
        </p:spPr>
        <p:txBody>
          <a:bodyPr wrap="square" rtlCol="0">
            <a:spAutoFit/>
          </a:bodyPr>
          <a:lstStyle/>
          <a:p>
            <a:pPr algn="ctr">
              <a:lnSpc>
                <a:spcPct val="130000"/>
              </a:lnSpc>
            </a:pPr>
            <a:r>
              <a:rPr lang="zh-CN" altLang="en-US" dirty="0">
                <a:solidFill>
                  <a:schemeClr val="bg1"/>
                </a:solidFill>
                <a:latin typeface="思源黑体 CN Bold" panose="020B0800000000000000" pitchFamily="34" charset="-122"/>
                <a:ea typeface="思源黑体 CN Bold" panose="020B0800000000000000" pitchFamily="34" charset="-122"/>
              </a:rPr>
              <a:t>需求核心总结</a:t>
            </a:r>
          </a:p>
        </p:txBody>
      </p:sp>
      <p:grpSp>
        <p:nvGrpSpPr>
          <p:cNvPr id="48" name="组合 47">
            <a:extLst>
              <a:ext uri="{FF2B5EF4-FFF2-40B4-BE49-F238E27FC236}">
                <a16:creationId xmlns:a16="http://schemas.microsoft.com/office/drawing/2014/main" id="{A612F682-E0D1-49CA-96BF-7B66193F28E9}"/>
              </a:ext>
            </a:extLst>
          </p:cNvPr>
          <p:cNvGrpSpPr/>
          <p:nvPr/>
        </p:nvGrpSpPr>
        <p:grpSpPr>
          <a:xfrm>
            <a:off x="766778" y="0"/>
            <a:ext cx="11280936" cy="836294"/>
            <a:chOff x="766778" y="0"/>
            <a:chExt cx="11280936" cy="836294"/>
          </a:xfrm>
        </p:grpSpPr>
        <p:sp>
          <p:nvSpPr>
            <p:cNvPr id="49" name="文本框 48">
              <a:extLst>
                <a:ext uri="{FF2B5EF4-FFF2-40B4-BE49-F238E27FC236}">
                  <a16:creationId xmlns:a16="http://schemas.microsoft.com/office/drawing/2014/main" id="{0227C653-B763-4D21-9CBF-5EB6DFF395CC}"/>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51" name="文本框 50">
              <a:extLst>
                <a:ext uri="{FF2B5EF4-FFF2-40B4-BE49-F238E27FC236}">
                  <a16:creationId xmlns:a16="http://schemas.microsoft.com/office/drawing/2014/main" id="{565472D0-AB22-4065-A9BE-39A1CDB39144}"/>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52" name="文本框 51">
              <a:extLst>
                <a:ext uri="{FF2B5EF4-FFF2-40B4-BE49-F238E27FC236}">
                  <a16:creationId xmlns:a16="http://schemas.microsoft.com/office/drawing/2014/main" id="{172910F9-3CEA-4115-BB47-8D770D84ECCA}"/>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3" name="文本框 52">
              <a:extLst>
                <a:ext uri="{FF2B5EF4-FFF2-40B4-BE49-F238E27FC236}">
                  <a16:creationId xmlns:a16="http://schemas.microsoft.com/office/drawing/2014/main" id="{7F7953F6-C061-4E69-B872-E43745E94615}"/>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54" name="任意多边形: 形状 53">
              <a:extLst>
                <a:ext uri="{FF2B5EF4-FFF2-40B4-BE49-F238E27FC236}">
                  <a16:creationId xmlns:a16="http://schemas.microsoft.com/office/drawing/2014/main" id="{2E34448C-0CCE-4BE8-95D6-34171B159DA7}"/>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文本框 54">
              <a:extLst>
                <a:ext uri="{FF2B5EF4-FFF2-40B4-BE49-F238E27FC236}">
                  <a16:creationId xmlns:a16="http://schemas.microsoft.com/office/drawing/2014/main" id="{6A5CAA5F-4889-45A7-8B6F-2DA45C85775E}"/>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56" name="文本框 55">
              <a:extLst>
                <a:ext uri="{FF2B5EF4-FFF2-40B4-BE49-F238E27FC236}">
                  <a16:creationId xmlns:a16="http://schemas.microsoft.com/office/drawing/2014/main" id="{D65E8E88-A5F5-4A56-B377-29AC55ECA314}"/>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57" name="直接连接符 56">
              <a:extLst>
                <a:ext uri="{FF2B5EF4-FFF2-40B4-BE49-F238E27FC236}">
                  <a16:creationId xmlns:a16="http://schemas.microsoft.com/office/drawing/2014/main" id="{B0BD3BCB-EA16-4531-8EB9-E848420CEAE1}"/>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直接连接符 57">
              <a:extLst>
                <a:ext uri="{FF2B5EF4-FFF2-40B4-BE49-F238E27FC236}">
                  <a16:creationId xmlns:a16="http://schemas.microsoft.com/office/drawing/2014/main" id="{D4F7B42D-DDEF-470E-BC8C-6EDA9EE30A4F}"/>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43BC9CB-4F6A-4C01-8457-AAA30E6B3F95}"/>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6B1EA57F-03F9-4D89-A4ED-E36FE5995023}"/>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4BC6DA5D-51B2-4D77-A026-56072E8D8350}"/>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311325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6304193" y="1958342"/>
            <a:ext cx="5296495" cy="451357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223153"/>
            <a:ext cx="280076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国内外研究现状</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2029038"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国内研究现状</a:t>
            </a:r>
          </a:p>
        </p:txBody>
      </p:sp>
      <p:sp>
        <p:nvSpPr>
          <p:cNvPr id="19" name="文本框 18">
            <a:extLst>
              <a:ext uri="{FF2B5EF4-FFF2-40B4-BE49-F238E27FC236}">
                <a16:creationId xmlns:a16="http://schemas.microsoft.com/office/drawing/2014/main" id="{109A25A3-71DC-4450-9F2C-E8C0E1359FDE}"/>
              </a:ext>
            </a:extLst>
          </p:cNvPr>
          <p:cNvSpPr txBox="1"/>
          <p:nvPr/>
        </p:nvSpPr>
        <p:spPr>
          <a:xfrm>
            <a:off x="931758"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国内侧重居家社区协同，</a:t>
            </a:r>
            <a:r>
              <a:rPr lang="en-US" altLang="zh-CN" sz="1600" dirty="0">
                <a:latin typeface="思源黑体 CN Regular" panose="020B0500000000000000" pitchFamily="34" charset="-122"/>
                <a:ea typeface="思源黑体 CN Regular" panose="020B0500000000000000" pitchFamily="34" charset="-122"/>
              </a:rPr>
              <a:t>2025</a:t>
            </a:r>
            <a:r>
              <a:rPr lang="zh-CN" altLang="en-US" sz="1600" dirty="0">
                <a:latin typeface="思源黑体 CN Regular" panose="020B0500000000000000" pitchFamily="34" charset="-122"/>
                <a:ea typeface="思源黑体 CN Regular" panose="020B0500000000000000" pitchFamily="34" charset="-122"/>
              </a:rPr>
              <a:t>年居家护理覆盖率提升至</a:t>
            </a:r>
            <a:r>
              <a:rPr lang="en-US" altLang="zh-CN" sz="1600" dirty="0">
                <a:latin typeface="思源黑体 CN Regular" panose="020B0500000000000000" pitchFamily="34" charset="-122"/>
                <a:ea typeface="思源黑体 CN Regular" panose="020B0500000000000000" pitchFamily="34" charset="-122"/>
              </a:rPr>
              <a:t>52.3%</a:t>
            </a:r>
            <a:r>
              <a:rPr lang="zh-CN" altLang="en-US" sz="1600" dirty="0">
                <a:latin typeface="思源黑体 CN Regular" panose="020B0500000000000000" pitchFamily="34" charset="-122"/>
                <a:ea typeface="思源黑体 CN Regular" panose="020B0500000000000000" pitchFamily="34" charset="-122"/>
              </a:rPr>
              <a:t>。</a:t>
            </a:r>
          </a:p>
        </p:txBody>
      </p:sp>
      <p:pic>
        <p:nvPicPr>
          <p:cNvPr id="3074" name="Picture 2" descr="查看图片">
            <a:extLst>
              <a:ext uri="{FF2B5EF4-FFF2-40B4-BE49-F238E27FC236}">
                <a16:creationId xmlns:a16="http://schemas.microsoft.com/office/drawing/2014/main" id="{B5C7323D-8A9A-4B19-8F0B-594645C41DA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865" t="21477" r="3678" b="7728"/>
          <a:stretch/>
        </p:blipFill>
        <p:spPr bwMode="auto">
          <a:xfrm>
            <a:off x="1323658" y="3107771"/>
            <a:ext cx="3821643" cy="3334304"/>
          </a:xfrm>
          <a:prstGeom prst="rect">
            <a:avLst/>
          </a:prstGeom>
          <a:noFill/>
          <a:extLst>
            <a:ext uri="{909E8E84-426E-40DD-AFC4-6F175D3DCCD1}">
              <a14:hiddenFill xmlns:a14="http://schemas.microsoft.com/office/drawing/2010/main">
                <a:solidFill>
                  <a:srgbClr val="FFFFFF"/>
                </a:solidFill>
              </a14:hiddenFill>
            </a:ext>
          </a:extLst>
        </p:spPr>
      </p:pic>
      <p:pic>
        <p:nvPicPr>
          <p:cNvPr id="9" name="图片 8">
            <a:extLst>
              <a:ext uri="{FF2B5EF4-FFF2-40B4-BE49-F238E27FC236}">
                <a16:creationId xmlns:a16="http://schemas.microsoft.com/office/drawing/2014/main" id="{3D4C152A-019B-4D29-B4B8-A2F6CBD401D8}"/>
              </a:ext>
            </a:extLst>
          </p:cNvPr>
          <p:cNvPicPr>
            <a:picLocks noChangeAspect="1"/>
          </p:cNvPicPr>
          <p:nvPr/>
        </p:nvPicPr>
        <p:blipFill rotWithShape="1">
          <a:blip r:embed="rId3"/>
          <a:srcRect l="2570" r="2570" b="54667"/>
          <a:stretch/>
        </p:blipFill>
        <p:spPr>
          <a:xfrm>
            <a:off x="6388608" y="3358527"/>
            <a:ext cx="3116204" cy="1990725"/>
          </a:xfrm>
          <a:prstGeom prst="rect">
            <a:avLst/>
          </a:prstGeom>
        </p:spPr>
      </p:pic>
      <p:pic>
        <p:nvPicPr>
          <p:cNvPr id="20" name="图片 19">
            <a:extLst>
              <a:ext uri="{FF2B5EF4-FFF2-40B4-BE49-F238E27FC236}">
                <a16:creationId xmlns:a16="http://schemas.microsoft.com/office/drawing/2014/main" id="{2B6642BF-9BAB-418C-8996-1372D953197D}"/>
              </a:ext>
            </a:extLst>
          </p:cNvPr>
          <p:cNvPicPr>
            <a:picLocks noChangeAspect="1"/>
          </p:cNvPicPr>
          <p:nvPr/>
        </p:nvPicPr>
        <p:blipFill rotWithShape="1">
          <a:blip r:embed="rId3"/>
          <a:srcRect l="27678" t="54667" r="10577"/>
          <a:stretch/>
        </p:blipFill>
        <p:spPr>
          <a:xfrm>
            <a:off x="9464039" y="4260697"/>
            <a:ext cx="2028323" cy="1990725"/>
          </a:xfrm>
          <a:prstGeom prst="rect">
            <a:avLst/>
          </a:prstGeom>
        </p:spPr>
      </p:pic>
      <p:sp>
        <p:nvSpPr>
          <p:cNvPr id="21" name="矩形: 圆顶角 20">
            <a:extLst>
              <a:ext uri="{FF2B5EF4-FFF2-40B4-BE49-F238E27FC236}">
                <a16:creationId xmlns:a16="http://schemas.microsoft.com/office/drawing/2014/main" id="{3D7BF2E2-5C77-4676-9D87-EFC46B230ED4}"/>
              </a:ext>
            </a:extLst>
          </p:cNvPr>
          <p:cNvSpPr/>
          <p:nvPr/>
        </p:nvSpPr>
        <p:spPr>
          <a:xfrm>
            <a:off x="7746999" y="1955805"/>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国外研究现状</a:t>
            </a:r>
          </a:p>
        </p:txBody>
      </p:sp>
      <p:sp>
        <p:nvSpPr>
          <p:cNvPr id="22" name="文本框 21">
            <a:extLst>
              <a:ext uri="{FF2B5EF4-FFF2-40B4-BE49-F238E27FC236}">
                <a16:creationId xmlns:a16="http://schemas.microsoft.com/office/drawing/2014/main" id="{4F8D0FD3-DC66-4620-854E-35062DBDEC16}"/>
              </a:ext>
            </a:extLst>
          </p:cNvPr>
          <p:cNvSpPr txBox="1"/>
          <p:nvPr/>
        </p:nvSpPr>
        <p:spPr>
          <a:xfrm>
            <a:off x="6649719" y="2401296"/>
            <a:ext cx="4605442" cy="706475"/>
          </a:xfrm>
          <a:prstGeom prst="rect">
            <a:avLst/>
          </a:prstGeom>
          <a:noFill/>
        </p:spPr>
        <p:txBody>
          <a:bodyPr wrap="square" rtlCol="0">
            <a:spAutoFit/>
          </a:bodyPr>
          <a:lstStyle/>
          <a:p>
            <a:pPr algn="ctr">
              <a:lnSpc>
                <a:spcPct val="130000"/>
              </a:lnSpc>
            </a:pPr>
            <a:r>
              <a:rPr lang="zh-CN" altLang="en-US" sz="1600" dirty="0">
                <a:latin typeface="思源黑体 CN Regular" panose="020B0500000000000000" pitchFamily="34" charset="-122"/>
                <a:ea typeface="思源黑体 CN Regular" panose="020B0500000000000000" pitchFamily="34" charset="-122"/>
              </a:rPr>
              <a:t>国外聚焦长期护理体系完善，</a:t>
            </a:r>
            <a:r>
              <a:rPr lang="en-US" altLang="zh-CN" sz="1600" dirty="0">
                <a:latin typeface="思源黑体 CN Regular" panose="020B0500000000000000" pitchFamily="34" charset="-122"/>
                <a:ea typeface="思源黑体 CN Regular" panose="020B0500000000000000" pitchFamily="34" charset="-122"/>
              </a:rPr>
              <a:t>2024</a:t>
            </a:r>
            <a:r>
              <a:rPr lang="zh-CN" altLang="en-US" sz="1600" dirty="0">
                <a:latin typeface="思源黑体 CN Regular" panose="020B0500000000000000" pitchFamily="34" charset="-122"/>
                <a:ea typeface="思源黑体 CN Regular" panose="020B0500000000000000" pitchFamily="34" charset="-122"/>
              </a:rPr>
              <a:t>年欧美社区护理覆盖率达</a:t>
            </a:r>
            <a:r>
              <a:rPr lang="en-US" altLang="zh-CN" sz="1600" dirty="0">
                <a:latin typeface="思源黑体 CN Regular" panose="020B0500000000000000" pitchFamily="34" charset="-122"/>
                <a:ea typeface="思源黑体 CN Regular" panose="020B0500000000000000" pitchFamily="34" charset="-122"/>
              </a:rPr>
              <a:t>68.5%</a:t>
            </a:r>
            <a:r>
              <a:rPr lang="zh-CN" altLang="en-US" sz="1600" dirty="0">
                <a:latin typeface="思源黑体 CN Regular" panose="020B0500000000000000" pitchFamily="34" charset="-122"/>
                <a:ea typeface="思源黑体 CN Regular" panose="020B0500000000000000" pitchFamily="34" charset="-122"/>
              </a:rPr>
              <a:t>。</a:t>
            </a:r>
          </a:p>
        </p:txBody>
      </p:sp>
      <p:grpSp>
        <p:nvGrpSpPr>
          <p:cNvPr id="25" name="组合 24">
            <a:extLst>
              <a:ext uri="{FF2B5EF4-FFF2-40B4-BE49-F238E27FC236}">
                <a16:creationId xmlns:a16="http://schemas.microsoft.com/office/drawing/2014/main" id="{85388599-AD08-4CFF-A805-5CD482981FF5}"/>
              </a:ext>
            </a:extLst>
          </p:cNvPr>
          <p:cNvGrpSpPr/>
          <p:nvPr/>
        </p:nvGrpSpPr>
        <p:grpSpPr>
          <a:xfrm>
            <a:off x="766778" y="0"/>
            <a:ext cx="11280936" cy="836294"/>
            <a:chOff x="766778" y="0"/>
            <a:chExt cx="11280936" cy="836294"/>
          </a:xfrm>
        </p:grpSpPr>
        <p:sp>
          <p:nvSpPr>
            <p:cNvPr id="26" name="文本框 25">
              <a:extLst>
                <a:ext uri="{FF2B5EF4-FFF2-40B4-BE49-F238E27FC236}">
                  <a16:creationId xmlns:a16="http://schemas.microsoft.com/office/drawing/2014/main" id="{B9735041-648E-4FE7-93DB-DB7DB9CBAA5F}"/>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27" name="文本框 26">
              <a:extLst>
                <a:ext uri="{FF2B5EF4-FFF2-40B4-BE49-F238E27FC236}">
                  <a16:creationId xmlns:a16="http://schemas.microsoft.com/office/drawing/2014/main" id="{37BE4D01-88AE-4CB0-AA7E-65D950B11FEF}"/>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28" name="文本框 27">
              <a:extLst>
                <a:ext uri="{FF2B5EF4-FFF2-40B4-BE49-F238E27FC236}">
                  <a16:creationId xmlns:a16="http://schemas.microsoft.com/office/drawing/2014/main" id="{9D6153CC-7CD0-4462-BB7F-84115F374333}"/>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29" name="文本框 28">
              <a:extLst>
                <a:ext uri="{FF2B5EF4-FFF2-40B4-BE49-F238E27FC236}">
                  <a16:creationId xmlns:a16="http://schemas.microsoft.com/office/drawing/2014/main" id="{7657F742-A677-4B5F-9987-4769E75A5541}"/>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30" name="任意多边形: 形状 29">
              <a:extLst>
                <a:ext uri="{FF2B5EF4-FFF2-40B4-BE49-F238E27FC236}">
                  <a16:creationId xmlns:a16="http://schemas.microsoft.com/office/drawing/2014/main" id="{D5877009-7F56-4A89-8919-953D48D58172}"/>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25BCD413-1809-4035-92C6-A91D26DC21E5}"/>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2" name="文本框 31">
              <a:extLst>
                <a:ext uri="{FF2B5EF4-FFF2-40B4-BE49-F238E27FC236}">
                  <a16:creationId xmlns:a16="http://schemas.microsoft.com/office/drawing/2014/main" id="{7BFF0AE9-178A-4141-90F9-88A5C4990D89}"/>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3" name="直接连接符 32">
              <a:extLst>
                <a:ext uri="{FF2B5EF4-FFF2-40B4-BE49-F238E27FC236}">
                  <a16:creationId xmlns:a16="http://schemas.microsoft.com/office/drawing/2014/main" id="{2DA8C4DF-4897-45CA-AD8C-02BA3D1755FE}"/>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01152D8E-0ECD-46CF-8867-A65FAAABB9B1}"/>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9AA17EE2-D9EB-4CFB-8B13-844FC9E70597}"/>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CE992A99-BF73-456A-BC96-E48AB1861004}"/>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51A4F2C4-A42C-4428-A987-9896E4CD84B1}"/>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87200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a:extLst>
              <a:ext uri="{FF2B5EF4-FFF2-40B4-BE49-F238E27FC236}">
                <a16:creationId xmlns:a16="http://schemas.microsoft.com/office/drawing/2014/main" id="{32485800-E6EF-4A6C-8B9E-8B607E77291B}"/>
              </a:ext>
            </a:extLst>
          </p:cNvPr>
          <p:cNvSpPr txBox="1"/>
          <p:nvPr/>
        </p:nvSpPr>
        <p:spPr>
          <a:xfrm>
            <a:off x="462084" y="122315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研究意义</a:t>
            </a:r>
          </a:p>
        </p:txBody>
      </p:sp>
      <p:sp>
        <p:nvSpPr>
          <p:cNvPr id="17" name="矩形: 圆角 16">
            <a:extLst>
              <a:ext uri="{FF2B5EF4-FFF2-40B4-BE49-F238E27FC236}">
                <a16:creationId xmlns:a16="http://schemas.microsoft.com/office/drawing/2014/main" id="{97FD7EA7-74EA-4012-9612-9662D839B8C7}"/>
              </a:ext>
            </a:extLst>
          </p:cNvPr>
          <p:cNvSpPr/>
          <p:nvPr/>
        </p:nvSpPr>
        <p:spPr>
          <a:xfrm>
            <a:off x="586232"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3" name="矩形: 圆角 22">
            <a:extLst>
              <a:ext uri="{FF2B5EF4-FFF2-40B4-BE49-F238E27FC236}">
                <a16:creationId xmlns:a16="http://schemas.microsoft.com/office/drawing/2014/main" id="{D051C553-E518-4DFC-8668-3CA2617A20DD}"/>
              </a:ext>
            </a:extLst>
          </p:cNvPr>
          <p:cNvSpPr/>
          <p:nvPr/>
        </p:nvSpPr>
        <p:spPr>
          <a:xfrm>
            <a:off x="586232" y="1940562"/>
            <a:ext cx="2842058"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行业需求层面</a:t>
            </a:r>
          </a:p>
        </p:txBody>
      </p:sp>
      <p:sp>
        <p:nvSpPr>
          <p:cNvPr id="26" name="文本框 25">
            <a:extLst>
              <a:ext uri="{FF2B5EF4-FFF2-40B4-BE49-F238E27FC236}">
                <a16:creationId xmlns:a16="http://schemas.microsoft.com/office/drawing/2014/main" id="{246543C7-6800-4376-88E7-77B792DE9D05}"/>
              </a:ext>
            </a:extLst>
          </p:cNvPr>
          <p:cNvSpPr txBox="1"/>
          <p:nvPr/>
        </p:nvSpPr>
        <p:spPr>
          <a:xfrm>
            <a:off x="673776" y="2679607"/>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我国慢性病患者超</a:t>
            </a:r>
            <a:r>
              <a:rPr lang="en-US" altLang="zh-CN" sz="1600" dirty="0"/>
              <a:t>4</a:t>
            </a:r>
            <a:r>
              <a:rPr lang="zh-CN" altLang="en-US" sz="1600" dirty="0"/>
              <a:t>亿，传统筛查滞后，基层医疗机构缺乏高效风险评估工具，防控压力突出。</a:t>
            </a:r>
          </a:p>
        </p:txBody>
      </p:sp>
      <p:sp>
        <p:nvSpPr>
          <p:cNvPr id="27" name="文本框 26">
            <a:extLst>
              <a:ext uri="{FF2B5EF4-FFF2-40B4-BE49-F238E27FC236}">
                <a16:creationId xmlns:a16="http://schemas.microsoft.com/office/drawing/2014/main" id="{E0CF2584-546D-4C0B-B084-B4554538E10A}"/>
              </a:ext>
            </a:extLst>
          </p:cNvPr>
          <p:cNvSpPr txBox="1"/>
          <p:nvPr/>
        </p:nvSpPr>
        <p:spPr>
          <a:xfrm>
            <a:off x="673776"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sz="1600" dirty="0"/>
              <a:t>AI</a:t>
            </a:r>
            <a:r>
              <a:rPr lang="zh-CN" altLang="en-US" sz="1600" dirty="0"/>
              <a:t>医疗落地率不足</a:t>
            </a:r>
            <a:r>
              <a:rPr lang="en-US" altLang="zh-CN" sz="1600" dirty="0"/>
              <a:t>30%</a:t>
            </a:r>
            <a:r>
              <a:rPr lang="zh-CN" altLang="en-US" sz="1600" dirty="0"/>
              <a:t>，慢性病预测模型多适配三甲医院，基层场景适配性缺口显著。</a:t>
            </a:r>
          </a:p>
        </p:txBody>
      </p:sp>
      <p:sp>
        <p:nvSpPr>
          <p:cNvPr id="40" name="矩形: 圆角 39">
            <a:extLst>
              <a:ext uri="{FF2B5EF4-FFF2-40B4-BE49-F238E27FC236}">
                <a16:creationId xmlns:a16="http://schemas.microsoft.com/office/drawing/2014/main" id="{D9B6D686-A1A6-48C3-8B2F-CEB5A7BDDD5D}"/>
              </a:ext>
            </a:extLst>
          </p:cNvPr>
          <p:cNvSpPr/>
          <p:nvPr/>
        </p:nvSpPr>
        <p:spPr>
          <a:xfrm>
            <a:off x="4104642" y="1488048"/>
            <a:ext cx="3982718" cy="510626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052" name="Picture 4" descr="查看图片">
            <a:extLst>
              <a:ext uri="{FF2B5EF4-FFF2-40B4-BE49-F238E27FC236}">
                <a16:creationId xmlns:a16="http://schemas.microsoft.com/office/drawing/2014/main" id="{21B78430-EEA7-4BC6-81DF-9CF13F2996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185"/>
          <a:stretch/>
        </p:blipFill>
        <p:spPr bwMode="auto">
          <a:xfrm>
            <a:off x="4311712" y="1684819"/>
            <a:ext cx="3568580" cy="4712728"/>
          </a:xfrm>
          <a:prstGeom prst="rect">
            <a:avLst/>
          </a:prstGeom>
          <a:noFill/>
          <a:extLst>
            <a:ext uri="{909E8E84-426E-40DD-AFC4-6F175D3DCCD1}">
              <a14:hiddenFill xmlns:a14="http://schemas.microsoft.com/office/drawing/2010/main">
                <a:solidFill>
                  <a:srgbClr val="FFFFFF"/>
                </a:solidFill>
              </a14:hiddenFill>
            </a:ext>
          </a:extLst>
        </p:spPr>
      </p:pic>
      <p:sp>
        <p:nvSpPr>
          <p:cNvPr id="39" name="箭头: 右 38">
            <a:extLst>
              <a:ext uri="{FF2B5EF4-FFF2-40B4-BE49-F238E27FC236}">
                <a16:creationId xmlns:a16="http://schemas.microsoft.com/office/drawing/2014/main" id="{5D2D38D9-F4A2-46BD-A20F-6C15CC110CCE}"/>
              </a:ext>
            </a:extLst>
          </p:cNvPr>
          <p:cNvSpPr/>
          <p:nvPr/>
        </p:nvSpPr>
        <p:spPr>
          <a:xfrm>
            <a:off x="3568446"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箭头: 右 50">
            <a:extLst>
              <a:ext uri="{FF2B5EF4-FFF2-40B4-BE49-F238E27FC236}">
                <a16:creationId xmlns:a16="http://schemas.microsoft.com/office/drawing/2014/main" id="{632A9E1D-D820-4B9A-894D-3D2572366587}"/>
              </a:ext>
            </a:extLst>
          </p:cNvPr>
          <p:cNvSpPr/>
          <p:nvPr/>
        </p:nvSpPr>
        <p:spPr>
          <a:xfrm flipH="1">
            <a:off x="8232488" y="3912871"/>
            <a:ext cx="385986" cy="426720"/>
          </a:xfrm>
          <a:prstGeom prst="right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矩形: 圆角 51">
            <a:extLst>
              <a:ext uri="{FF2B5EF4-FFF2-40B4-BE49-F238E27FC236}">
                <a16:creationId xmlns:a16="http://schemas.microsoft.com/office/drawing/2014/main" id="{34DD3C68-FD56-4FE8-BFCD-96BCB0503922}"/>
              </a:ext>
            </a:extLst>
          </p:cNvPr>
          <p:cNvSpPr/>
          <p:nvPr/>
        </p:nvSpPr>
        <p:spPr>
          <a:xfrm>
            <a:off x="8758630" y="2410460"/>
            <a:ext cx="2842058" cy="4043680"/>
          </a:xfrm>
          <a:prstGeom prst="roundRect">
            <a:avLst>
              <a:gd name="adj" fmla="val 4721"/>
            </a:avLst>
          </a:prstGeom>
          <a:solidFill>
            <a:schemeClr val="bg2"/>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矩形: 圆角 52">
            <a:extLst>
              <a:ext uri="{FF2B5EF4-FFF2-40B4-BE49-F238E27FC236}">
                <a16:creationId xmlns:a16="http://schemas.microsoft.com/office/drawing/2014/main" id="{E38EB829-AF56-4842-9B61-6581E29EC214}"/>
              </a:ext>
            </a:extLst>
          </p:cNvPr>
          <p:cNvSpPr/>
          <p:nvPr/>
        </p:nvSpPr>
        <p:spPr>
          <a:xfrm>
            <a:off x="8758628" y="1940562"/>
            <a:ext cx="2842060" cy="37604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学术研究层面</a:t>
            </a:r>
          </a:p>
        </p:txBody>
      </p:sp>
      <p:sp>
        <p:nvSpPr>
          <p:cNvPr id="54" name="文本框 53">
            <a:extLst>
              <a:ext uri="{FF2B5EF4-FFF2-40B4-BE49-F238E27FC236}">
                <a16:creationId xmlns:a16="http://schemas.microsoft.com/office/drawing/2014/main" id="{8C91FBA5-6E81-4675-B836-F21671ADCAA7}"/>
              </a:ext>
            </a:extLst>
          </p:cNvPr>
          <p:cNvSpPr txBox="1"/>
          <p:nvPr/>
        </p:nvSpPr>
        <p:spPr>
          <a:xfrm>
            <a:off x="8846174" y="2679607"/>
            <a:ext cx="2666970" cy="89114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现有预测模型多聚焦单一病种，缺乏多慢性病共病风险耦合分析，泛化能力不足。</a:t>
            </a:r>
          </a:p>
        </p:txBody>
      </p:sp>
      <p:sp>
        <p:nvSpPr>
          <p:cNvPr id="55" name="文本框 54">
            <a:extLst>
              <a:ext uri="{FF2B5EF4-FFF2-40B4-BE49-F238E27FC236}">
                <a16:creationId xmlns:a16="http://schemas.microsoft.com/office/drawing/2014/main" id="{3EBF97E2-4F2D-48A2-AAAC-AD800B0022BC}"/>
              </a:ext>
            </a:extLst>
          </p:cNvPr>
          <p:cNvSpPr txBox="1"/>
          <p:nvPr/>
        </p:nvSpPr>
        <p:spPr>
          <a:xfrm>
            <a:off x="8846174" y="4373088"/>
            <a:ext cx="2666970" cy="116198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zh-CN" altLang="en-US" sz="1600" dirty="0"/>
              <a:t>多模态数据融合（临床</a:t>
            </a:r>
            <a:r>
              <a:rPr lang="en-US" altLang="zh-CN" sz="1600" dirty="0"/>
              <a:t>+</a:t>
            </a:r>
            <a:r>
              <a:rPr lang="zh-CN" altLang="en-US" sz="1600" dirty="0"/>
              <a:t>行为数据）在慢病预测中的应用仍处探索期，技术体系待完善。</a:t>
            </a:r>
          </a:p>
        </p:txBody>
      </p:sp>
      <p:cxnSp>
        <p:nvCxnSpPr>
          <p:cNvPr id="62" name="直接连接符 61">
            <a:extLst>
              <a:ext uri="{FF2B5EF4-FFF2-40B4-BE49-F238E27FC236}">
                <a16:creationId xmlns:a16="http://schemas.microsoft.com/office/drawing/2014/main" id="{C38DD591-C403-4D88-BDC2-92E25A602719}"/>
              </a:ext>
            </a:extLst>
          </p:cNvPr>
          <p:cNvCxnSpPr/>
          <p:nvPr/>
        </p:nvCxnSpPr>
        <p:spPr>
          <a:xfrm>
            <a:off x="798221"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F09DBD2B-00D6-40EF-9F18-61C17B623178}"/>
              </a:ext>
            </a:extLst>
          </p:cNvPr>
          <p:cNvCxnSpPr/>
          <p:nvPr/>
        </p:nvCxnSpPr>
        <p:spPr>
          <a:xfrm>
            <a:off x="8970618" y="4118611"/>
            <a:ext cx="241808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3587D73B-EE8A-418D-BE4F-43D03682A155}"/>
              </a:ext>
            </a:extLst>
          </p:cNvPr>
          <p:cNvGrpSpPr/>
          <p:nvPr/>
        </p:nvGrpSpPr>
        <p:grpSpPr>
          <a:xfrm>
            <a:off x="766778" y="0"/>
            <a:ext cx="11280936" cy="836294"/>
            <a:chOff x="766778" y="0"/>
            <a:chExt cx="11280936" cy="836294"/>
          </a:xfrm>
        </p:grpSpPr>
        <p:sp>
          <p:nvSpPr>
            <p:cNvPr id="31" name="文本框 30">
              <a:extLst>
                <a:ext uri="{FF2B5EF4-FFF2-40B4-BE49-F238E27FC236}">
                  <a16:creationId xmlns:a16="http://schemas.microsoft.com/office/drawing/2014/main" id="{3462351A-5C9A-4454-A628-6C418F1799A0}"/>
                </a:ext>
              </a:extLst>
            </p:cNvPr>
            <p:cNvSpPr txBox="1"/>
            <p:nvPr/>
          </p:nvSpPr>
          <p:spPr>
            <a:xfrm>
              <a:off x="7272525" y="263961"/>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32" name="文本框 31">
              <a:extLst>
                <a:ext uri="{FF2B5EF4-FFF2-40B4-BE49-F238E27FC236}">
                  <a16:creationId xmlns:a16="http://schemas.microsoft.com/office/drawing/2014/main" id="{3ED21982-04C5-4614-9AFB-04EE4DCD0278}"/>
                </a:ext>
              </a:extLst>
            </p:cNvPr>
            <p:cNvSpPr txBox="1"/>
            <p:nvPr/>
          </p:nvSpPr>
          <p:spPr>
            <a:xfrm>
              <a:off x="5209025" y="263961"/>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33" name="文本框 32">
              <a:extLst>
                <a:ext uri="{FF2B5EF4-FFF2-40B4-BE49-F238E27FC236}">
                  <a16:creationId xmlns:a16="http://schemas.microsoft.com/office/drawing/2014/main" id="{B1503EB7-98A7-4F9A-8AB1-8BC8CE0F8B01}"/>
                </a:ext>
              </a:extLst>
            </p:cNvPr>
            <p:cNvSpPr txBox="1"/>
            <p:nvPr/>
          </p:nvSpPr>
          <p:spPr>
            <a:xfrm>
              <a:off x="9325073" y="263961"/>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34" name="文本框 33">
              <a:extLst>
                <a:ext uri="{FF2B5EF4-FFF2-40B4-BE49-F238E27FC236}">
                  <a16:creationId xmlns:a16="http://schemas.microsoft.com/office/drawing/2014/main" id="{DE1CBDB1-FD58-4E03-9808-75EB1E11C34E}"/>
                </a:ext>
              </a:extLst>
            </p:cNvPr>
            <p:cNvSpPr txBox="1"/>
            <p:nvPr/>
          </p:nvSpPr>
          <p:spPr>
            <a:xfrm>
              <a:off x="3153565" y="263961"/>
              <a:ext cx="181903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研究目标和内容</a:t>
              </a:r>
            </a:p>
          </p:txBody>
        </p:sp>
        <p:sp>
          <p:nvSpPr>
            <p:cNvPr id="35" name="任意多边形: 形状 34">
              <a:extLst>
                <a:ext uri="{FF2B5EF4-FFF2-40B4-BE49-F238E27FC236}">
                  <a16:creationId xmlns:a16="http://schemas.microsoft.com/office/drawing/2014/main" id="{C58B8BE0-8D4B-4B8B-BA19-EDFEFB2998F2}"/>
                </a:ext>
              </a:extLst>
            </p:cNvPr>
            <p:cNvSpPr/>
            <p:nvPr/>
          </p:nvSpPr>
          <p:spPr>
            <a:xfrm flipH="1" flipV="1">
              <a:off x="766778" y="0"/>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文本框 35">
              <a:extLst>
                <a:ext uri="{FF2B5EF4-FFF2-40B4-BE49-F238E27FC236}">
                  <a16:creationId xmlns:a16="http://schemas.microsoft.com/office/drawing/2014/main" id="{1BDE5F1D-1D72-40BA-95BD-E300C16C4692}"/>
                </a:ext>
              </a:extLst>
            </p:cNvPr>
            <p:cNvSpPr txBox="1"/>
            <p:nvPr/>
          </p:nvSpPr>
          <p:spPr>
            <a:xfrm>
              <a:off x="1090993" y="263961"/>
              <a:ext cx="182614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研究背景及现状</a:t>
              </a:r>
            </a:p>
          </p:txBody>
        </p:sp>
        <p:sp>
          <p:nvSpPr>
            <p:cNvPr id="37" name="文本框 36">
              <a:extLst>
                <a:ext uri="{FF2B5EF4-FFF2-40B4-BE49-F238E27FC236}">
                  <a16:creationId xmlns:a16="http://schemas.microsoft.com/office/drawing/2014/main" id="{A24B38E4-CA20-4256-900C-15B6415F3409}"/>
                </a:ext>
              </a:extLst>
            </p:cNvPr>
            <p:cNvSpPr txBox="1"/>
            <p:nvPr/>
          </p:nvSpPr>
          <p:spPr>
            <a:xfrm>
              <a:off x="10893226" y="263961"/>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8" name="直接连接符 37">
              <a:extLst>
                <a:ext uri="{FF2B5EF4-FFF2-40B4-BE49-F238E27FC236}">
                  <a16:creationId xmlns:a16="http://schemas.microsoft.com/office/drawing/2014/main" id="{4817C73C-330C-4CD5-B04F-A31C8EEE8380}"/>
                </a:ext>
              </a:extLst>
            </p:cNvPr>
            <p:cNvCxnSpPr/>
            <p:nvPr/>
          </p:nvCxnSpPr>
          <p:spPr>
            <a:xfrm>
              <a:off x="71543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8C6C26B5-51BF-4452-A276-4FFE242F01A8}"/>
                </a:ext>
              </a:extLst>
            </p:cNvPr>
            <p:cNvCxnSpPr/>
            <p:nvPr/>
          </p:nvCxnSpPr>
          <p:spPr>
            <a:xfrm>
              <a:off x="509081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967E02EC-DE99-49E5-9252-5B5E1891A2D9}"/>
                </a:ext>
              </a:extLst>
            </p:cNvPr>
            <p:cNvCxnSpPr/>
            <p:nvPr/>
          </p:nvCxnSpPr>
          <p:spPr>
            <a:xfrm>
              <a:off x="9206861"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AC3B8D41-1B73-4EEB-97AB-60D8BAAC4CB0}"/>
                </a:ext>
              </a:extLst>
            </p:cNvPr>
            <p:cNvCxnSpPr/>
            <p:nvPr/>
          </p:nvCxnSpPr>
          <p:spPr>
            <a:xfrm>
              <a:off x="10775015"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721786EC-6187-41ED-AF5D-92A99BF0789D}"/>
                </a:ext>
              </a:extLst>
            </p:cNvPr>
            <p:cNvCxnSpPr/>
            <p:nvPr/>
          </p:nvCxnSpPr>
          <p:spPr>
            <a:xfrm>
              <a:off x="3035353" y="270959"/>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376342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圆角 42">
            <a:extLst>
              <a:ext uri="{FF2B5EF4-FFF2-40B4-BE49-F238E27FC236}">
                <a16:creationId xmlns:a16="http://schemas.microsoft.com/office/drawing/2014/main" id="{C7BEF58F-2A83-4042-ABAD-BE236E92725C}"/>
              </a:ext>
            </a:extLst>
          </p:cNvPr>
          <p:cNvSpPr/>
          <p:nvPr/>
        </p:nvSpPr>
        <p:spPr>
          <a:xfrm>
            <a:off x="2491738" y="1215534"/>
            <a:ext cx="9108949" cy="1111992"/>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FA50774F-B53F-49A1-A425-864A038AC9F2}"/>
              </a:ext>
            </a:extLst>
          </p:cNvPr>
          <p:cNvSpPr txBox="1"/>
          <p:nvPr/>
        </p:nvSpPr>
        <p:spPr>
          <a:xfrm>
            <a:off x="462084" y="1540698"/>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研究目标</a:t>
            </a:r>
          </a:p>
        </p:txBody>
      </p:sp>
      <p:sp>
        <p:nvSpPr>
          <p:cNvPr id="14" name="文本框 13">
            <a:extLst>
              <a:ext uri="{FF2B5EF4-FFF2-40B4-BE49-F238E27FC236}">
                <a16:creationId xmlns:a16="http://schemas.microsoft.com/office/drawing/2014/main" id="{F321879E-185E-47EC-92F3-C3352A3EA9D1}"/>
              </a:ext>
            </a:extLst>
          </p:cNvPr>
          <p:cNvSpPr txBox="1"/>
          <p:nvPr/>
        </p:nvSpPr>
        <p:spPr>
          <a:xfrm>
            <a:off x="2746542" y="1341508"/>
            <a:ext cx="8787089" cy="860044"/>
          </a:xfrm>
          <a:prstGeom prst="rect">
            <a:avLst/>
          </a:prstGeom>
          <a:noFill/>
        </p:spPr>
        <p:txBody>
          <a:bodyPr wrap="square" rtlCol="0">
            <a:spAutoFit/>
          </a:bodyPr>
          <a:lstStyle/>
          <a:p>
            <a:pPr>
              <a:lnSpc>
                <a:spcPct val="130000"/>
              </a:lnSpc>
            </a:pPr>
            <a:r>
              <a:rPr lang="zh-CN" altLang="en-US" sz="2000" dirty="0">
                <a:latin typeface="思源黑体 CN Regular" panose="020B0500000000000000" pitchFamily="34" charset="-122"/>
                <a:ea typeface="思源黑体 CN Regular" panose="020B0500000000000000" pitchFamily="34" charset="-122"/>
              </a:rPr>
              <a:t>聚焦基层慢病防控，构建多模态共病预测模型（准确率≥</a:t>
            </a:r>
            <a:r>
              <a:rPr lang="en-US" altLang="zh-CN" sz="2000" dirty="0">
                <a:latin typeface="思源黑体 CN Regular" panose="020B0500000000000000" pitchFamily="34" charset="-122"/>
                <a:ea typeface="思源黑体 CN Regular" panose="020B0500000000000000" pitchFamily="34" charset="-122"/>
              </a:rPr>
              <a:t>85%</a:t>
            </a:r>
            <a:r>
              <a:rPr lang="zh-CN" altLang="en-US" sz="2000" dirty="0">
                <a:latin typeface="思源黑体 CN Regular" panose="020B0500000000000000" pitchFamily="34" charset="-122"/>
                <a:ea typeface="思源黑体 CN Regular" panose="020B0500000000000000" pitchFamily="34" charset="-122"/>
              </a:rPr>
              <a:t>），适配基层场景，支撑医疗智能化升级。</a:t>
            </a:r>
          </a:p>
        </p:txBody>
      </p:sp>
      <p:sp>
        <p:nvSpPr>
          <p:cNvPr id="33" name="文本框 32">
            <a:extLst>
              <a:ext uri="{FF2B5EF4-FFF2-40B4-BE49-F238E27FC236}">
                <a16:creationId xmlns:a16="http://schemas.microsoft.com/office/drawing/2014/main" id="{BC12DBEE-9AD2-4646-B218-49751FCF7846}"/>
              </a:ext>
            </a:extLst>
          </p:cNvPr>
          <p:cNvSpPr txBox="1"/>
          <p:nvPr/>
        </p:nvSpPr>
        <p:spPr>
          <a:xfrm>
            <a:off x="462084" y="3833385"/>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a:t>
            </a:r>
          </a:p>
        </p:txBody>
      </p:sp>
      <p:sp>
        <p:nvSpPr>
          <p:cNvPr id="32" name="矩形: 圆角 31">
            <a:extLst>
              <a:ext uri="{FF2B5EF4-FFF2-40B4-BE49-F238E27FC236}">
                <a16:creationId xmlns:a16="http://schemas.microsoft.com/office/drawing/2014/main" id="{017FB000-F826-4D16-A24C-36C0A331C442}"/>
              </a:ext>
            </a:extLst>
          </p:cNvPr>
          <p:cNvSpPr/>
          <p:nvPr/>
        </p:nvSpPr>
        <p:spPr>
          <a:xfrm>
            <a:off x="2491739"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矩形: 圆角 33">
            <a:extLst>
              <a:ext uri="{FF2B5EF4-FFF2-40B4-BE49-F238E27FC236}">
                <a16:creationId xmlns:a16="http://schemas.microsoft.com/office/drawing/2014/main" id="{4F06A20E-30D4-4340-8A7B-63DAAB411F88}"/>
              </a:ext>
            </a:extLst>
          </p:cNvPr>
          <p:cNvSpPr/>
          <p:nvPr/>
        </p:nvSpPr>
        <p:spPr>
          <a:xfrm>
            <a:off x="5630335"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8" name="矩形: 圆角 37">
            <a:extLst>
              <a:ext uri="{FF2B5EF4-FFF2-40B4-BE49-F238E27FC236}">
                <a16:creationId xmlns:a16="http://schemas.microsoft.com/office/drawing/2014/main" id="{33B03D95-2A98-4D16-925B-4EE9BAD22EEA}"/>
              </a:ext>
            </a:extLst>
          </p:cNvPr>
          <p:cNvSpPr/>
          <p:nvPr/>
        </p:nvSpPr>
        <p:spPr>
          <a:xfrm>
            <a:off x="8768931" y="2527907"/>
            <a:ext cx="2831756" cy="307262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6" name="矩形: 圆顶角 35">
            <a:extLst>
              <a:ext uri="{FF2B5EF4-FFF2-40B4-BE49-F238E27FC236}">
                <a16:creationId xmlns:a16="http://schemas.microsoft.com/office/drawing/2014/main" id="{8487AA3B-2DBA-4B44-B88E-621EF3284E64}"/>
              </a:ext>
            </a:extLst>
          </p:cNvPr>
          <p:cNvSpPr/>
          <p:nvPr/>
        </p:nvSpPr>
        <p:spPr>
          <a:xfrm>
            <a:off x="2805030"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研究内容一</a:t>
            </a:r>
          </a:p>
        </p:txBody>
      </p:sp>
      <p:sp>
        <p:nvSpPr>
          <p:cNvPr id="41" name="矩形: 圆顶角 40">
            <a:extLst>
              <a:ext uri="{FF2B5EF4-FFF2-40B4-BE49-F238E27FC236}">
                <a16:creationId xmlns:a16="http://schemas.microsoft.com/office/drawing/2014/main" id="{B74D0B9B-BE7F-45F0-A2D9-25CA83654A59}"/>
              </a:ext>
            </a:extLst>
          </p:cNvPr>
          <p:cNvSpPr/>
          <p:nvPr/>
        </p:nvSpPr>
        <p:spPr>
          <a:xfrm>
            <a:off x="5943626"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研究内容二</a:t>
            </a:r>
          </a:p>
        </p:txBody>
      </p:sp>
      <p:sp>
        <p:nvSpPr>
          <p:cNvPr id="47" name="矩形: 圆顶角 46">
            <a:extLst>
              <a:ext uri="{FF2B5EF4-FFF2-40B4-BE49-F238E27FC236}">
                <a16:creationId xmlns:a16="http://schemas.microsoft.com/office/drawing/2014/main" id="{19ECDA69-0BF0-416A-9BC2-5BEA4E1D4FDB}"/>
              </a:ext>
            </a:extLst>
          </p:cNvPr>
          <p:cNvSpPr/>
          <p:nvPr/>
        </p:nvSpPr>
        <p:spPr>
          <a:xfrm>
            <a:off x="9082222" y="2523842"/>
            <a:ext cx="220517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研究内容三</a:t>
            </a:r>
          </a:p>
        </p:txBody>
      </p:sp>
      <p:sp>
        <p:nvSpPr>
          <p:cNvPr id="48" name="矩形: 圆角 47">
            <a:extLst>
              <a:ext uri="{FF2B5EF4-FFF2-40B4-BE49-F238E27FC236}">
                <a16:creationId xmlns:a16="http://schemas.microsoft.com/office/drawing/2014/main" id="{937B5271-3FEF-40F3-8D33-35A77A090AEA}"/>
              </a:ext>
            </a:extLst>
          </p:cNvPr>
          <p:cNvSpPr/>
          <p:nvPr/>
        </p:nvSpPr>
        <p:spPr>
          <a:xfrm>
            <a:off x="591312" y="5805753"/>
            <a:ext cx="11009376" cy="796328"/>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圆角 48">
            <a:extLst>
              <a:ext uri="{FF2B5EF4-FFF2-40B4-BE49-F238E27FC236}">
                <a16:creationId xmlns:a16="http://schemas.microsoft.com/office/drawing/2014/main" id="{80FFF5DE-434F-4A5C-A85E-CA7FEC649378}"/>
              </a:ext>
            </a:extLst>
          </p:cNvPr>
          <p:cNvSpPr/>
          <p:nvPr/>
        </p:nvSpPr>
        <p:spPr>
          <a:xfrm>
            <a:off x="650127" y="5861169"/>
            <a:ext cx="792339" cy="685497"/>
          </a:xfrm>
          <a:prstGeom prst="roundRect">
            <a:avLst>
              <a:gd name="adj" fmla="val 1160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0DF85F14-E757-4DF7-91D2-CD1AC615066B}"/>
              </a:ext>
            </a:extLst>
          </p:cNvPr>
          <p:cNvSpPr txBox="1"/>
          <p:nvPr/>
        </p:nvSpPr>
        <p:spPr>
          <a:xfrm>
            <a:off x="1608378" y="6010980"/>
            <a:ext cx="4533341"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解决慢病预测多模态数据融合学科难题？</a:t>
            </a:r>
          </a:p>
        </p:txBody>
      </p:sp>
      <p:sp>
        <p:nvSpPr>
          <p:cNvPr id="51" name="文本框 50">
            <a:extLst>
              <a:ext uri="{FF2B5EF4-FFF2-40B4-BE49-F238E27FC236}">
                <a16:creationId xmlns:a16="http://schemas.microsoft.com/office/drawing/2014/main" id="{BCE423C8-3EE7-4AB5-80EB-3E3AAFDFED1B}"/>
              </a:ext>
            </a:extLst>
          </p:cNvPr>
          <p:cNvSpPr txBox="1"/>
          <p:nvPr/>
        </p:nvSpPr>
        <p:spPr>
          <a:xfrm>
            <a:off x="616690" y="5880752"/>
            <a:ext cx="859213" cy="646331"/>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学科问题</a:t>
            </a:r>
          </a:p>
        </p:txBody>
      </p:sp>
      <p:sp>
        <p:nvSpPr>
          <p:cNvPr id="54" name="文本框 53">
            <a:extLst>
              <a:ext uri="{FF2B5EF4-FFF2-40B4-BE49-F238E27FC236}">
                <a16:creationId xmlns:a16="http://schemas.microsoft.com/office/drawing/2014/main" id="{86F35717-8495-48AB-A5D9-B2A14D2F4AB6}"/>
              </a:ext>
            </a:extLst>
          </p:cNvPr>
          <p:cNvSpPr txBox="1"/>
          <p:nvPr/>
        </p:nvSpPr>
        <p:spPr>
          <a:xfrm>
            <a:off x="2588374"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聚焦基层慢病防控</a:t>
            </a:r>
          </a:p>
        </p:txBody>
      </p:sp>
      <p:sp>
        <p:nvSpPr>
          <p:cNvPr id="55" name="矩形: 圆角 54">
            <a:extLst>
              <a:ext uri="{FF2B5EF4-FFF2-40B4-BE49-F238E27FC236}">
                <a16:creationId xmlns:a16="http://schemas.microsoft.com/office/drawing/2014/main" id="{CBEB3393-8E04-436F-BAFC-272C5143CFDA}"/>
              </a:ext>
            </a:extLst>
          </p:cNvPr>
          <p:cNvSpPr/>
          <p:nvPr/>
        </p:nvSpPr>
        <p:spPr>
          <a:xfrm>
            <a:off x="2588374"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DAAD2115-1914-4072-861B-DDFBB463BDE9}"/>
              </a:ext>
            </a:extLst>
          </p:cNvPr>
          <p:cNvSpPr txBox="1"/>
          <p:nvPr/>
        </p:nvSpPr>
        <p:spPr>
          <a:xfrm>
            <a:off x="2696702"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梳理基层慢病临床与行为数据；</a:t>
            </a:r>
          </a:p>
        </p:txBody>
      </p:sp>
      <p:sp>
        <p:nvSpPr>
          <p:cNvPr id="53" name="文本框 52">
            <a:extLst>
              <a:ext uri="{FF2B5EF4-FFF2-40B4-BE49-F238E27FC236}">
                <a16:creationId xmlns:a16="http://schemas.microsoft.com/office/drawing/2014/main" id="{05F15F6D-33C8-49C0-A939-20FFEB32CFA1}"/>
              </a:ext>
            </a:extLst>
          </p:cNvPr>
          <p:cNvSpPr txBox="1"/>
          <p:nvPr/>
        </p:nvSpPr>
        <p:spPr>
          <a:xfrm>
            <a:off x="2696702"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构建标准化多模态数据集。</a:t>
            </a:r>
          </a:p>
        </p:txBody>
      </p:sp>
      <p:sp>
        <p:nvSpPr>
          <p:cNvPr id="57" name="文本框 56">
            <a:extLst>
              <a:ext uri="{FF2B5EF4-FFF2-40B4-BE49-F238E27FC236}">
                <a16:creationId xmlns:a16="http://schemas.microsoft.com/office/drawing/2014/main" id="{F0F0BF2C-D024-471E-ADFD-239A7805A0E3}"/>
              </a:ext>
            </a:extLst>
          </p:cNvPr>
          <p:cNvSpPr txBox="1"/>
          <p:nvPr/>
        </p:nvSpPr>
        <p:spPr>
          <a:xfrm>
            <a:off x="6911340" y="6010980"/>
            <a:ext cx="4290060" cy="459228"/>
          </a:xfrm>
          <a:prstGeom prst="rect">
            <a:avLst/>
          </a:prstGeom>
          <a:noFill/>
        </p:spPr>
        <p:txBody>
          <a:bodyPr wrap="square" rtlCol="0">
            <a:spAutoFit/>
          </a:bodyPr>
          <a:lstStyle/>
          <a:p>
            <a:pPr>
              <a:lnSpc>
                <a:spcPct val="130000"/>
              </a:lnSpc>
            </a:pPr>
            <a:r>
              <a:rPr lang="zh-CN" altLang="en-US" sz="2000" dirty="0">
                <a:solidFill>
                  <a:schemeClr val="accent1"/>
                </a:solidFill>
                <a:latin typeface="思源黑体 CN Bold" panose="020B0800000000000000" pitchFamily="34" charset="-122"/>
                <a:ea typeface="思源黑体 CN Bold" panose="020B0800000000000000" pitchFamily="34" charset="-122"/>
              </a:rPr>
              <a:t>填补基层适配型预测模型的学科空白</a:t>
            </a:r>
            <a:r>
              <a:rPr lang="en-US" altLang="zh-CN" sz="2000" dirty="0">
                <a:solidFill>
                  <a:schemeClr val="accent1"/>
                </a:solidFill>
                <a:latin typeface="思源黑体 CN Bold" panose="020B0800000000000000" pitchFamily="34" charset="-122"/>
                <a:ea typeface="思源黑体 CN Bold" panose="020B0800000000000000" pitchFamily="34" charset="-122"/>
              </a:rPr>
              <a:t>?</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9" name="箭头: V 形 8">
            <a:extLst>
              <a:ext uri="{FF2B5EF4-FFF2-40B4-BE49-F238E27FC236}">
                <a16:creationId xmlns:a16="http://schemas.microsoft.com/office/drawing/2014/main" id="{E46ADBD0-65CA-479D-AED3-9C0F2610F190}"/>
              </a:ext>
            </a:extLst>
          </p:cNvPr>
          <p:cNvSpPr/>
          <p:nvPr/>
        </p:nvSpPr>
        <p:spPr>
          <a:xfrm>
            <a:off x="6146730" y="5800908"/>
            <a:ext cx="583990" cy="806018"/>
          </a:xfrm>
          <a:prstGeom prst="chevron">
            <a:avLst>
              <a:gd name="adj" fmla="val 9293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文本框 60">
            <a:extLst>
              <a:ext uri="{FF2B5EF4-FFF2-40B4-BE49-F238E27FC236}">
                <a16:creationId xmlns:a16="http://schemas.microsoft.com/office/drawing/2014/main" id="{C9E5CF8C-785A-4CB5-9B43-6A603568F683}"/>
              </a:ext>
            </a:extLst>
          </p:cNvPr>
          <p:cNvSpPr txBox="1"/>
          <p:nvPr/>
        </p:nvSpPr>
        <p:spPr>
          <a:xfrm>
            <a:off x="5630337" y="3012036"/>
            <a:ext cx="2831754"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构建共病预测模型</a:t>
            </a:r>
          </a:p>
        </p:txBody>
      </p:sp>
      <p:sp>
        <p:nvSpPr>
          <p:cNvPr id="62" name="矩形: 圆角 61">
            <a:extLst>
              <a:ext uri="{FF2B5EF4-FFF2-40B4-BE49-F238E27FC236}">
                <a16:creationId xmlns:a16="http://schemas.microsoft.com/office/drawing/2014/main" id="{8D2A121A-A102-4149-81F2-FB6392D3B3DB}"/>
              </a:ext>
            </a:extLst>
          </p:cNvPr>
          <p:cNvSpPr/>
          <p:nvPr/>
        </p:nvSpPr>
        <p:spPr>
          <a:xfrm>
            <a:off x="5726970"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文本框 62">
            <a:extLst>
              <a:ext uri="{FF2B5EF4-FFF2-40B4-BE49-F238E27FC236}">
                <a16:creationId xmlns:a16="http://schemas.microsoft.com/office/drawing/2014/main" id="{73F1F282-C17C-423E-96D7-F3A3BDE7A5BA}"/>
              </a:ext>
            </a:extLst>
          </p:cNvPr>
          <p:cNvSpPr txBox="1"/>
          <p:nvPr/>
        </p:nvSpPr>
        <p:spPr>
          <a:xfrm>
            <a:off x="5835298"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优化</a:t>
            </a:r>
            <a:r>
              <a:rPr lang="en-US" altLang="zh-CN" dirty="0">
                <a:latin typeface="思源黑体 CN Regular" panose="020B0500000000000000" pitchFamily="34" charset="-122"/>
                <a:ea typeface="思源黑体 CN Regular" panose="020B0500000000000000" pitchFamily="34" charset="-122"/>
              </a:rPr>
              <a:t>Transformer</a:t>
            </a:r>
            <a:r>
              <a:rPr lang="zh-CN" altLang="en-US" dirty="0">
                <a:latin typeface="思源黑体 CN Regular" panose="020B0500000000000000" pitchFamily="34" charset="-122"/>
                <a:ea typeface="思源黑体 CN Regular" panose="020B0500000000000000" pitchFamily="34" charset="-122"/>
              </a:rPr>
              <a:t>模型核心结构；</a:t>
            </a:r>
          </a:p>
        </p:txBody>
      </p:sp>
      <p:sp>
        <p:nvSpPr>
          <p:cNvPr id="64" name="文本框 63">
            <a:extLst>
              <a:ext uri="{FF2B5EF4-FFF2-40B4-BE49-F238E27FC236}">
                <a16:creationId xmlns:a16="http://schemas.microsoft.com/office/drawing/2014/main" id="{B1483621-3C66-4A75-AF22-2DB76CE3E876}"/>
              </a:ext>
            </a:extLst>
          </p:cNvPr>
          <p:cNvSpPr txBox="1"/>
          <p:nvPr/>
        </p:nvSpPr>
        <p:spPr>
          <a:xfrm>
            <a:off x="5835298"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融入注意力机制提升精度。</a:t>
            </a:r>
          </a:p>
        </p:txBody>
      </p:sp>
      <p:sp>
        <p:nvSpPr>
          <p:cNvPr id="66" name="文本框 65">
            <a:extLst>
              <a:ext uri="{FF2B5EF4-FFF2-40B4-BE49-F238E27FC236}">
                <a16:creationId xmlns:a16="http://schemas.microsoft.com/office/drawing/2014/main" id="{767BA80B-C9F6-4220-966E-C329631355B1}"/>
              </a:ext>
            </a:extLst>
          </p:cNvPr>
          <p:cNvSpPr txBox="1"/>
          <p:nvPr/>
        </p:nvSpPr>
        <p:spPr>
          <a:xfrm>
            <a:off x="8865566" y="3012036"/>
            <a:ext cx="2638487" cy="436145"/>
          </a:xfrm>
          <a:prstGeom prst="rect">
            <a:avLst/>
          </a:prstGeom>
          <a:noFill/>
        </p:spPr>
        <p:txBody>
          <a:bodyPr wrap="square" rtlCol="0">
            <a:spAutoFit/>
          </a:bodyPr>
          <a:lstStyle/>
          <a:p>
            <a:pPr algn="ctr">
              <a:lnSpc>
                <a:spcPct val="120000"/>
              </a:lnSpc>
            </a:pPr>
            <a:r>
              <a:rPr lang="zh-CN" altLang="en-US" sz="2000" dirty="0">
                <a:latin typeface="思源黑体 CN Bold" panose="020B0800000000000000" pitchFamily="34" charset="-122"/>
                <a:ea typeface="思源黑体 CN Bold" panose="020B0800000000000000" pitchFamily="34" charset="-122"/>
              </a:rPr>
              <a:t>医疗智能化升级</a:t>
            </a:r>
          </a:p>
        </p:txBody>
      </p:sp>
      <p:sp>
        <p:nvSpPr>
          <p:cNvPr id="67" name="矩形: 圆角 66">
            <a:extLst>
              <a:ext uri="{FF2B5EF4-FFF2-40B4-BE49-F238E27FC236}">
                <a16:creationId xmlns:a16="http://schemas.microsoft.com/office/drawing/2014/main" id="{556704B3-6138-4CA7-ABD2-43EFF528897A}"/>
              </a:ext>
            </a:extLst>
          </p:cNvPr>
          <p:cNvSpPr/>
          <p:nvPr/>
        </p:nvSpPr>
        <p:spPr>
          <a:xfrm>
            <a:off x="8865566" y="3556438"/>
            <a:ext cx="2638487" cy="1951837"/>
          </a:xfrm>
          <a:prstGeom prst="roundRect">
            <a:avLst>
              <a:gd name="adj" fmla="val 623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文本框 67">
            <a:extLst>
              <a:ext uri="{FF2B5EF4-FFF2-40B4-BE49-F238E27FC236}">
                <a16:creationId xmlns:a16="http://schemas.microsoft.com/office/drawing/2014/main" id="{40844ED9-BA33-449B-98E1-58D31B92E2CE}"/>
              </a:ext>
            </a:extLst>
          </p:cNvPr>
          <p:cNvSpPr txBox="1"/>
          <p:nvPr/>
        </p:nvSpPr>
        <p:spPr>
          <a:xfrm>
            <a:off x="8973894" y="3726561"/>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验证基层医疗机构适配性；</a:t>
            </a:r>
          </a:p>
        </p:txBody>
      </p:sp>
      <p:sp>
        <p:nvSpPr>
          <p:cNvPr id="69" name="文本框 68">
            <a:extLst>
              <a:ext uri="{FF2B5EF4-FFF2-40B4-BE49-F238E27FC236}">
                <a16:creationId xmlns:a16="http://schemas.microsoft.com/office/drawing/2014/main" id="{D2A62BC0-C022-4654-BDD3-97EA66D76F12}"/>
              </a:ext>
            </a:extLst>
          </p:cNvPr>
          <p:cNvSpPr txBox="1"/>
          <p:nvPr/>
        </p:nvSpPr>
        <p:spPr>
          <a:xfrm>
            <a:off x="8973894" y="4590814"/>
            <a:ext cx="2421830" cy="734753"/>
          </a:xfrm>
          <a:prstGeom prst="rect">
            <a:avLst/>
          </a:prstGeom>
          <a:noFill/>
        </p:spPr>
        <p:txBody>
          <a:bodyPr wrap="square" rtlCol="0">
            <a:spAutoFit/>
          </a:bodyPr>
          <a:lstStyle/>
          <a:p>
            <a:pPr marL="285750" indent="-285750">
              <a:lnSpc>
                <a:spcPct val="120000"/>
              </a:lnSpc>
              <a:buFont typeface="Wingdings" panose="05000000000000000000" pitchFamily="2" charset="2"/>
              <a:buChar char="ü"/>
            </a:pPr>
            <a:r>
              <a:rPr lang="zh-CN" altLang="en-US" dirty="0">
                <a:latin typeface="思源黑体 CN Regular" panose="020B0500000000000000" pitchFamily="34" charset="-122"/>
                <a:ea typeface="思源黑体 CN Regular" panose="020B0500000000000000" pitchFamily="34" charset="-122"/>
              </a:rPr>
              <a:t>测试模型跨场景泛化能力。</a:t>
            </a:r>
          </a:p>
        </p:txBody>
      </p:sp>
      <p:grpSp>
        <p:nvGrpSpPr>
          <p:cNvPr id="40" name="组合 39">
            <a:extLst>
              <a:ext uri="{FF2B5EF4-FFF2-40B4-BE49-F238E27FC236}">
                <a16:creationId xmlns:a16="http://schemas.microsoft.com/office/drawing/2014/main" id="{F0DE306D-8D8C-4967-81C5-3A0D8886380A}"/>
              </a:ext>
            </a:extLst>
          </p:cNvPr>
          <p:cNvGrpSpPr/>
          <p:nvPr/>
        </p:nvGrpSpPr>
        <p:grpSpPr>
          <a:xfrm>
            <a:off x="1090993" y="0"/>
            <a:ext cx="10956721" cy="836294"/>
            <a:chOff x="1090993" y="1076773"/>
            <a:chExt cx="10956721" cy="836294"/>
          </a:xfrm>
        </p:grpSpPr>
        <p:sp>
          <p:nvSpPr>
            <p:cNvPr id="42" name="任意多边形: 形状 41">
              <a:extLst>
                <a:ext uri="{FF2B5EF4-FFF2-40B4-BE49-F238E27FC236}">
                  <a16:creationId xmlns:a16="http://schemas.microsoft.com/office/drawing/2014/main" id="{A54D6EC1-34F6-4555-AAAE-6A99D9F96232}"/>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 name="文本框 43">
              <a:extLst>
                <a:ext uri="{FF2B5EF4-FFF2-40B4-BE49-F238E27FC236}">
                  <a16:creationId xmlns:a16="http://schemas.microsoft.com/office/drawing/2014/main" id="{D93F4FDD-1683-450B-8600-6F9E02B6ED64}"/>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5" name="文本框 44">
              <a:extLst>
                <a:ext uri="{FF2B5EF4-FFF2-40B4-BE49-F238E27FC236}">
                  <a16:creationId xmlns:a16="http://schemas.microsoft.com/office/drawing/2014/main" id="{3984C9F0-E6D8-46EE-BCB9-33393D0A5C3C}"/>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46" name="文本框 45">
              <a:extLst>
                <a:ext uri="{FF2B5EF4-FFF2-40B4-BE49-F238E27FC236}">
                  <a16:creationId xmlns:a16="http://schemas.microsoft.com/office/drawing/2014/main" id="{EF236D05-3670-4A0F-AAE8-EE6A5BCD1DF4}"/>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6" name="文本框 55">
              <a:extLst>
                <a:ext uri="{FF2B5EF4-FFF2-40B4-BE49-F238E27FC236}">
                  <a16:creationId xmlns:a16="http://schemas.microsoft.com/office/drawing/2014/main" id="{B84E3287-11B8-4C24-A57F-1151B6E7548A}"/>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1A9B80E4-DF55-4B6E-968C-8FFB334DD8EA}"/>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9" name="文本框 58">
              <a:extLst>
                <a:ext uri="{FF2B5EF4-FFF2-40B4-BE49-F238E27FC236}">
                  <a16:creationId xmlns:a16="http://schemas.microsoft.com/office/drawing/2014/main" id="{454E4F34-4292-4E69-B8B8-F76FC3BD0EC8}"/>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60" name="直接连接符 59">
              <a:extLst>
                <a:ext uri="{FF2B5EF4-FFF2-40B4-BE49-F238E27FC236}">
                  <a16:creationId xmlns:a16="http://schemas.microsoft.com/office/drawing/2014/main" id="{6FC8B9FF-AEC4-485F-A713-D3E20D9BF77D}"/>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C2162B04-A372-4735-B660-914C80893FF7}"/>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0" name="直接连接符 79">
              <a:extLst>
                <a:ext uri="{FF2B5EF4-FFF2-40B4-BE49-F238E27FC236}">
                  <a16:creationId xmlns:a16="http://schemas.microsoft.com/office/drawing/2014/main" id="{8E20FF03-8ED1-4CD8-A09F-E1711FC7C107}"/>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F896032B-753D-468F-B66F-959F9945B3B9}"/>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8FC1960C-1C66-451B-BF97-B6F2F6300956}"/>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78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圆角 50">
            <a:extLst>
              <a:ext uri="{FF2B5EF4-FFF2-40B4-BE49-F238E27FC236}">
                <a16:creationId xmlns:a16="http://schemas.microsoft.com/office/drawing/2014/main" id="{F063EB76-7873-4318-BCB2-AB65A44F2010}"/>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49299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研究内容一：</a:t>
            </a:r>
          </a:p>
        </p:txBody>
      </p:sp>
      <p:sp>
        <p:nvSpPr>
          <p:cNvPr id="25" name="矩形: 圆角 24">
            <a:extLst>
              <a:ext uri="{FF2B5EF4-FFF2-40B4-BE49-F238E27FC236}">
                <a16:creationId xmlns:a16="http://schemas.microsoft.com/office/drawing/2014/main" id="{D459F362-7BD7-427F-960D-4022BD02D3ED}"/>
              </a:ext>
            </a:extLst>
          </p:cNvPr>
          <p:cNvSpPr/>
          <p:nvPr/>
        </p:nvSpPr>
        <p:spPr>
          <a:xfrm>
            <a:off x="586232" y="1789642"/>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文本框 26">
            <a:extLst>
              <a:ext uri="{FF2B5EF4-FFF2-40B4-BE49-F238E27FC236}">
                <a16:creationId xmlns:a16="http://schemas.microsoft.com/office/drawing/2014/main" id="{C23D7C35-BD5E-447A-9B03-6535D8900331}"/>
              </a:ext>
            </a:extLst>
          </p:cNvPr>
          <p:cNvSpPr txBox="1"/>
          <p:nvPr/>
        </p:nvSpPr>
        <p:spPr>
          <a:xfrm>
            <a:off x="723908" y="2204068"/>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MYSM1 </a:t>
            </a:r>
            <a:r>
              <a:rPr lang="zh-CN" altLang="en-US" dirty="0"/>
              <a:t>缺失 </a:t>
            </a:r>
            <a:r>
              <a:rPr lang="en-US" altLang="zh-CN" dirty="0"/>
              <a:t>HSC </a:t>
            </a:r>
            <a:r>
              <a:rPr lang="zh-CN" altLang="en-US" dirty="0"/>
              <a:t>中，铁转运基因表达异常，</a:t>
            </a:r>
            <a:r>
              <a:rPr lang="en-US" altLang="zh-CN" dirty="0"/>
              <a:t>ROS</a:t>
            </a:r>
            <a:r>
              <a:rPr lang="zh-CN" altLang="en-US" dirty="0"/>
              <a:t>、脂质过氧化升高，</a:t>
            </a:r>
            <a:r>
              <a:rPr lang="en-US" altLang="zh-CN" dirty="0"/>
              <a:t>Fe²⁺</a:t>
            </a:r>
            <a:r>
              <a:rPr lang="zh-CN" altLang="en-US" dirty="0"/>
              <a:t>积累且 </a:t>
            </a:r>
            <a:r>
              <a:rPr lang="en-US" altLang="zh-CN" dirty="0"/>
              <a:t>GPX4 </a:t>
            </a:r>
            <a:r>
              <a:rPr lang="zh-CN" altLang="en-US" dirty="0"/>
              <a:t>活性降、血红素合成受抑。</a:t>
            </a:r>
          </a:p>
        </p:txBody>
      </p:sp>
      <p:sp>
        <p:nvSpPr>
          <p:cNvPr id="29" name="矩形: 圆角 28">
            <a:extLst>
              <a:ext uri="{FF2B5EF4-FFF2-40B4-BE49-F238E27FC236}">
                <a16:creationId xmlns:a16="http://schemas.microsoft.com/office/drawing/2014/main" id="{175C6E7B-ADA9-42C0-9F7A-50D900CAF9DE}"/>
              </a:ext>
            </a:extLst>
          </p:cNvPr>
          <p:cNvSpPr/>
          <p:nvPr/>
        </p:nvSpPr>
        <p:spPr>
          <a:xfrm>
            <a:off x="4548457" y="1797262"/>
            <a:ext cx="4139291" cy="4797054"/>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矩形: 圆角 46">
            <a:extLst>
              <a:ext uri="{FF2B5EF4-FFF2-40B4-BE49-F238E27FC236}">
                <a16:creationId xmlns:a16="http://schemas.microsoft.com/office/drawing/2014/main" id="{F6E18EE9-FFAE-448E-B87D-2DA83E78C063}"/>
              </a:ext>
            </a:extLst>
          </p:cNvPr>
          <p:cNvSpPr/>
          <p:nvPr/>
        </p:nvSpPr>
        <p:spPr>
          <a:xfrm>
            <a:off x="9410700" y="211736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CRISPR-Cas9</a:t>
            </a:r>
            <a:r>
              <a:rPr lang="zh-CN" altLang="en-US" sz="1600" dirty="0">
                <a:solidFill>
                  <a:schemeClr val="tx1"/>
                </a:solidFill>
                <a:latin typeface="思源黑体 CN Regular" panose="020B0500000000000000" pitchFamily="34" charset="-122"/>
                <a:ea typeface="思源黑体 CN Regular" panose="020B0500000000000000" pitchFamily="34" charset="-122"/>
              </a:rPr>
              <a:t>编辑建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缺失模型，效率</a:t>
            </a:r>
            <a:r>
              <a:rPr lang="en-US" altLang="zh-CN" sz="1600" dirty="0">
                <a:solidFill>
                  <a:schemeClr val="tx1"/>
                </a:solidFill>
                <a:latin typeface="思源黑体 CN Regular" panose="020B0500000000000000" pitchFamily="34" charset="-122"/>
                <a:ea typeface="思源黑体 CN Regular" panose="020B0500000000000000" pitchFamily="34" charset="-122"/>
              </a:rPr>
              <a:t>&gt;90%</a:t>
            </a:r>
          </a:p>
        </p:txBody>
      </p:sp>
      <p:sp>
        <p:nvSpPr>
          <p:cNvPr id="52" name="矩形: 圆顶角 51">
            <a:extLst>
              <a:ext uri="{FF2B5EF4-FFF2-40B4-BE49-F238E27FC236}">
                <a16:creationId xmlns:a16="http://schemas.microsoft.com/office/drawing/2014/main" id="{FDFD134A-6AAC-4793-842C-0FD04D3E1934}"/>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56" name="矩形: 圆角 55">
            <a:extLst>
              <a:ext uri="{FF2B5EF4-FFF2-40B4-BE49-F238E27FC236}">
                <a16:creationId xmlns:a16="http://schemas.microsoft.com/office/drawing/2014/main" id="{7F383369-8B34-49CF-8D30-509028C4AA38}"/>
              </a:ext>
            </a:extLst>
          </p:cNvPr>
          <p:cNvSpPr/>
          <p:nvPr/>
        </p:nvSpPr>
        <p:spPr>
          <a:xfrm>
            <a:off x="9410700" y="3806243"/>
            <a:ext cx="2075997" cy="83560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用 </a:t>
            </a:r>
            <a:r>
              <a:rPr lang="en-US" altLang="zh-CN" sz="1600" dirty="0">
                <a:solidFill>
                  <a:schemeClr val="tx1"/>
                </a:solidFill>
                <a:latin typeface="思源黑体 CN Regular" panose="020B0500000000000000" pitchFamily="34" charset="-122"/>
                <a:ea typeface="思源黑体 CN Regular" panose="020B0500000000000000" pitchFamily="34" charset="-122"/>
              </a:rPr>
              <a:t>CD34+ </a:t>
            </a:r>
            <a:r>
              <a:rPr lang="zh-CN" altLang="en-US" sz="1600" dirty="0">
                <a:solidFill>
                  <a:schemeClr val="tx1"/>
                </a:solidFill>
                <a:latin typeface="思源黑体 CN Regular" panose="020B0500000000000000" pitchFamily="34" charset="-122"/>
                <a:ea typeface="思源黑体 CN Regular" panose="020B0500000000000000" pitchFamily="34" charset="-122"/>
              </a:rPr>
              <a:t>构建 </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 </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缺失模型</a:t>
            </a:r>
          </a:p>
        </p:txBody>
      </p:sp>
      <p:sp>
        <p:nvSpPr>
          <p:cNvPr id="57" name="矩形: 圆角 56">
            <a:extLst>
              <a:ext uri="{FF2B5EF4-FFF2-40B4-BE49-F238E27FC236}">
                <a16:creationId xmlns:a16="http://schemas.microsoft.com/office/drawing/2014/main" id="{EEE17AF8-C06A-401C-A2CD-398B2CD17DC1}"/>
              </a:ext>
            </a:extLst>
          </p:cNvPr>
          <p:cNvSpPr/>
          <p:nvPr/>
        </p:nvSpPr>
        <p:spPr>
          <a:xfrm>
            <a:off x="9410700" y="5339800"/>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单细胞 </a:t>
            </a:r>
            <a:r>
              <a:rPr lang="en-US" altLang="zh-CN" sz="1600" dirty="0">
                <a:solidFill>
                  <a:schemeClr val="tx1"/>
                </a:solidFill>
                <a:latin typeface="思源黑体 CN Regular" panose="020B0500000000000000" pitchFamily="34" charset="-122"/>
                <a:ea typeface="思源黑体 CN Regular" panose="020B0500000000000000" pitchFamily="34" charset="-122"/>
              </a:rPr>
              <a:t>RNA </a:t>
            </a:r>
            <a:r>
              <a:rPr lang="zh-CN" altLang="en-US" sz="1600" dirty="0">
                <a:solidFill>
                  <a:schemeClr val="tx1"/>
                </a:solidFill>
                <a:latin typeface="思源黑体 CN Regular" panose="020B0500000000000000" pitchFamily="34" charset="-122"/>
                <a:ea typeface="思源黑体 CN Regular" panose="020B0500000000000000" pitchFamily="34" charset="-122"/>
              </a:rPr>
              <a:t>测序证实 </a:t>
            </a:r>
            <a:r>
              <a:rPr lang="en-US" altLang="zh-CN" sz="1600" dirty="0">
                <a:solidFill>
                  <a:schemeClr val="tx1"/>
                </a:solidFill>
                <a:latin typeface="思源黑体 CN Regular" panose="020B0500000000000000" pitchFamily="34" charset="-122"/>
                <a:ea typeface="思源黑体 CN Regular" panose="020B0500000000000000" pitchFamily="34" charset="-122"/>
              </a:rPr>
              <a:t>HSC </a:t>
            </a:r>
            <a:r>
              <a:rPr lang="zh-CN" altLang="en-US" sz="1600" dirty="0">
                <a:solidFill>
                  <a:schemeClr val="tx1"/>
                </a:solidFill>
                <a:latin typeface="思源黑体 CN Regular" panose="020B0500000000000000" pitchFamily="34" charset="-122"/>
                <a:ea typeface="思源黑体 CN Regular" panose="020B0500000000000000" pitchFamily="34" charset="-122"/>
              </a:rPr>
              <a:t>分子特征细胞 </a:t>
            </a:r>
          </a:p>
        </p:txBody>
      </p:sp>
      <p:sp>
        <p:nvSpPr>
          <p:cNvPr id="8" name="箭头: 右 7">
            <a:extLst>
              <a:ext uri="{FF2B5EF4-FFF2-40B4-BE49-F238E27FC236}">
                <a16:creationId xmlns:a16="http://schemas.microsoft.com/office/drawing/2014/main" id="{8CBF2885-80E7-4340-A309-B5E20B4B42CB}"/>
              </a:ext>
            </a:extLst>
          </p:cNvPr>
          <p:cNvSpPr/>
          <p:nvPr/>
        </p:nvSpPr>
        <p:spPr>
          <a:xfrm rot="5400000">
            <a:off x="10258536" y="324808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箭头: 右 59">
            <a:extLst>
              <a:ext uri="{FF2B5EF4-FFF2-40B4-BE49-F238E27FC236}">
                <a16:creationId xmlns:a16="http://schemas.microsoft.com/office/drawing/2014/main" id="{D6FAF250-6902-4F63-AFE8-C6BBFEC78BF7}"/>
              </a:ext>
            </a:extLst>
          </p:cNvPr>
          <p:cNvSpPr/>
          <p:nvPr/>
        </p:nvSpPr>
        <p:spPr>
          <a:xfrm rot="5400000">
            <a:off x="10258536" y="4781638"/>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a:extLst>
              <a:ext uri="{FF2B5EF4-FFF2-40B4-BE49-F238E27FC236}">
                <a16:creationId xmlns:a16="http://schemas.microsoft.com/office/drawing/2014/main" id="{968B6B7F-630D-4F01-A691-8774FD932294}"/>
              </a:ext>
            </a:extLst>
          </p:cNvPr>
          <p:cNvPicPr>
            <a:picLocks noChangeAspect="1"/>
          </p:cNvPicPr>
          <p:nvPr/>
        </p:nvPicPr>
        <p:blipFill rotWithShape="1">
          <a:blip r:embed="rId2"/>
          <a:srcRect r="4" b="488"/>
          <a:stretch/>
        </p:blipFill>
        <p:spPr>
          <a:xfrm>
            <a:off x="4913064" y="2199498"/>
            <a:ext cx="3410076" cy="4317508"/>
          </a:xfrm>
          <a:prstGeom prst="roundRect">
            <a:avLst>
              <a:gd name="adj" fmla="val 5969"/>
            </a:avLst>
          </a:prstGeom>
          <a:noFill/>
        </p:spPr>
      </p:pic>
      <p:sp>
        <p:nvSpPr>
          <p:cNvPr id="46" name="矩形: 圆顶角 45">
            <a:extLst>
              <a:ext uri="{FF2B5EF4-FFF2-40B4-BE49-F238E27FC236}">
                <a16:creationId xmlns:a16="http://schemas.microsoft.com/office/drawing/2014/main" id="{9C17C877-DCD7-4736-853C-B9A143EC9F5B}"/>
              </a:ext>
            </a:extLst>
          </p:cNvPr>
          <p:cNvSpPr/>
          <p:nvPr/>
        </p:nvSpPr>
        <p:spPr>
          <a:xfrm>
            <a:off x="5853055" y="1789642"/>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数据处理分析</a:t>
            </a:r>
          </a:p>
        </p:txBody>
      </p:sp>
      <p:pic>
        <p:nvPicPr>
          <p:cNvPr id="11276" name="Picture 12" descr="查看图片">
            <a:extLst>
              <a:ext uri="{FF2B5EF4-FFF2-40B4-BE49-F238E27FC236}">
                <a16:creationId xmlns:a16="http://schemas.microsoft.com/office/drawing/2014/main" id="{3020E8E3-4BEB-47D4-A804-0929E9862A4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t="27044" r="4249" b="52207"/>
          <a:stretch/>
        </p:blipFill>
        <p:spPr bwMode="auto">
          <a:xfrm>
            <a:off x="622060" y="3299065"/>
            <a:ext cx="3294782" cy="726456"/>
          </a:xfrm>
          <a:prstGeom prst="roundRect">
            <a:avLst>
              <a:gd name="adj" fmla="val 21530"/>
            </a:avLst>
          </a:prstGeom>
          <a:solidFill>
            <a:srgbClr val="911D22"/>
          </a:solidFill>
          <a:ln>
            <a:noFill/>
          </a:ln>
          <a:extLst/>
        </p:spPr>
      </p:pic>
      <p:sp>
        <p:nvSpPr>
          <p:cNvPr id="70" name="箭头: 右 69">
            <a:extLst>
              <a:ext uri="{FF2B5EF4-FFF2-40B4-BE49-F238E27FC236}">
                <a16:creationId xmlns:a16="http://schemas.microsoft.com/office/drawing/2014/main" id="{95E8773C-B685-4EA5-BD98-C5929B1818B4}"/>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箭头: 右 70">
            <a:extLst>
              <a:ext uri="{FF2B5EF4-FFF2-40B4-BE49-F238E27FC236}">
                <a16:creationId xmlns:a16="http://schemas.microsoft.com/office/drawing/2014/main" id="{2A5AA198-07CE-458B-8E77-84EC0C20C2E8}"/>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箭头: 右 71">
            <a:extLst>
              <a:ext uri="{FF2B5EF4-FFF2-40B4-BE49-F238E27FC236}">
                <a16:creationId xmlns:a16="http://schemas.microsoft.com/office/drawing/2014/main" id="{274B5535-BCB7-485E-8FF7-D7F11797836D}"/>
              </a:ext>
            </a:extLst>
          </p:cNvPr>
          <p:cNvSpPr/>
          <p:nvPr/>
        </p:nvSpPr>
        <p:spPr>
          <a:xfrm>
            <a:off x="4063908"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右 72">
            <a:extLst>
              <a:ext uri="{FF2B5EF4-FFF2-40B4-BE49-F238E27FC236}">
                <a16:creationId xmlns:a16="http://schemas.microsoft.com/office/drawing/2014/main" id="{A5C98D9B-B9C1-49B0-89A8-F55EBD2A8391}"/>
              </a:ext>
            </a:extLst>
          </p:cNvPr>
          <p:cNvSpPr/>
          <p:nvPr/>
        </p:nvSpPr>
        <p:spPr>
          <a:xfrm>
            <a:off x="4063908"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文本框 73">
            <a:extLst>
              <a:ext uri="{FF2B5EF4-FFF2-40B4-BE49-F238E27FC236}">
                <a16:creationId xmlns:a16="http://schemas.microsoft.com/office/drawing/2014/main" id="{75578EBA-D4F2-403D-94A9-8977D4E5B143}"/>
              </a:ext>
            </a:extLst>
          </p:cNvPr>
          <p:cNvSpPr txBox="1"/>
          <p:nvPr/>
        </p:nvSpPr>
        <p:spPr>
          <a:xfrm>
            <a:off x="2727770" y="1184480"/>
            <a:ext cx="3166251"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MYSM1 KO </a:t>
            </a:r>
            <a:r>
              <a:rPr lang="zh-CN" altLang="en-US" dirty="0"/>
              <a:t>体外</a:t>
            </a:r>
            <a:r>
              <a:rPr lang="zh-CN" altLang="en-US"/>
              <a:t>减少 </a:t>
            </a:r>
            <a:r>
              <a:rPr lang="en-US" altLang="zh-CN" dirty="0"/>
              <a:t>HSC</a:t>
            </a:r>
          </a:p>
        </p:txBody>
      </p:sp>
      <p:sp>
        <p:nvSpPr>
          <p:cNvPr id="32" name="矩形: 圆顶角 31">
            <a:extLst>
              <a:ext uri="{FF2B5EF4-FFF2-40B4-BE49-F238E27FC236}">
                <a16:creationId xmlns:a16="http://schemas.microsoft.com/office/drawing/2014/main" id="{3217AD8B-C595-4F25-BAB9-26E69ECF2B0C}"/>
              </a:ext>
            </a:extLst>
          </p:cNvPr>
          <p:cNvSpPr/>
          <p:nvPr/>
        </p:nvSpPr>
        <p:spPr>
          <a:xfrm>
            <a:off x="1638222" y="1784562"/>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sp>
        <p:nvSpPr>
          <p:cNvPr id="33" name="矩形: 圆角 32">
            <a:extLst>
              <a:ext uri="{FF2B5EF4-FFF2-40B4-BE49-F238E27FC236}">
                <a16:creationId xmlns:a16="http://schemas.microsoft.com/office/drawing/2014/main" id="{03185492-F7DE-4AB0-9133-888A01A33ED0}"/>
              </a:ext>
            </a:extLst>
          </p:cNvPr>
          <p:cNvSpPr/>
          <p:nvPr/>
        </p:nvSpPr>
        <p:spPr>
          <a:xfrm>
            <a:off x="586232" y="4286939"/>
            <a:ext cx="3366439" cy="2314997"/>
          </a:xfrm>
          <a:prstGeom prst="roundRect">
            <a:avLst>
              <a:gd name="adj" fmla="val 845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4" name="文本框 33">
            <a:extLst>
              <a:ext uri="{FF2B5EF4-FFF2-40B4-BE49-F238E27FC236}">
                <a16:creationId xmlns:a16="http://schemas.microsoft.com/office/drawing/2014/main" id="{24AAD6B2-B86A-4D9E-AABA-13D3E1ADD220}"/>
              </a:ext>
            </a:extLst>
          </p:cNvPr>
          <p:cNvSpPr txBox="1"/>
          <p:nvPr/>
        </p:nvSpPr>
        <p:spPr>
          <a:xfrm>
            <a:off x="723908" y="4701365"/>
            <a:ext cx="3091086" cy="102829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buNone/>
            </a:pPr>
            <a:r>
              <a:rPr lang="en-US" altLang="zh-CN" dirty="0"/>
              <a:t>CRISPR-Cas9</a:t>
            </a:r>
            <a:r>
              <a:rPr lang="zh-CN" altLang="en-US" dirty="0"/>
              <a:t>构建</a:t>
            </a:r>
            <a:r>
              <a:rPr lang="en-US" altLang="zh-CN" dirty="0"/>
              <a:t>MYSM1 </a:t>
            </a:r>
            <a:r>
              <a:rPr lang="zh-CN" altLang="en-US" dirty="0"/>
              <a:t>缺失模型，效率 </a:t>
            </a:r>
            <a:r>
              <a:rPr lang="en-US" altLang="zh-CN" dirty="0"/>
              <a:t>90%+</a:t>
            </a:r>
            <a:r>
              <a:rPr lang="zh-CN" altLang="en-US" dirty="0"/>
              <a:t>，</a:t>
            </a:r>
            <a:r>
              <a:rPr lang="en-US" altLang="zh-CN" dirty="0"/>
              <a:t>HSC </a:t>
            </a:r>
            <a:r>
              <a:rPr lang="zh-CN" altLang="en-US" dirty="0"/>
              <a:t>亚群锐减且特征细胞</a:t>
            </a:r>
            <a:r>
              <a:rPr lang="en-US" altLang="zh-CN" dirty="0"/>
              <a:t>CD34+ HSPCs </a:t>
            </a:r>
            <a:r>
              <a:rPr lang="zh-CN" altLang="en-US" dirty="0"/>
              <a:t>经 </a:t>
            </a:r>
            <a:r>
              <a:rPr lang="en-US" altLang="zh-CN" dirty="0"/>
              <a:t>CRISP</a:t>
            </a:r>
            <a:r>
              <a:rPr lang="zh-CN" altLang="en-US" dirty="0"/>
              <a:t>辑致 </a:t>
            </a:r>
            <a:r>
              <a:rPr lang="en-US" altLang="zh-CN" dirty="0"/>
              <a:t>MYSM1 </a:t>
            </a:r>
            <a:r>
              <a:rPr lang="zh-CN" altLang="en-US" dirty="0"/>
              <a:t>缺失</a:t>
            </a:r>
          </a:p>
        </p:txBody>
      </p:sp>
      <p:sp>
        <p:nvSpPr>
          <p:cNvPr id="36" name="矩形: 圆顶角 35">
            <a:extLst>
              <a:ext uri="{FF2B5EF4-FFF2-40B4-BE49-F238E27FC236}">
                <a16:creationId xmlns:a16="http://schemas.microsoft.com/office/drawing/2014/main" id="{F7B2FE03-61B4-48E7-BB7A-CDCC457C69A4}"/>
              </a:ext>
            </a:extLst>
          </p:cNvPr>
          <p:cNvSpPr/>
          <p:nvPr/>
        </p:nvSpPr>
        <p:spPr>
          <a:xfrm>
            <a:off x="1638222" y="4281859"/>
            <a:ext cx="126245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数据采集</a:t>
            </a:r>
          </a:p>
        </p:txBody>
      </p:sp>
      <p:pic>
        <p:nvPicPr>
          <p:cNvPr id="68" name="Picture 12" descr="查看图片">
            <a:extLst>
              <a:ext uri="{FF2B5EF4-FFF2-40B4-BE49-F238E27FC236}">
                <a16:creationId xmlns:a16="http://schemas.microsoft.com/office/drawing/2014/main" id="{7EA1CA16-C0E4-48F0-83D6-4BB972F082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86" r="4249" b="76593"/>
          <a:stretch/>
        </p:blipFill>
        <p:spPr bwMode="auto">
          <a:xfrm>
            <a:off x="618175" y="5742361"/>
            <a:ext cx="3302552" cy="821475"/>
          </a:xfrm>
          <a:prstGeom prst="roundRect">
            <a:avLst>
              <a:gd name="adj" fmla="val 21530"/>
            </a:avLst>
          </a:prstGeom>
          <a:solidFill>
            <a:srgbClr val="911D22"/>
          </a:solidFill>
          <a:ln>
            <a:noFill/>
          </a:ln>
          <a:extLst/>
        </p:spPr>
      </p:pic>
      <p:grpSp>
        <p:nvGrpSpPr>
          <p:cNvPr id="39" name="组合 38">
            <a:extLst>
              <a:ext uri="{FF2B5EF4-FFF2-40B4-BE49-F238E27FC236}">
                <a16:creationId xmlns:a16="http://schemas.microsoft.com/office/drawing/2014/main" id="{650AF81F-8ED7-4C14-85F2-B40582AA9380}"/>
              </a:ext>
            </a:extLst>
          </p:cNvPr>
          <p:cNvGrpSpPr/>
          <p:nvPr/>
        </p:nvGrpSpPr>
        <p:grpSpPr>
          <a:xfrm>
            <a:off x="1090993" y="0"/>
            <a:ext cx="10956721" cy="836294"/>
            <a:chOff x="1090993" y="1076773"/>
            <a:chExt cx="10956721" cy="836294"/>
          </a:xfrm>
        </p:grpSpPr>
        <p:sp>
          <p:nvSpPr>
            <p:cNvPr id="40" name="任意多边形: 形状 39">
              <a:extLst>
                <a:ext uri="{FF2B5EF4-FFF2-40B4-BE49-F238E27FC236}">
                  <a16:creationId xmlns:a16="http://schemas.microsoft.com/office/drawing/2014/main" id="{82D51CED-703B-40A6-9FE9-C45B3E932023}"/>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文本框 40">
              <a:extLst>
                <a:ext uri="{FF2B5EF4-FFF2-40B4-BE49-F238E27FC236}">
                  <a16:creationId xmlns:a16="http://schemas.microsoft.com/office/drawing/2014/main" id="{3C051997-CDBD-4540-8203-4863B2BB2002}"/>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2" name="文本框 41">
              <a:extLst>
                <a:ext uri="{FF2B5EF4-FFF2-40B4-BE49-F238E27FC236}">
                  <a16:creationId xmlns:a16="http://schemas.microsoft.com/office/drawing/2014/main" id="{A697A2E9-FFD4-4D83-B77C-6E001FD2DF6A}"/>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43" name="文本框 42">
              <a:extLst>
                <a:ext uri="{FF2B5EF4-FFF2-40B4-BE49-F238E27FC236}">
                  <a16:creationId xmlns:a16="http://schemas.microsoft.com/office/drawing/2014/main" id="{E701F75F-D9F7-4E60-83A2-114A8CFD0F34}"/>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44" name="文本框 43">
              <a:extLst>
                <a:ext uri="{FF2B5EF4-FFF2-40B4-BE49-F238E27FC236}">
                  <a16:creationId xmlns:a16="http://schemas.microsoft.com/office/drawing/2014/main" id="{A436D28C-377B-4B0D-BA2F-BDA12A7E9B29}"/>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45" name="文本框 44">
              <a:extLst>
                <a:ext uri="{FF2B5EF4-FFF2-40B4-BE49-F238E27FC236}">
                  <a16:creationId xmlns:a16="http://schemas.microsoft.com/office/drawing/2014/main" id="{EB7FE3AF-388C-42BE-84ED-D7745BF50CBF}"/>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8" name="文本框 47">
              <a:extLst>
                <a:ext uri="{FF2B5EF4-FFF2-40B4-BE49-F238E27FC236}">
                  <a16:creationId xmlns:a16="http://schemas.microsoft.com/office/drawing/2014/main" id="{3EBC11DD-8EA7-488A-B606-37F6A6E45461}"/>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9" name="直接连接符 48">
              <a:extLst>
                <a:ext uri="{FF2B5EF4-FFF2-40B4-BE49-F238E27FC236}">
                  <a16:creationId xmlns:a16="http://schemas.microsoft.com/office/drawing/2014/main" id="{A637E6A5-9DEF-46F9-B500-1513CAEA9915}"/>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E1A5C302-0818-4E13-B4AD-AA850FCC1421}"/>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33462DD8-DC41-4E26-8C7C-4D5B168F1F8A}"/>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881B1542-7EB9-4203-BD6A-FE4985850EF3}"/>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203BE54E-B4F6-479A-B642-3E8C25A005C1}"/>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67804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D816AC51-88C8-4CB5-A267-882C3864109B}"/>
              </a:ext>
            </a:extLst>
          </p:cNvPr>
          <p:cNvSpPr/>
          <p:nvPr/>
        </p:nvSpPr>
        <p:spPr>
          <a:xfrm>
            <a:off x="4804520" y="1826262"/>
            <a:ext cx="3883228" cy="160273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18" name="矩形: 圆顶角 17">
            <a:extLst>
              <a:ext uri="{FF2B5EF4-FFF2-40B4-BE49-F238E27FC236}">
                <a16:creationId xmlns:a16="http://schemas.microsoft.com/office/drawing/2014/main" id="{A5E3953C-8D54-4517-B4AE-FC8808B07825}"/>
              </a:ext>
            </a:extLst>
          </p:cNvPr>
          <p:cNvSpPr/>
          <p:nvPr/>
        </p:nvSpPr>
        <p:spPr>
          <a:xfrm>
            <a:off x="942632"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MYSM1</a:t>
            </a:r>
            <a:r>
              <a:rPr lang="zh-CN" altLang="en-US" sz="1600" b="1" dirty="0">
                <a:latin typeface="思源黑体 CN Bold" panose="020B0800000000000000" pitchFamily="34" charset="-122"/>
                <a:ea typeface="思源黑体 CN Bold" panose="020B0800000000000000" pitchFamily="34" charset="-122"/>
              </a:rPr>
              <a:t>基因敲除模型构建与鉴定</a:t>
            </a:r>
          </a:p>
        </p:txBody>
      </p:sp>
      <p:sp>
        <p:nvSpPr>
          <p:cNvPr id="20" name="矩形: 圆角 19">
            <a:extLst>
              <a:ext uri="{FF2B5EF4-FFF2-40B4-BE49-F238E27FC236}">
                <a16:creationId xmlns:a16="http://schemas.microsoft.com/office/drawing/2014/main" id="{555C93AF-07A7-4AC8-8081-CC514C969919}"/>
              </a:ext>
            </a:extLst>
          </p:cNvPr>
          <p:cNvSpPr/>
          <p:nvPr/>
        </p:nvSpPr>
        <p:spPr>
          <a:xfrm>
            <a:off x="586232" y="3916048"/>
            <a:ext cx="8101516" cy="26816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矩形: 圆角 36">
            <a:extLst>
              <a:ext uri="{FF2B5EF4-FFF2-40B4-BE49-F238E27FC236}">
                <a16:creationId xmlns:a16="http://schemas.microsoft.com/office/drawing/2014/main" id="{A540B55D-7B42-4523-A419-0CB0A098541C}"/>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矩形: 圆角 37">
            <a:extLst>
              <a:ext uri="{FF2B5EF4-FFF2-40B4-BE49-F238E27FC236}">
                <a16:creationId xmlns:a16="http://schemas.microsoft.com/office/drawing/2014/main" id="{59941FFE-E051-4EFC-B550-5C1A0746298D}"/>
              </a:ext>
            </a:extLst>
          </p:cNvPr>
          <p:cNvSpPr/>
          <p:nvPr/>
        </p:nvSpPr>
        <p:spPr>
          <a:xfrm>
            <a:off x="9410700" y="2088939"/>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成功构建</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基因敲除巨噬细胞模型，敲除效率达</a:t>
            </a:r>
            <a:r>
              <a:rPr lang="en-US" altLang="zh-CN" sz="1600" dirty="0">
                <a:solidFill>
                  <a:schemeClr val="tx1"/>
                </a:solidFill>
                <a:latin typeface="思源黑体 CN Regular" panose="020B0500000000000000" pitchFamily="34" charset="-122"/>
                <a:ea typeface="思源黑体 CN Regular" panose="020B0500000000000000" pitchFamily="34" charset="-122"/>
              </a:rPr>
              <a:t>85%</a:t>
            </a:r>
            <a:r>
              <a:rPr lang="zh-CN" altLang="en-US" sz="1600" dirty="0">
                <a:solidFill>
                  <a:schemeClr val="tx1"/>
                </a:solidFill>
                <a:latin typeface="思源黑体 CN Regular" panose="020B0500000000000000" pitchFamily="34" charset="-122"/>
                <a:ea typeface="思源黑体 CN Regular" panose="020B0500000000000000" pitchFamily="34" charset="-122"/>
              </a:rPr>
              <a:t>以上</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39" name="矩形: 圆顶角 38">
            <a:extLst>
              <a:ext uri="{FF2B5EF4-FFF2-40B4-BE49-F238E27FC236}">
                <a16:creationId xmlns:a16="http://schemas.microsoft.com/office/drawing/2014/main" id="{059CFC10-7E0A-41E1-B2FB-A05A631DCE71}"/>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0" name="矩形: 圆角 39">
            <a:extLst>
              <a:ext uri="{FF2B5EF4-FFF2-40B4-BE49-F238E27FC236}">
                <a16:creationId xmlns:a16="http://schemas.microsoft.com/office/drawing/2014/main" id="{90832662-240C-4AC9-B26F-6A0694647396}"/>
              </a:ext>
            </a:extLst>
          </p:cNvPr>
          <p:cNvSpPr/>
          <p:nvPr/>
        </p:nvSpPr>
        <p:spPr>
          <a:xfrm>
            <a:off x="9410700" y="3615871"/>
            <a:ext cx="2075997" cy="1242620"/>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缺失显著影响巨噬细胞炎症因子分泌，提示其调控免疫应答</a:t>
            </a:r>
          </a:p>
        </p:txBody>
      </p:sp>
      <p:sp>
        <p:nvSpPr>
          <p:cNvPr id="41" name="矩形: 圆角 40">
            <a:extLst>
              <a:ext uri="{FF2B5EF4-FFF2-40B4-BE49-F238E27FC236}">
                <a16:creationId xmlns:a16="http://schemas.microsoft.com/office/drawing/2014/main" id="{EC902AA3-560E-4903-95D9-8AA0E30E4B51}"/>
              </a:ext>
            </a:extLst>
          </p:cNvPr>
          <p:cNvSpPr/>
          <p:nvPr/>
        </p:nvSpPr>
        <p:spPr>
          <a:xfrm>
            <a:off x="9410700" y="5394498"/>
            <a:ext cx="2075997" cy="961723"/>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为后续探究</a:t>
            </a:r>
            <a:r>
              <a:rPr lang="en-US" altLang="zh-CN" sz="1600" dirty="0">
                <a:solidFill>
                  <a:schemeClr val="tx1"/>
                </a:solidFill>
                <a:latin typeface="思源黑体 CN Regular" panose="020B0500000000000000" pitchFamily="34" charset="-122"/>
                <a:ea typeface="思源黑体 CN Regular" panose="020B0500000000000000" pitchFamily="34" charset="-122"/>
              </a:rPr>
              <a:t>MYSM1</a:t>
            </a:r>
            <a:r>
              <a:rPr lang="zh-CN" altLang="en-US" sz="1600" dirty="0">
                <a:solidFill>
                  <a:schemeClr val="tx1"/>
                </a:solidFill>
                <a:latin typeface="思源黑体 CN Regular" panose="020B0500000000000000" pitchFamily="34" charset="-122"/>
                <a:ea typeface="思源黑体 CN Regular" panose="020B0500000000000000" pitchFamily="34" charset="-122"/>
              </a:rPr>
              <a:t>在肿瘤免疫中的作用提供可靠实验模型</a:t>
            </a:r>
          </a:p>
        </p:txBody>
      </p:sp>
      <p:sp>
        <p:nvSpPr>
          <p:cNvPr id="42" name="箭头: 右 41">
            <a:extLst>
              <a:ext uri="{FF2B5EF4-FFF2-40B4-BE49-F238E27FC236}">
                <a16:creationId xmlns:a16="http://schemas.microsoft.com/office/drawing/2014/main" id="{41920F18-C450-4D0A-8C13-6AADF229803D}"/>
              </a:ext>
            </a:extLst>
          </p:cNvPr>
          <p:cNvSpPr/>
          <p:nvPr/>
        </p:nvSpPr>
        <p:spPr>
          <a:xfrm rot="5400000">
            <a:off x="10256293" y="3138681"/>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箭头: 右 42">
            <a:extLst>
              <a:ext uri="{FF2B5EF4-FFF2-40B4-BE49-F238E27FC236}">
                <a16:creationId xmlns:a16="http://schemas.microsoft.com/office/drawing/2014/main" id="{58017A6E-22E9-4599-AEB8-629B7BA0516A}"/>
              </a:ext>
            </a:extLst>
          </p:cNvPr>
          <p:cNvSpPr/>
          <p:nvPr/>
        </p:nvSpPr>
        <p:spPr>
          <a:xfrm rot="5400000">
            <a:off x="10256293" y="4917307"/>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箭头: 右 44">
            <a:extLst>
              <a:ext uri="{FF2B5EF4-FFF2-40B4-BE49-F238E27FC236}">
                <a16:creationId xmlns:a16="http://schemas.microsoft.com/office/drawing/2014/main" id="{7440307A-30BE-4BAB-8B5C-8F192C37D1DF}"/>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A7E658C3-396F-4AB3-BB3C-3D0F47E109ED}"/>
              </a:ext>
            </a:extLst>
          </p:cNvPr>
          <p:cNvSpPr txBox="1"/>
          <p:nvPr/>
        </p:nvSpPr>
        <p:spPr>
          <a:xfrm>
            <a:off x="2727770" y="1184480"/>
            <a:ext cx="3725122"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CRISPR </a:t>
            </a:r>
            <a:r>
              <a:rPr lang="zh-CN" altLang="en-US"/>
              <a:t>构建 </a:t>
            </a:r>
            <a:r>
              <a:rPr lang="en-US" altLang="zh-CN" dirty="0"/>
              <a:t>MYSM1 </a:t>
            </a:r>
            <a:r>
              <a:rPr lang="zh-CN" altLang="en-US" dirty="0"/>
              <a:t>敲</a:t>
            </a:r>
            <a:r>
              <a:rPr lang="zh-CN" altLang="en-US"/>
              <a:t>除模型</a:t>
            </a:r>
            <a:endParaRPr lang="en-US" altLang="zh-CN" dirty="0"/>
          </a:p>
        </p:txBody>
      </p:sp>
      <p:sp>
        <p:nvSpPr>
          <p:cNvPr id="31" name="文本框 30">
            <a:extLst>
              <a:ext uri="{FF2B5EF4-FFF2-40B4-BE49-F238E27FC236}">
                <a16:creationId xmlns:a16="http://schemas.microsoft.com/office/drawing/2014/main" id="{4E27DACB-2D00-49C3-8EBF-A9252215721A}"/>
              </a:ext>
            </a:extLst>
          </p:cNvPr>
          <p:cNvSpPr txBox="1"/>
          <p:nvPr/>
        </p:nvSpPr>
        <p:spPr>
          <a:xfrm>
            <a:off x="720048"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以小鼠骨髓来源巨噬细胞为对象，用</a:t>
            </a:r>
            <a:r>
              <a:rPr lang="en-US" altLang="zh-CN" sz="1600" dirty="0"/>
              <a:t>CRISPR/Cas9</a:t>
            </a:r>
            <a:r>
              <a:rPr lang="zh-CN" altLang="en-US" sz="1600" dirty="0"/>
              <a:t>靶向编辑</a:t>
            </a:r>
            <a:r>
              <a:rPr lang="en-US" altLang="zh-CN" sz="1600" dirty="0"/>
              <a:t>MYSM1</a:t>
            </a:r>
            <a:r>
              <a:rPr lang="zh-CN" altLang="en-US" sz="1600" dirty="0"/>
              <a:t>基因，经测序及</a:t>
            </a:r>
            <a:r>
              <a:rPr lang="en-US" altLang="zh-CN" sz="1600" dirty="0"/>
              <a:t>Western blot</a:t>
            </a:r>
            <a:r>
              <a:rPr lang="zh-CN" altLang="en-US" sz="1600" dirty="0"/>
              <a:t>验证敲除效率</a:t>
            </a:r>
          </a:p>
        </p:txBody>
      </p:sp>
      <p:grpSp>
        <p:nvGrpSpPr>
          <p:cNvPr id="9" name="组合 8">
            <a:extLst>
              <a:ext uri="{FF2B5EF4-FFF2-40B4-BE49-F238E27FC236}">
                <a16:creationId xmlns:a16="http://schemas.microsoft.com/office/drawing/2014/main" id="{F391AEDB-8555-4D4C-BEAF-A3BCBB05F953}"/>
              </a:ext>
            </a:extLst>
          </p:cNvPr>
          <p:cNvGrpSpPr/>
          <p:nvPr/>
        </p:nvGrpSpPr>
        <p:grpSpPr>
          <a:xfrm>
            <a:off x="2311516" y="3540658"/>
            <a:ext cx="4301158" cy="263733"/>
            <a:chOff x="2311516" y="3523407"/>
            <a:chExt cx="4301158" cy="366622"/>
          </a:xfrm>
          <a:solidFill>
            <a:schemeClr val="accent1"/>
          </a:solidFill>
        </p:grpSpPr>
        <p:sp>
          <p:nvSpPr>
            <p:cNvPr id="34" name="箭头: 右 33">
              <a:extLst>
                <a:ext uri="{FF2B5EF4-FFF2-40B4-BE49-F238E27FC236}">
                  <a16:creationId xmlns:a16="http://schemas.microsoft.com/office/drawing/2014/main" id="{BB85FB67-6A00-404D-AA39-06044DCDB0A5}"/>
                </a:ext>
              </a:extLst>
            </p:cNvPr>
            <p:cNvSpPr/>
            <p:nvPr/>
          </p:nvSpPr>
          <p:spPr>
            <a:xfrm rot="5400000">
              <a:off x="2178301"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右 34">
              <a:extLst>
                <a:ext uri="{FF2B5EF4-FFF2-40B4-BE49-F238E27FC236}">
                  <a16:creationId xmlns:a16="http://schemas.microsoft.com/office/drawing/2014/main" id="{F42011B1-3E5C-48BB-B3DB-F12EB2FF0509}"/>
                </a:ext>
              </a:extLst>
            </p:cNvPr>
            <p:cNvSpPr/>
            <p:nvPr/>
          </p:nvSpPr>
          <p:spPr>
            <a:xfrm rot="5400000">
              <a:off x="6379267" y="3656622"/>
              <a:ext cx="366622" cy="100192"/>
            </a:xfrm>
            <a:prstGeom prst="rightArrow">
              <a:avLst>
                <a:gd name="adj1" fmla="val 21026"/>
                <a:gd name="adj2" fmla="val 87974"/>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矩形: 圆顶角 46">
            <a:extLst>
              <a:ext uri="{FF2B5EF4-FFF2-40B4-BE49-F238E27FC236}">
                <a16:creationId xmlns:a16="http://schemas.microsoft.com/office/drawing/2014/main" id="{9B354758-55E9-4234-ACD6-5F97E06E2119}"/>
              </a:ext>
            </a:extLst>
          </p:cNvPr>
          <p:cNvSpPr/>
          <p:nvPr/>
        </p:nvSpPr>
        <p:spPr>
          <a:xfrm>
            <a:off x="5160920" y="1816102"/>
            <a:ext cx="3170428"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敲除模型的初步功能检测</a:t>
            </a:r>
          </a:p>
        </p:txBody>
      </p:sp>
      <p:sp>
        <p:nvSpPr>
          <p:cNvPr id="48" name="文本框 47">
            <a:extLst>
              <a:ext uri="{FF2B5EF4-FFF2-40B4-BE49-F238E27FC236}">
                <a16:creationId xmlns:a16="http://schemas.microsoft.com/office/drawing/2014/main" id="{E21E325F-7B4A-4761-8ABA-791F68B70247}"/>
              </a:ext>
            </a:extLst>
          </p:cNvPr>
          <p:cNvSpPr txBox="1"/>
          <p:nvPr/>
        </p:nvSpPr>
        <p:spPr>
          <a:xfrm>
            <a:off x="4938336" y="2259285"/>
            <a:ext cx="3615596"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检测敲除</a:t>
            </a:r>
            <a:r>
              <a:rPr lang="en-US" altLang="zh-CN" sz="1600" dirty="0"/>
              <a:t>MYSM1</a:t>
            </a:r>
            <a:r>
              <a:rPr lang="zh-CN" altLang="en-US" sz="1600" dirty="0"/>
              <a:t>后巨噬细胞的增殖活性及</a:t>
            </a:r>
            <a:r>
              <a:rPr lang="en-US" altLang="zh-CN" sz="1600" dirty="0"/>
              <a:t>IL-6</a:t>
            </a:r>
            <a:r>
              <a:rPr lang="zh-CN" altLang="en-US" sz="1600" dirty="0"/>
              <a:t>、</a:t>
            </a:r>
            <a:r>
              <a:rPr lang="en-US" altLang="zh-CN" sz="1600" dirty="0"/>
              <a:t>TNF-α</a:t>
            </a:r>
            <a:r>
              <a:rPr lang="zh-CN" altLang="en-US" sz="1600" dirty="0"/>
              <a:t>等炎症因子的分泌水平，分析其免疫功能变化</a:t>
            </a:r>
          </a:p>
        </p:txBody>
      </p:sp>
      <p:pic>
        <p:nvPicPr>
          <p:cNvPr id="49" name="Picture 2" descr="查看图片">
            <a:extLst>
              <a:ext uri="{FF2B5EF4-FFF2-40B4-BE49-F238E27FC236}">
                <a16:creationId xmlns:a16="http://schemas.microsoft.com/office/drawing/2014/main" id="{DD5E739E-22A4-42C8-ABE8-3F397A3D090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220" t="43754" r="28750" b="33595"/>
          <a:stretch/>
        </p:blipFill>
        <p:spPr bwMode="auto">
          <a:xfrm>
            <a:off x="1194067" y="4041182"/>
            <a:ext cx="3361724" cy="2520933"/>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2" descr="查看图片">
            <a:extLst>
              <a:ext uri="{FF2B5EF4-FFF2-40B4-BE49-F238E27FC236}">
                <a16:creationId xmlns:a16="http://schemas.microsoft.com/office/drawing/2014/main" id="{9091CF52-5809-48AB-9453-918F19C0FF5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055" t="43754" r="-999" b="33595"/>
          <a:stretch/>
        </p:blipFill>
        <p:spPr bwMode="auto">
          <a:xfrm>
            <a:off x="4916669" y="4041182"/>
            <a:ext cx="2873659" cy="2520933"/>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组合 43">
            <a:extLst>
              <a:ext uri="{FF2B5EF4-FFF2-40B4-BE49-F238E27FC236}">
                <a16:creationId xmlns:a16="http://schemas.microsoft.com/office/drawing/2014/main" id="{C83E184F-5FA9-4DF1-9BD3-453148AB3455}"/>
              </a:ext>
            </a:extLst>
          </p:cNvPr>
          <p:cNvGrpSpPr/>
          <p:nvPr/>
        </p:nvGrpSpPr>
        <p:grpSpPr>
          <a:xfrm>
            <a:off x="1090993" y="0"/>
            <a:ext cx="10956721" cy="836294"/>
            <a:chOff x="1090993" y="1076773"/>
            <a:chExt cx="10956721" cy="836294"/>
          </a:xfrm>
        </p:grpSpPr>
        <p:sp>
          <p:nvSpPr>
            <p:cNvPr id="51" name="任意多边形: 形状 50">
              <a:extLst>
                <a:ext uri="{FF2B5EF4-FFF2-40B4-BE49-F238E27FC236}">
                  <a16:creationId xmlns:a16="http://schemas.microsoft.com/office/drawing/2014/main" id="{B8D58519-1E1F-48A6-86A7-D6B57F167311}"/>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文本框 51">
              <a:extLst>
                <a:ext uri="{FF2B5EF4-FFF2-40B4-BE49-F238E27FC236}">
                  <a16:creationId xmlns:a16="http://schemas.microsoft.com/office/drawing/2014/main" id="{54155FA9-677C-4960-85A6-93A403E8DAA0}"/>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53" name="文本框 52">
              <a:extLst>
                <a:ext uri="{FF2B5EF4-FFF2-40B4-BE49-F238E27FC236}">
                  <a16:creationId xmlns:a16="http://schemas.microsoft.com/office/drawing/2014/main" id="{0C309559-E052-408C-A8CA-7AFB6D507192}"/>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54" name="文本框 53">
              <a:extLst>
                <a:ext uri="{FF2B5EF4-FFF2-40B4-BE49-F238E27FC236}">
                  <a16:creationId xmlns:a16="http://schemas.microsoft.com/office/drawing/2014/main" id="{DDC3F614-D8A1-4FC7-9046-B75F226740A9}"/>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5" name="文本框 54">
              <a:extLst>
                <a:ext uri="{FF2B5EF4-FFF2-40B4-BE49-F238E27FC236}">
                  <a16:creationId xmlns:a16="http://schemas.microsoft.com/office/drawing/2014/main" id="{AA3CFFBB-5AF6-40A2-9752-B12EAC957B90}"/>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6" name="文本框 55">
              <a:extLst>
                <a:ext uri="{FF2B5EF4-FFF2-40B4-BE49-F238E27FC236}">
                  <a16:creationId xmlns:a16="http://schemas.microsoft.com/office/drawing/2014/main" id="{7F950D62-6F46-4908-8FA6-927A04D13FA0}"/>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7" name="文本框 56">
              <a:extLst>
                <a:ext uri="{FF2B5EF4-FFF2-40B4-BE49-F238E27FC236}">
                  <a16:creationId xmlns:a16="http://schemas.microsoft.com/office/drawing/2014/main" id="{FDC48F9E-E76F-4DE6-88CD-0B9453AC9A65}"/>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58" name="直接连接符 57">
              <a:extLst>
                <a:ext uri="{FF2B5EF4-FFF2-40B4-BE49-F238E27FC236}">
                  <a16:creationId xmlns:a16="http://schemas.microsoft.com/office/drawing/2014/main" id="{601F1B08-5DD6-417F-A5A8-04B9E9FF469D}"/>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C2FD4DD0-C48C-4764-B7D0-784591560530}"/>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FB4A061E-3E09-43A5-92D8-88102FB331E6}"/>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658189A4-53B9-4936-B551-95E3627E796D}"/>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51AF401B-18D8-4CCC-9C9A-A052F3B7D6CD}"/>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61484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2"/>
            <a:ext cx="303569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圆角 13">
            <a:extLst>
              <a:ext uri="{FF2B5EF4-FFF2-40B4-BE49-F238E27FC236}">
                <a16:creationId xmlns:a16="http://schemas.microsoft.com/office/drawing/2014/main" id="{D8DDBBFE-275A-41A7-ABF4-E39F33F6F230}"/>
              </a:ext>
            </a:extLst>
          </p:cNvPr>
          <p:cNvSpPr/>
          <p:nvPr/>
        </p:nvSpPr>
        <p:spPr>
          <a:xfrm>
            <a:off x="3787576" y="1826262"/>
            <a:ext cx="4900171" cy="4771388"/>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矩形: 圆顶角 17">
            <a:extLst>
              <a:ext uri="{FF2B5EF4-FFF2-40B4-BE49-F238E27FC236}">
                <a16:creationId xmlns:a16="http://schemas.microsoft.com/office/drawing/2014/main" id="{A5E3953C-8D54-4517-B4AE-FC8808B07825}"/>
              </a:ext>
            </a:extLst>
          </p:cNvPr>
          <p:cNvSpPr/>
          <p:nvPr/>
        </p:nvSpPr>
        <p:spPr>
          <a:xfrm>
            <a:off x="988057"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核心研究内容</a:t>
            </a:r>
          </a:p>
        </p:txBody>
      </p:sp>
      <p:sp>
        <p:nvSpPr>
          <p:cNvPr id="28" name="矩形: 圆顶角 27">
            <a:extLst>
              <a:ext uri="{FF2B5EF4-FFF2-40B4-BE49-F238E27FC236}">
                <a16:creationId xmlns:a16="http://schemas.microsoft.com/office/drawing/2014/main" id="{C4B156B9-A301-488B-9DB2-AFEB960F6724}"/>
              </a:ext>
            </a:extLst>
          </p:cNvPr>
          <p:cNvSpPr/>
          <p:nvPr/>
        </p:nvSpPr>
        <p:spPr>
          <a:xfrm>
            <a:off x="5032220" y="1816102"/>
            <a:ext cx="2410882"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核心研究数据</a:t>
            </a:r>
          </a:p>
        </p:txBody>
      </p:sp>
      <p:sp>
        <p:nvSpPr>
          <p:cNvPr id="41" name="矩形: 圆角 40">
            <a:extLst>
              <a:ext uri="{FF2B5EF4-FFF2-40B4-BE49-F238E27FC236}">
                <a16:creationId xmlns:a16="http://schemas.microsoft.com/office/drawing/2014/main" id="{D6E14E77-73A3-47F4-9E41-0999B327E354}"/>
              </a:ext>
            </a:extLst>
          </p:cNvPr>
          <p:cNvSpPr/>
          <p:nvPr/>
        </p:nvSpPr>
        <p:spPr>
          <a:xfrm>
            <a:off x="9297256" y="1488048"/>
            <a:ext cx="2307370" cy="5106268"/>
          </a:xfrm>
          <a:prstGeom prst="roundRect">
            <a:avLst>
              <a:gd name="adj" fmla="val 4721"/>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3" name="矩形: 圆顶角 42">
            <a:extLst>
              <a:ext uri="{FF2B5EF4-FFF2-40B4-BE49-F238E27FC236}">
                <a16:creationId xmlns:a16="http://schemas.microsoft.com/office/drawing/2014/main" id="{A39E117D-91D0-4A2A-BCC0-30D631F76112}"/>
              </a:ext>
            </a:extLst>
          </p:cNvPr>
          <p:cNvSpPr/>
          <p:nvPr/>
        </p:nvSpPr>
        <p:spPr>
          <a:xfrm>
            <a:off x="9685894" y="1482333"/>
            <a:ext cx="153009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研究结果</a:t>
            </a:r>
          </a:p>
        </p:txBody>
      </p:sp>
      <p:sp>
        <p:nvSpPr>
          <p:cNvPr id="48" name="箭头: 右 47">
            <a:extLst>
              <a:ext uri="{FF2B5EF4-FFF2-40B4-BE49-F238E27FC236}">
                <a16:creationId xmlns:a16="http://schemas.microsoft.com/office/drawing/2014/main" id="{94CAC3F5-C755-4C12-8DD4-C8914862963D}"/>
              </a:ext>
            </a:extLst>
          </p:cNvPr>
          <p:cNvSpPr/>
          <p:nvPr/>
        </p:nvSpPr>
        <p:spPr>
          <a:xfrm>
            <a:off x="8809191" y="29584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箭头: 右 48">
            <a:extLst>
              <a:ext uri="{FF2B5EF4-FFF2-40B4-BE49-F238E27FC236}">
                <a16:creationId xmlns:a16="http://schemas.microsoft.com/office/drawing/2014/main" id="{36494104-A7D7-4BF4-9784-0617228ADF02}"/>
              </a:ext>
            </a:extLst>
          </p:cNvPr>
          <p:cNvSpPr/>
          <p:nvPr/>
        </p:nvSpPr>
        <p:spPr>
          <a:xfrm>
            <a:off x="8809191" y="5444490"/>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AECB393-4E74-43F4-A47A-552F9FD2BCA6}"/>
              </a:ext>
            </a:extLst>
          </p:cNvPr>
          <p:cNvSpPr txBox="1"/>
          <p:nvPr/>
        </p:nvSpPr>
        <p:spPr>
          <a:xfrm>
            <a:off x="462084" y="1153703"/>
            <a:ext cx="228460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研究内容二</a:t>
            </a:r>
            <a:r>
              <a:rPr lang="en-US" altLang="zh-CN" sz="2400" dirty="0">
                <a:latin typeface="思源黑体 CN Bold" panose="020B0800000000000000" pitchFamily="34" charset="-122"/>
                <a:ea typeface="思源黑体 CN Bold" panose="020B0800000000000000" pitchFamily="34" charset="-122"/>
              </a:rPr>
              <a:t>:</a:t>
            </a:r>
            <a:endParaRPr lang="zh-CN" altLang="en-US" sz="2400" dirty="0">
              <a:latin typeface="思源黑体 CN Bold" panose="020B0800000000000000" pitchFamily="34" charset="-122"/>
              <a:ea typeface="思源黑体 CN Bold" panose="020B0800000000000000" pitchFamily="34" charset="-122"/>
            </a:endParaRPr>
          </a:p>
        </p:txBody>
      </p:sp>
      <p:sp>
        <p:nvSpPr>
          <p:cNvPr id="25" name="文本框 24">
            <a:extLst>
              <a:ext uri="{FF2B5EF4-FFF2-40B4-BE49-F238E27FC236}">
                <a16:creationId xmlns:a16="http://schemas.microsoft.com/office/drawing/2014/main" id="{E95AAAA4-6421-4EC9-B900-43FF964725C7}"/>
              </a:ext>
            </a:extLst>
          </p:cNvPr>
          <p:cNvSpPr txBox="1"/>
          <p:nvPr/>
        </p:nvSpPr>
        <p:spPr>
          <a:xfrm>
            <a:off x="2727770" y="1184480"/>
            <a:ext cx="3138167" cy="400110"/>
          </a:xfrm>
          <a:prstGeom prst="rect">
            <a:avLst/>
          </a:prstGeom>
          <a:noFill/>
        </p:spPr>
        <p:txBody>
          <a:bodyPr wrap="none" rtlCol="0">
            <a:spAutoFit/>
          </a:bodyPr>
          <a:lstStyle>
            <a:defPPr>
              <a:defRPr lang="zh-CN"/>
            </a:defPPr>
            <a:lvl1pPr>
              <a:defRPr sz="2000">
                <a:solidFill>
                  <a:schemeClr val="accent1"/>
                </a:solidFill>
                <a:latin typeface="思源黑体 CN Bold" panose="020B0800000000000000" pitchFamily="34" charset="-122"/>
                <a:ea typeface="思源黑体 CN Bold" panose="020B0800000000000000" pitchFamily="34" charset="-122"/>
              </a:defRPr>
            </a:lvl1pPr>
          </a:lstStyle>
          <a:p>
            <a:r>
              <a:rPr lang="en-US" altLang="zh-CN" dirty="0"/>
              <a:t>DXSVDFB</a:t>
            </a:r>
            <a:r>
              <a:rPr lang="zh-CN" altLang="en-US" dirty="0"/>
              <a:t>策略构建</a:t>
            </a:r>
            <a:r>
              <a:rPr lang="zh-CN" altLang="en-US"/>
              <a:t>与验证</a:t>
            </a:r>
            <a:endParaRPr lang="en-US" altLang="zh-CN" dirty="0"/>
          </a:p>
        </p:txBody>
      </p:sp>
      <p:grpSp>
        <p:nvGrpSpPr>
          <p:cNvPr id="4" name="组合 3">
            <a:extLst>
              <a:ext uri="{FF2B5EF4-FFF2-40B4-BE49-F238E27FC236}">
                <a16:creationId xmlns:a16="http://schemas.microsoft.com/office/drawing/2014/main" id="{59ACB6FD-5694-4465-99D2-7DBB4C4EE64F}"/>
              </a:ext>
            </a:extLst>
          </p:cNvPr>
          <p:cNvGrpSpPr/>
          <p:nvPr/>
        </p:nvGrpSpPr>
        <p:grpSpPr>
          <a:xfrm>
            <a:off x="720048" y="2427031"/>
            <a:ext cx="2764833" cy="1021400"/>
            <a:chOff x="720048" y="2386391"/>
            <a:chExt cx="2764833" cy="1021400"/>
          </a:xfrm>
        </p:grpSpPr>
        <p:sp>
          <p:nvSpPr>
            <p:cNvPr id="26" name="文本框 25">
              <a:extLst>
                <a:ext uri="{FF2B5EF4-FFF2-40B4-BE49-F238E27FC236}">
                  <a16:creationId xmlns:a16="http://schemas.microsoft.com/office/drawing/2014/main" id="{AA6B332E-9FAE-4A5C-B6C8-7C0CE3FB3915}"/>
                </a:ext>
              </a:extLst>
            </p:cNvPr>
            <p:cNvSpPr txBox="1"/>
            <p:nvPr/>
          </p:nvSpPr>
          <p:spPr>
            <a:xfrm>
              <a:off x="720049" y="238639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策略框架搭建：</a:t>
              </a:r>
            </a:p>
          </p:txBody>
        </p:sp>
        <p:sp>
          <p:nvSpPr>
            <p:cNvPr id="27" name="文本框 26">
              <a:extLst>
                <a:ext uri="{FF2B5EF4-FFF2-40B4-BE49-F238E27FC236}">
                  <a16:creationId xmlns:a16="http://schemas.microsoft.com/office/drawing/2014/main" id="{924DAFE5-8358-467B-ABA2-EBED95927629}"/>
                </a:ext>
              </a:extLst>
            </p:cNvPr>
            <p:cNvSpPr txBox="1"/>
            <p:nvPr/>
          </p:nvSpPr>
          <p:spPr>
            <a:xfrm>
              <a:off x="720048" y="270131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构建</a:t>
              </a:r>
              <a:r>
                <a:rPr lang="en-US" altLang="zh-CN" sz="1600" dirty="0"/>
                <a:t>DXSVDFB</a:t>
              </a:r>
              <a:r>
                <a:rPr lang="zh-CN" altLang="en-US" sz="1600" dirty="0"/>
                <a:t>三层调度框架，适配</a:t>
              </a:r>
              <a:r>
                <a:rPr lang="en-US" altLang="zh-CN" sz="1600" dirty="0"/>
                <a:t>5G</a:t>
              </a:r>
              <a:r>
                <a:rPr lang="zh-CN" altLang="en-US" sz="1600" dirty="0"/>
                <a:t>多业务场景需求；</a:t>
              </a:r>
            </a:p>
          </p:txBody>
        </p:sp>
      </p:grpSp>
      <p:grpSp>
        <p:nvGrpSpPr>
          <p:cNvPr id="3" name="组合 2">
            <a:extLst>
              <a:ext uri="{FF2B5EF4-FFF2-40B4-BE49-F238E27FC236}">
                <a16:creationId xmlns:a16="http://schemas.microsoft.com/office/drawing/2014/main" id="{89F46902-F9D9-49C9-B831-46AD98256BB9}"/>
              </a:ext>
            </a:extLst>
          </p:cNvPr>
          <p:cNvGrpSpPr/>
          <p:nvPr/>
        </p:nvGrpSpPr>
        <p:grpSpPr>
          <a:xfrm>
            <a:off x="720048" y="3816911"/>
            <a:ext cx="2764833" cy="1021400"/>
            <a:chOff x="720048" y="3734651"/>
            <a:chExt cx="2764833" cy="1021400"/>
          </a:xfrm>
        </p:grpSpPr>
        <p:sp>
          <p:nvSpPr>
            <p:cNvPr id="29" name="文本框 28">
              <a:extLst>
                <a:ext uri="{FF2B5EF4-FFF2-40B4-BE49-F238E27FC236}">
                  <a16:creationId xmlns:a16="http://schemas.microsoft.com/office/drawing/2014/main" id="{22F1FEE2-8339-41B5-8D7B-B7FBFE708087}"/>
                </a:ext>
              </a:extLst>
            </p:cNvPr>
            <p:cNvSpPr txBox="1"/>
            <p:nvPr/>
          </p:nvSpPr>
          <p:spPr>
            <a:xfrm>
              <a:off x="720049" y="3734651"/>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关键算法设计：</a:t>
              </a:r>
            </a:p>
          </p:txBody>
        </p:sp>
        <p:sp>
          <p:nvSpPr>
            <p:cNvPr id="30" name="文本框 29">
              <a:extLst>
                <a:ext uri="{FF2B5EF4-FFF2-40B4-BE49-F238E27FC236}">
                  <a16:creationId xmlns:a16="http://schemas.microsoft.com/office/drawing/2014/main" id="{7E3233C9-0041-4EB7-BD00-FBC5627F3348}"/>
                </a:ext>
              </a:extLst>
            </p:cNvPr>
            <p:cNvSpPr txBox="1"/>
            <p:nvPr/>
          </p:nvSpPr>
          <p:spPr>
            <a:xfrm>
              <a:off x="720048" y="4049576"/>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设计自适应权重算法，优化策略资源分配实时性；</a:t>
              </a:r>
            </a:p>
          </p:txBody>
        </p:sp>
      </p:grpSp>
      <p:grpSp>
        <p:nvGrpSpPr>
          <p:cNvPr id="2" name="组合 1">
            <a:extLst>
              <a:ext uri="{FF2B5EF4-FFF2-40B4-BE49-F238E27FC236}">
                <a16:creationId xmlns:a16="http://schemas.microsoft.com/office/drawing/2014/main" id="{5A4F7FBB-9433-4E9D-A03D-36E6F2266319}"/>
              </a:ext>
            </a:extLst>
          </p:cNvPr>
          <p:cNvGrpSpPr/>
          <p:nvPr/>
        </p:nvGrpSpPr>
        <p:grpSpPr>
          <a:xfrm>
            <a:off x="720048" y="5206790"/>
            <a:ext cx="2764833" cy="1021400"/>
            <a:chOff x="720048" y="5166150"/>
            <a:chExt cx="2764833" cy="1021400"/>
          </a:xfrm>
        </p:grpSpPr>
        <p:sp>
          <p:nvSpPr>
            <p:cNvPr id="31" name="文本框 30">
              <a:extLst>
                <a:ext uri="{FF2B5EF4-FFF2-40B4-BE49-F238E27FC236}">
                  <a16:creationId xmlns:a16="http://schemas.microsoft.com/office/drawing/2014/main" id="{EF1A664E-D4FF-483C-8A71-C621F4F70795}"/>
                </a:ext>
              </a:extLst>
            </p:cNvPr>
            <p:cNvSpPr txBox="1"/>
            <p:nvPr/>
          </p:nvSpPr>
          <p:spPr>
            <a:xfrm>
              <a:off x="720049" y="516615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algn="just">
                <a:lnSpc>
                  <a:spcPct val="130000"/>
                </a:lnSpc>
                <a:buFont typeface="Wingdings" panose="05000000000000000000" pitchFamily="2" charset="2"/>
                <a:buChar char="ü"/>
              </a:pPr>
              <a:r>
                <a:rPr lang="zh-CN" altLang="en-US" sz="1600" dirty="0">
                  <a:latin typeface="思源黑体 CN Bold" panose="020B0800000000000000" pitchFamily="34" charset="-122"/>
                  <a:ea typeface="思源黑体 CN Bold" panose="020B0800000000000000" pitchFamily="34" charset="-122"/>
                </a:rPr>
                <a:t>仿真验证方案：</a:t>
              </a:r>
            </a:p>
          </p:txBody>
        </p:sp>
        <p:sp>
          <p:nvSpPr>
            <p:cNvPr id="32" name="文本框 31">
              <a:extLst>
                <a:ext uri="{FF2B5EF4-FFF2-40B4-BE49-F238E27FC236}">
                  <a16:creationId xmlns:a16="http://schemas.microsoft.com/office/drawing/2014/main" id="{CC0B2D48-1273-43C6-8460-5070EE73F740}"/>
                </a:ext>
              </a:extLst>
            </p:cNvPr>
            <p:cNvSpPr txBox="1"/>
            <p:nvPr/>
          </p:nvSpPr>
          <p:spPr>
            <a:xfrm>
              <a:off x="720048" y="5481075"/>
              <a:ext cx="2764832" cy="706475"/>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基于</a:t>
              </a:r>
              <a:r>
                <a:rPr lang="en-US" altLang="zh-CN" sz="1600" dirty="0"/>
                <a:t>NS-3</a:t>
              </a:r>
              <a:r>
                <a:rPr lang="zh-CN" altLang="en-US" sz="1600" dirty="0"/>
                <a:t>搭建仿真平台，验证策略性能优势。</a:t>
              </a:r>
            </a:p>
          </p:txBody>
        </p:sp>
      </p:grpSp>
      <p:grpSp>
        <p:nvGrpSpPr>
          <p:cNvPr id="5" name="组合 4">
            <a:extLst>
              <a:ext uri="{FF2B5EF4-FFF2-40B4-BE49-F238E27FC236}">
                <a16:creationId xmlns:a16="http://schemas.microsoft.com/office/drawing/2014/main" id="{D299C9BE-AA6A-43B2-B64A-403CAEC85578}"/>
              </a:ext>
            </a:extLst>
          </p:cNvPr>
          <p:cNvGrpSpPr/>
          <p:nvPr/>
        </p:nvGrpSpPr>
        <p:grpSpPr>
          <a:xfrm>
            <a:off x="4045998" y="2294521"/>
            <a:ext cx="4403646" cy="1929525"/>
            <a:chOff x="4027743" y="2427031"/>
            <a:chExt cx="2882369" cy="1262954"/>
          </a:xfrm>
        </p:grpSpPr>
        <p:pic>
          <p:nvPicPr>
            <p:cNvPr id="2054" name="Picture 6" descr="查看图片">
              <a:extLst>
                <a:ext uri="{FF2B5EF4-FFF2-40B4-BE49-F238E27FC236}">
                  <a16:creationId xmlns:a16="http://schemas.microsoft.com/office/drawing/2014/main" id="{7527E9A6-C912-4E90-A4F8-A7E722A9357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16" r="72994" b="81584"/>
            <a:stretch/>
          </p:blipFill>
          <p:spPr bwMode="auto">
            <a:xfrm>
              <a:off x="4027743" y="2427031"/>
              <a:ext cx="1254642" cy="126295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6" descr="查看图片">
              <a:extLst>
                <a:ext uri="{FF2B5EF4-FFF2-40B4-BE49-F238E27FC236}">
                  <a16:creationId xmlns:a16="http://schemas.microsoft.com/office/drawing/2014/main" id="{7BB94F86-68AE-467A-9157-3F3926809FF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8298" r="72994" b="70009"/>
            <a:stretch/>
          </p:blipFill>
          <p:spPr bwMode="auto">
            <a:xfrm>
              <a:off x="5532207" y="2888048"/>
              <a:ext cx="1377905" cy="801936"/>
            </a:xfrm>
            <a:prstGeom prst="rect">
              <a:avLst/>
            </a:prstGeom>
            <a:noFill/>
            <a:extLst>
              <a:ext uri="{909E8E84-426E-40DD-AFC4-6F175D3DCCD1}">
                <a14:hiddenFill xmlns:a14="http://schemas.microsoft.com/office/drawing/2010/main">
                  <a:solidFill>
                    <a:srgbClr val="FFFFFF"/>
                  </a:solidFill>
                </a14:hiddenFill>
              </a:ext>
            </a:extLst>
          </p:spPr>
        </p:pic>
      </p:grpSp>
      <p:pic>
        <p:nvPicPr>
          <p:cNvPr id="50" name="Picture 6" descr="查看图片">
            <a:extLst>
              <a:ext uri="{FF2B5EF4-FFF2-40B4-BE49-F238E27FC236}">
                <a16:creationId xmlns:a16="http://schemas.microsoft.com/office/drawing/2014/main" id="{42EDB0B0-568E-4176-8F4A-360C52BFF0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05" t="30475" r="48653" b="53102"/>
          <a:stretch/>
        </p:blipFill>
        <p:spPr bwMode="auto">
          <a:xfrm>
            <a:off x="3936432" y="4389941"/>
            <a:ext cx="4647711" cy="2109097"/>
          </a:xfrm>
          <a:prstGeom prst="rect">
            <a:avLst/>
          </a:prstGeom>
          <a:noFill/>
          <a:extLst>
            <a:ext uri="{909E8E84-426E-40DD-AFC4-6F175D3DCCD1}">
              <a14:hiddenFill xmlns:a14="http://schemas.microsoft.com/office/drawing/2010/main">
                <a:solidFill>
                  <a:srgbClr val="FFFFFF"/>
                </a:solidFill>
              </a14:hiddenFill>
            </a:ext>
          </a:extLst>
        </p:spPr>
      </p:pic>
      <p:sp>
        <p:nvSpPr>
          <p:cNvPr id="51" name="矩形: 圆角 50">
            <a:extLst>
              <a:ext uri="{FF2B5EF4-FFF2-40B4-BE49-F238E27FC236}">
                <a16:creationId xmlns:a16="http://schemas.microsoft.com/office/drawing/2014/main" id="{7F28720A-9A4C-46EE-BBAD-D6C886EB8C8D}"/>
              </a:ext>
            </a:extLst>
          </p:cNvPr>
          <p:cNvSpPr/>
          <p:nvPr/>
        </p:nvSpPr>
        <p:spPr>
          <a:xfrm>
            <a:off x="9410700" y="1917156"/>
            <a:ext cx="2075997" cy="990926"/>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提出</a:t>
            </a:r>
            <a:r>
              <a:rPr lang="en-US" altLang="zh-CN" sz="1600" dirty="0">
                <a:solidFill>
                  <a:schemeClr val="tx1"/>
                </a:solidFill>
                <a:latin typeface="思源黑体 CN Regular" panose="020B0500000000000000" pitchFamily="34" charset="-122"/>
                <a:ea typeface="思源黑体 CN Regular" panose="020B0500000000000000" pitchFamily="34" charset="-122"/>
              </a:rPr>
              <a:t>DXSVDFB</a:t>
            </a:r>
            <a:r>
              <a:rPr lang="zh-CN" altLang="en-US" sz="1600" dirty="0">
                <a:solidFill>
                  <a:schemeClr val="tx1"/>
                </a:solidFill>
                <a:latin typeface="思源黑体 CN Regular" panose="020B0500000000000000" pitchFamily="34" charset="-122"/>
                <a:ea typeface="思源黑体 CN Regular" panose="020B0500000000000000" pitchFamily="34" charset="-122"/>
              </a:rPr>
              <a:t>创新策略，明确三层框架核心逻辑与设计要点。</a:t>
            </a:r>
            <a:endParaRPr lang="en-US" altLang="zh-CN" sz="1600" dirty="0">
              <a:solidFill>
                <a:schemeClr val="tx1"/>
              </a:solidFill>
              <a:latin typeface="思源黑体 CN Regular" panose="020B0500000000000000" pitchFamily="34" charset="-122"/>
              <a:ea typeface="思源黑体 CN Regular" panose="020B0500000000000000" pitchFamily="34" charset="-122"/>
            </a:endParaRPr>
          </a:p>
        </p:txBody>
      </p:sp>
      <p:sp>
        <p:nvSpPr>
          <p:cNvPr id="52" name="矩形: 圆角 51">
            <a:extLst>
              <a:ext uri="{FF2B5EF4-FFF2-40B4-BE49-F238E27FC236}">
                <a16:creationId xmlns:a16="http://schemas.microsoft.com/office/drawing/2014/main" id="{0EB36735-CE9A-45C8-8A41-856D163E021A}"/>
              </a:ext>
            </a:extLst>
          </p:cNvPr>
          <p:cNvSpPr/>
          <p:nvPr/>
        </p:nvSpPr>
        <p:spPr>
          <a:xfrm>
            <a:off x="9410700" y="3364812"/>
            <a:ext cx="2075997" cy="1433649"/>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以实时性、高效性为目标，完成自适应权重算法设计，解决多业务资源冲突问题。</a:t>
            </a:r>
          </a:p>
        </p:txBody>
      </p:sp>
      <p:sp>
        <p:nvSpPr>
          <p:cNvPr id="53" name="矩形: 圆角 52">
            <a:extLst>
              <a:ext uri="{FF2B5EF4-FFF2-40B4-BE49-F238E27FC236}">
                <a16:creationId xmlns:a16="http://schemas.microsoft.com/office/drawing/2014/main" id="{4FEE0FF7-BE38-4848-A7F4-EB74BBFB36D0}"/>
              </a:ext>
            </a:extLst>
          </p:cNvPr>
          <p:cNvSpPr/>
          <p:nvPr/>
        </p:nvSpPr>
        <p:spPr>
          <a:xfrm>
            <a:off x="9410700" y="5255192"/>
            <a:ext cx="2075997" cy="1239381"/>
          </a:xfrm>
          <a:prstGeom prst="roundRect">
            <a:avLst>
              <a:gd name="adj" fmla="val 998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思源黑体 CN Regular" panose="020B0500000000000000" pitchFamily="34" charset="-122"/>
                <a:ea typeface="思源黑体 CN Regular" panose="020B0500000000000000" pitchFamily="34" charset="-122"/>
              </a:rPr>
              <a:t>规划仿真验证流程，通过对比实验验证策略在吞吐量、时延上的性能提升。</a:t>
            </a:r>
          </a:p>
        </p:txBody>
      </p:sp>
      <p:sp>
        <p:nvSpPr>
          <p:cNvPr id="54" name="箭头: 右 53">
            <a:extLst>
              <a:ext uri="{FF2B5EF4-FFF2-40B4-BE49-F238E27FC236}">
                <a16:creationId xmlns:a16="http://schemas.microsoft.com/office/drawing/2014/main" id="{50278BC9-A9D2-42B0-A323-CE88459D7068}"/>
              </a:ext>
            </a:extLst>
          </p:cNvPr>
          <p:cNvSpPr/>
          <p:nvPr/>
        </p:nvSpPr>
        <p:spPr>
          <a:xfrm rot="5400000">
            <a:off x="10256293" y="2927260"/>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206B800B-54C7-41D9-BE6F-BB31C3B0480D}"/>
              </a:ext>
            </a:extLst>
          </p:cNvPr>
          <p:cNvSpPr/>
          <p:nvPr/>
        </p:nvSpPr>
        <p:spPr>
          <a:xfrm rot="5400000">
            <a:off x="10256293" y="4817639"/>
            <a:ext cx="384810" cy="418374"/>
          </a:xfrm>
          <a:prstGeom prst="rightArrow">
            <a:avLst/>
          </a:prstGeom>
          <a:solidFill>
            <a:schemeClr val="bg1"/>
          </a:solid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4" name="组合 43">
            <a:extLst>
              <a:ext uri="{FF2B5EF4-FFF2-40B4-BE49-F238E27FC236}">
                <a16:creationId xmlns:a16="http://schemas.microsoft.com/office/drawing/2014/main" id="{93D60A43-26D5-47A6-B995-28E7280C9EF5}"/>
              </a:ext>
            </a:extLst>
          </p:cNvPr>
          <p:cNvGrpSpPr/>
          <p:nvPr/>
        </p:nvGrpSpPr>
        <p:grpSpPr>
          <a:xfrm>
            <a:off x="1090993" y="0"/>
            <a:ext cx="10956721" cy="836294"/>
            <a:chOff x="1090993" y="1076773"/>
            <a:chExt cx="10956721" cy="836294"/>
          </a:xfrm>
        </p:grpSpPr>
        <p:sp>
          <p:nvSpPr>
            <p:cNvPr id="45" name="任意多边形: 形状 44">
              <a:extLst>
                <a:ext uri="{FF2B5EF4-FFF2-40B4-BE49-F238E27FC236}">
                  <a16:creationId xmlns:a16="http://schemas.microsoft.com/office/drawing/2014/main" id="{C6A8BDCE-A895-42C9-BAD7-9843455E15C4}"/>
                </a:ext>
              </a:extLst>
            </p:cNvPr>
            <p:cNvSpPr/>
            <p:nvPr/>
          </p:nvSpPr>
          <p:spPr>
            <a:xfrm flipH="1" flipV="1">
              <a:off x="2825794" y="1076773"/>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文本框 45">
              <a:extLst>
                <a:ext uri="{FF2B5EF4-FFF2-40B4-BE49-F238E27FC236}">
                  <a16:creationId xmlns:a16="http://schemas.microsoft.com/office/drawing/2014/main" id="{8FC9EFFD-D5B6-4C3C-A209-71DCD88AED0B}"/>
                </a:ext>
              </a:extLst>
            </p:cNvPr>
            <p:cNvSpPr txBox="1"/>
            <p:nvPr/>
          </p:nvSpPr>
          <p:spPr>
            <a:xfrm>
              <a:off x="7272525" y="1340734"/>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7" name="文本框 46">
              <a:extLst>
                <a:ext uri="{FF2B5EF4-FFF2-40B4-BE49-F238E27FC236}">
                  <a16:creationId xmlns:a16="http://schemas.microsoft.com/office/drawing/2014/main" id="{3980F7CD-BDE0-4187-8822-3512915144BF}"/>
                </a:ext>
              </a:extLst>
            </p:cNvPr>
            <p:cNvSpPr txBox="1"/>
            <p:nvPr/>
          </p:nvSpPr>
          <p:spPr>
            <a:xfrm>
              <a:off x="5209025" y="1340734"/>
              <a:ext cx="1827076"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研究方法与思路</a:t>
              </a:r>
            </a:p>
          </p:txBody>
        </p:sp>
        <p:sp>
          <p:nvSpPr>
            <p:cNvPr id="56" name="文本框 55">
              <a:extLst>
                <a:ext uri="{FF2B5EF4-FFF2-40B4-BE49-F238E27FC236}">
                  <a16:creationId xmlns:a16="http://schemas.microsoft.com/office/drawing/2014/main" id="{6137DEB0-16D2-401B-9BDB-D0DE4BD76CBF}"/>
                </a:ext>
              </a:extLst>
            </p:cNvPr>
            <p:cNvSpPr txBox="1"/>
            <p:nvPr/>
          </p:nvSpPr>
          <p:spPr>
            <a:xfrm>
              <a:off x="9325073" y="1340734"/>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7" name="文本框 56">
              <a:extLst>
                <a:ext uri="{FF2B5EF4-FFF2-40B4-BE49-F238E27FC236}">
                  <a16:creationId xmlns:a16="http://schemas.microsoft.com/office/drawing/2014/main" id="{C9C5CBA8-DFDB-4B0A-9760-53E52B155B0E}"/>
                </a:ext>
              </a:extLst>
            </p:cNvPr>
            <p:cNvSpPr txBox="1"/>
            <p:nvPr/>
          </p:nvSpPr>
          <p:spPr>
            <a:xfrm>
              <a:off x="3153565" y="1340734"/>
              <a:ext cx="181903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研究目标和内容</a:t>
              </a:r>
            </a:p>
          </p:txBody>
        </p:sp>
        <p:sp>
          <p:nvSpPr>
            <p:cNvPr id="58" name="文本框 57">
              <a:extLst>
                <a:ext uri="{FF2B5EF4-FFF2-40B4-BE49-F238E27FC236}">
                  <a16:creationId xmlns:a16="http://schemas.microsoft.com/office/drawing/2014/main" id="{92D01FFA-DD19-4E5A-9050-8AC0BB80D0AC}"/>
                </a:ext>
              </a:extLst>
            </p:cNvPr>
            <p:cNvSpPr txBox="1"/>
            <p:nvPr/>
          </p:nvSpPr>
          <p:spPr>
            <a:xfrm>
              <a:off x="1090993" y="1340734"/>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59" name="文本框 58">
              <a:extLst>
                <a:ext uri="{FF2B5EF4-FFF2-40B4-BE49-F238E27FC236}">
                  <a16:creationId xmlns:a16="http://schemas.microsoft.com/office/drawing/2014/main" id="{A0607278-9EBE-4857-9CE9-28677442DBF4}"/>
                </a:ext>
              </a:extLst>
            </p:cNvPr>
            <p:cNvSpPr txBox="1"/>
            <p:nvPr/>
          </p:nvSpPr>
          <p:spPr>
            <a:xfrm>
              <a:off x="10893226" y="1340734"/>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60" name="直接连接符 59">
              <a:extLst>
                <a:ext uri="{FF2B5EF4-FFF2-40B4-BE49-F238E27FC236}">
                  <a16:creationId xmlns:a16="http://schemas.microsoft.com/office/drawing/2014/main" id="{385D363C-6D83-425B-BEA5-6A5E5AF0FB90}"/>
                </a:ext>
              </a:extLst>
            </p:cNvPr>
            <p:cNvCxnSpPr/>
            <p:nvPr/>
          </p:nvCxnSpPr>
          <p:spPr>
            <a:xfrm>
              <a:off x="71543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C90C4F01-245E-470C-A592-8970E73559EB}"/>
                </a:ext>
              </a:extLst>
            </p:cNvPr>
            <p:cNvCxnSpPr/>
            <p:nvPr/>
          </p:nvCxnSpPr>
          <p:spPr>
            <a:xfrm>
              <a:off x="509081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2" name="直接连接符 61">
              <a:extLst>
                <a:ext uri="{FF2B5EF4-FFF2-40B4-BE49-F238E27FC236}">
                  <a16:creationId xmlns:a16="http://schemas.microsoft.com/office/drawing/2014/main" id="{3CEAD353-F4CF-43E7-9D8C-8C4CA90E0BC8}"/>
                </a:ext>
              </a:extLst>
            </p:cNvPr>
            <p:cNvCxnSpPr/>
            <p:nvPr/>
          </p:nvCxnSpPr>
          <p:spPr>
            <a:xfrm>
              <a:off x="9206861"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626303B8-B4B5-4384-9654-CC753CDAE5DE}"/>
                </a:ext>
              </a:extLst>
            </p:cNvPr>
            <p:cNvCxnSpPr/>
            <p:nvPr/>
          </p:nvCxnSpPr>
          <p:spPr>
            <a:xfrm>
              <a:off x="10775015"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4" name="直接连接符 63">
              <a:extLst>
                <a:ext uri="{FF2B5EF4-FFF2-40B4-BE49-F238E27FC236}">
                  <a16:creationId xmlns:a16="http://schemas.microsoft.com/office/drawing/2014/main" id="{AD95BE44-E534-425B-92CE-0230CB972EB9}"/>
                </a:ext>
              </a:extLst>
            </p:cNvPr>
            <p:cNvCxnSpPr/>
            <p:nvPr/>
          </p:nvCxnSpPr>
          <p:spPr>
            <a:xfrm>
              <a:off x="3035353" y="1347732"/>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40708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B938B79B-92D0-402E-813E-4AE2FD81D6C9}"/>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研究方法</a:t>
            </a:r>
          </a:p>
        </p:txBody>
      </p:sp>
      <p:sp>
        <p:nvSpPr>
          <p:cNvPr id="18" name="矩形: 圆顶角 17">
            <a:extLst>
              <a:ext uri="{FF2B5EF4-FFF2-40B4-BE49-F238E27FC236}">
                <a16:creationId xmlns:a16="http://schemas.microsoft.com/office/drawing/2014/main" id="{A5E3953C-8D54-4517-B4AE-FC8808B07825}"/>
              </a:ext>
            </a:extLst>
          </p:cNvPr>
          <p:cNvSpPr/>
          <p:nvPr/>
        </p:nvSpPr>
        <p:spPr>
          <a:xfrm>
            <a:off x="860233"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细胞模型构建与耐药性验证</a:t>
            </a:r>
          </a:p>
        </p:txBody>
      </p:sp>
      <p:grpSp>
        <p:nvGrpSpPr>
          <p:cNvPr id="5" name="组合 4">
            <a:extLst>
              <a:ext uri="{FF2B5EF4-FFF2-40B4-BE49-F238E27FC236}">
                <a16:creationId xmlns:a16="http://schemas.microsoft.com/office/drawing/2014/main" id="{FAC50959-47EE-4731-81C0-F047D1197809}"/>
              </a:ext>
            </a:extLst>
          </p:cNvPr>
          <p:cNvGrpSpPr/>
          <p:nvPr/>
        </p:nvGrpSpPr>
        <p:grpSpPr>
          <a:xfrm>
            <a:off x="4947284" y="3085837"/>
            <a:ext cx="2297432" cy="2297432"/>
            <a:chOff x="4947284" y="2819400"/>
            <a:chExt cx="2297432" cy="2297432"/>
          </a:xfrm>
        </p:grpSpPr>
        <p:sp>
          <p:nvSpPr>
            <p:cNvPr id="2" name="流程图: 接点 1">
              <a:extLst>
                <a:ext uri="{FF2B5EF4-FFF2-40B4-BE49-F238E27FC236}">
                  <a16:creationId xmlns:a16="http://schemas.microsoft.com/office/drawing/2014/main" id="{9EBF4FE6-1915-4731-87F7-0C5EFB8E92BB}"/>
                </a:ext>
              </a:extLst>
            </p:cNvPr>
            <p:cNvSpPr/>
            <p:nvPr/>
          </p:nvSpPr>
          <p:spPr>
            <a:xfrm>
              <a:off x="4947284" y="2819400"/>
              <a:ext cx="2297432" cy="2297432"/>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文本框 18">
              <a:extLst>
                <a:ext uri="{FF2B5EF4-FFF2-40B4-BE49-F238E27FC236}">
                  <a16:creationId xmlns:a16="http://schemas.microsoft.com/office/drawing/2014/main" id="{C1217CDA-AD3A-45D7-AB0B-D65C0FB78ADD}"/>
                </a:ext>
              </a:extLst>
            </p:cNvPr>
            <p:cNvSpPr txBox="1"/>
            <p:nvPr/>
          </p:nvSpPr>
          <p:spPr>
            <a:xfrm>
              <a:off x="5182930" y="3675729"/>
              <a:ext cx="1826141" cy="584775"/>
            </a:xfrm>
            <a:prstGeom prst="rect">
              <a:avLst/>
            </a:prstGeom>
            <a:noFill/>
          </p:spPr>
          <p:txBody>
            <a:bodyPr wrap="none" rtlCol="0">
              <a:spAutoFit/>
            </a:bodyPr>
            <a:lstStyle/>
            <a:p>
              <a:pPr algn="ctr"/>
              <a:r>
                <a:rPr lang="zh-CN" altLang="en-US" sz="3200" dirty="0">
                  <a:solidFill>
                    <a:schemeClr val="bg1"/>
                  </a:solidFill>
                  <a:latin typeface="思源黑体 CN Bold" panose="020B0800000000000000" pitchFamily="34" charset="-122"/>
                  <a:ea typeface="思源黑体 CN Bold" panose="020B0800000000000000" pitchFamily="34" charset="-122"/>
                </a:rPr>
                <a:t>研究方法</a:t>
              </a:r>
            </a:p>
          </p:txBody>
        </p:sp>
      </p:grpSp>
      <p:sp>
        <p:nvSpPr>
          <p:cNvPr id="25" name="文本框 24">
            <a:extLst>
              <a:ext uri="{FF2B5EF4-FFF2-40B4-BE49-F238E27FC236}">
                <a16:creationId xmlns:a16="http://schemas.microsoft.com/office/drawing/2014/main" id="{648F0C32-6652-49A2-A421-9D93B5241977}"/>
              </a:ext>
            </a:extLst>
          </p:cNvPr>
          <p:cNvSpPr txBox="1"/>
          <p:nvPr/>
        </p:nvSpPr>
        <p:spPr>
          <a:xfrm>
            <a:off x="680733" y="2259932"/>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构建肝癌奥沙利铂耐药细胞株（</a:t>
            </a:r>
            <a:r>
              <a:rPr lang="en-US" altLang="zh-CN" sz="1600" dirty="0"/>
              <a:t>HepG2/</a:t>
            </a:r>
            <a:r>
              <a:rPr lang="en-US" altLang="zh-CN" sz="1600" dirty="0" err="1"/>
              <a:t>OxR</a:t>
            </a:r>
            <a:r>
              <a:rPr lang="zh-CN" altLang="en-US" sz="1600" dirty="0"/>
              <a:t>、</a:t>
            </a:r>
            <a:r>
              <a:rPr lang="en-US" altLang="zh-CN" sz="1600" dirty="0"/>
              <a:t>Huh7/</a:t>
            </a:r>
            <a:r>
              <a:rPr lang="en-US" altLang="zh-CN" sz="1600" dirty="0" err="1"/>
              <a:t>OxR</a:t>
            </a:r>
            <a:r>
              <a:rPr lang="zh-CN" altLang="en-US" sz="1600" dirty="0"/>
              <a:t>），</a:t>
            </a:r>
            <a:r>
              <a:rPr lang="en-US" altLang="zh-CN" sz="1600" dirty="0"/>
              <a:t>CCK-8</a:t>
            </a:r>
            <a:r>
              <a:rPr lang="zh-CN" altLang="en-US" sz="1600" dirty="0"/>
              <a:t>法检测</a:t>
            </a:r>
            <a:r>
              <a:rPr lang="en-US" altLang="zh-CN" sz="1600" dirty="0"/>
              <a:t>IC50</a:t>
            </a:r>
            <a:r>
              <a:rPr lang="zh-CN" altLang="en-US" sz="1600" dirty="0"/>
              <a:t>验证耐药性，</a:t>
            </a:r>
            <a:r>
              <a:rPr lang="en-US" altLang="zh-CN" sz="1600" dirty="0"/>
              <a:t>Western blot</a:t>
            </a:r>
            <a:r>
              <a:rPr lang="zh-CN" altLang="en-US" sz="1600" dirty="0"/>
              <a:t>检测</a:t>
            </a:r>
            <a:r>
              <a:rPr lang="en-US" altLang="zh-CN" sz="1600" dirty="0"/>
              <a:t>PRMT3</a:t>
            </a:r>
            <a:r>
              <a:rPr lang="zh-CN" altLang="en-US" sz="1600" dirty="0"/>
              <a:t>、</a:t>
            </a:r>
            <a:r>
              <a:rPr lang="en-US" altLang="zh-CN" sz="1600" dirty="0"/>
              <a:t>IGF2BP1</a:t>
            </a:r>
            <a:r>
              <a:rPr lang="zh-CN" altLang="en-US" sz="1600" dirty="0"/>
              <a:t>表达水平。</a:t>
            </a:r>
          </a:p>
        </p:txBody>
      </p:sp>
      <p:sp>
        <p:nvSpPr>
          <p:cNvPr id="27" name="矩形: 圆角 26">
            <a:extLst>
              <a:ext uri="{FF2B5EF4-FFF2-40B4-BE49-F238E27FC236}">
                <a16:creationId xmlns:a16="http://schemas.microsoft.com/office/drawing/2014/main" id="{DE2FCCA7-0770-442D-8DB3-371A75C57504}"/>
              </a:ext>
            </a:extLst>
          </p:cNvPr>
          <p:cNvSpPr/>
          <p:nvPr/>
        </p:nvSpPr>
        <p:spPr>
          <a:xfrm>
            <a:off x="586232"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矩形: 圆顶角 28">
            <a:extLst>
              <a:ext uri="{FF2B5EF4-FFF2-40B4-BE49-F238E27FC236}">
                <a16:creationId xmlns:a16="http://schemas.microsoft.com/office/drawing/2014/main" id="{C9D4C937-F304-4C3D-9FC0-6570CEF7408F}"/>
              </a:ext>
            </a:extLst>
          </p:cNvPr>
          <p:cNvSpPr/>
          <p:nvPr/>
        </p:nvSpPr>
        <p:spPr>
          <a:xfrm>
            <a:off x="860233"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甲基化修饰及功能验证</a:t>
            </a:r>
          </a:p>
        </p:txBody>
      </p:sp>
      <p:sp>
        <p:nvSpPr>
          <p:cNvPr id="30" name="文本框 29">
            <a:extLst>
              <a:ext uri="{FF2B5EF4-FFF2-40B4-BE49-F238E27FC236}">
                <a16:creationId xmlns:a16="http://schemas.microsoft.com/office/drawing/2014/main" id="{B7843406-B469-4E80-A287-C6D4EE4B8958}"/>
              </a:ext>
            </a:extLst>
          </p:cNvPr>
          <p:cNvSpPr txBox="1"/>
          <p:nvPr/>
        </p:nvSpPr>
        <p:spPr>
          <a:xfrm>
            <a:off x="680733" y="4871689"/>
            <a:ext cx="3860788"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体外甲基化实验验证</a:t>
            </a:r>
            <a:r>
              <a:rPr lang="en-US" altLang="zh-CN" sz="1600" dirty="0"/>
              <a:t>PRMT3</a:t>
            </a:r>
            <a:r>
              <a:rPr lang="zh-CN" altLang="en-US" sz="1600" dirty="0"/>
              <a:t>对</a:t>
            </a:r>
            <a:r>
              <a:rPr lang="en-US" altLang="zh-CN" sz="1600" dirty="0"/>
              <a:t>IGF2BP1</a:t>
            </a:r>
            <a:r>
              <a:rPr lang="zh-CN" altLang="en-US" sz="1600" dirty="0"/>
              <a:t>的精氨酸甲基化修饰；</a:t>
            </a:r>
            <a:r>
              <a:rPr lang="en-US" altLang="zh-CN" sz="1600" dirty="0" err="1"/>
              <a:t>EdU</a:t>
            </a:r>
            <a:r>
              <a:rPr lang="zh-CN" altLang="en-US" sz="1600" dirty="0"/>
              <a:t>、</a:t>
            </a:r>
            <a:r>
              <a:rPr lang="en-US" altLang="zh-CN" sz="1600" dirty="0" err="1"/>
              <a:t>Transwell</a:t>
            </a:r>
            <a:r>
              <a:rPr lang="zh-CN" altLang="en-US" sz="1600" dirty="0"/>
              <a:t>实验检测沉默</a:t>
            </a:r>
            <a:r>
              <a:rPr lang="en-US" altLang="zh-CN" sz="1600" dirty="0"/>
              <a:t>PRMT3</a:t>
            </a:r>
            <a:r>
              <a:rPr lang="zh-CN" altLang="en-US" sz="1600" dirty="0"/>
              <a:t>对耐药细胞增殖、迁移的影响。</a:t>
            </a:r>
          </a:p>
        </p:txBody>
      </p:sp>
      <p:sp>
        <p:nvSpPr>
          <p:cNvPr id="31" name="矩形: 圆角 30">
            <a:extLst>
              <a:ext uri="{FF2B5EF4-FFF2-40B4-BE49-F238E27FC236}">
                <a16:creationId xmlns:a16="http://schemas.microsoft.com/office/drawing/2014/main" id="{4A07882D-EBF8-4E37-B978-B88494F9E789}"/>
              </a:ext>
            </a:extLst>
          </p:cNvPr>
          <p:cNvSpPr/>
          <p:nvPr/>
        </p:nvSpPr>
        <p:spPr>
          <a:xfrm>
            <a:off x="7555978" y="1826261"/>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矩形: 圆顶角 31">
            <a:extLst>
              <a:ext uri="{FF2B5EF4-FFF2-40B4-BE49-F238E27FC236}">
                <a16:creationId xmlns:a16="http://schemas.microsoft.com/office/drawing/2014/main" id="{54C585AC-447F-4BAD-89AB-00644E3DE4E2}"/>
              </a:ext>
            </a:extLst>
          </p:cNvPr>
          <p:cNvSpPr/>
          <p:nvPr/>
        </p:nvSpPr>
        <p:spPr>
          <a:xfrm>
            <a:off x="7829979" y="1816102"/>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思源黑体 CN Bold" panose="020B0800000000000000" pitchFamily="34" charset="-122"/>
                <a:ea typeface="思源黑体 CN Bold" panose="020B0800000000000000" pitchFamily="34" charset="-122"/>
              </a:rPr>
              <a:t>PRMT3</a:t>
            </a:r>
            <a:r>
              <a:rPr lang="zh-CN" altLang="en-US" sz="1600" b="1" dirty="0">
                <a:latin typeface="思源黑体 CN Bold" panose="020B0800000000000000" pitchFamily="34" charset="-122"/>
                <a:ea typeface="思源黑体 CN Bold" panose="020B0800000000000000" pitchFamily="34" charset="-122"/>
              </a:rPr>
              <a:t>与</a:t>
            </a:r>
            <a:r>
              <a:rPr lang="en-US" altLang="zh-CN" sz="1600" b="1" dirty="0">
                <a:latin typeface="思源黑体 CN Bold" panose="020B0800000000000000" pitchFamily="34" charset="-122"/>
                <a:ea typeface="思源黑体 CN Bold" panose="020B0800000000000000" pitchFamily="34" charset="-122"/>
              </a:rPr>
              <a:t>IGF2BP1</a:t>
            </a:r>
            <a:r>
              <a:rPr lang="zh-CN" altLang="en-US" sz="1600" b="1" dirty="0">
                <a:latin typeface="思源黑体 CN Bold" panose="020B0800000000000000" pitchFamily="34" charset="-122"/>
                <a:ea typeface="思源黑体 CN Bold" panose="020B0800000000000000" pitchFamily="34" charset="-122"/>
              </a:rPr>
              <a:t>相互作用验证</a:t>
            </a:r>
          </a:p>
        </p:txBody>
      </p:sp>
      <p:sp>
        <p:nvSpPr>
          <p:cNvPr id="39" name="文本框 38">
            <a:extLst>
              <a:ext uri="{FF2B5EF4-FFF2-40B4-BE49-F238E27FC236}">
                <a16:creationId xmlns:a16="http://schemas.microsoft.com/office/drawing/2014/main" id="{EA27DAA5-9BCD-4A29-B014-8893845C37B3}"/>
              </a:ext>
            </a:extLst>
          </p:cNvPr>
          <p:cNvSpPr txBox="1"/>
          <p:nvPr/>
        </p:nvSpPr>
        <p:spPr>
          <a:xfrm>
            <a:off x="7650479" y="2259932"/>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采用</a:t>
            </a:r>
            <a:r>
              <a:rPr lang="en-US" altLang="zh-CN" sz="1600" dirty="0" err="1"/>
              <a:t>CoIP</a:t>
            </a:r>
            <a:r>
              <a:rPr lang="zh-CN" altLang="en-US" sz="1600" dirty="0"/>
              <a:t>实验验证二者体内相互作用；免疫荧光共定位检测细胞内结合位置与表达分布，明确蛋白互作关系</a:t>
            </a:r>
          </a:p>
        </p:txBody>
      </p:sp>
      <p:sp>
        <p:nvSpPr>
          <p:cNvPr id="40" name="矩形: 圆角 39">
            <a:extLst>
              <a:ext uri="{FF2B5EF4-FFF2-40B4-BE49-F238E27FC236}">
                <a16:creationId xmlns:a16="http://schemas.microsoft.com/office/drawing/2014/main" id="{3D9B3357-BCD2-44CB-8995-C8E2266C3B78}"/>
              </a:ext>
            </a:extLst>
          </p:cNvPr>
          <p:cNvSpPr/>
          <p:nvPr/>
        </p:nvSpPr>
        <p:spPr>
          <a:xfrm>
            <a:off x="7555978" y="4438018"/>
            <a:ext cx="4048647" cy="1983102"/>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1" name="矩形: 圆顶角 40">
            <a:extLst>
              <a:ext uri="{FF2B5EF4-FFF2-40B4-BE49-F238E27FC236}">
                <a16:creationId xmlns:a16="http://schemas.microsoft.com/office/drawing/2014/main" id="{CADC2894-DCBA-4B3B-AC3E-394C22294D7E}"/>
              </a:ext>
            </a:extLst>
          </p:cNvPr>
          <p:cNvSpPr/>
          <p:nvPr/>
        </p:nvSpPr>
        <p:spPr>
          <a:xfrm>
            <a:off x="7829979" y="4427859"/>
            <a:ext cx="350064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动物实验与临床样本验证</a:t>
            </a:r>
          </a:p>
        </p:txBody>
      </p:sp>
      <p:sp>
        <p:nvSpPr>
          <p:cNvPr id="42" name="文本框 41">
            <a:extLst>
              <a:ext uri="{FF2B5EF4-FFF2-40B4-BE49-F238E27FC236}">
                <a16:creationId xmlns:a16="http://schemas.microsoft.com/office/drawing/2014/main" id="{F614B66A-59CC-4DA3-BF99-1BE02968E80E}"/>
              </a:ext>
            </a:extLst>
          </p:cNvPr>
          <p:cNvSpPr txBox="1"/>
          <p:nvPr/>
        </p:nvSpPr>
        <p:spPr>
          <a:xfrm>
            <a:off x="7650479" y="4871689"/>
            <a:ext cx="3860788" cy="1026563"/>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nSpc>
                <a:spcPct val="130000"/>
              </a:lnSpc>
              <a:buNone/>
            </a:pPr>
            <a:r>
              <a:rPr lang="zh-CN" altLang="en-US" sz="1600" dirty="0"/>
              <a:t>建立裸鼠移植瘤模型，验证</a:t>
            </a:r>
            <a:r>
              <a:rPr lang="en-US" altLang="zh-CN" sz="1600" dirty="0"/>
              <a:t>PRMT3</a:t>
            </a:r>
            <a:r>
              <a:rPr lang="zh-CN" altLang="en-US" sz="1600" dirty="0"/>
              <a:t>对体内耐药性的影响；免疫组化检测肝癌临床样本中二者表达与耐药相关性。</a:t>
            </a:r>
          </a:p>
        </p:txBody>
      </p:sp>
      <p:sp>
        <p:nvSpPr>
          <p:cNvPr id="48" name="流程图: 接点 47">
            <a:extLst>
              <a:ext uri="{FF2B5EF4-FFF2-40B4-BE49-F238E27FC236}">
                <a16:creationId xmlns:a16="http://schemas.microsoft.com/office/drawing/2014/main" id="{6AE32119-A550-46AE-9C90-6F813B48F782}"/>
              </a:ext>
            </a:extLst>
          </p:cNvPr>
          <p:cNvSpPr/>
          <p:nvPr/>
        </p:nvSpPr>
        <p:spPr>
          <a:xfrm>
            <a:off x="4758511"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01</a:t>
            </a:r>
            <a:endParaRPr lang="zh-CN" altLang="en-US" sz="2000" dirty="0">
              <a:latin typeface="思源黑体 CN Bold" panose="020B0800000000000000" pitchFamily="34" charset="-122"/>
              <a:ea typeface="思源黑体 CN Bold" panose="020B0800000000000000" pitchFamily="34" charset="-122"/>
            </a:endParaRPr>
          </a:p>
        </p:txBody>
      </p:sp>
      <p:sp>
        <p:nvSpPr>
          <p:cNvPr id="60" name="流程图: 接点 59">
            <a:extLst>
              <a:ext uri="{FF2B5EF4-FFF2-40B4-BE49-F238E27FC236}">
                <a16:creationId xmlns:a16="http://schemas.microsoft.com/office/drawing/2014/main" id="{992DC57F-854F-40FA-92BB-A4D6D0A2654D}"/>
              </a:ext>
            </a:extLst>
          </p:cNvPr>
          <p:cNvSpPr/>
          <p:nvPr/>
        </p:nvSpPr>
        <p:spPr>
          <a:xfrm>
            <a:off x="6742827" y="2347437"/>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02</a:t>
            </a:r>
            <a:endParaRPr lang="zh-CN" altLang="en-US" sz="2000" dirty="0">
              <a:latin typeface="思源黑体 CN Bold" panose="020B0800000000000000" pitchFamily="34" charset="-122"/>
              <a:ea typeface="思源黑体 CN Bold" panose="020B0800000000000000" pitchFamily="34" charset="-122"/>
            </a:endParaRPr>
          </a:p>
        </p:txBody>
      </p:sp>
      <p:sp>
        <p:nvSpPr>
          <p:cNvPr id="63" name="流程图: 接点 62">
            <a:extLst>
              <a:ext uri="{FF2B5EF4-FFF2-40B4-BE49-F238E27FC236}">
                <a16:creationId xmlns:a16="http://schemas.microsoft.com/office/drawing/2014/main" id="{0F386F8E-7EDA-48FA-8BDD-41B0D544C928}"/>
              </a:ext>
            </a:extLst>
          </p:cNvPr>
          <p:cNvSpPr/>
          <p:nvPr/>
        </p:nvSpPr>
        <p:spPr>
          <a:xfrm>
            <a:off x="4758511"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03</a:t>
            </a:r>
            <a:endParaRPr lang="zh-CN" altLang="en-US" sz="2000" dirty="0">
              <a:latin typeface="思源黑体 CN Bold" panose="020B0800000000000000" pitchFamily="34" charset="-122"/>
              <a:ea typeface="思源黑体 CN Bold" panose="020B0800000000000000" pitchFamily="34" charset="-122"/>
            </a:endParaRPr>
          </a:p>
        </p:txBody>
      </p:sp>
      <p:sp>
        <p:nvSpPr>
          <p:cNvPr id="64" name="流程图: 接点 63">
            <a:extLst>
              <a:ext uri="{FF2B5EF4-FFF2-40B4-BE49-F238E27FC236}">
                <a16:creationId xmlns:a16="http://schemas.microsoft.com/office/drawing/2014/main" id="{72752116-0427-4DCF-B895-4158137F3E57}"/>
              </a:ext>
            </a:extLst>
          </p:cNvPr>
          <p:cNvSpPr/>
          <p:nvPr/>
        </p:nvSpPr>
        <p:spPr>
          <a:xfrm>
            <a:off x="6742827" y="5417413"/>
            <a:ext cx="690664" cy="690664"/>
          </a:xfrm>
          <a:prstGeom prst="flowChartConnector">
            <a:avLst/>
          </a:prstGeom>
          <a:solidFill>
            <a:schemeClr val="accent1"/>
          </a:solidFill>
          <a:ln w="15875">
            <a:no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2000" dirty="0">
                <a:latin typeface="思源黑体 CN Bold" panose="020B0800000000000000" pitchFamily="34" charset="-122"/>
                <a:ea typeface="思源黑体 CN Bold" panose="020B0800000000000000" pitchFamily="34" charset="-122"/>
              </a:rPr>
              <a:t>04</a:t>
            </a:r>
            <a:endParaRPr lang="zh-CN" altLang="en-US" sz="2000" dirty="0">
              <a:latin typeface="思源黑体 CN Bold" panose="020B0800000000000000" pitchFamily="34" charset="-122"/>
              <a:ea typeface="思源黑体 CN Bold" panose="020B0800000000000000" pitchFamily="34" charset="-122"/>
            </a:endParaRPr>
          </a:p>
        </p:txBody>
      </p:sp>
      <p:cxnSp>
        <p:nvCxnSpPr>
          <p:cNvPr id="12" name="直接连接符 11">
            <a:extLst>
              <a:ext uri="{FF2B5EF4-FFF2-40B4-BE49-F238E27FC236}">
                <a16:creationId xmlns:a16="http://schemas.microsoft.com/office/drawing/2014/main" id="{AAAC6769-A155-4FFA-8416-29D8AC1433F2}"/>
              </a:ext>
            </a:extLst>
          </p:cNvPr>
          <p:cNvCxnSpPr>
            <a:cxnSpLocks/>
          </p:cNvCxnSpPr>
          <p:nvPr/>
        </p:nvCxnSpPr>
        <p:spPr>
          <a:xfrm>
            <a:off x="5221286"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F79AD754-C4A1-4F3E-AF84-8C69299BD4E6}"/>
              </a:ext>
            </a:extLst>
          </p:cNvPr>
          <p:cNvCxnSpPr>
            <a:cxnSpLocks/>
          </p:cNvCxnSpPr>
          <p:nvPr/>
        </p:nvCxnSpPr>
        <p:spPr>
          <a:xfrm flipH="1">
            <a:off x="6737379" y="2935257"/>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6" name="直接连接符 65">
            <a:extLst>
              <a:ext uri="{FF2B5EF4-FFF2-40B4-BE49-F238E27FC236}">
                <a16:creationId xmlns:a16="http://schemas.microsoft.com/office/drawing/2014/main" id="{A494BC7E-C8A0-4DD6-BA2C-0E0B942F0B9A}"/>
              </a:ext>
            </a:extLst>
          </p:cNvPr>
          <p:cNvCxnSpPr>
            <a:cxnSpLocks/>
          </p:cNvCxnSpPr>
          <p:nvPr/>
        </p:nvCxnSpPr>
        <p:spPr>
          <a:xfrm flipV="1">
            <a:off x="5221286"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10FCD315-887A-4178-BE8F-E417D5EF0506}"/>
              </a:ext>
            </a:extLst>
          </p:cNvPr>
          <p:cNvCxnSpPr>
            <a:cxnSpLocks/>
          </p:cNvCxnSpPr>
          <p:nvPr/>
        </p:nvCxnSpPr>
        <p:spPr>
          <a:xfrm flipH="1" flipV="1">
            <a:off x="6737379" y="5181632"/>
            <a:ext cx="252032" cy="352217"/>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6" name="组合 35">
            <a:extLst>
              <a:ext uri="{FF2B5EF4-FFF2-40B4-BE49-F238E27FC236}">
                <a16:creationId xmlns:a16="http://schemas.microsoft.com/office/drawing/2014/main" id="{5A5BF97A-8891-44E3-8A56-5BB277172EF7}"/>
              </a:ext>
            </a:extLst>
          </p:cNvPr>
          <p:cNvGrpSpPr/>
          <p:nvPr/>
        </p:nvGrpSpPr>
        <p:grpSpPr>
          <a:xfrm>
            <a:off x="1090993" y="0"/>
            <a:ext cx="10956721" cy="836294"/>
            <a:chOff x="1090993" y="2318571"/>
            <a:chExt cx="10956721" cy="836294"/>
          </a:xfrm>
        </p:grpSpPr>
        <p:sp>
          <p:nvSpPr>
            <p:cNvPr id="37" name="任意多边形: 形状 36">
              <a:extLst>
                <a:ext uri="{FF2B5EF4-FFF2-40B4-BE49-F238E27FC236}">
                  <a16:creationId xmlns:a16="http://schemas.microsoft.com/office/drawing/2014/main" id="{3AA9B6C5-D239-4A71-8FB0-E545A38182AA}"/>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3A3C9278-F913-445E-A299-7C0AE51AAA81}"/>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43" name="文本框 42">
              <a:extLst>
                <a:ext uri="{FF2B5EF4-FFF2-40B4-BE49-F238E27FC236}">
                  <a16:creationId xmlns:a16="http://schemas.microsoft.com/office/drawing/2014/main" id="{612AB3B7-7C34-41D3-B80B-6EC4A7ED5323}"/>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44" name="文本框 43">
              <a:extLst>
                <a:ext uri="{FF2B5EF4-FFF2-40B4-BE49-F238E27FC236}">
                  <a16:creationId xmlns:a16="http://schemas.microsoft.com/office/drawing/2014/main" id="{50745873-6CF0-48A7-B4A0-D635005B543C}"/>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45" name="文本框 44">
              <a:extLst>
                <a:ext uri="{FF2B5EF4-FFF2-40B4-BE49-F238E27FC236}">
                  <a16:creationId xmlns:a16="http://schemas.microsoft.com/office/drawing/2014/main" id="{CDBF7B53-5AE0-4EE3-9604-FC06E33498DF}"/>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6" name="文本框 45">
              <a:extLst>
                <a:ext uri="{FF2B5EF4-FFF2-40B4-BE49-F238E27FC236}">
                  <a16:creationId xmlns:a16="http://schemas.microsoft.com/office/drawing/2014/main" id="{6BFBE882-05BF-4C57-9008-125BC58FE4B2}"/>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7" name="文本框 46">
              <a:extLst>
                <a:ext uri="{FF2B5EF4-FFF2-40B4-BE49-F238E27FC236}">
                  <a16:creationId xmlns:a16="http://schemas.microsoft.com/office/drawing/2014/main" id="{DD79E47F-D734-4568-AF61-299191CFD71C}"/>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9" name="直接连接符 48">
              <a:extLst>
                <a:ext uri="{FF2B5EF4-FFF2-40B4-BE49-F238E27FC236}">
                  <a16:creationId xmlns:a16="http://schemas.microsoft.com/office/drawing/2014/main" id="{3872B908-3AEA-4F79-A1F5-58AE3CAF0D32}"/>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0" name="直接连接符 49">
              <a:extLst>
                <a:ext uri="{FF2B5EF4-FFF2-40B4-BE49-F238E27FC236}">
                  <a16:creationId xmlns:a16="http://schemas.microsoft.com/office/drawing/2014/main" id="{049BA7C1-7EAE-4EC6-88FD-017292E8707E}"/>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5D3F56C0-0194-41A8-892F-5F969D7D606C}"/>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2" name="直接连接符 51">
              <a:extLst>
                <a:ext uri="{FF2B5EF4-FFF2-40B4-BE49-F238E27FC236}">
                  <a16:creationId xmlns:a16="http://schemas.microsoft.com/office/drawing/2014/main" id="{D6AC40DF-15D6-4644-8847-4CD1FFF19D08}"/>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6FEC7FF4-9128-4FB1-83A7-E91CB203315A}"/>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36508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89748"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研究材料</a:t>
            </a:r>
          </a:p>
        </p:txBody>
      </p:sp>
      <p:sp>
        <p:nvSpPr>
          <p:cNvPr id="6" name="矩形: 圆角 5">
            <a:extLst>
              <a:ext uri="{FF2B5EF4-FFF2-40B4-BE49-F238E27FC236}">
                <a16:creationId xmlns:a16="http://schemas.microsoft.com/office/drawing/2014/main" id="{C1A30B15-8195-4307-A38C-A12C001EC6E1}"/>
              </a:ext>
            </a:extLst>
          </p:cNvPr>
          <p:cNvSpPr/>
          <p:nvPr/>
        </p:nvSpPr>
        <p:spPr>
          <a:xfrm>
            <a:off x="6096000" y="1373270"/>
            <a:ext cx="5508625" cy="5154930"/>
          </a:xfrm>
          <a:prstGeom prst="roundRect">
            <a:avLst>
              <a:gd name="adj" fmla="val 4721"/>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双括号 6">
            <a:extLst>
              <a:ext uri="{FF2B5EF4-FFF2-40B4-BE49-F238E27FC236}">
                <a16:creationId xmlns:a16="http://schemas.microsoft.com/office/drawing/2014/main" id="{10326B92-4317-4E05-B0EB-D18689D21629}"/>
              </a:ext>
            </a:extLst>
          </p:cNvPr>
          <p:cNvSpPr/>
          <p:nvPr/>
        </p:nvSpPr>
        <p:spPr>
          <a:xfrm>
            <a:off x="587375"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093D173E-B674-4F93-8EC7-35EC0DAD4C57}"/>
              </a:ext>
            </a:extLst>
          </p:cNvPr>
          <p:cNvGrpSpPr/>
          <p:nvPr/>
        </p:nvGrpSpPr>
        <p:grpSpPr>
          <a:xfrm>
            <a:off x="2693550" y="2378067"/>
            <a:ext cx="321955" cy="321955"/>
            <a:chOff x="2743190" y="3268022"/>
            <a:chExt cx="321955" cy="321955"/>
          </a:xfrm>
          <a:solidFill>
            <a:schemeClr val="accent1"/>
          </a:solidFill>
        </p:grpSpPr>
        <p:sp>
          <p:nvSpPr>
            <p:cNvPr id="10" name="矩形 9">
              <a:extLst>
                <a:ext uri="{FF2B5EF4-FFF2-40B4-BE49-F238E27FC236}">
                  <a16:creationId xmlns:a16="http://schemas.microsoft.com/office/drawing/2014/main" id="{545B5DAE-2DD1-4D19-B902-1A9A37CCF7DD}"/>
                </a:ext>
              </a:extLst>
            </p:cNvPr>
            <p:cNvSpPr/>
            <p:nvPr/>
          </p:nvSpPr>
          <p:spPr>
            <a:xfrm>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id="{6F6F63EA-6FFE-455F-A78F-A93E9B5D0F3E}"/>
                </a:ext>
              </a:extLst>
            </p:cNvPr>
            <p:cNvSpPr/>
            <p:nvPr/>
          </p:nvSpPr>
          <p:spPr>
            <a:xfrm rot="5400000">
              <a:off x="2743190" y="3406140"/>
              <a:ext cx="321955" cy="4572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矩形: 圆角 15">
            <a:extLst>
              <a:ext uri="{FF2B5EF4-FFF2-40B4-BE49-F238E27FC236}">
                <a16:creationId xmlns:a16="http://schemas.microsoft.com/office/drawing/2014/main" id="{A5E3953C-8D54-4517-B4AE-FC8808B07825}"/>
              </a:ext>
            </a:extLst>
          </p:cNvPr>
          <p:cNvSpPr/>
          <p:nvPr/>
        </p:nvSpPr>
        <p:spPr>
          <a:xfrm>
            <a:off x="1377944" y="5395753"/>
            <a:ext cx="2953166" cy="515756"/>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1600" b="1" dirty="0">
                <a:latin typeface="思源黑体 CN Bold" panose="020B0800000000000000" pitchFamily="34" charset="-122"/>
                <a:ea typeface="思源黑体 CN Bold" panose="020B0800000000000000" pitchFamily="34" charset="-122"/>
              </a:rPr>
              <a:t>PRMT3-IGF2BP1</a:t>
            </a:r>
            <a:r>
              <a:rPr lang="zh-CN" altLang="en-US" sz="1600" b="1" dirty="0">
                <a:latin typeface="思源黑体 CN Bold" panose="020B0800000000000000" pitchFamily="34" charset="-122"/>
                <a:ea typeface="思源黑体 CN Bold" panose="020B0800000000000000" pitchFamily="34" charset="-122"/>
              </a:rPr>
              <a:t>轴介导耐药</a:t>
            </a:r>
          </a:p>
        </p:txBody>
      </p:sp>
      <p:sp>
        <p:nvSpPr>
          <p:cNvPr id="17" name="矩形: 圆角 16">
            <a:extLst>
              <a:ext uri="{FF2B5EF4-FFF2-40B4-BE49-F238E27FC236}">
                <a16:creationId xmlns:a16="http://schemas.microsoft.com/office/drawing/2014/main" id="{F966FB35-305C-4025-85D2-722B92EBBE9E}"/>
              </a:ext>
            </a:extLst>
          </p:cNvPr>
          <p:cNvSpPr/>
          <p:nvPr/>
        </p:nvSpPr>
        <p:spPr>
          <a:xfrm>
            <a:off x="587375" y="3060032"/>
            <a:ext cx="4534305" cy="204556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右大括号 18">
            <a:extLst>
              <a:ext uri="{FF2B5EF4-FFF2-40B4-BE49-F238E27FC236}">
                <a16:creationId xmlns:a16="http://schemas.microsoft.com/office/drawing/2014/main" id="{F421047B-4DF7-4773-8409-34F762DD9EA6}"/>
              </a:ext>
            </a:extLst>
          </p:cNvPr>
          <p:cNvSpPr/>
          <p:nvPr/>
        </p:nvSpPr>
        <p:spPr>
          <a:xfrm>
            <a:off x="5552643" y="2505803"/>
            <a:ext cx="112394" cy="3292147"/>
          </a:xfrm>
          <a:prstGeom prst="rightBrace">
            <a:avLst>
              <a:gd name="adj1" fmla="val 8333"/>
              <a:gd name="adj2" fmla="val 50231"/>
            </a:avLst>
          </a:prstGeom>
          <a:ln w="158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a:extLst>
              <a:ext uri="{FF2B5EF4-FFF2-40B4-BE49-F238E27FC236}">
                <a16:creationId xmlns:a16="http://schemas.microsoft.com/office/drawing/2014/main" id="{7603F3EA-A7C6-4BB1-8A0F-71C4AA639687}"/>
              </a:ext>
            </a:extLst>
          </p:cNvPr>
          <p:cNvSpPr txBox="1"/>
          <p:nvPr/>
        </p:nvSpPr>
        <p:spPr>
          <a:xfrm>
            <a:off x="649226" y="2312528"/>
            <a:ext cx="19062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1800" dirty="0">
                <a:solidFill>
                  <a:schemeClr val="accent1"/>
                </a:solidFill>
                <a:latin typeface="思源黑体 CN Bold" panose="020B0800000000000000" pitchFamily="34" charset="-122"/>
                <a:ea typeface="思源黑体 CN Bold" panose="020B0800000000000000" pitchFamily="34" charset="-122"/>
              </a:rPr>
              <a:t>PRMT3</a:t>
            </a:r>
            <a:r>
              <a:rPr lang="zh-CN" altLang="en-US" sz="1800" dirty="0">
                <a:solidFill>
                  <a:schemeClr val="accent1"/>
                </a:solidFill>
                <a:latin typeface="思源黑体 CN Bold" panose="020B0800000000000000" pitchFamily="34" charset="-122"/>
                <a:ea typeface="思源黑体 CN Bold" panose="020B0800000000000000" pitchFamily="34" charset="-122"/>
              </a:rPr>
              <a:t>甲基化</a:t>
            </a:r>
          </a:p>
        </p:txBody>
      </p:sp>
      <p:sp>
        <p:nvSpPr>
          <p:cNvPr id="20" name="文本框 19">
            <a:extLst>
              <a:ext uri="{FF2B5EF4-FFF2-40B4-BE49-F238E27FC236}">
                <a16:creationId xmlns:a16="http://schemas.microsoft.com/office/drawing/2014/main" id="{A5C74753-C86A-4CC2-8D38-42B777970F64}"/>
              </a:ext>
            </a:extLst>
          </p:cNvPr>
          <p:cNvSpPr txBox="1"/>
          <p:nvPr/>
        </p:nvSpPr>
        <p:spPr>
          <a:xfrm>
            <a:off x="741680" y="3409490"/>
            <a:ext cx="4225694" cy="1346651"/>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sz="1600" dirty="0"/>
              <a:t>免疫共沉淀验证</a:t>
            </a:r>
            <a:r>
              <a:rPr lang="en-US" altLang="zh-CN" sz="1600" dirty="0"/>
              <a:t>PRMT3</a:t>
            </a:r>
            <a:r>
              <a:rPr lang="zh-CN" altLang="en-US" sz="1600" dirty="0"/>
              <a:t>与</a:t>
            </a:r>
            <a:r>
              <a:rPr lang="en-US" altLang="zh-CN" sz="1600" dirty="0"/>
              <a:t>IGF2BP1</a:t>
            </a:r>
            <a:r>
              <a:rPr lang="zh-CN" altLang="en-US" sz="1600" dirty="0"/>
              <a:t>直接互作，质谱检测显示</a:t>
            </a:r>
            <a:r>
              <a:rPr lang="en-US" altLang="zh-CN" sz="1600" dirty="0"/>
              <a:t>IGF2BP1 Arg153</a:t>
            </a:r>
            <a:r>
              <a:rPr lang="zh-CN" altLang="en-US" sz="1600" dirty="0"/>
              <a:t>位点为主要甲基化位点；敲低</a:t>
            </a:r>
            <a:r>
              <a:rPr lang="en-US" altLang="zh-CN" sz="1600" dirty="0"/>
              <a:t>PRMT3</a:t>
            </a:r>
            <a:r>
              <a:rPr lang="zh-CN" altLang="en-US" sz="1600" dirty="0"/>
              <a:t>后，</a:t>
            </a:r>
            <a:r>
              <a:rPr lang="en-US" altLang="zh-CN" sz="1600" dirty="0"/>
              <a:t>IGF2BP1</a:t>
            </a:r>
            <a:r>
              <a:rPr lang="zh-CN" altLang="en-US" sz="1600" dirty="0"/>
              <a:t>甲基化水平下降</a:t>
            </a:r>
            <a:r>
              <a:rPr lang="en-US" altLang="zh-CN" sz="1600" dirty="0"/>
              <a:t>62.3%</a:t>
            </a:r>
            <a:r>
              <a:rPr lang="zh-CN" altLang="en-US" sz="1600" dirty="0"/>
              <a:t>（</a:t>
            </a:r>
            <a:r>
              <a:rPr lang="en-US" altLang="zh-CN" sz="1600" dirty="0"/>
              <a:t>n=3</a:t>
            </a:r>
            <a:r>
              <a:rPr lang="zh-CN" altLang="en-US" sz="1600" dirty="0"/>
              <a:t>，</a:t>
            </a:r>
            <a:r>
              <a:rPr lang="en-US" altLang="zh-CN" sz="1600" dirty="0"/>
              <a:t>P&lt;0.01</a:t>
            </a:r>
            <a:r>
              <a:rPr lang="zh-CN" altLang="en-US" sz="1600" dirty="0"/>
              <a:t>）。</a:t>
            </a:r>
          </a:p>
        </p:txBody>
      </p:sp>
      <p:sp>
        <p:nvSpPr>
          <p:cNvPr id="22" name="双括号 21">
            <a:extLst>
              <a:ext uri="{FF2B5EF4-FFF2-40B4-BE49-F238E27FC236}">
                <a16:creationId xmlns:a16="http://schemas.microsoft.com/office/drawing/2014/main" id="{74EC9EF4-5FF0-4BFB-8AC9-52ACD79E56AC}"/>
              </a:ext>
            </a:extLst>
          </p:cNvPr>
          <p:cNvSpPr/>
          <p:nvPr/>
        </p:nvSpPr>
        <p:spPr>
          <a:xfrm>
            <a:off x="3095004" y="2308212"/>
            <a:ext cx="2029908" cy="461665"/>
          </a:xfrm>
          <a:prstGeom prst="bracketPair">
            <a:avLst/>
          </a:prstGeom>
          <a:ln w="15875">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85AD66F0-7EDB-40DD-AB32-6D3602A82B02}"/>
              </a:ext>
            </a:extLst>
          </p:cNvPr>
          <p:cNvSpPr txBox="1"/>
          <p:nvPr/>
        </p:nvSpPr>
        <p:spPr>
          <a:xfrm>
            <a:off x="3091772" y="2312528"/>
            <a:ext cx="2029908" cy="422552"/>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800" dirty="0">
                <a:solidFill>
                  <a:schemeClr val="accent1"/>
                </a:solidFill>
                <a:latin typeface="思源黑体 CN Bold" panose="020B0800000000000000" pitchFamily="34" charset="-122"/>
                <a:ea typeface="思源黑体 CN Bold" panose="020B0800000000000000" pitchFamily="34" charset="-122"/>
              </a:rPr>
              <a:t>介导奥沙利铂耐药</a:t>
            </a:r>
          </a:p>
        </p:txBody>
      </p:sp>
      <p:pic>
        <p:nvPicPr>
          <p:cNvPr id="23" name="图片 22">
            <a:extLst>
              <a:ext uri="{FF2B5EF4-FFF2-40B4-BE49-F238E27FC236}">
                <a16:creationId xmlns:a16="http://schemas.microsoft.com/office/drawing/2014/main" id="{632F5803-947F-4697-9E09-DE734AD77492}"/>
              </a:ext>
            </a:extLst>
          </p:cNvPr>
          <p:cNvPicPr>
            <a:picLocks noChangeAspect="1"/>
          </p:cNvPicPr>
          <p:nvPr/>
        </p:nvPicPr>
        <p:blipFill>
          <a:blip r:embed="rId2"/>
          <a:stretch>
            <a:fillRect/>
          </a:stretch>
        </p:blipFill>
        <p:spPr>
          <a:xfrm>
            <a:off x="6160625" y="1658571"/>
            <a:ext cx="5379374" cy="4584328"/>
          </a:xfrm>
          <a:prstGeom prst="rect">
            <a:avLst/>
          </a:prstGeom>
        </p:spPr>
      </p:pic>
      <p:cxnSp>
        <p:nvCxnSpPr>
          <p:cNvPr id="13" name="直接连接符 12">
            <a:extLst>
              <a:ext uri="{FF2B5EF4-FFF2-40B4-BE49-F238E27FC236}">
                <a16:creationId xmlns:a16="http://schemas.microsoft.com/office/drawing/2014/main" id="{0FF2BCAD-1D00-4BB3-B620-30AFFC127DEF}"/>
              </a:ext>
            </a:extLst>
          </p:cNvPr>
          <p:cNvCxnSpPr/>
          <p:nvPr/>
        </p:nvCxnSpPr>
        <p:spPr>
          <a:xfrm>
            <a:off x="2854527" y="5105598"/>
            <a:ext cx="0" cy="290155"/>
          </a:xfrm>
          <a:prstGeom prst="line">
            <a:avLst/>
          </a:prstGeom>
          <a:ln w="1587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0" name="组合 29">
            <a:extLst>
              <a:ext uri="{FF2B5EF4-FFF2-40B4-BE49-F238E27FC236}">
                <a16:creationId xmlns:a16="http://schemas.microsoft.com/office/drawing/2014/main" id="{E7E7779B-FC9D-497F-A954-5CD7E4BED261}"/>
              </a:ext>
            </a:extLst>
          </p:cNvPr>
          <p:cNvGrpSpPr/>
          <p:nvPr/>
        </p:nvGrpSpPr>
        <p:grpSpPr>
          <a:xfrm>
            <a:off x="1090993" y="0"/>
            <a:ext cx="10956721" cy="836294"/>
            <a:chOff x="1090993" y="2318571"/>
            <a:chExt cx="10956721" cy="836294"/>
          </a:xfrm>
        </p:grpSpPr>
        <p:sp>
          <p:nvSpPr>
            <p:cNvPr id="31" name="任意多边形: 形状 30">
              <a:extLst>
                <a:ext uri="{FF2B5EF4-FFF2-40B4-BE49-F238E27FC236}">
                  <a16:creationId xmlns:a16="http://schemas.microsoft.com/office/drawing/2014/main" id="{E71A8FA7-032F-4A57-8007-1255845FFFCB}"/>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文本框 31">
              <a:extLst>
                <a:ext uri="{FF2B5EF4-FFF2-40B4-BE49-F238E27FC236}">
                  <a16:creationId xmlns:a16="http://schemas.microsoft.com/office/drawing/2014/main" id="{738329E8-B629-4E60-9031-FAA32C047ACD}"/>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33" name="文本框 32">
              <a:extLst>
                <a:ext uri="{FF2B5EF4-FFF2-40B4-BE49-F238E27FC236}">
                  <a16:creationId xmlns:a16="http://schemas.microsoft.com/office/drawing/2014/main" id="{E5BB6601-DBEF-46E8-BAEA-83C66C089E32}"/>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34" name="文本框 33">
              <a:extLst>
                <a:ext uri="{FF2B5EF4-FFF2-40B4-BE49-F238E27FC236}">
                  <a16:creationId xmlns:a16="http://schemas.microsoft.com/office/drawing/2014/main" id="{BBA2E90B-5DE6-4F32-A573-FB90026D7F1C}"/>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35" name="文本框 34">
              <a:extLst>
                <a:ext uri="{FF2B5EF4-FFF2-40B4-BE49-F238E27FC236}">
                  <a16:creationId xmlns:a16="http://schemas.microsoft.com/office/drawing/2014/main" id="{ACB4F9D5-A361-4B90-A52B-F8EBB8773F8D}"/>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36" name="文本框 35">
              <a:extLst>
                <a:ext uri="{FF2B5EF4-FFF2-40B4-BE49-F238E27FC236}">
                  <a16:creationId xmlns:a16="http://schemas.microsoft.com/office/drawing/2014/main" id="{B1667932-0E0E-484C-A230-ECAD0E336C9C}"/>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37" name="文本框 36">
              <a:extLst>
                <a:ext uri="{FF2B5EF4-FFF2-40B4-BE49-F238E27FC236}">
                  <a16:creationId xmlns:a16="http://schemas.microsoft.com/office/drawing/2014/main" id="{094ECF78-B35C-4157-8565-171224432F0E}"/>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8" name="直接连接符 37">
              <a:extLst>
                <a:ext uri="{FF2B5EF4-FFF2-40B4-BE49-F238E27FC236}">
                  <a16:creationId xmlns:a16="http://schemas.microsoft.com/office/drawing/2014/main" id="{4C0E9381-5EC3-4485-AD8A-F4C0F68F2B19}"/>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BCB3D980-CC5E-4372-88F1-FC56AEE1F472}"/>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AD0509E1-49CC-4C95-9D56-BEF9803029E4}"/>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B978FC26-7670-4C57-8505-9B4CAD42E7FD}"/>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5618DB9B-A02C-44EA-A946-45C2933173C9}"/>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54127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B017B61-0D4E-44B2-850A-5BBE1E7B2203}"/>
              </a:ext>
            </a:extLst>
          </p:cNvPr>
          <p:cNvSpPr txBox="1"/>
          <p:nvPr/>
        </p:nvSpPr>
        <p:spPr>
          <a:xfrm>
            <a:off x="462084" y="1153703"/>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研究思路</a:t>
            </a:r>
          </a:p>
        </p:txBody>
      </p:sp>
      <p:sp>
        <p:nvSpPr>
          <p:cNvPr id="9" name="箭头: 五边形 8">
            <a:extLst>
              <a:ext uri="{FF2B5EF4-FFF2-40B4-BE49-F238E27FC236}">
                <a16:creationId xmlns:a16="http://schemas.microsoft.com/office/drawing/2014/main" id="{382F7EDE-8AEC-4B6B-86E1-58F59D1D9AB1}"/>
              </a:ext>
            </a:extLst>
          </p:cNvPr>
          <p:cNvSpPr/>
          <p:nvPr/>
        </p:nvSpPr>
        <p:spPr>
          <a:xfrm>
            <a:off x="587376" y="3952197"/>
            <a:ext cx="2287391" cy="508968"/>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67FF32C6-2D04-4A30-BA9B-98C763347B98}"/>
              </a:ext>
            </a:extLst>
          </p:cNvPr>
          <p:cNvGrpSpPr/>
          <p:nvPr/>
        </p:nvGrpSpPr>
        <p:grpSpPr>
          <a:xfrm>
            <a:off x="2769842" y="3952197"/>
            <a:ext cx="2287390" cy="508968"/>
            <a:chOff x="2851847" y="3428999"/>
            <a:chExt cx="2074801" cy="461665"/>
          </a:xfrm>
          <a:solidFill>
            <a:schemeClr val="accent1"/>
          </a:solidFill>
        </p:grpSpPr>
        <p:sp>
          <p:nvSpPr>
            <p:cNvPr id="20" name="箭头: 五边形 19">
              <a:extLst>
                <a:ext uri="{FF2B5EF4-FFF2-40B4-BE49-F238E27FC236}">
                  <a16:creationId xmlns:a16="http://schemas.microsoft.com/office/drawing/2014/main" id="{CB5BE0A2-FBEE-4F79-9167-6A82E95E4CC9}"/>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V 形 21">
              <a:extLst>
                <a:ext uri="{FF2B5EF4-FFF2-40B4-BE49-F238E27FC236}">
                  <a16:creationId xmlns:a16="http://schemas.microsoft.com/office/drawing/2014/main" id="{1AFCB780-DED0-4E13-A575-6061C1F9DDC1}"/>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6" name="组合 35">
            <a:extLst>
              <a:ext uri="{FF2B5EF4-FFF2-40B4-BE49-F238E27FC236}">
                <a16:creationId xmlns:a16="http://schemas.microsoft.com/office/drawing/2014/main" id="{9B8A6747-F870-4DD5-A7ED-998BE3AFD54C}"/>
              </a:ext>
            </a:extLst>
          </p:cNvPr>
          <p:cNvGrpSpPr/>
          <p:nvPr/>
        </p:nvGrpSpPr>
        <p:grpSpPr>
          <a:xfrm>
            <a:off x="4952306" y="3952197"/>
            <a:ext cx="2287390" cy="508968"/>
            <a:chOff x="2851847" y="3428999"/>
            <a:chExt cx="2074801" cy="461665"/>
          </a:xfrm>
          <a:solidFill>
            <a:schemeClr val="accent1"/>
          </a:solidFill>
        </p:grpSpPr>
        <p:sp>
          <p:nvSpPr>
            <p:cNvPr id="37" name="箭头: 五边形 36">
              <a:extLst>
                <a:ext uri="{FF2B5EF4-FFF2-40B4-BE49-F238E27FC236}">
                  <a16:creationId xmlns:a16="http://schemas.microsoft.com/office/drawing/2014/main" id="{7DBC23B7-7267-4359-AC90-B7EB0B9B8CC1}"/>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V 形 37">
              <a:extLst>
                <a:ext uri="{FF2B5EF4-FFF2-40B4-BE49-F238E27FC236}">
                  <a16:creationId xmlns:a16="http://schemas.microsoft.com/office/drawing/2014/main" id="{E5D88930-4B6C-4F15-B503-054707734C0D}"/>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9" name="组合 38">
            <a:extLst>
              <a:ext uri="{FF2B5EF4-FFF2-40B4-BE49-F238E27FC236}">
                <a16:creationId xmlns:a16="http://schemas.microsoft.com/office/drawing/2014/main" id="{25E77BBA-12A4-4621-95C3-4871D336F23C}"/>
              </a:ext>
            </a:extLst>
          </p:cNvPr>
          <p:cNvGrpSpPr/>
          <p:nvPr/>
        </p:nvGrpSpPr>
        <p:grpSpPr>
          <a:xfrm>
            <a:off x="7134771" y="3952197"/>
            <a:ext cx="2287390" cy="508968"/>
            <a:chOff x="2851847" y="3428999"/>
            <a:chExt cx="2074801" cy="461665"/>
          </a:xfrm>
          <a:solidFill>
            <a:schemeClr val="accent1"/>
          </a:solidFill>
        </p:grpSpPr>
        <p:sp>
          <p:nvSpPr>
            <p:cNvPr id="40" name="箭头: 五边形 39">
              <a:extLst>
                <a:ext uri="{FF2B5EF4-FFF2-40B4-BE49-F238E27FC236}">
                  <a16:creationId xmlns:a16="http://schemas.microsoft.com/office/drawing/2014/main" id="{C4DB5728-3AA9-4994-A70C-C4548588BC2F}"/>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V 形 40">
              <a:extLst>
                <a:ext uri="{FF2B5EF4-FFF2-40B4-BE49-F238E27FC236}">
                  <a16:creationId xmlns:a16="http://schemas.microsoft.com/office/drawing/2014/main" id="{E5B42230-BDFA-4B0C-B8B2-BE123BF36750}"/>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42" name="组合 41">
            <a:extLst>
              <a:ext uri="{FF2B5EF4-FFF2-40B4-BE49-F238E27FC236}">
                <a16:creationId xmlns:a16="http://schemas.microsoft.com/office/drawing/2014/main" id="{6D40E0F2-E5BF-4285-99CE-41912FA069AE}"/>
              </a:ext>
            </a:extLst>
          </p:cNvPr>
          <p:cNvGrpSpPr/>
          <p:nvPr/>
        </p:nvGrpSpPr>
        <p:grpSpPr>
          <a:xfrm>
            <a:off x="9317235" y="3952197"/>
            <a:ext cx="2287390" cy="508968"/>
            <a:chOff x="2851847" y="3428999"/>
            <a:chExt cx="2074801" cy="461665"/>
          </a:xfrm>
          <a:solidFill>
            <a:schemeClr val="accent1"/>
          </a:solidFill>
        </p:grpSpPr>
        <p:sp>
          <p:nvSpPr>
            <p:cNvPr id="43" name="箭头: 五边形 42">
              <a:extLst>
                <a:ext uri="{FF2B5EF4-FFF2-40B4-BE49-F238E27FC236}">
                  <a16:creationId xmlns:a16="http://schemas.microsoft.com/office/drawing/2014/main" id="{B3CF8191-CBAD-41E9-89CF-9EF614203BCC}"/>
                </a:ext>
              </a:extLst>
            </p:cNvPr>
            <p:cNvSpPr/>
            <p:nvPr/>
          </p:nvSpPr>
          <p:spPr>
            <a:xfrm>
              <a:off x="3086099" y="3428999"/>
              <a:ext cx="1840549" cy="461665"/>
            </a:xfrm>
            <a:prstGeom prst="homePlat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V 形 43">
              <a:extLst>
                <a:ext uri="{FF2B5EF4-FFF2-40B4-BE49-F238E27FC236}">
                  <a16:creationId xmlns:a16="http://schemas.microsoft.com/office/drawing/2014/main" id="{21773572-3874-4191-BC1D-2AECBBA05945}"/>
                </a:ext>
              </a:extLst>
            </p:cNvPr>
            <p:cNvSpPr/>
            <p:nvPr/>
          </p:nvSpPr>
          <p:spPr>
            <a:xfrm>
              <a:off x="2851847" y="3428999"/>
              <a:ext cx="461665" cy="461665"/>
            </a:xfrm>
            <a:prstGeom prst="chevr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46" name="对话气泡: 圆角矩形 45">
            <a:extLst>
              <a:ext uri="{FF2B5EF4-FFF2-40B4-BE49-F238E27FC236}">
                <a16:creationId xmlns:a16="http://schemas.microsoft.com/office/drawing/2014/main" id="{60C198F1-D399-4E96-B970-49AD219E7AD9}"/>
              </a:ext>
            </a:extLst>
          </p:cNvPr>
          <p:cNvSpPr/>
          <p:nvPr/>
        </p:nvSpPr>
        <p:spPr>
          <a:xfrm>
            <a:off x="587375"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80A395DE-3B8A-4099-99DF-B67C76BC8214}"/>
              </a:ext>
            </a:extLst>
          </p:cNvPr>
          <p:cNvSpPr txBox="1"/>
          <p:nvPr/>
        </p:nvSpPr>
        <p:spPr>
          <a:xfrm>
            <a:off x="630153"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研究背景与科学问题</a:t>
            </a:r>
          </a:p>
        </p:txBody>
      </p:sp>
      <p:sp>
        <p:nvSpPr>
          <p:cNvPr id="27" name="文本框 26">
            <a:extLst>
              <a:ext uri="{FF2B5EF4-FFF2-40B4-BE49-F238E27FC236}">
                <a16:creationId xmlns:a16="http://schemas.microsoft.com/office/drawing/2014/main" id="{F35F19C5-491D-491B-8928-5DF18DEC51A7}"/>
              </a:ext>
            </a:extLst>
          </p:cNvPr>
          <p:cNvSpPr txBox="1"/>
          <p:nvPr/>
        </p:nvSpPr>
        <p:spPr>
          <a:xfrm>
            <a:off x="642451"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奥沙利铂是中晚期肝癌一线化疗药，</a:t>
            </a:r>
            <a:r>
              <a:rPr lang="en-US" altLang="zh-CN" dirty="0"/>
              <a:t>37.2%</a:t>
            </a:r>
            <a:r>
              <a:rPr lang="zh-CN" altLang="en-US" dirty="0"/>
              <a:t>患者出现原发</a:t>
            </a:r>
            <a:r>
              <a:rPr lang="en-US" altLang="zh-CN" dirty="0"/>
              <a:t>/</a:t>
            </a:r>
            <a:r>
              <a:rPr lang="zh-CN" altLang="en-US" dirty="0"/>
              <a:t>继发耐药。</a:t>
            </a:r>
            <a:r>
              <a:rPr lang="en-US" altLang="zh-CN" dirty="0"/>
              <a:t>PRMT3</a:t>
            </a:r>
            <a:r>
              <a:rPr lang="zh-CN" altLang="en-US" dirty="0"/>
              <a:t>高表达与肝癌耐药相关，其对</a:t>
            </a:r>
            <a:r>
              <a:rPr lang="en-US" altLang="zh-CN" dirty="0"/>
              <a:t>IGF2BP1</a:t>
            </a:r>
            <a:r>
              <a:rPr lang="zh-CN" altLang="en-US" dirty="0"/>
              <a:t>的甲基化修饰机制待阐明。</a:t>
            </a:r>
          </a:p>
        </p:txBody>
      </p:sp>
      <p:sp>
        <p:nvSpPr>
          <p:cNvPr id="28" name="文本框 27">
            <a:extLst>
              <a:ext uri="{FF2B5EF4-FFF2-40B4-BE49-F238E27FC236}">
                <a16:creationId xmlns:a16="http://schemas.microsoft.com/office/drawing/2014/main" id="{C0D64F46-363F-4C4C-82FD-D488063E79F6}"/>
              </a:ext>
            </a:extLst>
          </p:cNvPr>
          <p:cNvSpPr txBox="1"/>
          <p:nvPr/>
        </p:nvSpPr>
        <p:spPr>
          <a:xfrm>
            <a:off x="1001750"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1</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34" name="对话气泡: 圆角矩形 33">
            <a:extLst>
              <a:ext uri="{FF2B5EF4-FFF2-40B4-BE49-F238E27FC236}">
                <a16:creationId xmlns:a16="http://schemas.microsoft.com/office/drawing/2014/main" id="{18925D2A-36EF-473F-9E47-8F71237D927E}"/>
              </a:ext>
            </a:extLst>
          </p:cNvPr>
          <p:cNvSpPr/>
          <p:nvPr/>
        </p:nvSpPr>
        <p:spPr>
          <a:xfrm>
            <a:off x="4644410" y="1772056"/>
            <a:ext cx="2850388" cy="1947570"/>
          </a:xfrm>
          <a:prstGeom prst="wedgeRoundRectCallout">
            <a:avLst>
              <a:gd name="adj1" fmla="val -20406"/>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文本框 34">
            <a:extLst>
              <a:ext uri="{FF2B5EF4-FFF2-40B4-BE49-F238E27FC236}">
                <a16:creationId xmlns:a16="http://schemas.microsoft.com/office/drawing/2014/main" id="{13205AE4-9193-4D36-AD12-0C816B4F8112}"/>
              </a:ext>
            </a:extLst>
          </p:cNvPr>
          <p:cNvSpPr txBox="1"/>
          <p:nvPr/>
        </p:nvSpPr>
        <p:spPr>
          <a:xfrm>
            <a:off x="4687188"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机制验证策略</a:t>
            </a:r>
          </a:p>
        </p:txBody>
      </p:sp>
      <p:sp>
        <p:nvSpPr>
          <p:cNvPr id="51" name="文本框 50">
            <a:extLst>
              <a:ext uri="{FF2B5EF4-FFF2-40B4-BE49-F238E27FC236}">
                <a16:creationId xmlns:a16="http://schemas.microsoft.com/office/drawing/2014/main" id="{62AABF24-01DF-4DFF-BAF7-DC815F42459F}"/>
              </a:ext>
            </a:extLst>
          </p:cNvPr>
          <p:cNvSpPr txBox="1"/>
          <p:nvPr/>
        </p:nvSpPr>
        <p:spPr>
          <a:xfrm>
            <a:off x="4699486" y="2154595"/>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构建</a:t>
            </a:r>
            <a:r>
              <a:rPr lang="en-US" altLang="zh-CN" dirty="0"/>
              <a:t>PRMT3/IGF2BP1</a:t>
            </a:r>
            <a:r>
              <a:rPr lang="zh-CN" altLang="en-US" dirty="0"/>
              <a:t>过表达</a:t>
            </a:r>
            <a:r>
              <a:rPr lang="en-US" altLang="zh-CN" dirty="0"/>
              <a:t>/</a:t>
            </a:r>
            <a:r>
              <a:rPr lang="zh-CN" altLang="en-US" dirty="0"/>
              <a:t>沉默肝癌细胞株，检测甲基化水平、靶基因表达及奥沙利铂</a:t>
            </a:r>
            <a:r>
              <a:rPr lang="en-US" altLang="zh-CN" dirty="0"/>
              <a:t>IC50</a:t>
            </a:r>
            <a:r>
              <a:rPr lang="zh-CN" altLang="en-US" dirty="0"/>
              <a:t>值，结合裸鼠移植瘤模型验证体内耐药表型。</a:t>
            </a:r>
          </a:p>
        </p:txBody>
      </p:sp>
      <p:sp>
        <p:nvSpPr>
          <p:cNvPr id="53" name="对话气泡: 圆角矩形 52">
            <a:extLst>
              <a:ext uri="{FF2B5EF4-FFF2-40B4-BE49-F238E27FC236}">
                <a16:creationId xmlns:a16="http://schemas.microsoft.com/office/drawing/2014/main" id="{AB0321B1-9B73-424C-B94B-88253E0E329E}"/>
              </a:ext>
            </a:extLst>
          </p:cNvPr>
          <p:cNvSpPr/>
          <p:nvPr/>
        </p:nvSpPr>
        <p:spPr>
          <a:xfrm>
            <a:off x="8700303" y="1772056"/>
            <a:ext cx="2850388" cy="1947570"/>
          </a:xfrm>
          <a:prstGeom prst="wedgeRoundRectCallout">
            <a:avLst>
              <a:gd name="adj1" fmla="val 21832"/>
              <a:gd name="adj2" fmla="val 58118"/>
              <a:gd name="adj3" fmla="val 16667"/>
            </a:avLst>
          </a:prstGeom>
          <a:solidFill>
            <a:schemeClr val="bg1"/>
          </a:solidFill>
          <a:ln w="15875">
            <a:solidFill>
              <a:schemeClr val="accent1"/>
            </a:solidFill>
            <a:prstDash val="solid"/>
          </a:ln>
          <a:effectLst>
            <a:outerShdw dist="76200" dir="24000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4" name="文本框 53">
            <a:extLst>
              <a:ext uri="{FF2B5EF4-FFF2-40B4-BE49-F238E27FC236}">
                <a16:creationId xmlns:a16="http://schemas.microsoft.com/office/drawing/2014/main" id="{FD33B427-951F-49D8-A576-BEDC36D910AF}"/>
              </a:ext>
            </a:extLst>
          </p:cNvPr>
          <p:cNvSpPr txBox="1"/>
          <p:nvPr/>
        </p:nvSpPr>
        <p:spPr>
          <a:xfrm>
            <a:off x="8743081" y="1816960"/>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研究意义与展望</a:t>
            </a:r>
          </a:p>
        </p:txBody>
      </p:sp>
      <p:sp>
        <p:nvSpPr>
          <p:cNvPr id="55" name="文本框 54">
            <a:extLst>
              <a:ext uri="{FF2B5EF4-FFF2-40B4-BE49-F238E27FC236}">
                <a16:creationId xmlns:a16="http://schemas.microsoft.com/office/drawing/2014/main" id="{2C8FE741-066F-49F7-A301-15758DCC280F}"/>
              </a:ext>
            </a:extLst>
          </p:cNvPr>
          <p:cNvSpPr txBox="1"/>
          <p:nvPr/>
        </p:nvSpPr>
        <p:spPr>
          <a:xfrm>
            <a:off x="8755379" y="2154595"/>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阐明</a:t>
            </a:r>
            <a:r>
              <a:rPr lang="en-US" altLang="zh-CN" dirty="0"/>
              <a:t>PRMT3-IGF2BP1</a:t>
            </a:r>
            <a:r>
              <a:rPr lang="zh-CN" altLang="en-US" dirty="0"/>
              <a:t>甲基化轴的耐药机制，为肝癌奥沙利铂耐药提供预测标志物及潜在干预靶点，优化临床化疗方案。</a:t>
            </a:r>
          </a:p>
        </p:txBody>
      </p:sp>
      <p:sp>
        <p:nvSpPr>
          <p:cNvPr id="61" name="对话气泡: 圆角矩形 60">
            <a:extLst>
              <a:ext uri="{FF2B5EF4-FFF2-40B4-BE49-F238E27FC236}">
                <a16:creationId xmlns:a16="http://schemas.microsoft.com/office/drawing/2014/main" id="{6A0B1A2B-BA54-4FB5-8896-354F4A7DC1C1}"/>
              </a:ext>
            </a:extLst>
          </p:cNvPr>
          <p:cNvSpPr/>
          <p:nvPr/>
        </p:nvSpPr>
        <p:spPr>
          <a:xfrm>
            <a:off x="1820989"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 name="文本框 61">
            <a:extLst>
              <a:ext uri="{FF2B5EF4-FFF2-40B4-BE49-F238E27FC236}">
                <a16:creationId xmlns:a16="http://schemas.microsoft.com/office/drawing/2014/main" id="{F7B2B67F-D0B7-4BF8-A5D5-F81AA78C9FDC}"/>
              </a:ext>
            </a:extLst>
          </p:cNvPr>
          <p:cNvSpPr txBox="1"/>
          <p:nvPr/>
        </p:nvSpPr>
        <p:spPr>
          <a:xfrm>
            <a:off x="1863767"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核心机制提出</a:t>
            </a:r>
          </a:p>
        </p:txBody>
      </p:sp>
      <p:sp>
        <p:nvSpPr>
          <p:cNvPr id="63" name="文本框 62">
            <a:extLst>
              <a:ext uri="{FF2B5EF4-FFF2-40B4-BE49-F238E27FC236}">
                <a16:creationId xmlns:a16="http://schemas.microsoft.com/office/drawing/2014/main" id="{576AEA0B-C755-401A-944F-B08734FF7652}"/>
              </a:ext>
            </a:extLst>
          </p:cNvPr>
          <p:cNvSpPr txBox="1"/>
          <p:nvPr/>
        </p:nvSpPr>
        <p:spPr>
          <a:xfrm>
            <a:off x="1876065" y="5032619"/>
            <a:ext cx="2764832" cy="1469954"/>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推测</a:t>
            </a:r>
            <a:r>
              <a:rPr lang="en-US" altLang="zh-CN" dirty="0"/>
              <a:t>PRMT3</a:t>
            </a:r>
            <a:r>
              <a:rPr lang="zh-CN" altLang="en-US" dirty="0"/>
              <a:t>催化</a:t>
            </a:r>
            <a:r>
              <a:rPr lang="en-US" altLang="zh-CN" dirty="0"/>
              <a:t>IGF2BP1</a:t>
            </a:r>
            <a:r>
              <a:rPr lang="zh-CN" altLang="en-US" dirty="0"/>
              <a:t>第</a:t>
            </a:r>
            <a:r>
              <a:rPr lang="en-US" altLang="zh-CN" dirty="0"/>
              <a:t>452</a:t>
            </a:r>
            <a:r>
              <a:rPr lang="zh-CN" altLang="en-US" dirty="0"/>
              <a:t>位精氨酸单甲基化，增强其</a:t>
            </a:r>
            <a:r>
              <a:rPr lang="en-US" altLang="zh-CN" dirty="0"/>
              <a:t>mRNA</a:t>
            </a:r>
            <a:r>
              <a:rPr lang="zh-CN" altLang="en-US" dirty="0"/>
              <a:t>结合能力，稳定耐药相关靶基因（如</a:t>
            </a:r>
            <a:r>
              <a:rPr lang="en-US" altLang="zh-CN" dirty="0"/>
              <a:t>HEG1</a:t>
            </a:r>
            <a:r>
              <a:rPr lang="zh-CN" altLang="en-US" dirty="0"/>
              <a:t>）表达，介导奥沙利铂耐药。</a:t>
            </a:r>
          </a:p>
        </p:txBody>
      </p:sp>
      <p:sp>
        <p:nvSpPr>
          <p:cNvPr id="65" name="对话气泡: 圆角矩形 64">
            <a:extLst>
              <a:ext uri="{FF2B5EF4-FFF2-40B4-BE49-F238E27FC236}">
                <a16:creationId xmlns:a16="http://schemas.microsoft.com/office/drawing/2014/main" id="{F53932D5-DFF8-4199-96C0-0E2F17918758}"/>
              </a:ext>
            </a:extLst>
          </p:cNvPr>
          <p:cNvSpPr/>
          <p:nvPr/>
        </p:nvSpPr>
        <p:spPr>
          <a:xfrm>
            <a:off x="6721331" y="4650080"/>
            <a:ext cx="2850388" cy="1947570"/>
          </a:xfrm>
          <a:prstGeom prst="wedgeRoundRectCallout">
            <a:avLst>
              <a:gd name="adj1" fmla="val 20763"/>
              <a:gd name="adj2" fmla="val -56911"/>
              <a:gd name="adj3" fmla="val 16667"/>
            </a:avLst>
          </a:prstGeom>
          <a:solidFill>
            <a:schemeClr val="bg1"/>
          </a:solidFill>
          <a:ln w="15875">
            <a:solidFill>
              <a:schemeClr val="accent1"/>
            </a:solidFill>
            <a:prstDash val="solid"/>
          </a:ln>
          <a:effectLst>
            <a:outerShdw dist="76200" algn="tl" rotWithShape="0">
              <a:schemeClr val="bg2"/>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6" name="文本框 65">
            <a:extLst>
              <a:ext uri="{FF2B5EF4-FFF2-40B4-BE49-F238E27FC236}">
                <a16:creationId xmlns:a16="http://schemas.microsoft.com/office/drawing/2014/main" id="{871F576E-247C-4AF6-9885-F866C611EBC0}"/>
              </a:ext>
            </a:extLst>
          </p:cNvPr>
          <p:cNvSpPr txBox="1"/>
          <p:nvPr/>
        </p:nvSpPr>
        <p:spPr>
          <a:xfrm>
            <a:off x="6764109" y="4694984"/>
            <a:ext cx="2764832" cy="38638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zh-CN" altLang="en-US" sz="1600" dirty="0">
                <a:solidFill>
                  <a:schemeClr val="accent1"/>
                </a:solidFill>
                <a:latin typeface="思源黑体 CN Bold" panose="020B0800000000000000" pitchFamily="34" charset="-122"/>
                <a:ea typeface="思源黑体 CN Bold" panose="020B0800000000000000" pitchFamily="34" charset="-122"/>
              </a:rPr>
              <a:t>临床关联分析</a:t>
            </a:r>
          </a:p>
        </p:txBody>
      </p:sp>
      <p:sp>
        <p:nvSpPr>
          <p:cNvPr id="67" name="文本框 66">
            <a:extLst>
              <a:ext uri="{FF2B5EF4-FFF2-40B4-BE49-F238E27FC236}">
                <a16:creationId xmlns:a16="http://schemas.microsoft.com/office/drawing/2014/main" id="{5A2AA5AB-A66E-46CE-AEFE-4A4080D1DA0D}"/>
              </a:ext>
            </a:extLst>
          </p:cNvPr>
          <p:cNvSpPr txBox="1"/>
          <p:nvPr/>
        </p:nvSpPr>
        <p:spPr>
          <a:xfrm>
            <a:off x="6776407" y="5032619"/>
            <a:ext cx="2764832" cy="118987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just">
              <a:lnSpc>
                <a:spcPct val="130000"/>
              </a:lnSpc>
              <a:buNone/>
            </a:pPr>
            <a:r>
              <a:rPr lang="zh-CN" altLang="en-US" dirty="0"/>
              <a:t>收集肝癌患者化疗样本，检测</a:t>
            </a:r>
            <a:r>
              <a:rPr lang="en-US" altLang="zh-CN" dirty="0"/>
              <a:t>PRMT3</a:t>
            </a:r>
            <a:r>
              <a:rPr lang="zh-CN" altLang="en-US" dirty="0"/>
              <a:t>表达、</a:t>
            </a:r>
            <a:r>
              <a:rPr lang="en-US" altLang="zh-CN" dirty="0"/>
              <a:t>IGF2BP1</a:t>
            </a:r>
            <a:r>
              <a:rPr lang="zh-CN" altLang="en-US" dirty="0"/>
              <a:t>甲基化水平，分析其与奥沙利铂疗效及患者预后的相关性。</a:t>
            </a:r>
          </a:p>
        </p:txBody>
      </p:sp>
      <p:sp>
        <p:nvSpPr>
          <p:cNvPr id="68" name="文本框 67">
            <a:extLst>
              <a:ext uri="{FF2B5EF4-FFF2-40B4-BE49-F238E27FC236}">
                <a16:creationId xmlns:a16="http://schemas.microsoft.com/office/drawing/2014/main" id="{7EF220C1-0CA3-46FF-A552-C93E059ACBE6}"/>
              </a:ext>
            </a:extLst>
          </p:cNvPr>
          <p:cNvSpPr txBox="1"/>
          <p:nvPr/>
        </p:nvSpPr>
        <p:spPr>
          <a:xfrm>
            <a:off x="3268119"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2</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69" name="文本框 68">
            <a:extLst>
              <a:ext uri="{FF2B5EF4-FFF2-40B4-BE49-F238E27FC236}">
                <a16:creationId xmlns:a16="http://schemas.microsoft.com/office/drawing/2014/main" id="{6278D0F2-9FB5-4757-BA2D-EE9C271D519B}"/>
              </a:ext>
            </a:extLst>
          </p:cNvPr>
          <p:cNvSpPr txBox="1"/>
          <p:nvPr/>
        </p:nvSpPr>
        <p:spPr>
          <a:xfrm>
            <a:off x="5450583"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3</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0" name="文本框 69">
            <a:extLst>
              <a:ext uri="{FF2B5EF4-FFF2-40B4-BE49-F238E27FC236}">
                <a16:creationId xmlns:a16="http://schemas.microsoft.com/office/drawing/2014/main" id="{3E738463-FA51-4AA7-9383-1CF64DEEAEBF}"/>
              </a:ext>
            </a:extLst>
          </p:cNvPr>
          <p:cNvSpPr txBox="1"/>
          <p:nvPr/>
        </p:nvSpPr>
        <p:spPr>
          <a:xfrm>
            <a:off x="7633048"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4</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sp>
        <p:nvSpPr>
          <p:cNvPr id="71" name="文本框 70">
            <a:extLst>
              <a:ext uri="{FF2B5EF4-FFF2-40B4-BE49-F238E27FC236}">
                <a16:creationId xmlns:a16="http://schemas.microsoft.com/office/drawing/2014/main" id="{82DF1676-EA68-4B67-AFBD-B017BD9DE4B9}"/>
              </a:ext>
            </a:extLst>
          </p:cNvPr>
          <p:cNvSpPr txBox="1"/>
          <p:nvPr/>
        </p:nvSpPr>
        <p:spPr>
          <a:xfrm>
            <a:off x="9815512" y="3966907"/>
            <a:ext cx="1290836" cy="459228"/>
          </a:xfrm>
          <a:prstGeom prst="rect">
            <a:avLst/>
          </a:prstGeom>
          <a:noFill/>
        </p:spPr>
        <p:txBody>
          <a:bodyPr wrap="square" rtlCol="0">
            <a:spAutoFit/>
          </a:bodyPr>
          <a:lstStyle>
            <a:defPPr>
              <a:defRPr lang="zh-CN"/>
            </a:defPPr>
            <a:lvl1pPr marL="285750" indent="-285750">
              <a:lnSpc>
                <a:spcPct val="110000"/>
              </a:lnSpc>
              <a:buFont typeface="Wingdings" panose="05000000000000000000" pitchFamily="2" charset="2"/>
              <a:buChar char="u"/>
              <a:defRPr sz="1400">
                <a:latin typeface="思源黑体 CN Regular" panose="020B0500000000000000" pitchFamily="34" charset="-122"/>
                <a:ea typeface="思源黑体 CN Regular" panose="020B0500000000000000" pitchFamily="34" charset="-122"/>
              </a:defRPr>
            </a:lvl1pPr>
          </a:lstStyle>
          <a:p>
            <a:pPr marL="0" indent="0" algn="ctr">
              <a:lnSpc>
                <a:spcPct val="130000"/>
              </a:lnSpc>
              <a:buNone/>
            </a:pPr>
            <a:r>
              <a:rPr lang="en-US" altLang="zh-CN" sz="2000" dirty="0">
                <a:solidFill>
                  <a:schemeClr val="bg1"/>
                </a:solidFill>
                <a:latin typeface="思源黑体 CN Bold" panose="020B0800000000000000" pitchFamily="34" charset="-122"/>
                <a:ea typeface="思源黑体 CN Bold" panose="020B0800000000000000" pitchFamily="34" charset="-122"/>
              </a:rPr>
              <a:t>STEP 5</a:t>
            </a:r>
            <a:endParaRPr lang="zh-CN" altLang="en-US" sz="2000" dirty="0">
              <a:solidFill>
                <a:schemeClr val="bg1"/>
              </a:solidFill>
              <a:latin typeface="思源黑体 CN Bold" panose="020B0800000000000000" pitchFamily="34" charset="-122"/>
              <a:ea typeface="思源黑体 CN Bold" panose="020B0800000000000000" pitchFamily="34" charset="-122"/>
            </a:endParaRPr>
          </a:p>
        </p:txBody>
      </p:sp>
      <p:grpSp>
        <p:nvGrpSpPr>
          <p:cNvPr id="49" name="组合 48">
            <a:extLst>
              <a:ext uri="{FF2B5EF4-FFF2-40B4-BE49-F238E27FC236}">
                <a16:creationId xmlns:a16="http://schemas.microsoft.com/office/drawing/2014/main" id="{D9EB492F-D3CF-4012-89BA-0619518E1F03}"/>
              </a:ext>
            </a:extLst>
          </p:cNvPr>
          <p:cNvGrpSpPr/>
          <p:nvPr/>
        </p:nvGrpSpPr>
        <p:grpSpPr>
          <a:xfrm>
            <a:off x="1090993" y="0"/>
            <a:ext cx="10956721" cy="836294"/>
            <a:chOff x="1090993" y="2318571"/>
            <a:chExt cx="10956721" cy="836294"/>
          </a:xfrm>
        </p:grpSpPr>
        <p:sp>
          <p:nvSpPr>
            <p:cNvPr id="50" name="任意多边形: 形状 49">
              <a:extLst>
                <a:ext uri="{FF2B5EF4-FFF2-40B4-BE49-F238E27FC236}">
                  <a16:creationId xmlns:a16="http://schemas.microsoft.com/office/drawing/2014/main" id="{70FB4968-AE9A-43F3-BACB-61D32A34E737}"/>
                </a:ext>
              </a:extLst>
            </p:cNvPr>
            <p:cNvSpPr/>
            <p:nvPr/>
          </p:nvSpPr>
          <p:spPr>
            <a:xfrm flipH="1" flipV="1">
              <a:off x="4858711" y="2318571"/>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2" name="文本框 51">
              <a:extLst>
                <a:ext uri="{FF2B5EF4-FFF2-40B4-BE49-F238E27FC236}">
                  <a16:creationId xmlns:a16="http://schemas.microsoft.com/office/drawing/2014/main" id="{CA7A53FE-82E1-43CC-BDCA-D4B98F8521D8}"/>
                </a:ext>
              </a:extLst>
            </p:cNvPr>
            <p:cNvSpPr txBox="1"/>
            <p:nvPr/>
          </p:nvSpPr>
          <p:spPr>
            <a:xfrm>
              <a:off x="7272525" y="2582532"/>
              <a:ext cx="1816124"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关键技术与创新</a:t>
              </a:r>
            </a:p>
          </p:txBody>
        </p:sp>
        <p:sp>
          <p:nvSpPr>
            <p:cNvPr id="56" name="文本框 55">
              <a:extLst>
                <a:ext uri="{FF2B5EF4-FFF2-40B4-BE49-F238E27FC236}">
                  <a16:creationId xmlns:a16="http://schemas.microsoft.com/office/drawing/2014/main" id="{664F6A79-E25E-4E63-8AB5-95B61FB382B8}"/>
                </a:ext>
              </a:extLst>
            </p:cNvPr>
            <p:cNvSpPr txBox="1"/>
            <p:nvPr/>
          </p:nvSpPr>
          <p:spPr>
            <a:xfrm>
              <a:off x="5209025" y="2582532"/>
              <a:ext cx="1827076"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研究方法与思路</a:t>
              </a:r>
            </a:p>
          </p:txBody>
        </p:sp>
        <p:sp>
          <p:nvSpPr>
            <p:cNvPr id="57" name="文本框 56">
              <a:extLst>
                <a:ext uri="{FF2B5EF4-FFF2-40B4-BE49-F238E27FC236}">
                  <a16:creationId xmlns:a16="http://schemas.microsoft.com/office/drawing/2014/main" id="{656604CA-7B1D-43F7-8D0A-31E2E6CB905B}"/>
                </a:ext>
              </a:extLst>
            </p:cNvPr>
            <p:cNvSpPr txBox="1"/>
            <p:nvPr/>
          </p:nvSpPr>
          <p:spPr>
            <a:xfrm>
              <a:off x="9325073" y="2582532"/>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58" name="文本框 57">
              <a:extLst>
                <a:ext uri="{FF2B5EF4-FFF2-40B4-BE49-F238E27FC236}">
                  <a16:creationId xmlns:a16="http://schemas.microsoft.com/office/drawing/2014/main" id="{E5615BE3-03A7-45C3-BA79-9C2F770F2455}"/>
                </a:ext>
              </a:extLst>
            </p:cNvPr>
            <p:cNvSpPr txBox="1"/>
            <p:nvPr/>
          </p:nvSpPr>
          <p:spPr>
            <a:xfrm>
              <a:off x="3153565" y="258253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59" name="文本框 58">
              <a:extLst>
                <a:ext uri="{FF2B5EF4-FFF2-40B4-BE49-F238E27FC236}">
                  <a16:creationId xmlns:a16="http://schemas.microsoft.com/office/drawing/2014/main" id="{DDBDA07E-FE45-48AA-9040-F0B3DAED7AA4}"/>
                </a:ext>
              </a:extLst>
            </p:cNvPr>
            <p:cNvSpPr txBox="1"/>
            <p:nvPr/>
          </p:nvSpPr>
          <p:spPr>
            <a:xfrm>
              <a:off x="1090993" y="258253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60" name="文本框 59">
              <a:extLst>
                <a:ext uri="{FF2B5EF4-FFF2-40B4-BE49-F238E27FC236}">
                  <a16:creationId xmlns:a16="http://schemas.microsoft.com/office/drawing/2014/main" id="{A2508C07-2EAC-43E4-A074-62033DC9E3A4}"/>
                </a:ext>
              </a:extLst>
            </p:cNvPr>
            <p:cNvSpPr txBox="1"/>
            <p:nvPr/>
          </p:nvSpPr>
          <p:spPr>
            <a:xfrm>
              <a:off x="10893226" y="2582532"/>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64" name="直接连接符 63">
              <a:extLst>
                <a:ext uri="{FF2B5EF4-FFF2-40B4-BE49-F238E27FC236}">
                  <a16:creationId xmlns:a16="http://schemas.microsoft.com/office/drawing/2014/main" id="{9FC4ECF1-824D-47BA-A8D5-402F22A634DC}"/>
                </a:ext>
              </a:extLst>
            </p:cNvPr>
            <p:cNvCxnSpPr/>
            <p:nvPr/>
          </p:nvCxnSpPr>
          <p:spPr>
            <a:xfrm>
              <a:off x="71543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BEE6CCE-2C61-42B5-814C-1E25B4604051}"/>
                </a:ext>
              </a:extLst>
            </p:cNvPr>
            <p:cNvCxnSpPr/>
            <p:nvPr/>
          </p:nvCxnSpPr>
          <p:spPr>
            <a:xfrm>
              <a:off x="509081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4D0A3C38-2D0D-430F-8ADB-82BEEA0FF6E5}"/>
                </a:ext>
              </a:extLst>
            </p:cNvPr>
            <p:cNvCxnSpPr/>
            <p:nvPr/>
          </p:nvCxnSpPr>
          <p:spPr>
            <a:xfrm>
              <a:off x="9206861"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A24171D2-FA58-46A1-A390-F50C35D0EACA}"/>
                </a:ext>
              </a:extLst>
            </p:cNvPr>
            <p:cNvCxnSpPr/>
            <p:nvPr/>
          </p:nvCxnSpPr>
          <p:spPr>
            <a:xfrm>
              <a:off x="10775015"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5AE19FAA-E2AB-4910-BEC2-ADB764713F56}"/>
                </a:ext>
              </a:extLst>
            </p:cNvPr>
            <p:cNvCxnSpPr/>
            <p:nvPr/>
          </p:nvCxnSpPr>
          <p:spPr>
            <a:xfrm>
              <a:off x="3035353" y="258953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586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F156FF6F-37CA-4A60-B7D2-6BC5C4A2AC5A}"/>
              </a:ext>
            </a:extLst>
          </p:cNvPr>
          <p:cNvSpPr txBox="1"/>
          <p:nvPr/>
        </p:nvSpPr>
        <p:spPr>
          <a:xfrm>
            <a:off x="462084" y="1288460"/>
            <a:ext cx="1877437"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关键技术</a:t>
            </a:r>
          </a:p>
        </p:txBody>
      </p:sp>
      <p:sp>
        <p:nvSpPr>
          <p:cNvPr id="9" name="文本框 8">
            <a:extLst>
              <a:ext uri="{FF2B5EF4-FFF2-40B4-BE49-F238E27FC236}">
                <a16:creationId xmlns:a16="http://schemas.microsoft.com/office/drawing/2014/main" id="{281D2AFF-12E4-4C6B-AE89-1839244B8856}"/>
              </a:ext>
            </a:extLst>
          </p:cNvPr>
          <p:cNvSpPr txBox="1"/>
          <p:nvPr/>
        </p:nvSpPr>
        <p:spPr>
          <a:xfrm>
            <a:off x="462084" y="3791798"/>
            <a:ext cx="1569660"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创新点</a:t>
            </a:r>
          </a:p>
        </p:txBody>
      </p:sp>
      <p:sp>
        <p:nvSpPr>
          <p:cNvPr id="12" name="矩形: 圆角 11">
            <a:extLst>
              <a:ext uri="{FF2B5EF4-FFF2-40B4-BE49-F238E27FC236}">
                <a16:creationId xmlns:a16="http://schemas.microsoft.com/office/drawing/2014/main" id="{A6618DE4-9AF1-4037-8B0A-761F96E30CF9}"/>
              </a:ext>
            </a:extLst>
          </p:cNvPr>
          <p:cNvSpPr/>
          <p:nvPr/>
        </p:nvSpPr>
        <p:spPr>
          <a:xfrm>
            <a:off x="6096000" y="1218365"/>
            <a:ext cx="5504687" cy="1977969"/>
          </a:xfrm>
          <a:prstGeom prst="roundRect">
            <a:avLst>
              <a:gd name="adj" fmla="val 9002"/>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6" name="文本框 25">
            <a:extLst>
              <a:ext uri="{FF2B5EF4-FFF2-40B4-BE49-F238E27FC236}">
                <a16:creationId xmlns:a16="http://schemas.microsoft.com/office/drawing/2014/main" id="{06008D4A-6DD2-4A62-A1B6-32AA1B8AA3DE}"/>
              </a:ext>
            </a:extLst>
          </p:cNvPr>
          <p:cNvSpPr txBox="1"/>
          <p:nvPr/>
        </p:nvSpPr>
        <p:spPr>
          <a:xfrm>
            <a:off x="922020" y="1713672"/>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构建</a:t>
            </a:r>
            <a:r>
              <a:rPr lang="en-US" altLang="zh-CN" dirty="0">
                <a:latin typeface="思源黑体 CN Regular" panose="020B0500000000000000" pitchFamily="34" charset="-122"/>
                <a:ea typeface="思源黑体 CN Regular" panose="020B0500000000000000" pitchFamily="34" charset="-122"/>
              </a:rPr>
              <a:t>PRMT3/IGF2BP1</a:t>
            </a:r>
            <a:r>
              <a:rPr lang="zh-CN" altLang="en-US" dirty="0">
                <a:latin typeface="思源黑体 CN Regular" panose="020B0500000000000000" pitchFamily="34" charset="-122"/>
                <a:ea typeface="思源黑体 CN Regular" panose="020B0500000000000000" pitchFamily="34" charset="-122"/>
              </a:rPr>
              <a:t>调控的肝癌耐药细胞模型（</a:t>
            </a:r>
            <a:r>
              <a:rPr lang="en-US" altLang="zh-CN" dirty="0">
                <a:latin typeface="思源黑体 CN Regular" panose="020B0500000000000000" pitchFamily="34" charset="-122"/>
                <a:ea typeface="思源黑体 CN Regular" panose="020B0500000000000000" pitchFamily="34" charset="-122"/>
              </a:rPr>
              <a:t>HepG2/</a:t>
            </a:r>
            <a:r>
              <a:rPr lang="en-US" altLang="zh-CN" dirty="0" err="1">
                <a:latin typeface="思源黑体 CN Regular" panose="020B0500000000000000" pitchFamily="34" charset="-122"/>
                <a:ea typeface="思源黑体 CN Regular" panose="020B0500000000000000" pitchFamily="34" charset="-122"/>
              </a:rPr>
              <a:t>OxR</a:t>
            </a:r>
            <a:r>
              <a:rPr lang="zh-CN" altLang="en-US" dirty="0">
                <a:latin typeface="思源黑体 CN Regular" panose="020B0500000000000000" pitchFamily="34" charset="-122"/>
                <a:ea typeface="思源黑体 CN Regular" panose="020B0500000000000000" pitchFamily="34" charset="-122"/>
              </a:rPr>
              <a:t>）。</a:t>
            </a:r>
          </a:p>
        </p:txBody>
      </p:sp>
      <p:sp>
        <p:nvSpPr>
          <p:cNvPr id="27" name="文本框 26">
            <a:extLst>
              <a:ext uri="{FF2B5EF4-FFF2-40B4-BE49-F238E27FC236}">
                <a16:creationId xmlns:a16="http://schemas.microsoft.com/office/drawing/2014/main" id="{795C575F-35DD-4538-9720-BFC58D34C522}"/>
              </a:ext>
            </a:extLst>
          </p:cNvPr>
          <p:cNvSpPr txBox="1"/>
          <p:nvPr/>
        </p:nvSpPr>
        <p:spPr>
          <a:xfrm>
            <a:off x="922020" y="2579357"/>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联合质谱验证二者甲基化修饰互作关系。</a:t>
            </a:r>
          </a:p>
        </p:txBody>
      </p:sp>
      <p:sp>
        <p:nvSpPr>
          <p:cNvPr id="30" name="矩形: 圆角 29">
            <a:extLst>
              <a:ext uri="{FF2B5EF4-FFF2-40B4-BE49-F238E27FC236}">
                <a16:creationId xmlns:a16="http://schemas.microsoft.com/office/drawing/2014/main" id="{0C240E77-961D-4CCD-AE89-091A83223A27}"/>
              </a:ext>
            </a:extLst>
          </p:cNvPr>
          <p:cNvSpPr/>
          <p:nvPr/>
        </p:nvSpPr>
        <p:spPr>
          <a:xfrm>
            <a:off x="6096000" y="3429000"/>
            <a:ext cx="5504687" cy="3168650"/>
          </a:xfrm>
          <a:prstGeom prst="roundRect">
            <a:avLst>
              <a:gd name="adj" fmla="val 5406"/>
            </a:avLst>
          </a:prstGeom>
          <a:solidFill>
            <a:schemeClr val="bg1"/>
          </a:solidFill>
          <a:ln w="15875">
            <a:solidFill>
              <a:schemeClr val="accent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文本框 33">
            <a:extLst>
              <a:ext uri="{FF2B5EF4-FFF2-40B4-BE49-F238E27FC236}">
                <a16:creationId xmlns:a16="http://schemas.microsoft.com/office/drawing/2014/main" id="{6CC0DCC8-EED8-435D-BCE8-EC0E4419545B}"/>
              </a:ext>
            </a:extLst>
          </p:cNvPr>
          <p:cNvSpPr txBox="1"/>
          <p:nvPr/>
        </p:nvSpPr>
        <p:spPr>
          <a:xfrm>
            <a:off x="922020" y="4215363"/>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首次证实</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介导</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甲基化参与肝癌奥沙利铂耐药。</a:t>
            </a:r>
          </a:p>
        </p:txBody>
      </p:sp>
      <p:sp>
        <p:nvSpPr>
          <p:cNvPr id="35" name="文本框 34">
            <a:extLst>
              <a:ext uri="{FF2B5EF4-FFF2-40B4-BE49-F238E27FC236}">
                <a16:creationId xmlns:a16="http://schemas.microsoft.com/office/drawing/2014/main" id="{5D508FAD-8CD6-4FCE-AF69-A5277C658419}"/>
              </a:ext>
            </a:extLst>
          </p:cNvPr>
          <p:cNvSpPr txBox="1"/>
          <p:nvPr/>
        </p:nvSpPr>
        <p:spPr>
          <a:xfrm>
            <a:off x="922020" y="5081048"/>
            <a:ext cx="4859020"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揭示甲基化修饰调控</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靶基因结合活性的耐药通路。</a:t>
            </a:r>
          </a:p>
        </p:txBody>
      </p:sp>
      <p:pic>
        <p:nvPicPr>
          <p:cNvPr id="3074" name="Picture 2" descr="查看图片">
            <a:extLst>
              <a:ext uri="{FF2B5EF4-FFF2-40B4-BE49-F238E27FC236}">
                <a16:creationId xmlns:a16="http://schemas.microsoft.com/office/drawing/2014/main" id="{609C6588-1185-4234-B497-FAF32054276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60" r="4349" b="69406"/>
          <a:stretch/>
        </p:blipFill>
        <p:spPr bwMode="auto">
          <a:xfrm>
            <a:off x="6523522" y="1489711"/>
            <a:ext cx="4649642" cy="1626870"/>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圆顶角 14">
            <a:extLst>
              <a:ext uri="{FF2B5EF4-FFF2-40B4-BE49-F238E27FC236}">
                <a16:creationId xmlns:a16="http://schemas.microsoft.com/office/drawing/2014/main" id="{C60CC628-1DAF-45D9-910B-2B366A5D4702}"/>
              </a:ext>
            </a:extLst>
          </p:cNvPr>
          <p:cNvSpPr/>
          <p:nvPr/>
        </p:nvSpPr>
        <p:spPr>
          <a:xfrm>
            <a:off x="7528558" y="1218365"/>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精氨酸甲基化验证技术</a:t>
            </a:r>
          </a:p>
        </p:txBody>
      </p:sp>
      <p:pic>
        <p:nvPicPr>
          <p:cNvPr id="39" name="Picture 2" descr="查看图片">
            <a:extLst>
              <a:ext uri="{FF2B5EF4-FFF2-40B4-BE49-F238E27FC236}">
                <a16:creationId xmlns:a16="http://schemas.microsoft.com/office/drawing/2014/main" id="{B0B8B00D-2761-4BF0-AFA8-999C219F911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4965" r="3454" b="17899"/>
          <a:stretch/>
        </p:blipFill>
        <p:spPr bwMode="auto">
          <a:xfrm>
            <a:off x="6523522" y="3688493"/>
            <a:ext cx="4693118" cy="2785110"/>
          </a:xfrm>
          <a:prstGeom prst="rect">
            <a:avLst/>
          </a:prstGeom>
          <a:noFill/>
          <a:extLst>
            <a:ext uri="{909E8E84-426E-40DD-AFC4-6F175D3DCCD1}">
              <a14:hiddenFill xmlns:a14="http://schemas.microsoft.com/office/drawing/2010/main">
                <a:solidFill>
                  <a:srgbClr val="FFFFFF"/>
                </a:solidFill>
              </a14:hiddenFill>
            </a:ext>
          </a:extLst>
        </p:spPr>
      </p:pic>
      <p:sp>
        <p:nvSpPr>
          <p:cNvPr id="31" name="矩形: 圆顶角 30">
            <a:extLst>
              <a:ext uri="{FF2B5EF4-FFF2-40B4-BE49-F238E27FC236}">
                <a16:creationId xmlns:a16="http://schemas.microsoft.com/office/drawing/2014/main" id="{107C1DC8-ED31-450A-A383-DB034BBC69AB}"/>
              </a:ext>
            </a:extLst>
          </p:cNvPr>
          <p:cNvSpPr/>
          <p:nvPr/>
        </p:nvSpPr>
        <p:spPr>
          <a:xfrm>
            <a:off x="7699246" y="3429000"/>
            <a:ext cx="2440434" cy="376049"/>
          </a:xfrm>
          <a:prstGeom prst="round2SameRect">
            <a:avLst>
              <a:gd name="adj1" fmla="val 0"/>
              <a:gd name="adj2" fmla="val 1925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latin typeface="思源黑体 CN Bold" panose="020B0800000000000000" pitchFamily="34" charset="-122"/>
                <a:ea typeface="思源黑体 CN Bold" panose="020B0800000000000000" pitchFamily="34" charset="-122"/>
              </a:rPr>
              <a:t>耐药调控新机制</a:t>
            </a:r>
          </a:p>
        </p:txBody>
      </p:sp>
      <p:grpSp>
        <p:nvGrpSpPr>
          <p:cNvPr id="25" name="组合 24">
            <a:extLst>
              <a:ext uri="{FF2B5EF4-FFF2-40B4-BE49-F238E27FC236}">
                <a16:creationId xmlns:a16="http://schemas.microsoft.com/office/drawing/2014/main" id="{8A75A5E0-0507-41B1-BEEB-61E15D37A287}"/>
              </a:ext>
            </a:extLst>
          </p:cNvPr>
          <p:cNvGrpSpPr/>
          <p:nvPr/>
        </p:nvGrpSpPr>
        <p:grpSpPr>
          <a:xfrm>
            <a:off x="1090993" y="0"/>
            <a:ext cx="10956721" cy="836294"/>
            <a:chOff x="1090993" y="3409258"/>
            <a:chExt cx="10956721" cy="836294"/>
          </a:xfrm>
        </p:grpSpPr>
        <p:sp>
          <p:nvSpPr>
            <p:cNvPr id="33" name="任意多边形: 形状 32">
              <a:extLst>
                <a:ext uri="{FF2B5EF4-FFF2-40B4-BE49-F238E27FC236}">
                  <a16:creationId xmlns:a16="http://schemas.microsoft.com/office/drawing/2014/main" id="{1EDB41D5-3252-43E7-B441-4B2209B900F5}"/>
                </a:ext>
              </a:extLst>
            </p:cNvPr>
            <p:cNvSpPr/>
            <p:nvPr/>
          </p:nvSpPr>
          <p:spPr>
            <a:xfrm flipH="1" flipV="1">
              <a:off x="6943298" y="3409258"/>
              <a:ext cx="2474578"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AE0B7539-F683-4FEE-9132-B8642FCA4B10}"/>
                </a:ext>
              </a:extLst>
            </p:cNvPr>
            <p:cNvSpPr txBox="1"/>
            <p:nvPr/>
          </p:nvSpPr>
          <p:spPr>
            <a:xfrm>
              <a:off x="7272525" y="3673219"/>
              <a:ext cx="1816124"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关键技术与创新</a:t>
              </a:r>
            </a:p>
          </p:txBody>
        </p:sp>
        <p:sp>
          <p:nvSpPr>
            <p:cNvPr id="38" name="文本框 37">
              <a:extLst>
                <a:ext uri="{FF2B5EF4-FFF2-40B4-BE49-F238E27FC236}">
                  <a16:creationId xmlns:a16="http://schemas.microsoft.com/office/drawing/2014/main" id="{1EC81168-E25F-4DC5-B2E5-7A2B58C36A4E}"/>
                </a:ext>
              </a:extLst>
            </p:cNvPr>
            <p:cNvSpPr txBox="1"/>
            <p:nvPr/>
          </p:nvSpPr>
          <p:spPr>
            <a:xfrm>
              <a:off x="5209025" y="3673219"/>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1" name="文本框 40">
              <a:extLst>
                <a:ext uri="{FF2B5EF4-FFF2-40B4-BE49-F238E27FC236}">
                  <a16:creationId xmlns:a16="http://schemas.microsoft.com/office/drawing/2014/main" id="{52E93C2B-232B-4660-B179-3AB3D4B12C73}"/>
                </a:ext>
              </a:extLst>
            </p:cNvPr>
            <p:cNvSpPr txBox="1"/>
            <p:nvPr/>
          </p:nvSpPr>
          <p:spPr>
            <a:xfrm>
              <a:off x="9325073" y="3673219"/>
              <a:ext cx="1331730"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已开展工作</a:t>
              </a:r>
            </a:p>
          </p:txBody>
        </p:sp>
        <p:sp>
          <p:nvSpPr>
            <p:cNvPr id="42" name="文本框 41">
              <a:extLst>
                <a:ext uri="{FF2B5EF4-FFF2-40B4-BE49-F238E27FC236}">
                  <a16:creationId xmlns:a16="http://schemas.microsoft.com/office/drawing/2014/main" id="{AA118CAF-9FF9-454E-A789-6E407130FCFC}"/>
                </a:ext>
              </a:extLst>
            </p:cNvPr>
            <p:cNvSpPr txBox="1"/>
            <p:nvPr/>
          </p:nvSpPr>
          <p:spPr>
            <a:xfrm>
              <a:off x="3153565" y="3673219"/>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3" name="文本框 42">
              <a:extLst>
                <a:ext uri="{FF2B5EF4-FFF2-40B4-BE49-F238E27FC236}">
                  <a16:creationId xmlns:a16="http://schemas.microsoft.com/office/drawing/2014/main" id="{1E64064F-A986-4DB4-B71E-9F8A2C38E004}"/>
                </a:ext>
              </a:extLst>
            </p:cNvPr>
            <p:cNvSpPr txBox="1"/>
            <p:nvPr/>
          </p:nvSpPr>
          <p:spPr>
            <a:xfrm>
              <a:off x="1090993" y="3673219"/>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4" name="文本框 43">
              <a:extLst>
                <a:ext uri="{FF2B5EF4-FFF2-40B4-BE49-F238E27FC236}">
                  <a16:creationId xmlns:a16="http://schemas.microsoft.com/office/drawing/2014/main" id="{D6448CEA-D31A-4D79-BEA7-888633268991}"/>
                </a:ext>
              </a:extLst>
            </p:cNvPr>
            <p:cNvSpPr txBox="1"/>
            <p:nvPr/>
          </p:nvSpPr>
          <p:spPr>
            <a:xfrm>
              <a:off x="10893226" y="3673219"/>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5" name="直接连接符 44">
              <a:extLst>
                <a:ext uri="{FF2B5EF4-FFF2-40B4-BE49-F238E27FC236}">
                  <a16:creationId xmlns:a16="http://schemas.microsoft.com/office/drawing/2014/main" id="{832FFC4C-1BB7-490B-B684-F4917D99E8A4}"/>
                </a:ext>
              </a:extLst>
            </p:cNvPr>
            <p:cNvCxnSpPr/>
            <p:nvPr/>
          </p:nvCxnSpPr>
          <p:spPr>
            <a:xfrm>
              <a:off x="715431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C830D469-5450-4778-834E-8F3F7BBBCFD2}"/>
                </a:ext>
              </a:extLst>
            </p:cNvPr>
            <p:cNvCxnSpPr/>
            <p:nvPr/>
          </p:nvCxnSpPr>
          <p:spPr>
            <a:xfrm>
              <a:off x="509081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9B6BE5A-B1AA-47D3-8A79-0547FBC51BFF}"/>
                </a:ext>
              </a:extLst>
            </p:cNvPr>
            <p:cNvCxnSpPr/>
            <p:nvPr/>
          </p:nvCxnSpPr>
          <p:spPr>
            <a:xfrm>
              <a:off x="9206861"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98C757FF-F90E-4DCF-A331-FB1EFE1102CB}"/>
                </a:ext>
              </a:extLst>
            </p:cNvPr>
            <p:cNvCxnSpPr/>
            <p:nvPr/>
          </p:nvCxnSpPr>
          <p:spPr>
            <a:xfrm>
              <a:off x="10775015"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9398B600-C9A1-4DF5-BBC8-DA2D25E82A17}"/>
                </a:ext>
              </a:extLst>
            </p:cNvPr>
            <p:cNvCxnSpPr/>
            <p:nvPr/>
          </p:nvCxnSpPr>
          <p:spPr>
            <a:xfrm>
              <a:off x="3035353" y="3680217"/>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427292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2949267" cy="388112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70614"/>
            <a:ext cx="8668511" cy="706475"/>
          </a:xfrm>
          <a:prstGeom prst="rect">
            <a:avLst/>
          </a:prstGeom>
          <a:noFill/>
        </p:spPr>
        <p:txBody>
          <a:bodyPr wrap="square" rtlCol="0">
            <a:spAutoFit/>
          </a:bodyPr>
          <a:lstStyle/>
          <a:p>
            <a:pPr>
              <a:lnSpc>
                <a:spcPct val="130000"/>
              </a:lnSpc>
            </a:pPr>
            <a:r>
              <a:rPr lang="zh-CN" altLang="en-US" sz="1600" dirty="0">
                <a:latin typeface="思源黑体 CN Regular" panose="020B0500000000000000" pitchFamily="34" charset="-122"/>
                <a:ea typeface="思源黑体 CN Regular" panose="020B0500000000000000" pitchFamily="34" charset="-122"/>
              </a:rPr>
              <a:t>围绕</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介导</a:t>
            </a:r>
            <a:r>
              <a:rPr lang="en-US" altLang="zh-CN" sz="1600" dirty="0">
                <a:latin typeface="思源黑体 CN Regular" panose="020B0500000000000000" pitchFamily="34" charset="-122"/>
                <a:ea typeface="思源黑体 CN Regular" panose="020B0500000000000000" pitchFamily="34" charset="-122"/>
              </a:rPr>
              <a:t>IGF2BP1</a:t>
            </a:r>
            <a:r>
              <a:rPr lang="zh-CN" altLang="en-US" sz="1600" dirty="0">
                <a:latin typeface="思源黑体 CN Regular" panose="020B0500000000000000" pitchFamily="34" charset="-122"/>
                <a:ea typeface="思源黑体 CN Regular" panose="020B0500000000000000" pitchFamily="34" charset="-122"/>
              </a:rPr>
              <a:t>精氨酸甲基化促进肝癌奥沙利铂耐药性展开研究，构建耐药细胞模型，检测核心分子表达与甲基化水平，验证二者互作关系，初步明确</a:t>
            </a:r>
            <a:r>
              <a:rPr lang="en-US" altLang="zh-CN" sz="1600" dirty="0">
                <a:latin typeface="思源黑体 CN Regular" panose="020B0500000000000000" pitchFamily="34" charset="-122"/>
                <a:ea typeface="思源黑体 CN Regular" panose="020B0500000000000000" pitchFamily="34" charset="-122"/>
              </a:rPr>
              <a:t>PRMT3</a:t>
            </a:r>
            <a:r>
              <a:rPr lang="zh-CN" altLang="en-US" sz="1600" dirty="0">
                <a:latin typeface="思源黑体 CN Regular" panose="020B0500000000000000" pitchFamily="34" charset="-122"/>
                <a:ea typeface="思源黑体 CN Regular" panose="020B0500000000000000" pitchFamily="34" charset="-122"/>
              </a:rPr>
              <a:t>对耐药表型的调控作用。</a:t>
            </a:r>
          </a:p>
        </p:txBody>
      </p:sp>
      <p:pic>
        <p:nvPicPr>
          <p:cNvPr id="17" name="图片 16">
            <a:extLst>
              <a:ext uri="{FF2B5EF4-FFF2-40B4-BE49-F238E27FC236}">
                <a16:creationId xmlns:a16="http://schemas.microsoft.com/office/drawing/2014/main" id="{DCE4121D-5F8D-4835-9423-54D2178DE30C}"/>
              </a:ext>
            </a:extLst>
          </p:cNvPr>
          <p:cNvPicPr>
            <a:picLocks noChangeAspect="1"/>
          </p:cNvPicPr>
          <p:nvPr/>
        </p:nvPicPr>
        <p:blipFill>
          <a:blip r:embed="rId2"/>
          <a:srcRect l="8479" t="6998" r="2704" b="6235"/>
          <a:stretch>
            <a:fillRect/>
          </a:stretch>
        </p:blipFill>
        <p:spPr>
          <a:xfrm>
            <a:off x="635203" y="2514687"/>
            <a:ext cx="2853611" cy="3484707"/>
          </a:xfrm>
          <a:custGeom>
            <a:avLst/>
            <a:gdLst>
              <a:gd name="connsiteX0" fmla="*/ 0 w 3586487"/>
              <a:gd name="connsiteY0" fmla="*/ 0 h 4379664"/>
              <a:gd name="connsiteX1" fmla="*/ 3586487 w 3586487"/>
              <a:gd name="connsiteY1" fmla="*/ 0 h 4379664"/>
              <a:gd name="connsiteX2" fmla="*/ 3586487 w 3586487"/>
              <a:gd name="connsiteY2" fmla="*/ 2136336 h 4379664"/>
              <a:gd name="connsiteX3" fmla="*/ 3586487 w 3586487"/>
              <a:gd name="connsiteY3" fmla="*/ 4379664 h 4379664"/>
              <a:gd name="connsiteX4" fmla="*/ 904247 w 3586487"/>
              <a:gd name="connsiteY4" fmla="*/ 4379664 h 4379664"/>
              <a:gd name="connsiteX5" fmla="*/ 904247 w 3586487"/>
              <a:gd name="connsiteY5" fmla="*/ 3867600 h 4379664"/>
              <a:gd name="connsiteX6" fmla="*/ 440950 w 3586487"/>
              <a:gd name="connsiteY6" fmla="*/ 3867600 h 4379664"/>
              <a:gd name="connsiteX7" fmla="*/ 440950 w 3586487"/>
              <a:gd name="connsiteY7" fmla="*/ 2136336 h 4379664"/>
              <a:gd name="connsiteX8" fmla="*/ 0 w 3586487"/>
              <a:gd name="connsiteY8" fmla="*/ 2136336 h 4379664"/>
              <a:gd name="connsiteX9" fmla="*/ 0 w 3586487"/>
              <a:gd name="connsiteY9" fmla="*/ 0 h 437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86487" h="4379664">
                <a:moveTo>
                  <a:pt x="0" y="0"/>
                </a:moveTo>
                <a:lnTo>
                  <a:pt x="3586487" y="0"/>
                </a:lnTo>
                <a:lnTo>
                  <a:pt x="3586487" y="2136336"/>
                </a:lnTo>
                <a:lnTo>
                  <a:pt x="3586487" y="4379664"/>
                </a:lnTo>
                <a:lnTo>
                  <a:pt x="904247" y="4379664"/>
                </a:lnTo>
                <a:lnTo>
                  <a:pt x="904247" y="3867600"/>
                </a:lnTo>
                <a:lnTo>
                  <a:pt x="440950" y="3867600"/>
                </a:lnTo>
                <a:lnTo>
                  <a:pt x="440950" y="2136336"/>
                </a:lnTo>
                <a:lnTo>
                  <a:pt x="0" y="2136336"/>
                </a:lnTo>
                <a:lnTo>
                  <a:pt x="0" y="0"/>
                </a:lnTo>
                <a:close/>
              </a:path>
            </a:pathLst>
          </a:custGeom>
        </p:spPr>
      </p:pic>
      <p:sp>
        <p:nvSpPr>
          <p:cNvPr id="19" name="文本框 18">
            <a:extLst>
              <a:ext uri="{FF2B5EF4-FFF2-40B4-BE49-F238E27FC236}">
                <a16:creationId xmlns:a16="http://schemas.microsoft.com/office/drawing/2014/main" id="{0AD7C3E0-C8DB-4C43-A4C5-C2F95E5842C7}"/>
              </a:ext>
            </a:extLst>
          </p:cNvPr>
          <p:cNvSpPr txBox="1"/>
          <p:nvPr/>
        </p:nvSpPr>
        <p:spPr>
          <a:xfrm>
            <a:off x="888989" y="6334538"/>
            <a:ext cx="2441694" cy="338554"/>
          </a:xfrm>
          <a:prstGeom prst="rect">
            <a:avLst/>
          </a:prstGeom>
          <a:noFill/>
        </p:spPr>
        <p:txBody>
          <a:bodyPr wrap="none" rtlCol="0">
            <a:spAutoFit/>
          </a:bodyPr>
          <a:lstStyle/>
          <a:p>
            <a:r>
              <a:rPr lang="zh-CN" altLang="en-US" sz="1600" dirty="0">
                <a:latin typeface="思源黑体 CN Bold" panose="020B0800000000000000" pitchFamily="34" charset="-122"/>
                <a:ea typeface="思源黑体 CN Bold" panose="020B0800000000000000" pitchFamily="34" charset="-122"/>
              </a:rPr>
              <a:t>研究体系构建与初步验证</a:t>
            </a:r>
          </a:p>
        </p:txBody>
      </p:sp>
      <p:sp>
        <p:nvSpPr>
          <p:cNvPr id="40" name="文本框 39">
            <a:extLst>
              <a:ext uri="{FF2B5EF4-FFF2-40B4-BE49-F238E27FC236}">
                <a16:creationId xmlns:a16="http://schemas.microsoft.com/office/drawing/2014/main" id="{29EB3A72-EC97-419C-8B10-C8330C142090}"/>
              </a:ext>
            </a:extLst>
          </p:cNvPr>
          <p:cNvSpPr txBox="1"/>
          <p:nvPr/>
        </p:nvSpPr>
        <p:spPr>
          <a:xfrm>
            <a:off x="3959378" y="2265415"/>
            <a:ext cx="2031325" cy="338554"/>
          </a:xfrm>
          <a:prstGeom prst="rect">
            <a:avLst/>
          </a:prstGeom>
          <a:noFill/>
        </p:spPr>
        <p:txBody>
          <a:bodyPr wrap="none" rtlCol="0">
            <a:spAutoFit/>
          </a:bodyPr>
          <a:lstStyle/>
          <a:p>
            <a:pPr algn="ctr"/>
            <a:r>
              <a:rPr lang="zh-CN" altLang="en-US" sz="1600" dirty="0">
                <a:latin typeface="思源黑体 CN Bold" panose="020B0800000000000000" pitchFamily="34" charset="-122"/>
                <a:ea typeface="思源黑体 CN Bold" panose="020B0800000000000000" pitchFamily="34" charset="-122"/>
              </a:rPr>
              <a:t>甲基化水平显著升高</a:t>
            </a:r>
          </a:p>
        </p:txBody>
      </p:sp>
      <p:sp>
        <p:nvSpPr>
          <p:cNvPr id="44" name="文本框 43">
            <a:extLst>
              <a:ext uri="{FF2B5EF4-FFF2-40B4-BE49-F238E27FC236}">
                <a16:creationId xmlns:a16="http://schemas.microsoft.com/office/drawing/2014/main" id="{A1B1EC59-65E4-42ED-8A28-47F831B54E71}"/>
              </a:ext>
            </a:extLst>
          </p:cNvPr>
          <p:cNvSpPr txBox="1"/>
          <p:nvPr/>
        </p:nvSpPr>
        <p:spPr>
          <a:xfrm>
            <a:off x="7034411" y="2265415"/>
            <a:ext cx="4166525" cy="338554"/>
          </a:xfrm>
          <a:prstGeom prst="rect">
            <a:avLst/>
          </a:prstGeom>
          <a:noFill/>
        </p:spPr>
        <p:txBody>
          <a:bodyPr wrap="none" rtlCol="0">
            <a:spAutoFit/>
          </a:bodyPr>
          <a:lstStyle/>
          <a:p>
            <a:pPr algn="ctr"/>
            <a:r>
              <a:rPr lang="en-US" altLang="zh-CN" sz="1600" dirty="0">
                <a:latin typeface="思源黑体 CN Bold" panose="020B0800000000000000" pitchFamily="34" charset="-122"/>
                <a:ea typeface="思源黑体 CN Bold" panose="020B0800000000000000" pitchFamily="34" charset="-122"/>
              </a:rPr>
              <a:t>PRMT3</a:t>
            </a:r>
            <a:r>
              <a:rPr lang="zh-CN" altLang="en-US" sz="1600" dirty="0">
                <a:latin typeface="思源黑体 CN Bold" panose="020B0800000000000000" pitchFamily="34" charset="-122"/>
                <a:ea typeface="思源黑体 CN Bold" panose="020B0800000000000000" pitchFamily="34" charset="-122"/>
              </a:rPr>
              <a:t>沉默可逆转肝癌细胞奥沙利铂耐药性</a:t>
            </a:r>
          </a:p>
        </p:txBody>
      </p:sp>
      <p:graphicFrame>
        <p:nvGraphicFramePr>
          <p:cNvPr id="7168" name="图表 7167">
            <a:extLst>
              <a:ext uri="{FF2B5EF4-FFF2-40B4-BE49-F238E27FC236}">
                <a16:creationId xmlns:a16="http://schemas.microsoft.com/office/drawing/2014/main" id="{323772A1-63EB-4A33-BEF8-8A5C91F51EE4}"/>
              </a:ext>
            </a:extLst>
          </p:cNvPr>
          <p:cNvGraphicFramePr/>
          <p:nvPr/>
        </p:nvGraphicFramePr>
        <p:xfrm>
          <a:off x="3731637" y="2734951"/>
          <a:ext cx="2486951" cy="1918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0" name="图表 59">
            <a:extLst>
              <a:ext uri="{FF2B5EF4-FFF2-40B4-BE49-F238E27FC236}">
                <a16:creationId xmlns:a16="http://schemas.microsoft.com/office/drawing/2014/main" id="{57512FE3-58F1-4FA7-915A-14D4913FF4B0}"/>
              </a:ext>
            </a:extLst>
          </p:cNvPr>
          <p:cNvGraphicFramePr/>
          <p:nvPr/>
        </p:nvGraphicFramePr>
        <p:xfrm>
          <a:off x="6555121" y="2734951"/>
          <a:ext cx="2486951" cy="191832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1" name="图表 60">
            <a:extLst>
              <a:ext uri="{FF2B5EF4-FFF2-40B4-BE49-F238E27FC236}">
                <a16:creationId xmlns:a16="http://schemas.microsoft.com/office/drawing/2014/main" id="{D75F35A2-6899-4325-B833-A1669453F901}"/>
              </a:ext>
            </a:extLst>
          </p:cNvPr>
          <p:cNvGraphicFramePr/>
          <p:nvPr/>
        </p:nvGraphicFramePr>
        <p:xfrm>
          <a:off x="9117674" y="2734951"/>
          <a:ext cx="2486951" cy="1918329"/>
        </p:xfrm>
        <a:graphic>
          <a:graphicData uri="http://schemas.openxmlformats.org/drawingml/2006/chart">
            <c:chart xmlns:c="http://schemas.openxmlformats.org/drawingml/2006/chart" xmlns:r="http://schemas.openxmlformats.org/officeDocument/2006/relationships" r:id="rId5"/>
          </a:graphicData>
        </a:graphic>
      </p:graphicFrame>
      <p:cxnSp>
        <p:nvCxnSpPr>
          <p:cNvPr id="7172" name="直接连接符 7171">
            <a:extLst>
              <a:ext uri="{FF2B5EF4-FFF2-40B4-BE49-F238E27FC236}">
                <a16:creationId xmlns:a16="http://schemas.microsoft.com/office/drawing/2014/main" id="{9F67273D-6153-4F03-8E1A-5627A7EE8083}"/>
              </a:ext>
            </a:extLst>
          </p:cNvPr>
          <p:cNvCxnSpPr>
            <a:cxnSpLocks/>
          </p:cNvCxnSpPr>
          <p:nvPr/>
        </p:nvCxnSpPr>
        <p:spPr>
          <a:xfrm>
            <a:off x="6413439" y="2316480"/>
            <a:ext cx="0" cy="4281170"/>
          </a:xfrm>
          <a:prstGeom prst="line">
            <a:avLst/>
          </a:prstGeom>
          <a:ln w="12700">
            <a:solidFill>
              <a:srgbClr val="911D22"/>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8" name="图表 67">
            <a:extLst>
              <a:ext uri="{FF2B5EF4-FFF2-40B4-BE49-F238E27FC236}">
                <a16:creationId xmlns:a16="http://schemas.microsoft.com/office/drawing/2014/main" id="{C203286F-FC2F-4C80-AAA1-C000E99ADC74}"/>
              </a:ext>
            </a:extLst>
          </p:cNvPr>
          <p:cNvGraphicFramePr/>
          <p:nvPr/>
        </p:nvGraphicFramePr>
        <p:xfrm>
          <a:off x="3731637" y="4683301"/>
          <a:ext cx="2486951" cy="1918329"/>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69" name="图表 68">
            <a:extLst>
              <a:ext uri="{FF2B5EF4-FFF2-40B4-BE49-F238E27FC236}">
                <a16:creationId xmlns:a16="http://schemas.microsoft.com/office/drawing/2014/main" id="{4AD04F68-638E-4FFB-AF33-675D731CF6DB}"/>
              </a:ext>
            </a:extLst>
          </p:cNvPr>
          <p:cNvGraphicFramePr/>
          <p:nvPr>
            <p:extLst>
              <p:ext uri="{D42A27DB-BD31-4B8C-83A1-F6EECF244321}">
                <p14:modId xmlns:p14="http://schemas.microsoft.com/office/powerpoint/2010/main" val="3236356"/>
              </p:ext>
            </p:extLst>
          </p:nvPr>
        </p:nvGraphicFramePr>
        <p:xfrm>
          <a:off x="6555121" y="4683301"/>
          <a:ext cx="2486951" cy="1918329"/>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70" name="图表 69">
            <a:extLst>
              <a:ext uri="{FF2B5EF4-FFF2-40B4-BE49-F238E27FC236}">
                <a16:creationId xmlns:a16="http://schemas.microsoft.com/office/drawing/2014/main" id="{F9A0FAAC-7C7D-466F-84FB-2AF9FA761BB4}"/>
              </a:ext>
            </a:extLst>
          </p:cNvPr>
          <p:cNvGraphicFramePr/>
          <p:nvPr>
            <p:extLst>
              <p:ext uri="{D42A27DB-BD31-4B8C-83A1-F6EECF244321}">
                <p14:modId xmlns:p14="http://schemas.microsoft.com/office/powerpoint/2010/main" val="3735261682"/>
              </p:ext>
            </p:extLst>
          </p:nvPr>
        </p:nvGraphicFramePr>
        <p:xfrm>
          <a:off x="9117674" y="4683301"/>
          <a:ext cx="2486951" cy="1918329"/>
        </p:xfrm>
        <a:graphic>
          <a:graphicData uri="http://schemas.openxmlformats.org/drawingml/2006/chart">
            <c:chart xmlns:c="http://schemas.openxmlformats.org/drawingml/2006/chart" xmlns:r="http://schemas.openxmlformats.org/officeDocument/2006/relationships" r:id="rId8"/>
          </a:graphicData>
        </a:graphic>
      </p:graphicFrame>
      <p:grpSp>
        <p:nvGrpSpPr>
          <p:cNvPr id="27" name="组合 26">
            <a:extLst>
              <a:ext uri="{FF2B5EF4-FFF2-40B4-BE49-F238E27FC236}">
                <a16:creationId xmlns:a16="http://schemas.microsoft.com/office/drawing/2014/main" id="{6E0F1A38-E324-4EBB-80A6-4CA11973D8C6}"/>
              </a:ext>
            </a:extLst>
          </p:cNvPr>
          <p:cNvGrpSpPr/>
          <p:nvPr/>
        </p:nvGrpSpPr>
        <p:grpSpPr>
          <a:xfrm>
            <a:off x="1090993" y="0"/>
            <a:ext cx="10956721" cy="836294"/>
            <a:chOff x="1090993" y="4562756"/>
            <a:chExt cx="10956721" cy="836294"/>
          </a:xfrm>
        </p:grpSpPr>
        <p:cxnSp>
          <p:nvCxnSpPr>
            <p:cNvPr id="38" name="直接连接符 37">
              <a:extLst>
                <a:ext uri="{FF2B5EF4-FFF2-40B4-BE49-F238E27FC236}">
                  <a16:creationId xmlns:a16="http://schemas.microsoft.com/office/drawing/2014/main" id="{0A048ED2-18CD-488C-A514-0AAF05D5C401}"/>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D6D0D17A-333D-4183-8C3F-0E8892DE2486}"/>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D201840E-0F21-4BB0-96B4-0BF58C65711E}"/>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30" name="文本框 29">
              <a:extLst>
                <a:ext uri="{FF2B5EF4-FFF2-40B4-BE49-F238E27FC236}">
                  <a16:creationId xmlns:a16="http://schemas.microsoft.com/office/drawing/2014/main" id="{B60D239F-32FF-4B59-81A5-D76F66E5B17E}"/>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32" name="文本框 31">
              <a:extLst>
                <a:ext uri="{FF2B5EF4-FFF2-40B4-BE49-F238E27FC236}">
                  <a16:creationId xmlns:a16="http://schemas.microsoft.com/office/drawing/2014/main" id="{81B9EB8F-B7EE-44E6-8FED-0A6F80C016DB}"/>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33" name="文本框 32">
              <a:extLst>
                <a:ext uri="{FF2B5EF4-FFF2-40B4-BE49-F238E27FC236}">
                  <a16:creationId xmlns:a16="http://schemas.microsoft.com/office/drawing/2014/main" id="{3A99197A-9DDB-4525-8039-5E6206413A4F}"/>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34" name="文本框 33">
              <a:extLst>
                <a:ext uri="{FF2B5EF4-FFF2-40B4-BE49-F238E27FC236}">
                  <a16:creationId xmlns:a16="http://schemas.microsoft.com/office/drawing/2014/main" id="{AC5FDB4E-2DF0-40D4-81F9-C366AD981993}"/>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5" name="直接连接符 34">
              <a:extLst>
                <a:ext uri="{FF2B5EF4-FFF2-40B4-BE49-F238E27FC236}">
                  <a16:creationId xmlns:a16="http://schemas.microsoft.com/office/drawing/2014/main" id="{E83BCA7D-5542-4ABA-870C-C9B8656AED34}"/>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1F848FBB-F13E-4D7B-A184-F33A08C3E049}"/>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17B24B83-2D24-4716-B54E-9D83FD4758CE}"/>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28" name="任意多边形: 形状 27">
              <a:extLst>
                <a:ext uri="{FF2B5EF4-FFF2-40B4-BE49-F238E27FC236}">
                  <a16:creationId xmlns:a16="http://schemas.microsoft.com/office/drawing/2014/main" id="{15563042-6477-4280-A219-C1223EBD6598}"/>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60F3F1B3-06AA-44A2-B5B4-D29559CEF807}"/>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8811928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2316480"/>
            <a:ext cx="11017250" cy="428117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矩形: 圆角 4">
            <a:extLst>
              <a:ext uri="{FF2B5EF4-FFF2-40B4-BE49-F238E27FC236}">
                <a16:creationId xmlns:a16="http://schemas.microsoft.com/office/drawing/2014/main" id="{D7AD1FB2-59A5-43D0-868C-282D2D074E91}"/>
              </a:ext>
            </a:extLst>
          </p:cNvPr>
          <p:cNvSpPr/>
          <p:nvPr/>
        </p:nvSpPr>
        <p:spPr>
          <a:xfrm>
            <a:off x="2743200" y="1169234"/>
            <a:ext cx="8857487" cy="909234"/>
          </a:xfrm>
          <a:prstGeom prst="roundRect">
            <a:avLst>
              <a:gd name="adj" fmla="val 1160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393019"/>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sp>
        <p:nvSpPr>
          <p:cNvPr id="7" name="文本框 6">
            <a:extLst>
              <a:ext uri="{FF2B5EF4-FFF2-40B4-BE49-F238E27FC236}">
                <a16:creationId xmlns:a16="http://schemas.microsoft.com/office/drawing/2014/main" id="{FDB02A9E-4394-4D4F-8105-1E844ECA9B86}"/>
              </a:ext>
            </a:extLst>
          </p:cNvPr>
          <p:cNvSpPr txBox="1"/>
          <p:nvPr/>
        </p:nvSpPr>
        <p:spPr>
          <a:xfrm>
            <a:off x="2865120" y="1221619"/>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初步结果：</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高表达肝癌细胞耐药性增强，</a:t>
            </a:r>
            <a:r>
              <a:rPr lang="en-US" altLang="zh-CN" sz="1600" dirty="0">
                <a:latin typeface="思源黑体 CN Regular" panose="020B0500000000000000" pitchFamily="34" charset="-122"/>
                <a:ea typeface="思源黑体 CN Regular" panose="020B0500000000000000" pitchFamily="34" charset="-122"/>
              </a:rPr>
              <a:t>IGF2BP1 </a:t>
            </a:r>
            <a:r>
              <a:rPr lang="zh-CN" altLang="en-US" sz="1600" dirty="0">
                <a:latin typeface="思源黑体 CN Regular" panose="020B0500000000000000" pitchFamily="34" charset="-122"/>
                <a:ea typeface="思源黑体 CN Regular" panose="020B0500000000000000" pitchFamily="34" charset="-122"/>
              </a:rPr>
              <a:t>精氨酸甲基化水平显著升高</a:t>
            </a:r>
          </a:p>
        </p:txBody>
      </p:sp>
      <p:sp>
        <p:nvSpPr>
          <p:cNvPr id="71" name="文本框 70">
            <a:extLst>
              <a:ext uri="{FF2B5EF4-FFF2-40B4-BE49-F238E27FC236}">
                <a16:creationId xmlns:a16="http://schemas.microsoft.com/office/drawing/2014/main" id="{4A0828E0-A545-4F8C-8181-34B4E872F2BC}"/>
              </a:ext>
            </a:extLst>
          </p:cNvPr>
          <p:cNvSpPr txBox="1"/>
          <p:nvPr/>
        </p:nvSpPr>
        <p:spPr>
          <a:xfrm>
            <a:off x="2865120" y="1600622"/>
            <a:ext cx="8668511" cy="422552"/>
          </a:xfrm>
          <a:prstGeom prst="rect">
            <a:avLst/>
          </a:prstGeom>
          <a:noFill/>
        </p:spPr>
        <p:txBody>
          <a:bodyPr wrap="square" rtlCol="0">
            <a:spAutoFit/>
          </a:bodyPr>
          <a:lstStyle/>
          <a:p>
            <a:pPr marL="285750" indent="-285750">
              <a:lnSpc>
                <a:spcPct val="130000"/>
              </a:lnSpc>
              <a:buFont typeface="Wingdings" panose="05000000000000000000" pitchFamily="2" charset="2"/>
              <a:buChar char="u"/>
            </a:pPr>
            <a:r>
              <a:rPr lang="zh-CN" altLang="en-US" dirty="0">
                <a:latin typeface="思源黑体 CN Bold" panose="020B0800000000000000" pitchFamily="34" charset="-122"/>
                <a:ea typeface="思源黑体 CN Bold" panose="020B0800000000000000" pitchFamily="34" charset="-122"/>
              </a:rPr>
              <a:t>启发：</a:t>
            </a:r>
            <a:r>
              <a:rPr lang="zh-CN" altLang="en-US" sz="1600" dirty="0">
                <a:latin typeface="思源黑体 CN Regular" panose="020B0500000000000000" pitchFamily="34" charset="-122"/>
                <a:ea typeface="思源黑体 CN Regular" panose="020B0500000000000000" pitchFamily="34" charset="-122"/>
              </a:rPr>
              <a:t>靶向 </a:t>
            </a:r>
            <a:r>
              <a:rPr lang="en-US" altLang="zh-CN" sz="1600" dirty="0">
                <a:latin typeface="思源黑体 CN Regular" panose="020B0500000000000000" pitchFamily="34" charset="-122"/>
                <a:ea typeface="思源黑体 CN Regular" panose="020B0500000000000000" pitchFamily="34" charset="-122"/>
              </a:rPr>
              <a:t>PRMT3 </a:t>
            </a:r>
            <a:r>
              <a:rPr lang="zh-CN" altLang="en-US" sz="1600" dirty="0">
                <a:latin typeface="思源黑体 CN Regular" panose="020B0500000000000000" pitchFamily="34" charset="-122"/>
                <a:ea typeface="思源黑体 CN Regular" panose="020B0500000000000000" pitchFamily="34" charset="-122"/>
              </a:rPr>
              <a:t>或可逆转耐药，为肝癌化疗联合治疗提供新的潜在靶点</a:t>
            </a:r>
          </a:p>
        </p:txBody>
      </p:sp>
      <p:pic>
        <p:nvPicPr>
          <p:cNvPr id="75" name="Picture 2" descr="查看图片">
            <a:extLst>
              <a:ext uri="{FF2B5EF4-FFF2-40B4-BE49-F238E27FC236}">
                <a16:creationId xmlns:a16="http://schemas.microsoft.com/office/drawing/2014/main" id="{D71AEFEC-336A-4B07-9B74-5F9E8995AF7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t="24081" r="70293" b="56414"/>
          <a:stretch/>
        </p:blipFill>
        <p:spPr bwMode="auto">
          <a:xfrm>
            <a:off x="4968675" y="2512029"/>
            <a:ext cx="2359987" cy="1796943"/>
          </a:xfrm>
          <a:prstGeom prst="rect">
            <a:avLst/>
          </a:prstGeom>
          <a:noFill/>
          <a:extLst>
            <a:ext uri="{909E8E84-426E-40DD-AFC4-6F175D3DCCD1}">
              <a14:hiddenFill xmlns:a14="http://schemas.microsoft.com/office/drawing/2010/main">
                <a:solidFill>
                  <a:srgbClr val="FFFFFF"/>
                </a:solidFill>
              </a14:hiddenFill>
            </a:ext>
          </a:extLst>
        </p:spPr>
      </p:pic>
      <p:grpSp>
        <p:nvGrpSpPr>
          <p:cNvPr id="7180" name="组合 7179">
            <a:extLst>
              <a:ext uri="{FF2B5EF4-FFF2-40B4-BE49-F238E27FC236}">
                <a16:creationId xmlns:a16="http://schemas.microsoft.com/office/drawing/2014/main" id="{F6612AFB-93AE-449F-8471-82DAED3415AC}"/>
              </a:ext>
            </a:extLst>
          </p:cNvPr>
          <p:cNvGrpSpPr/>
          <p:nvPr/>
        </p:nvGrpSpPr>
        <p:grpSpPr>
          <a:xfrm>
            <a:off x="1036741" y="2442840"/>
            <a:ext cx="3550104" cy="1830041"/>
            <a:chOff x="1036741" y="2442840"/>
            <a:chExt cx="3550104" cy="1830041"/>
          </a:xfrm>
        </p:grpSpPr>
        <p:pic>
          <p:nvPicPr>
            <p:cNvPr id="72" name="Picture 6" descr="查看图片">
              <a:extLst>
                <a:ext uri="{FF2B5EF4-FFF2-40B4-BE49-F238E27FC236}">
                  <a16:creationId xmlns:a16="http://schemas.microsoft.com/office/drawing/2014/main" id="{8F85894E-FDBC-4B97-BCF6-C034BDAC77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0000" r="73875" b="39983"/>
            <a:stretch/>
          </p:blipFill>
          <p:spPr bwMode="auto">
            <a:xfrm>
              <a:off x="1036741" y="2458081"/>
              <a:ext cx="3550104" cy="1814800"/>
            </a:xfrm>
            <a:prstGeom prst="rect">
              <a:avLst/>
            </a:prstGeom>
            <a:noFill/>
            <a:extLst>
              <a:ext uri="{909E8E84-426E-40DD-AFC4-6F175D3DCCD1}">
                <a14:hiddenFill xmlns:a14="http://schemas.microsoft.com/office/drawing/2010/main">
                  <a:solidFill>
                    <a:srgbClr val="FFFFFF"/>
                  </a:solidFill>
                </a14:hiddenFill>
              </a:ext>
            </a:extLst>
          </p:spPr>
        </p:pic>
        <p:sp>
          <p:nvSpPr>
            <p:cNvPr id="7179" name="文本框 7178">
              <a:extLst>
                <a:ext uri="{FF2B5EF4-FFF2-40B4-BE49-F238E27FC236}">
                  <a16:creationId xmlns:a16="http://schemas.microsoft.com/office/drawing/2014/main" id="{20D47A2D-88D7-4F2D-93F3-D6C3D1166F66}"/>
                </a:ext>
              </a:extLst>
            </p:cNvPr>
            <p:cNvSpPr txBox="1"/>
            <p:nvPr/>
          </p:nvSpPr>
          <p:spPr>
            <a:xfrm>
              <a:off x="1055296" y="2442840"/>
              <a:ext cx="284266" cy="276999"/>
            </a:xfrm>
            <a:prstGeom prst="rect">
              <a:avLst/>
            </a:prstGeom>
            <a:solidFill>
              <a:schemeClr val="bg1"/>
            </a:solidFill>
          </p:spPr>
          <p:txBody>
            <a:bodyPr wrap="square" rtlCol="0">
              <a:spAutoFit/>
            </a:bodyPr>
            <a:lstStyle/>
            <a:p>
              <a:r>
                <a:rPr lang="en-US" altLang="zh-CN" sz="1200" dirty="0">
                  <a:latin typeface="思源黑体 CN Bold" panose="020B0800000000000000" pitchFamily="34" charset="-122"/>
                  <a:ea typeface="思源黑体 CN Bold" panose="020B0800000000000000" pitchFamily="34" charset="-122"/>
                </a:rPr>
                <a:t>A</a:t>
              </a:r>
              <a:endParaRPr lang="zh-CN" altLang="en-US" sz="1200" dirty="0">
                <a:latin typeface="思源黑体 CN Bold" panose="020B0800000000000000" pitchFamily="34" charset="-122"/>
                <a:ea typeface="思源黑体 CN Bold" panose="020B0800000000000000" pitchFamily="34" charset="-122"/>
              </a:endParaRPr>
            </a:p>
          </p:txBody>
        </p:sp>
      </p:gr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3626" r="64584" b="33690"/>
          <a:stretch/>
        </p:blipFill>
        <p:spPr bwMode="auto">
          <a:xfrm>
            <a:off x="496867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2" descr="查看图片">
            <a:extLst>
              <a:ext uri="{FF2B5EF4-FFF2-40B4-BE49-F238E27FC236}">
                <a16:creationId xmlns:a16="http://schemas.microsoft.com/office/drawing/2014/main" id="{8BE5C0C8-8103-48B2-B232-A536D6563F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0458" t="24081" r="37425" b="56414"/>
          <a:stretch/>
        </p:blipFill>
        <p:spPr bwMode="auto">
          <a:xfrm>
            <a:off x="8341815" y="2512029"/>
            <a:ext cx="2551331"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3757" t="23648" r="370" b="56847"/>
          <a:stretch/>
        </p:blipFill>
        <p:spPr bwMode="auto">
          <a:xfrm>
            <a:off x="1143106" y="4536794"/>
            <a:ext cx="2849774" cy="1796943"/>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2" descr="查看图片">
            <a:extLst>
              <a:ext uri="{FF2B5EF4-FFF2-40B4-BE49-F238E27FC236}">
                <a16:creationId xmlns:a16="http://schemas.microsoft.com/office/drawing/2014/main" id="{EBC01E19-A181-4DC4-9A5F-B5658F23E65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869" t="43626" r="28715" b="33690"/>
          <a:stretch/>
        </p:blipFill>
        <p:spPr bwMode="auto">
          <a:xfrm>
            <a:off x="8341815" y="4377617"/>
            <a:ext cx="2896409" cy="2151388"/>
          </a:xfrm>
          <a:prstGeom prst="rect">
            <a:avLst/>
          </a:prstGeom>
          <a:noFill/>
          <a:extLst>
            <a:ext uri="{909E8E84-426E-40DD-AFC4-6F175D3DCCD1}">
              <a14:hiddenFill xmlns:a14="http://schemas.microsoft.com/office/drawing/2010/main">
                <a:solidFill>
                  <a:srgbClr val="FFFFFF"/>
                </a:solidFill>
              </a14:hiddenFill>
            </a:ext>
          </a:extLst>
        </p:spPr>
      </p:pic>
      <p:grpSp>
        <p:nvGrpSpPr>
          <p:cNvPr id="28" name="组合 27">
            <a:extLst>
              <a:ext uri="{FF2B5EF4-FFF2-40B4-BE49-F238E27FC236}">
                <a16:creationId xmlns:a16="http://schemas.microsoft.com/office/drawing/2014/main" id="{B1E0A182-63DB-4406-85AB-37B8807A16A0}"/>
              </a:ext>
            </a:extLst>
          </p:cNvPr>
          <p:cNvGrpSpPr/>
          <p:nvPr/>
        </p:nvGrpSpPr>
        <p:grpSpPr>
          <a:xfrm>
            <a:off x="1090993" y="0"/>
            <a:ext cx="10956721" cy="836294"/>
            <a:chOff x="1090993" y="4562756"/>
            <a:chExt cx="10956721" cy="836294"/>
          </a:xfrm>
        </p:grpSpPr>
        <p:cxnSp>
          <p:nvCxnSpPr>
            <p:cNvPr id="29" name="直接连接符 28">
              <a:extLst>
                <a:ext uri="{FF2B5EF4-FFF2-40B4-BE49-F238E27FC236}">
                  <a16:creationId xmlns:a16="http://schemas.microsoft.com/office/drawing/2014/main" id="{A621F2E7-8A4D-441F-A715-6ED4CD3E4B26}"/>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DD5EFA44-9908-497E-A9D1-20D52F4096A8}"/>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374A91F1-A184-4BB3-88E0-B29549ED5456}"/>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32" name="文本框 31">
              <a:extLst>
                <a:ext uri="{FF2B5EF4-FFF2-40B4-BE49-F238E27FC236}">
                  <a16:creationId xmlns:a16="http://schemas.microsoft.com/office/drawing/2014/main" id="{2CCC21CA-F91D-4845-AD59-7C1447A0C685}"/>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33" name="文本框 32">
              <a:extLst>
                <a:ext uri="{FF2B5EF4-FFF2-40B4-BE49-F238E27FC236}">
                  <a16:creationId xmlns:a16="http://schemas.microsoft.com/office/drawing/2014/main" id="{BDAA2E14-B739-4058-ADE5-DD8137BBF50B}"/>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34" name="文本框 33">
              <a:extLst>
                <a:ext uri="{FF2B5EF4-FFF2-40B4-BE49-F238E27FC236}">
                  <a16:creationId xmlns:a16="http://schemas.microsoft.com/office/drawing/2014/main" id="{B552A252-DA75-4903-A99E-C85B2463EF4A}"/>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35" name="文本框 34">
              <a:extLst>
                <a:ext uri="{FF2B5EF4-FFF2-40B4-BE49-F238E27FC236}">
                  <a16:creationId xmlns:a16="http://schemas.microsoft.com/office/drawing/2014/main" id="{DFF5022C-DBA7-49E7-87A2-9F23BFD7BABB}"/>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36" name="直接连接符 35">
              <a:extLst>
                <a:ext uri="{FF2B5EF4-FFF2-40B4-BE49-F238E27FC236}">
                  <a16:creationId xmlns:a16="http://schemas.microsoft.com/office/drawing/2014/main" id="{B1F993C3-67AD-4FC8-9A5B-EB7740EEC8D1}"/>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1EDC0EB5-B1B5-4B8A-B158-C401AB56F2C5}"/>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A0D9B4FA-5AC9-412A-9133-48068873547B}"/>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9" name="任意多边形: 形状 38">
              <a:extLst>
                <a:ext uri="{FF2B5EF4-FFF2-40B4-BE49-F238E27FC236}">
                  <a16:creationId xmlns:a16="http://schemas.microsoft.com/office/drawing/2014/main" id="{1B470639-E2B4-4CC9-A1BB-8E06D241D2F9}"/>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文本框 39">
              <a:extLst>
                <a:ext uri="{FF2B5EF4-FFF2-40B4-BE49-F238E27FC236}">
                  <a16:creationId xmlns:a16="http://schemas.microsoft.com/office/drawing/2014/main" id="{EDF65FC8-13D4-4579-A918-90BDDA4F95C2}"/>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16922767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圆角 57">
            <a:extLst>
              <a:ext uri="{FF2B5EF4-FFF2-40B4-BE49-F238E27FC236}">
                <a16:creationId xmlns:a16="http://schemas.microsoft.com/office/drawing/2014/main" id="{3808CFB2-1928-415D-9C91-29FD5B07BB38}"/>
              </a:ext>
            </a:extLst>
          </p:cNvPr>
          <p:cNvSpPr/>
          <p:nvPr/>
        </p:nvSpPr>
        <p:spPr>
          <a:xfrm>
            <a:off x="587375" y="1957471"/>
            <a:ext cx="11017251" cy="1967616"/>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文本框 5">
            <a:extLst>
              <a:ext uri="{FF2B5EF4-FFF2-40B4-BE49-F238E27FC236}">
                <a16:creationId xmlns:a16="http://schemas.microsoft.com/office/drawing/2014/main" id="{1734CF15-F3A7-4B24-BEE6-407D173CC01E}"/>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已开展工作</a:t>
            </a:r>
          </a:p>
        </p:txBody>
      </p:sp>
      <p:pic>
        <p:nvPicPr>
          <p:cNvPr id="80" name="Picture 2" descr="查看图片">
            <a:extLst>
              <a:ext uri="{FF2B5EF4-FFF2-40B4-BE49-F238E27FC236}">
                <a16:creationId xmlns:a16="http://schemas.microsoft.com/office/drawing/2014/main" id="{44F3A4B7-DC50-48A3-8047-1D5D82275C7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98" t="66984" r="3870" b="19774"/>
          <a:stretch/>
        </p:blipFill>
        <p:spPr bwMode="auto">
          <a:xfrm>
            <a:off x="723219" y="2331269"/>
            <a:ext cx="7533534" cy="1220021"/>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37A4C69C-607C-48E2-A617-A7269016395D}"/>
              </a:ext>
            </a:extLst>
          </p:cNvPr>
          <p:cNvSpPr/>
          <p:nvPr/>
        </p:nvSpPr>
        <p:spPr>
          <a:xfrm>
            <a:off x="638694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Picture 2" descr="查看图片">
            <a:extLst>
              <a:ext uri="{FF2B5EF4-FFF2-40B4-BE49-F238E27FC236}">
                <a16:creationId xmlns:a16="http://schemas.microsoft.com/office/drawing/2014/main" id="{9CC2E2D0-49DB-4EDA-B9EC-5CAB8EF2ACF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009" r="64584" b="919"/>
          <a:stretch/>
        </p:blipFill>
        <p:spPr bwMode="auto">
          <a:xfrm>
            <a:off x="8672563" y="2036870"/>
            <a:ext cx="2896409" cy="1808819"/>
          </a:xfrm>
          <a:prstGeom prst="rect">
            <a:avLst/>
          </a:prstGeom>
          <a:noFill/>
          <a:extLst>
            <a:ext uri="{909E8E84-426E-40DD-AFC4-6F175D3DCCD1}">
              <a14:hiddenFill xmlns:a14="http://schemas.microsoft.com/office/drawing/2010/main">
                <a:solidFill>
                  <a:srgbClr val="FFFFFF"/>
                </a:solidFill>
              </a14:hiddenFill>
            </a:ext>
          </a:extLst>
        </p:spPr>
      </p:pic>
      <p:sp>
        <p:nvSpPr>
          <p:cNvPr id="34" name="矩形: 圆角 33">
            <a:extLst>
              <a:ext uri="{FF2B5EF4-FFF2-40B4-BE49-F238E27FC236}">
                <a16:creationId xmlns:a16="http://schemas.microsoft.com/office/drawing/2014/main" id="{A83483C7-6B85-4F97-880C-7BBE8981B708}"/>
              </a:ext>
            </a:extLst>
          </p:cNvPr>
          <p:cNvSpPr/>
          <p:nvPr/>
        </p:nvSpPr>
        <p:spPr>
          <a:xfrm>
            <a:off x="587376" y="4150816"/>
            <a:ext cx="5508624" cy="2370240"/>
          </a:xfrm>
          <a:prstGeom prst="roundRect">
            <a:avLst>
              <a:gd name="adj" fmla="val 6584"/>
            </a:avLst>
          </a:prstGeom>
          <a:solidFill>
            <a:schemeClr val="bg1"/>
          </a:solidFill>
          <a:ln w="15875">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3" name="Picture 2" descr="查看图片">
            <a:extLst>
              <a:ext uri="{FF2B5EF4-FFF2-40B4-BE49-F238E27FC236}">
                <a16:creationId xmlns:a16="http://schemas.microsoft.com/office/drawing/2014/main" id="{BC33D385-F385-48D5-B3AA-B96D800B97D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5254" t="80009" r="263" b="919"/>
          <a:stretch/>
        </p:blipFill>
        <p:spPr bwMode="auto">
          <a:xfrm>
            <a:off x="678346" y="4466251"/>
            <a:ext cx="5273540" cy="1808819"/>
          </a:xfrm>
          <a:prstGeom prst="rect">
            <a:avLst/>
          </a:prstGeom>
          <a:noFill/>
          <a:extLst>
            <a:ext uri="{909E8E84-426E-40DD-AFC4-6F175D3DCCD1}">
              <a14:hiddenFill xmlns:a14="http://schemas.microsoft.com/office/drawing/2010/main">
                <a:solidFill>
                  <a:srgbClr val="FFFFFF"/>
                </a:solidFill>
              </a14:hiddenFill>
            </a:ext>
          </a:extLst>
        </p:spPr>
      </p:pic>
      <p:sp>
        <p:nvSpPr>
          <p:cNvPr id="35" name="矩形: 圆角 34">
            <a:extLst>
              <a:ext uri="{FF2B5EF4-FFF2-40B4-BE49-F238E27FC236}">
                <a16:creationId xmlns:a16="http://schemas.microsoft.com/office/drawing/2014/main" id="{934B5386-AFD2-4370-8345-64E0CFA974EE}"/>
              </a:ext>
            </a:extLst>
          </p:cNvPr>
          <p:cNvSpPr/>
          <p:nvPr/>
        </p:nvSpPr>
        <p:spPr>
          <a:xfrm>
            <a:off x="9183230" y="4324750"/>
            <a:ext cx="2421394" cy="804292"/>
          </a:xfrm>
          <a:prstGeom prst="roundRect">
            <a:avLst>
              <a:gd name="adj" fmla="val 1094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8122EB69-6BB6-4BDD-A0D2-9F974D333983}"/>
              </a:ext>
            </a:extLst>
          </p:cNvPr>
          <p:cNvSpPr/>
          <p:nvPr/>
        </p:nvSpPr>
        <p:spPr>
          <a:xfrm>
            <a:off x="6797168" y="5677599"/>
            <a:ext cx="4411852" cy="698462"/>
          </a:xfrm>
          <a:prstGeom prst="roundRect">
            <a:avLst>
              <a:gd name="adj" fmla="val 1094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7" name="文本框 36">
            <a:extLst>
              <a:ext uri="{FF2B5EF4-FFF2-40B4-BE49-F238E27FC236}">
                <a16:creationId xmlns:a16="http://schemas.microsoft.com/office/drawing/2014/main" id="{C5B810A5-4FC5-4F8D-A639-06BCF0876087}"/>
              </a:ext>
            </a:extLst>
          </p:cNvPr>
          <p:cNvSpPr txBox="1"/>
          <p:nvPr/>
        </p:nvSpPr>
        <p:spPr>
          <a:xfrm>
            <a:off x="6926709" y="5825653"/>
            <a:ext cx="4152772" cy="401777"/>
          </a:xfrm>
          <a:prstGeom prst="rect">
            <a:avLst/>
          </a:prstGeom>
          <a:noFill/>
        </p:spPr>
        <p:txBody>
          <a:bodyPr wrap="square" rtlCol="0">
            <a:spAutoFit/>
          </a:bodyPr>
          <a:lstStyle/>
          <a:p>
            <a:pPr algn="ctr">
              <a:lnSpc>
                <a:spcPct val="120000"/>
              </a:lnSpc>
            </a:pPr>
            <a:r>
              <a:rPr lang="zh-CN" altLang="en-US" dirty="0">
                <a:solidFill>
                  <a:schemeClr val="bg1"/>
                </a:solidFill>
                <a:latin typeface="思源黑体 CN Bold" panose="020B0800000000000000" pitchFamily="34" charset="-122"/>
                <a:ea typeface="思源黑体 CN Bold" panose="020B0800000000000000" pitchFamily="34" charset="-122"/>
              </a:rPr>
              <a:t>初步验证</a:t>
            </a:r>
            <a:r>
              <a:rPr lang="en-US" altLang="zh-CN" dirty="0">
                <a:solidFill>
                  <a:schemeClr val="bg1"/>
                </a:solidFill>
                <a:latin typeface="思源黑体 CN Bold" panose="020B0800000000000000" pitchFamily="34" charset="-122"/>
                <a:ea typeface="思源黑体 CN Bold" panose="020B0800000000000000" pitchFamily="34" charset="-122"/>
              </a:rPr>
              <a:t>PRMT3-IGF2BP1</a:t>
            </a:r>
            <a:r>
              <a:rPr lang="zh-CN" altLang="en-US" dirty="0">
                <a:solidFill>
                  <a:schemeClr val="bg1"/>
                </a:solidFill>
                <a:latin typeface="思源黑体 CN Bold" panose="020B0800000000000000" pitchFamily="34" charset="-122"/>
                <a:ea typeface="思源黑体 CN Bold" panose="020B0800000000000000" pitchFamily="34" charset="-122"/>
              </a:rPr>
              <a:t>调控耐药</a:t>
            </a:r>
          </a:p>
        </p:txBody>
      </p:sp>
      <p:sp>
        <p:nvSpPr>
          <p:cNvPr id="38" name="文本框 37">
            <a:extLst>
              <a:ext uri="{FF2B5EF4-FFF2-40B4-BE49-F238E27FC236}">
                <a16:creationId xmlns:a16="http://schemas.microsoft.com/office/drawing/2014/main" id="{501765A0-FBDD-49F7-A5A0-9C6A4171408E}"/>
              </a:ext>
            </a:extLst>
          </p:cNvPr>
          <p:cNvSpPr txBox="1"/>
          <p:nvPr/>
        </p:nvSpPr>
        <p:spPr>
          <a:xfrm>
            <a:off x="641236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细胞与蛋白实验证实核心调控关系</a:t>
            </a:r>
          </a:p>
        </p:txBody>
      </p:sp>
      <p:sp>
        <p:nvSpPr>
          <p:cNvPr id="39" name="文本框 38">
            <a:extLst>
              <a:ext uri="{FF2B5EF4-FFF2-40B4-BE49-F238E27FC236}">
                <a16:creationId xmlns:a16="http://schemas.microsoft.com/office/drawing/2014/main" id="{AC2204AE-81FC-43F0-9B0C-6CBB7D91700F}"/>
              </a:ext>
            </a:extLst>
          </p:cNvPr>
          <p:cNvSpPr txBox="1"/>
          <p:nvPr/>
        </p:nvSpPr>
        <p:spPr>
          <a:xfrm>
            <a:off x="9208655" y="4359520"/>
            <a:ext cx="2370545" cy="734753"/>
          </a:xfrm>
          <a:prstGeom prst="rect">
            <a:avLst/>
          </a:prstGeom>
          <a:noFill/>
        </p:spPr>
        <p:txBody>
          <a:bodyPr wrap="square" rtlCol="0">
            <a:spAutoFit/>
          </a:bodyPr>
          <a:lstStyle/>
          <a:p>
            <a:pPr algn="ctr">
              <a:lnSpc>
                <a:spcPct val="120000"/>
              </a:lnSpc>
            </a:pPr>
            <a:r>
              <a:rPr lang="zh-CN" altLang="en-US" dirty="0">
                <a:latin typeface="思源黑体 CN Regular" panose="020B0500000000000000" pitchFamily="34" charset="-122"/>
                <a:ea typeface="思源黑体 CN Regular" panose="020B0500000000000000" pitchFamily="34" charset="-122"/>
              </a:rPr>
              <a:t>为耐药逆转及靶点研究奠定基础</a:t>
            </a:r>
          </a:p>
        </p:txBody>
      </p:sp>
      <p:sp>
        <p:nvSpPr>
          <p:cNvPr id="40" name="箭头: 右 39">
            <a:extLst>
              <a:ext uri="{FF2B5EF4-FFF2-40B4-BE49-F238E27FC236}">
                <a16:creationId xmlns:a16="http://schemas.microsoft.com/office/drawing/2014/main" id="{DA5834B9-02AA-46BB-8A6A-CB5A8359D431}"/>
              </a:ext>
            </a:extLst>
          </p:cNvPr>
          <p:cNvSpPr/>
          <p:nvPr/>
        </p:nvSpPr>
        <p:spPr>
          <a:xfrm rot="5400000">
            <a:off x="1021061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箭头: 右 40">
            <a:extLst>
              <a:ext uri="{FF2B5EF4-FFF2-40B4-BE49-F238E27FC236}">
                <a16:creationId xmlns:a16="http://schemas.microsoft.com/office/drawing/2014/main" id="{275ACEE4-97F5-4343-841A-4E562D7659F6}"/>
              </a:ext>
            </a:extLst>
          </p:cNvPr>
          <p:cNvSpPr/>
          <p:nvPr/>
        </p:nvSpPr>
        <p:spPr>
          <a:xfrm rot="5400000">
            <a:off x="7414326" y="5353225"/>
            <a:ext cx="366622" cy="100192"/>
          </a:xfrm>
          <a:prstGeom prst="rightArrow">
            <a:avLst>
              <a:gd name="adj1" fmla="val 21026"/>
              <a:gd name="adj2" fmla="val 8797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a:extLst>
              <a:ext uri="{FF2B5EF4-FFF2-40B4-BE49-F238E27FC236}">
                <a16:creationId xmlns:a16="http://schemas.microsoft.com/office/drawing/2014/main" id="{51CBA402-7369-4560-90E0-1EC44637E7AF}"/>
              </a:ext>
            </a:extLst>
          </p:cNvPr>
          <p:cNvGrpSpPr/>
          <p:nvPr/>
        </p:nvGrpSpPr>
        <p:grpSpPr>
          <a:xfrm>
            <a:off x="1090993" y="0"/>
            <a:ext cx="10956721" cy="836294"/>
            <a:chOff x="1090993" y="4562756"/>
            <a:chExt cx="10956721" cy="836294"/>
          </a:xfrm>
        </p:grpSpPr>
        <p:cxnSp>
          <p:nvCxnSpPr>
            <p:cNvPr id="30" name="直接连接符 29">
              <a:extLst>
                <a:ext uri="{FF2B5EF4-FFF2-40B4-BE49-F238E27FC236}">
                  <a16:creationId xmlns:a16="http://schemas.microsoft.com/office/drawing/2014/main" id="{E46365EF-D047-4BF3-AB85-9348AC971A34}"/>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1" name="直接连接符 30">
              <a:extLst>
                <a:ext uri="{FF2B5EF4-FFF2-40B4-BE49-F238E27FC236}">
                  <a16:creationId xmlns:a16="http://schemas.microsoft.com/office/drawing/2014/main" id="{7C855589-17A0-439D-B95A-51B930FF48B1}"/>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EDF8FB49-915B-4C92-957A-7C7A6C26C7FA}"/>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42" name="文本框 41">
              <a:extLst>
                <a:ext uri="{FF2B5EF4-FFF2-40B4-BE49-F238E27FC236}">
                  <a16:creationId xmlns:a16="http://schemas.microsoft.com/office/drawing/2014/main" id="{BB08C96F-BCB2-4802-A925-103701605F81}"/>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3" name="文本框 42">
              <a:extLst>
                <a:ext uri="{FF2B5EF4-FFF2-40B4-BE49-F238E27FC236}">
                  <a16:creationId xmlns:a16="http://schemas.microsoft.com/office/drawing/2014/main" id="{02920600-D5E7-493D-9291-1A5E1659D46A}"/>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4" name="文本框 43">
              <a:extLst>
                <a:ext uri="{FF2B5EF4-FFF2-40B4-BE49-F238E27FC236}">
                  <a16:creationId xmlns:a16="http://schemas.microsoft.com/office/drawing/2014/main" id="{2BAA489A-FD39-41DA-98C2-D32EA0176908}"/>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5" name="文本框 44">
              <a:extLst>
                <a:ext uri="{FF2B5EF4-FFF2-40B4-BE49-F238E27FC236}">
                  <a16:creationId xmlns:a16="http://schemas.microsoft.com/office/drawing/2014/main" id="{F692AB15-91B2-4DE0-915F-546E85997E01}"/>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46" name="直接连接符 45">
              <a:extLst>
                <a:ext uri="{FF2B5EF4-FFF2-40B4-BE49-F238E27FC236}">
                  <a16:creationId xmlns:a16="http://schemas.microsoft.com/office/drawing/2014/main" id="{3A5A6962-1CDE-40AE-85DA-021B9BE94418}"/>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4C7F0DAD-3A7E-4FA1-8C3A-F7ECBF52EA99}"/>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B226323E-F348-4783-B28D-F882F4D8EF56}"/>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9" name="任意多边形: 形状 48">
              <a:extLst>
                <a:ext uri="{FF2B5EF4-FFF2-40B4-BE49-F238E27FC236}">
                  <a16:creationId xmlns:a16="http://schemas.microsoft.com/office/drawing/2014/main" id="{9A6DE049-D8B9-4F71-8E99-3007A0C37650}"/>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文本框 49">
              <a:extLst>
                <a:ext uri="{FF2B5EF4-FFF2-40B4-BE49-F238E27FC236}">
                  <a16:creationId xmlns:a16="http://schemas.microsoft.com/office/drawing/2014/main" id="{2A88091A-5188-46A9-AD6F-AD40C740507B}"/>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271495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BE4F5B9-0A7A-4D0C-81A2-093ACA468498}"/>
              </a:ext>
            </a:extLst>
          </p:cNvPr>
          <p:cNvSpPr/>
          <p:nvPr/>
        </p:nvSpPr>
        <p:spPr>
          <a:xfrm>
            <a:off x="586232" y="1820600"/>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8" name="文本框 37">
            <a:extLst>
              <a:ext uri="{FF2B5EF4-FFF2-40B4-BE49-F238E27FC236}">
                <a16:creationId xmlns:a16="http://schemas.microsoft.com/office/drawing/2014/main" id="{D6593B7F-1563-4BAB-BE8E-21994BB37D8C}"/>
              </a:ext>
            </a:extLst>
          </p:cNvPr>
          <p:cNvSpPr txBox="1"/>
          <p:nvPr/>
        </p:nvSpPr>
        <p:spPr>
          <a:xfrm>
            <a:off x="922020" y="2037850"/>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研究基础支撑</a:t>
            </a:r>
          </a:p>
        </p:txBody>
      </p:sp>
      <p:sp>
        <p:nvSpPr>
          <p:cNvPr id="43" name="文本框 42">
            <a:extLst>
              <a:ext uri="{FF2B5EF4-FFF2-40B4-BE49-F238E27FC236}">
                <a16:creationId xmlns:a16="http://schemas.microsoft.com/office/drawing/2014/main" id="{0469BDE5-58E9-4E06-A3C4-504481206547}"/>
              </a:ext>
            </a:extLst>
          </p:cNvPr>
          <p:cNvSpPr txBox="1"/>
          <p:nvPr/>
        </p:nvSpPr>
        <p:spPr>
          <a:xfrm>
            <a:off x="922020" y="2385477"/>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前期检测到肝癌奥沙利铂耐药组织中</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表达显著升高，二者存在蛋白互作，为机制研究提供核心依据。</a:t>
            </a:r>
          </a:p>
        </p:txBody>
      </p:sp>
      <p:sp>
        <p:nvSpPr>
          <p:cNvPr id="46" name="矩形: 圆角 45">
            <a:extLst>
              <a:ext uri="{FF2B5EF4-FFF2-40B4-BE49-F238E27FC236}">
                <a16:creationId xmlns:a16="http://schemas.microsoft.com/office/drawing/2014/main" id="{B577B889-BFB6-4FC9-B87F-3C14B1DAF23A}"/>
              </a:ext>
            </a:extLst>
          </p:cNvPr>
          <p:cNvSpPr/>
          <p:nvPr/>
        </p:nvSpPr>
        <p:spPr>
          <a:xfrm>
            <a:off x="9774048" y="2054131"/>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47" name="文本框 46">
            <a:extLst>
              <a:ext uri="{FF2B5EF4-FFF2-40B4-BE49-F238E27FC236}">
                <a16:creationId xmlns:a16="http://schemas.microsoft.com/office/drawing/2014/main" id="{8A39F97E-D909-40B2-9E9B-7585D36C3C44}"/>
              </a:ext>
            </a:extLst>
          </p:cNvPr>
          <p:cNvSpPr txBox="1"/>
          <p:nvPr/>
        </p:nvSpPr>
        <p:spPr>
          <a:xfrm>
            <a:off x="9774050" y="2087764"/>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前期数据支撑</a:t>
            </a:r>
          </a:p>
        </p:txBody>
      </p:sp>
      <p:sp>
        <p:nvSpPr>
          <p:cNvPr id="49" name="矩形: 圆角 48">
            <a:extLst>
              <a:ext uri="{FF2B5EF4-FFF2-40B4-BE49-F238E27FC236}">
                <a16:creationId xmlns:a16="http://schemas.microsoft.com/office/drawing/2014/main" id="{4D50FBAF-DBC1-4394-B540-188FC43FB639}"/>
              </a:ext>
            </a:extLst>
          </p:cNvPr>
          <p:cNvSpPr/>
          <p:nvPr/>
        </p:nvSpPr>
        <p:spPr>
          <a:xfrm>
            <a:off x="9774048" y="264887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0" name="文本框 49">
            <a:extLst>
              <a:ext uri="{FF2B5EF4-FFF2-40B4-BE49-F238E27FC236}">
                <a16:creationId xmlns:a16="http://schemas.microsoft.com/office/drawing/2014/main" id="{CDDC01F1-DECC-4103-85B4-C65C088E7D40}"/>
              </a:ext>
            </a:extLst>
          </p:cNvPr>
          <p:cNvSpPr txBox="1"/>
          <p:nvPr/>
        </p:nvSpPr>
        <p:spPr>
          <a:xfrm>
            <a:off x="9774050" y="268251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靶点关联明确</a:t>
            </a:r>
          </a:p>
        </p:txBody>
      </p:sp>
      <p:sp>
        <p:nvSpPr>
          <p:cNvPr id="52" name="矩形: 圆角 51">
            <a:extLst>
              <a:ext uri="{FF2B5EF4-FFF2-40B4-BE49-F238E27FC236}">
                <a16:creationId xmlns:a16="http://schemas.microsoft.com/office/drawing/2014/main" id="{C65CA254-39A6-4840-899F-F4F9E86A7B1A}"/>
              </a:ext>
            </a:extLst>
          </p:cNvPr>
          <p:cNvSpPr/>
          <p:nvPr/>
        </p:nvSpPr>
        <p:spPr>
          <a:xfrm>
            <a:off x="586232" y="3458054"/>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9011767-41A5-4C40-9716-6EDFCE5B8E97}"/>
              </a:ext>
            </a:extLst>
          </p:cNvPr>
          <p:cNvSpPr txBox="1"/>
          <p:nvPr/>
        </p:nvSpPr>
        <p:spPr>
          <a:xfrm>
            <a:off x="922020" y="3675304"/>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机制逻辑可行</a:t>
            </a:r>
          </a:p>
        </p:txBody>
      </p:sp>
      <p:sp>
        <p:nvSpPr>
          <p:cNvPr id="54" name="文本框 53">
            <a:extLst>
              <a:ext uri="{FF2B5EF4-FFF2-40B4-BE49-F238E27FC236}">
                <a16:creationId xmlns:a16="http://schemas.microsoft.com/office/drawing/2014/main" id="{EDD25A30-F5D1-428E-A1D9-1622D32544E0}"/>
              </a:ext>
            </a:extLst>
          </p:cNvPr>
          <p:cNvSpPr txBox="1"/>
          <p:nvPr/>
        </p:nvSpPr>
        <p:spPr>
          <a:xfrm>
            <a:off x="922020" y="4022931"/>
            <a:ext cx="8517383" cy="734753"/>
          </a:xfrm>
          <a:prstGeom prst="rect">
            <a:avLst/>
          </a:prstGeom>
          <a:noFill/>
        </p:spPr>
        <p:txBody>
          <a:bodyPr wrap="square" rtlCol="0">
            <a:spAutoFit/>
          </a:bodyPr>
          <a:lstStyle/>
          <a:p>
            <a:pPr>
              <a:lnSpc>
                <a:spcPct val="120000"/>
              </a:lnSpc>
            </a:pP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可催化</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精氨酸甲基化，修饰后</a:t>
            </a:r>
            <a:r>
              <a:rPr lang="en-US" altLang="zh-CN" dirty="0">
                <a:latin typeface="思源黑体 CN Regular" panose="020B0500000000000000" pitchFamily="34" charset="-122"/>
                <a:ea typeface="思源黑体 CN Regular" panose="020B0500000000000000" pitchFamily="34" charset="-122"/>
              </a:rPr>
              <a:t>IGF2BP1</a:t>
            </a:r>
            <a:r>
              <a:rPr lang="zh-CN" altLang="en-US" dirty="0">
                <a:latin typeface="思源黑体 CN Regular" panose="020B0500000000000000" pitchFamily="34" charset="-122"/>
                <a:ea typeface="思源黑体 CN Regular" panose="020B0500000000000000" pitchFamily="34" charset="-122"/>
              </a:rPr>
              <a:t>稳定性增强，进而调控耐药相关</a:t>
            </a:r>
            <a:r>
              <a:rPr lang="en-US" altLang="zh-CN" dirty="0">
                <a:latin typeface="思源黑体 CN Regular" panose="020B0500000000000000" pitchFamily="34" charset="-122"/>
                <a:ea typeface="思源黑体 CN Regular" panose="020B0500000000000000" pitchFamily="34" charset="-122"/>
              </a:rPr>
              <a:t>mRNA</a:t>
            </a:r>
            <a:r>
              <a:rPr lang="zh-CN" altLang="en-US" dirty="0">
                <a:latin typeface="思源黑体 CN Regular" panose="020B0500000000000000" pitchFamily="34" charset="-122"/>
                <a:ea typeface="思源黑体 CN Regular" panose="020B0500000000000000" pitchFamily="34" charset="-122"/>
              </a:rPr>
              <a:t>翻译，符合现有甲基化调控研究范式。</a:t>
            </a:r>
          </a:p>
        </p:txBody>
      </p:sp>
      <p:sp>
        <p:nvSpPr>
          <p:cNvPr id="56" name="矩形: 圆角 55">
            <a:extLst>
              <a:ext uri="{FF2B5EF4-FFF2-40B4-BE49-F238E27FC236}">
                <a16:creationId xmlns:a16="http://schemas.microsoft.com/office/drawing/2014/main" id="{4F11D03B-15C3-4F2D-A676-2ED2085D3D97}"/>
              </a:ext>
            </a:extLst>
          </p:cNvPr>
          <p:cNvSpPr/>
          <p:nvPr/>
        </p:nvSpPr>
        <p:spPr>
          <a:xfrm>
            <a:off x="9774048" y="36915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7" name="文本框 56">
            <a:extLst>
              <a:ext uri="{FF2B5EF4-FFF2-40B4-BE49-F238E27FC236}">
                <a16:creationId xmlns:a16="http://schemas.microsoft.com/office/drawing/2014/main" id="{E36A55A0-4D2E-4E0B-A93B-87AD6D036C4E}"/>
              </a:ext>
            </a:extLst>
          </p:cNvPr>
          <p:cNvSpPr txBox="1"/>
          <p:nvPr/>
        </p:nvSpPr>
        <p:spPr>
          <a:xfrm>
            <a:off x="9774050" y="37252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甲基化修饰</a:t>
            </a:r>
          </a:p>
        </p:txBody>
      </p:sp>
      <p:sp>
        <p:nvSpPr>
          <p:cNvPr id="58" name="矩形: 圆角 57">
            <a:extLst>
              <a:ext uri="{FF2B5EF4-FFF2-40B4-BE49-F238E27FC236}">
                <a16:creationId xmlns:a16="http://schemas.microsoft.com/office/drawing/2014/main" id="{D6F1C24F-0C29-482C-A957-9A50C540EEF9}"/>
              </a:ext>
            </a:extLst>
          </p:cNvPr>
          <p:cNvSpPr/>
          <p:nvPr/>
        </p:nvSpPr>
        <p:spPr>
          <a:xfrm>
            <a:off x="9774048" y="4286332"/>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59" name="文本框 58">
            <a:extLst>
              <a:ext uri="{FF2B5EF4-FFF2-40B4-BE49-F238E27FC236}">
                <a16:creationId xmlns:a16="http://schemas.microsoft.com/office/drawing/2014/main" id="{9D91FC89-0ED4-41DD-BD13-C8B312DE72BC}"/>
              </a:ext>
            </a:extLst>
          </p:cNvPr>
          <p:cNvSpPr txBox="1"/>
          <p:nvPr/>
        </p:nvSpPr>
        <p:spPr>
          <a:xfrm>
            <a:off x="9774050" y="4319965"/>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耐药基因调控</a:t>
            </a:r>
          </a:p>
        </p:txBody>
      </p:sp>
      <p:sp>
        <p:nvSpPr>
          <p:cNvPr id="62" name="矩形: 圆角 61">
            <a:extLst>
              <a:ext uri="{FF2B5EF4-FFF2-40B4-BE49-F238E27FC236}">
                <a16:creationId xmlns:a16="http://schemas.microsoft.com/office/drawing/2014/main" id="{460A7BA7-AFFE-4994-A09D-7E412E9CA041}"/>
              </a:ext>
            </a:extLst>
          </p:cNvPr>
          <p:cNvSpPr/>
          <p:nvPr/>
        </p:nvSpPr>
        <p:spPr>
          <a:xfrm>
            <a:off x="586232" y="5095507"/>
            <a:ext cx="11018393" cy="1496483"/>
          </a:xfrm>
          <a:prstGeom prst="roundRect">
            <a:avLst>
              <a:gd name="adj" fmla="val 4721"/>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文本框 67">
            <a:extLst>
              <a:ext uri="{FF2B5EF4-FFF2-40B4-BE49-F238E27FC236}">
                <a16:creationId xmlns:a16="http://schemas.microsoft.com/office/drawing/2014/main" id="{42F6DE39-236F-41D5-8476-D989DC0BDFFA}"/>
              </a:ext>
            </a:extLst>
          </p:cNvPr>
          <p:cNvSpPr txBox="1"/>
          <p:nvPr/>
        </p:nvSpPr>
        <p:spPr>
          <a:xfrm>
            <a:off x="922020" y="5312757"/>
            <a:ext cx="1723549" cy="400110"/>
          </a:xfrm>
          <a:prstGeom prst="rect">
            <a:avLst/>
          </a:prstGeom>
          <a:noFill/>
        </p:spPr>
        <p:txBody>
          <a:bodyPr wrap="none" rtlCol="0">
            <a:spAutoFit/>
          </a:bodyPr>
          <a:lstStyle/>
          <a:p>
            <a:r>
              <a:rPr lang="zh-CN" altLang="en-US" sz="2000" dirty="0">
                <a:latin typeface="思源黑体 CN Bold" panose="020B0800000000000000" pitchFamily="34" charset="-122"/>
                <a:ea typeface="思源黑体 CN Bold" panose="020B0800000000000000" pitchFamily="34" charset="-122"/>
              </a:rPr>
              <a:t>技术方案成熟</a:t>
            </a:r>
          </a:p>
        </p:txBody>
      </p:sp>
      <p:sp>
        <p:nvSpPr>
          <p:cNvPr id="69" name="文本框 68">
            <a:extLst>
              <a:ext uri="{FF2B5EF4-FFF2-40B4-BE49-F238E27FC236}">
                <a16:creationId xmlns:a16="http://schemas.microsoft.com/office/drawing/2014/main" id="{38672070-F83A-4485-9B96-605F36D30768}"/>
              </a:ext>
            </a:extLst>
          </p:cNvPr>
          <p:cNvSpPr txBox="1"/>
          <p:nvPr/>
        </p:nvSpPr>
        <p:spPr>
          <a:xfrm>
            <a:off x="922020" y="5660384"/>
            <a:ext cx="8517383" cy="734753"/>
          </a:xfrm>
          <a:prstGeom prst="rect">
            <a:avLst/>
          </a:prstGeom>
          <a:noFill/>
        </p:spPr>
        <p:txBody>
          <a:bodyPr wrap="square" rtlCol="0">
            <a:spAutoFit/>
          </a:bodyPr>
          <a:lstStyle/>
          <a:p>
            <a:pPr>
              <a:lnSpc>
                <a:spcPct val="120000"/>
              </a:lnSpc>
            </a:pPr>
            <a:r>
              <a:rPr lang="zh-CN" altLang="en-US" dirty="0">
                <a:latin typeface="思源黑体 CN Regular" panose="020B0500000000000000" pitchFamily="34" charset="-122"/>
                <a:ea typeface="思源黑体 CN Regular" panose="020B0500000000000000" pitchFamily="34" charset="-122"/>
              </a:rPr>
              <a:t>采用</a:t>
            </a:r>
            <a:r>
              <a:rPr lang="en-US" altLang="zh-CN" dirty="0">
                <a:latin typeface="思源黑体 CN Regular" panose="020B0500000000000000" pitchFamily="34" charset="-122"/>
                <a:ea typeface="思源黑体 CN Regular" panose="020B0500000000000000" pitchFamily="34" charset="-122"/>
              </a:rPr>
              <a:t>Western blot</a:t>
            </a:r>
            <a:r>
              <a:rPr lang="zh-CN" altLang="en-US" dirty="0">
                <a:latin typeface="思源黑体 CN Regular" panose="020B0500000000000000" pitchFamily="34" charset="-122"/>
                <a:ea typeface="思源黑体 CN Regular" panose="020B0500000000000000" pitchFamily="34" charset="-122"/>
              </a:rPr>
              <a:t>、</a:t>
            </a:r>
            <a:r>
              <a:rPr lang="en-US" altLang="zh-CN" dirty="0">
                <a:latin typeface="思源黑体 CN Regular" panose="020B0500000000000000" pitchFamily="34" charset="-122"/>
                <a:ea typeface="思源黑体 CN Regular" panose="020B0500000000000000" pitchFamily="34" charset="-122"/>
              </a:rPr>
              <a:t>Co-IP</a:t>
            </a:r>
            <a:r>
              <a:rPr lang="zh-CN" altLang="en-US" dirty="0">
                <a:latin typeface="思源黑体 CN Regular" panose="020B0500000000000000" pitchFamily="34" charset="-122"/>
                <a:ea typeface="思源黑体 CN Regular" panose="020B0500000000000000" pitchFamily="34" charset="-122"/>
              </a:rPr>
              <a:t>、甲基化检测等成熟技术，可构建</a:t>
            </a:r>
            <a:r>
              <a:rPr lang="en-US" altLang="zh-CN" dirty="0">
                <a:latin typeface="思源黑体 CN Regular" panose="020B0500000000000000" pitchFamily="34" charset="-122"/>
                <a:ea typeface="思源黑体 CN Regular" panose="020B0500000000000000" pitchFamily="34" charset="-122"/>
              </a:rPr>
              <a:t>PRMT3</a:t>
            </a:r>
            <a:r>
              <a:rPr lang="zh-CN" altLang="en-US" dirty="0">
                <a:latin typeface="思源黑体 CN Regular" panose="020B0500000000000000" pitchFamily="34" charset="-122"/>
                <a:ea typeface="思源黑体 CN Regular" panose="020B0500000000000000" pitchFamily="34" charset="-122"/>
              </a:rPr>
              <a:t>敲低</a:t>
            </a:r>
            <a:r>
              <a:rPr lang="en-US" altLang="zh-CN" dirty="0">
                <a:latin typeface="思源黑体 CN Regular" panose="020B0500000000000000" pitchFamily="34" charset="-122"/>
                <a:ea typeface="思源黑体 CN Regular" panose="020B0500000000000000" pitchFamily="34" charset="-122"/>
              </a:rPr>
              <a:t>/</a:t>
            </a:r>
            <a:r>
              <a:rPr lang="zh-CN" altLang="en-US" dirty="0">
                <a:latin typeface="思源黑体 CN Regular" panose="020B0500000000000000" pitchFamily="34" charset="-122"/>
                <a:ea typeface="思源黑体 CN Regular" panose="020B0500000000000000" pitchFamily="34" charset="-122"/>
              </a:rPr>
              <a:t>过表达耐药细胞株，实验室具备全套实验设备与操作经验。</a:t>
            </a:r>
          </a:p>
        </p:txBody>
      </p:sp>
      <p:sp>
        <p:nvSpPr>
          <p:cNvPr id="71" name="矩形: 圆角 70">
            <a:extLst>
              <a:ext uri="{FF2B5EF4-FFF2-40B4-BE49-F238E27FC236}">
                <a16:creationId xmlns:a16="http://schemas.microsoft.com/office/drawing/2014/main" id="{CF39135E-E5E4-4B44-9EE5-E5E84A0F22C4}"/>
              </a:ext>
            </a:extLst>
          </p:cNvPr>
          <p:cNvSpPr/>
          <p:nvPr/>
        </p:nvSpPr>
        <p:spPr>
          <a:xfrm>
            <a:off x="9774048" y="5329038"/>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2" name="文本框 71">
            <a:extLst>
              <a:ext uri="{FF2B5EF4-FFF2-40B4-BE49-F238E27FC236}">
                <a16:creationId xmlns:a16="http://schemas.microsoft.com/office/drawing/2014/main" id="{A2DCF551-FD82-4D12-8B9F-355F20F7D031}"/>
              </a:ext>
            </a:extLst>
          </p:cNvPr>
          <p:cNvSpPr txBox="1"/>
          <p:nvPr/>
        </p:nvSpPr>
        <p:spPr>
          <a:xfrm>
            <a:off x="9774050" y="5362671"/>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技术手段成熟</a:t>
            </a:r>
          </a:p>
        </p:txBody>
      </p:sp>
      <p:sp>
        <p:nvSpPr>
          <p:cNvPr id="73" name="矩形: 圆角 72">
            <a:extLst>
              <a:ext uri="{FF2B5EF4-FFF2-40B4-BE49-F238E27FC236}">
                <a16:creationId xmlns:a16="http://schemas.microsoft.com/office/drawing/2014/main" id="{5D464504-283E-4E72-BB2C-A5800785AB7E}"/>
              </a:ext>
            </a:extLst>
          </p:cNvPr>
          <p:cNvSpPr/>
          <p:nvPr/>
        </p:nvSpPr>
        <p:spPr>
          <a:xfrm>
            <a:off x="9774048" y="5923785"/>
            <a:ext cx="1495932" cy="434674"/>
          </a:xfrm>
          <a:prstGeom prst="roundRect">
            <a:avLst>
              <a:gd name="adj" fmla="val 50000"/>
            </a:avLst>
          </a:prstGeom>
          <a:solidFill>
            <a:schemeClr val="bg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911D22"/>
              </a:solidFill>
            </a:endParaRPr>
          </a:p>
        </p:txBody>
      </p:sp>
      <p:sp>
        <p:nvSpPr>
          <p:cNvPr id="74" name="文本框 73">
            <a:extLst>
              <a:ext uri="{FF2B5EF4-FFF2-40B4-BE49-F238E27FC236}">
                <a16:creationId xmlns:a16="http://schemas.microsoft.com/office/drawing/2014/main" id="{022432F9-BC6F-435B-A6AD-EFDEA8BB10B1}"/>
              </a:ext>
            </a:extLst>
          </p:cNvPr>
          <p:cNvSpPr txBox="1"/>
          <p:nvPr/>
        </p:nvSpPr>
        <p:spPr>
          <a:xfrm>
            <a:off x="9774050" y="5957418"/>
            <a:ext cx="1495930" cy="367408"/>
          </a:xfrm>
          <a:prstGeom prst="rect">
            <a:avLst/>
          </a:prstGeom>
          <a:noFill/>
        </p:spPr>
        <p:txBody>
          <a:bodyPr wrap="square" rtlCol="0">
            <a:spAutoFit/>
          </a:bodyPr>
          <a:lstStyle/>
          <a:p>
            <a:pPr algn="ctr">
              <a:lnSpc>
                <a:spcPct val="120000"/>
              </a:lnSpc>
            </a:pPr>
            <a:r>
              <a:rPr lang="zh-CN" altLang="en-US" sz="1600" dirty="0">
                <a:solidFill>
                  <a:schemeClr val="accent1"/>
                </a:solidFill>
                <a:latin typeface="思源黑体 CN Regular" panose="020B0500000000000000" pitchFamily="34" charset="-122"/>
                <a:ea typeface="思源黑体 CN Regular" panose="020B0500000000000000" pitchFamily="34" charset="-122"/>
              </a:rPr>
              <a:t>实验条件完备</a:t>
            </a:r>
          </a:p>
        </p:txBody>
      </p:sp>
      <p:sp>
        <p:nvSpPr>
          <p:cNvPr id="112" name="文本框 111">
            <a:extLst>
              <a:ext uri="{FF2B5EF4-FFF2-40B4-BE49-F238E27FC236}">
                <a16:creationId xmlns:a16="http://schemas.microsoft.com/office/drawing/2014/main" id="{4BB36D7C-54AB-40A3-AB9A-7AA5406347B9}"/>
              </a:ext>
            </a:extLst>
          </p:cNvPr>
          <p:cNvSpPr txBox="1"/>
          <p:nvPr/>
        </p:nvSpPr>
        <p:spPr>
          <a:xfrm>
            <a:off x="462084" y="1252715"/>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可行性分析</a:t>
            </a:r>
          </a:p>
        </p:txBody>
      </p:sp>
      <p:grpSp>
        <p:nvGrpSpPr>
          <p:cNvPr id="37" name="组合 36">
            <a:extLst>
              <a:ext uri="{FF2B5EF4-FFF2-40B4-BE49-F238E27FC236}">
                <a16:creationId xmlns:a16="http://schemas.microsoft.com/office/drawing/2014/main" id="{6A631630-4011-4640-9863-132898A6F080}"/>
              </a:ext>
            </a:extLst>
          </p:cNvPr>
          <p:cNvGrpSpPr/>
          <p:nvPr/>
        </p:nvGrpSpPr>
        <p:grpSpPr>
          <a:xfrm>
            <a:off x="1090993" y="0"/>
            <a:ext cx="10956721" cy="836294"/>
            <a:chOff x="1090993" y="4562756"/>
            <a:chExt cx="10956721" cy="836294"/>
          </a:xfrm>
        </p:grpSpPr>
        <p:cxnSp>
          <p:nvCxnSpPr>
            <p:cNvPr id="39" name="直接连接符 38">
              <a:extLst>
                <a:ext uri="{FF2B5EF4-FFF2-40B4-BE49-F238E27FC236}">
                  <a16:creationId xmlns:a16="http://schemas.microsoft.com/office/drawing/2014/main" id="{7B4E9463-8C0A-42AF-BFC4-7C2EAD5D11C2}"/>
                </a:ext>
              </a:extLst>
            </p:cNvPr>
            <p:cNvCxnSpPr/>
            <p:nvPr/>
          </p:nvCxnSpPr>
          <p:spPr>
            <a:xfrm>
              <a:off x="10775015"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3C6B0E18-0CED-4C2B-B727-7D98404FBAB6}"/>
                </a:ext>
              </a:extLst>
            </p:cNvPr>
            <p:cNvCxnSpPr/>
            <p:nvPr/>
          </p:nvCxnSpPr>
          <p:spPr>
            <a:xfrm>
              <a:off x="9206861"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61D027D1-94DD-4E19-87DE-0D82A33367E4}"/>
                </a:ext>
              </a:extLst>
            </p:cNvPr>
            <p:cNvSpPr txBox="1"/>
            <p:nvPr/>
          </p:nvSpPr>
          <p:spPr>
            <a:xfrm>
              <a:off x="7272525" y="4826717"/>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42" name="文本框 41">
              <a:extLst>
                <a:ext uri="{FF2B5EF4-FFF2-40B4-BE49-F238E27FC236}">
                  <a16:creationId xmlns:a16="http://schemas.microsoft.com/office/drawing/2014/main" id="{9E386426-376D-44E1-84E7-8E68F8B134EE}"/>
                </a:ext>
              </a:extLst>
            </p:cNvPr>
            <p:cNvSpPr txBox="1"/>
            <p:nvPr/>
          </p:nvSpPr>
          <p:spPr>
            <a:xfrm>
              <a:off x="5209025" y="4826717"/>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44" name="文本框 43">
              <a:extLst>
                <a:ext uri="{FF2B5EF4-FFF2-40B4-BE49-F238E27FC236}">
                  <a16:creationId xmlns:a16="http://schemas.microsoft.com/office/drawing/2014/main" id="{2DAEC2D5-8132-4935-B718-0AEDF1D60B11}"/>
                </a:ext>
              </a:extLst>
            </p:cNvPr>
            <p:cNvSpPr txBox="1"/>
            <p:nvPr/>
          </p:nvSpPr>
          <p:spPr>
            <a:xfrm>
              <a:off x="3153565" y="4826717"/>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45" name="文本框 44">
              <a:extLst>
                <a:ext uri="{FF2B5EF4-FFF2-40B4-BE49-F238E27FC236}">
                  <a16:creationId xmlns:a16="http://schemas.microsoft.com/office/drawing/2014/main" id="{E25E8F1A-8DE0-40ED-857C-45857EFA7A2B}"/>
                </a:ext>
              </a:extLst>
            </p:cNvPr>
            <p:cNvSpPr txBox="1"/>
            <p:nvPr/>
          </p:nvSpPr>
          <p:spPr>
            <a:xfrm>
              <a:off x="1090993" y="4826717"/>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sp>
          <p:nvSpPr>
            <p:cNvPr id="48" name="文本框 47">
              <a:extLst>
                <a:ext uri="{FF2B5EF4-FFF2-40B4-BE49-F238E27FC236}">
                  <a16:creationId xmlns:a16="http://schemas.microsoft.com/office/drawing/2014/main" id="{1A1FD2A8-144A-44DB-9F67-1AB1901805A1}"/>
                </a:ext>
              </a:extLst>
            </p:cNvPr>
            <p:cNvSpPr txBox="1"/>
            <p:nvPr/>
          </p:nvSpPr>
          <p:spPr>
            <a:xfrm>
              <a:off x="10893226" y="4826717"/>
              <a:ext cx="1154488" cy="369332"/>
            </a:xfrm>
            <a:prstGeom prst="rect">
              <a:avLst/>
            </a:prstGeom>
            <a:noFill/>
          </p:spPr>
          <p:txBody>
            <a:bodyPr wrap="square" rtlCol="0">
              <a:spAutoFit/>
            </a:bodyPr>
            <a:lstStyle/>
            <a:p>
              <a:pPr algn="ctr"/>
              <a:r>
                <a:rPr lang="zh-CN" altLang="en-US" dirty="0">
                  <a:solidFill>
                    <a:schemeClr val="tx1">
                      <a:lumMod val="75000"/>
                      <a:lumOff val="25000"/>
                    </a:schemeClr>
                  </a:solidFill>
                  <a:latin typeface="思源黑体 CN Bold" panose="020B0800000000000000" pitchFamily="34" charset="-122"/>
                  <a:ea typeface="思源黑体 CN Bold" panose="020B0800000000000000" pitchFamily="34" charset="-122"/>
                </a:rPr>
                <a:t>预期成果</a:t>
              </a:r>
            </a:p>
          </p:txBody>
        </p:sp>
        <p:cxnSp>
          <p:nvCxnSpPr>
            <p:cNvPr id="51" name="直接连接符 50">
              <a:extLst>
                <a:ext uri="{FF2B5EF4-FFF2-40B4-BE49-F238E27FC236}">
                  <a16:creationId xmlns:a16="http://schemas.microsoft.com/office/drawing/2014/main" id="{1BF68444-A321-4039-825F-00063B5B2597}"/>
                </a:ext>
              </a:extLst>
            </p:cNvPr>
            <p:cNvCxnSpPr/>
            <p:nvPr/>
          </p:nvCxnSpPr>
          <p:spPr>
            <a:xfrm>
              <a:off x="71543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7D4FF186-0BCA-44EF-9C07-C0BDC336AC7F}"/>
                </a:ext>
              </a:extLst>
            </p:cNvPr>
            <p:cNvCxnSpPr/>
            <p:nvPr/>
          </p:nvCxnSpPr>
          <p:spPr>
            <a:xfrm>
              <a:off x="509081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0B2980D1-86C5-4A0A-86A9-442BAEC43262}"/>
                </a:ext>
              </a:extLst>
            </p:cNvPr>
            <p:cNvCxnSpPr/>
            <p:nvPr/>
          </p:nvCxnSpPr>
          <p:spPr>
            <a:xfrm>
              <a:off x="3035353" y="4833715"/>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1" name="任意多边形: 形状 60">
              <a:extLst>
                <a:ext uri="{FF2B5EF4-FFF2-40B4-BE49-F238E27FC236}">
                  <a16:creationId xmlns:a16="http://schemas.microsoft.com/office/drawing/2014/main" id="{099CA1D9-FD88-43B8-87EC-A26A29C1810F}"/>
                </a:ext>
              </a:extLst>
            </p:cNvPr>
            <p:cNvSpPr/>
            <p:nvPr/>
          </p:nvSpPr>
          <p:spPr>
            <a:xfrm flipH="1" flipV="1">
              <a:off x="8972340" y="4562756"/>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 name="文本框 62">
              <a:extLst>
                <a:ext uri="{FF2B5EF4-FFF2-40B4-BE49-F238E27FC236}">
                  <a16:creationId xmlns:a16="http://schemas.microsoft.com/office/drawing/2014/main" id="{F1637DED-04CB-4F83-8B20-E0E0CBEB47F7}"/>
                </a:ext>
              </a:extLst>
            </p:cNvPr>
            <p:cNvSpPr txBox="1"/>
            <p:nvPr/>
          </p:nvSpPr>
          <p:spPr>
            <a:xfrm>
              <a:off x="9325073" y="4826717"/>
              <a:ext cx="1331730"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已开展工作</a:t>
              </a:r>
            </a:p>
          </p:txBody>
        </p:sp>
      </p:grpSp>
    </p:spTree>
    <p:extLst>
      <p:ext uri="{BB962C8B-B14F-4D97-AF65-F5344CB8AC3E}">
        <p14:creationId xmlns:p14="http://schemas.microsoft.com/office/powerpoint/2010/main" val="15683688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靖飞在肝PPT59">
            <a:extLst>
              <a:ext uri="{FF2B5EF4-FFF2-40B4-BE49-F238E27FC236}">
                <a16:creationId xmlns:a16="http://schemas.microsoft.com/office/drawing/2014/main" id="{D7E2CA22-5969-486B-89DE-9ABEF21D54B8}"/>
              </a:ext>
            </a:extLst>
          </p:cNvPr>
          <p:cNvSpPr/>
          <p:nvPr/>
        </p:nvSpPr>
        <p:spPr>
          <a:xfrm>
            <a:off x="2793999" y="1785546"/>
            <a:ext cx="8810626" cy="4812104"/>
          </a:xfrm>
          <a:prstGeom prst="roundRect">
            <a:avLst>
              <a:gd name="adj" fmla="val 3149"/>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40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1" name="靖飞在肝PPT13">
            <a:extLst>
              <a:ext uri="{FF2B5EF4-FFF2-40B4-BE49-F238E27FC236}">
                <a16:creationId xmlns:a16="http://schemas.microsoft.com/office/drawing/2014/main" id="{339E1AD8-3E84-4C4E-903D-C1F03C3DF462}"/>
              </a:ext>
            </a:extLst>
          </p:cNvPr>
          <p:cNvSpPr/>
          <p:nvPr/>
        </p:nvSpPr>
        <p:spPr>
          <a:xfrm>
            <a:off x="2789913" y="490025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2" name="靖飞在肝PPT14">
            <a:extLst>
              <a:ext uri="{FF2B5EF4-FFF2-40B4-BE49-F238E27FC236}">
                <a16:creationId xmlns:a16="http://schemas.microsoft.com/office/drawing/2014/main" id="{4B66BAD0-A438-4036-A262-ED7BB032ADA7}"/>
              </a:ext>
            </a:extLst>
          </p:cNvPr>
          <p:cNvSpPr/>
          <p:nvPr/>
        </p:nvSpPr>
        <p:spPr>
          <a:xfrm>
            <a:off x="2789913" y="456077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4" name="靖飞在肝PPT15">
            <a:extLst>
              <a:ext uri="{FF2B5EF4-FFF2-40B4-BE49-F238E27FC236}">
                <a16:creationId xmlns:a16="http://schemas.microsoft.com/office/drawing/2014/main" id="{0C32F6EC-515E-4C02-9963-F6170ED39104}"/>
              </a:ext>
            </a:extLst>
          </p:cNvPr>
          <p:cNvSpPr/>
          <p:nvPr/>
        </p:nvSpPr>
        <p:spPr>
          <a:xfrm>
            <a:off x="2789913" y="422130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45" name="靖飞在肝PPT16">
            <a:extLst>
              <a:ext uri="{FF2B5EF4-FFF2-40B4-BE49-F238E27FC236}">
                <a16:creationId xmlns:a16="http://schemas.microsoft.com/office/drawing/2014/main" id="{84787C8E-FB62-4503-AFD2-039DD65E5869}"/>
              </a:ext>
            </a:extLst>
          </p:cNvPr>
          <p:cNvSpPr/>
          <p:nvPr/>
        </p:nvSpPr>
        <p:spPr>
          <a:xfrm>
            <a:off x="2789913" y="388182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1" name="靖飞在肝PPT18">
            <a:extLst>
              <a:ext uri="{FF2B5EF4-FFF2-40B4-BE49-F238E27FC236}">
                <a16:creationId xmlns:a16="http://schemas.microsoft.com/office/drawing/2014/main" id="{D8A2FC05-CE84-4EE7-9530-8D6DDD40D774}"/>
              </a:ext>
            </a:extLst>
          </p:cNvPr>
          <p:cNvSpPr/>
          <p:nvPr/>
        </p:nvSpPr>
        <p:spPr>
          <a:xfrm>
            <a:off x="2789913" y="354234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55" name="靖飞在肝PPT19">
            <a:extLst>
              <a:ext uri="{FF2B5EF4-FFF2-40B4-BE49-F238E27FC236}">
                <a16:creationId xmlns:a16="http://schemas.microsoft.com/office/drawing/2014/main" id="{BFA8260E-FE2D-4B66-9D5A-79CC1E6AB342}"/>
              </a:ext>
            </a:extLst>
          </p:cNvPr>
          <p:cNvSpPr/>
          <p:nvPr/>
        </p:nvSpPr>
        <p:spPr>
          <a:xfrm>
            <a:off x="2789913" y="3202866"/>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0" name="靖飞在肝PPT20">
            <a:extLst>
              <a:ext uri="{FF2B5EF4-FFF2-40B4-BE49-F238E27FC236}">
                <a16:creationId xmlns:a16="http://schemas.microsoft.com/office/drawing/2014/main" id="{8E2D5DB2-F642-4F27-820B-C7F02ACFECB0}"/>
              </a:ext>
            </a:extLst>
          </p:cNvPr>
          <p:cNvSpPr/>
          <p:nvPr/>
        </p:nvSpPr>
        <p:spPr>
          <a:xfrm>
            <a:off x="2789913" y="286338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61" name="靖飞在肝PPT21">
            <a:extLst>
              <a:ext uri="{FF2B5EF4-FFF2-40B4-BE49-F238E27FC236}">
                <a16:creationId xmlns:a16="http://schemas.microsoft.com/office/drawing/2014/main" id="{9C29BBD1-A853-47D7-A9C8-F8AD8B730FE4}"/>
              </a:ext>
            </a:extLst>
          </p:cNvPr>
          <p:cNvSpPr/>
          <p:nvPr/>
        </p:nvSpPr>
        <p:spPr>
          <a:xfrm>
            <a:off x="2789913" y="252391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1" name="文本框 160">
            <a:extLst>
              <a:ext uri="{FF2B5EF4-FFF2-40B4-BE49-F238E27FC236}">
                <a16:creationId xmlns:a16="http://schemas.microsoft.com/office/drawing/2014/main" id="{F612A67C-771F-4844-93BA-AB9B9C19EEEA}"/>
              </a:ext>
            </a:extLst>
          </p:cNvPr>
          <p:cNvSpPr txBox="1"/>
          <p:nvPr/>
        </p:nvSpPr>
        <p:spPr>
          <a:xfrm>
            <a:off x="462084" y="1153703"/>
            <a:ext cx="2185214" cy="461665"/>
          </a:xfrm>
          <a:prstGeom prst="rect">
            <a:avLst/>
          </a:prstGeom>
          <a:noFill/>
        </p:spPr>
        <p:txBody>
          <a:bodyPr wrap="none" rtlCol="0">
            <a:spAutoFit/>
          </a:bodyPr>
          <a:lstStyle/>
          <a:p>
            <a:pPr marL="457200" indent="-457200">
              <a:buFont typeface="Wingdings" panose="05000000000000000000" pitchFamily="2" charset="2"/>
              <a:buChar char="Ø"/>
            </a:pPr>
            <a:r>
              <a:rPr lang="zh-CN" altLang="en-US" sz="2400" dirty="0">
                <a:latin typeface="思源黑体 CN Bold" panose="020B0800000000000000" pitchFamily="34" charset="-122"/>
                <a:ea typeface="思源黑体 CN Bold" panose="020B0800000000000000" pitchFamily="34" charset="-122"/>
              </a:rPr>
              <a:t>短期目标：</a:t>
            </a:r>
          </a:p>
        </p:txBody>
      </p:sp>
      <p:sp>
        <p:nvSpPr>
          <p:cNvPr id="162" name="文本框 161">
            <a:extLst>
              <a:ext uri="{FF2B5EF4-FFF2-40B4-BE49-F238E27FC236}">
                <a16:creationId xmlns:a16="http://schemas.microsoft.com/office/drawing/2014/main" id="{072288D8-1B3E-48E2-AB42-7EF46BF59079}"/>
              </a:ext>
            </a:extLst>
          </p:cNvPr>
          <p:cNvSpPr txBox="1"/>
          <p:nvPr/>
        </p:nvSpPr>
        <p:spPr>
          <a:xfrm>
            <a:off x="2407332" y="1184183"/>
            <a:ext cx="4977645" cy="400110"/>
          </a:xfrm>
          <a:prstGeom prst="rect">
            <a:avLst/>
          </a:prstGeom>
          <a:noFill/>
        </p:spPr>
        <p:txBody>
          <a:bodyPr wrap="none" rtlCol="0">
            <a:spAutoFit/>
          </a:bodyPr>
          <a:lstStyle/>
          <a:p>
            <a:r>
              <a:rPr lang="zh-CN" altLang="en-US" sz="2000" dirty="0">
                <a:solidFill>
                  <a:schemeClr val="accent1"/>
                </a:solidFill>
                <a:latin typeface="思源黑体 CN Bold" panose="020B0800000000000000" pitchFamily="34" charset="-122"/>
                <a:ea typeface="思源黑体 CN Bold" panose="020B0800000000000000" pitchFamily="34" charset="-122"/>
              </a:rPr>
              <a:t>完成抗体</a:t>
            </a:r>
            <a:r>
              <a:rPr lang="en-US" altLang="zh-CN" sz="2000" dirty="0">
                <a:solidFill>
                  <a:schemeClr val="accent1"/>
                </a:solidFill>
                <a:latin typeface="思源黑体 CN Bold" panose="020B0800000000000000" pitchFamily="34" charset="-122"/>
                <a:ea typeface="思源黑体 CN Bold" panose="020B0800000000000000" pitchFamily="34" charset="-122"/>
              </a:rPr>
              <a:t>xxx</a:t>
            </a:r>
            <a:r>
              <a:rPr lang="zh-CN" altLang="en-US" sz="2000" dirty="0">
                <a:solidFill>
                  <a:schemeClr val="accent1"/>
                </a:solidFill>
                <a:latin typeface="思源黑体 CN Bold" panose="020B0800000000000000" pitchFamily="34" charset="-122"/>
                <a:ea typeface="思源黑体 CN Bold" panose="020B0800000000000000" pitchFamily="34" charset="-122"/>
              </a:rPr>
              <a:t>数据分析，完成论文初稿撰写</a:t>
            </a:r>
          </a:p>
        </p:txBody>
      </p:sp>
      <p:sp>
        <p:nvSpPr>
          <p:cNvPr id="28" name="靖飞在肝PPT4">
            <a:extLst>
              <a:ext uri="{FF2B5EF4-FFF2-40B4-BE49-F238E27FC236}">
                <a16:creationId xmlns:a16="http://schemas.microsoft.com/office/drawing/2014/main" id="{2AFB8B3E-761C-47F1-9CB8-C4387B982252}"/>
              </a:ext>
            </a:extLst>
          </p:cNvPr>
          <p:cNvSpPr/>
          <p:nvPr/>
        </p:nvSpPr>
        <p:spPr>
          <a:xfrm>
            <a:off x="2800193"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9" name="靖飞在肝PPT5">
            <a:extLst>
              <a:ext uri="{FF2B5EF4-FFF2-40B4-BE49-F238E27FC236}">
                <a16:creationId xmlns:a16="http://schemas.microsoft.com/office/drawing/2014/main" id="{3A8F4D82-1105-4E8C-B901-82EDED61E901}"/>
              </a:ext>
            </a:extLst>
          </p:cNvPr>
          <p:cNvSpPr/>
          <p:nvPr/>
        </p:nvSpPr>
        <p:spPr>
          <a:xfrm>
            <a:off x="3532814"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0" name="靖飞在肝PPT6">
            <a:extLst>
              <a:ext uri="{FF2B5EF4-FFF2-40B4-BE49-F238E27FC236}">
                <a16:creationId xmlns:a16="http://schemas.microsoft.com/office/drawing/2014/main" id="{2BC73D01-F6B3-42BA-AF39-B181ED59C122}"/>
              </a:ext>
            </a:extLst>
          </p:cNvPr>
          <p:cNvSpPr/>
          <p:nvPr/>
        </p:nvSpPr>
        <p:spPr>
          <a:xfrm>
            <a:off x="4265437"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31" name="靖飞在肝PPT7">
            <a:extLst>
              <a:ext uri="{FF2B5EF4-FFF2-40B4-BE49-F238E27FC236}">
                <a16:creationId xmlns:a16="http://schemas.microsoft.com/office/drawing/2014/main" id="{310E6439-C715-4BDB-887C-ED4F0B8A6202}"/>
              </a:ext>
            </a:extLst>
          </p:cNvPr>
          <p:cNvSpPr/>
          <p:nvPr/>
        </p:nvSpPr>
        <p:spPr>
          <a:xfrm>
            <a:off x="4998059" y="2174661"/>
            <a:ext cx="706729" cy="345437"/>
          </a:xfrm>
          <a:prstGeom prst="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4" name="靖飞在肝PPT4">
            <a:extLst>
              <a:ext uri="{FF2B5EF4-FFF2-40B4-BE49-F238E27FC236}">
                <a16:creationId xmlns:a16="http://schemas.microsoft.com/office/drawing/2014/main" id="{FA4EDB26-29F0-49B6-81AC-8636134B1C06}"/>
              </a:ext>
            </a:extLst>
          </p:cNvPr>
          <p:cNvSpPr/>
          <p:nvPr/>
        </p:nvSpPr>
        <p:spPr>
          <a:xfrm>
            <a:off x="5756957"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5" name="靖飞在肝PPT5">
            <a:extLst>
              <a:ext uri="{FF2B5EF4-FFF2-40B4-BE49-F238E27FC236}">
                <a16:creationId xmlns:a16="http://schemas.microsoft.com/office/drawing/2014/main" id="{3DC00FFB-7164-4289-952F-1148F18EB85B}"/>
              </a:ext>
            </a:extLst>
          </p:cNvPr>
          <p:cNvSpPr/>
          <p:nvPr/>
        </p:nvSpPr>
        <p:spPr>
          <a:xfrm>
            <a:off x="64845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6" name="靖飞在肝PPT6">
            <a:extLst>
              <a:ext uri="{FF2B5EF4-FFF2-40B4-BE49-F238E27FC236}">
                <a16:creationId xmlns:a16="http://schemas.microsoft.com/office/drawing/2014/main" id="{B7BD5586-E8FF-4BC0-9A15-D4F053A199FB}"/>
              </a:ext>
            </a:extLst>
          </p:cNvPr>
          <p:cNvSpPr/>
          <p:nvPr/>
        </p:nvSpPr>
        <p:spPr>
          <a:xfrm>
            <a:off x="72121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7" name="靖飞在肝PPT7">
            <a:extLst>
              <a:ext uri="{FF2B5EF4-FFF2-40B4-BE49-F238E27FC236}">
                <a16:creationId xmlns:a16="http://schemas.microsoft.com/office/drawing/2014/main" id="{0D322FA4-1C12-4E98-8B90-34857B3138C4}"/>
              </a:ext>
            </a:extLst>
          </p:cNvPr>
          <p:cNvSpPr/>
          <p:nvPr/>
        </p:nvSpPr>
        <p:spPr>
          <a:xfrm>
            <a:off x="7939758" y="2174661"/>
            <a:ext cx="701884"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8" name="靖飞在肝PPT4">
            <a:extLst>
              <a:ext uri="{FF2B5EF4-FFF2-40B4-BE49-F238E27FC236}">
                <a16:creationId xmlns:a16="http://schemas.microsoft.com/office/drawing/2014/main" id="{17765A90-A972-4D86-BBE8-F7470D00AAB6}"/>
              </a:ext>
            </a:extLst>
          </p:cNvPr>
          <p:cNvSpPr/>
          <p:nvPr/>
        </p:nvSpPr>
        <p:spPr>
          <a:xfrm>
            <a:off x="8693857"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1</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69" name="靖飞在肝PPT5">
            <a:extLst>
              <a:ext uri="{FF2B5EF4-FFF2-40B4-BE49-F238E27FC236}">
                <a16:creationId xmlns:a16="http://schemas.microsoft.com/office/drawing/2014/main" id="{7A8E7848-A388-4CB6-A05A-9B2C544ED7C7}"/>
              </a:ext>
            </a:extLst>
          </p:cNvPr>
          <p:cNvSpPr/>
          <p:nvPr/>
        </p:nvSpPr>
        <p:spPr>
          <a:xfrm>
            <a:off x="9428035"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2</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0" name="靖飞在肝PPT6">
            <a:extLst>
              <a:ext uri="{FF2B5EF4-FFF2-40B4-BE49-F238E27FC236}">
                <a16:creationId xmlns:a16="http://schemas.microsoft.com/office/drawing/2014/main" id="{2C844D8E-0231-453A-AEB8-341B71E3F230}"/>
              </a:ext>
            </a:extLst>
          </p:cNvPr>
          <p:cNvSpPr/>
          <p:nvPr/>
        </p:nvSpPr>
        <p:spPr>
          <a:xfrm>
            <a:off x="10162214"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3</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1" name="靖飞在肝PPT7">
            <a:extLst>
              <a:ext uri="{FF2B5EF4-FFF2-40B4-BE49-F238E27FC236}">
                <a16:creationId xmlns:a16="http://schemas.microsoft.com/office/drawing/2014/main" id="{FA643E87-5076-42B2-89D1-4664973C4286}"/>
              </a:ext>
            </a:extLst>
          </p:cNvPr>
          <p:cNvSpPr/>
          <p:nvPr/>
        </p:nvSpPr>
        <p:spPr>
          <a:xfrm>
            <a:off x="10896393" y="2174661"/>
            <a:ext cx="708230" cy="345437"/>
          </a:xfrm>
          <a:prstGeom prst="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en-US" altLang="zh-CN" sz="1600" b="1" kern="0" dirty="0">
                <a:solidFill>
                  <a:schemeClr val="bg1"/>
                </a:solidFill>
                <a:latin typeface="思源黑体 CN Regular" panose="020B0500000000000000" pitchFamily="34" charset="-122"/>
                <a:ea typeface="思源黑体 CN Regular" panose="020B0500000000000000" pitchFamily="34" charset="-122"/>
                <a:cs typeface="OPPOSans M" panose="00020600040101010101" pitchFamily="18" charset="-122"/>
              </a:rPr>
              <a:t>4</a:t>
            </a:r>
            <a:r>
              <a:rPr kumimoji="1" lang="zh-CN" altLang="en-US"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rPr>
              <a:t>月</a:t>
            </a: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72" name="文本框 171">
            <a:extLst>
              <a:ext uri="{FF2B5EF4-FFF2-40B4-BE49-F238E27FC236}">
                <a16:creationId xmlns:a16="http://schemas.microsoft.com/office/drawing/2014/main" id="{D0E317B5-FB86-4158-A194-3F4D24D9703B}"/>
              </a:ext>
            </a:extLst>
          </p:cNvPr>
          <p:cNvSpPr txBox="1"/>
          <p:nvPr/>
        </p:nvSpPr>
        <p:spPr>
          <a:xfrm>
            <a:off x="3855697" y="1801168"/>
            <a:ext cx="787395" cy="400110"/>
          </a:xfrm>
          <a:prstGeom prst="rect">
            <a:avLst/>
          </a:prstGeom>
          <a:noFill/>
        </p:spPr>
        <p:txBody>
          <a:bodyPr wrap="none" rtlCol="0">
            <a:spAutoFit/>
          </a:bodyPr>
          <a:lstStyle/>
          <a:p>
            <a:pPr algn="ctr"/>
            <a:r>
              <a:rPr lang="en-US" altLang="zh-CN" sz="2000" dirty="0">
                <a:solidFill>
                  <a:schemeClr val="accent1">
                    <a:alpha val="40000"/>
                  </a:schemeClr>
                </a:solidFill>
                <a:latin typeface="思源黑体 CN Bold" panose="020B0800000000000000" pitchFamily="34" charset="-122"/>
                <a:ea typeface="思源黑体 CN Bold" panose="020B0800000000000000" pitchFamily="34" charset="-122"/>
              </a:rPr>
              <a:t>2025</a:t>
            </a:r>
            <a:endParaRPr lang="zh-CN" altLang="en-US" sz="2000" dirty="0">
              <a:solidFill>
                <a:schemeClr val="accent1">
                  <a:alpha val="40000"/>
                </a:schemeClr>
              </a:solidFill>
              <a:latin typeface="思源黑体 CN Bold" panose="020B0800000000000000" pitchFamily="34" charset="-122"/>
              <a:ea typeface="思源黑体 CN Bold" panose="020B0800000000000000" pitchFamily="34" charset="-122"/>
            </a:endParaRPr>
          </a:p>
        </p:txBody>
      </p:sp>
      <p:sp>
        <p:nvSpPr>
          <p:cNvPr id="173" name="文本框 172">
            <a:extLst>
              <a:ext uri="{FF2B5EF4-FFF2-40B4-BE49-F238E27FC236}">
                <a16:creationId xmlns:a16="http://schemas.microsoft.com/office/drawing/2014/main" id="{D833059E-96A1-464F-B7E4-A34A6A200C77}"/>
              </a:ext>
            </a:extLst>
          </p:cNvPr>
          <p:cNvSpPr txBox="1"/>
          <p:nvPr/>
        </p:nvSpPr>
        <p:spPr>
          <a:xfrm>
            <a:off x="6805602"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2026</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sp>
        <p:nvSpPr>
          <p:cNvPr id="174" name="文本框 173">
            <a:extLst>
              <a:ext uri="{FF2B5EF4-FFF2-40B4-BE49-F238E27FC236}">
                <a16:creationId xmlns:a16="http://schemas.microsoft.com/office/drawing/2014/main" id="{DD7A59D4-AE59-44F4-A809-29F5A7F50494}"/>
              </a:ext>
            </a:extLst>
          </p:cNvPr>
          <p:cNvSpPr txBox="1"/>
          <p:nvPr/>
        </p:nvSpPr>
        <p:spPr>
          <a:xfrm>
            <a:off x="9755543" y="1801168"/>
            <a:ext cx="787395" cy="400110"/>
          </a:xfrm>
          <a:prstGeom prst="rect">
            <a:avLst/>
          </a:prstGeom>
          <a:noFill/>
        </p:spPr>
        <p:txBody>
          <a:bodyPr wrap="none" rtlCol="0">
            <a:spAutoFit/>
          </a:bodyPr>
          <a:lstStyle/>
          <a:p>
            <a:pPr algn="ctr"/>
            <a:r>
              <a:rPr lang="en-US" altLang="zh-CN" sz="2000" dirty="0">
                <a:solidFill>
                  <a:schemeClr val="accent1"/>
                </a:solidFill>
                <a:latin typeface="思源黑体 CN Bold" panose="020B0800000000000000" pitchFamily="34" charset="-122"/>
                <a:ea typeface="思源黑体 CN Bold" panose="020B0800000000000000" pitchFamily="34" charset="-122"/>
              </a:rPr>
              <a:t>2027</a:t>
            </a:r>
            <a:endParaRPr lang="zh-CN" altLang="en-US" sz="2000" dirty="0">
              <a:solidFill>
                <a:schemeClr val="accent1"/>
              </a:solidFill>
              <a:latin typeface="思源黑体 CN Bold" panose="020B0800000000000000" pitchFamily="34" charset="-122"/>
              <a:ea typeface="思源黑体 CN Bold" panose="020B0800000000000000" pitchFamily="34" charset="-122"/>
            </a:endParaRPr>
          </a:p>
        </p:txBody>
      </p:sp>
      <p:cxnSp>
        <p:nvCxnSpPr>
          <p:cNvPr id="8" name="直接连接符 7">
            <a:extLst>
              <a:ext uri="{FF2B5EF4-FFF2-40B4-BE49-F238E27FC236}">
                <a16:creationId xmlns:a16="http://schemas.microsoft.com/office/drawing/2014/main" id="{C86175F3-FD09-4862-87F4-DB5B079FF2F4}"/>
              </a:ext>
            </a:extLst>
          </p:cNvPr>
          <p:cNvCxnSpPr/>
          <p:nvPr/>
        </p:nvCxnSpPr>
        <p:spPr>
          <a:xfrm>
            <a:off x="8667749"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EF01404C-2526-49A6-B207-88FC4E984C3C}"/>
              </a:ext>
            </a:extLst>
          </p:cNvPr>
          <p:cNvCxnSpPr/>
          <p:nvPr/>
        </p:nvCxnSpPr>
        <p:spPr>
          <a:xfrm>
            <a:off x="5730874" y="1785546"/>
            <a:ext cx="0" cy="481210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79" name="靖飞在肝PPT13">
            <a:extLst>
              <a:ext uri="{FF2B5EF4-FFF2-40B4-BE49-F238E27FC236}">
                <a16:creationId xmlns:a16="http://schemas.microsoft.com/office/drawing/2014/main" id="{9FFBB017-58C0-4EC7-A992-21B04529503C}"/>
              </a:ext>
            </a:extLst>
          </p:cNvPr>
          <p:cNvSpPr/>
          <p:nvPr/>
        </p:nvSpPr>
        <p:spPr>
          <a:xfrm>
            <a:off x="2789913" y="5239734"/>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0" name="靖飞在肝PPT13">
            <a:extLst>
              <a:ext uri="{FF2B5EF4-FFF2-40B4-BE49-F238E27FC236}">
                <a16:creationId xmlns:a16="http://schemas.microsoft.com/office/drawing/2014/main" id="{3456ECCA-1492-42DB-B662-5BB0CE035973}"/>
              </a:ext>
            </a:extLst>
          </p:cNvPr>
          <p:cNvSpPr/>
          <p:nvPr/>
        </p:nvSpPr>
        <p:spPr>
          <a:xfrm>
            <a:off x="2789913" y="5579212"/>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1" name="靖飞在肝PPT13">
            <a:extLst>
              <a:ext uri="{FF2B5EF4-FFF2-40B4-BE49-F238E27FC236}">
                <a16:creationId xmlns:a16="http://schemas.microsoft.com/office/drawing/2014/main" id="{B3F5D6AE-8906-4731-950C-0692E77E8DC8}"/>
              </a:ext>
            </a:extLst>
          </p:cNvPr>
          <p:cNvSpPr/>
          <p:nvPr/>
        </p:nvSpPr>
        <p:spPr>
          <a:xfrm>
            <a:off x="2789913" y="5918690"/>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2" name="靖飞在肝PPT13">
            <a:extLst>
              <a:ext uri="{FF2B5EF4-FFF2-40B4-BE49-F238E27FC236}">
                <a16:creationId xmlns:a16="http://schemas.microsoft.com/office/drawing/2014/main" id="{80F66ED5-FE66-4F36-BD96-5048862C26C5}"/>
              </a:ext>
            </a:extLst>
          </p:cNvPr>
          <p:cNvSpPr/>
          <p:nvPr/>
        </p:nvSpPr>
        <p:spPr>
          <a:xfrm>
            <a:off x="2789913" y="6258168"/>
            <a:ext cx="8814711" cy="0"/>
          </a:xfrm>
          <a:custGeom>
            <a:avLst/>
            <a:gdLst>
              <a:gd name="connsiteX0" fmla="*/ 0 w 6390861"/>
              <a:gd name="connsiteY0" fmla="*/ 0 h 0"/>
              <a:gd name="connsiteX1" fmla="*/ 6390861 w 6390861"/>
              <a:gd name="connsiteY1" fmla="*/ 0 h 0"/>
            </a:gdLst>
            <a:ahLst/>
            <a:cxnLst>
              <a:cxn ang="0">
                <a:pos x="connsiteX0" y="connsiteY0"/>
              </a:cxn>
              <a:cxn ang="0">
                <a:pos x="connsiteX1" y="connsiteY1"/>
              </a:cxn>
            </a:cxnLst>
            <a:rect l="l" t="t" r="r" b="b"/>
            <a:pathLst>
              <a:path w="6390861">
                <a:moveTo>
                  <a:pt x="0" y="0"/>
                </a:moveTo>
                <a:lnTo>
                  <a:pt x="6390861" y="0"/>
                </a:lnTo>
              </a:path>
            </a:pathLst>
          </a:custGeom>
          <a:noFill/>
          <a:ln w="3175">
            <a:solidFill>
              <a:schemeClr val="bg1">
                <a:lumMod val="85000"/>
              </a:schemeClr>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ysClr val="windowText" lastClr="000000"/>
              </a:solidFill>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83" name="靖飞在肝PPT60">
            <a:extLst>
              <a:ext uri="{FF2B5EF4-FFF2-40B4-BE49-F238E27FC236}">
                <a16:creationId xmlns:a16="http://schemas.microsoft.com/office/drawing/2014/main" id="{4CC9C1B2-8766-47D1-978C-5EFF387AAA97}"/>
              </a:ext>
            </a:extLst>
          </p:cNvPr>
          <p:cNvSpPr txBox="1"/>
          <p:nvPr/>
        </p:nvSpPr>
        <p:spPr>
          <a:xfrm flipH="1">
            <a:off x="462083" y="259108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4" name="靖飞在肝PPT60">
            <a:extLst>
              <a:ext uri="{FF2B5EF4-FFF2-40B4-BE49-F238E27FC236}">
                <a16:creationId xmlns:a16="http://schemas.microsoft.com/office/drawing/2014/main" id="{EC0FD878-0CC9-4F39-AAD1-4776B85A82CB}"/>
              </a:ext>
            </a:extLst>
          </p:cNvPr>
          <p:cNvSpPr txBox="1"/>
          <p:nvPr/>
        </p:nvSpPr>
        <p:spPr>
          <a:xfrm flipH="1">
            <a:off x="462083" y="292763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算法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5" name="靖飞在肝PPT60">
            <a:extLst>
              <a:ext uri="{FF2B5EF4-FFF2-40B4-BE49-F238E27FC236}">
                <a16:creationId xmlns:a16="http://schemas.microsoft.com/office/drawing/2014/main" id="{0C46AD00-C7D6-4DFB-B09A-FCC1F72516DC}"/>
              </a:ext>
            </a:extLst>
          </p:cNvPr>
          <p:cNvSpPr txBox="1"/>
          <p:nvPr/>
        </p:nvSpPr>
        <p:spPr>
          <a:xfrm flipH="1">
            <a:off x="462083" y="3264188"/>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测试</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6" name="靖飞在肝PPT60">
            <a:extLst>
              <a:ext uri="{FF2B5EF4-FFF2-40B4-BE49-F238E27FC236}">
                <a16:creationId xmlns:a16="http://schemas.microsoft.com/office/drawing/2014/main" id="{5AA92D6B-3A33-4226-BA2B-82F622DCCB5D}"/>
              </a:ext>
            </a:extLst>
          </p:cNvPr>
          <p:cNvSpPr txBox="1"/>
          <p:nvPr/>
        </p:nvSpPr>
        <p:spPr>
          <a:xfrm flipH="1">
            <a:off x="462083" y="3600740"/>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7" name="靖飞在肝PPT60">
            <a:extLst>
              <a:ext uri="{FF2B5EF4-FFF2-40B4-BE49-F238E27FC236}">
                <a16:creationId xmlns:a16="http://schemas.microsoft.com/office/drawing/2014/main" id="{B34C29D1-3FE0-4F7F-AC05-9556C23E6468}"/>
              </a:ext>
            </a:extLst>
          </p:cNvPr>
          <p:cNvSpPr txBox="1"/>
          <p:nvPr/>
        </p:nvSpPr>
        <p:spPr>
          <a:xfrm flipH="1">
            <a:off x="462083" y="3937292"/>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8" name="靖飞在肝PPT60">
            <a:extLst>
              <a:ext uri="{FF2B5EF4-FFF2-40B4-BE49-F238E27FC236}">
                <a16:creationId xmlns:a16="http://schemas.microsoft.com/office/drawing/2014/main" id="{4E1923CF-885F-45C3-A8BD-5D81BC489888}"/>
              </a:ext>
            </a:extLst>
          </p:cNvPr>
          <p:cNvSpPr txBox="1"/>
          <p:nvPr/>
        </p:nvSpPr>
        <p:spPr>
          <a:xfrm flipH="1">
            <a:off x="462083" y="4273844"/>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89" name="靖飞在肝PPT60">
            <a:extLst>
              <a:ext uri="{FF2B5EF4-FFF2-40B4-BE49-F238E27FC236}">
                <a16:creationId xmlns:a16="http://schemas.microsoft.com/office/drawing/2014/main" id="{5601D2E4-9201-4A17-97A2-122C7B9545E5}"/>
              </a:ext>
            </a:extLst>
          </p:cNvPr>
          <p:cNvSpPr txBox="1"/>
          <p:nvPr/>
        </p:nvSpPr>
        <p:spPr>
          <a:xfrm flipH="1">
            <a:off x="462083" y="4610396"/>
            <a:ext cx="2338111" cy="307777"/>
          </a:xfrm>
          <a:prstGeom prst="rect">
            <a:avLst/>
          </a:prstGeom>
          <a:noFill/>
        </p:spPr>
        <p:txBody>
          <a:bodyPr wrap="square" rtlCol="0">
            <a:spAutoFit/>
          </a:bodyPr>
          <a:lstStyle/>
          <a:p>
            <a:pPr lvl="0" algn="r">
              <a:defRPr/>
            </a:pPr>
            <a:r>
              <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rPr>
              <a:t>************</a:t>
            </a: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实验</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0" name="靖飞在肝PPT60">
            <a:extLst>
              <a:ext uri="{FF2B5EF4-FFF2-40B4-BE49-F238E27FC236}">
                <a16:creationId xmlns:a16="http://schemas.microsoft.com/office/drawing/2014/main" id="{54D4D933-658E-43F1-B9DD-BEEB857B0F03}"/>
              </a:ext>
            </a:extLst>
          </p:cNvPr>
          <p:cNvSpPr txBox="1"/>
          <p:nvPr/>
        </p:nvSpPr>
        <p:spPr>
          <a:xfrm flipH="1">
            <a:off x="462083" y="4946948"/>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数据处理分析</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1" name="靖飞在肝PPT60">
            <a:extLst>
              <a:ext uri="{FF2B5EF4-FFF2-40B4-BE49-F238E27FC236}">
                <a16:creationId xmlns:a16="http://schemas.microsoft.com/office/drawing/2014/main" id="{66B0E691-23F9-4F45-9A01-0F4602614438}"/>
              </a:ext>
            </a:extLst>
          </p:cNvPr>
          <p:cNvSpPr txBox="1"/>
          <p:nvPr/>
        </p:nvSpPr>
        <p:spPr>
          <a:xfrm flipH="1">
            <a:off x="462083" y="5283500"/>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中期考核</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2" name="靖飞在肝PPT60">
            <a:extLst>
              <a:ext uri="{FF2B5EF4-FFF2-40B4-BE49-F238E27FC236}">
                <a16:creationId xmlns:a16="http://schemas.microsoft.com/office/drawing/2014/main" id="{9CB649EA-18C2-4CB1-A7DB-BC23435E49B4}"/>
              </a:ext>
            </a:extLst>
          </p:cNvPr>
          <p:cNvSpPr txBox="1"/>
          <p:nvPr/>
        </p:nvSpPr>
        <p:spPr>
          <a:xfrm flipH="1">
            <a:off x="462083" y="5620052"/>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结果分析，实验不补充</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3" name="靖飞在肝PPT60">
            <a:extLst>
              <a:ext uri="{FF2B5EF4-FFF2-40B4-BE49-F238E27FC236}">
                <a16:creationId xmlns:a16="http://schemas.microsoft.com/office/drawing/2014/main" id="{403A576E-2787-4D57-85D9-DB6C812BAE1A}"/>
              </a:ext>
            </a:extLst>
          </p:cNvPr>
          <p:cNvSpPr txBox="1"/>
          <p:nvPr/>
        </p:nvSpPr>
        <p:spPr>
          <a:xfrm flipH="1">
            <a:off x="462083" y="5956604"/>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撰写毕业论文</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4" name="靖飞在肝PPT60">
            <a:extLst>
              <a:ext uri="{FF2B5EF4-FFF2-40B4-BE49-F238E27FC236}">
                <a16:creationId xmlns:a16="http://schemas.microsoft.com/office/drawing/2014/main" id="{1FCA0D00-35E1-4149-AC8E-CC3C091F35CE}"/>
              </a:ext>
            </a:extLst>
          </p:cNvPr>
          <p:cNvSpPr txBox="1"/>
          <p:nvPr/>
        </p:nvSpPr>
        <p:spPr>
          <a:xfrm flipH="1">
            <a:off x="462083" y="6293153"/>
            <a:ext cx="2338111" cy="307777"/>
          </a:xfrm>
          <a:prstGeom prst="rect">
            <a:avLst/>
          </a:prstGeom>
          <a:noFill/>
        </p:spPr>
        <p:txBody>
          <a:bodyPr wrap="square" rtlCol="0">
            <a:spAutoFit/>
          </a:bodyPr>
          <a:lstStyle/>
          <a:p>
            <a:pPr lvl="0" algn="r">
              <a:defRPr/>
            </a:pPr>
            <a:r>
              <a:rPr lang="zh-CN" altLang="en-US" sz="1400" kern="0" dirty="0">
                <a:latin typeface="思源黑体 CN Bold" panose="020B0800000000000000" pitchFamily="34" charset="-122"/>
                <a:ea typeface="思源黑体 CN Bold" panose="020B0800000000000000" pitchFamily="34" charset="-122"/>
                <a:cs typeface="OPPOSans M" panose="00020600040101010101" pitchFamily="18" charset="-122"/>
              </a:rPr>
              <a:t>准备毕业答辩</a:t>
            </a:r>
            <a:endParaRPr lang="en-US" altLang="zh-CN" sz="1400" kern="0" dirty="0">
              <a:latin typeface="思源黑体 CN Bold" panose="020B0800000000000000" pitchFamily="34" charset="-122"/>
              <a:ea typeface="思源黑体 CN Bold" panose="020B0800000000000000" pitchFamily="34" charset="-122"/>
              <a:cs typeface="OPPOSans M" panose="00020600040101010101" pitchFamily="18" charset="-122"/>
            </a:endParaRPr>
          </a:p>
        </p:txBody>
      </p:sp>
      <p:sp>
        <p:nvSpPr>
          <p:cNvPr id="196" name="靖飞在肝PPT4">
            <a:extLst>
              <a:ext uri="{FF2B5EF4-FFF2-40B4-BE49-F238E27FC236}">
                <a16:creationId xmlns:a16="http://schemas.microsoft.com/office/drawing/2014/main" id="{B88E0C80-0FA5-4FDD-9197-533B00480170}"/>
              </a:ext>
            </a:extLst>
          </p:cNvPr>
          <p:cNvSpPr/>
          <p:nvPr/>
        </p:nvSpPr>
        <p:spPr>
          <a:xfrm>
            <a:off x="2807388" y="2650311"/>
            <a:ext cx="1009551" cy="111064"/>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199" name="靖飞在肝PPT4">
            <a:extLst>
              <a:ext uri="{FF2B5EF4-FFF2-40B4-BE49-F238E27FC236}">
                <a16:creationId xmlns:a16="http://schemas.microsoft.com/office/drawing/2014/main" id="{F0CF0E9A-F2FA-4C32-8A25-B5E7C5311906}"/>
              </a:ext>
            </a:extLst>
          </p:cNvPr>
          <p:cNvSpPr/>
          <p:nvPr/>
        </p:nvSpPr>
        <p:spPr>
          <a:xfrm>
            <a:off x="2807388" y="3003866"/>
            <a:ext cx="1617542"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0" name="靖飞在肝PPT4">
            <a:extLst>
              <a:ext uri="{FF2B5EF4-FFF2-40B4-BE49-F238E27FC236}">
                <a16:creationId xmlns:a16="http://schemas.microsoft.com/office/drawing/2014/main" id="{8C16A8DF-7626-4E64-A46E-B67DD63223AC}"/>
              </a:ext>
            </a:extLst>
          </p:cNvPr>
          <p:cNvSpPr/>
          <p:nvPr/>
        </p:nvSpPr>
        <p:spPr>
          <a:xfrm>
            <a:off x="3887976" y="3329397"/>
            <a:ext cx="1816789" cy="99603"/>
          </a:xfrm>
          <a:prstGeom prst="roundRect">
            <a:avLst/>
          </a:prstGeom>
          <a:solidFill>
            <a:schemeClr val="accent1">
              <a:alpha val="4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accent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1" name="文本框 200">
            <a:extLst>
              <a:ext uri="{FF2B5EF4-FFF2-40B4-BE49-F238E27FC236}">
                <a16:creationId xmlns:a16="http://schemas.microsoft.com/office/drawing/2014/main" id="{2E838166-4E31-4E8C-A705-2832F64BF26F}"/>
              </a:ext>
            </a:extLst>
          </p:cNvPr>
          <p:cNvSpPr txBox="1"/>
          <p:nvPr/>
        </p:nvSpPr>
        <p:spPr>
          <a:xfrm>
            <a:off x="5692527" y="2864625"/>
            <a:ext cx="2347117"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前期准备阶段</a:t>
            </a:r>
          </a:p>
        </p:txBody>
      </p:sp>
      <p:sp>
        <p:nvSpPr>
          <p:cNvPr id="202" name="靖飞在肝PPT4">
            <a:extLst>
              <a:ext uri="{FF2B5EF4-FFF2-40B4-BE49-F238E27FC236}">
                <a16:creationId xmlns:a16="http://schemas.microsoft.com/office/drawing/2014/main" id="{F4BBC9A6-9484-415C-A52F-7EBB12A76EAA}"/>
              </a:ext>
            </a:extLst>
          </p:cNvPr>
          <p:cNvSpPr/>
          <p:nvPr/>
        </p:nvSpPr>
        <p:spPr>
          <a:xfrm>
            <a:off x="5353406" y="3666516"/>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3" name="靖飞在肝PPT4">
            <a:extLst>
              <a:ext uri="{FF2B5EF4-FFF2-40B4-BE49-F238E27FC236}">
                <a16:creationId xmlns:a16="http://schemas.microsoft.com/office/drawing/2014/main" id="{50009036-396A-44B8-9533-FC0D37DCC3C1}"/>
              </a:ext>
            </a:extLst>
          </p:cNvPr>
          <p:cNvSpPr/>
          <p:nvPr/>
        </p:nvSpPr>
        <p:spPr>
          <a:xfrm>
            <a:off x="6080969" y="4011627"/>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4" name="靖飞在肝PPT4">
            <a:extLst>
              <a:ext uri="{FF2B5EF4-FFF2-40B4-BE49-F238E27FC236}">
                <a16:creationId xmlns:a16="http://schemas.microsoft.com/office/drawing/2014/main" id="{12691113-7D83-4CFE-81EF-14D85F4429B0}"/>
              </a:ext>
            </a:extLst>
          </p:cNvPr>
          <p:cNvSpPr/>
          <p:nvPr/>
        </p:nvSpPr>
        <p:spPr>
          <a:xfrm>
            <a:off x="5353406" y="4346452"/>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5" name="靖飞在肝PPT4">
            <a:extLst>
              <a:ext uri="{FF2B5EF4-FFF2-40B4-BE49-F238E27FC236}">
                <a16:creationId xmlns:a16="http://schemas.microsoft.com/office/drawing/2014/main" id="{2D6CB4AE-7F58-4E41-9689-3A2E52EB2981}"/>
              </a:ext>
            </a:extLst>
          </p:cNvPr>
          <p:cNvSpPr/>
          <p:nvPr/>
        </p:nvSpPr>
        <p:spPr>
          <a:xfrm>
            <a:off x="6080969" y="4686111"/>
            <a:ext cx="1106164" cy="99603"/>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6" name="靖飞在肝PPT4">
            <a:extLst>
              <a:ext uri="{FF2B5EF4-FFF2-40B4-BE49-F238E27FC236}">
                <a16:creationId xmlns:a16="http://schemas.microsoft.com/office/drawing/2014/main" id="{033788EB-A7CC-4326-BF89-8BBB78DCBE8E}"/>
              </a:ext>
            </a:extLst>
          </p:cNvPr>
          <p:cNvSpPr/>
          <p:nvPr/>
        </p:nvSpPr>
        <p:spPr>
          <a:xfrm>
            <a:off x="7384977" y="6389972"/>
            <a:ext cx="1662995" cy="84786"/>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7" name="靖飞在肝PPT4">
            <a:extLst>
              <a:ext uri="{FF2B5EF4-FFF2-40B4-BE49-F238E27FC236}">
                <a16:creationId xmlns:a16="http://schemas.microsoft.com/office/drawing/2014/main" id="{45B534DB-478C-4370-A42E-F264F1C069C0}"/>
              </a:ext>
            </a:extLst>
          </p:cNvPr>
          <p:cNvSpPr/>
          <p:nvPr/>
        </p:nvSpPr>
        <p:spPr>
          <a:xfrm>
            <a:off x="7384977" y="6057782"/>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8" name="靖飞在肝PPT4">
            <a:extLst>
              <a:ext uri="{FF2B5EF4-FFF2-40B4-BE49-F238E27FC236}">
                <a16:creationId xmlns:a16="http://schemas.microsoft.com/office/drawing/2014/main" id="{7024DD98-7F98-4789-86B7-CB3EFA67EE45}"/>
              </a:ext>
            </a:extLst>
          </p:cNvPr>
          <p:cNvSpPr/>
          <p:nvPr/>
        </p:nvSpPr>
        <p:spPr>
          <a:xfrm>
            <a:off x="7011914" y="5711016"/>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09" name="靖飞在肝PPT4">
            <a:extLst>
              <a:ext uri="{FF2B5EF4-FFF2-40B4-BE49-F238E27FC236}">
                <a16:creationId xmlns:a16="http://schemas.microsoft.com/office/drawing/2014/main" id="{F9405EF2-8554-484D-B438-63CD57F1CF5B}"/>
              </a:ext>
            </a:extLst>
          </p:cNvPr>
          <p:cNvSpPr/>
          <p:nvPr/>
        </p:nvSpPr>
        <p:spPr>
          <a:xfrm>
            <a:off x="6489583" y="535530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0" name="靖飞在肝PPT4">
            <a:extLst>
              <a:ext uri="{FF2B5EF4-FFF2-40B4-BE49-F238E27FC236}">
                <a16:creationId xmlns:a16="http://schemas.microsoft.com/office/drawing/2014/main" id="{DB64A6B9-A23B-4D39-96B4-9A224651FCE7}"/>
              </a:ext>
            </a:extLst>
          </p:cNvPr>
          <p:cNvSpPr/>
          <p:nvPr/>
        </p:nvSpPr>
        <p:spPr>
          <a:xfrm>
            <a:off x="7011914" y="5014799"/>
            <a:ext cx="902128" cy="103112"/>
          </a:xfrm>
          <a:prstGeom prst="roundRect">
            <a:avLst/>
          </a:prstGeom>
          <a:solidFill>
            <a:schemeClr val="accent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1" lang="en-US" altLang="zh-CN" sz="1600" b="1" i="0" u="none" strike="noStrike" kern="0" cap="none" spc="0" normalizeH="0" baseline="0" noProof="0" dirty="0">
              <a:ln>
                <a:noFill/>
              </a:ln>
              <a:solidFill>
                <a:schemeClr val="bg1"/>
              </a:solidFill>
              <a:effectLst/>
              <a:uLnTx/>
              <a:uFillTx/>
              <a:latin typeface="思源黑体 CN Regular" panose="020B0500000000000000" pitchFamily="34" charset="-122"/>
              <a:ea typeface="思源黑体 CN Regular" panose="020B0500000000000000" pitchFamily="34" charset="-122"/>
              <a:cs typeface="OPPOSans M" panose="00020600040101010101" pitchFamily="18" charset="-122"/>
            </a:endParaRPr>
          </a:p>
        </p:txBody>
      </p:sp>
      <p:sp>
        <p:nvSpPr>
          <p:cNvPr id="211" name="文本框 210">
            <a:extLst>
              <a:ext uri="{FF2B5EF4-FFF2-40B4-BE49-F238E27FC236}">
                <a16:creationId xmlns:a16="http://schemas.microsoft.com/office/drawing/2014/main" id="{94CF4CC8-5A12-4EC4-BE4A-9341409A5B0D}"/>
              </a:ext>
            </a:extLst>
          </p:cNvPr>
          <p:cNvSpPr txBox="1"/>
          <p:nvPr/>
        </p:nvSpPr>
        <p:spPr>
          <a:xfrm>
            <a:off x="7271998" y="3889241"/>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机制验证阶段</a:t>
            </a:r>
          </a:p>
        </p:txBody>
      </p:sp>
      <p:sp>
        <p:nvSpPr>
          <p:cNvPr id="212" name="文本框 211">
            <a:extLst>
              <a:ext uri="{FF2B5EF4-FFF2-40B4-BE49-F238E27FC236}">
                <a16:creationId xmlns:a16="http://schemas.microsoft.com/office/drawing/2014/main" id="{A91AEEAA-392B-4919-89BE-7FF236A5D62E}"/>
              </a:ext>
            </a:extLst>
          </p:cNvPr>
          <p:cNvSpPr txBox="1"/>
          <p:nvPr/>
        </p:nvSpPr>
        <p:spPr>
          <a:xfrm>
            <a:off x="8671743" y="4907675"/>
            <a:ext cx="1520640"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机制数据整理</a:t>
            </a:r>
          </a:p>
        </p:txBody>
      </p:sp>
      <p:sp>
        <p:nvSpPr>
          <p:cNvPr id="213" name="文本框 212">
            <a:extLst>
              <a:ext uri="{FF2B5EF4-FFF2-40B4-BE49-F238E27FC236}">
                <a16:creationId xmlns:a16="http://schemas.microsoft.com/office/drawing/2014/main" id="{54C1C9F7-0BA5-488F-9360-919F7B8ABFD3}"/>
              </a:ext>
            </a:extLst>
          </p:cNvPr>
          <p:cNvSpPr txBox="1"/>
          <p:nvPr/>
        </p:nvSpPr>
        <p:spPr>
          <a:xfrm>
            <a:off x="9254114" y="5927829"/>
            <a:ext cx="1076625" cy="338554"/>
          </a:xfrm>
          <a:prstGeom prst="rect">
            <a:avLst/>
          </a:prstGeom>
          <a:noFill/>
        </p:spPr>
        <p:txBody>
          <a:bodyPr wrap="square" rtlCol="0">
            <a:spAutoFit/>
          </a:bodyPr>
          <a:lstStyle/>
          <a:p>
            <a:r>
              <a:rPr lang="zh-CN" altLang="en-US" sz="1600" dirty="0">
                <a:solidFill>
                  <a:schemeClr val="accent1"/>
                </a:solidFill>
                <a:latin typeface="思源黑体 CN Bold" panose="020B0800000000000000" pitchFamily="34" charset="-122"/>
                <a:ea typeface="思源黑体 CN Bold" panose="020B0800000000000000" pitchFamily="34" charset="-122"/>
              </a:rPr>
              <a:t>学位论文</a:t>
            </a:r>
          </a:p>
        </p:txBody>
      </p:sp>
      <p:grpSp>
        <p:nvGrpSpPr>
          <p:cNvPr id="94" name="组合 93">
            <a:extLst>
              <a:ext uri="{FF2B5EF4-FFF2-40B4-BE49-F238E27FC236}">
                <a16:creationId xmlns:a16="http://schemas.microsoft.com/office/drawing/2014/main" id="{F2850A2D-0595-4EBD-931E-9F047798C607}"/>
              </a:ext>
            </a:extLst>
          </p:cNvPr>
          <p:cNvGrpSpPr/>
          <p:nvPr/>
        </p:nvGrpSpPr>
        <p:grpSpPr>
          <a:xfrm>
            <a:off x="1090993" y="0"/>
            <a:ext cx="11398075" cy="836294"/>
            <a:chOff x="1090993" y="5660441"/>
            <a:chExt cx="11398075" cy="836294"/>
          </a:xfrm>
        </p:grpSpPr>
        <p:sp>
          <p:nvSpPr>
            <p:cNvPr id="95" name="文本框 94">
              <a:extLst>
                <a:ext uri="{FF2B5EF4-FFF2-40B4-BE49-F238E27FC236}">
                  <a16:creationId xmlns:a16="http://schemas.microsoft.com/office/drawing/2014/main" id="{0C1238E4-9732-4CE3-8D11-C685DA57C30A}"/>
                </a:ext>
              </a:extLst>
            </p:cNvPr>
            <p:cNvSpPr txBox="1"/>
            <p:nvPr/>
          </p:nvSpPr>
          <p:spPr>
            <a:xfrm>
              <a:off x="7272525" y="5924402"/>
              <a:ext cx="1816124"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关键技术与创新</a:t>
              </a:r>
            </a:p>
          </p:txBody>
        </p:sp>
        <p:sp>
          <p:nvSpPr>
            <p:cNvPr id="96" name="文本框 95">
              <a:extLst>
                <a:ext uri="{FF2B5EF4-FFF2-40B4-BE49-F238E27FC236}">
                  <a16:creationId xmlns:a16="http://schemas.microsoft.com/office/drawing/2014/main" id="{C4154E25-19E0-451B-B6E1-784AB41770F7}"/>
                </a:ext>
              </a:extLst>
            </p:cNvPr>
            <p:cNvSpPr txBox="1"/>
            <p:nvPr/>
          </p:nvSpPr>
          <p:spPr>
            <a:xfrm>
              <a:off x="5209025" y="5924402"/>
              <a:ext cx="182707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研究方法与思路</a:t>
              </a:r>
            </a:p>
          </p:txBody>
        </p:sp>
        <p:sp>
          <p:nvSpPr>
            <p:cNvPr id="97" name="文本框 96">
              <a:extLst>
                <a:ext uri="{FF2B5EF4-FFF2-40B4-BE49-F238E27FC236}">
                  <a16:creationId xmlns:a16="http://schemas.microsoft.com/office/drawing/2014/main" id="{8B6F87F8-1DC9-4F3E-9295-11ED43E94222}"/>
                </a:ext>
              </a:extLst>
            </p:cNvPr>
            <p:cNvSpPr txBox="1"/>
            <p:nvPr/>
          </p:nvSpPr>
          <p:spPr>
            <a:xfrm>
              <a:off x="9325073" y="5924402"/>
              <a:ext cx="1331730"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已开展工作</a:t>
              </a:r>
            </a:p>
          </p:txBody>
        </p:sp>
        <p:sp>
          <p:nvSpPr>
            <p:cNvPr id="98" name="文本框 97">
              <a:extLst>
                <a:ext uri="{FF2B5EF4-FFF2-40B4-BE49-F238E27FC236}">
                  <a16:creationId xmlns:a16="http://schemas.microsoft.com/office/drawing/2014/main" id="{731C8F47-B2FE-42D2-BA17-F798FA6013A4}"/>
                </a:ext>
              </a:extLst>
            </p:cNvPr>
            <p:cNvSpPr txBox="1"/>
            <p:nvPr/>
          </p:nvSpPr>
          <p:spPr>
            <a:xfrm>
              <a:off x="3153565" y="5924402"/>
              <a:ext cx="1819036"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研究目标和内容</a:t>
              </a:r>
            </a:p>
          </p:txBody>
        </p:sp>
        <p:sp>
          <p:nvSpPr>
            <p:cNvPr id="99" name="文本框 98">
              <a:extLst>
                <a:ext uri="{FF2B5EF4-FFF2-40B4-BE49-F238E27FC236}">
                  <a16:creationId xmlns:a16="http://schemas.microsoft.com/office/drawing/2014/main" id="{35DB850E-0360-4E1E-B694-D8C218281927}"/>
                </a:ext>
              </a:extLst>
            </p:cNvPr>
            <p:cNvSpPr txBox="1"/>
            <p:nvPr/>
          </p:nvSpPr>
          <p:spPr>
            <a:xfrm>
              <a:off x="1090993" y="5924402"/>
              <a:ext cx="1826148" cy="369332"/>
            </a:xfrm>
            <a:prstGeom prst="rect">
              <a:avLst/>
            </a:prstGeom>
            <a:noFill/>
          </p:spPr>
          <p:txBody>
            <a:bodyPr wrap="square" rtlCol="0">
              <a:spAutoFit/>
            </a:bodyPr>
            <a:lstStyle>
              <a:defPPr>
                <a:defRPr lang="zh-CN"/>
              </a:defPPr>
              <a:lvl1pPr algn="ctr">
                <a:defRPr>
                  <a:solidFill>
                    <a:schemeClr val="tx1">
                      <a:lumMod val="75000"/>
                      <a:lumOff val="25000"/>
                    </a:schemeClr>
                  </a:solidFill>
                  <a:latin typeface="思源黑体 CN Bold" panose="020B0800000000000000" pitchFamily="34" charset="-122"/>
                  <a:ea typeface="思源黑体 CN Bold" panose="020B0800000000000000" pitchFamily="34" charset="-122"/>
                </a:defRPr>
              </a:lvl1pPr>
            </a:lstStyle>
            <a:p>
              <a:r>
                <a:rPr lang="zh-CN" altLang="en-US" dirty="0"/>
                <a:t>研究背景及现状</a:t>
              </a:r>
            </a:p>
          </p:txBody>
        </p:sp>
        <p:cxnSp>
          <p:nvCxnSpPr>
            <p:cNvPr id="100" name="直接连接符 99">
              <a:extLst>
                <a:ext uri="{FF2B5EF4-FFF2-40B4-BE49-F238E27FC236}">
                  <a16:creationId xmlns:a16="http://schemas.microsoft.com/office/drawing/2014/main" id="{F6F4385B-39B0-42F5-97FA-15837E02DBE6}"/>
                </a:ext>
              </a:extLst>
            </p:cNvPr>
            <p:cNvCxnSpPr/>
            <p:nvPr/>
          </p:nvCxnSpPr>
          <p:spPr>
            <a:xfrm>
              <a:off x="715431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8F078FA1-58EF-4180-A024-01888C94BD5A}"/>
                </a:ext>
              </a:extLst>
            </p:cNvPr>
            <p:cNvCxnSpPr/>
            <p:nvPr/>
          </p:nvCxnSpPr>
          <p:spPr>
            <a:xfrm>
              <a:off x="509081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507F1CCD-3871-489A-B8D6-37946C53417F}"/>
                </a:ext>
              </a:extLst>
            </p:cNvPr>
            <p:cNvCxnSpPr/>
            <p:nvPr/>
          </p:nvCxnSpPr>
          <p:spPr>
            <a:xfrm>
              <a:off x="9206861"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直接连接符 102">
              <a:extLst>
                <a:ext uri="{FF2B5EF4-FFF2-40B4-BE49-F238E27FC236}">
                  <a16:creationId xmlns:a16="http://schemas.microsoft.com/office/drawing/2014/main" id="{AE080A89-08BE-4833-A97A-117E7FB5C53A}"/>
                </a:ext>
              </a:extLst>
            </p:cNvPr>
            <p:cNvCxnSpPr/>
            <p:nvPr/>
          </p:nvCxnSpPr>
          <p:spPr>
            <a:xfrm>
              <a:off x="10775015"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46DA7BFD-83F9-440B-B1FB-6BE9809B2F7A}"/>
                </a:ext>
              </a:extLst>
            </p:cNvPr>
            <p:cNvCxnSpPr/>
            <p:nvPr/>
          </p:nvCxnSpPr>
          <p:spPr>
            <a:xfrm>
              <a:off x="3035353" y="5931400"/>
              <a:ext cx="0" cy="355336"/>
            </a:xfrm>
            <a:prstGeom prst="line">
              <a:avLst/>
            </a:prstGeom>
            <a:ln w="15875">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5" name="任意多边形: 形状 104">
              <a:extLst>
                <a:ext uri="{FF2B5EF4-FFF2-40B4-BE49-F238E27FC236}">
                  <a16:creationId xmlns:a16="http://schemas.microsoft.com/office/drawing/2014/main" id="{21484294-7E4D-42EB-965D-EEE45BDD8393}"/>
                </a:ext>
              </a:extLst>
            </p:cNvPr>
            <p:cNvSpPr/>
            <p:nvPr/>
          </p:nvSpPr>
          <p:spPr>
            <a:xfrm flipH="1" flipV="1">
              <a:off x="10451872" y="5660441"/>
              <a:ext cx="2037196" cy="836294"/>
            </a:xfrm>
            <a:custGeom>
              <a:avLst/>
              <a:gdLst>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 name="connsiteX0" fmla="*/ 2198630 w 2198630"/>
                <a:gd name="connsiteY0" fmla="*/ 836294 h 836294"/>
                <a:gd name="connsiteX1" fmla="*/ 1834647 w 2198630"/>
                <a:gd name="connsiteY1" fmla="*/ 836294 h 836294"/>
                <a:gd name="connsiteX2" fmla="*/ 1394508 w 2198630"/>
                <a:gd name="connsiteY2" fmla="*/ 836294 h 836294"/>
                <a:gd name="connsiteX3" fmla="*/ 804122 w 2198630"/>
                <a:gd name="connsiteY3" fmla="*/ 836294 h 836294"/>
                <a:gd name="connsiteX4" fmla="*/ 363984 w 2198630"/>
                <a:gd name="connsiteY4" fmla="*/ 836294 h 836294"/>
                <a:gd name="connsiteX5" fmla="*/ 0 w 2198630"/>
                <a:gd name="connsiteY5" fmla="*/ 836294 h 836294"/>
                <a:gd name="connsiteX6" fmla="*/ 363984 w 2198630"/>
                <a:gd name="connsiteY6" fmla="*/ 139386 h 836294"/>
                <a:gd name="connsiteX7" fmla="*/ 588223 w 2198630"/>
                <a:gd name="connsiteY7" fmla="*/ 0 h 836294"/>
                <a:gd name="connsiteX8" fmla="*/ 804122 w 2198630"/>
                <a:gd name="connsiteY8" fmla="*/ 0 h 836294"/>
                <a:gd name="connsiteX9" fmla="*/ 1394508 w 2198630"/>
                <a:gd name="connsiteY9" fmla="*/ 0 h 836294"/>
                <a:gd name="connsiteX10" fmla="*/ 1610407 w 2198630"/>
                <a:gd name="connsiteY10" fmla="*/ 0 h 836294"/>
                <a:gd name="connsiteX11" fmla="*/ 1834647 w 2198630"/>
                <a:gd name="connsiteY11" fmla="*/ 139386 h 836294"/>
                <a:gd name="connsiteX12" fmla="*/ 2198630 w 2198630"/>
                <a:gd name="connsiteY12" fmla="*/ 836294 h 836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98630" h="836294">
                  <a:moveTo>
                    <a:pt x="2198630" y="836294"/>
                  </a:moveTo>
                  <a:lnTo>
                    <a:pt x="1834647" y="836294"/>
                  </a:lnTo>
                  <a:lnTo>
                    <a:pt x="1394508" y="836294"/>
                  </a:lnTo>
                  <a:lnTo>
                    <a:pt x="804122" y="836294"/>
                  </a:lnTo>
                  <a:lnTo>
                    <a:pt x="363984" y="836294"/>
                  </a:lnTo>
                  <a:lnTo>
                    <a:pt x="0" y="836294"/>
                  </a:lnTo>
                  <a:cubicBezTo>
                    <a:pt x="231937" y="758766"/>
                    <a:pt x="285987" y="355859"/>
                    <a:pt x="363984" y="139386"/>
                  </a:cubicBezTo>
                  <a:cubicBezTo>
                    <a:pt x="392719" y="71199"/>
                    <a:pt x="447610" y="3810"/>
                    <a:pt x="588223" y="0"/>
                  </a:cubicBezTo>
                  <a:lnTo>
                    <a:pt x="804122" y="0"/>
                  </a:lnTo>
                  <a:lnTo>
                    <a:pt x="1394508" y="0"/>
                  </a:lnTo>
                  <a:lnTo>
                    <a:pt x="1610407" y="0"/>
                  </a:lnTo>
                  <a:cubicBezTo>
                    <a:pt x="1761176" y="1905"/>
                    <a:pt x="1805911" y="71199"/>
                    <a:pt x="1834647" y="139386"/>
                  </a:cubicBezTo>
                  <a:cubicBezTo>
                    <a:pt x="1912643" y="355859"/>
                    <a:pt x="1966693" y="758766"/>
                    <a:pt x="2198630" y="836294"/>
                  </a:cubicBezTo>
                  <a:close/>
                </a:path>
              </a:pathLst>
            </a:custGeom>
            <a:gradFill>
              <a:gsLst>
                <a:gs pos="50000">
                  <a:schemeClr val="accent1"/>
                </a:gs>
                <a:gs pos="100000">
                  <a:schemeClr val="accent1">
                    <a:alpha val="9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 name="文本框 105">
              <a:extLst>
                <a:ext uri="{FF2B5EF4-FFF2-40B4-BE49-F238E27FC236}">
                  <a16:creationId xmlns:a16="http://schemas.microsoft.com/office/drawing/2014/main" id="{7C6D0B81-61A1-4223-959C-CB85BAD6A193}"/>
                </a:ext>
              </a:extLst>
            </p:cNvPr>
            <p:cNvSpPr txBox="1"/>
            <p:nvPr/>
          </p:nvSpPr>
          <p:spPr>
            <a:xfrm>
              <a:off x="10893226" y="5924402"/>
              <a:ext cx="1154488" cy="369332"/>
            </a:xfrm>
            <a:prstGeom prst="rect">
              <a:avLst/>
            </a:prstGeom>
            <a:noFill/>
          </p:spPr>
          <p:txBody>
            <a:bodyPr wrap="square" rtlCol="0">
              <a:spAutoFit/>
            </a:bodyPr>
            <a:lstStyle/>
            <a:p>
              <a:pPr algn="ctr"/>
              <a:r>
                <a:rPr lang="zh-CN" altLang="en-US" dirty="0">
                  <a:solidFill>
                    <a:schemeClr val="bg1"/>
                  </a:solidFill>
                  <a:latin typeface="思源黑体 CN Bold" panose="020B0800000000000000" pitchFamily="34" charset="-122"/>
                  <a:ea typeface="思源黑体 CN Bold" panose="020B0800000000000000" pitchFamily="34" charset="-122"/>
                </a:rPr>
                <a:t>预期成果</a:t>
              </a:r>
            </a:p>
          </p:txBody>
        </p:sp>
      </p:grpSp>
    </p:spTree>
    <p:extLst>
      <p:ext uri="{BB962C8B-B14F-4D97-AF65-F5344CB8AC3E}">
        <p14:creationId xmlns:p14="http://schemas.microsoft.com/office/powerpoint/2010/main" val="3090282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直接连接符 22">
            <a:extLst>
              <a:ext uri="{FF2B5EF4-FFF2-40B4-BE49-F238E27FC236}">
                <a16:creationId xmlns:a16="http://schemas.microsoft.com/office/drawing/2014/main" id="{6D88D9DE-9CCF-4F00-882E-E723033C8EC2}"/>
              </a:ext>
            </a:extLst>
          </p:cNvPr>
          <p:cNvCxnSpPr>
            <a:cxnSpLocks/>
          </p:cNvCxnSpPr>
          <p:nvPr/>
        </p:nvCxnSpPr>
        <p:spPr>
          <a:xfrm>
            <a:off x="-1" y="1776374"/>
            <a:ext cx="12192001"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41287225-8C43-42AF-B9C8-A7100BF0358A}"/>
              </a:ext>
            </a:extLst>
          </p:cNvPr>
          <p:cNvSpPr/>
          <p:nvPr/>
        </p:nvSpPr>
        <p:spPr>
          <a:xfrm>
            <a:off x="-1" y="1849120"/>
            <a:ext cx="12192001" cy="2854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8F392A81-7D49-426B-BFCB-CE36A99CF227}"/>
              </a:ext>
            </a:extLst>
          </p:cNvPr>
          <p:cNvSpPr txBox="1"/>
          <p:nvPr/>
        </p:nvSpPr>
        <p:spPr>
          <a:xfrm>
            <a:off x="2156459" y="2549129"/>
            <a:ext cx="7879080" cy="1015663"/>
          </a:xfrm>
          <a:prstGeom prst="rect">
            <a:avLst/>
          </a:prstGeom>
          <a:noFill/>
        </p:spPr>
        <p:txBody>
          <a:bodyPr wrap="none" rtlCol="0">
            <a:spAutoFit/>
          </a:bodyPr>
          <a:lstStyle/>
          <a:p>
            <a:pPr algn="ctr"/>
            <a:r>
              <a:rPr lang="zh-CN" altLang="en-US" sz="6000" dirty="0">
                <a:solidFill>
                  <a:schemeClr val="bg1"/>
                </a:solidFill>
                <a:latin typeface="思源黑体 CN Bold" panose="020B0800000000000000" pitchFamily="34" charset="-122"/>
                <a:ea typeface="思源黑体 CN Bold" panose="020B0800000000000000" pitchFamily="34" charset="-122"/>
              </a:rPr>
              <a:t>敬请各位老师批评指正</a:t>
            </a:r>
          </a:p>
        </p:txBody>
      </p:sp>
      <p:sp>
        <p:nvSpPr>
          <p:cNvPr id="5" name="文本框 4">
            <a:extLst>
              <a:ext uri="{FF2B5EF4-FFF2-40B4-BE49-F238E27FC236}">
                <a16:creationId xmlns:a16="http://schemas.microsoft.com/office/drawing/2014/main" id="{7FB85967-7F6B-48D0-A5B3-A6F279C471BC}"/>
              </a:ext>
            </a:extLst>
          </p:cNvPr>
          <p:cNvSpPr txBox="1"/>
          <p:nvPr/>
        </p:nvSpPr>
        <p:spPr>
          <a:xfrm>
            <a:off x="2310345" y="3850828"/>
            <a:ext cx="7571303" cy="276999"/>
          </a:xfrm>
          <a:prstGeom prst="rect">
            <a:avLst/>
          </a:prstGeom>
          <a:noFill/>
        </p:spPr>
        <p:txBody>
          <a:bodyPr wrap="none" rtlCol="0">
            <a:spAutoFit/>
          </a:bodyPr>
          <a:lstStyle/>
          <a:p>
            <a:pPr algn="ctr"/>
            <a:r>
              <a:rPr lang="zh-CN" altLang="en-US" sz="1200" dirty="0">
                <a:solidFill>
                  <a:schemeClr val="bg1"/>
                </a:solidFill>
                <a:latin typeface="思源黑体 CN Regular" panose="020B0500000000000000" pitchFamily="34" charset="-122"/>
                <a:ea typeface="思源黑体 CN Regular" panose="020B0500000000000000" pitchFamily="34" charset="-122"/>
              </a:rPr>
              <a:t>这里输入论文题目这里输入论文题目这里输入论文题目这里输入论文题目这里输入论文题目这里输入论文题目</a:t>
            </a:r>
          </a:p>
        </p:txBody>
      </p:sp>
      <p:cxnSp>
        <p:nvCxnSpPr>
          <p:cNvPr id="7" name="直接连接符 6">
            <a:extLst>
              <a:ext uri="{FF2B5EF4-FFF2-40B4-BE49-F238E27FC236}">
                <a16:creationId xmlns:a16="http://schemas.microsoft.com/office/drawing/2014/main" id="{70785E71-9968-49B1-9D54-9E3E3F39A9EE}"/>
              </a:ext>
            </a:extLst>
          </p:cNvPr>
          <p:cNvCxnSpPr/>
          <p:nvPr/>
        </p:nvCxnSpPr>
        <p:spPr>
          <a:xfrm>
            <a:off x="2316480" y="3656911"/>
            <a:ext cx="7565136"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grpSp>
        <p:nvGrpSpPr>
          <p:cNvPr id="12" name="组合 11">
            <a:extLst>
              <a:ext uri="{FF2B5EF4-FFF2-40B4-BE49-F238E27FC236}">
                <a16:creationId xmlns:a16="http://schemas.microsoft.com/office/drawing/2014/main" id="{142C7A83-A039-495F-93D1-EE226F0EC27E}"/>
              </a:ext>
            </a:extLst>
          </p:cNvPr>
          <p:cNvGrpSpPr/>
          <p:nvPr/>
        </p:nvGrpSpPr>
        <p:grpSpPr>
          <a:xfrm>
            <a:off x="5695157" y="1404632"/>
            <a:ext cx="801687" cy="801687"/>
            <a:chOff x="5740400" y="1758994"/>
            <a:chExt cx="711201" cy="711201"/>
          </a:xfrm>
        </p:grpSpPr>
        <p:sp>
          <p:nvSpPr>
            <p:cNvPr id="10" name="流程图: 接点 9">
              <a:extLst>
                <a:ext uri="{FF2B5EF4-FFF2-40B4-BE49-F238E27FC236}">
                  <a16:creationId xmlns:a16="http://schemas.microsoft.com/office/drawing/2014/main" id="{BCCE06FF-7BA0-4B04-8FDB-9DBE2C8B1C29}"/>
                </a:ext>
              </a:extLst>
            </p:cNvPr>
            <p:cNvSpPr/>
            <p:nvPr/>
          </p:nvSpPr>
          <p:spPr>
            <a:xfrm>
              <a:off x="5740400" y="1758994"/>
              <a:ext cx="711201" cy="711201"/>
            </a:xfrm>
            <a:prstGeom prst="flowChartConnector">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6A9AD50A-6A89-4EA5-A27B-472647E402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86120" y="1804714"/>
              <a:ext cx="619760" cy="619760"/>
            </a:xfrm>
            <a:prstGeom prst="rect">
              <a:avLst/>
            </a:prstGeom>
          </p:spPr>
        </p:pic>
      </p:grpSp>
      <p:sp>
        <p:nvSpPr>
          <p:cNvPr id="11" name="文本框 10">
            <a:extLst>
              <a:ext uri="{FF2B5EF4-FFF2-40B4-BE49-F238E27FC236}">
                <a16:creationId xmlns:a16="http://schemas.microsoft.com/office/drawing/2014/main" id="{592A2874-3547-4F6D-9F14-1B01DFFE73B0}"/>
              </a:ext>
            </a:extLst>
          </p:cNvPr>
          <p:cNvSpPr txBox="1"/>
          <p:nvPr/>
        </p:nvSpPr>
        <p:spPr>
          <a:xfrm>
            <a:off x="1825606" y="5449498"/>
            <a:ext cx="1497526"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答辩人：</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7" name="graduate-hat_59495">
            <a:extLst>
              <a:ext uri="{FF2B5EF4-FFF2-40B4-BE49-F238E27FC236}">
                <a16:creationId xmlns:a16="http://schemas.microsoft.com/office/drawing/2014/main" id="{751ABA52-B13D-4035-A8B8-4F42180E5D61}"/>
              </a:ext>
            </a:extLst>
          </p:cNvPr>
          <p:cNvSpPr/>
          <p:nvPr userDrawn="1"/>
        </p:nvSpPr>
        <p:spPr>
          <a:xfrm>
            <a:off x="1470712" y="5511205"/>
            <a:ext cx="330510" cy="245918"/>
          </a:xfrm>
          <a:custGeom>
            <a:avLst/>
            <a:gdLst>
              <a:gd name="connsiteX0" fmla="*/ 10223 w 596651"/>
              <a:gd name="connsiteY0" fmla="*/ 332075 h 443943"/>
              <a:gd name="connsiteX1" fmla="*/ 57217 w 596651"/>
              <a:gd name="connsiteY1" fmla="*/ 332075 h 443943"/>
              <a:gd name="connsiteX2" fmla="*/ 67353 w 596651"/>
              <a:gd name="connsiteY2" fmla="*/ 427370 h 443943"/>
              <a:gd name="connsiteX3" fmla="*/ 63667 w 596651"/>
              <a:gd name="connsiteY3" fmla="*/ 438879 h 443943"/>
              <a:gd name="connsiteX4" fmla="*/ 52149 w 596651"/>
              <a:gd name="connsiteY4" fmla="*/ 443943 h 443943"/>
              <a:gd name="connsiteX5" fmla="*/ 15291 w 596651"/>
              <a:gd name="connsiteY5" fmla="*/ 443943 h 443943"/>
              <a:gd name="connsiteX6" fmla="*/ 4233 w 596651"/>
              <a:gd name="connsiteY6" fmla="*/ 438879 h 443943"/>
              <a:gd name="connsiteX7" fmla="*/ 87 w 596651"/>
              <a:gd name="connsiteY7" fmla="*/ 427370 h 443943"/>
              <a:gd name="connsiteX8" fmla="*/ 528865 w 596651"/>
              <a:gd name="connsiteY8" fmla="*/ 191185 h 443943"/>
              <a:gd name="connsiteX9" fmla="*/ 541774 w 596651"/>
              <a:gd name="connsiteY9" fmla="*/ 309970 h 443943"/>
              <a:gd name="connsiteX10" fmla="*/ 526559 w 596651"/>
              <a:gd name="connsiteY10" fmla="*/ 325163 h 443943"/>
              <a:gd name="connsiteX11" fmla="*/ 523793 w 596651"/>
              <a:gd name="connsiteY11" fmla="*/ 325163 h 443943"/>
              <a:gd name="connsiteX12" fmla="*/ 486909 w 596651"/>
              <a:gd name="connsiteY12" fmla="*/ 322401 h 443943"/>
              <a:gd name="connsiteX13" fmla="*/ 322773 w 596651"/>
              <a:gd name="connsiteY13" fmla="*/ 399749 h 443943"/>
              <a:gd name="connsiteX14" fmla="*/ 309403 w 596651"/>
              <a:gd name="connsiteY14" fmla="*/ 408036 h 443943"/>
              <a:gd name="connsiteX15" fmla="*/ 304792 w 596651"/>
              <a:gd name="connsiteY15" fmla="*/ 408036 h 443943"/>
              <a:gd name="connsiteX16" fmla="*/ 290960 w 596651"/>
              <a:gd name="connsiteY16" fmla="*/ 399749 h 443943"/>
              <a:gd name="connsiteX17" fmla="*/ 126825 w 596651"/>
              <a:gd name="connsiteY17" fmla="*/ 322401 h 443943"/>
              <a:gd name="connsiteX18" fmla="*/ 89940 w 596651"/>
              <a:gd name="connsiteY18" fmla="*/ 325163 h 443943"/>
              <a:gd name="connsiteX19" fmla="*/ 77031 w 596651"/>
              <a:gd name="connsiteY19" fmla="*/ 320559 h 443943"/>
              <a:gd name="connsiteX20" fmla="*/ 72420 w 596651"/>
              <a:gd name="connsiteY20" fmla="*/ 307668 h 443943"/>
              <a:gd name="connsiteX21" fmla="*/ 85330 w 596651"/>
              <a:gd name="connsiteY21" fmla="*/ 192106 h 443943"/>
              <a:gd name="connsiteX22" fmla="*/ 307097 w 596651"/>
              <a:gd name="connsiteY22" fmla="*/ 275439 h 443943"/>
              <a:gd name="connsiteX23" fmla="*/ 301581 w 596651"/>
              <a:gd name="connsiteY23" fmla="*/ 1035 h 443943"/>
              <a:gd name="connsiteX24" fmla="*/ 312185 w 596651"/>
              <a:gd name="connsiteY24" fmla="*/ 1035 h 443943"/>
              <a:gd name="connsiteX25" fmla="*/ 586508 w 596651"/>
              <a:gd name="connsiteY25" fmla="*/ 104161 h 443943"/>
              <a:gd name="connsiteX26" fmla="*/ 596651 w 596651"/>
              <a:gd name="connsiteY26" fmla="*/ 118433 h 443943"/>
              <a:gd name="connsiteX27" fmla="*/ 586508 w 596651"/>
              <a:gd name="connsiteY27" fmla="*/ 132705 h 443943"/>
              <a:gd name="connsiteX28" fmla="*/ 312185 w 596651"/>
              <a:gd name="connsiteY28" fmla="*/ 235830 h 443943"/>
              <a:gd name="connsiteX29" fmla="*/ 301581 w 596651"/>
              <a:gd name="connsiteY29" fmla="*/ 235830 h 443943"/>
              <a:gd name="connsiteX30" fmla="*/ 51233 w 596651"/>
              <a:gd name="connsiteY30" fmla="*/ 141912 h 443943"/>
              <a:gd name="connsiteX31" fmla="*/ 51233 w 596651"/>
              <a:gd name="connsiteY31" fmla="*/ 305348 h 443943"/>
              <a:gd name="connsiteX32" fmla="*/ 16654 w 596651"/>
              <a:gd name="connsiteY32" fmla="*/ 305348 h 443943"/>
              <a:gd name="connsiteX33" fmla="*/ 16654 w 596651"/>
              <a:gd name="connsiteY33" fmla="*/ 118433 h 443943"/>
              <a:gd name="connsiteX34" fmla="*/ 26336 w 596651"/>
              <a:gd name="connsiteY34" fmla="*/ 104161 h 4439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96651" h="443943">
                <a:moveTo>
                  <a:pt x="10223" y="332075"/>
                </a:moveTo>
                <a:lnTo>
                  <a:pt x="57217" y="332075"/>
                </a:lnTo>
                <a:lnTo>
                  <a:pt x="67353" y="427370"/>
                </a:lnTo>
                <a:cubicBezTo>
                  <a:pt x="67813" y="431513"/>
                  <a:pt x="66431" y="435656"/>
                  <a:pt x="63667" y="438879"/>
                </a:cubicBezTo>
                <a:cubicBezTo>
                  <a:pt x="60902" y="442102"/>
                  <a:pt x="56756" y="443943"/>
                  <a:pt x="52149" y="443943"/>
                </a:cubicBezTo>
                <a:lnTo>
                  <a:pt x="15291" y="443943"/>
                </a:lnTo>
                <a:cubicBezTo>
                  <a:pt x="11144" y="443943"/>
                  <a:pt x="6998" y="442102"/>
                  <a:pt x="4233" y="438879"/>
                </a:cubicBezTo>
                <a:cubicBezTo>
                  <a:pt x="1008" y="435656"/>
                  <a:pt x="-374" y="431513"/>
                  <a:pt x="87" y="427370"/>
                </a:cubicBezTo>
                <a:close/>
                <a:moveTo>
                  <a:pt x="528865" y="191185"/>
                </a:moveTo>
                <a:cubicBezTo>
                  <a:pt x="528865" y="191185"/>
                  <a:pt x="541774" y="308588"/>
                  <a:pt x="541774" y="309970"/>
                </a:cubicBezTo>
                <a:cubicBezTo>
                  <a:pt x="542235" y="318717"/>
                  <a:pt x="534858" y="325163"/>
                  <a:pt x="526559" y="325163"/>
                </a:cubicBezTo>
                <a:cubicBezTo>
                  <a:pt x="526098" y="325163"/>
                  <a:pt x="524715" y="325163"/>
                  <a:pt x="523793" y="325163"/>
                </a:cubicBezTo>
                <a:cubicBezTo>
                  <a:pt x="511806" y="323321"/>
                  <a:pt x="499357" y="322401"/>
                  <a:pt x="486909" y="322401"/>
                </a:cubicBezTo>
                <a:cubicBezTo>
                  <a:pt x="413140" y="322401"/>
                  <a:pt x="347209" y="353708"/>
                  <a:pt x="322773" y="399749"/>
                </a:cubicBezTo>
                <a:cubicBezTo>
                  <a:pt x="320468" y="404813"/>
                  <a:pt x="314935" y="408036"/>
                  <a:pt x="309403" y="408036"/>
                </a:cubicBezTo>
                <a:lnTo>
                  <a:pt x="304792" y="408036"/>
                </a:lnTo>
                <a:cubicBezTo>
                  <a:pt x="298798" y="408036"/>
                  <a:pt x="293727" y="404813"/>
                  <a:pt x="290960" y="399749"/>
                </a:cubicBezTo>
                <a:cubicBezTo>
                  <a:pt x="266524" y="353248"/>
                  <a:pt x="200594" y="322401"/>
                  <a:pt x="126825" y="322401"/>
                </a:cubicBezTo>
                <a:cubicBezTo>
                  <a:pt x="114376" y="322401"/>
                  <a:pt x="101928" y="323321"/>
                  <a:pt x="89940" y="325163"/>
                </a:cubicBezTo>
                <a:cubicBezTo>
                  <a:pt x="85330" y="325623"/>
                  <a:pt x="80258" y="324242"/>
                  <a:pt x="77031" y="320559"/>
                </a:cubicBezTo>
                <a:cubicBezTo>
                  <a:pt x="73342" y="317336"/>
                  <a:pt x="71959" y="312732"/>
                  <a:pt x="72420" y="307668"/>
                </a:cubicBezTo>
                <a:lnTo>
                  <a:pt x="85330" y="192106"/>
                </a:lnTo>
                <a:lnTo>
                  <a:pt x="307097" y="275439"/>
                </a:lnTo>
                <a:close/>
                <a:moveTo>
                  <a:pt x="301581" y="1035"/>
                </a:moveTo>
                <a:cubicBezTo>
                  <a:pt x="305270" y="-346"/>
                  <a:pt x="308958" y="-346"/>
                  <a:pt x="312185" y="1035"/>
                </a:cubicBezTo>
                <a:lnTo>
                  <a:pt x="586508" y="104161"/>
                </a:lnTo>
                <a:cubicBezTo>
                  <a:pt x="592502" y="106463"/>
                  <a:pt x="596651" y="111987"/>
                  <a:pt x="596651" y="118433"/>
                </a:cubicBezTo>
                <a:cubicBezTo>
                  <a:pt x="596651" y="124878"/>
                  <a:pt x="592502" y="130403"/>
                  <a:pt x="586508" y="132705"/>
                </a:cubicBezTo>
                <a:lnTo>
                  <a:pt x="312185" y="235830"/>
                </a:lnTo>
                <a:cubicBezTo>
                  <a:pt x="308958" y="237211"/>
                  <a:pt x="305270" y="237211"/>
                  <a:pt x="301581" y="235830"/>
                </a:cubicBezTo>
                <a:lnTo>
                  <a:pt x="51233" y="141912"/>
                </a:lnTo>
                <a:lnTo>
                  <a:pt x="51233" y="305348"/>
                </a:lnTo>
                <a:lnTo>
                  <a:pt x="16654" y="305348"/>
                </a:lnTo>
                <a:lnTo>
                  <a:pt x="16654" y="118433"/>
                </a:lnTo>
                <a:cubicBezTo>
                  <a:pt x="16654" y="112448"/>
                  <a:pt x="20343" y="106463"/>
                  <a:pt x="26336" y="104161"/>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F783CC5A-9F78-40B3-BA32-EDF67B2FA9C7}"/>
              </a:ext>
            </a:extLst>
          </p:cNvPr>
          <p:cNvSpPr txBox="1"/>
          <p:nvPr/>
        </p:nvSpPr>
        <p:spPr>
          <a:xfrm>
            <a:off x="5732965" y="5449498"/>
            <a:ext cx="12666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导师：</a:t>
            </a:r>
            <a:r>
              <a:rPr lang="en-US" altLang="zh-CN" dirty="0">
                <a:latin typeface="思源黑体 CN Bold" panose="020B0800000000000000" pitchFamily="34" charset="-122"/>
                <a:ea typeface="思源黑体 CN Bold" panose="020B0800000000000000" pitchFamily="34" charset="-122"/>
              </a:rPr>
              <a:t>xxx</a:t>
            </a:r>
            <a:endParaRPr lang="zh-CN" altLang="en-US" dirty="0">
              <a:latin typeface="思源黑体 CN Bold" panose="020B0800000000000000" pitchFamily="34" charset="-122"/>
              <a:ea typeface="思源黑体 CN Bold" panose="020B0800000000000000" pitchFamily="34" charset="-122"/>
            </a:endParaRPr>
          </a:p>
        </p:txBody>
      </p:sp>
      <p:sp>
        <p:nvSpPr>
          <p:cNvPr id="18" name="teacher_43663">
            <a:extLst>
              <a:ext uri="{FF2B5EF4-FFF2-40B4-BE49-F238E27FC236}">
                <a16:creationId xmlns:a16="http://schemas.microsoft.com/office/drawing/2014/main" id="{31C8FFF2-4362-4ACF-8BC8-85B13BC44678}"/>
              </a:ext>
            </a:extLst>
          </p:cNvPr>
          <p:cNvSpPr/>
          <p:nvPr/>
        </p:nvSpPr>
        <p:spPr>
          <a:xfrm>
            <a:off x="5493518" y="5460828"/>
            <a:ext cx="239447" cy="278007"/>
          </a:xfrm>
          <a:custGeom>
            <a:avLst/>
            <a:gdLst>
              <a:gd name="connsiteX0" fmla="*/ 166525 w 511059"/>
              <a:gd name="connsiteY0" fmla="*/ 236417 h 593362"/>
              <a:gd name="connsiteX1" fmla="*/ 147863 w 511059"/>
              <a:gd name="connsiteY1" fmla="*/ 300925 h 593362"/>
              <a:gd name="connsiteX2" fmla="*/ 166525 w 511059"/>
              <a:gd name="connsiteY2" fmla="*/ 300925 h 593362"/>
              <a:gd name="connsiteX3" fmla="*/ 338792 w 511059"/>
              <a:gd name="connsiteY3" fmla="*/ 233550 h 593362"/>
              <a:gd name="connsiteX4" fmla="*/ 340227 w 511059"/>
              <a:gd name="connsiteY4" fmla="*/ 300925 h 593362"/>
              <a:gd name="connsiteX5" fmla="*/ 357454 w 511059"/>
              <a:gd name="connsiteY5" fmla="*/ 300925 h 593362"/>
              <a:gd name="connsiteX6" fmla="*/ 225383 w 511059"/>
              <a:gd name="connsiteY6" fmla="*/ 173342 h 593362"/>
              <a:gd name="connsiteX7" fmla="*/ 256965 w 511059"/>
              <a:gd name="connsiteY7" fmla="*/ 209180 h 593362"/>
              <a:gd name="connsiteX8" fmla="*/ 287112 w 511059"/>
              <a:gd name="connsiteY8" fmla="*/ 173342 h 593362"/>
              <a:gd name="connsiteX9" fmla="*/ 374681 w 511059"/>
              <a:gd name="connsiteY9" fmla="*/ 186244 h 593362"/>
              <a:gd name="connsiteX10" fmla="*/ 406263 w 511059"/>
              <a:gd name="connsiteY10" fmla="*/ 300925 h 593362"/>
              <a:gd name="connsiteX11" fmla="*/ 511059 w 511059"/>
              <a:gd name="connsiteY11" fmla="*/ 300925 h 593362"/>
              <a:gd name="connsiteX12" fmla="*/ 511059 w 511059"/>
              <a:gd name="connsiteY12" fmla="*/ 366867 h 593362"/>
              <a:gd name="connsiteX13" fmla="*/ 469428 w 511059"/>
              <a:gd name="connsiteY13" fmla="*/ 366867 h 593362"/>
              <a:gd name="connsiteX14" fmla="*/ 469428 w 511059"/>
              <a:gd name="connsiteY14" fmla="*/ 593362 h 593362"/>
              <a:gd name="connsiteX15" fmla="*/ 41631 w 511059"/>
              <a:gd name="connsiteY15" fmla="*/ 593362 h 593362"/>
              <a:gd name="connsiteX16" fmla="*/ 41631 w 511059"/>
              <a:gd name="connsiteY16" fmla="*/ 366867 h 593362"/>
              <a:gd name="connsiteX17" fmla="*/ 0 w 511059"/>
              <a:gd name="connsiteY17" fmla="*/ 366867 h 593362"/>
              <a:gd name="connsiteX18" fmla="*/ 0 w 511059"/>
              <a:gd name="connsiteY18" fmla="*/ 300925 h 593362"/>
              <a:gd name="connsiteX19" fmla="*/ 101925 w 511059"/>
              <a:gd name="connsiteY19" fmla="*/ 300925 h 593362"/>
              <a:gd name="connsiteX20" fmla="*/ 136378 w 511059"/>
              <a:gd name="connsiteY20" fmla="*/ 184810 h 593362"/>
              <a:gd name="connsiteX21" fmla="*/ 254840 w 511059"/>
              <a:gd name="connsiteY21" fmla="*/ 0 h 593362"/>
              <a:gd name="connsiteX22" fmla="*/ 335879 w 511059"/>
              <a:gd name="connsiteY22" fmla="*/ 81039 h 593362"/>
              <a:gd name="connsiteX23" fmla="*/ 254840 w 511059"/>
              <a:gd name="connsiteY23" fmla="*/ 162078 h 593362"/>
              <a:gd name="connsiteX24" fmla="*/ 173801 w 511059"/>
              <a:gd name="connsiteY24" fmla="*/ 81039 h 593362"/>
              <a:gd name="connsiteX25" fmla="*/ 254840 w 511059"/>
              <a:gd name="connsiteY25" fmla="*/ 0 h 5933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11059" h="593362">
                <a:moveTo>
                  <a:pt x="166525" y="236417"/>
                </a:moveTo>
                <a:lnTo>
                  <a:pt x="147863" y="300925"/>
                </a:lnTo>
                <a:lnTo>
                  <a:pt x="166525" y="300925"/>
                </a:lnTo>
                <a:close/>
                <a:moveTo>
                  <a:pt x="338792" y="233550"/>
                </a:moveTo>
                <a:lnTo>
                  <a:pt x="340227" y="300925"/>
                </a:lnTo>
                <a:lnTo>
                  <a:pt x="357454" y="300925"/>
                </a:lnTo>
                <a:close/>
                <a:moveTo>
                  <a:pt x="225383" y="173342"/>
                </a:moveTo>
                <a:lnTo>
                  <a:pt x="256965" y="209180"/>
                </a:lnTo>
                <a:lnTo>
                  <a:pt x="287112" y="173342"/>
                </a:lnTo>
                <a:lnTo>
                  <a:pt x="374681" y="186244"/>
                </a:lnTo>
                <a:lnTo>
                  <a:pt x="406263" y="300925"/>
                </a:lnTo>
                <a:lnTo>
                  <a:pt x="511059" y="300925"/>
                </a:lnTo>
                <a:lnTo>
                  <a:pt x="511059" y="366867"/>
                </a:lnTo>
                <a:lnTo>
                  <a:pt x="469428" y="366867"/>
                </a:lnTo>
                <a:lnTo>
                  <a:pt x="469428" y="593362"/>
                </a:lnTo>
                <a:lnTo>
                  <a:pt x="41631" y="593362"/>
                </a:lnTo>
                <a:lnTo>
                  <a:pt x="41631" y="366867"/>
                </a:lnTo>
                <a:lnTo>
                  <a:pt x="0" y="366867"/>
                </a:lnTo>
                <a:lnTo>
                  <a:pt x="0" y="300925"/>
                </a:lnTo>
                <a:lnTo>
                  <a:pt x="101925" y="300925"/>
                </a:lnTo>
                <a:lnTo>
                  <a:pt x="136378" y="184810"/>
                </a:lnTo>
                <a:close/>
                <a:moveTo>
                  <a:pt x="254840" y="0"/>
                </a:moveTo>
                <a:cubicBezTo>
                  <a:pt x="299597" y="0"/>
                  <a:pt x="335879" y="36282"/>
                  <a:pt x="335879" y="81039"/>
                </a:cubicBezTo>
                <a:cubicBezTo>
                  <a:pt x="335879" y="125796"/>
                  <a:pt x="299597" y="162078"/>
                  <a:pt x="254840" y="162078"/>
                </a:cubicBezTo>
                <a:cubicBezTo>
                  <a:pt x="210083" y="162078"/>
                  <a:pt x="173801" y="125796"/>
                  <a:pt x="173801" y="81039"/>
                </a:cubicBezTo>
                <a:cubicBezTo>
                  <a:pt x="173801" y="36282"/>
                  <a:pt x="210083" y="0"/>
                  <a:pt x="25484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文本框 13">
            <a:extLst>
              <a:ext uri="{FF2B5EF4-FFF2-40B4-BE49-F238E27FC236}">
                <a16:creationId xmlns:a16="http://schemas.microsoft.com/office/drawing/2014/main" id="{CA4A1C14-DBCC-46E2-8265-9653E8B82BB5}"/>
              </a:ext>
            </a:extLst>
          </p:cNvPr>
          <p:cNvSpPr txBox="1"/>
          <p:nvPr/>
        </p:nvSpPr>
        <p:spPr>
          <a:xfrm>
            <a:off x="8811444" y="5449498"/>
            <a:ext cx="2121093" cy="369332"/>
          </a:xfrm>
          <a:prstGeom prst="rect">
            <a:avLst/>
          </a:prstGeom>
          <a:noFill/>
        </p:spPr>
        <p:txBody>
          <a:bodyPr wrap="none" rtlCol="0">
            <a:spAutoFit/>
          </a:bodyPr>
          <a:lstStyle/>
          <a:p>
            <a:r>
              <a:rPr lang="zh-CN" altLang="en-US" dirty="0">
                <a:latin typeface="思源黑体 CN Bold" panose="020B0800000000000000" pitchFamily="34" charset="-122"/>
                <a:ea typeface="思源黑体 CN Bold" panose="020B0800000000000000" pitchFamily="34" charset="-122"/>
              </a:rPr>
              <a:t>日期：</a:t>
            </a:r>
            <a:r>
              <a:rPr lang="en-US" altLang="zh-CN" dirty="0">
                <a:latin typeface="思源黑体 CN Bold" panose="020B0800000000000000" pitchFamily="34" charset="-122"/>
                <a:ea typeface="思源黑体 CN Bold" panose="020B0800000000000000" pitchFamily="34" charset="-122"/>
              </a:rPr>
              <a:t>2026/xx/xx</a:t>
            </a:r>
            <a:endParaRPr lang="zh-CN" altLang="en-US" dirty="0">
              <a:latin typeface="思源黑体 CN Bold" panose="020B0800000000000000" pitchFamily="34" charset="-122"/>
              <a:ea typeface="思源黑体 CN Bold" panose="020B0800000000000000" pitchFamily="34" charset="-122"/>
            </a:endParaRPr>
          </a:p>
        </p:txBody>
      </p:sp>
      <p:sp>
        <p:nvSpPr>
          <p:cNvPr id="19" name="alarm-clock_221910">
            <a:extLst>
              <a:ext uri="{FF2B5EF4-FFF2-40B4-BE49-F238E27FC236}">
                <a16:creationId xmlns:a16="http://schemas.microsoft.com/office/drawing/2014/main" id="{2CA792EE-73A9-45E3-9864-8CF57569C3FD}"/>
              </a:ext>
            </a:extLst>
          </p:cNvPr>
          <p:cNvSpPr/>
          <p:nvPr/>
        </p:nvSpPr>
        <p:spPr>
          <a:xfrm>
            <a:off x="8568944" y="5502354"/>
            <a:ext cx="242500" cy="263620"/>
          </a:xfrm>
          <a:custGeom>
            <a:avLst/>
            <a:gdLst>
              <a:gd name="connsiteX0" fmla="*/ 440316 w 536231"/>
              <a:gd name="connsiteY0" fmla="*/ 549437 h 606736"/>
              <a:gd name="connsiteX1" fmla="*/ 464169 w 536231"/>
              <a:gd name="connsiteY1" fmla="*/ 583372 h 606736"/>
              <a:gd name="connsiteX2" fmla="*/ 430704 w 536231"/>
              <a:gd name="connsiteY2" fmla="*/ 606736 h 606736"/>
              <a:gd name="connsiteX3" fmla="*/ 406940 w 536231"/>
              <a:gd name="connsiteY3" fmla="*/ 572801 h 606736"/>
              <a:gd name="connsiteX4" fmla="*/ 440316 w 536231"/>
              <a:gd name="connsiteY4" fmla="*/ 549437 h 606736"/>
              <a:gd name="connsiteX5" fmla="*/ 95960 w 536231"/>
              <a:gd name="connsiteY5" fmla="*/ 549437 h 606736"/>
              <a:gd name="connsiteX6" fmla="*/ 129336 w 536231"/>
              <a:gd name="connsiteY6" fmla="*/ 572801 h 606736"/>
              <a:gd name="connsiteX7" fmla="*/ 105483 w 536231"/>
              <a:gd name="connsiteY7" fmla="*/ 606736 h 606736"/>
              <a:gd name="connsiteX8" fmla="*/ 72107 w 536231"/>
              <a:gd name="connsiteY8" fmla="*/ 583372 h 606736"/>
              <a:gd name="connsiteX9" fmla="*/ 246741 w 536231"/>
              <a:gd name="connsiteY9" fmla="*/ 202650 h 606736"/>
              <a:gd name="connsiteX10" fmla="*/ 246741 w 536231"/>
              <a:gd name="connsiteY10" fmla="*/ 346814 h 606736"/>
              <a:gd name="connsiteX11" fmla="*/ 348828 w 536231"/>
              <a:gd name="connsiteY11" fmla="*/ 448760 h 606736"/>
              <a:gd name="connsiteX12" fmla="*/ 377664 w 536231"/>
              <a:gd name="connsiteY12" fmla="*/ 419962 h 606736"/>
              <a:gd name="connsiteX13" fmla="*/ 287594 w 536231"/>
              <a:gd name="connsiteY13" fmla="*/ 329927 h 606736"/>
              <a:gd name="connsiteX14" fmla="*/ 287594 w 536231"/>
              <a:gd name="connsiteY14" fmla="*/ 202650 h 606736"/>
              <a:gd name="connsiteX15" fmla="*/ 268102 w 536231"/>
              <a:gd name="connsiteY15" fmla="*/ 108614 h 606736"/>
              <a:gd name="connsiteX16" fmla="*/ 498886 w 536231"/>
              <a:gd name="connsiteY16" fmla="*/ 339081 h 606736"/>
              <a:gd name="connsiteX17" fmla="*/ 268102 w 536231"/>
              <a:gd name="connsiteY17" fmla="*/ 569548 h 606736"/>
              <a:gd name="connsiteX18" fmla="*/ 37318 w 536231"/>
              <a:gd name="connsiteY18" fmla="*/ 339081 h 606736"/>
              <a:gd name="connsiteX19" fmla="*/ 268102 w 536231"/>
              <a:gd name="connsiteY19" fmla="*/ 108614 h 606736"/>
              <a:gd name="connsiteX20" fmla="*/ 396984 w 536231"/>
              <a:gd name="connsiteY20" fmla="*/ 1809 h 606736"/>
              <a:gd name="connsiteX21" fmla="*/ 485626 w 536231"/>
              <a:gd name="connsiteY21" fmla="*/ 21426 h 606736"/>
              <a:gd name="connsiteX22" fmla="*/ 514729 w 536231"/>
              <a:gd name="connsiteY22" fmla="*/ 186448 h 606736"/>
              <a:gd name="connsiteX23" fmla="*/ 320356 w 536231"/>
              <a:gd name="connsiteY23" fmla="*/ 50574 h 606736"/>
              <a:gd name="connsiteX24" fmla="*/ 396984 w 536231"/>
              <a:gd name="connsiteY24" fmla="*/ 1809 h 606736"/>
              <a:gd name="connsiteX25" fmla="*/ 139293 w 536231"/>
              <a:gd name="connsiteY25" fmla="*/ 1809 h 606736"/>
              <a:gd name="connsiteX26" fmla="*/ 215849 w 536231"/>
              <a:gd name="connsiteY26" fmla="*/ 50574 h 606736"/>
              <a:gd name="connsiteX27" fmla="*/ 21460 w 536231"/>
              <a:gd name="connsiteY27" fmla="*/ 186448 h 606736"/>
              <a:gd name="connsiteX28" fmla="*/ 50654 w 536231"/>
              <a:gd name="connsiteY28" fmla="*/ 21426 h 606736"/>
              <a:gd name="connsiteX29" fmla="*/ 139293 w 536231"/>
              <a:gd name="connsiteY29" fmla="*/ 1809 h 606736"/>
              <a:gd name="connsiteX30" fmla="*/ 247744 w 536231"/>
              <a:gd name="connsiteY30" fmla="*/ 14 h 606736"/>
              <a:gd name="connsiteX31" fmla="*/ 288531 w 536231"/>
              <a:gd name="connsiteY31" fmla="*/ 14 h 606736"/>
              <a:gd name="connsiteX32" fmla="*/ 288531 w 536231"/>
              <a:gd name="connsiteY32" fmla="*/ 68604 h 606736"/>
              <a:gd name="connsiteX33" fmla="*/ 268138 w 536231"/>
              <a:gd name="connsiteY33" fmla="*/ 67893 h 606736"/>
              <a:gd name="connsiteX34" fmla="*/ 247744 w 536231"/>
              <a:gd name="connsiteY34" fmla="*/ 68604 h 606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36231" h="606736">
                <a:moveTo>
                  <a:pt x="440316" y="549437"/>
                </a:moveTo>
                <a:lnTo>
                  <a:pt x="464169" y="583372"/>
                </a:lnTo>
                <a:lnTo>
                  <a:pt x="430704" y="606736"/>
                </a:lnTo>
                <a:lnTo>
                  <a:pt x="406940" y="572801"/>
                </a:lnTo>
                <a:cubicBezTo>
                  <a:pt x="418689" y="565783"/>
                  <a:pt x="429814" y="557965"/>
                  <a:pt x="440316" y="549437"/>
                </a:cubicBezTo>
                <a:close/>
                <a:moveTo>
                  <a:pt x="95960" y="549437"/>
                </a:moveTo>
                <a:cubicBezTo>
                  <a:pt x="106462" y="557965"/>
                  <a:pt x="117587" y="565783"/>
                  <a:pt x="129336" y="572801"/>
                </a:cubicBezTo>
                <a:lnTo>
                  <a:pt x="105483" y="606736"/>
                </a:lnTo>
                <a:lnTo>
                  <a:pt x="72107" y="583372"/>
                </a:lnTo>
                <a:close/>
                <a:moveTo>
                  <a:pt x="246741" y="202650"/>
                </a:moveTo>
                <a:lnTo>
                  <a:pt x="246741" y="346814"/>
                </a:lnTo>
                <a:lnTo>
                  <a:pt x="348828" y="448760"/>
                </a:lnTo>
                <a:lnTo>
                  <a:pt x="377664" y="419962"/>
                </a:lnTo>
                <a:lnTo>
                  <a:pt x="287594" y="329927"/>
                </a:lnTo>
                <a:lnTo>
                  <a:pt x="287594" y="202650"/>
                </a:lnTo>
                <a:close/>
                <a:moveTo>
                  <a:pt x="268102" y="108614"/>
                </a:moveTo>
                <a:cubicBezTo>
                  <a:pt x="395554" y="108614"/>
                  <a:pt x="498886" y="211804"/>
                  <a:pt x="498886" y="339081"/>
                </a:cubicBezTo>
                <a:cubicBezTo>
                  <a:pt x="498886" y="466358"/>
                  <a:pt x="395554" y="569548"/>
                  <a:pt x="268102" y="569548"/>
                </a:cubicBezTo>
                <a:cubicBezTo>
                  <a:pt x="140650" y="569548"/>
                  <a:pt x="37318" y="466358"/>
                  <a:pt x="37318" y="339081"/>
                </a:cubicBezTo>
                <a:cubicBezTo>
                  <a:pt x="37318" y="211804"/>
                  <a:pt x="140650" y="108614"/>
                  <a:pt x="268102" y="108614"/>
                </a:cubicBezTo>
                <a:close/>
                <a:moveTo>
                  <a:pt x="396984" y="1809"/>
                </a:moveTo>
                <a:cubicBezTo>
                  <a:pt x="426887" y="-3456"/>
                  <a:pt x="458793" y="2676"/>
                  <a:pt x="485626" y="21426"/>
                </a:cubicBezTo>
                <a:cubicBezTo>
                  <a:pt x="539292" y="59016"/>
                  <a:pt x="552375" y="132863"/>
                  <a:pt x="514729" y="186448"/>
                </a:cubicBezTo>
                <a:lnTo>
                  <a:pt x="320356" y="50574"/>
                </a:lnTo>
                <a:cubicBezTo>
                  <a:pt x="339179" y="23737"/>
                  <a:pt x="367080" y="7075"/>
                  <a:pt x="396984" y="1809"/>
                </a:cubicBezTo>
                <a:close/>
                <a:moveTo>
                  <a:pt x="139293" y="1809"/>
                </a:moveTo>
                <a:cubicBezTo>
                  <a:pt x="169188" y="7075"/>
                  <a:pt x="197069" y="23737"/>
                  <a:pt x="215849" y="50574"/>
                </a:cubicBezTo>
                <a:lnTo>
                  <a:pt x="21460" y="186448"/>
                </a:lnTo>
                <a:cubicBezTo>
                  <a:pt x="-16100" y="132863"/>
                  <a:pt x="-3105" y="58927"/>
                  <a:pt x="50654" y="21426"/>
                </a:cubicBezTo>
                <a:cubicBezTo>
                  <a:pt x="77489" y="2676"/>
                  <a:pt x="109398" y="-3456"/>
                  <a:pt x="139293" y="1809"/>
                </a:cubicBezTo>
                <a:close/>
                <a:moveTo>
                  <a:pt x="247744" y="14"/>
                </a:moveTo>
                <a:lnTo>
                  <a:pt x="288531" y="14"/>
                </a:lnTo>
                <a:lnTo>
                  <a:pt x="288531" y="68604"/>
                </a:lnTo>
                <a:cubicBezTo>
                  <a:pt x="281852" y="68160"/>
                  <a:pt x="274995" y="67893"/>
                  <a:pt x="268138" y="67893"/>
                </a:cubicBezTo>
                <a:cubicBezTo>
                  <a:pt x="261280" y="67893"/>
                  <a:pt x="254512" y="68160"/>
                  <a:pt x="247744" y="6860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928893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WPP_GENERATETEXT" val="1"/>
</p:tagLst>
</file>

<file path=ppt/tags/tag2.xml><?xml version="1.0" encoding="utf-8"?>
<p:tagLst xmlns:a="http://schemas.openxmlformats.org/drawingml/2006/main" xmlns:r="http://schemas.openxmlformats.org/officeDocument/2006/relationships" xmlns:p="http://schemas.openxmlformats.org/presentationml/2006/main">
  <p:tag name="WPP_GENERATETEXT"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WPP_GENERATETEXT" val="1"/>
</p:tagLst>
</file>

<file path=ppt/tags/tag9.xml><?xml version="1.0" encoding="utf-8"?>
<p:tagLst xmlns:a="http://schemas.openxmlformats.org/drawingml/2006/main" xmlns:r="http://schemas.openxmlformats.org/officeDocument/2006/relationships" xmlns:p="http://schemas.openxmlformats.org/presentationml/2006/main">
  <p:tag name="WPP_GENERATETEXT" val="1"/>
</p:tagLst>
</file>

<file path=ppt/theme/theme1.xml><?xml version="1.0" encoding="utf-8"?>
<a:theme xmlns:a="http://schemas.openxmlformats.org/drawingml/2006/main" name="Office 主题​​">
  <a:themeElements>
    <a:clrScheme name="自定义 67">
      <a:dk1>
        <a:sysClr val="windowText" lastClr="000000"/>
      </a:dk1>
      <a:lt1>
        <a:sysClr val="window" lastClr="FFFFFF"/>
      </a:lt1>
      <a:dk2>
        <a:srgbClr val="44546A"/>
      </a:dk2>
      <a:lt2>
        <a:srgbClr val="E7E6E6"/>
      </a:lt2>
      <a:accent1>
        <a:srgbClr val="911D22"/>
      </a:accent1>
      <a:accent2>
        <a:srgbClr val="DC9090"/>
      </a:accent2>
      <a:accent3>
        <a:srgbClr val="F3C5C7"/>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5" id="{155595E4-B6C9-43FA-8F66-D514507D5E1C}" vid="{C19EAAD9-8615-4479-80EE-9CA0F401BEA5}"/>
    </a:ext>
  </a:extLst>
</a:theme>
</file>

<file path=docProps/app.xml><?xml version="1.0" encoding="utf-8"?>
<Properties xmlns="http://schemas.openxmlformats.org/officeDocument/2006/extended-properties" xmlns:vt="http://schemas.openxmlformats.org/officeDocument/2006/docPropsVTypes">
  <Template>空白-母钉板</Template>
  <TotalTime>5765</TotalTime>
  <Words>2247</Words>
  <Application>Microsoft Office PowerPoint</Application>
  <PresentationFormat>宽屏</PresentationFormat>
  <Paragraphs>339</Paragraphs>
  <Slides>24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OPPOSans M</vt:lpstr>
      <vt:lpstr>Roboto</vt:lpstr>
      <vt:lpstr>等线</vt:lpstr>
      <vt:lpstr>等线 Light</vt:lpstr>
      <vt:lpstr>思源黑体 CN Bold</vt:lpstr>
      <vt:lpstr>思源黑体 CN Heavy</vt:lpstr>
      <vt:lpstr>思源黑体 CN Regular</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荣标 徐</dc:creator>
  <cp:lastModifiedBy>荣标 徐</cp:lastModifiedBy>
  <cp:revision>495</cp:revision>
  <dcterms:created xsi:type="dcterms:W3CDTF">2025-12-29T13:01:08Z</dcterms:created>
  <dcterms:modified xsi:type="dcterms:W3CDTF">2026-01-15T03:14:04Z</dcterms:modified>
</cp:coreProperties>
</file>