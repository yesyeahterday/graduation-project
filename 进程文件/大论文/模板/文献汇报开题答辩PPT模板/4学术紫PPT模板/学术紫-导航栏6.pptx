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wdp" ContentType="image/vnd.ms-photo"/>
  <Default Extension="xlsx" ContentType="application/vnd.openxmlformats-officedocument.spreadsheetml.sheet"/>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charts/chart2.xml" ContentType="application/vnd.openxmlformats-officedocument.drawingml.chart+xml"/>
  <Override PartName="/ppt/charts/style2.xml" ContentType="application/vnd.ms-office.chartstyle+xml"/>
  <Override PartName="/ppt/charts/colors2.xml" ContentType="application/vnd.ms-office.chartcolorstyle+xml"/>
  <Override PartName="/ppt/charts/chart3.xml" ContentType="application/vnd.openxmlformats-officedocument.drawingml.chart+xml"/>
  <Override PartName="/ppt/charts/style3.xml" ContentType="application/vnd.ms-office.chartstyle+xml"/>
  <Override PartName="/ppt/charts/colors3.xml" ContentType="application/vnd.ms-office.chartcolorstyle+xml"/>
  <Override PartName="/ppt/charts/chart4.xml" ContentType="application/vnd.openxmlformats-officedocument.drawingml.chart+xml"/>
  <Override PartName="/ppt/charts/style4.xml" ContentType="application/vnd.ms-office.chartstyle+xml"/>
  <Override PartName="/ppt/charts/colors4.xml" ContentType="application/vnd.ms-office.chartcolorstyle+xml"/>
  <Override PartName="/ppt/charts/chart5.xml" ContentType="application/vnd.openxmlformats-officedocument.drawingml.chart+xml"/>
  <Override PartName="/ppt/charts/style5.xml" ContentType="application/vnd.ms-office.chartstyle+xml"/>
  <Override PartName="/ppt/charts/colors5.xml" ContentType="application/vnd.ms-office.chartcolorstyle+xml"/>
  <Override PartName="/ppt/charts/chart6.xml" ContentType="application/vnd.openxmlformats-officedocument.drawingml.chart+xml"/>
  <Override PartName="/ppt/charts/style6.xml" ContentType="application/vnd.ms-office.chartstyle+xml"/>
  <Override PartName="/ppt/charts/colors6.xml" ContentType="application/vnd.ms-office.chartcolorstyl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314" r:id="rId2"/>
    <p:sldId id="315" r:id="rId3"/>
    <p:sldId id="276" r:id="rId4"/>
    <p:sldId id="313" r:id="rId5"/>
    <p:sldId id="274" r:id="rId6"/>
    <p:sldId id="275" r:id="rId7"/>
    <p:sldId id="316" r:id="rId8"/>
    <p:sldId id="257" r:id="rId9"/>
    <p:sldId id="258" r:id="rId10"/>
    <p:sldId id="259" r:id="rId11"/>
    <p:sldId id="260" r:id="rId12"/>
    <p:sldId id="261" r:id="rId13"/>
    <p:sldId id="263" r:id="rId14"/>
    <p:sldId id="262" r:id="rId15"/>
    <p:sldId id="264" r:id="rId16"/>
    <p:sldId id="265" r:id="rId17"/>
    <p:sldId id="266" r:id="rId18"/>
    <p:sldId id="267" r:id="rId19"/>
    <p:sldId id="269" r:id="rId20"/>
    <p:sldId id="268" r:id="rId21"/>
    <p:sldId id="270" r:id="rId22"/>
    <p:sldId id="271" r:id="rId23"/>
    <p:sldId id="272" r:id="rId24"/>
    <p:sldId id="273" r:id="rId25"/>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pos="166" userDrawn="1">
          <p15:clr>
            <a:srgbClr val="A4A3A4"/>
          </p15:clr>
        </p15:guide>
        <p15:guide id="2" pos="7514" userDrawn="1">
          <p15:clr>
            <a:srgbClr val="A4A3A4"/>
          </p15:clr>
        </p15:guide>
        <p15:guide id="3" orient="horz" pos="4156" userDrawn="1">
          <p15:clr>
            <a:srgbClr val="A4A3A4"/>
          </p15:clr>
        </p15:guide>
        <p15:guide id="4" pos="7310" userDrawn="1">
          <p15:clr>
            <a:srgbClr val="A4A3A4"/>
          </p15:clr>
        </p15:guide>
        <p15:guide id="5" pos="37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3C5C7"/>
    <a:srgbClr val="911D22"/>
    <a:srgbClr val="DC9090"/>
    <a:srgbClr val="009A48"/>
    <a:srgbClr val="D51A18"/>
    <a:srgbClr val="93070A"/>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860" autoAdjust="0"/>
    <p:restoredTop sz="94660"/>
  </p:normalViewPr>
  <p:slideViewPr>
    <p:cSldViewPr snapToGrid="0" showGuides="1">
      <p:cViewPr varScale="1">
        <p:scale>
          <a:sx n="103" d="100"/>
          <a:sy n="103" d="100"/>
        </p:scale>
        <p:origin x="2160" y="82"/>
      </p:cViewPr>
      <p:guideLst>
        <p:guide pos="166"/>
        <p:guide pos="7514"/>
        <p:guide orient="horz" pos="4156"/>
        <p:guide pos="7310"/>
        <p:guide pos="37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viewProps" Target="viewProps.xml"/></Relationships>
</file>

<file path=ppt/charts/_rels/chart1.xml.rels><?xml version="1.0" encoding="UTF-8" standalone="yes"?>
<Relationships xmlns="http://schemas.openxmlformats.org/package/2006/relationships"><Relationship Id="rId3" Type="http://schemas.openxmlformats.org/officeDocument/2006/relationships/package" Target="../embeddings/Microsoft_Excel_Worksheet.xlsx"/><Relationship Id="rId2" Type="http://schemas.microsoft.com/office/2011/relationships/chartColorStyle" Target="colors1.xml"/><Relationship Id="rId1" Type="http://schemas.microsoft.com/office/2011/relationships/chartStyle" Target="style1.xml"/></Relationships>
</file>

<file path=ppt/charts/_rels/chart2.xml.rels><?xml version="1.0" encoding="UTF-8" standalone="yes"?>
<Relationships xmlns="http://schemas.openxmlformats.org/package/2006/relationships"><Relationship Id="rId3" Type="http://schemas.openxmlformats.org/officeDocument/2006/relationships/package" Target="../embeddings/Microsoft_Excel_Worksheet1.xlsx"/><Relationship Id="rId2" Type="http://schemas.microsoft.com/office/2011/relationships/chartColorStyle" Target="colors2.xml"/><Relationship Id="rId1" Type="http://schemas.microsoft.com/office/2011/relationships/chartStyle" Target="style2.xml"/></Relationships>
</file>

<file path=ppt/charts/_rels/chart3.xml.rels><?xml version="1.0" encoding="UTF-8" standalone="yes"?>
<Relationships xmlns="http://schemas.openxmlformats.org/package/2006/relationships"><Relationship Id="rId3" Type="http://schemas.openxmlformats.org/officeDocument/2006/relationships/package" Target="../embeddings/Microsoft_Excel_Worksheet2.xlsx"/><Relationship Id="rId2" Type="http://schemas.microsoft.com/office/2011/relationships/chartColorStyle" Target="colors3.xml"/><Relationship Id="rId1" Type="http://schemas.microsoft.com/office/2011/relationships/chartStyle" Target="style3.xml"/></Relationships>
</file>

<file path=ppt/charts/_rels/chart4.xml.rels><?xml version="1.0" encoding="UTF-8" standalone="yes"?>
<Relationships xmlns="http://schemas.openxmlformats.org/package/2006/relationships"><Relationship Id="rId3" Type="http://schemas.openxmlformats.org/officeDocument/2006/relationships/package" Target="../embeddings/Microsoft_Excel_Worksheet3.xlsx"/><Relationship Id="rId2" Type="http://schemas.microsoft.com/office/2011/relationships/chartColorStyle" Target="colors4.xml"/><Relationship Id="rId1" Type="http://schemas.microsoft.com/office/2011/relationships/chartStyle" Target="style4.xml"/></Relationships>
</file>

<file path=ppt/charts/_rels/chart5.xml.rels><?xml version="1.0" encoding="UTF-8" standalone="yes"?>
<Relationships xmlns="http://schemas.openxmlformats.org/package/2006/relationships"><Relationship Id="rId3" Type="http://schemas.openxmlformats.org/officeDocument/2006/relationships/package" Target="../embeddings/Microsoft_Excel_Worksheet4.xlsx"/><Relationship Id="rId2" Type="http://schemas.microsoft.com/office/2011/relationships/chartColorStyle" Target="colors5.xml"/><Relationship Id="rId1" Type="http://schemas.microsoft.com/office/2011/relationships/chartStyle" Target="style5.xml"/></Relationships>
</file>

<file path=ppt/charts/_rels/chart6.xml.rels><?xml version="1.0" encoding="UTF-8" standalone="yes"?>
<Relationships xmlns="http://schemas.openxmlformats.org/package/2006/relationships"><Relationship Id="rId3" Type="http://schemas.openxmlformats.org/officeDocument/2006/relationships/package" Target="../embeddings/Microsoft_Excel_Worksheet5.xlsx"/><Relationship Id="rId2" Type="http://schemas.microsoft.com/office/2011/relationships/chartColorStyle" Target="colors6.xml"/><Relationship Id="rId1" Type="http://schemas.microsoft.com/office/2011/relationships/chartStyle" Target="style6.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0.17184053726786122"/>
          <c:y val="3.6693393051973881E-2"/>
          <c:w val="0.71187874558144604"/>
          <c:h val="0.71588269884940792"/>
        </c:manualLayout>
      </c:layout>
      <c:lineChart>
        <c:grouping val="standard"/>
        <c:varyColors val="0"/>
        <c:ser>
          <c:idx val="0"/>
          <c:order val="0"/>
          <c:tx>
            <c:strRef>
              <c:f>Sheet1!$B$1</c:f>
              <c:strCache>
                <c:ptCount val="1"/>
                <c:pt idx="0">
                  <c:v>shNMT1#2</c:v>
                </c:pt>
              </c:strCache>
            </c:strRef>
          </c:tx>
          <c:spPr>
            <a:ln w="22225" cap="rnd">
              <a:solidFill>
                <a:srgbClr val="D51A18"/>
              </a:solidFill>
              <a:round/>
            </a:ln>
            <a:effectLst/>
          </c:spPr>
          <c:marker>
            <c:symbol val="circle"/>
            <c:size val="5"/>
            <c:spPr>
              <a:solidFill>
                <a:schemeClr val="accent1"/>
              </a:solidFill>
              <a:ln w="9525">
                <a:solidFill>
                  <a:schemeClr val="accent1"/>
                </a:solidFill>
              </a:ln>
              <a:effectLst/>
            </c:spPr>
          </c:marker>
          <c:cat>
            <c:numRef>
              <c:f>Sheet1!$A$2:$A$7</c:f>
              <c:numCache>
                <c:formatCode>General</c:formatCode>
                <c:ptCount val="6"/>
                <c:pt idx="0">
                  <c:v>0</c:v>
                </c:pt>
                <c:pt idx="1">
                  <c:v>1</c:v>
                </c:pt>
                <c:pt idx="2">
                  <c:v>2</c:v>
                </c:pt>
                <c:pt idx="3">
                  <c:v>3</c:v>
                </c:pt>
                <c:pt idx="4">
                  <c:v>4</c:v>
                </c:pt>
                <c:pt idx="5">
                  <c:v>5</c:v>
                </c:pt>
              </c:numCache>
            </c:numRef>
          </c:cat>
          <c:val>
            <c:numRef>
              <c:f>Sheet1!$B$2:$B$7</c:f>
              <c:numCache>
                <c:formatCode>General</c:formatCode>
                <c:ptCount val="6"/>
                <c:pt idx="0">
                  <c:v>0</c:v>
                </c:pt>
                <c:pt idx="1">
                  <c:v>1</c:v>
                </c:pt>
                <c:pt idx="2">
                  <c:v>2.5</c:v>
                </c:pt>
                <c:pt idx="3">
                  <c:v>3.3</c:v>
                </c:pt>
                <c:pt idx="4">
                  <c:v>4.2</c:v>
                </c:pt>
                <c:pt idx="5">
                  <c:v>4.5</c:v>
                </c:pt>
              </c:numCache>
            </c:numRef>
          </c:val>
          <c:smooth val="0"/>
          <c:extLst>
            <c:ext xmlns:c16="http://schemas.microsoft.com/office/drawing/2014/chart" uri="{C3380CC4-5D6E-409C-BE32-E72D297353CC}">
              <c16:uniqueId val="{00000000-6E55-4D81-99FB-3C7772639494}"/>
            </c:ext>
          </c:extLst>
        </c:ser>
        <c:ser>
          <c:idx val="1"/>
          <c:order val="1"/>
          <c:tx>
            <c:strRef>
              <c:f>Sheet1!$C$1</c:f>
              <c:strCache>
                <c:ptCount val="1"/>
                <c:pt idx="0">
                  <c:v>shNMT1#1</c:v>
                </c:pt>
              </c:strCache>
            </c:strRef>
          </c:tx>
          <c:spPr>
            <a:ln w="22225" cap="rnd">
              <a:solidFill>
                <a:srgbClr val="009A48"/>
              </a:solidFill>
              <a:round/>
            </a:ln>
            <a:effectLst/>
          </c:spPr>
          <c:marker>
            <c:symbol val="circle"/>
            <c:size val="5"/>
            <c:spPr>
              <a:solidFill>
                <a:schemeClr val="accent2"/>
              </a:solidFill>
              <a:ln w="9525">
                <a:solidFill>
                  <a:schemeClr val="accent2"/>
                </a:solidFill>
              </a:ln>
              <a:effectLst/>
            </c:spPr>
          </c:marker>
          <c:cat>
            <c:numRef>
              <c:f>Sheet1!$A$2:$A$7</c:f>
              <c:numCache>
                <c:formatCode>General</c:formatCode>
                <c:ptCount val="6"/>
                <c:pt idx="0">
                  <c:v>0</c:v>
                </c:pt>
                <c:pt idx="1">
                  <c:v>1</c:v>
                </c:pt>
                <c:pt idx="2">
                  <c:v>2</c:v>
                </c:pt>
                <c:pt idx="3">
                  <c:v>3</c:v>
                </c:pt>
                <c:pt idx="4">
                  <c:v>4</c:v>
                </c:pt>
                <c:pt idx="5">
                  <c:v>5</c:v>
                </c:pt>
              </c:numCache>
            </c:numRef>
          </c:cat>
          <c:val>
            <c:numRef>
              <c:f>Sheet1!$C$2:$C$7</c:f>
              <c:numCache>
                <c:formatCode>General</c:formatCode>
                <c:ptCount val="6"/>
                <c:pt idx="0">
                  <c:v>0</c:v>
                </c:pt>
                <c:pt idx="1">
                  <c:v>1.5</c:v>
                </c:pt>
                <c:pt idx="2">
                  <c:v>3</c:v>
                </c:pt>
                <c:pt idx="3">
                  <c:v>3.5</c:v>
                </c:pt>
                <c:pt idx="4">
                  <c:v>4.2</c:v>
                </c:pt>
                <c:pt idx="5">
                  <c:v>4.5999999999999996</c:v>
                </c:pt>
              </c:numCache>
            </c:numRef>
          </c:val>
          <c:smooth val="0"/>
          <c:extLst>
            <c:ext xmlns:c16="http://schemas.microsoft.com/office/drawing/2014/chart" uri="{C3380CC4-5D6E-409C-BE32-E72D297353CC}">
              <c16:uniqueId val="{00000001-6E55-4D81-99FB-3C7772639494}"/>
            </c:ext>
          </c:extLst>
        </c:ser>
        <c:ser>
          <c:idx val="2"/>
          <c:order val="2"/>
          <c:tx>
            <c:strRef>
              <c:f>Sheet1!$D$1</c:f>
              <c:strCache>
                <c:ptCount val="1"/>
                <c:pt idx="0">
                  <c:v>shCON</c:v>
                </c:pt>
              </c:strCache>
            </c:strRef>
          </c:tx>
          <c:spPr>
            <a:ln w="22225" cap="rnd">
              <a:solidFill>
                <a:schemeClr val="tx1"/>
              </a:solidFill>
              <a:round/>
            </a:ln>
            <a:effectLst/>
          </c:spPr>
          <c:marker>
            <c:symbol val="circle"/>
            <c:size val="5"/>
            <c:spPr>
              <a:solidFill>
                <a:schemeClr val="accent3"/>
              </a:solidFill>
              <a:ln w="9525">
                <a:solidFill>
                  <a:schemeClr val="accent3"/>
                </a:solidFill>
              </a:ln>
              <a:effectLst/>
            </c:spPr>
          </c:marker>
          <c:cat>
            <c:numRef>
              <c:f>Sheet1!$A$2:$A$7</c:f>
              <c:numCache>
                <c:formatCode>General</c:formatCode>
                <c:ptCount val="6"/>
                <c:pt idx="0">
                  <c:v>0</c:v>
                </c:pt>
                <c:pt idx="1">
                  <c:v>1</c:v>
                </c:pt>
                <c:pt idx="2">
                  <c:v>2</c:v>
                </c:pt>
                <c:pt idx="3">
                  <c:v>3</c:v>
                </c:pt>
                <c:pt idx="4">
                  <c:v>4</c:v>
                </c:pt>
                <c:pt idx="5">
                  <c:v>5</c:v>
                </c:pt>
              </c:numCache>
            </c:numRef>
          </c:cat>
          <c:val>
            <c:numRef>
              <c:f>Sheet1!$D$2:$D$7</c:f>
              <c:numCache>
                <c:formatCode>General</c:formatCode>
                <c:ptCount val="6"/>
                <c:pt idx="0">
                  <c:v>0</c:v>
                </c:pt>
                <c:pt idx="1">
                  <c:v>2</c:v>
                </c:pt>
                <c:pt idx="2">
                  <c:v>3.1</c:v>
                </c:pt>
                <c:pt idx="3">
                  <c:v>4</c:v>
                </c:pt>
                <c:pt idx="4">
                  <c:v>4.4000000000000004</c:v>
                </c:pt>
                <c:pt idx="5">
                  <c:v>5</c:v>
                </c:pt>
              </c:numCache>
            </c:numRef>
          </c:val>
          <c:smooth val="0"/>
          <c:extLst>
            <c:ext xmlns:c16="http://schemas.microsoft.com/office/drawing/2014/chart" uri="{C3380CC4-5D6E-409C-BE32-E72D297353CC}">
              <c16:uniqueId val="{00000002-6E55-4D81-99FB-3C7772639494}"/>
            </c:ext>
          </c:extLst>
        </c:ser>
        <c:dLbls>
          <c:showLegendKey val="0"/>
          <c:showVal val="0"/>
          <c:showCatName val="0"/>
          <c:showSerName val="0"/>
          <c:showPercent val="0"/>
          <c:showBubbleSize val="0"/>
        </c:dLbls>
        <c:marker val="1"/>
        <c:smooth val="0"/>
        <c:axId val="1990895"/>
        <c:axId val="1991223"/>
      </c:lineChart>
      <c:catAx>
        <c:axId val="1990895"/>
        <c:scaling>
          <c:orientation val="minMax"/>
        </c:scaling>
        <c:delete val="0"/>
        <c:axPos val="b"/>
        <c:title>
          <c:tx>
            <c:rich>
              <a:bodyPr rot="0" spcFirstLastPara="1" vertOverflow="ellipsis" vert="horz" wrap="square" anchor="ctr" anchorCtr="1"/>
              <a:lstStyle/>
              <a:p>
                <a:pPr>
                  <a:defRPr sz="900" b="0" i="0" u="none" strike="noStrike" kern="1200" baseline="0">
                    <a:solidFill>
                      <a:schemeClr val="tx1"/>
                    </a:solidFill>
                    <a:latin typeface="思源黑体 CN Regular" panose="020B0500000000000000" pitchFamily="34" charset="-122"/>
                    <a:ea typeface="思源黑体 CN Regular" panose="020B0500000000000000" pitchFamily="34" charset="-122"/>
                    <a:cs typeface="+mn-cs"/>
                  </a:defRPr>
                </a:pPr>
                <a:r>
                  <a:rPr lang="en-US" altLang="zh-CN" sz="900" dirty="0"/>
                  <a:t>SK-Hep1</a:t>
                </a:r>
                <a:endParaRPr lang="zh-CN" sz="900" dirty="0"/>
              </a:p>
            </c:rich>
          </c:tx>
          <c:layout>
            <c:manualLayout>
              <c:xMode val="edge"/>
              <c:yMode val="edge"/>
              <c:x val="0.32673985132799166"/>
              <c:y val="0.87156321986478869"/>
            </c:manualLayout>
          </c:layout>
          <c:overlay val="0"/>
          <c:spPr>
            <a:noFill/>
            <a:ln>
              <a:noFill/>
            </a:ln>
            <a:effectLst/>
          </c:spPr>
          <c:txPr>
            <a:bodyPr rot="0" spcFirstLastPara="1" vertOverflow="ellipsis" vert="horz" wrap="square" anchor="ctr" anchorCtr="1"/>
            <a:lstStyle/>
            <a:p>
              <a:pPr>
                <a:defRPr sz="900" b="0" i="0" u="none" strike="noStrike" kern="1200" baseline="0">
                  <a:solidFill>
                    <a:schemeClr val="tx1"/>
                  </a:solidFill>
                  <a:latin typeface="思源黑体 CN Regular" panose="020B0500000000000000" pitchFamily="34" charset="-122"/>
                  <a:ea typeface="思源黑体 CN Regular" panose="020B0500000000000000" pitchFamily="34" charset="-122"/>
                  <a:cs typeface="+mn-cs"/>
                </a:defRPr>
              </a:pPr>
              <a:endParaRPr lang="zh-CN"/>
            </a:p>
          </c:txPr>
        </c:title>
        <c:numFmt formatCode="General" sourceLinked="1"/>
        <c:majorTickMark val="out"/>
        <c:minorTickMark val="none"/>
        <c:tickLblPos val="nextTo"/>
        <c:spPr>
          <a:noFill/>
          <a:ln w="19050" cap="flat" cmpd="sng" algn="ctr">
            <a:solidFill>
              <a:schemeClr val="tx1"/>
            </a:solidFill>
            <a:round/>
          </a:ln>
          <a:effectLst/>
        </c:spPr>
        <c:txPr>
          <a:bodyPr rot="0" spcFirstLastPara="1" vertOverflow="ellipsis" wrap="square" anchor="ctr" anchorCtr="1"/>
          <a:lstStyle/>
          <a:p>
            <a:pPr>
              <a:defRPr sz="800" b="0" i="0" u="none" strike="noStrike" kern="1200" baseline="0">
                <a:solidFill>
                  <a:schemeClr val="tx1"/>
                </a:solidFill>
                <a:latin typeface="思源黑体 CN Regular" panose="020B0500000000000000" pitchFamily="34" charset="-122"/>
                <a:ea typeface="思源黑体 CN Regular" panose="020B0500000000000000" pitchFamily="34" charset="-122"/>
                <a:cs typeface="+mn-cs"/>
              </a:defRPr>
            </a:pPr>
            <a:endParaRPr lang="zh-CN"/>
          </a:p>
        </c:txPr>
        <c:crossAx val="1991223"/>
        <c:crosses val="autoZero"/>
        <c:auto val="1"/>
        <c:lblAlgn val="ctr"/>
        <c:lblOffset val="100"/>
        <c:noMultiLvlLbl val="0"/>
      </c:catAx>
      <c:valAx>
        <c:axId val="1991223"/>
        <c:scaling>
          <c:orientation val="minMax"/>
        </c:scaling>
        <c:delete val="0"/>
        <c:axPos val="l"/>
        <c:title>
          <c:tx>
            <c:rich>
              <a:bodyPr rot="-5400000" spcFirstLastPara="1" vertOverflow="ellipsis" vert="horz" wrap="square" anchor="ctr" anchorCtr="1"/>
              <a:lstStyle/>
              <a:p>
                <a:pPr>
                  <a:defRPr sz="800" b="0" i="0" u="none" strike="noStrike" kern="1200" baseline="0">
                    <a:solidFill>
                      <a:schemeClr val="tx1"/>
                    </a:solidFill>
                    <a:latin typeface="思源黑体 CN Regular" panose="020B0500000000000000" pitchFamily="34" charset="-122"/>
                    <a:ea typeface="思源黑体 CN Regular" panose="020B0500000000000000" pitchFamily="34" charset="-122"/>
                    <a:cs typeface="+mn-cs"/>
                  </a:defRPr>
                </a:pPr>
                <a:r>
                  <a:rPr lang="en-US" sz="800" dirty="0"/>
                  <a:t>Absorbance, OD450 nm</a:t>
                </a:r>
                <a:endParaRPr lang="zh-CN" sz="800" dirty="0"/>
              </a:p>
            </c:rich>
          </c:tx>
          <c:layout>
            <c:manualLayout>
              <c:xMode val="edge"/>
              <c:yMode val="edge"/>
              <c:x val="1.7124853308414286E-3"/>
              <c:y val="0.10846679584158921"/>
            </c:manualLayout>
          </c:layout>
          <c:overlay val="0"/>
          <c:spPr>
            <a:noFill/>
            <a:ln>
              <a:noFill/>
            </a:ln>
            <a:effectLst/>
          </c:spPr>
          <c:txPr>
            <a:bodyPr rot="-5400000" spcFirstLastPara="1" vertOverflow="ellipsis" vert="horz" wrap="square" anchor="ctr" anchorCtr="1"/>
            <a:lstStyle/>
            <a:p>
              <a:pPr>
                <a:defRPr sz="800" b="0" i="0" u="none" strike="noStrike" kern="1200" baseline="0">
                  <a:solidFill>
                    <a:schemeClr val="tx1"/>
                  </a:solidFill>
                  <a:latin typeface="思源黑体 CN Regular" panose="020B0500000000000000" pitchFamily="34" charset="-122"/>
                  <a:ea typeface="思源黑体 CN Regular" panose="020B0500000000000000" pitchFamily="34" charset="-122"/>
                  <a:cs typeface="+mn-cs"/>
                </a:defRPr>
              </a:pPr>
              <a:endParaRPr lang="zh-CN"/>
            </a:p>
          </c:txPr>
        </c:title>
        <c:numFmt formatCode="General" sourceLinked="1"/>
        <c:majorTickMark val="out"/>
        <c:minorTickMark val="none"/>
        <c:tickLblPos val="nextTo"/>
        <c:spPr>
          <a:noFill/>
          <a:ln w="22225">
            <a:solidFill>
              <a:schemeClr val="tx1"/>
            </a:solidFill>
          </a:ln>
          <a:effectLst/>
        </c:spPr>
        <c:txPr>
          <a:bodyPr rot="-60000000" spcFirstLastPara="1" vertOverflow="ellipsis" vert="horz" wrap="square" anchor="ctr" anchorCtr="1"/>
          <a:lstStyle/>
          <a:p>
            <a:pPr>
              <a:defRPr sz="800" b="0" i="0" u="none" strike="noStrike" kern="1200" baseline="0">
                <a:solidFill>
                  <a:schemeClr val="tx1"/>
                </a:solidFill>
                <a:latin typeface="思源黑体 CN Regular" panose="020B0500000000000000" pitchFamily="34" charset="-122"/>
                <a:ea typeface="思源黑体 CN Regular" panose="020B0500000000000000" pitchFamily="34" charset="-122"/>
                <a:cs typeface="+mn-cs"/>
              </a:defRPr>
            </a:pPr>
            <a:endParaRPr lang="zh-CN"/>
          </a:p>
        </c:txPr>
        <c:crossAx val="1990895"/>
        <c:crosses val="autoZero"/>
        <c:crossBetween val="midCat"/>
      </c:valAx>
      <c:spPr>
        <a:solidFill>
          <a:schemeClr val="bg1"/>
        </a:solidFill>
        <a:ln>
          <a:noFill/>
        </a:ln>
        <a:effectLst/>
      </c:spPr>
    </c:plotArea>
    <c:legend>
      <c:legendPos val="r"/>
      <c:layout>
        <c:manualLayout>
          <c:xMode val="edge"/>
          <c:yMode val="edge"/>
          <c:x val="0.21663258885340184"/>
          <c:y val="2.7579323864472503E-3"/>
          <c:w val="0.78336741114659814"/>
          <c:h val="0.15050110916845977"/>
        </c:manualLayout>
      </c:layout>
      <c:overlay val="0"/>
      <c:spPr>
        <a:noFill/>
        <a:ln w="25400">
          <a:noFill/>
        </a:ln>
        <a:effectLst/>
      </c:spPr>
      <c:txPr>
        <a:bodyPr rot="0" spcFirstLastPara="1" vertOverflow="ellipsis" vert="horz" wrap="square" anchor="ctr" anchorCtr="1"/>
        <a:lstStyle/>
        <a:p>
          <a:pPr>
            <a:defRPr sz="700" b="0" i="0" u="none" strike="noStrike" kern="1200" baseline="0">
              <a:solidFill>
                <a:schemeClr val="tx1"/>
              </a:solidFill>
              <a:latin typeface="思源黑体 CN Regular" panose="020B0500000000000000" pitchFamily="34" charset="-122"/>
              <a:ea typeface="思源黑体 CN Regular" panose="020B0500000000000000" pitchFamily="34" charset="-122"/>
              <a:cs typeface="+mn-cs"/>
            </a:defRPr>
          </a:pPr>
          <a:endParaRPr lang="zh-CN"/>
        </a:p>
      </c:txPr>
    </c:legend>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solidFill>
            <a:schemeClr val="tx1"/>
          </a:solidFill>
          <a:latin typeface="思源黑体 CN Regular" panose="020B0500000000000000" pitchFamily="34" charset="-122"/>
          <a:ea typeface="思源黑体 CN Regular" panose="020B0500000000000000" pitchFamily="34" charset="-122"/>
        </a:defRPr>
      </a:pPr>
      <a:endParaRPr lang="zh-CN"/>
    </a:p>
  </c:txPr>
  <c:externalData r:id="rId3">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0.17184053726786122"/>
          <c:y val="3.6693393051973881E-2"/>
          <c:w val="0.7237440842644588"/>
          <c:h val="0.72357390247432685"/>
        </c:manualLayout>
      </c:layout>
      <c:lineChart>
        <c:grouping val="standard"/>
        <c:varyColors val="0"/>
        <c:ser>
          <c:idx val="0"/>
          <c:order val="0"/>
          <c:tx>
            <c:strRef>
              <c:f>Sheet1!$B$1</c:f>
              <c:strCache>
                <c:ptCount val="1"/>
                <c:pt idx="0">
                  <c:v>shNMT1#2</c:v>
                </c:pt>
              </c:strCache>
            </c:strRef>
          </c:tx>
          <c:spPr>
            <a:ln w="22225" cap="rnd">
              <a:solidFill>
                <a:srgbClr val="D51A18"/>
              </a:solidFill>
              <a:round/>
            </a:ln>
            <a:effectLst/>
          </c:spPr>
          <c:marker>
            <c:symbol val="circle"/>
            <c:size val="5"/>
            <c:spPr>
              <a:solidFill>
                <a:schemeClr val="accent1"/>
              </a:solidFill>
              <a:ln w="9525">
                <a:solidFill>
                  <a:schemeClr val="accent1"/>
                </a:solidFill>
              </a:ln>
              <a:effectLst/>
            </c:spPr>
          </c:marker>
          <c:cat>
            <c:numRef>
              <c:f>Sheet1!$A$2:$A$7</c:f>
              <c:numCache>
                <c:formatCode>General</c:formatCode>
                <c:ptCount val="6"/>
                <c:pt idx="0">
                  <c:v>0</c:v>
                </c:pt>
                <c:pt idx="1">
                  <c:v>1</c:v>
                </c:pt>
                <c:pt idx="2">
                  <c:v>2</c:v>
                </c:pt>
                <c:pt idx="3">
                  <c:v>3</c:v>
                </c:pt>
                <c:pt idx="4">
                  <c:v>4</c:v>
                </c:pt>
                <c:pt idx="5">
                  <c:v>5</c:v>
                </c:pt>
              </c:numCache>
            </c:numRef>
          </c:cat>
          <c:val>
            <c:numRef>
              <c:f>Sheet1!$B$2:$B$7</c:f>
              <c:numCache>
                <c:formatCode>General</c:formatCode>
                <c:ptCount val="6"/>
                <c:pt idx="0">
                  <c:v>0</c:v>
                </c:pt>
                <c:pt idx="1">
                  <c:v>1</c:v>
                </c:pt>
                <c:pt idx="2">
                  <c:v>3</c:v>
                </c:pt>
                <c:pt idx="3">
                  <c:v>3.3</c:v>
                </c:pt>
                <c:pt idx="4">
                  <c:v>4</c:v>
                </c:pt>
                <c:pt idx="5">
                  <c:v>4.5</c:v>
                </c:pt>
              </c:numCache>
            </c:numRef>
          </c:val>
          <c:smooth val="0"/>
          <c:extLst>
            <c:ext xmlns:c16="http://schemas.microsoft.com/office/drawing/2014/chart" uri="{C3380CC4-5D6E-409C-BE32-E72D297353CC}">
              <c16:uniqueId val="{00000000-6E55-4D81-99FB-3C7772639494}"/>
            </c:ext>
          </c:extLst>
        </c:ser>
        <c:ser>
          <c:idx val="1"/>
          <c:order val="1"/>
          <c:tx>
            <c:strRef>
              <c:f>Sheet1!$C$1</c:f>
              <c:strCache>
                <c:ptCount val="1"/>
                <c:pt idx="0">
                  <c:v>shNMT1#1</c:v>
                </c:pt>
              </c:strCache>
            </c:strRef>
          </c:tx>
          <c:spPr>
            <a:ln w="22225" cap="rnd">
              <a:solidFill>
                <a:srgbClr val="009A48"/>
              </a:solidFill>
              <a:round/>
            </a:ln>
            <a:effectLst/>
          </c:spPr>
          <c:marker>
            <c:symbol val="circle"/>
            <c:size val="5"/>
            <c:spPr>
              <a:solidFill>
                <a:schemeClr val="accent2"/>
              </a:solidFill>
              <a:ln w="9525">
                <a:solidFill>
                  <a:schemeClr val="accent2"/>
                </a:solidFill>
              </a:ln>
              <a:effectLst/>
            </c:spPr>
          </c:marker>
          <c:cat>
            <c:numRef>
              <c:f>Sheet1!$A$2:$A$7</c:f>
              <c:numCache>
                <c:formatCode>General</c:formatCode>
                <c:ptCount val="6"/>
                <c:pt idx="0">
                  <c:v>0</c:v>
                </c:pt>
                <c:pt idx="1">
                  <c:v>1</c:v>
                </c:pt>
                <c:pt idx="2">
                  <c:v>2</c:v>
                </c:pt>
                <c:pt idx="3">
                  <c:v>3</c:v>
                </c:pt>
                <c:pt idx="4">
                  <c:v>4</c:v>
                </c:pt>
                <c:pt idx="5">
                  <c:v>5</c:v>
                </c:pt>
              </c:numCache>
            </c:numRef>
          </c:cat>
          <c:val>
            <c:numRef>
              <c:f>Sheet1!$C$2:$C$7</c:f>
              <c:numCache>
                <c:formatCode>General</c:formatCode>
                <c:ptCount val="6"/>
                <c:pt idx="0">
                  <c:v>0</c:v>
                </c:pt>
                <c:pt idx="1">
                  <c:v>3</c:v>
                </c:pt>
                <c:pt idx="2">
                  <c:v>3</c:v>
                </c:pt>
                <c:pt idx="3">
                  <c:v>2</c:v>
                </c:pt>
                <c:pt idx="4">
                  <c:v>3</c:v>
                </c:pt>
                <c:pt idx="5">
                  <c:v>4</c:v>
                </c:pt>
              </c:numCache>
            </c:numRef>
          </c:val>
          <c:smooth val="0"/>
          <c:extLst>
            <c:ext xmlns:c16="http://schemas.microsoft.com/office/drawing/2014/chart" uri="{C3380CC4-5D6E-409C-BE32-E72D297353CC}">
              <c16:uniqueId val="{00000001-6E55-4D81-99FB-3C7772639494}"/>
            </c:ext>
          </c:extLst>
        </c:ser>
        <c:ser>
          <c:idx val="2"/>
          <c:order val="2"/>
          <c:tx>
            <c:strRef>
              <c:f>Sheet1!$D$1</c:f>
              <c:strCache>
                <c:ptCount val="1"/>
                <c:pt idx="0">
                  <c:v>shCON</c:v>
                </c:pt>
              </c:strCache>
            </c:strRef>
          </c:tx>
          <c:spPr>
            <a:ln w="22225" cap="rnd">
              <a:solidFill>
                <a:schemeClr val="tx1"/>
              </a:solidFill>
              <a:round/>
            </a:ln>
            <a:effectLst/>
          </c:spPr>
          <c:marker>
            <c:symbol val="circle"/>
            <c:size val="5"/>
            <c:spPr>
              <a:solidFill>
                <a:schemeClr val="accent3"/>
              </a:solidFill>
              <a:ln w="9525">
                <a:solidFill>
                  <a:schemeClr val="accent3"/>
                </a:solidFill>
              </a:ln>
              <a:effectLst/>
            </c:spPr>
          </c:marker>
          <c:cat>
            <c:numRef>
              <c:f>Sheet1!$A$2:$A$7</c:f>
              <c:numCache>
                <c:formatCode>General</c:formatCode>
                <c:ptCount val="6"/>
                <c:pt idx="0">
                  <c:v>0</c:v>
                </c:pt>
                <c:pt idx="1">
                  <c:v>1</c:v>
                </c:pt>
                <c:pt idx="2">
                  <c:v>2</c:v>
                </c:pt>
                <c:pt idx="3">
                  <c:v>3</c:v>
                </c:pt>
                <c:pt idx="4">
                  <c:v>4</c:v>
                </c:pt>
                <c:pt idx="5">
                  <c:v>5</c:v>
                </c:pt>
              </c:numCache>
            </c:numRef>
          </c:cat>
          <c:val>
            <c:numRef>
              <c:f>Sheet1!$D$2:$D$7</c:f>
              <c:numCache>
                <c:formatCode>General</c:formatCode>
                <c:ptCount val="6"/>
                <c:pt idx="0">
                  <c:v>0</c:v>
                </c:pt>
                <c:pt idx="1">
                  <c:v>2</c:v>
                </c:pt>
                <c:pt idx="2">
                  <c:v>3.1</c:v>
                </c:pt>
                <c:pt idx="3">
                  <c:v>3</c:v>
                </c:pt>
                <c:pt idx="4">
                  <c:v>2</c:v>
                </c:pt>
                <c:pt idx="5">
                  <c:v>5</c:v>
                </c:pt>
              </c:numCache>
            </c:numRef>
          </c:val>
          <c:smooth val="0"/>
          <c:extLst>
            <c:ext xmlns:c16="http://schemas.microsoft.com/office/drawing/2014/chart" uri="{C3380CC4-5D6E-409C-BE32-E72D297353CC}">
              <c16:uniqueId val="{00000002-6E55-4D81-99FB-3C7772639494}"/>
            </c:ext>
          </c:extLst>
        </c:ser>
        <c:dLbls>
          <c:showLegendKey val="0"/>
          <c:showVal val="0"/>
          <c:showCatName val="0"/>
          <c:showSerName val="0"/>
          <c:showPercent val="0"/>
          <c:showBubbleSize val="0"/>
        </c:dLbls>
        <c:marker val="1"/>
        <c:smooth val="0"/>
        <c:axId val="1990895"/>
        <c:axId val="1991223"/>
      </c:lineChart>
      <c:catAx>
        <c:axId val="1990895"/>
        <c:scaling>
          <c:orientation val="minMax"/>
        </c:scaling>
        <c:delete val="0"/>
        <c:axPos val="b"/>
        <c:title>
          <c:tx>
            <c:rich>
              <a:bodyPr rot="0" spcFirstLastPara="1" vertOverflow="ellipsis" vert="horz" wrap="square" anchor="ctr" anchorCtr="1"/>
              <a:lstStyle/>
              <a:p>
                <a:pPr algn="ctr">
                  <a:defRPr sz="900" b="0" i="0" u="none" strike="noStrike" kern="1200" baseline="0">
                    <a:solidFill>
                      <a:schemeClr val="tx1"/>
                    </a:solidFill>
                    <a:latin typeface="思源黑体 CN Regular" panose="020B0500000000000000" pitchFamily="34" charset="-122"/>
                    <a:ea typeface="思源黑体 CN Regular" panose="020B0500000000000000" pitchFamily="34" charset="-122"/>
                    <a:cs typeface="+mn-cs"/>
                  </a:defRPr>
                </a:pPr>
                <a:r>
                  <a:rPr lang="en-US" sz="900" dirty="0"/>
                  <a:t>Hep3B</a:t>
                </a:r>
                <a:endParaRPr lang="zh-CN" sz="900" dirty="0"/>
              </a:p>
            </c:rich>
          </c:tx>
          <c:layout>
            <c:manualLayout>
              <c:xMode val="edge"/>
              <c:yMode val="edge"/>
              <c:x val="0.35227312480221767"/>
              <c:y val="0.87156321986478869"/>
            </c:manualLayout>
          </c:layout>
          <c:overlay val="0"/>
          <c:spPr>
            <a:noFill/>
            <a:ln>
              <a:noFill/>
            </a:ln>
            <a:effectLst/>
          </c:spPr>
          <c:txPr>
            <a:bodyPr rot="0" spcFirstLastPara="1" vertOverflow="ellipsis" vert="horz" wrap="square" anchor="ctr" anchorCtr="1"/>
            <a:lstStyle/>
            <a:p>
              <a:pPr algn="ctr">
                <a:defRPr sz="900" b="0" i="0" u="none" strike="noStrike" kern="1200" baseline="0">
                  <a:solidFill>
                    <a:schemeClr val="tx1"/>
                  </a:solidFill>
                  <a:latin typeface="思源黑体 CN Regular" panose="020B0500000000000000" pitchFamily="34" charset="-122"/>
                  <a:ea typeface="思源黑体 CN Regular" panose="020B0500000000000000" pitchFamily="34" charset="-122"/>
                  <a:cs typeface="+mn-cs"/>
                </a:defRPr>
              </a:pPr>
              <a:endParaRPr lang="zh-CN"/>
            </a:p>
          </c:txPr>
        </c:title>
        <c:numFmt formatCode="General" sourceLinked="1"/>
        <c:majorTickMark val="out"/>
        <c:minorTickMark val="none"/>
        <c:tickLblPos val="nextTo"/>
        <c:spPr>
          <a:noFill/>
          <a:ln w="19050" cap="flat" cmpd="sng" algn="ctr">
            <a:solidFill>
              <a:schemeClr val="tx1"/>
            </a:solidFill>
            <a:round/>
          </a:ln>
          <a:effectLst/>
        </c:spPr>
        <c:txPr>
          <a:bodyPr rot="0" spcFirstLastPara="1" vertOverflow="ellipsis" wrap="square" anchor="ctr" anchorCtr="1"/>
          <a:lstStyle/>
          <a:p>
            <a:pPr>
              <a:defRPr sz="800" b="0" i="0" u="none" strike="noStrike" kern="1200" baseline="0">
                <a:solidFill>
                  <a:schemeClr val="tx1"/>
                </a:solidFill>
                <a:latin typeface="思源黑体 CN Regular" panose="020B0500000000000000" pitchFamily="34" charset="-122"/>
                <a:ea typeface="思源黑体 CN Regular" panose="020B0500000000000000" pitchFamily="34" charset="-122"/>
                <a:cs typeface="+mn-cs"/>
              </a:defRPr>
            </a:pPr>
            <a:endParaRPr lang="zh-CN"/>
          </a:p>
        </c:txPr>
        <c:crossAx val="1991223"/>
        <c:crosses val="autoZero"/>
        <c:auto val="1"/>
        <c:lblAlgn val="ctr"/>
        <c:lblOffset val="100"/>
        <c:noMultiLvlLbl val="0"/>
      </c:catAx>
      <c:valAx>
        <c:axId val="1991223"/>
        <c:scaling>
          <c:orientation val="minMax"/>
        </c:scaling>
        <c:delete val="0"/>
        <c:axPos val="l"/>
        <c:title>
          <c:tx>
            <c:rich>
              <a:bodyPr rot="-5400000" spcFirstLastPara="1" vertOverflow="ellipsis" vert="horz" wrap="square" anchor="ctr" anchorCtr="1"/>
              <a:lstStyle/>
              <a:p>
                <a:pPr>
                  <a:defRPr sz="800" b="0" i="0" u="none" strike="noStrike" kern="1200" baseline="0">
                    <a:solidFill>
                      <a:schemeClr val="tx1"/>
                    </a:solidFill>
                    <a:latin typeface="思源黑体 CN Regular" panose="020B0500000000000000" pitchFamily="34" charset="-122"/>
                    <a:ea typeface="思源黑体 CN Regular" panose="020B0500000000000000" pitchFamily="34" charset="-122"/>
                    <a:cs typeface="+mn-cs"/>
                  </a:defRPr>
                </a:pPr>
                <a:r>
                  <a:rPr lang="en-US" sz="800" dirty="0"/>
                  <a:t>Absorbance, OD450 nm</a:t>
                </a:r>
                <a:endParaRPr lang="zh-CN" sz="800" dirty="0"/>
              </a:p>
            </c:rich>
          </c:tx>
          <c:layout>
            <c:manualLayout>
              <c:xMode val="edge"/>
              <c:yMode val="edge"/>
              <c:x val="1.7124853308414286E-3"/>
              <c:y val="0.10846679584158921"/>
            </c:manualLayout>
          </c:layout>
          <c:overlay val="0"/>
          <c:spPr>
            <a:noFill/>
            <a:ln>
              <a:noFill/>
            </a:ln>
            <a:effectLst/>
          </c:spPr>
          <c:txPr>
            <a:bodyPr rot="-5400000" spcFirstLastPara="1" vertOverflow="ellipsis" vert="horz" wrap="square" anchor="ctr" anchorCtr="1"/>
            <a:lstStyle/>
            <a:p>
              <a:pPr>
                <a:defRPr sz="800" b="0" i="0" u="none" strike="noStrike" kern="1200" baseline="0">
                  <a:solidFill>
                    <a:schemeClr val="tx1"/>
                  </a:solidFill>
                  <a:latin typeface="思源黑体 CN Regular" panose="020B0500000000000000" pitchFamily="34" charset="-122"/>
                  <a:ea typeface="思源黑体 CN Regular" panose="020B0500000000000000" pitchFamily="34" charset="-122"/>
                  <a:cs typeface="+mn-cs"/>
                </a:defRPr>
              </a:pPr>
              <a:endParaRPr lang="zh-CN"/>
            </a:p>
          </c:txPr>
        </c:title>
        <c:numFmt formatCode="General" sourceLinked="1"/>
        <c:majorTickMark val="out"/>
        <c:minorTickMark val="none"/>
        <c:tickLblPos val="nextTo"/>
        <c:spPr>
          <a:noFill/>
          <a:ln w="22225">
            <a:solidFill>
              <a:schemeClr val="tx1"/>
            </a:solidFill>
          </a:ln>
          <a:effectLst/>
        </c:spPr>
        <c:txPr>
          <a:bodyPr rot="-60000000" spcFirstLastPara="1" vertOverflow="ellipsis" vert="horz" wrap="square" anchor="ctr" anchorCtr="1"/>
          <a:lstStyle/>
          <a:p>
            <a:pPr>
              <a:defRPr sz="800" b="0" i="0" u="none" strike="noStrike" kern="1200" baseline="0">
                <a:solidFill>
                  <a:schemeClr val="tx1"/>
                </a:solidFill>
                <a:latin typeface="思源黑体 CN Regular" panose="020B0500000000000000" pitchFamily="34" charset="-122"/>
                <a:ea typeface="思源黑体 CN Regular" panose="020B0500000000000000" pitchFamily="34" charset="-122"/>
                <a:cs typeface="+mn-cs"/>
              </a:defRPr>
            </a:pPr>
            <a:endParaRPr lang="zh-CN"/>
          </a:p>
        </c:txPr>
        <c:crossAx val="1990895"/>
        <c:crosses val="autoZero"/>
        <c:crossBetween val="midCat"/>
      </c:valAx>
      <c:spPr>
        <a:solidFill>
          <a:schemeClr val="bg1"/>
        </a:solidFill>
        <a:ln>
          <a:noFill/>
        </a:ln>
        <a:effectLst/>
      </c:spPr>
    </c:plotArea>
    <c:legend>
      <c:legendPos val="r"/>
      <c:layout>
        <c:manualLayout>
          <c:xMode val="edge"/>
          <c:yMode val="edge"/>
          <c:x val="0.21663258885340184"/>
          <c:y val="2.75793238644723E-3"/>
          <c:w val="0.77743474180509176"/>
          <c:h val="0.142809905543541"/>
        </c:manualLayout>
      </c:layout>
      <c:overlay val="0"/>
      <c:spPr>
        <a:noFill/>
        <a:ln w="25400">
          <a:noFill/>
        </a:ln>
        <a:effectLst/>
      </c:spPr>
      <c:txPr>
        <a:bodyPr rot="0" spcFirstLastPara="1" vertOverflow="ellipsis" vert="horz" wrap="square" anchor="ctr" anchorCtr="1"/>
        <a:lstStyle/>
        <a:p>
          <a:pPr>
            <a:defRPr sz="700" b="0" i="0" u="none" strike="noStrike" kern="1200" baseline="0">
              <a:solidFill>
                <a:schemeClr val="tx1"/>
              </a:solidFill>
              <a:latin typeface="思源黑体 CN Regular" panose="020B0500000000000000" pitchFamily="34" charset="-122"/>
              <a:ea typeface="思源黑体 CN Regular" panose="020B0500000000000000" pitchFamily="34" charset="-122"/>
              <a:cs typeface="+mn-cs"/>
            </a:defRPr>
          </a:pPr>
          <a:endParaRPr lang="zh-CN"/>
        </a:p>
      </c:txPr>
    </c:legend>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solidFill>
            <a:schemeClr val="tx1"/>
          </a:solidFill>
          <a:latin typeface="思源黑体 CN Regular" panose="020B0500000000000000" pitchFamily="34" charset="-122"/>
          <a:ea typeface="思源黑体 CN Regular" panose="020B0500000000000000" pitchFamily="34" charset="-122"/>
        </a:defRPr>
      </a:pPr>
      <a:endParaRPr lang="zh-CN"/>
    </a:p>
  </c:txPr>
  <c:externalData r:id="rId3">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0.17184053726786122"/>
          <c:y val="3.6693393051973881E-2"/>
          <c:w val="0.71187874558144604"/>
          <c:h val="0.71588269884940792"/>
        </c:manualLayout>
      </c:layout>
      <c:lineChart>
        <c:grouping val="standard"/>
        <c:varyColors val="0"/>
        <c:ser>
          <c:idx val="0"/>
          <c:order val="0"/>
          <c:tx>
            <c:strRef>
              <c:f>Sheet1!$B$1</c:f>
              <c:strCache>
                <c:ptCount val="1"/>
                <c:pt idx="0">
                  <c:v>shNMT1#2</c:v>
                </c:pt>
              </c:strCache>
            </c:strRef>
          </c:tx>
          <c:spPr>
            <a:ln w="22225" cap="rnd">
              <a:solidFill>
                <a:srgbClr val="D51A18"/>
              </a:solidFill>
              <a:round/>
            </a:ln>
            <a:effectLst/>
          </c:spPr>
          <c:marker>
            <c:symbol val="circle"/>
            <c:size val="5"/>
            <c:spPr>
              <a:solidFill>
                <a:schemeClr val="accent1"/>
              </a:solidFill>
              <a:ln w="9525">
                <a:solidFill>
                  <a:schemeClr val="accent1"/>
                </a:solidFill>
              </a:ln>
              <a:effectLst/>
            </c:spPr>
          </c:marker>
          <c:cat>
            <c:numRef>
              <c:f>Sheet1!$A$2:$A$7</c:f>
              <c:numCache>
                <c:formatCode>General</c:formatCode>
                <c:ptCount val="6"/>
                <c:pt idx="0">
                  <c:v>0</c:v>
                </c:pt>
                <c:pt idx="1">
                  <c:v>1</c:v>
                </c:pt>
                <c:pt idx="2">
                  <c:v>2</c:v>
                </c:pt>
                <c:pt idx="3">
                  <c:v>3</c:v>
                </c:pt>
                <c:pt idx="4">
                  <c:v>4</c:v>
                </c:pt>
                <c:pt idx="5">
                  <c:v>5</c:v>
                </c:pt>
              </c:numCache>
            </c:numRef>
          </c:cat>
          <c:val>
            <c:numRef>
              <c:f>Sheet1!$B$2:$B$7</c:f>
              <c:numCache>
                <c:formatCode>General</c:formatCode>
                <c:ptCount val="6"/>
                <c:pt idx="0">
                  <c:v>2</c:v>
                </c:pt>
                <c:pt idx="1">
                  <c:v>1</c:v>
                </c:pt>
                <c:pt idx="2">
                  <c:v>2.5</c:v>
                </c:pt>
                <c:pt idx="3">
                  <c:v>3.3</c:v>
                </c:pt>
                <c:pt idx="4">
                  <c:v>4.2</c:v>
                </c:pt>
                <c:pt idx="5">
                  <c:v>4.5</c:v>
                </c:pt>
              </c:numCache>
            </c:numRef>
          </c:val>
          <c:smooth val="0"/>
          <c:extLst>
            <c:ext xmlns:c16="http://schemas.microsoft.com/office/drawing/2014/chart" uri="{C3380CC4-5D6E-409C-BE32-E72D297353CC}">
              <c16:uniqueId val="{00000000-6E55-4D81-99FB-3C7772639494}"/>
            </c:ext>
          </c:extLst>
        </c:ser>
        <c:ser>
          <c:idx val="1"/>
          <c:order val="1"/>
          <c:tx>
            <c:strRef>
              <c:f>Sheet1!$C$1</c:f>
              <c:strCache>
                <c:ptCount val="1"/>
                <c:pt idx="0">
                  <c:v>shNMT1#1</c:v>
                </c:pt>
              </c:strCache>
            </c:strRef>
          </c:tx>
          <c:spPr>
            <a:ln w="22225" cap="rnd">
              <a:solidFill>
                <a:srgbClr val="009A48"/>
              </a:solidFill>
              <a:round/>
            </a:ln>
            <a:effectLst/>
          </c:spPr>
          <c:marker>
            <c:symbol val="circle"/>
            <c:size val="5"/>
            <c:spPr>
              <a:solidFill>
                <a:schemeClr val="accent2"/>
              </a:solidFill>
              <a:ln w="9525">
                <a:solidFill>
                  <a:schemeClr val="accent2"/>
                </a:solidFill>
              </a:ln>
              <a:effectLst/>
            </c:spPr>
          </c:marker>
          <c:cat>
            <c:numRef>
              <c:f>Sheet1!$A$2:$A$7</c:f>
              <c:numCache>
                <c:formatCode>General</c:formatCode>
                <c:ptCount val="6"/>
                <c:pt idx="0">
                  <c:v>0</c:v>
                </c:pt>
                <c:pt idx="1">
                  <c:v>1</c:v>
                </c:pt>
                <c:pt idx="2">
                  <c:v>2</c:v>
                </c:pt>
                <c:pt idx="3">
                  <c:v>3</c:v>
                </c:pt>
                <c:pt idx="4">
                  <c:v>4</c:v>
                </c:pt>
                <c:pt idx="5">
                  <c:v>5</c:v>
                </c:pt>
              </c:numCache>
            </c:numRef>
          </c:cat>
          <c:val>
            <c:numRef>
              <c:f>Sheet1!$C$2:$C$7</c:f>
              <c:numCache>
                <c:formatCode>General</c:formatCode>
                <c:ptCount val="6"/>
                <c:pt idx="0">
                  <c:v>3</c:v>
                </c:pt>
                <c:pt idx="1">
                  <c:v>2</c:v>
                </c:pt>
                <c:pt idx="2">
                  <c:v>2</c:v>
                </c:pt>
                <c:pt idx="3">
                  <c:v>4</c:v>
                </c:pt>
                <c:pt idx="4">
                  <c:v>3</c:v>
                </c:pt>
                <c:pt idx="5">
                  <c:v>5</c:v>
                </c:pt>
              </c:numCache>
            </c:numRef>
          </c:val>
          <c:smooth val="0"/>
          <c:extLst>
            <c:ext xmlns:c16="http://schemas.microsoft.com/office/drawing/2014/chart" uri="{C3380CC4-5D6E-409C-BE32-E72D297353CC}">
              <c16:uniqueId val="{00000001-6E55-4D81-99FB-3C7772639494}"/>
            </c:ext>
          </c:extLst>
        </c:ser>
        <c:ser>
          <c:idx val="2"/>
          <c:order val="2"/>
          <c:tx>
            <c:strRef>
              <c:f>Sheet1!$D$1</c:f>
              <c:strCache>
                <c:ptCount val="1"/>
                <c:pt idx="0">
                  <c:v>shCON</c:v>
                </c:pt>
              </c:strCache>
            </c:strRef>
          </c:tx>
          <c:spPr>
            <a:ln w="22225" cap="rnd">
              <a:solidFill>
                <a:schemeClr val="tx1"/>
              </a:solidFill>
              <a:round/>
            </a:ln>
            <a:effectLst/>
          </c:spPr>
          <c:marker>
            <c:symbol val="circle"/>
            <c:size val="5"/>
            <c:spPr>
              <a:solidFill>
                <a:schemeClr val="accent3"/>
              </a:solidFill>
              <a:ln w="9525">
                <a:solidFill>
                  <a:schemeClr val="accent3"/>
                </a:solidFill>
              </a:ln>
              <a:effectLst/>
            </c:spPr>
          </c:marker>
          <c:cat>
            <c:numRef>
              <c:f>Sheet1!$A$2:$A$7</c:f>
              <c:numCache>
                <c:formatCode>General</c:formatCode>
                <c:ptCount val="6"/>
                <c:pt idx="0">
                  <c:v>0</c:v>
                </c:pt>
                <c:pt idx="1">
                  <c:v>1</c:v>
                </c:pt>
                <c:pt idx="2">
                  <c:v>2</c:v>
                </c:pt>
                <c:pt idx="3">
                  <c:v>3</c:v>
                </c:pt>
                <c:pt idx="4">
                  <c:v>4</c:v>
                </c:pt>
                <c:pt idx="5">
                  <c:v>5</c:v>
                </c:pt>
              </c:numCache>
            </c:numRef>
          </c:cat>
          <c:val>
            <c:numRef>
              <c:f>Sheet1!$D$2:$D$7</c:f>
              <c:numCache>
                <c:formatCode>General</c:formatCode>
                <c:ptCount val="6"/>
                <c:pt idx="0">
                  <c:v>5</c:v>
                </c:pt>
                <c:pt idx="1">
                  <c:v>4</c:v>
                </c:pt>
                <c:pt idx="2">
                  <c:v>2</c:v>
                </c:pt>
                <c:pt idx="3">
                  <c:v>3</c:v>
                </c:pt>
                <c:pt idx="4">
                  <c:v>2</c:v>
                </c:pt>
                <c:pt idx="5">
                  <c:v>1</c:v>
                </c:pt>
              </c:numCache>
            </c:numRef>
          </c:val>
          <c:smooth val="0"/>
          <c:extLst>
            <c:ext xmlns:c16="http://schemas.microsoft.com/office/drawing/2014/chart" uri="{C3380CC4-5D6E-409C-BE32-E72D297353CC}">
              <c16:uniqueId val="{00000002-6E55-4D81-99FB-3C7772639494}"/>
            </c:ext>
          </c:extLst>
        </c:ser>
        <c:dLbls>
          <c:showLegendKey val="0"/>
          <c:showVal val="0"/>
          <c:showCatName val="0"/>
          <c:showSerName val="0"/>
          <c:showPercent val="0"/>
          <c:showBubbleSize val="0"/>
        </c:dLbls>
        <c:marker val="1"/>
        <c:smooth val="0"/>
        <c:axId val="1990895"/>
        <c:axId val="1991223"/>
      </c:lineChart>
      <c:catAx>
        <c:axId val="1990895"/>
        <c:scaling>
          <c:orientation val="minMax"/>
        </c:scaling>
        <c:delete val="0"/>
        <c:axPos val="b"/>
        <c:title>
          <c:tx>
            <c:rich>
              <a:bodyPr rot="0" spcFirstLastPara="1" vertOverflow="ellipsis" vert="horz" wrap="square" anchor="ctr" anchorCtr="1"/>
              <a:lstStyle/>
              <a:p>
                <a:pPr algn="ctr">
                  <a:defRPr sz="900" b="0" i="0" u="none" strike="noStrike" kern="1200" baseline="0">
                    <a:solidFill>
                      <a:schemeClr val="tx1"/>
                    </a:solidFill>
                    <a:latin typeface="思源黑体 CN Regular" panose="020B0500000000000000" pitchFamily="34" charset="-122"/>
                    <a:ea typeface="思源黑体 CN Regular" panose="020B0500000000000000" pitchFamily="34" charset="-122"/>
                    <a:cs typeface="+mn-cs"/>
                  </a:defRPr>
                </a:pPr>
                <a:r>
                  <a:rPr lang="en-US" sz="900" dirty="0"/>
                  <a:t>Huh7</a:t>
                </a:r>
                <a:endParaRPr lang="zh-CN" sz="900" dirty="0"/>
              </a:p>
            </c:rich>
          </c:tx>
          <c:layout>
            <c:manualLayout>
              <c:xMode val="edge"/>
              <c:yMode val="edge"/>
              <c:x val="0.36759308888675324"/>
              <c:y val="0.87156321986478869"/>
            </c:manualLayout>
          </c:layout>
          <c:overlay val="0"/>
          <c:spPr>
            <a:noFill/>
            <a:ln>
              <a:noFill/>
            </a:ln>
            <a:effectLst/>
          </c:spPr>
          <c:txPr>
            <a:bodyPr rot="0" spcFirstLastPara="1" vertOverflow="ellipsis" vert="horz" wrap="square" anchor="ctr" anchorCtr="1"/>
            <a:lstStyle/>
            <a:p>
              <a:pPr algn="ctr">
                <a:defRPr sz="900" b="0" i="0" u="none" strike="noStrike" kern="1200" baseline="0">
                  <a:solidFill>
                    <a:schemeClr val="tx1"/>
                  </a:solidFill>
                  <a:latin typeface="思源黑体 CN Regular" panose="020B0500000000000000" pitchFamily="34" charset="-122"/>
                  <a:ea typeface="思源黑体 CN Regular" panose="020B0500000000000000" pitchFamily="34" charset="-122"/>
                  <a:cs typeface="+mn-cs"/>
                </a:defRPr>
              </a:pPr>
              <a:endParaRPr lang="zh-CN"/>
            </a:p>
          </c:txPr>
        </c:title>
        <c:numFmt formatCode="General" sourceLinked="1"/>
        <c:majorTickMark val="out"/>
        <c:minorTickMark val="none"/>
        <c:tickLblPos val="nextTo"/>
        <c:spPr>
          <a:noFill/>
          <a:ln w="19050" cap="flat" cmpd="sng" algn="ctr">
            <a:solidFill>
              <a:schemeClr val="tx1"/>
            </a:solidFill>
            <a:round/>
          </a:ln>
          <a:effectLst/>
        </c:spPr>
        <c:txPr>
          <a:bodyPr rot="0" spcFirstLastPara="1" vertOverflow="ellipsis" wrap="square" anchor="ctr" anchorCtr="1"/>
          <a:lstStyle/>
          <a:p>
            <a:pPr>
              <a:defRPr sz="800" b="0" i="0" u="none" strike="noStrike" kern="1200" baseline="0">
                <a:solidFill>
                  <a:schemeClr val="tx1"/>
                </a:solidFill>
                <a:latin typeface="思源黑体 CN Regular" panose="020B0500000000000000" pitchFamily="34" charset="-122"/>
                <a:ea typeface="思源黑体 CN Regular" panose="020B0500000000000000" pitchFamily="34" charset="-122"/>
                <a:cs typeface="+mn-cs"/>
              </a:defRPr>
            </a:pPr>
            <a:endParaRPr lang="zh-CN"/>
          </a:p>
        </c:txPr>
        <c:crossAx val="1991223"/>
        <c:crosses val="autoZero"/>
        <c:auto val="1"/>
        <c:lblAlgn val="ctr"/>
        <c:lblOffset val="100"/>
        <c:noMultiLvlLbl val="0"/>
      </c:catAx>
      <c:valAx>
        <c:axId val="1991223"/>
        <c:scaling>
          <c:orientation val="minMax"/>
        </c:scaling>
        <c:delete val="0"/>
        <c:axPos val="l"/>
        <c:title>
          <c:tx>
            <c:rich>
              <a:bodyPr rot="-5400000" spcFirstLastPara="1" vertOverflow="ellipsis" vert="horz" wrap="square" anchor="ctr" anchorCtr="1"/>
              <a:lstStyle/>
              <a:p>
                <a:pPr>
                  <a:defRPr sz="800" b="0" i="0" u="none" strike="noStrike" kern="1200" baseline="0">
                    <a:solidFill>
                      <a:schemeClr val="tx1"/>
                    </a:solidFill>
                    <a:latin typeface="思源黑体 CN Regular" panose="020B0500000000000000" pitchFamily="34" charset="-122"/>
                    <a:ea typeface="思源黑体 CN Regular" panose="020B0500000000000000" pitchFamily="34" charset="-122"/>
                    <a:cs typeface="+mn-cs"/>
                  </a:defRPr>
                </a:pPr>
                <a:r>
                  <a:rPr lang="en-US" sz="800" dirty="0"/>
                  <a:t>Absorbance, OD450 nm</a:t>
                </a:r>
                <a:endParaRPr lang="zh-CN" sz="800" dirty="0"/>
              </a:p>
            </c:rich>
          </c:tx>
          <c:layout>
            <c:manualLayout>
              <c:xMode val="edge"/>
              <c:yMode val="edge"/>
              <c:x val="1.7124853308414286E-3"/>
              <c:y val="0.10846679584158921"/>
            </c:manualLayout>
          </c:layout>
          <c:overlay val="0"/>
          <c:spPr>
            <a:noFill/>
            <a:ln>
              <a:noFill/>
            </a:ln>
            <a:effectLst/>
          </c:spPr>
          <c:txPr>
            <a:bodyPr rot="-5400000" spcFirstLastPara="1" vertOverflow="ellipsis" vert="horz" wrap="square" anchor="ctr" anchorCtr="1"/>
            <a:lstStyle/>
            <a:p>
              <a:pPr>
                <a:defRPr sz="800" b="0" i="0" u="none" strike="noStrike" kern="1200" baseline="0">
                  <a:solidFill>
                    <a:schemeClr val="tx1"/>
                  </a:solidFill>
                  <a:latin typeface="思源黑体 CN Regular" panose="020B0500000000000000" pitchFamily="34" charset="-122"/>
                  <a:ea typeface="思源黑体 CN Regular" panose="020B0500000000000000" pitchFamily="34" charset="-122"/>
                  <a:cs typeface="+mn-cs"/>
                </a:defRPr>
              </a:pPr>
              <a:endParaRPr lang="zh-CN"/>
            </a:p>
          </c:txPr>
        </c:title>
        <c:numFmt formatCode="General" sourceLinked="1"/>
        <c:majorTickMark val="out"/>
        <c:minorTickMark val="none"/>
        <c:tickLblPos val="nextTo"/>
        <c:spPr>
          <a:noFill/>
          <a:ln w="22225">
            <a:solidFill>
              <a:schemeClr val="tx1"/>
            </a:solidFill>
          </a:ln>
          <a:effectLst/>
        </c:spPr>
        <c:txPr>
          <a:bodyPr rot="-60000000" spcFirstLastPara="1" vertOverflow="ellipsis" vert="horz" wrap="square" anchor="ctr" anchorCtr="1"/>
          <a:lstStyle/>
          <a:p>
            <a:pPr>
              <a:defRPr sz="800" b="0" i="0" u="none" strike="noStrike" kern="1200" baseline="0">
                <a:solidFill>
                  <a:schemeClr val="tx1"/>
                </a:solidFill>
                <a:latin typeface="思源黑体 CN Regular" panose="020B0500000000000000" pitchFamily="34" charset="-122"/>
                <a:ea typeface="思源黑体 CN Regular" panose="020B0500000000000000" pitchFamily="34" charset="-122"/>
                <a:cs typeface="+mn-cs"/>
              </a:defRPr>
            </a:pPr>
            <a:endParaRPr lang="zh-CN"/>
          </a:p>
        </c:txPr>
        <c:crossAx val="1990895"/>
        <c:crosses val="autoZero"/>
        <c:crossBetween val="midCat"/>
      </c:valAx>
      <c:spPr>
        <a:solidFill>
          <a:schemeClr val="bg1"/>
        </a:solidFill>
        <a:ln>
          <a:noFill/>
        </a:ln>
        <a:effectLst/>
      </c:spPr>
    </c:plotArea>
    <c:legend>
      <c:legendPos val="r"/>
      <c:layout>
        <c:manualLayout>
          <c:xMode val="edge"/>
          <c:yMode val="edge"/>
          <c:x val="0.21663258885340184"/>
          <c:y val="2.7579323864472512E-3"/>
          <c:w val="0.78336741114659825"/>
          <c:h val="0.142809905543541"/>
        </c:manualLayout>
      </c:layout>
      <c:overlay val="0"/>
      <c:spPr>
        <a:noFill/>
        <a:ln w="25400">
          <a:noFill/>
        </a:ln>
        <a:effectLst/>
      </c:spPr>
      <c:txPr>
        <a:bodyPr rot="0" spcFirstLastPara="1" vertOverflow="ellipsis" vert="horz" wrap="square" anchor="ctr" anchorCtr="1"/>
        <a:lstStyle/>
        <a:p>
          <a:pPr>
            <a:defRPr sz="700" b="0" i="0" u="none" strike="noStrike" kern="1200" baseline="0">
              <a:solidFill>
                <a:schemeClr val="tx1"/>
              </a:solidFill>
              <a:latin typeface="思源黑体 CN Regular" panose="020B0500000000000000" pitchFamily="34" charset="-122"/>
              <a:ea typeface="思源黑体 CN Regular" panose="020B0500000000000000" pitchFamily="34" charset="-122"/>
              <a:cs typeface="+mn-cs"/>
            </a:defRPr>
          </a:pPr>
          <a:endParaRPr lang="zh-CN"/>
        </a:p>
      </c:txPr>
    </c:legend>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solidFill>
            <a:schemeClr val="tx1"/>
          </a:solidFill>
          <a:latin typeface="思源黑体 CN Regular" panose="020B0500000000000000" pitchFamily="34" charset="-122"/>
          <a:ea typeface="思源黑体 CN Regular" panose="020B0500000000000000" pitchFamily="34" charset="-122"/>
        </a:defRPr>
      </a:pPr>
      <a:endParaRPr lang="zh-CN"/>
    </a:p>
  </c:txPr>
  <c:externalData r:id="rId3">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0.19557114555173591"/>
          <c:y val="4.2628647492758458E-2"/>
          <c:w val="0.69965791387726106"/>
          <c:h val="0.71588269884940792"/>
        </c:manualLayout>
      </c:layout>
      <c:scatterChart>
        <c:scatterStyle val="lineMarker"/>
        <c:varyColors val="0"/>
        <c:ser>
          <c:idx val="0"/>
          <c:order val="0"/>
          <c:tx>
            <c:strRef>
              <c:f>Sheet1!$B$1</c:f>
              <c:strCache>
                <c:ptCount val="1"/>
                <c:pt idx="0">
                  <c:v>shNMT1#2</c:v>
                </c:pt>
              </c:strCache>
            </c:strRef>
          </c:tx>
          <c:spPr>
            <a:ln w="25400" cap="rnd">
              <a:noFill/>
              <a:round/>
            </a:ln>
            <a:effectLst/>
          </c:spPr>
          <c:marker>
            <c:symbol val="circle"/>
            <c:size val="5"/>
            <c:spPr>
              <a:solidFill>
                <a:schemeClr val="accent1"/>
              </a:solidFill>
              <a:ln w="9525">
                <a:solidFill>
                  <a:schemeClr val="accent1"/>
                </a:solidFill>
              </a:ln>
              <a:effectLst/>
            </c:spPr>
          </c:marker>
          <c:xVal>
            <c:numRef>
              <c:f>Sheet1!$A$2:$A$7</c:f>
              <c:numCache>
                <c:formatCode>General</c:formatCode>
                <c:ptCount val="6"/>
                <c:pt idx="0">
                  <c:v>0</c:v>
                </c:pt>
                <c:pt idx="1">
                  <c:v>10</c:v>
                </c:pt>
                <c:pt idx="2">
                  <c:v>20</c:v>
                </c:pt>
                <c:pt idx="3">
                  <c:v>30</c:v>
                </c:pt>
                <c:pt idx="4">
                  <c:v>40</c:v>
                </c:pt>
                <c:pt idx="5">
                  <c:v>50</c:v>
                </c:pt>
              </c:numCache>
            </c:numRef>
          </c:xVal>
          <c:yVal>
            <c:numRef>
              <c:f>Sheet1!$B$2:$B$7</c:f>
              <c:numCache>
                <c:formatCode>General</c:formatCode>
                <c:ptCount val="6"/>
                <c:pt idx="0">
                  <c:v>0</c:v>
                </c:pt>
                <c:pt idx="1">
                  <c:v>10</c:v>
                </c:pt>
                <c:pt idx="2">
                  <c:v>25</c:v>
                </c:pt>
                <c:pt idx="3">
                  <c:v>33</c:v>
                </c:pt>
                <c:pt idx="4">
                  <c:v>42</c:v>
                </c:pt>
                <c:pt idx="5">
                  <c:v>45</c:v>
                </c:pt>
              </c:numCache>
            </c:numRef>
          </c:yVal>
          <c:smooth val="0"/>
          <c:extLst>
            <c:ext xmlns:c16="http://schemas.microsoft.com/office/drawing/2014/chart" uri="{C3380CC4-5D6E-409C-BE32-E72D297353CC}">
              <c16:uniqueId val="{00000000-6E55-4D81-99FB-3C7772639494}"/>
            </c:ext>
          </c:extLst>
        </c:ser>
        <c:ser>
          <c:idx val="1"/>
          <c:order val="1"/>
          <c:tx>
            <c:strRef>
              <c:f>Sheet1!$C$1</c:f>
              <c:strCache>
                <c:ptCount val="1"/>
                <c:pt idx="0">
                  <c:v>shNMT1#1</c:v>
                </c:pt>
              </c:strCache>
            </c:strRef>
          </c:tx>
          <c:spPr>
            <a:ln w="25400" cap="rnd">
              <a:noFill/>
              <a:round/>
            </a:ln>
            <a:effectLst/>
          </c:spPr>
          <c:marker>
            <c:symbol val="circle"/>
            <c:size val="5"/>
            <c:spPr>
              <a:solidFill>
                <a:schemeClr val="accent2"/>
              </a:solidFill>
              <a:ln w="9525">
                <a:solidFill>
                  <a:schemeClr val="accent2"/>
                </a:solidFill>
              </a:ln>
              <a:effectLst/>
            </c:spPr>
          </c:marker>
          <c:xVal>
            <c:numRef>
              <c:f>Sheet1!$A$2:$A$7</c:f>
              <c:numCache>
                <c:formatCode>General</c:formatCode>
                <c:ptCount val="6"/>
                <c:pt idx="0">
                  <c:v>0</c:v>
                </c:pt>
                <c:pt idx="1">
                  <c:v>10</c:v>
                </c:pt>
                <c:pt idx="2">
                  <c:v>20</c:v>
                </c:pt>
                <c:pt idx="3">
                  <c:v>30</c:v>
                </c:pt>
                <c:pt idx="4">
                  <c:v>40</c:v>
                </c:pt>
                <c:pt idx="5">
                  <c:v>50</c:v>
                </c:pt>
              </c:numCache>
            </c:numRef>
          </c:xVal>
          <c:yVal>
            <c:numRef>
              <c:f>Sheet1!$C$2:$C$7</c:f>
              <c:numCache>
                <c:formatCode>General</c:formatCode>
                <c:ptCount val="6"/>
                <c:pt idx="0">
                  <c:v>0</c:v>
                </c:pt>
                <c:pt idx="1">
                  <c:v>15</c:v>
                </c:pt>
                <c:pt idx="2">
                  <c:v>30</c:v>
                </c:pt>
                <c:pt idx="3">
                  <c:v>35</c:v>
                </c:pt>
                <c:pt idx="4">
                  <c:v>42</c:v>
                </c:pt>
                <c:pt idx="5">
                  <c:v>46</c:v>
                </c:pt>
              </c:numCache>
            </c:numRef>
          </c:yVal>
          <c:smooth val="0"/>
          <c:extLst>
            <c:ext xmlns:c16="http://schemas.microsoft.com/office/drawing/2014/chart" uri="{C3380CC4-5D6E-409C-BE32-E72D297353CC}">
              <c16:uniqueId val="{00000001-6E55-4D81-99FB-3C7772639494}"/>
            </c:ext>
          </c:extLst>
        </c:ser>
        <c:ser>
          <c:idx val="2"/>
          <c:order val="2"/>
          <c:tx>
            <c:strRef>
              <c:f>Sheet1!$D$1</c:f>
              <c:strCache>
                <c:ptCount val="1"/>
                <c:pt idx="0">
                  <c:v>shCON</c:v>
                </c:pt>
              </c:strCache>
            </c:strRef>
          </c:tx>
          <c:spPr>
            <a:ln w="25400" cap="rnd">
              <a:noFill/>
              <a:round/>
            </a:ln>
            <a:effectLst/>
          </c:spPr>
          <c:marker>
            <c:symbol val="circle"/>
            <c:size val="5"/>
            <c:spPr>
              <a:solidFill>
                <a:schemeClr val="accent3"/>
              </a:solidFill>
              <a:ln w="9525">
                <a:solidFill>
                  <a:schemeClr val="accent3"/>
                </a:solidFill>
              </a:ln>
              <a:effectLst/>
            </c:spPr>
          </c:marker>
          <c:xVal>
            <c:numRef>
              <c:f>Sheet1!$A$2:$A$7</c:f>
              <c:numCache>
                <c:formatCode>General</c:formatCode>
                <c:ptCount val="6"/>
                <c:pt idx="0">
                  <c:v>0</c:v>
                </c:pt>
                <c:pt idx="1">
                  <c:v>10</c:v>
                </c:pt>
                <c:pt idx="2">
                  <c:v>20</c:v>
                </c:pt>
                <c:pt idx="3">
                  <c:v>30</c:v>
                </c:pt>
                <c:pt idx="4">
                  <c:v>40</c:v>
                </c:pt>
                <c:pt idx="5">
                  <c:v>50</c:v>
                </c:pt>
              </c:numCache>
            </c:numRef>
          </c:xVal>
          <c:yVal>
            <c:numRef>
              <c:f>Sheet1!$D$2:$D$7</c:f>
              <c:numCache>
                <c:formatCode>General</c:formatCode>
                <c:ptCount val="6"/>
                <c:pt idx="0">
                  <c:v>0</c:v>
                </c:pt>
                <c:pt idx="1">
                  <c:v>20</c:v>
                </c:pt>
                <c:pt idx="2">
                  <c:v>31</c:v>
                </c:pt>
                <c:pt idx="3">
                  <c:v>40</c:v>
                </c:pt>
                <c:pt idx="4">
                  <c:v>44</c:v>
                </c:pt>
                <c:pt idx="5">
                  <c:v>50</c:v>
                </c:pt>
              </c:numCache>
            </c:numRef>
          </c:yVal>
          <c:smooth val="0"/>
          <c:extLst>
            <c:ext xmlns:c16="http://schemas.microsoft.com/office/drawing/2014/chart" uri="{C3380CC4-5D6E-409C-BE32-E72D297353CC}">
              <c16:uniqueId val="{00000002-6E55-4D81-99FB-3C7772639494}"/>
            </c:ext>
          </c:extLst>
        </c:ser>
        <c:dLbls>
          <c:showLegendKey val="0"/>
          <c:showVal val="0"/>
          <c:showCatName val="0"/>
          <c:showSerName val="0"/>
          <c:showPercent val="0"/>
          <c:showBubbleSize val="0"/>
        </c:dLbls>
        <c:axId val="1990895"/>
        <c:axId val="1991223"/>
      </c:scatterChart>
      <c:valAx>
        <c:axId val="1990895"/>
        <c:scaling>
          <c:orientation val="minMax"/>
        </c:scaling>
        <c:delete val="0"/>
        <c:axPos val="b"/>
        <c:title>
          <c:tx>
            <c:rich>
              <a:bodyPr rot="0" spcFirstLastPara="1" vertOverflow="ellipsis" vert="horz" wrap="square" anchor="ctr" anchorCtr="1"/>
              <a:lstStyle/>
              <a:p>
                <a:pPr>
                  <a:defRPr sz="900" b="0" i="0" u="none" strike="noStrike" kern="1200" baseline="0">
                    <a:solidFill>
                      <a:schemeClr val="tx1"/>
                    </a:solidFill>
                    <a:latin typeface="思源黑体 CN Regular" panose="020B0500000000000000" pitchFamily="34" charset="-122"/>
                    <a:ea typeface="思源黑体 CN Regular" panose="020B0500000000000000" pitchFamily="34" charset="-122"/>
                    <a:cs typeface="+mn-cs"/>
                  </a:defRPr>
                </a:pPr>
                <a:r>
                  <a:rPr lang="en-US" altLang="zh-CN" sz="900" dirty="0"/>
                  <a:t>Gait cycle </a:t>
                </a:r>
                <a:r>
                  <a:rPr lang="en-US" altLang="zh-CN" sz="900" baseline="0" dirty="0"/>
                  <a:t>%</a:t>
                </a:r>
                <a:endParaRPr lang="zh-CN" sz="900" dirty="0"/>
              </a:p>
            </c:rich>
          </c:tx>
          <c:layout>
            <c:manualLayout>
              <c:xMode val="edge"/>
              <c:yMode val="edge"/>
              <c:x val="0.37998326706962104"/>
              <c:y val="0.85221321954389351"/>
            </c:manualLayout>
          </c:layout>
          <c:overlay val="0"/>
          <c:spPr>
            <a:noFill/>
            <a:ln>
              <a:noFill/>
            </a:ln>
            <a:effectLst/>
          </c:spPr>
          <c:txPr>
            <a:bodyPr rot="0" spcFirstLastPara="1" vertOverflow="ellipsis" vert="horz" wrap="square" anchor="ctr" anchorCtr="1"/>
            <a:lstStyle/>
            <a:p>
              <a:pPr>
                <a:defRPr sz="900" b="0" i="0" u="none" strike="noStrike" kern="1200" baseline="0">
                  <a:solidFill>
                    <a:schemeClr val="tx1"/>
                  </a:solidFill>
                  <a:latin typeface="思源黑体 CN Regular" panose="020B0500000000000000" pitchFamily="34" charset="-122"/>
                  <a:ea typeface="思源黑体 CN Regular" panose="020B0500000000000000" pitchFamily="34" charset="-122"/>
                  <a:cs typeface="+mn-cs"/>
                </a:defRPr>
              </a:pPr>
              <a:endParaRPr lang="zh-CN"/>
            </a:p>
          </c:txPr>
        </c:title>
        <c:numFmt formatCode="General" sourceLinked="1"/>
        <c:majorTickMark val="out"/>
        <c:minorTickMark val="none"/>
        <c:tickLblPos val="nextTo"/>
        <c:spPr>
          <a:noFill/>
          <a:ln w="19050" cap="flat" cmpd="sng" algn="ctr">
            <a:solidFill>
              <a:schemeClr val="tx1"/>
            </a:solidFill>
            <a:round/>
          </a:ln>
          <a:effectLst/>
        </c:spPr>
        <c:txPr>
          <a:bodyPr rot="0" spcFirstLastPara="1" vertOverflow="ellipsis" wrap="square" anchor="ctr" anchorCtr="1"/>
          <a:lstStyle/>
          <a:p>
            <a:pPr>
              <a:defRPr sz="800" b="0" i="0" u="none" strike="noStrike" kern="1200" baseline="0">
                <a:solidFill>
                  <a:schemeClr val="tx1"/>
                </a:solidFill>
                <a:latin typeface="思源黑体 CN Regular" panose="020B0500000000000000" pitchFamily="34" charset="-122"/>
                <a:ea typeface="思源黑体 CN Regular" panose="020B0500000000000000" pitchFamily="34" charset="-122"/>
                <a:cs typeface="+mn-cs"/>
              </a:defRPr>
            </a:pPr>
            <a:endParaRPr lang="zh-CN"/>
          </a:p>
        </c:txPr>
        <c:crossAx val="1991223"/>
        <c:crosses val="autoZero"/>
        <c:crossBetween val="midCat"/>
      </c:valAx>
      <c:valAx>
        <c:axId val="1991223"/>
        <c:scaling>
          <c:orientation val="minMax"/>
        </c:scaling>
        <c:delete val="0"/>
        <c:axPos val="l"/>
        <c:title>
          <c:tx>
            <c:rich>
              <a:bodyPr rot="-5400000" spcFirstLastPara="1" vertOverflow="ellipsis" vert="horz" wrap="square" anchor="ctr" anchorCtr="1"/>
              <a:lstStyle/>
              <a:p>
                <a:pPr>
                  <a:defRPr sz="800" b="0" i="0" u="none" strike="noStrike" kern="1200" baseline="0">
                    <a:solidFill>
                      <a:schemeClr val="tx1"/>
                    </a:solidFill>
                    <a:latin typeface="思源黑体 CN Regular" panose="020B0500000000000000" pitchFamily="34" charset="-122"/>
                    <a:ea typeface="思源黑体 CN Regular" panose="020B0500000000000000" pitchFamily="34" charset="-122"/>
                    <a:cs typeface="+mn-cs"/>
                  </a:defRPr>
                </a:pPr>
                <a:r>
                  <a:rPr lang="en-US" sz="800" dirty="0"/>
                  <a:t>Absorbance, OD450 nm</a:t>
                </a:r>
                <a:endParaRPr lang="zh-CN" sz="800" dirty="0"/>
              </a:p>
            </c:rich>
          </c:tx>
          <c:layout>
            <c:manualLayout>
              <c:xMode val="edge"/>
              <c:yMode val="edge"/>
              <c:x val="1.7125327406269661E-3"/>
              <c:y val="0.10846656173523243"/>
            </c:manualLayout>
          </c:layout>
          <c:overlay val="0"/>
          <c:spPr>
            <a:noFill/>
            <a:ln>
              <a:noFill/>
            </a:ln>
            <a:effectLst/>
          </c:spPr>
          <c:txPr>
            <a:bodyPr rot="-5400000" spcFirstLastPara="1" vertOverflow="ellipsis" vert="horz" wrap="square" anchor="ctr" anchorCtr="1"/>
            <a:lstStyle/>
            <a:p>
              <a:pPr>
                <a:defRPr sz="800" b="0" i="0" u="none" strike="noStrike" kern="1200" baseline="0">
                  <a:solidFill>
                    <a:schemeClr val="tx1"/>
                  </a:solidFill>
                  <a:latin typeface="思源黑体 CN Regular" panose="020B0500000000000000" pitchFamily="34" charset="-122"/>
                  <a:ea typeface="思源黑体 CN Regular" panose="020B0500000000000000" pitchFamily="34" charset="-122"/>
                  <a:cs typeface="+mn-cs"/>
                </a:defRPr>
              </a:pPr>
              <a:endParaRPr lang="zh-CN"/>
            </a:p>
          </c:txPr>
        </c:title>
        <c:numFmt formatCode="General" sourceLinked="1"/>
        <c:majorTickMark val="out"/>
        <c:minorTickMark val="none"/>
        <c:tickLblPos val="nextTo"/>
        <c:spPr>
          <a:noFill/>
          <a:ln w="22225">
            <a:solidFill>
              <a:schemeClr val="tx1"/>
            </a:solidFill>
          </a:ln>
          <a:effectLst/>
        </c:spPr>
        <c:txPr>
          <a:bodyPr rot="-60000000" spcFirstLastPara="1" vertOverflow="ellipsis" vert="horz" wrap="square" anchor="ctr" anchorCtr="1"/>
          <a:lstStyle/>
          <a:p>
            <a:pPr>
              <a:defRPr sz="800" b="0" i="0" u="none" strike="noStrike" kern="1200" baseline="0">
                <a:solidFill>
                  <a:schemeClr val="tx1"/>
                </a:solidFill>
                <a:latin typeface="思源黑体 CN Regular" panose="020B0500000000000000" pitchFamily="34" charset="-122"/>
                <a:ea typeface="思源黑体 CN Regular" panose="020B0500000000000000" pitchFamily="34" charset="-122"/>
                <a:cs typeface="+mn-cs"/>
              </a:defRPr>
            </a:pPr>
            <a:endParaRPr lang="zh-CN"/>
          </a:p>
        </c:txPr>
        <c:crossAx val="1990895"/>
        <c:crosses val="autoZero"/>
        <c:crossBetween val="midCat"/>
      </c:valAx>
      <c:spPr>
        <a:solidFill>
          <a:schemeClr val="bg1"/>
        </a:solidFill>
        <a:ln>
          <a:noFill/>
        </a:ln>
        <a:effectLst/>
      </c:spPr>
    </c:plotArea>
    <c:legend>
      <c:legendPos val="r"/>
      <c:layout>
        <c:manualLayout>
          <c:xMode val="edge"/>
          <c:yMode val="edge"/>
          <c:x val="0.22256525819490827"/>
          <c:y val="2.7579323864472503E-3"/>
          <c:w val="0.77743474180509176"/>
          <c:h val="0.11001752019849362"/>
        </c:manualLayout>
      </c:layout>
      <c:overlay val="0"/>
      <c:spPr>
        <a:noFill/>
        <a:ln w="25400">
          <a:noFill/>
        </a:ln>
        <a:effectLst/>
      </c:spPr>
      <c:txPr>
        <a:bodyPr rot="0" spcFirstLastPara="1" vertOverflow="ellipsis" vert="horz" wrap="square" anchor="ctr" anchorCtr="1"/>
        <a:lstStyle/>
        <a:p>
          <a:pPr>
            <a:defRPr sz="700" b="0" i="0" u="none" strike="noStrike" kern="1200" baseline="0">
              <a:solidFill>
                <a:schemeClr val="tx1"/>
              </a:solidFill>
              <a:latin typeface="思源黑体 CN Regular" panose="020B0500000000000000" pitchFamily="34" charset="-122"/>
              <a:ea typeface="思源黑体 CN Regular" panose="020B0500000000000000" pitchFamily="34" charset="-122"/>
              <a:cs typeface="+mn-cs"/>
            </a:defRPr>
          </a:pPr>
          <a:endParaRPr lang="zh-CN"/>
        </a:p>
      </c:txPr>
    </c:legend>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solidFill>
            <a:schemeClr val="tx1"/>
          </a:solidFill>
          <a:latin typeface="思源黑体 CN Regular" panose="020B0500000000000000" pitchFamily="34" charset="-122"/>
          <a:ea typeface="思源黑体 CN Regular" panose="020B0500000000000000" pitchFamily="34" charset="-122"/>
        </a:defRPr>
      </a:pPr>
      <a:endParaRPr lang="zh-CN"/>
    </a:p>
  </c:txPr>
  <c:externalData r:id="rId3">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0.20150381489324229"/>
          <c:y val="3.6693393051973881E-2"/>
          <c:w val="0.70689577047389884"/>
          <c:h val="0.70819149522448932"/>
        </c:manualLayout>
      </c:layout>
      <c:scatterChart>
        <c:scatterStyle val="lineMarker"/>
        <c:varyColors val="0"/>
        <c:ser>
          <c:idx val="0"/>
          <c:order val="0"/>
          <c:tx>
            <c:strRef>
              <c:f>Sheet1!$B$1</c:f>
              <c:strCache>
                <c:ptCount val="1"/>
                <c:pt idx="0">
                  <c:v>shNMT1#2</c:v>
                </c:pt>
              </c:strCache>
            </c:strRef>
          </c:tx>
          <c:spPr>
            <a:ln w="25400" cap="rnd">
              <a:noFill/>
              <a:round/>
            </a:ln>
            <a:effectLst/>
          </c:spPr>
          <c:marker>
            <c:symbol val="circle"/>
            <c:size val="5"/>
            <c:spPr>
              <a:solidFill>
                <a:schemeClr val="accent1"/>
              </a:solidFill>
              <a:ln w="9525">
                <a:solidFill>
                  <a:schemeClr val="accent1"/>
                </a:solidFill>
              </a:ln>
              <a:effectLst/>
            </c:spPr>
          </c:marker>
          <c:xVal>
            <c:numRef>
              <c:f>Sheet1!$A$2:$A$7</c:f>
              <c:numCache>
                <c:formatCode>General</c:formatCode>
                <c:ptCount val="6"/>
                <c:pt idx="0">
                  <c:v>0</c:v>
                </c:pt>
                <c:pt idx="1">
                  <c:v>10</c:v>
                </c:pt>
                <c:pt idx="2">
                  <c:v>20</c:v>
                </c:pt>
                <c:pt idx="3">
                  <c:v>30</c:v>
                </c:pt>
                <c:pt idx="4">
                  <c:v>40</c:v>
                </c:pt>
                <c:pt idx="5">
                  <c:v>50</c:v>
                </c:pt>
              </c:numCache>
            </c:numRef>
          </c:xVal>
          <c:yVal>
            <c:numRef>
              <c:f>Sheet1!$B$2:$B$7</c:f>
              <c:numCache>
                <c:formatCode>General</c:formatCode>
                <c:ptCount val="6"/>
                <c:pt idx="0">
                  <c:v>0</c:v>
                </c:pt>
                <c:pt idx="1">
                  <c:v>30</c:v>
                </c:pt>
                <c:pt idx="2">
                  <c:v>25</c:v>
                </c:pt>
                <c:pt idx="3">
                  <c:v>33</c:v>
                </c:pt>
                <c:pt idx="4">
                  <c:v>42</c:v>
                </c:pt>
                <c:pt idx="5">
                  <c:v>45</c:v>
                </c:pt>
              </c:numCache>
            </c:numRef>
          </c:yVal>
          <c:smooth val="0"/>
          <c:extLst>
            <c:ext xmlns:c16="http://schemas.microsoft.com/office/drawing/2014/chart" uri="{C3380CC4-5D6E-409C-BE32-E72D297353CC}">
              <c16:uniqueId val="{00000000-6E55-4D81-99FB-3C7772639494}"/>
            </c:ext>
          </c:extLst>
        </c:ser>
        <c:ser>
          <c:idx val="1"/>
          <c:order val="1"/>
          <c:tx>
            <c:strRef>
              <c:f>Sheet1!$C$1</c:f>
              <c:strCache>
                <c:ptCount val="1"/>
                <c:pt idx="0">
                  <c:v>shNMT1#1</c:v>
                </c:pt>
              </c:strCache>
            </c:strRef>
          </c:tx>
          <c:spPr>
            <a:ln w="25400" cap="rnd">
              <a:noFill/>
              <a:round/>
            </a:ln>
            <a:effectLst/>
          </c:spPr>
          <c:marker>
            <c:symbol val="circle"/>
            <c:size val="5"/>
            <c:spPr>
              <a:solidFill>
                <a:schemeClr val="accent2"/>
              </a:solidFill>
              <a:ln w="9525">
                <a:solidFill>
                  <a:schemeClr val="accent2"/>
                </a:solidFill>
              </a:ln>
              <a:effectLst/>
            </c:spPr>
          </c:marker>
          <c:xVal>
            <c:numRef>
              <c:f>Sheet1!$A$2:$A$7</c:f>
              <c:numCache>
                <c:formatCode>General</c:formatCode>
                <c:ptCount val="6"/>
                <c:pt idx="0">
                  <c:v>0</c:v>
                </c:pt>
                <c:pt idx="1">
                  <c:v>10</c:v>
                </c:pt>
                <c:pt idx="2">
                  <c:v>20</c:v>
                </c:pt>
                <c:pt idx="3">
                  <c:v>30</c:v>
                </c:pt>
                <c:pt idx="4">
                  <c:v>40</c:v>
                </c:pt>
                <c:pt idx="5">
                  <c:v>50</c:v>
                </c:pt>
              </c:numCache>
            </c:numRef>
          </c:xVal>
          <c:yVal>
            <c:numRef>
              <c:f>Sheet1!$C$2:$C$7</c:f>
              <c:numCache>
                <c:formatCode>General</c:formatCode>
                <c:ptCount val="6"/>
                <c:pt idx="0">
                  <c:v>0</c:v>
                </c:pt>
                <c:pt idx="1">
                  <c:v>50</c:v>
                </c:pt>
                <c:pt idx="2">
                  <c:v>40</c:v>
                </c:pt>
                <c:pt idx="3">
                  <c:v>35</c:v>
                </c:pt>
                <c:pt idx="4">
                  <c:v>20</c:v>
                </c:pt>
                <c:pt idx="5">
                  <c:v>1.5</c:v>
                </c:pt>
              </c:numCache>
            </c:numRef>
          </c:yVal>
          <c:smooth val="0"/>
          <c:extLst>
            <c:ext xmlns:c16="http://schemas.microsoft.com/office/drawing/2014/chart" uri="{C3380CC4-5D6E-409C-BE32-E72D297353CC}">
              <c16:uniqueId val="{00000001-6E55-4D81-99FB-3C7772639494}"/>
            </c:ext>
          </c:extLst>
        </c:ser>
        <c:ser>
          <c:idx val="2"/>
          <c:order val="2"/>
          <c:tx>
            <c:strRef>
              <c:f>Sheet1!$D$1</c:f>
              <c:strCache>
                <c:ptCount val="1"/>
                <c:pt idx="0">
                  <c:v>shCON</c:v>
                </c:pt>
              </c:strCache>
            </c:strRef>
          </c:tx>
          <c:spPr>
            <a:ln w="25400" cap="rnd">
              <a:noFill/>
              <a:round/>
            </a:ln>
            <a:effectLst/>
          </c:spPr>
          <c:marker>
            <c:symbol val="circle"/>
            <c:size val="5"/>
            <c:spPr>
              <a:solidFill>
                <a:schemeClr val="accent3"/>
              </a:solidFill>
              <a:ln w="9525">
                <a:solidFill>
                  <a:schemeClr val="accent3"/>
                </a:solidFill>
              </a:ln>
              <a:effectLst/>
            </c:spPr>
          </c:marker>
          <c:xVal>
            <c:numRef>
              <c:f>Sheet1!$A$2:$A$7</c:f>
              <c:numCache>
                <c:formatCode>General</c:formatCode>
                <c:ptCount val="6"/>
                <c:pt idx="0">
                  <c:v>0</c:v>
                </c:pt>
                <c:pt idx="1">
                  <c:v>10</c:v>
                </c:pt>
                <c:pt idx="2">
                  <c:v>20</c:v>
                </c:pt>
                <c:pt idx="3">
                  <c:v>30</c:v>
                </c:pt>
                <c:pt idx="4">
                  <c:v>40</c:v>
                </c:pt>
                <c:pt idx="5">
                  <c:v>50</c:v>
                </c:pt>
              </c:numCache>
            </c:numRef>
          </c:xVal>
          <c:yVal>
            <c:numRef>
              <c:f>Sheet1!$D$2:$D$7</c:f>
              <c:numCache>
                <c:formatCode>General</c:formatCode>
                <c:ptCount val="6"/>
                <c:pt idx="0">
                  <c:v>0</c:v>
                </c:pt>
                <c:pt idx="1">
                  <c:v>20</c:v>
                </c:pt>
                <c:pt idx="2">
                  <c:v>31</c:v>
                </c:pt>
                <c:pt idx="3">
                  <c:v>40</c:v>
                </c:pt>
                <c:pt idx="4">
                  <c:v>44</c:v>
                </c:pt>
                <c:pt idx="5">
                  <c:v>50</c:v>
                </c:pt>
              </c:numCache>
            </c:numRef>
          </c:yVal>
          <c:smooth val="0"/>
          <c:extLst>
            <c:ext xmlns:c16="http://schemas.microsoft.com/office/drawing/2014/chart" uri="{C3380CC4-5D6E-409C-BE32-E72D297353CC}">
              <c16:uniqueId val="{00000002-6E55-4D81-99FB-3C7772639494}"/>
            </c:ext>
          </c:extLst>
        </c:ser>
        <c:dLbls>
          <c:showLegendKey val="0"/>
          <c:showVal val="0"/>
          <c:showCatName val="0"/>
          <c:showSerName val="0"/>
          <c:showPercent val="0"/>
          <c:showBubbleSize val="0"/>
        </c:dLbls>
        <c:axId val="1990895"/>
        <c:axId val="1991223"/>
      </c:scatterChart>
      <c:valAx>
        <c:axId val="1990895"/>
        <c:scaling>
          <c:orientation val="minMax"/>
        </c:scaling>
        <c:delete val="0"/>
        <c:axPos val="b"/>
        <c:title>
          <c:tx>
            <c:rich>
              <a:bodyPr rot="0" spcFirstLastPara="1" vertOverflow="ellipsis" vert="horz" wrap="square" anchor="ctr" anchorCtr="1"/>
              <a:lstStyle/>
              <a:p>
                <a:pPr>
                  <a:defRPr sz="900" b="0" i="0" u="none" strike="noStrike" kern="1200" baseline="0">
                    <a:solidFill>
                      <a:schemeClr val="tx1"/>
                    </a:solidFill>
                    <a:latin typeface="思源黑体 CN Regular" panose="020B0500000000000000" pitchFamily="34" charset="-122"/>
                    <a:ea typeface="思源黑体 CN Regular" panose="020B0500000000000000" pitchFamily="34" charset="-122"/>
                    <a:cs typeface="+mn-cs"/>
                  </a:defRPr>
                </a:pPr>
                <a:r>
                  <a:rPr lang="en-US" altLang="zh-CN" sz="900" dirty="0"/>
                  <a:t>Gait </a:t>
                </a:r>
                <a:r>
                  <a:rPr lang="en-US" altLang="zh-CN" sz="900" dirty="0" err="1"/>
                  <a:t>cyle</a:t>
                </a:r>
                <a:r>
                  <a:rPr lang="en-US" altLang="zh-CN" sz="900" dirty="0"/>
                  <a:t> %</a:t>
                </a:r>
                <a:endParaRPr lang="zh-CN" sz="900" dirty="0"/>
              </a:p>
            </c:rich>
          </c:tx>
          <c:layout>
            <c:manualLayout>
              <c:xMode val="edge"/>
              <c:yMode val="edge"/>
              <c:x val="0.39778127509414024"/>
              <c:y val="0.85221321954389351"/>
            </c:manualLayout>
          </c:layout>
          <c:overlay val="0"/>
          <c:spPr>
            <a:noFill/>
            <a:ln>
              <a:noFill/>
            </a:ln>
            <a:effectLst/>
          </c:spPr>
          <c:txPr>
            <a:bodyPr rot="0" spcFirstLastPara="1" vertOverflow="ellipsis" vert="horz" wrap="square" anchor="ctr" anchorCtr="1"/>
            <a:lstStyle/>
            <a:p>
              <a:pPr>
                <a:defRPr sz="900" b="0" i="0" u="none" strike="noStrike" kern="1200" baseline="0">
                  <a:solidFill>
                    <a:schemeClr val="tx1"/>
                  </a:solidFill>
                  <a:latin typeface="思源黑体 CN Regular" panose="020B0500000000000000" pitchFamily="34" charset="-122"/>
                  <a:ea typeface="思源黑体 CN Regular" panose="020B0500000000000000" pitchFamily="34" charset="-122"/>
                  <a:cs typeface="+mn-cs"/>
                </a:defRPr>
              </a:pPr>
              <a:endParaRPr lang="zh-CN"/>
            </a:p>
          </c:txPr>
        </c:title>
        <c:numFmt formatCode="General" sourceLinked="1"/>
        <c:majorTickMark val="out"/>
        <c:minorTickMark val="none"/>
        <c:tickLblPos val="nextTo"/>
        <c:spPr>
          <a:noFill/>
          <a:ln w="19050" cap="flat" cmpd="sng" algn="ctr">
            <a:solidFill>
              <a:schemeClr val="tx1"/>
            </a:solidFill>
            <a:round/>
          </a:ln>
          <a:effectLst/>
        </c:spPr>
        <c:txPr>
          <a:bodyPr rot="0" spcFirstLastPara="1" vertOverflow="ellipsis" wrap="square" anchor="ctr" anchorCtr="1"/>
          <a:lstStyle/>
          <a:p>
            <a:pPr>
              <a:defRPr sz="800" b="0" i="0" u="none" strike="noStrike" kern="1200" baseline="0">
                <a:solidFill>
                  <a:schemeClr val="tx1"/>
                </a:solidFill>
                <a:latin typeface="思源黑体 CN Regular" panose="020B0500000000000000" pitchFamily="34" charset="-122"/>
                <a:ea typeface="思源黑体 CN Regular" panose="020B0500000000000000" pitchFamily="34" charset="-122"/>
                <a:cs typeface="+mn-cs"/>
              </a:defRPr>
            </a:pPr>
            <a:endParaRPr lang="zh-CN"/>
          </a:p>
        </c:txPr>
        <c:crossAx val="1991223"/>
        <c:crosses val="autoZero"/>
        <c:crossBetween val="midCat"/>
      </c:valAx>
      <c:valAx>
        <c:axId val="1991223"/>
        <c:scaling>
          <c:orientation val="minMax"/>
        </c:scaling>
        <c:delete val="0"/>
        <c:axPos val="l"/>
        <c:title>
          <c:tx>
            <c:rich>
              <a:bodyPr rot="-5400000" spcFirstLastPara="1" vertOverflow="ellipsis" vert="horz" wrap="square" anchor="ctr" anchorCtr="1"/>
              <a:lstStyle/>
              <a:p>
                <a:pPr>
                  <a:defRPr sz="800" b="0" i="0" u="none" strike="noStrike" kern="1200" baseline="0">
                    <a:solidFill>
                      <a:schemeClr val="tx1"/>
                    </a:solidFill>
                    <a:latin typeface="思源黑体 CN Regular" panose="020B0500000000000000" pitchFamily="34" charset="-122"/>
                    <a:ea typeface="思源黑体 CN Regular" panose="020B0500000000000000" pitchFamily="34" charset="-122"/>
                    <a:cs typeface="+mn-cs"/>
                  </a:defRPr>
                </a:pPr>
                <a:r>
                  <a:rPr lang="en-US" sz="800" dirty="0"/>
                  <a:t>Absorbance, OD450 nm</a:t>
                </a:r>
                <a:endParaRPr lang="zh-CN" sz="800" dirty="0"/>
              </a:p>
            </c:rich>
          </c:tx>
          <c:layout>
            <c:manualLayout>
              <c:xMode val="edge"/>
              <c:yMode val="edge"/>
              <c:x val="1.7124853308414286E-3"/>
              <c:y val="0.10846679584158921"/>
            </c:manualLayout>
          </c:layout>
          <c:overlay val="0"/>
          <c:spPr>
            <a:noFill/>
            <a:ln>
              <a:noFill/>
            </a:ln>
            <a:effectLst/>
          </c:spPr>
          <c:txPr>
            <a:bodyPr rot="-5400000" spcFirstLastPara="1" vertOverflow="ellipsis" vert="horz" wrap="square" anchor="ctr" anchorCtr="1"/>
            <a:lstStyle/>
            <a:p>
              <a:pPr>
                <a:defRPr sz="800" b="0" i="0" u="none" strike="noStrike" kern="1200" baseline="0">
                  <a:solidFill>
                    <a:schemeClr val="tx1"/>
                  </a:solidFill>
                  <a:latin typeface="思源黑体 CN Regular" panose="020B0500000000000000" pitchFamily="34" charset="-122"/>
                  <a:ea typeface="思源黑体 CN Regular" panose="020B0500000000000000" pitchFamily="34" charset="-122"/>
                  <a:cs typeface="+mn-cs"/>
                </a:defRPr>
              </a:pPr>
              <a:endParaRPr lang="zh-CN"/>
            </a:p>
          </c:txPr>
        </c:title>
        <c:numFmt formatCode="General" sourceLinked="1"/>
        <c:majorTickMark val="out"/>
        <c:minorTickMark val="none"/>
        <c:tickLblPos val="nextTo"/>
        <c:spPr>
          <a:noFill/>
          <a:ln w="22225">
            <a:solidFill>
              <a:schemeClr val="tx1"/>
            </a:solidFill>
          </a:ln>
          <a:effectLst/>
        </c:spPr>
        <c:txPr>
          <a:bodyPr rot="-60000000" spcFirstLastPara="1" vertOverflow="ellipsis" vert="horz" wrap="square" anchor="ctr" anchorCtr="1"/>
          <a:lstStyle/>
          <a:p>
            <a:pPr>
              <a:defRPr sz="800" b="0" i="0" u="none" strike="noStrike" kern="1200" baseline="0">
                <a:solidFill>
                  <a:schemeClr val="tx1"/>
                </a:solidFill>
                <a:latin typeface="思源黑体 CN Regular" panose="020B0500000000000000" pitchFamily="34" charset="-122"/>
                <a:ea typeface="思源黑体 CN Regular" panose="020B0500000000000000" pitchFamily="34" charset="-122"/>
                <a:cs typeface="+mn-cs"/>
              </a:defRPr>
            </a:pPr>
            <a:endParaRPr lang="zh-CN"/>
          </a:p>
        </c:txPr>
        <c:crossAx val="1990895"/>
        <c:crosses val="autoZero"/>
        <c:crossBetween val="midCat"/>
      </c:valAx>
      <c:spPr>
        <a:solidFill>
          <a:schemeClr val="bg1"/>
        </a:solidFill>
        <a:ln>
          <a:noFill/>
        </a:ln>
        <a:effectLst/>
      </c:spPr>
    </c:plotArea>
    <c:legend>
      <c:legendPos val="r"/>
      <c:layout>
        <c:manualLayout>
          <c:xMode val="edge"/>
          <c:yMode val="edge"/>
          <c:x val="0.23443059687792112"/>
          <c:y val="2.75793238644723E-3"/>
          <c:w val="0.76556940312207888"/>
          <c:h val="9.4635112948656064E-2"/>
        </c:manualLayout>
      </c:layout>
      <c:overlay val="0"/>
      <c:spPr>
        <a:noFill/>
        <a:ln w="25400">
          <a:noFill/>
        </a:ln>
        <a:effectLst/>
      </c:spPr>
      <c:txPr>
        <a:bodyPr rot="0" spcFirstLastPara="1" vertOverflow="ellipsis" vert="horz" wrap="square" anchor="ctr" anchorCtr="1"/>
        <a:lstStyle/>
        <a:p>
          <a:pPr>
            <a:defRPr sz="700" b="0" i="0" u="none" strike="noStrike" kern="1200" baseline="0">
              <a:solidFill>
                <a:schemeClr val="tx1"/>
              </a:solidFill>
              <a:latin typeface="思源黑体 CN Regular" panose="020B0500000000000000" pitchFamily="34" charset="-122"/>
              <a:ea typeface="思源黑体 CN Regular" panose="020B0500000000000000" pitchFamily="34" charset="-122"/>
              <a:cs typeface="+mn-cs"/>
            </a:defRPr>
          </a:pPr>
          <a:endParaRPr lang="zh-CN"/>
        </a:p>
      </c:txPr>
    </c:legend>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solidFill>
            <a:schemeClr val="tx1"/>
          </a:solidFill>
          <a:latin typeface="思源黑体 CN Regular" panose="020B0500000000000000" pitchFamily="34" charset="-122"/>
          <a:ea typeface="思源黑体 CN Regular" panose="020B0500000000000000" pitchFamily="34" charset="-122"/>
        </a:defRPr>
      </a:pPr>
      <a:endParaRPr lang="zh-CN"/>
    </a:p>
  </c:txPr>
  <c:externalData r:id="rId3">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0.20150381489324229"/>
          <c:y val="3.6693393051973881E-2"/>
          <c:w val="0.70986163800533375"/>
          <c:h val="0.71588269884940792"/>
        </c:manualLayout>
      </c:layout>
      <c:scatterChart>
        <c:scatterStyle val="lineMarker"/>
        <c:varyColors val="0"/>
        <c:ser>
          <c:idx val="0"/>
          <c:order val="0"/>
          <c:tx>
            <c:strRef>
              <c:f>Sheet1!$B$1</c:f>
              <c:strCache>
                <c:ptCount val="1"/>
                <c:pt idx="0">
                  <c:v>shNMT1#2</c:v>
                </c:pt>
              </c:strCache>
            </c:strRef>
          </c:tx>
          <c:spPr>
            <a:ln w="25400" cap="rnd">
              <a:noFill/>
              <a:round/>
            </a:ln>
            <a:effectLst/>
          </c:spPr>
          <c:marker>
            <c:symbol val="circle"/>
            <c:size val="5"/>
            <c:spPr>
              <a:solidFill>
                <a:schemeClr val="accent1"/>
              </a:solidFill>
              <a:ln w="9525">
                <a:solidFill>
                  <a:schemeClr val="accent1"/>
                </a:solidFill>
              </a:ln>
              <a:effectLst/>
            </c:spPr>
          </c:marker>
          <c:xVal>
            <c:numRef>
              <c:f>Sheet1!$A$2:$A$7</c:f>
              <c:numCache>
                <c:formatCode>General</c:formatCode>
                <c:ptCount val="6"/>
                <c:pt idx="0">
                  <c:v>0</c:v>
                </c:pt>
                <c:pt idx="1">
                  <c:v>10</c:v>
                </c:pt>
                <c:pt idx="2">
                  <c:v>20</c:v>
                </c:pt>
                <c:pt idx="3">
                  <c:v>30</c:v>
                </c:pt>
                <c:pt idx="4">
                  <c:v>40</c:v>
                </c:pt>
                <c:pt idx="5">
                  <c:v>50</c:v>
                </c:pt>
              </c:numCache>
            </c:numRef>
          </c:xVal>
          <c:yVal>
            <c:numRef>
              <c:f>Sheet1!$B$2:$B$7</c:f>
              <c:numCache>
                <c:formatCode>General</c:formatCode>
                <c:ptCount val="6"/>
                <c:pt idx="0">
                  <c:v>0</c:v>
                </c:pt>
                <c:pt idx="1">
                  <c:v>10</c:v>
                </c:pt>
                <c:pt idx="2">
                  <c:v>25</c:v>
                </c:pt>
                <c:pt idx="3">
                  <c:v>33</c:v>
                </c:pt>
                <c:pt idx="4">
                  <c:v>42</c:v>
                </c:pt>
                <c:pt idx="5">
                  <c:v>45</c:v>
                </c:pt>
              </c:numCache>
            </c:numRef>
          </c:yVal>
          <c:smooth val="0"/>
          <c:extLst>
            <c:ext xmlns:c16="http://schemas.microsoft.com/office/drawing/2014/chart" uri="{C3380CC4-5D6E-409C-BE32-E72D297353CC}">
              <c16:uniqueId val="{00000000-6E55-4D81-99FB-3C7772639494}"/>
            </c:ext>
          </c:extLst>
        </c:ser>
        <c:ser>
          <c:idx val="1"/>
          <c:order val="1"/>
          <c:tx>
            <c:strRef>
              <c:f>Sheet1!$C$1</c:f>
              <c:strCache>
                <c:ptCount val="1"/>
                <c:pt idx="0">
                  <c:v>shNMT1#1</c:v>
                </c:pt>
              </c:strCache>
            </c:strRef>
          </c:tx>
          <c:spPr>
            <a:ln w="25400" cap="rnd">
              <a:noFill/>
              <a:round/>
            </a:ln>
            <a:effectLst/>
          </c:spPr>
          <c:marker>
            <c:symbol val="circle"/>
            <c:size val="5"/>
            <c:spPr>
              <a:solidFill>
                <a:schemeClr val="accent2"/>
              </a:solidFill>
              <a:ln w="9525">
                <a:solidFill>
                  <a:schemeClr val="accent2"/>
                </a:solidFill>
              </a:ln>
              <a:effectLst/>
            </c:spPr>
          </c:marker>
          <c:xVal>
            <c:numRef>
              <c:f>Sheet1!$A$2:$A$7</c:f>
              <c:numCache>
                <c:formatCode>General</c:formatCode>
                <c:ptCount val="6"/>
                <c:pt idx="0">
                  <c:v>0</c:v>
                </c:pt>
                <c:pt idx="1">
                  <c:v>10</c:v>
                </c:pt>
                <c:pt idx="2">
                  <c:v>20</c:v>
                </c:pt>
                <c:pt idx="3">
                  <c:v>30</c:v>
                </c:pt>
                <c:pt idx="4">
                  <c:v>40</c:v>
                </c:pt>
                <c:pt idx="5">
                  <c:v>50</c:v>
                </c:pt>
              </c:numCache>
            </c:numRef>
          </c:xVal>
          <c:yVal>
            <c:numRef>
              <c:f>Sheet1!$C$2:$C$7</c:f>
              <c:numCache>
                <c:formatCode>General</c:formatCode>
                <c:ptCount val="6"/>
                <c:pt idx="0">
                  <c:v>0</c:v>
                </c:pt>
                <c:pt idx="1">
                  <c:v>15</c:v>
                </c:pt>
                <c:pt idx="2">
                  <c:v>10</c:v>
                </c:pt>
                <c:pt idx="3">
                  <c:v>50</c:v>
                </c:pt>
                <c:pt idx="4">
                  <c:v>42</c:v>
                </c:pt>
                <c:pt idx="5">
                  <c:v>20</c:v>
                </c:pt>
              </c:numCache>
            </c:numRef>
          </c:yVal>
          <c:smooth val="0"/>
          <c:extLst>
            <c:ext xmlns:c16="http://schemas.microsoft.com/office/drawing/2014/chart" uri="{C3380CC4-5D6E-409C-BE32-E72D297353CC}">
              <c16:uniqueId val="{00000001-6E55-4D81-99FB-3C7772639494}"/>
            </c:ext>
          </c:extLst>
        </c:ser>
        <c:ser>
          <c:idx val="2"/>
          <c:order val="2"/>
          <c:tx>
            <c:strRef>
              <c:f>Sheet1!$D$1</c:f>
              <c:strCache>
                <c:ptCount val="1"/>
                <c:pt idx="0">
                  <c:v>shCON</c:v>
                </c:pt>
              </c:strCache>
            </c:strRef>
          </c:tx>
          <c:spPr>
            <a:ln w="25400" cap="rnd">
              <a:noFill/>
              <a:round/>
            </a:ln>
            <a:effectLst/>
          </c:spPr>
          <c:marker>
            <c:symbol val="circle"/>
            <c:size val="5"/>
            <c:spPr>
              <a:solidFill>
                <a:schemeClr val="accent3"/>
              </a:solidFill>
              <a:ln w="9525">
                <a:solidFill>
                  <a:schemeClr val="accent3"/>
                </a:solidFill>
              </a:ln>
              <a:effectLst/>
            </c:spPr>
          </c:marker>
          <c:xVal>
            <c:numRef>
              <c:f>Sheet1!$A$2:$A$7</c:f>
              <c:numCache>
                <c:formatCode>General</c:formatCode>
                <c:ptCount val="6"/>
                <c:pt idx="0">
                  <c:v>0</c:v>
                </c:pt>
                <c:pt idx="1">
                  <c:v>10</c:v>
                </c:pt>
                <c:pt idx="2">
                  <c:v>20</c:v>
                </c:pt>
                <c:pt idx="3">
                  <c:v>30</c:v>
                </c:pt>
                <c:pt idx="4">
                  <c:v>40</c:v>
                </c:pt>
                <c:pt idx="5">
                  <c:v>50</c:v>
                </c:pt>
              </c:numCache>
            </c:numRef>
          </c:xVal>
          <c:yVal>
            <c:numRef>
              <c:f>Sheet1!$D$2:$D$7</c:f>
              <c:numCache>
                <c:formatCode>General</c:formatCode>
                <c:ptCount val="6"/>
                <c:pt idx="0">
                  <c:v>0</c:v>
                </c:pt>
                <c:pt idx="1">
                  <c:v>10</c:v>
                </c:pt>
                <c:pt idx="2">
                  <c:v>31</c:v>
                </c:pt>
                <c:pt idx="3">
                  <c:v>30</c:v>
                </c:pt>
                <c:pt idx="4">
                  <c:v>44</c:v>
                </c:pt>
                <c:pt idx="5">
                  <c:v>40</c:v>
                </c:pt>
              </c:numCache>
            </c:numRef>
          </c:yVal>
          <c:smooth val="0"/>
          <c:extLst>
            <c:ext xmlns:c16="http://schemas.microsoft.com/office/drawing/2014/chart" uri="{C3380CC4-5D6E-409C-BE32-E72D297353CC}">
              <c16:uniqueId val="{00000002-6E55-4D81-99FB-3C7772639494}"/>
            </c:ext>
          </c:extLst>
        </c:ser>
        <c:dLbls>
          <c:showLegendKey val="0"/>
          <c:showVal val="0"/>
          <c:showCatName val="0"/>
          <c:showSerName val="0"/>
          <c:showPercent val="0"/>
          <c:showBubbleSize val="0"/>
        </c:dLbls>
        <c:axId val="1990895"/>
        <c:axId val="1991223"/>
      </c:scatterChart>
      <c:valAx>
        <c:axId val="1990895"/>
        <c:scaling>
          <c:orientation val="minMax"/>
        </c:scaling>
        <c:delete val="0"/>
        <c:axPos val="b"/>
        <c:title>
          <c:tx>
            <c:rich>
              <a:bodyPr rot="0" spcFirstLastPara="1" vertOverflow="ellipsis" vert="horz" wrap="square" anchor="ctr" anchorCtr="1"/>
              <a:lstStyle/>
              <a:p>
                <a:pPr>
                  <a:defRPr sz="900" b="0" i="0" u="none" strike="noStrike" kern="1200" baseline="0">
                    <a:solidFill>
                      <a:schemeClr val="tx1"/>
                    </a:solidFill>
                    <a:latin typeface="思源黑体 CN Regular" panose="020B0500000000000000" pitchFamily="34" charset="-122"/>
                    <a:ea typeface="思源黑体 CN Regular" panose="020B0500000000000000" pitchFamily="34" charset="-122"/>
                    <a:cs typeface="+mn-cs"/>
                  </a:defRPr>
                </a:pPr>
                <a:r>
                  <a:rPr lang="en-US" sz="900" dirty="0"/>
                  <a:t>Gait </a:t>
                </a:r>
                <a:r>
                  <a:rPr lang="en-US" sz="900" dirty="0" err="1"/>
                  <a:t>cyle</a:t>
                </a:r>
                <a:r>
                  <a:rPr lang="en-US" sz="900" dirty="0"/>
                  <a:t> %</a:t>
                </a:r>
                <a:endParaRPr lang="zh-CN" sz="900" dirty="0"/>
              </a:p>
            </c:rich>
          </c:tx>
          <c:layout>
            <c:manualLayout>
              <c:xMode val="edge"/>
              <c:yMode val="edge"/>
              <c:x val="0.41557928311865944"/>
              <c:y val="0.85221321954389351"/>
            </c:manualLayout>
          </c:layout>
          <c:overlay val="0"/>
          <c:spPr>
            <a:noFill/>
            <a:ln>
              <a:noFill/>
            </a:ln>
            <a:effectLst/>
          </c:spPr>
          <c:txPr>
            <a:bodyPr rot="0" spcFirstLastPara="1" vertOverflow="ellipsis" vert="horz" wrap="square" anchor="ctr" anchorCtr="1"/>
            <a:lstStyle/>
            <a:p>
              <a:pPr>
                <a:defRPr sz="900" b="0" i="0" u="none" strike="noStrike" kern="1200" baseline="0">
                  <a:solidFill>
                    <a:schemeClr val="tx1"/>
                  </a:solidFill>
                  <a:latin typeface="思源黑体 CN Regular" panose="020B0500000000000000" pitchFamily="34" charset="-122"/>
                  <a:ea typeface="思源黑体 CN Regular" panose="020B0500000000000000" pitchFamily="34" charset="-122"/>
                  <a:cs typeface="+mn-cs"/>
                </a:defRPr>
              </a:pPr>
              <a:endParaRPr lang="zh-CN"/>
            </a:p>
          </c:txPr>
        </c:title>
        <c:numFmt formatCode="General" sourceLinked="1"/>
        <c:majorTickMark val="out"/>
        <c:minorTickMark val="none"/>
        <c:tickLblPos val="nextTo"/>
        <c:spPr>
          <a:noFill/>
          <a:ln w="19050" cap="flat" cmpd="sng" algn="ctr">
            <a:solidFill>
              <a:schemeClr val="tx1"/>
            </a:solidFill>
            <a:round/>
          </a:ln>
          <a:effectLst/>
        </c:spPr>
        <c:txPr>
          <a:bodyPr rot="0" spcFirstLastPara="1" vertOverflow="ellipsis" wrap="square" anchor="ctr" anchorCtr="1"/>
          <a:lstStyle/>
          <a:p>
            <a:pPr>
              <a:defRPr sz="800" b="0" i="0" u="none" strike="noStrike" kern="1200" baseline="0">
                <a:solidFill>
                  <a:schemeClr val="tx1"/>
                </a:solidFill>
                <a:latin typeface="思源黑体 CN Regular" panose="020B0500000000000000" pitchFamily="34" charset="-122"/>
                <a:ea typeface="思源黑体 CN Regular" panose="020B0500000000000000" pitchFamily="34" charset="-122"/>
                <a:cs typeface="+mn-cs"/>
              </a:defRPr>
            </a:pPr>
            <a:endParaRPr lang="zh-CN"/>
          </a:p>
        </c:txPr>
        <c:crossAx val="1991223"/>
        <c:crosses val="autoZero"/>
        <c:crossBetween val="midCat"/>
      </c:valAx>
      <c:valAx>
        <c:axId val="1991223"/>
        <c:scaling>
          <c:orientation val="minMax"/>
        </c:scaling>
        <c:delete val="0"/>
        <c:axPos val="l"/>
        <c:title>
          <c:tx>
            <c:rich>
              <a:bodyPr rot="-5400000" spcFirstLastPara="1" vertOverflow="ellipsis" vert="horz" wrap="square" anchor="ctr" anchorCtr="1"/>
              <a:lstStyle/>
              <a:p>
                <a:pPr>
                  <a:defRPr sz="800" b="0" i="0" u="none" strike="noStrike" kern="1200" baseline="0">
                    <a:solidFill>
                      <a:schemeClr val="tx1"/>
                    </a:solidFill>
                    <a:latin typeface="思源黑体 CN Regular" panose="020B0500000000000000" pitchFamily="34" charset="-122"/>
                    <a:ea typeface="思源黑体 CN Regular" panose="020B0500000000000000" pitchFamily="34" charset="-122"/>
                    <a:cs typeface="+mn-cs"/>
                  </a:defRPr>
                </a:pPr>
                <a:r>
                  <a:rPr lang="en-US" sz="800" dirty="0"/>
                  <a:t>Absorbance, OD450 nm</a:t>
                </a:r>
                <a:endParaRPr lang="zh-CN" sz="800" dirty="0"/>
              </a:p>
            </c:rich>
          </c:tx>
          <c:layout>
            <c:manualLayout>
              <c:xMode val="edge"/>
              <c:yMode val="edge"/>
              <c:x val="1.7124853308414286E-3"/>
              <c:y val="0.10846679584158921"/>
            </c:manualLayout>
          </c:layout>
          <c:overlay val="0"/>
          <c:spPr>
            <a:noFill/>
            <a:ln>
              <a:noFill/>
            </a:ln>
            <a:effectLst/>
          </c:spPr>
          <c:txPr>
            <a:bodyPr rot="-5400000" spcFirstLastPara="1" vertOverflow="ellipsis" vert="horz" wrap="square" anchor="ctr" anchorCtr="1"/>
            <a:lstStyle/>
            <a:p>
              <a:pPr>
                <a:defRPr sz="800" b="0" i="0" u="none" strike="noStrike" kern="1200" baseline="0">
                  <a:solidFill>
                    <a:schemeClr val="tx1"/>
                  </a:solidFill>
                  <a:latin typeface="思源黑体 CN Regular" panose="020B0500000000000000" pitchFamily="34" charset="-122"/>
                  <a:ea typeface="思源黑体 CN Regular" panose="020B0500000000000000" pitchFamily="34" charset="-122"/>
                  <a:cs typeface="+mn-cs"/>
                </a:defRPr>
              </a:pPr>
              <a:endParaRPr lang="zh-CN"/>
            </a:p>
          </c:txPr>
        </c:title>
        <c:numFmt formatCode="General" sourceLinked="1"/>
        <c:majorTickMark val="out"/>
        <c:minorTickMark val="none"/>
        <c:tickLblPos val="nextTo"/>
        <c:spPr>
          <a:noFill/>
          <a:ln w="22225">
            <a:solidFill>
              <a:schemeClr val="tx1"/>
            </a:solidFill>
          </a:ln>
          <a:effectLst/>
        </c:spPr>
        <c:txPr>
          <a:bodyPr rot="-60000000" spcFirstLastPara="1" vertOverflow="ellipsis" vert="horz" wrap="square" anchor="ctr" anchorCtr="1"/>
          <a:lstStyle/>
          <a:p>
            <a:pPr>
              <a:defRPr sz="800" b="0" i="0" u="none" strike="noStrike" kern="1200" baseline="0">
                <a:solidFill>
                  <a:schemeClr val="tx1"/>
                </a:solidFill>
                <a:latin typeface="思源黑体 CN Regular" panose="020B0500000000000000" pitchFamily="34" charset="-122"/>
                <a:ea typeface="思源黑体 CN Regular" panose="020B0500000000000000" pitchFamily="34" charset="-122"/>
                <a:cs typeface="+mn-cs"/>
              </a:defRPr>
            </a:pPr>
            <a:endParaRPr lang="zh-CN"/>
          </a:p>
        </c:txPr>
        <c:crossAx val="1990895"/>
        <c:crosses val="autoZero"/>
        <c:crossBetween val="midCat"/>
      </c:valAx>
      <c:spPr>
        <a:solidFill>
          <a:schemeClr val="bg1"/>
        </a:solidFill>
        <a:ln>
          <a:noFill/>
        </a:ln>
        <a:effectLst/>
      </c:spPr>
    </c:plotArea>
    <c:legend>
      <c:legendPos val="r"/>
      <c:layout>
        <c:manualLayout>
          <c:xMode val="edge"/>
          <c:yMode val="edge"/>
          <c:x val="0.22256525819490833"/>
          <c:y val="2.75793238644723E-3"/>
          <c:w val="0.77153383793722485"/>
          <c:h val="7.9252705698818524E-2"/>
        </c:manualLayout>
      </c:layout>
      <c:overlay val="0"/>
      <c:spPr>
        <a:noFill/>
        <a:ln w="25400">
          <a:noFill/>
        </a:ln>
        <a:effectLst/>
      </c:spPr>
      <c:txPr>
        <a:bodyPr rot="0" spcFirstLastPara="1" vertOverflow="ellipsis" vert="horz" wrap="square" anchor="ctr" anchorCtr="1"/>
        <a:lstStyle/>
        <a:p>
          <a:pPr>
            <a:defRPr sz="700" b="0" i="0" u="none" strike="noStrike" kern="1200" baseline="0">
              <a:solidFill>
                <a:schemeClr val="tx1"/>
              </a:solidFill>
              <a:latin typeface="思源黑体 CN Regular" panose="020B0500000000000000" pitchFamily="34" charset="-122"/>
              <a:ea typeface="思源黑体 CN Regular" panose="020B0500000000000000" pitchFamily="34" charset="-122"/>
              <a:cs typeface="+mn-cs"/>
            </a:defRPr>
          </a:pPr>
          <a:endParaRPr lang="zh-CN"/>
        </a:p>
      </c:txPr>
    </c:legend>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solidFill>
            <a:schemeClr val="tx1"/>
          </a:solidFill>
          <a:latin typeface="思源黑体 CN Regular" panose="020B0500000000000000" pitchFamily="34" charset="-122"/>
          <a:ea typeface="思源黑体 CN Regular" panose="020B0500000000000000" pitchFamily="34" charset="-122"/>
        </a:defRPr>
      </a:pPr>
      <a:endParaRPr lang="zh-CN"/>
    </a:p>
  </c:txPr>
  <c:externalData r:id="rId3">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3.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4.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5.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6.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332">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2.xml><?xml version="1.0" encoding="utf-8"?>
<cs:chartStyle xmlns:cs="http://schemas.microsoft.com/office/drawing/2012/chartStyle" xmlns:a="http://schemas.openxmlformats.org/drawingml/2006/main" id="332">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3.xml><?xml version="1.0" encoding="utf-8"?>
<cs:chartStyle xmlns:cs="http://schemas.microsoft.com/office/drawing/2012/chartStyle" xmlns:a="http://schemas.openxmlformats.org/drawingml/2006/main" id="332">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4.xml><?xml version="1.0" encoding="utf-8"?>
<cs:chartStyle xmlns:cs="http://schemas.microsoft.com/office/drawing/2012/chartStyle" xmlns:a="http://schemas.openxmlformats.org/drawingml/2006/main" id="332">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5.xml><?xml version="1.0" encoding="utf-8"?>
<cs:chartStyle xmlns:cs="http://schemas.microsoft.com/office/drawing/2012/chartStyle" xmlns:a="http://schemas.openxmlformats.org/drawingml/2006/main" id="332">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6.xml><?xml version="1.0" encoding="utf-8"?>
<cs:chartStyle xmlns:cs="http://schemas.microsoft.com/office/drawing/2012/chartStyle" xmlns:a="http://schemas.openxmlformats.org/drawingml/2006/main" id="332">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标题幻灯片">
    <p:spTree>
      <p:nvGrpSpPr>
        <p:cNvPr id="1" name=""/>
        <p:cNvGrpSpPr/>
        <p:nvPr/>
      </p:nvGrpSpPr>
      <p:grpSpPr>
        <a:xfrm>
          <a:off x="0" y="0"/>
          <a:ext cx="0" cy="0"/>
          <a:chOff x="0" y="0"/>
          <a:chExt cx="0" cy="0"/>
        </a:xfrm>
      </p:grpSpPr>
      <p:cxnSp>
        <p:nvCxnSpPr>
          <p:cNvPr id="4" name="直接连接符 3">
            <a:extLst>
              <a:ext uri="{FF2B5EF4-FFF2-40B4-BE49-F238E27FC236}">
                <a16:creationId xmlns:a16="http://schemas.microsoft.com/office/drawing/2014/main" id="{B8DDAFDE-3FA7-4196-87E4-5223E75C2D37}"/>
              </a:ext>
            </a:extLst>
          </p:cNvPr>
          <p:cNvCxnSpPr>
            <a:cxnSpLocks/>
          </p:cNvCxnSpPr>
          <p:nvPr userDrawn="1"/>
        </p:nvCxnSpPr>
        <p:spPr>
          <a:xfrm>
            <a:off x="0" y="952495"/>
            <a:ext cx="12192000" cy="0"/>
          </a:xfrm>
          <a:prstGeom prst="line">
            <a:avLst/>
          </a:prstGeom>
          <a:ln w="25400">
            <a:solidFill>
              <a:schemeClr val="accent1"/>
            </a:solidFill>
          </a:ln>
        </p:spPr>
        <p:style>
          <a:lnRef idx="1">
            <a:schemeClr val="accent1"/>
          </a:lnRef>
          <a:fillRef idx="0">
            <a:schemeClr val="accent1"/>
          </a:fillRef>
          <a:effectRef idx="0">
            <a:schemeClr val="accent1"/>
          </a:effectRef>
          <a:fontRef idx="minor">
            <a:schemeClr val="tx1"/>
          </a:fontRef>
        </p:style>
      </p:cxnSp>
      <p:sp>
        <p:nvSpPr>
          <p:cNvPr id="6" name="矩形 5">
            <a:extLst>
              <a:ext uri="{FF2B5EF4-FFF2-40B4-BE49-F238E27FC236}">
                <a16:creationId xmlns:a16="http://schemas.microsoft.com/office/drawing/2014/main" id="{31876484-05AF-4C21-9BB4-6BF3E6DD58D5}"/>
              </a:ext>
            </a:extLst>
          </p:cNvPr>
          <p:cNvSpPr/>
          <p:nvPr userDrawn="1"/>
        </p:nvSpPr>
        <p:spPr>
          <a:xfrm>
            <a:off x="1" y="0"/>
            <a:ext cx="2040752"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grpSp>
        <p:nvGrpSpPr>
          <p:cNvPr id="8" name="组合 7">
            <a:extLst>
              <a:ext uri="{FF2B5EF4-FFF2-40B4-BE49-F238E27FC236}">
                <a16:creationId xmlns:a16="http://schemas.microsoft.com/office/drawing/2014/main" id="{487FDBD3-341A-4BE0-B159-512B43819174}"/>
              </a:ext>
            </a:extLst>
          </p:cNvPr>
          <p:cNvGrpSpPr/>
          <p:nvPr userDrawn="1"/>
        </p:nvGrpSpPr>
        <p:grpSpPr>
          <a:xfrm>
            <a:off x="11372673" y="304817"/>
            <a:ext cx="549102" cy="451012"/>
            <a:chOff x="301625" y="297823"/>
            <a:chExt cx="635651" cy="522101"/>
          </a:xfrm>
        </p:grpSpPr>
        <p:sp>
          <p:nvSpPr>
            <p:cNvPr id="9" name="graduate-hat_59495">
              <a:extLst>
                <a:ext uri="{FF2B5EF4-FFF2-40B4-BE49-F238E27FC236}">
                  <a16:creationId xmlns:a16="http://schemas.microsoft.com/office/drawing/2014/main" id="{540CC456-96E4-49DC-A7FC-804C5AD03CAA}"/>
                </a:ext>
              </a:extLst>
            </p:cNvPr>
            <p:cNvSpPr/>
            <p:nvPr userDrawn="1"/>
          </p:nvSpPr>
          <p:spPr>
            <a:xfrm>
              <a:off x="301625" y="346963"/>
              <a:ext cx="635651" cy="472961"/>
            </a:xfrm>
            <a:custGeom>
              <a:avLst/>
              <a:gdLst>
                <a:gd name="connsiteX0" fmla="*/ 10223 w 596651"/>
                <a:gd name="connsiteY0" fmla="*/ 332075 h 443943"/>
                <a:gd name="connsiteX1" fmla="*/ 57217 w 596651"/>
                <a:gd name="connsiteY1" fmla="*/ 332075 h 443943"/>
                <a:gd name="connsiteX2" fmla="*/ 67353 w 596651"/>
                <a:gd name="connsiteY2" fmla="*/ 427370 h 443943"/>
                <a:gd name="connsiteX3" fmla="*/ 63667 w 596651"/>
                <a:gd name="connsiteY3" fmla="*/ 438879 h 443943"/>
                <a:gd name="connsiteX4" fmla="*/ 52149 w 596651"/>
                <a:gd name="connsiteY4" fmla="*/ 443943 h 443943"/>
                <a:gd name="connsiteX5" fmla="*/ 15291 w 596651"/>
                <a:gd name="connsiteY5" fmla="*/ 443943 h 443943"/>
                <a:gd name="connsiteX6" fmla="*/ 4233 w 596651"/>
                <a:gd name="connsiteY6" fmla="*/ 438879 h 443943"/>
                <a:gd name="connsiteX7" fmla="*/ 87 w 596651"/>
                <a:gd name="connsiteY7" fmla="*/ 427370 h 443943"/>
                <a:gd name="connsiteX8" fmla="*/ 528865 w 596651"/>
                <a:gd name="connsiteY8" fmla="*/ 191185 h 443943"/>
                <a:gd name="connsiteX9" fmla="*/ 541774 w 596651"/>
                <a:gd name="connsiteY9" fmla="*/ 309970 h 443943"/>
                <a:gd name="connsiteX10" fmla="*/ 526559 w 596651"/>
                <a:gd name="connsiteY10" fmla="*/ 325163 h 443943"/>
                <a:gd name="connsiteX11" fmla="*/ 523793 w 596651"/>
                <a:gd name="connsiteY11" fmla="*/ 325163 h 443943"/>
                <a:gd name="connsiteX12" fmla="*/ 486909 w 596651"/>
                <a:gd name="connsiteY12" fmla="*/ 322401 h 443943"/>
                <a:gd name="connsiteX13" fmla="*/ 322773 w 596651"/>
                <a:gd name="connsiteY13" fmla="*/ 399749 h 443943"/>
                <a:gd name="connsiteX14" fmla="*/ 309403 w 596651"/>
                <a:gd name="connsiteY14" fmla="*/ 408036 h 443943"/>
                <a:gd name="connsiteX15" fmla="*/ 304792 w 596651"/>
                <a:gd name="connsiteY15" fmla="*/ 408036 h 443943"/>
                <a:gd name="connsiteX16" fmla="*/ 290960 w 596651"/>
                <a:gd name="connsiteY16" fmla="*/ 399749 h 443943"/>
                <a:gd name="connsiteX17" fmla="*/ 126825 w 596651"/>
                <a:gd name="connsiteY17" fmla="*/ 322401 h 443943"/>
                <a:gd name="connsiteX18" fmla="*/ 89940 w 596651"/>
                <a:gd name="connsiteY18" fmla="*/ 325163 h 443943"/>
                <a:gd name="connsiteX19" fmla="*/ 77031 w 596651"/>
                <a:gd name="connsiteY19" fmla="*/ 320559 h 443943"/>
                <a:gd name="connsiteX20" fmla="*/ 72420 w 596651"/>
                <a:gd name="connsiteY20" fmla="*/ 307668 h 443943"/>
                <a:gd name="connsiteX21" fmla="*/ 85330 w 596651"/>
                <a:gd name="connsiteY21" fmla="*/ 192106 h 443943"/>
                <a:gd name="connsiteX22" fmla="*/ 307097 w 596651"/>
                <a:gd name="connsiteY22" fmla="*/ 275439 h 443943"/>
                <a:gd name="connsiteX23" fmla="*/ 301581 w 596651"/>
                <a:gd name="connsiteY23" fmla="*/ 1035 h 443943"/>
                <a:gd name="connsiteX24" fmla="*/ 312185 w 596651"/>
                <a:gd name="connsiteY24" fmla="*/ 1035 h 443943"/>
                <a:gd name="connsiteX25" fmla="*/ 586508 w 596651"/>
                <a:gd name="connsiteY25" fmla="*/ 104161 h 443943"/>
                <a:gd name="connsiteX26" fmla="*/ 596651 w 596651"/>
                <a:gd name="connsiteY26" fmla="*/ 118433 h 443943"/>
                <a:gd name="connsiteX27" fmla="*/ 586508 w 596651"/>
                <a:gd name="connsiteY27" fmla="*/ 132705 h 443943"/>
                <a:gd name="connsiteX28" fmla="*/ 312185 w 596651"/>
                <a:gd name="connsiteY28" fmla="*/ 235830 h 443943"/>
                <a:gd name="connsiteX29" fmla="*/ 301581 w 596651"/>
                <a:gd name="connsiteY29" fmla="*/ 235830 h 443943"/>
                <a:gd name="connsiteX30" fmla="*/ 51233 w 596651"/>
                <a:gd name="connsiteY30" fmla="*/ 141912 h 443943"/>
                <a:gd name="connsiteX31" fmla="*/ 51233 w 596651"/>
                <a:gd name="connsiteY31" fmla="*/ 305348 h 443943"/>
                <a:gd name="connsiteX32" fmla="*/ 16654 w 596651"/>
                <a:gd name="connsiteY32" fmla="*/ 305348 h 443943"/>
                <a:gd name="connsiteX33" fmla="*/ 16654 w 596651"/>
                <a:gd name="connsiteY33" fmla="*/ 118433 h 443943"/>
                <a:gd name="connsiteX34" fmla="*/ 26336 w 596651"/>
                <a:gd name="connsiteY34" fmla="*/ 104161 h 44394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596651" h="443943">
                  <a:moveTo>
                    <a:pt x="10223" y="332075"/>
                  </a:moveTo>
                  <a:lnTo>
                    <a:pt x="57217" y="332075"/>
                  </a:lnTo>
                  <a:lnTo>
                    <a:pt x="67353" y="427370"/>
                  </a:lnTo>
                  <a:cubicBezTo>
                    <a:pt x="67813" y="431513"/>
                    <a:pt x="66431" y="435656"/>
                    <a:pt x="63667" y="438879"/>
                  </a:cubicBezTo>
                  <a:cubicBezTo>
                    <a:pt x="60902" y="442102"/>
                    <a:pt x="56756" y="443943"/>
                    <a:pt x="52149" y="443943"/>
                  </a:cubicBezTo>
                  <a:lnTo>
                    <a:pt x="15291" y="443943"/>
                  </a:lnTo>
                  <a:cubicBezTo>
                    <a:pt x="11144" y="443943"/>
                    <a:pt x="6998" y="442102"/>
                    <a:pt x="4233" y="438879"/>
                  </a:cubicBezTo>
                  <a:cubicBezTo>
                    <a:pt x="1008" y="435656"/>
                    <a:pt x="-374" y="431513"/>
                    <a:pt x="87" y="427370"/>
                  </a:cubicBezTo>
                  <a:close/>
                  <a:moveTo>
                    <a:pt x="528865" y="191185"/>
                  </a:moveTo>
                  <a:cubicBezTo>
                    <a:pt x="528865" y="191185"/>
                    <a:pt x="541774" y="308588"/>
                    <a:pt x="541774" y="309970"/>
                  </a:cubicBezTo>
                  <a:cubicBezTo>
                    <a:pt x="542235" y="318717"/>
                    <a:pt x="534858" y="325163"/>
                    <a:pt x="526559" y="325163"/>
                  </a:cubicBezTo>
                  <a:cubicBezTo>
                    <a:pt x="526098" y="325163"/>
                    <a:pt x="524715" y="325163"/>
                    <a:pt x="523793" y="325163"/>
                  </a:cubicBezTo>
                  <a:cubicBezTo>
                    <a:pt x="511806" y="323321"/>
                    <a:pt x="499357" y="322401"/>
                    <a:pt x="486909" y="322401"/>
                  </a:cubicBezTo>
                  <a:cubicBezTo>
                    <a:pt x="413140" y="322401"/>
                    <a:pt x="347209" y="353708"/>
                    <a:pt x="322773" y="399749"/>
                  </a:cubicBezTo>
                  <a:cubicBezTo>
                    <a:pt x="320468" y="404813"/>
                    <a:pt x="314935" y="408036"/>
                    <a:pt x="309403" y="408036"/>
                  </a:cubicBezTo>
                  <a:lnTo>
                    <a:pt x="304792" y="408036"/>
                  </a:lnTo>
                  <a:cubicBezTo>
                    <a:pt x="298798" y="408036"/>
                    <a:pt x="293727" y="404813"/>
                    <a:pt x="290960" y="399749"/>
                  </a:cubicBezTo>
                  <a:cubicBezTo>
                    <a:pt x="266524" y="353248"/>
                    <a:pt x="200594" y="322401"/>
                    <a:pt x="126825" y="322401"/>
                  </a:cubicBezTo>
                  <a:cubicBezTo>
                    <a:pt x="114376" y="322401"/>
                    <a:pt x="101928" y="323321"/>
                    <a:pt x="89940" y="325163"/>
                  </a:cubicBezTo>
                  <a:cubicBezTo>
                    <a:pt x="85330" y="325623"/>
                    <a:pt x="80258" y="324242"/>
                    <a:pt x="77031" y="320559"/>
                  </a:cubicBezTo>
                  <a:cubicBezTo>
                    <a:pt x="73342" y="317336"/>
                    <a:pt x="71959" y="312732"/>
                    <a:pt x="72420" y="307668"/>
                  </a:cubicBezTo>
                  <a:lnTo>
                    <a:pt x="85330" y="192106"/>
                  </a:lnTo>
                  <a:lnTo>
                    <a:pt x="307097" y="275439"/>
                  </a:lnTo>
                  <a:close/>
                  <a:moveTo>
                    <a:pt x="301581" y="1035"/>
                  </a:moveTo>
                  <a:cubicBezTo>
                    <a:pt x="305270" y="-346"/>
                    <a:pt x="308958" y="-346"/>
                    <a:pt x="312185" y="1035"/>
                  </a:cubicBezTo>
                  <a:lnTo>
                    <a:pt x="586508" y="104161"/>
                  </a:lnTo>
                  <a:cubicBezTo>
                    <a:pt x="592502" y="106463"/>
                    <a:pt x="596651" y="111987"/>
                    <a:pt x="596651" y="118433"/>
                  </a:cubicBezTo>
                  <a:cubicBezTo>
                    <a:pt x="596651" y="124878"/>
                    <a:pt x="592502" y="130403"/>
                    <a:pt x="586508" y="132705"/>
                  </a:cubicBezTo>
                  <a:lnTo>
                    <a:pt x="312185" y="235830"/>
                  </a:lnTo>
                  <a:cubicBezTo>
                    <a:pt x="308958" y="237211"/>
                    <a:pt x="305270" y="237211"/>
                    <a:pt x="301581" y="235830"/>
                  </a:cubicBezTo>
                  <a:lnTo>
                    <a:pt x="51233" y="141912"/>
                  </a:lnTo>
                  <a:lnTo>
                    <a:pt x="51233" y="305348"/>
                  </a:lnTo>
                  <a:lnTo>
                    <a:pt x="16654" y="305348"/>
                  </a:lnTo>
                  <a:lnTo>
                    <a:pt x="16654" y="118433"/>
                  </a:lnTo>
                  <a:cubicBezTo>
                    <a:pt x="16654" y="112448"/>
                    <a:pt x="20343" y="106463"/>
                    <a:pt x="26336" y="104161"/>
                  </a:cubicBezTo>
                  <a:close/>
                </a:path>
              </a:pathLst>
            </a:custGeom>
            <a:solidFill>
              <a:schemeClr val="accent1">
                <a:alpha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graduate-hat_59495">
              <a:extLst>
                <a:ext uri="{FF2B5EF4-FFF2-40B4-BE49-F238E27FC236}">
                  <a16:creationId xmlns:a16="http://schemas.microsoft.com/office/drawing/2014/main" id="{AC1307CB-FA60-400F-BB83-73F6D7E7E1E4}"/>
                </a:ext>
              </a:extLst>
            </p:cNvPr>
            <p:cNvSpPr/>
            <p:nvPr userDrawn="1"/>
          </p:nvSpPr>
          <p:spPr>
            <a:xfrm>
              <a:off x="301625" y="297823"/>
              <a:ext cx="635651" cy="472961"/>
            </a:xfrm>
            <a:custGeom>
              <a:avLst/>
              <a:gdLst>
                <a:gd name="connsiteX0" fmla="*/ 10223 w 596651"/>
                <a:gd name="connsiteY0" fmla="*/ 332075 h 443943"/>
                <a:gd name="connsiteX1" fmla="*/ 57217 w 596651"/>
                <a:gd name="connsiteY1" fmla="*/ 332075 h 443943"/>
                <a:gd name="connsiteX2" fmla="*/ 67353 w 596651"/>
                <a:gd name="connsiteY2" fmla="*/ 427370 h 443943"/>
                <a:gd name="connsiteX3" fmla="*/ 63667 w 596651"/>
                <a:gd name="connsiteY3" fmla="*/ 438879 h 443943"/>
                <a:gd name="connsiteX4" fmla="*/ 52149 w 596651"/>
                <a:gd name="connsiteY4" fmla="*/ 443943 h 443943"/>
                <a:gd name="connsiteX5" fmla="*/ 15291 w 596651"/>
                <a:gd name="connsiteY5" fmla="*/ 443943 h 443943"/>
                <a:gd name="connsiteX6" fmla="*/ 4233 w 596651"/>
                <a:gd name="connsiteY6" fmla="*/ 438879 h 443943"/>
                <a:gd name="connsiteX7" fmla="*/ 87 w 596651"/>
                <a:gd name="connsiteY7" fmla="*/ 427370 h 443943"/>
                <a:gd name="connsiteX8" fmla="*/ 528865 w 596651"/>
                <a:gd name="connsiteY8" fmla="*/ 191185 h 443943"/>
                <a:gd name="connsiteX9" fmla="*/ 541774 w 596651"/>
                <a:gd name="connsiteY9" fmla="*/ 309970 h 443943"/>
                <a:gd name="connsiteX10" fmla="*/ 526559 w 596651"/>
                <a:gd name="connsiteY10" fmla="*/ 325163 h 443943"/>
                <a:gd name="connsiteX11" fmla="*/ 523793 w 596651"/>
                <a:gd name="connsiteY11" fmla="*/ 325163 h 443943"/>
                <a:gd name="connsiteX12" fmla="*/ 486909 w 596651"/>
                <a:gd name="connsiteY12" fmla="*/ 322401 h 443943"/>
                <a:gd name="connsiteX13" fmla="*/ 322773 w 596651"/>
                <a:gd name="connsiteY13" fmla="*/ 399749 h 443943"/>
                <a:gd name="connsiteX14" fmla="*/ 309403 w 596651"/>
                <a:gd name="connsiteY14" fmla="*/ 408036 h 443943"/>
                <a:gd name="connsiteX15" fmla="*/ 304792 w 596651"/>
                <a:gd name="connsiteY15" fmla="*/ 408036 h 443943"/>
                <a:gd name="connsiteX16" fmla="*/ 290960 w 596651"/>
                <a:gd name="connsiteY16" fmla="*/ 399749 h 443943"/>
                <a:gd name="connsiteX17" fmla="*/ 126825 w 596651"/>
                <a:gd name="connsiteY17" fmla="*/ 322401 h 443943"/>
                <a:gd name="connsiteX18" fmla="*/ 89940 w 596651"/>
                <a:gd name="connsiteY18" fmla="*/ 325163 h 443943"/>
                <a:gd name="connsiteX19" fmla="*/ 77031 w 596651"/>
                <a:gd name="connsiteY19" fmla="*/ 320559 h 443943"/>
                <a:gd name="connsiteX20" fmla="*/ 72420 w 596651"/>
                <a:gd name="connsiteY20" fmla="*/ 307668 h 443943"/>
                <a:gd name="connsiteX21" fmla="*/ 85330 w 596651"/>
                <a:gd name="connsiteY21" fmla="*/ 192106 h 443943"/>
                <a:gd name="connsiteX22" fmla="*/ 307097 w 596651"/>
                <a:gd name="connsiteY22" fmla="*/ 275439 h 443943"/>
                <a:gd name="connsiteX23" fmla="*/ 301581 w 596651"/>
                <a:gd name="connsiteY23" fmla="*/ 1035 h 443943"/>
                <a:gd name="connsiteX24" fmla="*/ 312185 w 596651"/>
                <a:gd name="connsiteY24" fmla="*/ 1035 h 443943"/>
                <a:gd name="connsiteX25" fmla="*/ 586508 w 596651"/>
                <a:gd name="connsiteY25" fmla="*/ 104161 h 443943"/>
                <a:gd name="connsiteX26" fmla="*/ 596651 w 596651"/>
                <a:gd name="connsiteY26" fmla="*/ 118433 h 443943"/>
                <a:gd name="connsiteX27" fmla="*/ 586508 w 596651"/>
                <a:gd name="connsiteY27" fmla="*/ 132705 h 443943"/>
                <a:gd name="connsiteX28" fmla="*/ 312185 w 596651"/>
                <a:gd name="connsiteY28" fmla="*/ 235830 h 443943"/>
                <a:gd name="connsiteX29" fmla="*/ 301581 w 596651"/>
                <a:gd name="connsiteY29" fmla="*/ 235830 h 443943"/>
                <a:gd name="connsiteX30" fmla="*/ 51233 w 596651"/>
                <a:gd name="connsiteY30" fmla="*/ 141912 h 443943"/>
                <a:gd name="connsiteX31" fmla="*/ 51233 w 596651"/>
                <a:gd name="connsiteY31" fmla="*/ 305348 h 443943"/>
                <a:gd name="connsiteX32" fmla="*/ 16654 w 596651"/>
                <a:gd name="connsiteY32" fmla="*/ 305348 h 443943"/>
                <a:gd name="connsiteX33" fmla="*/ 16654 w 596651"/>
                <a:gd name="connsiteY33" fmla="*/ 118433 h 443943"/>
                <a:gd name="connsiteX34" fmla="*/ 26336 w 596651"/>
                <a:gd name="connsiteY34" fmla="*/ 104161 h 44394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596651" h="443943">
                  <a:moveTo>
                    <a:pt x="10223" y="332075"/>
                  </a:moveTo>
                  <a:lnTo>
                    <a:pt x="57217" y="332075"/>
                  </a:lnTo>
                  <a:lnTo>
                    <a:pt x="67353" y="427370"/>
                  </a:lnTo>
                  <a:cubicBezTo>
                    <a:pt x="67813" y="431513"/>
                    <a:pt x="66431" y="435656"/>
                    <a:pt x="63667" y="438879"/>
                  </a:cubicBezTo>
                  <a:cubicBezTo>
                    <a:pt x="60902" y="442102"/>
                    <a:pt x="56756" y="443943"/>
                    <a:pt x="52149" y="443943"/>
                  </a:cubicBezTo>
                  <a:lnTo>
                    <a:pt x="15291" y="443943"/>
                  </a:lnTo>
                  <a:cubicBezTo>
                    <a:pt x="11144" y="443943"/>
                    <a:pt x="6998" y="442102"/>
                    <a:pt x="4233" y="438879"/>
                  </a:cubicBezTo>
                  <a:cubicBezTo>
                    <a:pt x="1008" y="435656"/>
                    <a:pt x="-374" y="431513"/>
                    <a:pt x="87" y="427370"/>
                  </a:cubicBezTo>
                  <a:close/>
                  <a:moveTo>
                    <a:pt x="528865" y="191185"/>
                  </a:moveTo>
                  <a:cubicBezTo>
                    <a:pt x="528865" y="191185"/>
                    <a:pt x="541774" y="308588"/>
                    <a:pt x="541774" y="309970"/>
                  </a:cubicBezTo>
                  <a:cubicBezTo>
                    <a:pt x="542235" y="318717"/>
                    <a:pt x="534858" y="325163"/>
                    <a:pt x="526559" y="325163"/>
                  </a:cubicBezTo>
                  <a:cubicBezTo>
                    <a:pt x="526098" y="325163"/>
                    <a:pt x="524715" y="325163"/>
                    <a:pt x="523793" y="325163"/>
                  </a:cubicBezTo>
                  <a:cubicBezTo>
                    <a:pt x="511806" y="323321"/>
                    <a:pt x="499357" y="322401"/>
                    <a:pt x="486909" y="322401"/>
                  </a:cubicBezTo>
                  <a:cubicBezTo>
                    <a:pt x="413140" y="322401"/>
                    <a:pt x="347209" y="353708"/>
                    <a:pt x="322773" y="399749"/>
                  </a:cubicBezTo>
                  <a:cubicBezTo>
                    <a:pt x="320468" y="404813"/>
                    <a:pt x="314935" y="408036"/>
                    <a:pt x="309403" y="408036"/>
                  </a:cubicBezTo>
                  <a:lnTo>
                    <a:pt x="304792" y="408036"/>
                  </a:lnTo>
                  <a:cubicBezTo>
                    <a:pt x="298798" y="408036"/>
                    <a:pt x="293727" y="404813"/>
                    <a:pt x="290960" y="399749"/>
                  </a:cubicBezTo>
                  <a:cubicBezTo>
                    <a:pt x="266524" y="353248"/>
                    <a:pt x="200594" y="322401"/>
                    <a:pt x="126825" y="322401"/>
                  </a:cubicBezTo>
                  <a:cubicBezTo>
                    <a:pt x="114376" y="322401"/>
                    <a:pt x="101928" y="323321"/>
                    <a:pt x="89940" y="325163"/>
                  </a:cubicBezTo>
                  <a:cubicBezTo>
                    <a:pt x="85330" y="325623"/>
                    <a:pt x="80258" y="324242"/>
                    <a:pt x="77031" y="320559"/>
                  </a:cubicBezTo>
                  <a:cubicBezTo>
                    <a:pt x="73342" y="317336"/>
                    <a:pt x="71959" y="312732"/>
                    <a:pt x="72420" y="307668"/>
                  </a:cubicBezTo>
                  <a:lnTo>
                    <a:pt x="85330" y="192106"/>
                  </a:lnTo>
                  <a:lnTo>
                    <a:pt x="307097" y="275439"/>
                  </a:lnTo>
                  <a:close/>
                  <a:moveTo>
                    <a:pt x="301581" y="1035"/>
                  </a:moveTo>
                  <a:cubicBezTo>
                    <a:pt x="305270" y="-346"/>
                    <a:pt x="308958" y="-346"/>
                    <a:pt x="312185" y="1035"/>
                  </a:cubicBezTo>
                  <a:lnTo>
                    <a:pt x="586508" y="104161"/>
                  </a:lnTo>
                  <a:cubicBezTo>
                    <a:pt x="592502" y="106463"/>
                    <a:pt x="596651" y="111987"/>
                    <a:pt x="596651" y="118433"/>
                  </a:cubicBezTo>
                  <a:cubicBezTo>
                    <a:pt x="596651" y="124878"/>
                    <a:pt x="592502" y="130403"/>
                    <a:pt x="586508" y="132705"/>
                  </a:cubicBezTo>
                  <a:lnTo>
                    <a:pt x="312185" y="235830"/>
                  </a:lnTo>
                  <a:cubicBezTo>
                    <a:pt x="308958" y="237211"/>
                    <a:pt x="305270" y="237211"/>
                    <a:pt x="301581" y="235830"/>
                  </a:cubicBezTo>
                  <a:lnTo>
                    <a:pt x="51233" y="141912"/>
                  </a:lnTo>
                  <a:lnTo>
                    <a:pt x="51233" y="305348"/>
                  </a:lnTo>
                  <a:lnTo>
                    <a:pt x="16654" y="305348"/>
                  </a:lnTo>
                  <a:lnTo>
                    <a:pt x="16654" y="118433"/>
                  </a:lnTo>
                  <a:cubicBezTo>
                    <a:pt x="16654" y="112448"/>
                    <a:pt x="20343" y="106463"/>
                    <a:pt x="26336" y="104161"/>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4" name="矩形 13">
            <a:extLst>
              <a:ext uri="{FF2B5EF4-FFF2-40B4-BE49-F238E27FC236}">
                <a16:creationId xmlns:a16="http://schemas.microsoft.com/office/drawing/2014/main" id="{121FC050-8ED9-494B-B594-41FF996D0F9B}"/>
              </a:ext>
            </a:extLst>
          </p:cNvPr>
          <p:cNvSpPr/>
          <p:nvPr userDrawn="1"/>
        </p:nvSpPr>
        <p:spPr>
          <a:xfrm>
            <a:off x="312771" y="244889"/>
            <a:ext cx="1415214" cy="1415214"/>
          </a:xfrm>
          <a:prstGeom prst="rect">
            <a:avLst/>
          </a:prstGeom>
          <a:blipFill dpi="0" rotWithShape="1">
            <a:blip r:embed="rId2"/>
            <a:srcRect/>
            <a:stretch>
              <a:fillRect/>
            </a:stretch>
          </a:blip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287635057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节标题">
    <p:spTree>
      <p:nvGrpSpPr>
        <p:cNvPr id="1" name=""/>
        <p:cNvGrpSpPr/>
        <p:nvPr/>
      </p:nvGrpSpPr>
      <p:grpSpPr>
        <a:xfrm>
          <a:off x="0" y="0"/>
          <a:ext cx="0" cy="0"/>
          <a:chOff x="0" y="0"/>
          <a:chExt cx="0" cy="0"/>
        </a:xfrm>
      </p:grpSpPr>
    </p:spTree>
    <p:extLst>
      <p:ext uri="{BB962C8B-B14F-4D97-AF65-F5344CB8AC3E}">
        <p14:creationId xmlns:p14="http://schemas.microsoft.com/office/powerpoint/2010/main" val="87815780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两栏内容">
    <p:spTree>
      <p:nvGrpSpPr>
        <p:cNvPr id="1" name=""/>
        <p:cNvGrpSpPr/>
        <p:nvPr/>
      </p:nvGrpSpPr>
      <p:grpSpPr>
        <a:xfrm>
          <a:off x="0" y="0"/>
          <a:ext cx="0" cy="0"/>
          <a:chOff x="0" y="0"/>
          <a:chExt cx="0" cy="0"/>
        </a:xfrm>
      </p:grpSpPr>
      <p:cxnSp>
        <p:nvCxnSpPr>
          <p:cNvPr id="20" name="直接连接符 19">
            <a:extLst>
              <a:ext uri="{FF2B5EF4-FFF2-40B4-BE49-F238E27FC236}">
                <a16:creationId xmlns:a16="http://schemas.microsoft.com/office/drawing/2014/main" id="{D9517037-141A-48F6-B53B-0DCB439045E7}"/>
              </a:ext>
            </a:extLst>
          </p:cNvPr>
          <p:cNvCxnSpPr/>
          <p:nvPr userDrawn="1"/>
        </p:nvCxnSpPr>
        <p:spPr>
          <a:xfrm>
            <a:off x="263525" y="1058679"/>
            <a:ext cx="11664949" cy="0"/>
          </a:xfrm>
          <a:prstGeom prst="line">
            <a:avLst/>
          </a:prstGeom>
          <a:ln w="25400">
            <a:solidFill>
              <a:schemeClr val="accent1"/>
            </a:solidFill>
          </a:ln>
        </p:spPr>
        <p:style>
          <a:lnRef idx="1">
            <a:schemeClr val="accent1"/>
          </a:lnRef>
          <a:fillRef idx="0">
            <a:schemeClr val="accent1"/>
          </a:fillRef>
          <a:effectRef idx="0">
            <a:schemeClr val="accent1"/>
          </a:effectRef>
          <a:fontRef idx="minor">
            <a:schemeClr val="tx1"/>
          </a:fontRef>
        </p:style>
      </p:cxnSp>
      <p:grpSp>
        <p:nvGrpSpPr>
          <p:cNvPr id="21" name="组合 20">
            <a:extLst>
              <a:ext uri="{FF2B5EF4-FFF2-40B4-BE49-F238E27FC236}">
                <a16:creationId xmlns:a16="http://schemas.microsoft.com/office/drawing/2014/main" id="{4E4E7F01-9B9D-41F2-895C-BA4807B1C153}"/>
              </a:ext>
            </a:extLst>
          </p:cNvPr>
          <p:cNvGrpSpPr/>
          <p:nvPr userDrawn="1"/>
        </p:nvGrpSpPr>
        <p:grpSpPr>
          <a:xfrm>
            <a:off x="263525" y="297823"/>
            <a:ext cx="635651" cy="522101"/>
            <a:chOff x="301625" y="297823"/>
            <a:chExt cx="635651" cy="522101"/>
          </a:xfrm>
        </p:grpSpPr>
        <p:sp>
          <p:nvSpPr>
            <p:cNvPr id="22" name="graduate-hat_59495">
              <a:extLst>
                <a:ext uri="{FF2B5EF4-FFF2-40B4-BE49-F238E27FC236}">
                  <a16:creationId xmlns:a16="http://schemas.microsoft.com/office/drawing/2014/main" id="{DD0BFF86-3D53-47E0-AF89-12419F84B670}"/>
                </a:ext>
              </a:extLst>
            </p:cNvPr>
            <p:cNvSpPr/>
            <p:nvPr userDrawn="1"/>
          </p:nvSpPr>
          <p:spPr>
            <a:xfrm>
              <a:off x="301625" y="346963"/>
              <a:ext cx="635651" cy="472961"/>
            </a:xfrm>
            <a:custGeom>
              <a:avLst/>
              <a:gdLst>
                <a:gd name="connsiteX0" fmla="*/ 10223 w 596651"/>
                <a:gd name="connsiteY0" fmla="*/ 332075 h 443943"/>
                <a:gd name="connsiteX1" fmla="*/ 57217 w 596651"/>
                <a:gd name="connsiteY1" fmla="*/ 332075 h 443943"/>
                <a:gd name="connsiteX2" fmla="*/ 67353 w 596651"/>
                <a:gd name="connsiteY2" fmla="*/ 427370 h 443943"/>
                <a:gd name="connsiteX3" fmla="*/ 63667 w 596651"/>
                <a:gd name="connsiteY3" fmla="*/ 438879 h 443943"/>
                <a:gd name="connsiteX4" fmla="*/ 52149 w 596651"/>
                <a:gd name="connsiteY4" fmla="*/ 443943 h 443943"/>
                <a:gd name="connsiteX5" fmla="*/ 15291 w 596651"/>
                <a:gd name="connsiteY5" fmla="*/ 443943 h 443943"/>
                <a:gd name="connsiteX6" fmla="*/ 4233 w 596651"/>
                <a:gd name="connsiteY6" fmla="*/ 438879 h 443943"/>
                <a:gd name="connsiteX7" fmla="*/ 87 w 596651"/>
                <a:gd name="connsiteY7" fmla="*/ 427370 h 443943"/>
                <a:gd name="connsiteX8" fmla="*/ 528865 w 596651"/>
                <a:gd name="connsiteY8" fmla="*/ 191185 h 443943"/>
                <a:gd name="connsiteX9" fmla="*/ 541774 w 596651"/>
                <a:gd name="connsiteY9" fmla="*/ 309970 h 443943"/>
                <a:gd name="connsiteX10" fmla="*/ 526559 w 596651"/>
                <a:gd name="connsiteY10" fmla="*/ 325163 h 443943"/>
                <a:gd name="connsiteX11" fmla="*/ 523793 w 596651"/>
                <a:gd name="connsiteY11" fmla="*/ 325163 h 443943"/>
                <a:gd name="connsiteX12" fmla="*/ 486909 w 596651"/>
                <a:gd name="connsiteY12" fmla="*/ 322401 h 443943"/>
                <a:gd name="connsiteX13" fmla="*/ 322773 w 596651"/>
                <a:gd name="connsiteY13" fmla="*/ 399749 h 443943"/>
                <a:gd name="connsiteX14" fmla="*/ 309403 w 596651"/>
                <a:gd name="connsiteY14" fmla="*/ 408036 h 443943"/>
                <a:gd name="connsiteX15" fmla="*/ 304792 w 596651"/>
                <a:gd name="connsiteY15" fmla="*/ 408036 h 443943"/>
                <a:gd name="connsiteX16" fmla="*/ 290960 w 596651"/>
                <a:gd name="connsiteY16" fmla="*/ 399749 h 443943"/>
                <a:gd name="connsiteX17" fmla="*/ 126825 w 596651"/>
                <a:gd name="connsiteY17" fmla="*/ 322401 h 443943"/>
                <a:gd name="connsiteX18" fmla="*/ 89940 w 596651"/>
                <a:gd name="connsiteY18" fmla="*/ 325163 h 443943"/>
                <a:gd name="connsiteX19" fmla="*/ 77031 w 596651"/>
                <a:gd name="connsiteY19" fmla="*/ 320559 h 443943"/>
                <a:gd name="connsiteX20" fmla="*/ 72420 w 596651"/>
                <a:gd name="connsiteY20" fmla="*/ 307668 h 443943"/>
                <a:gd name="connsiteX21" fmla="*/ 85330 w 596651"/>
                <a:gd name="connsiteY21" fmla="*/ 192106 h 443943"/>
                <a:gd name="connsiteX22" fmla="*/ 307097 w 596651"/>
                <a:gd name="connsiteY22" fmla="*/ 275439 h 443943"/>
                <a:gd name="connsiteX23" fmla="*/ 301581 w 596651"/>
                <a:gd name="connsiteY23" fmla="*/ 1035 h 443943"/>
                <a:gd name="connsiteX24" fmla="*/ 312185 w 596651"/>
                <a:gd name="connsiteY24" fmla="*/ 1035 h 443943"/>
                <a:gd name="connsiteX25" fmla="*/ 586508 w 596651"/>
                <a:gd name="connsiteY25" fmla="*/ 104161 h 443943"/>
                <a:gd name="connsiteX26" fmla="*/ 596651 w 596651"/>
                <a:gd name="connsiteY26" fmla="*/ 118433 h 443943"/>
                <a:gd name="connsiteX27" fmla="*/ 586508 w 596651"/>
                <a:gd name="connsiteY27" fmla="*/ 132705 h 443943"/>
                <a:gd name="connsiteX28" fmla="*/ 312185 w 596651"/>
                <a:gd name="connsiteY28" fmla="*/ 235830 h 443943"/>
                <a:gd name="connsiteX29" fmla="*/ 301581 w 596651"/>
                <a:gd name="connsiteY29" fmla="*/ 235830 h 443943"/>
                <a:gd name="connsiteX30" fmla="*/ 51233 w 596651"/>
                <a:gd name="connsiteY30" fmla="*/ 141912 h 443943"/>
                <a:gd name="connsiteX31" fmla="*/ 51233 w 596651"/>
                <a:gd name="connsiteY31" fmla="*/ 305348 h 443943"/>
                <a:gd name="connsiteX32" fmla="*/ 16654 w 596651"/>
                <a:gd name="connsiteY32" fmla="*/ 305348 h 443943"/>
                <a:gd name="connsiteX33" fmla="*/ 16654 w 596651"/>
                <a:gd name="connsiteY33" fmla="*/ 118433 h 443943"/>
                <a:gd name="connsiteX34" fmla="*/ 26336 w 596651"/>
                <a:gd name="connsiteY34" fmla="*/ 104161 h 44394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596651" h="443943">
                  <a:moveTo>
                    <a:pt x="10223" y="332075"/>
                  </a:moveTo>
                  <a:lnTo>
                    <a:pt x="57217" y="332075"/>
                  </a:lnTo>
                  <a:lnTo>
                    <a:pt x="67353" y="427370"/>
                  </a:lnTo>
                  <a:cubicBezTo>
                    <a:pt x="67813" y="431513"/>
                    <a:pt x="66431" y="435656"/>
                    <a:pt x="63667" y="438879"/>
                  </a:cubicBezTo>
                  <a:cubicBezTo>
                    <a:pt x="60902" y="442102"/>
                    <a:pt x="56756" y="443943"/>
                    <a:pt x="52149" y="443943"/>
                  </a:cubicBezTo>
                  <a:lnTo>
                    <a:pt x="15291" y="443943"/>
                  </a:lnTo>
                  <a:cubicBezTo>
                    <a:pt x="11144" y="443943"/>
                    <a:pt x="6998" y="442102"/>
                    <a:pt x="4233" y="438879"/>
                  </a:cubicBezTo>
                  <a:cubicBezTo>
                    <a:pt x="1008" y="435656"/>
                    <a:pt x="-374" y="431513"/>
                    <a:pt x="87" y="427370"/>
                  </a:cubicBezTo>
                  <a:close/>
                  <a:moveTo>
                    <a:pt x="528865" y="191185"/>
                  </a:moveTo>
                  <a:cubicBezTo>
                    <a:pt x="528865" y="191185"/>
                    <a:pt x="541774" y="308588"/>
                    <a:pt x="541774" y="309970"/>
                  </a:cubicBezTo>
                  <a:cubicBezTo>
                    <a:pt x="542235" y="318717"/>
                    <a:pt x="534858" y="325163"/>
                    <a:pt x="526559" y="325163"/>
                  </a:cubicBezTo>
                  <a:cubicBezTo>
                    <a:pt x="526098" y="325163"/>
                    <a:pt x="524715" y="325163"/>
                    <a:pt x="523793" y="325163"/>
                  </a:cubicBezTo>
                  <a:cubicBezTo>
                    <a:pt x="511806" y="323321"/>
                    <a:pt x="499357" y="322401"/>
                    <a:pt x="486909" y="322401"/>
                  </a:cubicBezTo>
                  <a:cubicBezTo>
                    <a:pt x="413140" y="322401"/>
                    <a:pt x="347209" y="353708"/>
                    <a:pt x="322773" y="399749"/>
                  </a:cubicBezTo>
                  <a:cubicBezTo>
                    <a:pt x="320468" y="404813"/>
                    <a:pt x="314935" y="408036"/>
                    <a:pt x="309403" y="408036"/>
                  </a:cubicBezTo>
                  <a:lnTo>
                    <a:pt x="304792" y="408036"/>
                  </a:lnTo>
                  <a:cubicBezTo>
                    <a:pt x="298798" y="408036"/>
                    <a:pt x="293727" y="404813"/>
                    <a:pt x="290960" y="399749"/>
                  </a:cubicBezTo>
                  <a:cubicBezTo>
                    <a:pt x="266524" y="353248"/>
                    <a:pt x="200594" y="322401"/>
                    <a:pt x="126825" y="322401"/>
                  </a:cubicBezTo>
                  <a:cubicBezTo>
                    <a:pt x="114376" y="322401"/>
                    <a:pt x="101928" y="323321"/>
                    <a:pt x="89940" y="325163"/>
                  </a:cubicBezTo>
                  <a:cubicBezTo>
                    <a:pt x="85330" y="325623"/>
                    <a:pt x="80258" y="324242"/>
                    <a:pt x="77031" y="320559"/>
                  </a:cubicBezTo>
                  <a:cubicBezTo>
                    <a:pt x="73342" y="317336"/>
                    <a:pt x="71959" y="312732"/>
                    <a:pt x="72420" y="307668"/>
                  </a:cubicBezTo>
                  <a:lnTo>
                    <a:pt x="85330" y="192106"/>
                  </a:lnTo>
                  <a:lnTo>
                    <a:pt x="307097" y="275439"/>
                  </a:lnTo>
                  <a:close/>
                  <a:moveTo>
                    <a:pt x="301581" y="1035"/>
                  </a:moveTo>
                  <a:cubicBezTo>
                    <a:pt x="305270" y="-346"/>
                    <a:pt x="308958" y="-346"/>
                    <a:pt x="312185" y="1035"/>
                  </a:cubicBezTo>
                  <a:lnTo>
                    <a:pt x="586508" y="104161"/>
                  </a:lnTo>
                  <a:cubicBezTo>
                    <a:pt x="592502" y="106463"/>
                    <a:pt x="596651" y="111987"/>
                    <a:pt x="596651" y="118433"/>
                  </a:cubicBezTo>
                  <a:cubicBezTo>
                    <a:pt x="596651" y="124878"/>
                    <a:pt x="592502" y="130403"/>
                    <a:pt x="586508" y="132705"/>
                  </a:cubicBezTo>
                  <a:lnTo>
                    <a:pt x="312185" y="235830"/>
                  </a:lnTo>
                  <a:cubicBezTo>
                    <a:pt x="308958" y="237211"/>
                    <a:pt x="305270" y="237211"/>
                    <a:pt x="301581" y="235830"/>
                  </a:cubicBezTo>
                  <a:lnTo>
                    <a:pt x="51233" y="141912"/>
                  </a:lnTo>
                  <a:lnTo>
                    <a:pt x="51233" y="305348"/>
                  </a:lnTo>
                  <a:lnTo>
                    <a:pt x="16654" y="305348"/>
                  </a:lnTo>
                  <a:lnTo>
                    <a:pt x="16654" y="118433"/>
                  </a:lnTo>
                  <a:cubicBezTo>
                    <a:pt x="16654" y="112448"/>
                    <a:pt x="20343" y="106463"/>
                    <a:pt x="26336" y="104161"/>
                  </a:cubicBezTo>
                  <a:close/>
                </a:path>
              </a:pathLst>
            </a:custGeom>
            <a:solidFill>
              <a:schemeClr val="accent1">
                <a:alpha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graduate-hat_59495">
              <a:extLst>
                <a:ext uri="{FF2B5EF4-FFF2-40B4-BE49-F238E27FC236}">
                  <a16:creationId xmlns:a16="http://schemas.microsoft.com/office/drawing/2014/main" id="{982232FC-F8D0-4442-8635-4F34564CD7FC}"/>
                </a:ext>
              </a:extLst>
            </p:cNvPr>
            <p:cNvSpPr/>
            <p:nvPr userDrawn="1"/>
          </p:nvSpPr>
          <p:spPr>
            <a:xfrm>
              <a:off x="301625" y="297823"/>
              <a:ext cx="635651" cy="472961"/>
            </a:xfrm>
            <a:custGeom>
              <a:avLst/>
              <a:gdLst>
                <a:gd name="connsiteX0" fmla="*/ 10223 w 596651"/>
                <a:gd name="connsiteY0" fmla="*/ 332075 h 443943"/>
                <a:gd name="connsiteX1" fmla="*/ 57217 w 596651"/>
                <a:gd name="connsiteY1" fmla="*/ 332075 h 443943"/>
                <a:gd name="connsiteX2" fmla="*/ 67353 w 596651"/>
                <a:gd name="connsiteY2" fmla="*/ 427370 h 443943"/>
                <a:gd name="connsiteX3" fmla="*/ 63667 w 596651"/>
                <a:gd name="connsiteY3" fmla="*/ 438879 h 443943"/>
                <a:gd name="connsiteX4" fmla="*/ 52149 w 596651"/>
                <a:gd name="connsiteY4" fmla="*/ 443943 h 443943"/>
                <a:gd name="connsiteX5" fmla="*/ 15291 w 596651"/>
                <a:gd name="connsiteY5" fmla="*/ 443943 h 443943"/>
                <a:gd name="connsiteX6" fmla="*/ 4233 w 596651"/>
                <a:gd name="connsiteY6" fmla="*/ 438879 h 443943"/>
                <a:gd name="connsiteX7" fmla="*/ 87 w 596651"/>
                <a:gd name="connsiteY7" fmla="*/ 427370 h 443943"/>
                <a:gd name="connsiteX8" fmla="*/ 528865 w 596651"/>
                <a:gd name="connsiteY8" fmla="*/ 191185 h 443943"/>
                <a:gd name="connsiteX9" fmla="*/ 541774 w 596651"/>
                <a:gd name="connsiteY9" fmla="*/ 309970 h 443943"/>
                <a:gd name="connsiteX10" fmla="*/ 526559 w 596651"/>
                <a:gd name="connsiteY10" fmla="*/ 325163 h 443943"/>
                <a:gd name="connsiteX11" fmla="*/ 523793 w 596651"/>
                <a:gd name="connsiteY11" fmla="*/ 325163 h 443943"/>
                <a:gd name="connsiteX12" fmla="*/ 486909 w 596651"/>
                <a:gd name="connsiteY12" fmla="*/ 322401 h 443943"/>
                <a:gd name="connsiteX13" fmla="*/ 322773 w 596651"/>
                <a:gd name="connsiteY13" fmla="*/ 399749 h 443943"/>
                <a:gd name="connsiteX14" fmla="*/ 309403 w 596651"/>
                <a:gd name="connsiteY14" fmla="*/ 408036 h 443943"/>
                <a:gd name="connsiteX15" fmla="*/ 304792 w 596651"/>
                <a:gd name="connsiteY15" fmla="*/ 408036 h 443943"/>
                <a:gd name="connsiteX16" fmla="*/ 290960 w 596651"/>
                <a:gd name="connsiteY16" fmla="*/ 399749 h 443943"/>
                <a:gd name="connsiteX17" fmla="*/ 126825 w 596651"/>
                <a:gd name="connsiteY17" fmla="*/ 322401 h 443943"/>
                <a:gd name="connsiteX18" fmla="*/ 89940 w 596651"/>
                <a:gd name="connsiteY18" fmla="*/ 325163 h 443943"/>
                <a:gd name="connsiteX19" fmla="*/ 77031 w 596651"/>
                <a:gd name="connsiteY19" fmla="*/ 320559 h 443943"/>
                <a:gd name="connsiteX20" fmla="*/ 72420 w 596651"/>
                <a:gd name="connsiteY20" fmla="*/ 307668 h 443943"/>
                <a:gd name="connsiteX21" fmla="*/ 85330 w 596651"/>
                <a:gd name="connsiteY21" fmla="*/ 192106 h 443943"/>
                <a:gd name="connsiteX22" fmla="*/ 307097 w 596651"/>
                <a:gd name="connsiteY22" fmla="*/ 275439 h 443943"/>
                <a:gd name="connsiteX23" fmla="*/ 301581 w 596651"/>
                <a:gd name="connsiteY23" fmla="*/ 1035 h 443943"/>
                <a:gd name="connsiteX24" fmla="*/ 312185 w 596651"/>
                <a:gd name="connsiteY24" fmla="*/ 1035 h 443943"/>
                <a:gd name="connsiteX25" fmla="*/ 586508 w 596651"/>
                <a:gd name="connsiteY25" fmla="*/ 104161 h 443943"/>
                <a:gd name="connsiteX26" fmla="*/ 596651 w 596651"/>
                <a:gd name="connsiteY26" fmla="*/ 118433 h 443943"/>
                <a:gd name="connsiteX27" fmla="*/ 586508 w 596651"/>
                <a:gd name="connsiteY27" fmla="*/ 132705 h 443943"/>
                <a:gd name="connsiteX28" fmla="*/ 312185 w 596651"/>
                <a:gd name="connsiteY28" fmla="*/ 235830 h 443943"/>
                <a:gd name="connsiteX29" fmla="*/ 301581 w 596651"/>
                <a:gd name="connsiteY29" fmla="*/ 235830 h 443943"/>
                <a:gd name="connsiteX30" fmla="*/ 51233 w 596651"/>
                <a:gd name="connsiteY30" fmla="*/ 141912 h 443943"/>
                <a:gd name="connsiteX31" fmla="*/ 51233 w 596651"/>
                <a:gd name="connsiteY31" fmla="*/ 305348 h 443943"/>
                <a:gd name="connsiteX32" fmla="*/ 16654 w 596651"/>
                <a:gd name="connsiteY32" fmla="*/ 305348 h 443943"/>
                <a:gd name="connsiteX33" fmla="*/ 16654 w 596651"/>
                <a:gd name="connsiteY33" fmla="*/ 118433 h 443943"/>
                <a:gd name="connsiteX34" fmla="*/ 26336 w 596651"/>
                <a:gd name="connsiteY34" fmla="*/ 104161 h 44394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596651" h="443943">
                  <a:moveTo>
                    <a:pt x="10223" y="332075"/>
                  </a:moveTo>
                  <a:lnTo>
                    <a:pt x="57217" y="332075"/>
                  </a:lnTo>
                  <a:lnTo>
                    <a:pt x="67353" y="427370"/>
                  </a:lnTo>
                  <a:cubicBezTo>
                    <a:pt x="67813" y="431513"/>
                    <a:pt x="66431" y="435656"/>
                    <a:pt x="63667" y="438879"/>
                  </a:cubicBezTo>
                  <a:cubicBezTo>
                    <a:pt x="60902" y="442102"/>
                    <a:pt x="56756" y="443943"/>
                    <a:pt x="52149" y="443943"/>
                  </a:cubicBezTo>
                  <a:lnTo>
                    <a:pt x="15291" y="443943"/>
                  </a:lnTo>
                  <a:cubicBezTo>
                    <a:pt x="11144" y="443943"/>
                    <a:pt x="6998" y="442102"/>
                    <a:pt x="4233" y="438879"/>
                  </a:cubicBezTo>
                  <a:cubicBezTo>
                    <a:pt x="1008" y="435656"/>
                    <a:pt x="-374" y="431513"/>
                    <a:pt x="87" y="427370"/>
                  </a:cubicBezTo>
                  <a:close/>
                  <a:moveTo>
                    <a:pt x="528865" y="191185"/>
                  </a:moveTo>
                  <a:cubicBezTo>
                    <a:pt x="528865" y="191185"/>
                    <a:pt x="541774" y="308588"/>
                    <a:pt x="541774" y="309970"/>
                  </a:cubicBezTo>
                  <a:cubicBezTo>
                    <a:pt x="542235" y="318717"/>
                    <a:pt x="534858" y="325163"/>
                    <a:pt x="526559" y="325163"/>
                  </a:cubicBezTo>
                  <a:cubicBezTo>
                    <a:pt x="526098" y="325163"/>
                    <a:pt x="524715" y="325163"/>
                    <a:pt x="523793" y="325163"/>
                  </a:cubicBezTo>
                  <a:cubicBezTo>
                    <a:pt x="511806" y="323321"/>
                    <a:pt x="499357" y="322401"/>
                    <a:pt x="486909" y="322401"/>
                  </a:cubicBezTo>
                  <a:cubicBezTo>
                    <a:pt x="413140" y="322401"/>
                    <a:pt x="347209" y="353708"/>
                    <a:pt x="322773" y="399749"/>
                  </a:cubicBezTo>
                  <a:cubicBezTo>
                    <a:pt x="320468" y="404813"/>
                    <a:pt x="314935" y="408036"/>
                    <a:pt x="309403" y="408036"/>
                  </a:cubicBezTo>
                  <a:lnTo>
                    <a:pt x="304792" y="408036"/>
                  </a:lnTo>
                  <a:cubicBezTo>
                    <a:pt x="298798" y="408036"/>
                    <a:pt x="293727" y="404813"/>
                    <a:pt x="290960" y="399749"/>
                  </a:cubicBezTo>
                  <a:cubicBezTo>
                    <a:pt x="266524" y="353248"/>
                    <a:pt x="200594" y="322401"/>
                    <a:pt x="126825" y="322401"/>
                  </a:cubicBezTo>
                  <a:cubicBezTo>
                    <a:pt x="114376" y="322401"/>
                    <a:pt x="101928" y="323321"/>
                    <a:pt x="89940" y="325163"/>
                  </a:cubicBezTo>
                  <a:cubicBezTo>
                    <a:pt x="85330" y="325623"/>
                    <a:pt x="80258" y="324242"/>
                    <a:pt x="77031" y="320559"/>
                  </a:cubicBezTo>
                  <a:cubicBezTo>
                    <a:pt x="73342" y="317336"/>
                    <a:pt x="71959" y="312732"/>
                    <a:pt x="72420" y="307668"/>
                  </a:cubicBezTo>
                  <a:lnTo>
                    <a:pt x="85330" y="192106"/>
                  </a:lnTo>
                  <a:lnTo>
                    <a:pt x="307097" y="275439"/>
                  </a:lnTo>
                  <a:close/>
                  <a:moveTo>
                    <a:pt x="301581" y="1035"/>
                  </a:moveTo>
                  <a:cubicBezTo>
                    <a:pt x="305270" y="-346"/>
                    <a:pt x="308958" y="-346"/>
                    <a:pt x="312185" y="1035"/>
                  </a:cubicBezTo>
                  <a:lnTo>
                    <a:pt x="586508" y="104161"/>
                  </a:lnTo>
                  <a:cubicBezTo>
                    <a:pt x="592502" y="106463"/>
                    <a:pt x="596651" y="111987"/>
                    <a:pt x="596651" y="118433"/>
                  </a:cubicBezTo>
                  <a:cubicBezTo>
                    <a:pt x="596651" y="124878"/>
                    <a:pt x="592502" y="130403"/>
                    <a:pt x="586508" y="132705"/>
                  </a:cubicBezTo>
                  <a:lnTo>
                    <a:pt x="312185" y="235830"/>
                  </a:lnTo>
                  <a:cubicBezTo>
                    <a:pt x="308958" y="237211"/>
                    <a:pt x="305270" y="237211"/>
                    <a:pt x="301581" y="235830"/>
                  </a:cubicBezTo>
                  <a:lnTo>
                    <a:pt x="51233" y="141912"/>
                  </a:lnTo>
                  <a:lnTo>
                    <a:pt x="51233" y="305348"/>
                  </a:lnTo>
                  <a:lnTo>
                    <a:pt x="16654" y="305348"/>
                  </a:lnTo>
                  <a:lnTo>
                    <a:pt x="16654" y="118433"/>
                  </a:lnTo>
                  <a:cubicBezTo>
                    <a:pt x="16654" y="112448"/>
                    <a:pt x="20343" y="106463"/>
                    <a:pt x="26336" y="104161"/>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pic>
        <p:nvPicPr>
          <p:cNvPr id="24" name="图片 23">
            <a:extLst>
              <a:ext uri="{FF2B5EF4-FFF2-40B4-BE49-F238E27FC236}">
                <a16:creationId xmlns:a16="http://schemas.microsoft.com/office/drawing/2014/main" id="{2117DF09-E413-4D01-BC4E-6ED41FC49062}"/>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l="91116" t="66927" r="5940" b="8670"/>
          <a:stretch/>
        </p:blipFill>
        <p:spPr>
          <a:xfrm>
            <a:off x="11928474" y="674370"/>
            <a:ext cx="73026" cy="201925"/>
          </a:xfrm>
          <a:custGeom>
            <a:avLst/>
            <a:gdLst>
              <a:gd name="connsiteX0" fmla="*/ 0 w 73026"/>
              <a:gd name="connsiteY0" fmla="*/ 0 h 201925"/>
              <a:gd name="connsiteX1" fmla="*/ 73026 w 73026"/>
              <a:gd name="connsiteY1" fmla="*/ 0 h 201925"/>
              <a:gd name="connsiteX2" fmla="*/ 73026 w 73026"/>
              <a:gd name="connsiteY2" fmla="*/ 201925 h 201925"/>
              <a:gd name="connsiteX3" fmla="*/ 0 w 73026"/>
              <a:gd name="connsiteY3" fmla="*/ 201925 h 201925"/>
              <a:gd name="connsiteX4" fmla="*/ 0 w 73026"/>
              <a:gd name="connsiteY4" fmla="*/ 0 h 2019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3026" h="201925">
                <a:moveTo>
                  <a:pt x="0" y="0"/>
                </a:moveTo>
                <a:lnTo>
                  <a:pt x="73026" y="0"/>
                </a:lnTo>
                <a:lnTo>
                  <a:pt x="73026" y="201925"/>
                </a:lnTo>
                <a:lnTo>
                  <a:pt x="0" y="201925"/>
                </a:lnTo>
                <a:lnTo>
                  <a:pt x="0" y="0"/>
                </a:lnTo>
                <a:close/>
              </a:path>
            </a:pathLst>
          </a:custGeom>
        </p:spPr>
      </p:pic>
      <p:pic>
        <p:nvPicPr>
          <p:cNvPr id="25" name="图片 24">
            <a:extLst>
              <a:ext uri="{FF2B5EF4-FFF2-40B4-BE49-F238E27FC236}">
                <a16:creationId xmlns:a16="http://schemas.microsoft.com/office/drawing/2014/main" id="{C055130A-6683-4D3F-B6D0-8A297E98B3A5}"/>
              </a:ext>
            </a:extLst>
          </p:cNvPr>
          <p:cNvPicPr>
            <a:picLocks noChangeAspect="1"/>
          </p:cNvPicPr>
          <p:nvPr userDrawn="1"/>
        </p:nvPicPr>
        <p:blipFill rotWithShape="1">
          <a:blip r:embed="rId3">
            <a:extLst>
              <a:ext uri="{28A0092B-C50C-407E-A947-70E740481C1C}">
                <a14:useLocalDpi xmlns:a14="http://schemas.microsoft.com/office/drawing/2010/main" val="0"/>
              </a:ext>
            </a:extLst>
          </a:blip>
          <a:srcRect t="35552" b="35552"/>
          <a:stretch/>
        </p:blipFill>
        <p:spPr>
          <a:xfrm>
            <a:off x="9992360" y="253301"/>
            <a:ext cx="2009140" cy="580571"/>
          </a:xfrm>
          <a:custGeom>
            <a:avLst/>
            <a:gdLst>
              <a:gd name="connsiteX0" fmla="*/ 0 w 3810000"/>
              <a:gd name="connsiteY0" fmla="*/ 0 h 1100956"/>
              <a:gd name="connsiteX1" fmla="*/ 3810000 w 3810000"/>
              <a:gd name="connsiteY1" fmla="*/ 0 h 1100956"/>
              <a:gd name="connsiteX2" fmla="*/ 3810000 w 3810000"/>
              <a:gd name="connsiteY2" fmla="*/ 1100956 h 1100956"/>
              <a:gd name="connsiteX3" fmla="*/ 0 w 3810000"/>
              <a:gd name="connsiteY3" fmla="*/ 1100956 h 1100956"/>
              <a:gd name="connsiteX4" fmla="*/ 0 w 3810000"/>
              <a:gd name="connsiteY4" fmla="*/ 0 h 1100956"/>
              <a:gd name="connsiteX5" fmla="*/ 1306088 w 3810000"/>
              <a:gd name="connsiteY5" fmla="*/ 826132 h 1100956"/>
              <a:gd name="connsiteX6" fmla="*/ 1306088 w 3810000"/>
              <a:gd name="connsiteY6" fmla="*/ 1099051 h 1100956"/>
              <a:gd name="connsiteX7" fmla="*/ 3683528 w 3810000"/>
              <a:gd name="connsiteY7" fmla="*/ 1099051 h 1100956"/>
              <a:gd name="connsiteX8" fmla="*/ 3683528 w 3810000"/>
              <a:gd name="connsiteY8" fmla="*/ 826132 h 1100956"/>
              <a:gd name="connsiteX9" fmla="*/ 1306088 w 3810000"/>
              <a:gd name="connsiteY9" fmla="*/ 826132 h 11009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810000" h="1100956">
                <a:moveTo>
                  <a:pt x="0" y="0"/>
                </a:moveTo>
                <a:lnTo>
                  <a:pt x="3810000" y="0"/>
                </a:lnTo>
                <a:lnTo>
                  <a:pt x="3810000" y="1100956"/>
                </a:lnTo>
                <a:lnTo>
                  <a:pt x="0" y="1100956"/>
                </a:lnTo>
                <a:lnTo>
                  <a:pt x="0" y="0"/>
                </a:lnTo>
                <a:close/>
                <a:moveTo>
                  <a:pt x="1306088" y="826132"/>
                </a:moveTo>
                <a:lnTo>
                  <a:pt x="1306088" y="1099051"/>
                </a:lnTo>
                <a:lnTo>
                  <a:pt x="3683528" y="1099051"/>
                </a:lnTo>
                <a:lnTo>
                  <a:pt x="3683528" y="826132"/>
                </a:lnTo>
                <a:lnTo>
                  <a:pt x="1306088" y="826132"/>
                </a:lnTo>
                <a:close/>
              </a:path>
            </a:pathLst>
          </a:custGeom>
        </p:spPr>
      </p:pic>
    </p:spTree>
    <p:extLst>
      <p:ext uri="{BB962C8B-B14F-4D97-AF65-F5344CB8AC3E}">
        <p14:creationId xmlns:p14="http://schemas.microsoft.com/office/powerpoint/2010/main" val="422049625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CBD82E7-8E73-4A2F-92BC-BA162C068897}"/>
              </a:ext>
            </a:extLst>
          </p:cNvPr>
          <p:cNvSpPr>
            <a:spLocks noGrp="1"/>
          </p:cNvSpPr>
          <p:nvPr>
            <p:ph type="title"/>
          </p:nvPr>
        </p:nvSpPr>
        <p:spPr>
          <a:xfrm>
            <a:off x="839788" y="365125"/>
            <a:ext cx="10515600" cy="1325563"/>
          </a:xfrm>
          <a:prstGeom prst="rect">
            <a:avLst/>
          </a:prstGeom>
        </p:spPr>
        <p:txBody>
          <a:bodyPr/>
          <a:lstStyle/>
          <a:p>
            <a:r>
              <a:rPr lang="zh-CN" altLang="en-US"/>
              <a:t>单击此处编辑母版标题样式</a:t>
            </a:r>
          </a:p>
        </p:txBody>
      </p:sp>
      <p:sp>
        <p:nvSpPr>
          <p:cNvPr id="3" name="文本占位符 2">
            <a:extLst>
              <a:ext uri="{FF2B5EF4-FFF2-40B4-BE49-F238E27FC236}">
                <a16:creationId xmlns:a16="http://schemas.microsoft.com/office/drawing/2014/main" id="{8B14A83B-ADFF-460B-87BB-87EC4FE55525}"/>
              </a:ext>
            </a:extLst>
          </p:cNvPr>
          <p:cNvSpPr>
            <a:spLocks noGrp="1"/>
          </p:cNvSpPr>
          <p:nvPr>
            <p:ph type="body" idx="1"/>
          </p:nvPr>
        </p:nvSpPr>
        <p:spPr>
          <a:xfrm>
            <a:off x="839788" y="1681163"/>
            <a:ext cx="5157787" cy="82391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编辑母版文本样式</a:t>
            </a:r>
          </a:p>
        </p:txBody>
      </p:sp>
      <p:sp>
        <p:nvSpPr>
          <p:cNvPr id="4" name="内容占位符 3">
            <a:extLst>
              <a:ext uri="{FF2B5EF4-FFF2-40B4-BE49-F238E27FC236}">
                <a16:creationId xmlns:a16="http://schemas.microsoft.com/office/drawing/2014/main" id="{1A5E1AFF-E102-4D54-A454-FCE840CA8CF0}"/>
              </a:ext>
            </a:extLst>
          </p:cNvPr>
          <p:cNvSpPr>
            <a:spLocks noGrp="1"/>
          </p:cNvSpPr>
          <p:nvPr>
            <p:ph sz="half" idx="2"/>
          </p:nvPr>
        </p:nvSpPr>
        <p:spPr>
          <a:xfrm>
            <a:off x="839788" y="2505075"/>
            <a:ext cx="5157787" cy="3684588"/>
          </a:xfrm>
          <a:prstGeom prst="rect">
            <a:avLst/>
          </a:prstGeo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a:extLst>
              <a:ext uri="{FF2B5EF4-FFF2-40B4-BE49-F238E27FC236}">
                <a16:creationId xmlns:a16="http://schemas.microsoft.com/office/drawing/2014/main" id="{35E3D532-73EB-4228-B6BF-61FF120006E7}"/>
              </a:ext>
            </a:extLst>
          </p:cNvPr>
          <p:cNvSpPr>
            <a:spLocks noGrp="1"/>
          </p:cNvSpPr>
          <p:nvPr>
            <p:ph type="body" sz="quarter" idx="3"/>
          </p:nvPr>
        </p:nvSpPr>
        <p:spPr>
          <a:xfrm>
            <a:off x="6172200" y="1681163"/>
            <a:ext cx="5183188" cy="82391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编辑母版文本样式</a:t>
            </a:r>
          </a:p>
        </p:txBody>
      </p:sp>
      <p:sp>
        <p:nvSpPr>
          <p:cNvPr id="6" name="内容占位符 5">
            <a:extLst>
              <a:ext uri="{FF2B5EF4-FFF2-40B4-BE49-F238E27FC236}">
                <a16:creationId xmlns:a16="http://schemas.microsoft.com/office/drawing/2014/main" id="{D20FF200-9EA4-4D61-A971-83F6138C09C9}"/>
              </a:ext>
            </a:extLst>
          </p:cNvPr>
          <p:cNvSpPr>
            <a:spLocks noGrp="1"/>
          </p:cNvSpPr>
          <p:nvPr>
            <p:ph sz="quarter" idx="4"/>
          </p:nvPr>
        </p:nvSpPr>
        <p:spPr>
          <a:xfrm>
            <a:off x="6172200" y="2505075"/>
            <a:ext cx="5183188" cy="3684588"/>
          </a:xfrm>
          <a:prstGeom prst="rect">
            <a:avLst/>
          </a:prstGeo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日期占位符 6">
            <a:extLst>
              <a:ext uri="{FF2B5EF4-FFF2-40B4-BE49-F238E27FC236}">
                <a16:creationId xmlns:a16="http://schemas.microsoft.com/office/drawing/2014/main" id="{AB0D174B-F38A-4C9A-8FD6-3BB54879680C}"/>
              </a:ext>
            </a:extLst>
          </p:cNvPr>
          <p:cNvSpPr>
            <a:spLocks noGrp="1"/>
          </p:cNvSpPr>
          <p:nvPr>
            <p:ph type="dt" sz="half" idx="10"/>
          </p:nvPr>
        </p:nvSpPr>
        <p:spPr>
          <a:xfrm>
            <a:off x="838200" y="6356350"/>
            <a:ext cx="2743200" cy="365125"/>
          </a:xfrm>
          <a:prstGeom prst="rect">
            <a:avLst/>
          </a:prstGeom>
        </p:spPr>
        <p:txBody>
          <a:bodyPr/>
          <a:lstStyle/>
          <a:p>
            <a:fld id="{28E9B696-EC6E-4CF1-97EE-1D0C044AEBAA}" type="datetimeFigureOut">
              <a:rPr lang="zh-CN" altLang="en-US" smtClean="0"/>
              <a:t>2026/1/15</a:t>
            </a:fld>
            <a:endParaRPr lang="zh-CN" altLang="en-US"/>
          </a:p>
        </p:txBody>
      </p:sp>
      <p:sp>
        <p:nvSpPr>
          <p:cNvPr id="8" name="页脚占位符 7">
            <a:extLst>
              <a:ext uri="{FF2B5EF4-FFF2-40B4-BE49-F238E27FC236}">
                <a16:creationId xmlns:a16="http://schemas.microsoft.com/office/drawing/2014/main" id="{C65CA425-9DA7-4BFF-B212-447A9C372F50}"/>
              </a:ext>
            </a:extLst>
          </p:cNvPr>
          <p:cNvSpPr>
            <a:spLocks noGrp="1"/>
          </p:cNvSpPr>
          <p:nvPr>
            <p:ph type="ftr" sz="quarter" idx="11"/>
          </p:nvPr>
        </p:nvSpPr>
        <p:spPr>
          <a:xfrm>
            <a:off x="4038600" y="6356350"/>
            <a:ext cx="4114800" cy="365125"/>
          </a:xfrm>
          <a:prstGeom prst="rect">
            <a:avLst/>
          </a:prstGeom>
        </p:spPr>
        <p:txBody>
          <a:bodyPr/>
          <a:lstStyle/>
          <a:p>
            <a:endParaRPr lang="zh-CN" altLang="en-US"/>
          </a:p>
        </p:txBody>
      </p:sp>
      <p:sp>
        <p:nvSpPr>
          <p:cNvPr id="9" name="灯片编号占位符 8">
            <a:extLst>
              <a:ext uri="{FF2B5EF4-FFF2-40B4-BE49-F238E27FC236}">
                <a16:creationId xmlns:a16="http://schemas.microsoft.com/office/drawing/2014/main" id="{3A511966-BA96-4C8E-8C66-6F75BC84327B}"/>
              </a:ext>
            </a:extLst>
          </p:cNvPr>
          <p:cNvSpPr>
            <a:spLocks noGrp="1"/>
          </p:cNvSpPr>
          <p:nvPr>
            <p:ph type="sldNum" sz="quarter" idx="12"/>
          </p:nvPr>
        </p:nvSpPr>
        <p:spPr>
          <a:xfrm>
            <a:off x="8610600" y="6356350"/>
            <a:ext cx="2743200" cy="365125"/>
          </a:xfrm>
          <a:prstGeom prst="rect">
            <a:avLst/>
          </a:prstGeom>
        </p:spPr>
        <p:txBody>
          <a:bodyPr/>
          <a:lstStyle/>
          <a:p>
            <a:fld id="{844447B2-D9F7-4B6A-98B2-6CC4720E7423}" type="slidenum">
              <a:rPr lang="zh-CN" altLang="en-US" smtClean="0"/>
              <a:t>‹#›</a:t>
            </a:fld>
            <a:endParaRPr lang="zh-CN" altLang="en-US"/>
          </a:p>
        </p:txBody>
      </p:sp>
    </p:spTree>
    <p:extLst>
      <p:ext uri="{BB962C8B-B14F-4D97-AF65-F5344CB8AC3E}">
        <p14:creationId xmlns:p14="http://schemas.microsoft.com/office/powerpoint/2010/main" val="99765298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201FBFBE-D5BB-417A-8B30-B943BD087069}"/>
              </a:ext>
            </a:extLst>
          </p:cNvPr>
          <p:cNvSpPr>
            <a:spLocks noGrp="1"/>
          </p:cNvSpPr>
          <p:nvPr>
            <p:ph type="title"/>
          </p:nvPr>
        </p:nvSpPr>
        <p:spPr>
          <a:xfrm>
            <a:off x="838200" y="365125"/>
            <a:ext cx="10515600" cy="1325563"/>
          </a:xfrm>
          <a:prstGeom prst="rect">
            <a:avLst/>
          </a:prstGeom>
        </p:spPr>
        <p:txBody>
          <a:bodyPr/>
          <a:lstStyle/>
          <a:p>
            <a:r>
              <a:rPr lang="zh-CN" altLang="en-US"/>
              <a:t>单击此处编辑母版标题样式</a:t>
            </a:r>
          </a:p>
        </p:txBody>
      </p:sp>
      <p:sp>
        <p:nvSpPr>
          <p:cNvPr id="3" name="日期占位符 2">
            <a:extLst>
              <a:ext uri="{FF2B5EF4-FFF2-40B4-BE49-F238E27FC236}">
                <a16:creationId xmlns:a16="http://schemas.microsoft.com/office/drawing/2014/main" id="{B8F0C94B-209C-459D-BBCA-3E09F26E6C1C}"/>
              </a:ext>
            </a:extLst>
          </p:cNvPr>
          <p:cNvSpPr>
            <a:spLocks noGrp="1"/>
          </p:cNvSpPr>
          <p:nvPr>
            <p:ph type="dt" sz="half" idx="10"/>
          </p:nvPr>
        </p:nvSpPr>
        <p:spPr>
          <a:xfrm>
            <a:off x="838200" y="6356350"/>
            <a:ext cx="2743200" cy="365125"/>
          </a:xfrm>
          <a:prstGeom prst="rect">
            <a:avLst/>
          </a:prstGeom>
        </p:spPr>
        <p:txBody>
          <a:bodyPr/>
          <a:lstStyle/>
          <a:p>
            <a:fld id="{28E9B696-EC6E-4CF1-97EE-1D0C044AEBAA}" type="datetimeFigureOut">
              <a:rPr lang="zh-CN" altLang="en-US" smtClean="0"/>
              <a:t>2026/1/15</a:t>
            </a:fld>
            <a:endParaRPr lang="zh-CN" altLang="en-US"/>
          </a:p>
        </p:txBody>
      </p:sp>
      <p:sp>
        <p:nvSpPr>
          <p:cNvPr id="4" name="页脚占位符 3">
            <a:extLst>
              <a:ext uri="{FF2B5EF4-FFF2-40B4-BE49-F238E27FC236}">
                <a16:creationId xmlns:a16="http://schemas.microsoft.com/office/drawing/2014/main" id="{0D4185F5-7C9C-4521-87C6-93F198106842}"/>
              </a:ext>
            </a:extLst>
          </p:cNvPr>
          <p:cNvSpPr>
            <a:spLocks noGrp="1"/>
          </p:cNvSpPr>
          <p:nvPr>
            <p:ph type="ftr" sz="quarter" idx="11"/>
          </p:nvPr>
        </p:nvSpPr>
        <p:spPr>
          <a:xfrm>
            <a:off x="4038600" y="6356350"/>
            <a:ext cx="4114800" cy="365125"/>
          </a:xfrm>
          <a:prstGeom prst="rect">
            <a:avLst/>
          </a:prstGeom>
        </p:spPr>
        <p:txBody>
          <a:bodyPr/>
          <a:lstStyle/>
          <a:p>
            <a:endParaRPr lang="zh-CN" altLang="en-US"/>
          </a:p>
        </p:txBody>
      </p:sp>
      <p:sp>
        <p:nvSpPr>
          <p:cNvPr id="5" name="灯片编号占位符 4">
            <a:extLst>
              <a:ext uri="{FF2B5EF4-FFF2-40B4-BE49-F238E27FC236}">
                <a16:creationId xmlns:a16="http://schemas.microsoft.com/office/drawing/2014/main" id="{580AF13A-6735-41FB-9094-C02C8E0B5B9D}"/>
              </a:ext>
            </a:extLst>
          </p:cNvPr>
          <p:cNvSpPr>
            <a:spLocks noGrp="1"/>
          </p:cNvSpPr>
          <p:nvPr>
            <p:ph type="sldNum" sz="quarter" idx="12"/>
          </p:nvPr>
        </p:nvSpPr>
        <p:spPr>
          <a:xfrm>
            <a:off x="8610600" y="6356350"/>
            <a:ext cx="2743200" cy="365125"/>
          </a:xfrm>
          <a:prstGeom prst="rect">
            <a:avLst/>
          </a:prstGeom>
        </p:spPr>
        <p:txBody>
          <a:bodyPr/>
          <a:lstStyle/>
          <a:p>
            <a:fld id="{844447B2-D9F7-4B6A-98B2-6CC4720E7423}" type="slidenum">
              <a:rPr lang="zh-CN" altLang="en-US" smtClean="0"/>
              <a:t>‹#›</a:t>
            </a:fld>
            <a:endParaRPr lang="zh-CN" altLang="en-US"/>
          </a:p>
        </p:txBody>
      </p:sp>
    </p:spTree>
    <p:extLst>
      <p:ext uri="{BB962C8B-B14F-4D97-AF65-F5344CB8AC3E}">
        <p14:creationId xmlns:p14="http://schemas.microsoft.com/office/powerpoint/2010/main" val="165061463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a:extLst>
              <a:ext uri="{FF2B5EF4-FFF2-40B4-BE49-F238E27FC236}">
                <a16:creationId xmlns:a16="http://schemas.microsoft.com/office/drawing/2014/main" id="{77420B00-362F-4406-ADB9-1976F70DD069}"/>
              </a:ext>
            </a:extLst>
          </p:cNvPr>
          <p:cNvSpPr>
            <a:spLocks noGrp="1"/>
          </p:cNvSpPr>
          <p:nvPr>
            <p:ph type="dt" sz="half" idx="10"/>
          </p:nvPr>
        </p:nvSpPr>
        <p:spPr>
          <a:xfrm>
            <a:off x="838200" y="6356350"/>
            <a:ext cx="2743200" cy="365125"/>
          </a:xfrm>
          <a:prstGeom prst="rect">
            <a:avLst/>
          </a:prstGeom>
        </p:spPr>
        <p:txBody>
          <a:bodyPr/>
          <a:lstStyle/>
          <a:p>
            <a:fld id="{28E9B696-EC6E-4CF1-97EE-1D0C044AEBAA}" type="datetimeFigureOut">
              <a:rPr lang="zh-CN" altLang="en-US" smtClean="0"/>
              <a:t>2026/1/15</a:t>
            </a:fld>
            <a:endParaRPr lang="zh-CN" altLang="en-US"/>
          </a:p>
        </p:txBody>
      </p:sp>
      <p:sp>
        <p:nvSpPr>
          <p:cNvPr id="3" name="页脚占位符 2">
            <a:extLst>
              <a:ext uri="{FF2B5EF4-FFF2-40B4-BE49-F238E27FC236}">
                <a16:creationId xmlns:a16="http://schemas.microsoft.com/office/drawing/2014/main" id="{E868B2CD-A765-4214-80E9-A575CB741B5E}"/>
              </a:ext>
            </a:extLst>
          </p:cNvPr>
          <p:cNvSpPr>
            <a:spLocks noGrp="1"/>
          </p:cNvSpPr>
          <p:nvPr>
            <p:ph type="ftr" sz="quarter" idx="11"/>
          </p:nvPr>
        </p:nvSpPr>
        <p:spPr>
          <a:xfrm>
            <a:off x="4038600" y="6356350"/>
            <a:ext cx="4114800" cy="365125"/>
          </a:xfrm>
          <a:prstGeom prst="rect">
            <a:avLst/>
          </a:prstGeom>
        </p:spPr>
        <p:txBody>
          <a:bodyPr/>
          <a:lstStyle/>
          <a:p>
            <a:endParaRPr lang="zh-CN" altLang="en-US"/>
          </a:p>
        </p:txBody>
      </p:sp>
      <p:sp>
        <p:nvSpPr>
          <p:cNvPr id="4" name="灯片编号占位符 3">
            <a:extLst>
              <a:ext uri="{FF2B5EF4-FFF2-40B4-BE49-F238E27FC236}">
                <a16:creationId xmlns:a16="http://schemas.microsoft.com/office/drawing/2014/main" id="{5A677BA9-7694-4C1C-BCCA-925A8EB20CDC}"/>
              </a:ext>
            </a:extLst>
          </p:cNvPr>
          <p:cNvSpPr>
            <a:spLocks noGrp="1"/>
          </p:cNvSpPr>
          <p:nvPr>
            <p:ph type="sldNum" sz="quarter" idx="12"/>
          </p:nvPr>
        </p:nvSpPr>
        <p:spPr>
          <a:xfrm>
            <a:off x="8610600" y="6356350"/>
            <a:ext cx="2743200" cy="365125"/>
          </a:xfrm>
          <a:prstGeom prst="rect">
            <a:avLst/>
          </a:prstGeom>
        </p:spPr>
        <p:txBody>
          <a:bodyPr/>
          <a:lstStyle/>
          <a:p>
            <a:fld id="{844447B2-D9F7-4B6A-98B2-6CC4720E7423}" type="slidenum">
              <a:rPr lang="zh-CN" altLang="en-US" smtClean="0"/>
              <a:t>‹#›</a:t>
            </a:fld>
            <a:endParaRPr lang="zh-CN" altLang="en-US"/>
          </a:p>
        </p:txBody>
      </p:sp>
    </p:spTree>
    <p:extLst>
      <p:ext uri="{BB962C8B-B14F-4D97-AF65-F5344CB8AC3E}">
        <p14:creationId xmlns:p14="http://schemas.microsoft.com/office/powerpoint/2010/main" val="142263113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FABD8C25-122D-449E-B969-99224EF47765}"/>
              </a:ext>
            </a:extLst>
          </p:cNvPr>
          <p:cNvSpPr>
            <a:spLocks noGrp="1"/>
          </p:cNvSpPr>
          <p:nvPr>
            <p:ph type="title"/>
          </p:nvPr>
        </p:nvSpPr>
        <p:spPr>
          <a:xfrm>
            <a:off x="839788" y="457200"/>
            <a:ext cx="3932237" cy="1600200"/>
          </a:xfrm>
          <a:prstGeom prst="rect">
            <a:avLst/>
          </a:prstGeom>
        </p:spPr>
        <p:txBody>
          <a:bodyPr anchor="b"/>
          <a:lstStyle>
            <a:lvl1pPr>
              <a:defRPr sz="3200"/>
            </a:lvl1pPr>
          </a:lstStyle>
          <a:p>
            <a:r>
              <a:rPr lang="zh-CN" altLang="en-US"/>
              <a:t>单击此处编辑母版标题样式</a:t>
            </a:r>
          </a:p>
        </p:txBody>
      </p:sp>
      <p:sp>
        <p:nvSpPr>
          <p:cNvPr id="3" name="内容占位符 2">
            <a:extLst>
              <a:ext uri="{FF2B5EF4-FFF2-40B4-BE49-F238E27FC236}">
                <a16:creationId xmlns:a16="http://schemas.microsoft.com/office/drawing/2014/main" id="{5D57853F-3870-493F-A60D-CB48BCCCBB30}"/>
              </a:ext>
            </a:extLst>
          </p:cNvPr>
          <p:cNvSpPr>
            <a:spLocks noGrp="1"/>
          </p:cNvSpPr>
          <p:nvPr>
            <p:ph idx="1"/>
          </p:nvPr>
        </p:nvSpPr>
        <p:spPr>
          <a:xfrm>
            <a:off x="5183188" y="987425"/>
            <a:ext cx="6172200" cy="4873625"/>
          </a:xfrm>
          <a:prstGeom prst="rect">
            <a:avLst/>
          </a:prstGeo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a:extLst>
              <a:ext uri="{FF2B5EF4-FFF2-40B4-BE49-F238E27FC236}">
                <a16:creationId xmlns:a16="http://schemas.microsoft.com/office/drawing/2014/main" id="{AF072C0B-6564-413B-A573-E5F36F977636}"/>
              </a:ext>
            </a:extLst>
          </p:cNvPr>
          <p:cNvSpPr>
            <a:spLocks noGrp="1"/>
          </p:cNvSpPr>
          <p:nvPr>
            <p:ph type="body" sz="half" idx="2"/>
          </p:nvPr>
        </p:nvSpPr>
        <p:spPr>
          <a:xfrm>
            <a:off x="839788" y="2057400"/>
            <a:ext cx="3932237" cy="3811588"/>
          </a:xfrm>
          <a:prstGeom prst="rect">
            <a:avLst/>
          </a:prstGeo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编辑母版文本样式</a:t>
            </a:r>
          </a:p>
        </p:txBody>
      </p:sp>
      <p:sp>
        <p:nvSpPr>
          <p:cNvPr id="5" name="日期占位符 4">
            <a:extLst>
              <a:ext uri="{FF2B5EF4-FFF2-40B4-BE49-F238E27FC236}">
                <a16:creationId xmlns:a16="http://schemas.microsoft.com/office/drawing/2014/main" id="{746D7867-564A-4E63-A409-40F273358F86}"/>
              </a:ext>
            </a:extLst>
          </p:cNvPr>
          <p:cNvSpPr>
            <a:spLocks noGrp="1"/>
          </p:cNvSpPr>
          <p:nvPr>
            <p:ph type="dt" sz="half" idx="10"/>
          </p:nvPr>
        </p:nvSpPr>
        <p:spPr>
          <a:xfrm>
            <a:off x="838200" y="6356350"/>
            <a:ext cx="2743200" cy="365125"/>
          </a:xfrm>
          <a:prstGeom prst="rect">
            <a:avLst/>
          </a:prstGeom>
        </p:spPr>
        <p:txBody>
          <a:bodyPr/>
          <a:lstStyle/>
          <a:p>
            <a:fld id="{28E9B696-EC6E-4CF1-97EE-1D0C044AEBAA}" type="datetimeFigureOut">
              <a:rPr lang="zh-CN" altLang="en-US" smtClean="0"/>
              <a:t>2026/1/15</a:t>
            </a:fld>
            <a:endParaRPr lang="zh-CN" altLang="en-US"/>
          </a:p>
        </p:txBody>
      </p:sp>
      <p:sp>
        <p:nvSpPr>
          <p:cNvPr id="6" name="页脚占位符 5">
            <a:extLst>
              <a:ext uri="{FF2B5EF4-FFF2-40B4-BE49-F238E27FC236}">
                <a16:creationId xmlns:a16="http://schemas.microsoft.com/office/drawing/2014/main" id="{16BB47CB-6CFE-4058-9D2D-08C850340392}"/>
              </a:ext>
            </a:extLst>
          </p:cNvPr>
          <p:cNvSpPr>
            <a:spLocks noGrp="1"/>
          </p:cNvSpPr>
          <p:nvPr>
            <p:ph type="ftr" sz="quarter" idx="11"/>
          </p:nvPr>
        </p:nvSpPr>
        <p:spPr>
          <a:xfrm>
            <a:off x="4038600" y="6356350"/>
            <a:ext cx="4114800" cy="365125"/>
          </a:xfrm>
          <a:prstGeom prst="rect">
            <a:avLst/>
          </a:prstGeom>
        </p:spPr>
        <p:txBody>
          <a:bodyPr/>
          <a:lstStyle/>
          <a:p>
            <a:endParaRPr lang="zh-CN" altLang="en-US"/>
          </a:p>
        </p:txBody>
      </p:sp>
      <p:sp>
        <p:nvSpPr>
          <p:cNvPr id="7" name="灯片编号占位符 6">
            <a:extLst>
              <a:ext uri="{FF2B5EF4-FFF2-40B4-BE49-F238E27FC236}">
                <a16:creationId xmlns:a16="http://schemas.microsoft.com/office/drawing/2014/main" id="{438411D7-B515-4646-A70E-BBD9841A21A7}"/>
              </a:ext>
            </a:extLst>
          </p:cNvPr>
          <p:cNvSpPr>
            <a:spLocks noGrp="1"/>
          </p:cNvSpPr>
          <p:nvPr>
            <p:ph type="sldNum" sz="quarter" idx="12"/>
          </p:nvPr>
        </p:nvSpPr>
        <p:spPr>
          <a:xfrm>
            <a:off x="8610600" y="6356350"/>
            <a:ext cx="2743200" cy="365125"/>
          </a:xfrm>
          <a:prstGeom prst="rect">
            <a:avLst/>
          </a:prstGeom>
        </p:spPr>
        <p:txBody>
          <a:bodyPr/>
          <a:lstStyle/>
          <a:p>
            <a:fld id="{844447B2-D9F7-4B6A-98B2-6CC4720E7423}" type="slidenum">
              <a:rPr lang="zh-CN" altLang="en-US" smtClean="0"/>
              <a:t>‹#›</a:t>
            </a:fld>
            <a:endParaRPr lang="zh-CN" altLang="en-US"/>
          </a:p>
        </p:txBody>
      </p:sp>
    </p:spTree>
    <p:extLst>
      <p:ext uri="{BB962C8B-B14F-4D97-AF65-F5344CB8AC3E}">
        <p14:creationId xmlns:p14="http://schemas.microsoft.com/office/powerpoint/2010/main" val="425566582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420B404D-1716-4127-A67A-44D79275838A}"/>
              </a:ext>
            </a:extLst>
          </p:cNvPr>
          <p:cNvSpPr>
            <a:spLocks noGrp="1"/>
          </p:cNvSpPr>
          <p:nvPr>
            <p:ph type="title"/>
          </p:nvPr>
        </p:nvSpPr>
        <p:spPr>
          <a:xfrm>
            <a:off x="839788" y="457200"/>
            <a:ext cx="3932237" cy="1600200"/>
          </a:xfrm>
          <a:prstGeom prst="rect">
            <a:avLst/>
          </a:prstGeom>
        </p:spPr>
        <p:txBody>
          <a:bodyPr anchor="b"/>
          <a:lstStyle>
            <a:lvl1pPr>
              <a:defRPr sz="3200"/>
            </a:lvl1pPr>
          </a:lstStyle>
          <a:p>
            <a:r>
              <a:rPr lang="zh-CN" altLang="en-US"/>
              <a:t>单击此处编辑母版标题样式</a:t>
            </a:r>
          </a:p>
        </p:txBody>
      </p:sp>
      <p:sp>
        <p:nvSpPr>
          <p:cNvPr id="3" name="图片占位符 2">
            <a:extLst>
              <a:ext uri="{FF2B5EF4-FFF2-40B4-BE49-F238E27FC236}">
                <a16:creationId xmlns:a16="http://schemas.microsoft.com/office/drawing/2014/main" id="{F798D99F-C54B-42AA-92C4-49EDF5191DBC}"/>
              </a:ext>
            </a:extLst>
          </p:cNvPr>
          <p:cNvSpPr>
            <a:spLocks noGrp="1"/>
          </p:cNvSpPr>
          <p:nvPr>
            <p:ph type="pic" idx="1"/>
          </p:nvPr>
        </p:nvSpPr>
        <p:spPr>
          <a:xfrm>
            <a:off x="5183188" y="987425"/>
            <a:ext cx="6172200" cy="4873625"/>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zh-CN" altLang="en-US"/>
              <a:t>单击图标添加图片</a:t>
            </a:r>
          </a:p>
        </p:txBody>
      </p:sp>
      <p:sp>
        <p:nvSpPr>
          <p:cNvPr id="4" name="文本占位符 3">
            <a:extLst>
              <a:ext uri="{FF2B5EF4-FFF2-40B4-BE49-F238E27FC236}">
                <a16:creationId xmlns:a16="http://schemas.microsoft.com/office/drawing/2014/main" id="{2276C667-CC3C-4B5E-928A-D4EBD020EC4C}"/>
              </a:ext>
            </a:extLst>
          </p:cNvPr>
          <p:cNvSpPr>
            <a:spLocks noGrp="1"/>
          </p:cNvSpPr>
          <p:nvPr>
            <p:ph type="body" sz="half" idx="2"/>
          </p:nvPr>
        </p:nvSpPr>
        <p:spPr>
          <a:xfrm>
            <a:off x="839788" y="2057400"/>
            <a:ext cx="3932237" cy="3811588"/>
          </a:xfrm>
          <a:prstGeom prst="rect">
            <a:avLst/>
          </a:prstGeo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编辑母版文本样式</a:t>
            </a:r>
          </a:p>
        </p:txBody>
      </p:sp>
      <p:sp>
        <p:nvSpPr>
          <p:cNvPr id="5" name="日期占位符 4">
            <a:extLst>
              <a:ext uri="{FF2B5EF4-FFF2-40B4-BE49-F238E27FC236}">
                <a16:creationId xmlns:a16="http://schemas.microsoft.com/office/drawing/2014/main" id="{BC39AF53-E9F0-49D1-8B2A-2FD8B21908E1}"/>
              </a:ext>
            </a:extLst>
          </p:cNvPr>
          <p:cNvSpPr>
            <a:spLocks noGrp="1"/>
          </p:cNvSpPr>
          <p:nvPr>
            <p:ph type="dt" sz="half" idx="10"/>
          </p:nvPr>
        </p:nvSpPr>
        <p:spPr>
          <a:xfrm>
            <a:off x="838200" y="6356350"/>
            <a:ext cx="2743200" cy="365125"/>
          </a:xfrm>
          <a:prstGeom prst="rect">
            <a:avLst/>
          </a:prstGeom>
        </p:spPr>
        <p:txBody>
          <a:bodyPr/>
          <a:lstStyle/>
          <a:p>
            <a:fld id="{28E9B696-EC6E-4CF1-97EE-1D0C044AEBAA}" type="datetimeFigureOut">
              <a:rPr lang="zh-CN" altLang="en-US" smtClean="0"/>
              <a:t>2026/1/15</a:t>
            </a:fld>
            <a:endParaRPr lang="zh-CN" altLang="en-US"/>
          </a:p>
        </p:txBody>
      </p:sp>
      <p:sp>
        <p:nvSpPr>
          <p:cNvPr id="6" name="页脚占位符 5">
            <a:extLst>
              <a:ext uri="{FF2B5EF4-FFF2-40B4-BE49-F238E27FC236}">
                <a16:creationId xmlns:a16="http://schemas.microsoft.com/office/drawing/2014/main" id="{49F7F8AF-4A92-4AA1-93A8-B795091628B4}"/>
              </a:ext>
            </a:extLst>
          </p:cNvPr>
          <p:cNvSpPr>
            <a:spLocks noGrp="1"/>
          </p:cNvSpPr>
          <p:nvPr>
            <p:ph type="ftr" sz="quarter" idx="11"/>
          </p:nvPr>
        </p:nvSpPr>
        <p:spPr>
          <a:xfrm>
            <a:off x="4038600" y="6356350"/>
            <a:ext cx="4114800" cy="365125"/>
          </a:xfrm>
          <a:prstGeom prst="rect">
            <a:avLst/>
          </a:prstGeom>
        </p:spPr>
        <p:txBody>
          <a:bodyPr/>
          <a:lstStyle/>
          <a:p>
            <a:endParaRPr lang="zh-CN" altLang="en-US"/>
          </a:p>
        </p:txBody>
      </p:sp>
      <p:sp>
        <p:nvSpPr>
          <p:cNvPr id="7" name="灯片编号占位符 6">
            <a:extLst>
              <a:ext uri="{FF2B5EF4-FFF2-40B4-BE49-F238E27FC236}">
                <a16:creationId xmlns:a16="http://schemas.microsoft.com/office/drawing/2014/main" id="{6827B175-CEEE-4F54-9AA9-64D605AA9C4D}"/>
              </a:ext>
            </a:extLst>
          </p:cNvPr>
          <p:cNvSpPr>
            <a:spLocks noGrp="1"/>
          </p:cNvSpPr>
          <p:nvPr>
            <p:ph type="sldNum" sz="quarter" idx="12"/>
          </p:nvPr>
        </p:nvSpPr>
        <p:spPr>
          <a:xfrm>
            <a:off x="8610600" y="6356350"/>
            <a:ext cx="2743200" cy="365125"/>
          </a:xfrm>
          <a:prstGeom prst="rect">
            <a:avLst/>
          </a:prstGeom>
        </p:spPr>
        <p:txBody>
          <a:bodyPr/>
          <a:lstStyle/>
          <a:p>
            <a:fld id="{844447B2-D9F7-4B6A-98B2-6CC4720E7423}" type="slidenum">
              <a:rPr lang="zh-CN" altLang="en-US" smtClean="0"/>
              <a:t>‹#›</a:t>
            </a:fld>
            <a:endParaRPr lang="zh-CN" altLang="en-US"/>
          </a:p>
        </p:txBody>
      </p:sp>
    </p:spTree>
    <p:extLst>
      <p:ext uri="{BB962C8B-B14F-4D97-AF65-F5344CB8AC3E}">
        <p14:creationId xmlns:p14="http://schemas.microsoft.com/office/powerpoint/2010/main" val="154397919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631BD815-6AD6-40A3-9E06-7D71A910F5F3}"/>
              </a:ext>
            </a:extLst>
          </p:cNvPr>
          <p:cNvSpPr>
            <a:spLocks noGrp="1"/>
          </p:cNvSpPr>
          <p:nvPr>
            <p:ph type="title"/>
          </p:nvPr>
        </p:nvSpPr>
        <p:spPr>
          <a:xfrm>
            <a:off x="838200" y="365125"/>
            <a:ext cx="10515600" cy="1325563"/>
          </a:xfrm>
          <a:prstGeom prst="rect">
            <a:avLst/>
          </a:prstGeom>
        </p:spPr>
        <p:txBody>
          <a:bodyPr/>
          <a:lstStyle/>
          <a:p>
            <a:r>
              <a:rPr lang="zh-CN" altLang="en-US"/>
              <a:t>单击此处编辑母版标题样式</a:t>
            </a:r>
          </a:p>
        </p:txBody>
      </p:sp>
      <p:sp>
        <p:nvSpPr>
          <p:cNvPr id="3" name="竖排文字占位符 2">
            <a:extLst>
              <a:ext uri="{FF2B5EF4-FFF2-40B4-BE49-F238E27FC236}">
                <a16:creationId xmlns:a16="http://schemas.microsoft.com/office/drawing/2014/main" id="{18EA2F03-CBBB-483B-A6B8-936117958EB8}"/>
              </a:ext>
            </a:extLst>
          </p:cNvPr>
          <p:cNvSpPr>
            <a:spLocks noGrp="1"/>
          </p:cNvSpPr>
          <p:nvPr>
            <p:ph type="body" orient="vert" idx="1"/>
          </p:nvPr>
        </p:nvSpPr>
        <p:spPr>
          <a:xfrm>
            <a:off x="838200" y="1825625"/>
            <a:ext cx="10515600" cy="4351338"/>
          </a:xfrm>
          <a:prstGeom prst="rect">
            <a:avLst/>
          </a:prstGeom>
        </p:spPr>
        <p:txBody>
          <a:bodyPr vert="eaVert"/>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a:extLst>
              <a:ext uri="{FF2B5EF4-FFF2-40B4-BE49-F238E27FC236}">
                <a16:creationId xmlns:a16="http://schemas.microsoft.com/office/drawing/2014/main" id="{5F0E73CF-B044-4E1E-84F3-1C9852E0C00D}"/>
              </a:ext>
            </a:extLst>
          </p:cNvPr>
          <p:cNvSpPr>
            <a:spLocks noGrp="1"/>
          </p:cNvSpPr>
          <p:nvPr>
            <p:ph type="dt" sz="half" idx="10"/>
          </p:nvPr>
        </p:nvSpPr>
        <p:spPr>
          <a:xfrm>
            <a:off x="838200" y="6356350"/>
            <a:ext cx="2743200" cy="365125"/>
          </a:xfrm>
          <a:prstGeom prst="rect">
            <a:avLst/>
          </a:prstGeom>
        </p:spPr>
        <p:txBody>
          <a:bodyPr/>
          <a:lstStyle/>
          <a:p>
            <a:fld id="{28E9B696-EC6E-4CF1-97EE-1D0C044AEBAA}" type="datetimeFigureOut">
              <a:rPr lang="zh-CN" altLang="en-US" smtClean="0"/>
              <a:t>2026/1/15</a:t>
            </a:fld>
            <a:endParaRPr lang="zh-CN" altLang="en-US"/>
          </a:p>
        </p:txBody>
      </p:sp>
      <p:sp>
        <p:nvSpPr>
          <p:cNvPr id="5" name="页脚占位符 4">
            <a:extLst>
              <a:ext uri="{FF2B5EF4-FFF2-40B4-BE49-F238E27FC236}">
                <a16:creationId xmlns:a16="http://schemas.microsoft.com/office/drawing/2014/main" id="{6217A405-71AD-4FDE-BFF6-ADDC78ADADDA}"/>
              </a:ext>
            </a:extLst>
          </p:cNvPr>
          <p:cNvSpPr>
            <a:spLocks noGrp="1"/>
          </p:cNvSpPr>
          <p:nvPr>
            <p:ph type="ftr" sz="quarter" idx="11"/>
          </p:nvPr>
        </p:nvSpPr>
        <p:spPr>
          <a:xfrm>
            <a:off x="4038600" y="6356350"/>
            <a:ext cx="4114800" cy="365125"/>
          </a:xfrm>
          <a:prstGeom prst="rect">
            <a:avLst/>
          </a:prstGeom>
        </p:spPr>
        <p:txBody>
          <a:bodyPr/>
          <a:lstStyle/>
          <a:p>
            <a:endParaRPr lang="zh-CN" altLang="en-US"/>
          </a:p>
        </p:txBody>
      </p:sp>
      <p:sp>
        <p:nvSpPr>
          <p:cNvPr id="6" name="灯片编号占位符 5">
            <a:extLst>
              <a:ext uri="{FF2B5EF4-FFF2-40B4-BE49-F238E27FC236}">
                <a16:creationId xmlns:a16="http://schemas.microsoft.com/office/drawing/2014/main" id="{F4034D74-8293-4D86-8FFE-89B60FEFF138}"/>
              </a:ext>
            </a:extLst>
          </p:cNvPr>
          <p:cNvSpPr>
            <a:spLocks noGrp="1"/>
          </p:cNvSpPr>
          <p:nvPr>
            <p:ph type="sldNum" sz="quarter" idx="12"/>
          </p:nvPr>
        </p:nvSpPr>
        <p:spPr>
          <a:xfrm>
            <a:off x="8610600" y="6356350"/>
            <a:ext cx="2743200" cy="365125"/>
          </a:xfrm>
          <a:prstGeom prst="rect">
            <a:avLst/>
          </a:prstGeom>
        </p:spPr>
        <p:txBody>
          <a:bodyPr/>
          <a:lstStyle/>
          <a:p>
            <a:fld id="{844447B2-D9F7-4B6A-98B2-6CC4720E7423}" type="slidenum">
              <a:rPr lang="zh-CN" altLang="en-US" smtClean="0"/>
              <a:t>‹#›</a:t>
            </a:fld>
            <a:endParaRPr lang="zh-CN" altLang="en-US"/>
          </a:p>
        </p:txBody>
      </p:sp>
    </p:spTree>
    <p:extLst>
      <p:ext uri="{BB962C8B-B14F-4D97-AF65-F5344CB8AC3E}">
        <p14:creationId xmlns:p14="http://schemas.microsoft.com/office/powerpoint/2010/main" val="261237199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a:extLst>
              <a:ext uri="{FF2B5EF4-FFF2-40B4-BE49-F238E27FC236}">
                <a16:creationId xmlns:a16="http://schemas.microsoft.com/office/drawing/2014/main" id="{E2A0AF6E-6139-43B6-B89E-0BF171C95F82}"/>
              </a:ext>
            </a:extLst>
          </p:cNvPr>
          <p:cNvSpPr>
            <a:spLocks noGrp="1"/>
          </p:cNvSpPr>
          <p:nvPr>
            <p:ph type="title" orient="vert"/>
          </p:nvPr>
        </p:nvSpPr>
        <p:spPr>
          <a:xfrm>
            <a:off x="8724900" y="365125"/>
            <a:ext cx="2628900" cy="5811838"/>
          </a:xfrm>
          <a:prstGeom prst="rect">
            <a:avLst/>
          </a:prstGeom>
        </p:spPr>
        <p:txBody>
          <a:bodyPr vert="eaVert"/>
          <a:lstStyle/>
          <a:p>
            <a:r>
              <a:rPr lang="zh-CN" altLang="en-US"/>
              <a:t>单击此处编辑母版标题样式</a:t>
            </a:r>
          </a:p>
        </p:txBody>
      </p:sp>
      <p:sp>
        <p:nvSpPr>
          <p:cNvPr id="3" name="竖排文字占位符 2">
            <a:extLst>
              <a:ext uri="{FF2B5EF4-FFF2-40B4-BE49-F238E27FC236}">
                <a16:creationId xmlns:a16="http://schemas.microsoft.com/office/drawing/2014/main" id="{E3FFFD76-5580-48D9-BFE7-DAFF22C9E4E1}"/>
              </a:ext>
            </a:extLst>
          </p:cNvPr>
          <p:cNvSpPr>
            <a:spLocks noGrp="1"/>
          </p:cNvSpPr>
          <p:nvPr>
            <p:ph type="body" orient="vert" idx="1"/>
          </p:nvPr>
        </p:nvSpPr>
        <p:spPr>
          <a:xfrm>
            <a:off x="838200" y="365125"/>
            <a:ext cx="7734300" cy="5811838"/>
          </a:xfrm>
          <a:prstGeom prst="rect">
            <a:avLst/>
          </a:prstGeom>
        </p:spPr>
        <p:txBody>
          <a:bodyPr vert="eaVert"/>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a:extLst>
              <a:ext uri="{FF2B5EF4-FFF2-40B4-BE49-F238E27FC236}">
                <a16:creationId xmlns:a16="http://schemas.microsoft.com/office/drawing/2014/main" id="{25C4D58D-C981-4387-BC40-376F7F82036D}"/>
              </a:ext>
            </a:extLst>
          </p:cNvPr>
          <p:cNvSpPr>
            <a:spLocks noGrp="1"/>
          </p:cNvSpPr>
          <p:nvPr>
            <p:ph type="dt" sz="half" idx="10"/>
          </p:nvPr>
        </p:nvSpPr>
        <p:spPr>
          <a:xfrm>
            <a:off x="838200" y="6356350"/>
            <a:ext cx="2743200" cy="365125"/>
          </a:xfrm>
          <a:prstGeom prst="rect">
            <a:avLst/>
          </a:prstGeom>
        </p:spPr>
        <p:txBody>
          <a:bodyPr/>
          <a:lstStyle/>
          <a:p>
            <a:fld id="{28E9B696-EC6E-4CF1-97EE-1D0C044AEBAA}" type="datetimeFigureOut">
              <a:rPr lang="zh-CN" altLang="en-US" smtClean="0"/>
              <a:t>2026/1/15</a:t>
            </a:fld>
            <a:endParaRPr lang="zh-CN" altLang="en-US"/>
          </a:p>
        </p:txBody>
      </p:sp>
      <p:sp>
        <p:nvSpPr>
          <p:cNvPr id="5" name="页脚占位符 4">
            <a:extLst>
              <a:ext uri="{FF2B5EF4-FFF2-40B4-BE49-F238E27FC236}">
                <a16:creationId xmlns:a16="http://schemas.microsoft.com/office/drawing/2014/main" id="{8B70C98E-A51D-4D2E-824E-3941308D52B6}"/>
              </a:ext>
            </a:extLst>
          </p:cNvPr>
          <p:cNvSpPr>
            <a:spLocks noGrp="1"/>
          </p:cNvSpPr>
          <p:nvPr>
            <p:ph type="ftr" sz="quarter" idx="11"/>
          </p:nvPr>
        </p:nvSpPr>
        <p:spPr>
          <a:xfrm>
            <a:off x="4038600" y="6356350"/>
            <a:ext cx="4114800" cy="365125"/>
          </a:xfrm>
          <a:prstGeom prst="rect">
            <a:avLst/>
          </a:prstGeom>
        </p:spPr>
        <p:txBody>
          <a:bodyPr/>
          <a:lstStyle/>
          <a:p>
            <a:endParaRPr lang="zh-CN" altLang="en-US"/>
          </a:p>
        </p:txBody>
      </p:sp>
      <p:sp>
        <p:nvSpPr>
          <p:cNvPr id="6" name="灯片编号占位符 5">
            <a:extLst>
              <a:ext uri="{FF2B5EF4-FFF2-40B4-BE49-F238E27FC236}">
                <a16:creationId xmlns:a16="http://schemas.microsoft.com/office/drawing/2014/main" id="{129DDD9D-6E63-45CA-A42B-67135E0BED6D}"/>
              </a:ext>
            </a:extLst>
          </p:cNvPr>
          <p:cNvSpPr>
            <a:spLocks noGrp="1"/>
          </p:cNvSpPr>
          <p:nvPr>
            <p:ph type="sldNum" sz="quarter" idx="12"/>
          </p:nvPr>
        </p:nvSpPr>
        <p:spPr>
          <a:xfrm>
            <a:off x="8610600" y="6356350"/>
            <a:ext cx="2743200" cy="365125"/>
          </a:xfrm>
          <a:prstGeom prst="rect">
            <a:avLst/>
          </a:prstGeom>
        </p:spPr>
        <p:txBody>
          <a:bodyPr/>
          <a:lstStyle/>
          <a:p>
            <a:fld id="{844447B2-D9F7-4B6A-98B2-6CC4720E7423}" type="slidenum">
              <a:rPr lang="zh-CN" altLang="en-US" smtClean="0"/>
              <a:t>‹#›</a:t>
            </a:fld>
            <a:endParaRPr lang="zh-CN" altLang="en-US"/>
          </a:p>
        </p:txBody>
      </p:sp>
    </p:spTree>
    <p:extLst>
      <p:ext uri="{BB962C8B-B14F-4D97-AF65-F5344CB8AC3E}">
        <p14:creationId xmlns:p14="http://schemas.microsoft.com/office/powerpoint/2010/main" val="260741870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userDrawn="1">
  <p:cSld name="标题和内容">
    <p:spTree>
      <p:nvGrpSpPr>
        <p:cNvPr id="1" name=""/>
        <p:cNvGrpSpPr/>
        <p:nvPr/>
      </p:nvGrpSpPr>
      <p:grpSpPr>
        <a:xfrm>
          <a:off x="0" y="0"/>
          <a:ext cx="0" cy="0"/>
          <a:chOff x="0" y="0"/>
          <a:chExt cx="0" cy="0"/>
        </a:xfrm>
      </p:grpSpPr>
    </p:spTree>
    <p:extLst>
      <p:ext uri="{BB962C8B-B14F-4D97-AF65-F5344CB8AC3E}">
        <p14:creationId xmlns:p14="http://schemas.microsoft.com/office/powerpoint/2010/main" val="373854620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577830101"/>
      </p:ext>
    </p:extLst>
  </p:cSld>
  <p:clrMap bg1="lt1" tx1="dk1" bg2="lt2" tx2="dk2" accent1="accent1" accent2="accent2" accent3="accent3" accent4="accent4" accent5="accent5" accent6="accent6" hlink="hlink" folHlink="folHlink"/>
  <p:sldLayoutIdLst>
    <p:sldLayoutId id="2147483649" r:id="rId1"/>
    <p:sldLayoutId id="2147483651" r:id="rId2"/>
    <p:sldLayoutId id="2147483652" r:id="rId3"/>
    <p:sldLayoutId id="2147483653" r:id="rId4"/>
    <p:sldLayoutId id="2147483654" r:id="rId5"/>
    <p:sldLayoutId id="2147483655" r:id="rId6"/>
    <p:sldLayoutId id="2147483656" r:id="rId7"/>
    <p:sldLayoutId id="2147483657" r:id="rId8"/>
    <p:sldLayoutId id="2147483658" r:id="rId9"/>
    <p:sldLayoutId id="2147483659" r:id="rId10"/>
    <p:sldLayoutId id="2147483660"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mod="1">
    <p:ext uri="{27BBF7A9-308A-43DC-89C8-2F10F3537804}">
      <p15:sldGuideLst xmlns:p15="http://schemas.microsoft.com/office/powerpoint/2012/main">
        <p15:guide id="1" orient="horz" pos="2160" userDrawn="1">
          <p15:clr>
            <a:srgbClr val="F26B43"/>
          </p15:clr>
        </p15:guide>
        <p15:guide id="2" pos="3840" userDrawn="1">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2.xml"/><Relationship Id="rId5" Type="http://schemas.openxmlformats.org/officeDocument/2006/relationships/image" Target="../media/image7.png"/><Relationship Id="rId4" Type="http://schemas.openxmlformats.org/officeDocument/2006/relationships/image" Target="../media/image6.png"/></Relationships>
</file>

<file path=ppt/slides/_rels/slide2.xml.rels><?xml version="1.0" encoding="UTF-8" standalone="yes"?>
<Relationships xmlns="http://schemas.openxmlformats.org/package/2006/relationships"><Relationship Id="rId8" Type="http://schemas.openxmlformats.org/officeDocument/2006/relationships/image" Target="../media/image13.png"/><Relationship Id="rId3" Type="http://schemas.openxmlformats.org/officeDocument/2006/relationships/image" Target="../media/image9.png"/><Relationship Id="rId7" Type="http://schemas.openxmlformats.org/officeDocument/2006/relationships/image" Target="../media/image12.png"/><Relationship Id="rId2" Type="http://schemas.openxmlformats.org/officeDocument/2006/relationships/image" Target="../media/image8.png"/><Relationship Id="rId1" Type="http://schemas.openxmlformats.org/officeDocument/2006/relationships/slideLayout" Target="../slideLayouts/slideLayout2.xml"/><Relationship Id="rId6" Type="http://schemas.openxmlformats.org/officeDocument/2006/relationships/image" Target="../media/image11.jpg"/><Relationship Id="rId5" Type="http://schemas.microsoft.com/office/2007/relationships/hdphoto" Target="../media/hdphoto1.wdp"/><Relationship Id="rId4" Type="http://schemas.openxmlformats.org/officeDocument/2006/relationships/image" Target="../media/image10.png"/></Relationships>
</file>

<file path=ppt/slides/_rels/slide3.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tags" Target="../tags/tag2.xml"/><Relationship Id="rId1" Type="http://schemas.openxmlformats.org/officeDocument/2006/relationships/tags" Target="../tags/tag1.xml"/><Relationship Id="rId4" Type="http://schemas.openxmlformats.org/officeDocument/2006/relationships/image" Target="../media/image14.png"/></Relationships>
</file>

<file path=ppt/slides/_rels/slide4.xml.rels><?xml version="1.0" encoding="UTF-8" standalone="yes"?>
<Relationships xmlns="http://schemas.openxmlformats.org/package/2006/relationships"><Relationship Id="rId8" Type="http://schemas.openxmlformats.org/officeDocument/2006/relationships/slideLayout" Target="../slideLayouts/slideLayout3.xml"/><Relationship Id="rId3" Type="http://schemas.openxmlformats.org/officeDocument/2006/relationships/tags" Target="../tags/tag5.xml"/><Relationship Id="rId7" Type="http://schemas.openxmlformats.org/officeDocument/2006/relationships/tags" Target="../tags/tag9.xml"/><Relationship Id="rId2" Type="http://schemas.openxmlformats.org/officeDocument/2006/relationships/tags" Target="../tags/tag4.xml"/><Relationship Id="rId1" Type="http://schemas.openxmlformats.org/officeDocument/2006/relationships/tags" Target="../tags/tag3.xml"/><Relationship Id="rId6" Type="http://schemas.openxmlformats.org/officeDocument/2006/relationships/tags" Target="../tags/tag8.xml"/><Relationship Id="rId5" Type="http://schemas.openxmlformats.org/officeDocument/2006/relationships/tags" Target="../tags/tag7.xml"/><Relationship Id="rId4" Type="http://schemas.openxmlformats.org/officeDocument/2006/relationships/tags" Target="../tags/tag6.xml"/></Relationships>
</file>

<file path=ppt/slides/_rels/slide5.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11.xml"/></Relationships>
</file>

<file path=ppt/slides/_rels/slide6.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11.xml"/></Relationships>
</file>

<file path=ppt/slides/_rels/slide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png"/><Relationship Id="rId1" Type="http://schemas.openxmlformats.org/officeDocument/2006/relationships/slideLayout" Target="../slideLayouts/slideLayout1.xml"/><Relationship Id="rId4" Type="http://schemas.openxmlformats.org/officeDocument/2006/relationships/image" Target="../media/image18.png"/></Relationships>
</file>

<file path=ppt/slides/_rels/slide9.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9.png"/><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image" Target="../media/image21.jpeg"/><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22.png"/><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image" Target="../media/image25.jpeg"/><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8" Type="http://schemas.openxmlformats.org/officeDocument/2006/relationships/chart" Target="../charts/chart6.xml"/><Relationship Id="rId3" Type="http://schemas.openxmlformats.org/officeDocument/2006/relationships/chart" Target="../charts/chart1.xml"/><Relationship Id="rId7" Type="http://schemas.openxmlformats.org/officeDocument/2006/relationships/chart" Target="../charts/chart5.xml"/><Relationship Id="rId2" Type="http://schemas.openxmlformats.org/officeDocument/2006/relationships/image" Target="../media/image28.png"/><Relationship Id="rId1" Type="http://schemas.openxmlformats.org/officeDocument/2006/relationships/slideLayout" Target="../slideLayouts/slideLayout1.xml"/><Relationship Id="rId6" Type="http://schemas.openxmlformats.org/officeDocument/2006/relationships/chart" Target="../charts/chart4.xml"/><Relationship Id="rId5" Type="http://schemas.openxmlformats.org/officeDocument/2006/relationships/chart" Target="../charts/chart3.xml"/><Relationship Id="rId4" Type="http://schemas.openxmlformats.org/officeDocument/2006/relationships/chart" Target="../charts/chart2.xml"/></Relationships>
</file>

<file path=ppt/slides/_rels/slide20.xml.rels><?xml version="1.0" encoding="UTF-8" standalone="yes"?>
<Relationships xmlns="http://schemas.openxmlformats.org/package/2006/relationships"><Relationship Id="rId3" Type="http://schemas.openxmlformats.org/officeDocument/2006/relationships/image" Target="../media/image29.jpeg"/><Relationship Id="rId2" Type="http://schemas.openxmlformats.org/officeDocument/2006/relationships/image" Target="../media/image24.png"/><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1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2" name="图片 31">
            <a:extLst>
              <a:ext uri="{FF2B5EF4-FFF2-40B4-BE49-F238E27FC236}">
                <a16:creationId xmlns:a16="http://schemas.microsoft.com/office/drawing/2014/main" id="{249542E5-CF95-49A3-B92C-200C3D562F01}"/>
              </a:ext>
            </a:extLst>
          </p:cNvPr>
          <p:cNvPicPr>
            <a:picLocks noChangeAspect="1"/>
          </p:cNvPicPr>
          <p:nvPr/>
        </p:nvPicPr>
        <p:blipFill>
          <a:blip r:embed="rId2"/>
          <a:stretch>
            <a:fillRect/>
          </a:stretch>
        </p:blipFill>
        <p:spPr>
          <a:xfrm>
            <a:off x="5471160" y="5744924"/>
            <a:ext cx="6710946" cy="1193842"/>
          </a:xfrm>
          <a:prstGeom prst="rect">
            <a:avLst/>
          </a:prstGeom>
        </p:spPr>
      </p:pic>
      <p:pic>
        <p:nvPicPr>
          <p:cNvPr id="25" name="图片 24">
            <a:extLst>
              <a:ext uri="{FF2B5EF4-FFF2-40B4-BE49-F238E27FC236}">
                <a16:creationId xmlns:a16="http://schemas.microsoft.com/office/drawing/2014/main" id="{8DB57C4A-3D43-4C63-8753-30A5F64C419F}"/>
              </a:ext>
            </a:extLst>
          </p:cNvPr>
          <p:cNvPicPr>
            <a:picLocks noChangeAspect="1"/>
          </p:cNvPicPr>
          <p:nvPr/>
        </p:nvPicPr>
        <p:blipFill rotWithShape="1">
          <a:blip r:embed="rId3"/>
          <a:srcRect b="48543"/>
          <a:stretch/>
        </p:blipFill>
        <p:spPr>
          <a:xfrm>
            <a:off x="5471159" y="3915636"/>
            <a:ext cx="6752847" cy="1195927"/>
          </a:xfrm>
          <a:prstGeom prst="rect">
            <a:avLst/>
          </a:prstGeom>
        </p:spPr>
      </p:pic>
      <p:pic>
        <p:nvPicPr>
          <p:cNvPr id="20" name="图片 19">
            <a:extLst>
              <a:ext uri="{FF2B5EF4-FFF2-40B4-BE49-F238E27FC236}">
                <a16:creationId xmlns:a16="http://schemas.microsoft.com/office/drawing/2014/main" id="{045932D8-F9CB-4A60-A980-6F80EA7E1791}"/>
              </a:ext>
            </a:extLst>
          </p:cNvPr>
          <p:cNvPicPr>
            <a:picLocks noChangeAspect="1"/>
          </p:cNvPicPr>
          <p:nvPr/>
        </p:nvPicPr>
        <p:blipFill rotWithShape="1">
          <a:blip r:embed="rId4"/>
          <a:srcRect r="7741"/>
          <a:stretch/>
        </p:blipFill>
        <p:spPr>
          <a:xfrm>
            <a:off x="5471161" y="2217825"/>
            <a:ext cx="6720839" cy="1094356"/>
          </a:xfrm>
          <a:prstGeom prst="rect">
            <a:avLst/>
          </a:prstGeom>
        </p:spPr>
      </p:pic>
      <p:sp>
        <p:nvSpPr>
          <p:cNvPr id="2" name="矩形 1">
            <a:extLst>
              <a:ext uri="{FF2B5EF4-FFF2-40B4-BE49-F238E27FC236}">
                <a16:creationId xmlns:a16="http://schemas.microsoft.com/office/drawing/2014/main" id="{3E98FBA2-67D1-4677-8330-40EA9B6CAFEF}"/>
              </a:ext>
            </a:extLst>
          </p:cNvPr>
          <p:cNvSpPr/>
          <p:nvPr/>
        </p:nvSpPr>
        <p:spPr>
          <a:xfrm>
            <a:off x="0" y="0"/>
            <a:ext cx="547116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9" name="组合 8">
            <a:extLst>
              <a:ext uri="{FF2B5EF4-FFF2-40B4-BE49-F238E27FC236}">
                <a16:creationId xmlns:a16="http://schemas.microsoft.com/office/drawing/2014/main" id="{42758374-A1F8-4D06-8A4F-C812EF1910B9}"/>
              </a:ext>
            </a:extLst>
          </p:cNvPr>
          <p:cNvGrpSpPr/>
          <p:nvPr/>
        </p:nvGrpSpPr>
        <p:grpSpPr>
          <a:xfrm>
            <a:off x="387950" y="2598003"/>
            <a:ext cx="4695260" cy="1661995"/>
            <a:chOff x="263525" y="2598003"/>
            <a:chExt cx="4695260" cy="1661995"/>
          </a:xfrm>
        </p:grpSpPr>
        <p:sp>
          <p:nvSpPr>
            <p:cNvPr id="3" name="文本框 2">
              <a:extLst>
                <a:ext uri="{FF2B5EF4-FFF2-40B4-BE49-F238E27FC236}">
                  <a16:creationId xmlns:a16="http://schemas.microsoft.com/office/drawing/2014/main" id="{E0D6E96A-D70B-477A-AB0C-04F31F9A76FB}"/>
                </a:ext>
              </a:extLst>
            </p:cNvPr>
            <p:cNvSpPr txBox="1"/>
            <p:nvPr/>
          </p:nvSpPr>
          <p:spPr>
            <a:xfrm>
              <a:off x="263525" y="2598003"/>
              <a:ext cx="4695260" cy="707886"/>
            </a:xfrm>
            <a:prstGeom prst="rect">
              <a:avLst/>
            </a:prstGeom>
            <a:noFill/>
          </p:spPr>
          <p:txBody>
            <a:bodyPr wrap="none" rtlCol="0">
              <a:spAutoFit/>
            </a:bodyPr>
            <a:lstStyle/>
            <a:p>
              <a:r>
                <a:rPr lang="zh-CN" altLang="en-US" sz="4000" dirty="0">
                  <a:solidFill>
                    <a:schemeClr val="bg1"/>
                  </a:solidFill>
                  <a:latin typeface="思源黑体 CN Bold" panose="020B0800000000000000" pitchFamily="34" charset="-122"/>
                  <a:ea typeface="思源黑体 CN Bold" panose="020B0800000000000000" pitchFamily="34" charset="-122"/>
                </a:rPr>
                <a:t>关于校徽</a:t>
              </a:r>
              <a:r>
                <a:rPr lang="en-US" altLang="zh-CN" sz="4000" dirty="0">
                  <a:solidFill>
                    <a:schemeClr val="bg1"/>
                  </a:solidFill>
                  <a:latin typeface="思源黑体 CN Bold" panose="020B0800000000000000" pitchFamily="34" charset="-122"/>
                  <a:ea typeface="思源黑体 CN Bold" panose="020B0800000000000000" pitchFamily="34" charset="-122"/>
                </a:rPr>
                <a:t>LOGO</a:t>
              </a:r>
              <a:r>
                <a:rPr lang="zh-CN" altLang="en-US" sz="4000" dirty="0">
                  <a:solidFill>
                    <a:schemeClr val="bg1"/>
                  </a:solidFill>
                  <a:latin typeface="思源黑体 CN Bold" panose="020B0800000000000000" pitchFamily="34" charset="-122"/>
                  <a:ea typeface="思源黑体 CN Bold" panose="020B0800000000000000" pitchFamily="34" charset="-122"/>
                </a:rPr>
                <a:t>替换</a:t>
              </a:r>
            </a:p>
          </p:txBody>
        </p:sp>
        <p:sp>
          <p:nvSpPr>
            <p:cNvPr id="4" name="文本框 3">
              <a:extLst>
                <a:ext uri="{FF2B5EF4-FFF2-40B4-BE49-F238E27FC236}">
                  <a16:creationId xmlns:a16="http://schemas.microsoft.com/office/drawing/2014/main" id="{B101C339-27B1-4920-8BCE-56DD6348F19E}"/>
                </a:ext>
              </a:extLst>
            </p:cNvPr>
            <p:cNvSpPr txBox="1"/>
            <p:nvPr/>
          </p:nvSpPr>
          <p:spPr>
            <a:xfrm>
              <a:off x="263525" y="3552112"/>
              <a:ext cx="3262432" cy="707886"/>
            </a:xfrm>
            <a:prstGeom prst="rect">
              <a:avLst/>
            </a:prstGeom>
            <a:noFill/>
          </p:spPr>
          <p:txBody>
            <a:bodyPr wrap="none" rtlCol="0">
              <a:spAutoFit/>
            </a:bodyPr>
            <a:lstStyle/>
            <a:p>
              <a:r>
                <a:rPr lang="zh-CN" altLang="en-US" sz="4000" dirty="0">
                  <a:solidFill>
                    <a:schemeClr val="bg1"/>
                  </a:solidFill>
                  <a:latin typeface="思源黑体 CN Bold" panose="020B0800000000000000" pitchFamily="34" charset="-122"/>
                  <a:ea typeface="思源黑体 CN Bold" panose="020B0800000000000000" pitchFamily="34" charset="-122"/>
                </a:rPr>
                <a:t>详细操作说明</a:t>
              </a:r>
            </a:p>
          </p:txBody>
        </p:sp>
        <p:cxnSp>
          <p:nvCxnSpPr>
            <p:cNvPr id="6" name="直接箭头连接符 5">
              <a:extLst>
                <a:ext uri="{FF2B5EF4-FFF2-40B4-BE49-F238E27FC236}">
                  <a16:creationId xmlns:a16="http://schemas.microsoft.com/office/drawing/2014/main" id="{AE854D98-F00B-4FEA-825D-10B47B13434A}"/>
                </a:ext>
              </a:extLst>
            </p:cNvPr>
            <p:cNvCxnSpPr>
              <a:cxnSpLocks/>
            </p:cNvCxnSpPr>
            <p:nvPr/>
          </p:nvCxnSpPr>
          <p:spPr>
            <a:xfrm>
              <a:off x="3604376" y="3906055"/>
              <a:ext cx="1165744" cy="0"/>
            </a:xfrm>
            <a:prstGeom prst="straightConnector1">
              <a:avLst/>
            </a:prstGeom>
            <a:ln w="22225">
              <a:solidFill>
                <a:schemeClr val="bg1"/>
              </a:solidFill>
              <a:tailEnd type="triangle"/>
            </a:ln>
          </p:spPr>
          <p:style>
            <a:lnRef idx="1">
              <a:schemeClr val="accent1"/>
            </a:lnRef>
            <a:fillRef idx="0">
              <a:schemeClr val="accent1"/>
            </a:fillRef>
            <a:effectRef idx="0">
              <a:schemeClr val="accent1"/>
            </a:effectRef>
            <a:fontRef idx="minor">
              <a:schemeClr val="tx1"/>
            </a:fontRef>
          </p:style>
        </p:cxnSp>
      </p:grpSp>
      <p:grpSp>
        <p:nvGrpSpPr>
          <p:cNvPr id="14" name="组合 13">
            <a:extLst>
              <a:ext uri="{FF2B5EF4-FFF2-40B4-BE49-F238E27FC236}">
                <a16:creationId xmlns:a16="http://schemas.microsoft.com/office/drawing/2014/main" id="{7F59FB45-35D9-45DE-8D00-F2AABCF61137}"/>
              </a:ext>
            </a:extLst>
          </p:cNvPr>
          <p:cNvGrpSpPr/>
          <p:nvPr/>
        </p:nvGrpSpPr>
        <p:grpSpPr>
          <a:xfrm>
            <a:off x="5471161" y="162806"/>
            <a:ext cx="6720840" cy="1462897"/>
            <a:chOff x="5471161" y="223766"/>
            <a:chExt cx="6720840" cy="1462897"/>
          </a:xfrm>
        </p:grpSpPr>
        <p:pic>
          <p:nvPicPr>
            <p:cNvPr id="10" name="图片 9">
              <a:extLst>
                <a:ext uri="{FF2B5EF4-FFF2-40B4-BE49-F238E27FC236}">
                  <a16:creationId xmlns:a16="http://schemas.microsoft.com/office/drawing/2014/main" id="{EE2DD886-1100-4654-AAAF-2615B0EE5795}"/>
                </a:ext>
              </a:extLst>
            </p:cNvPr>
            <p:cNvPicPr>
              <a:picLocks noChangeAspect="1"/>
            </p:cNvPicPr>
            <p:nvPr/>
          </p:nvPicPr>
          <p:blipFill rotWithShape="1">
            <a:blip r:embed="rId5"/>
            <a:srcRect r="24130"/>
            <a:stretch/>
          </p:blipFill>
          <p:spPr>
            <a:xfrm>
              <a:off x="5471161" y="597408"/>
              <a:ext cx="6720840" cy="1089255"/>
            </a:xfrm>
            <a:prstGeom prst="rect">
              <a:avLst/>
            </a:prstGeom>
          </p:spPr>
        </p:pic>
        <p:sp>
          <p:nvSpPr>
            <p:cNvPr id="11" name="椭圆 10">
              <a:extLst>
                <a:ext uri="{FF2B5EF4-FFF2-40B4-BE49-F238E27FC236}">
                  <a16:creationId xmlns:a16="http://schemas.microsoft.com/office/drawing/2014/main" id="{751222FE-94F2-4646-B618-3E7E363F9098}"/>
                </a:ext>
              </a:extLst>
            </p:cNvPr>
            <p:cNvSpPr/>
            <p:nvPr/>
          </p:nvSpPr>
          <p:spPr>
            <a:xfrm>
              <a:off x="9613392" y="554736"/>
              <a:ext cx="542544" cy="310896"/>
            </a:xfrm>
            <a:prstGeom prst="ellipse">
              <a:avLst/>
            </a:prstGeom>
            <a:noFill/>
            <a:ln w="25400">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 name="文本框 11">
              <a:extLst>
                <a:ext uri="{FF2B5EF4-FFF2-40B4-BE49-F238E27FC236}">
                  <a16:creationId xmlns:a16="http://schemas.microsoft.com/office/drawing/2014/main" id="{7FB900A4-9540-405E-A796-2A5FEF5AF754}"/>
                </a:ext>
              </a:extLst>
            </p:cNvPr>
            <p:cNvSpPr txBox="1"/>
            <p:nvPr/>
          </p:nvSpPr>
          <p:spPr>
            <a:xfrm>
              <a:off x="6096000" y="223766"/>
              <a:ext cx="3552576" cy="369332"/>
            </a:xfrm>
            <a:prstGeom prst="rect">
              <a:avLst/>
            </a:prstGeom>
            <a:noFill/>
          </p:spPr>
          <p:txBody>
            <a:bodyPr wrap="none" rtlCol="0">
              <a:spAutoFit/>
            </a:bodyPr>
            <a:lstStyle/>
            <a:p>
              <a:r>
                <a:rPr lang="zh-CN" altLang="en-US" dirty="0">
                  <a:latin typeface="思源黑体 CN Bold" panose="020B0800000000000000" pitchFamily="34" charset="-122"/>
                  <a:ea typeface="思源黑体 CN Bold" panose="020B0800000000000000" pitchFamily="34" charset="-122"/>
                </a:rPr>
                <a:t>第</a:t>
              </a:r>
              <a:r>
                <a:rPr lang="en-US" altLang="zh-CN" dirty="0">
                  <a:latin typeface="思源黑体 CN Bold" panose="020B0800000000000000" pitchFamily="34" charset="-122"/>
                  <a:ea typeface="思源黑体 CN Bold" panose="020B0800000000000000" pitchFamily="34" charset="-122"/>
                </a:rPr>
                <a:t>1</a:t>
              </a:r>
              <a:r>
                <a:rPr lang="zh-CN" altLang="en-US" dirty="0">
                  <a:latin typeface="思源黑体 CN Bold" panose="020B0800000000000000" pitchFamily="34" charset="-122"/>
                  <a:ea typeface="思源黑体 CN Bold" panose="020B0800000000000000" pitchFamily="34" charset="-122"/>
                </a:rPr>
                <a:t>步：点击顶部菜单栏</a:t>
              </a:r>
              <a:r>
                <a:rPr lang="en-US" altLang="zh-CN" dirty="0">
                  <a:solidFill>
                    <a:schemeClr val="accent6"/>
                  </a:solidFill>
                  <a:latin typeface="思源黑体 CN Bold" panose="020B0800000000000000" pitchFamily="34" charset="-122"/>
                  <a:ea typeface="思源黑体 CN Bold" panose="020B0800000000000000" pitchFamily="34" charset="-122"/>
                </a:rPr>
                <a:t>【</a:t>
              </a:r>
              <a:r>
                <a:rPr lang="zh-CN" altLang="en-US" dirty="0">
                  <a:solidFill>
                    <a:schemeClr val="accent6"/>
                  </a:solidFill>
                  <a:latin typeface="思源黑体 CN Bold" panose="020B0800000000000000" pitchFamily="34" charset="-122"/>
                  <a:ea typeface="思源黑体 CN Bold" panose="020B0800000000000000" pitchFamily="34" charset="-122"/>
                </a:rPr>
                <a:t>视图</a:t>
              </a:r>
              <a:r>
                <a:rPr lang="en-US" altLang="zh-CN" dirty="0">
                  <a:solidFill>
                    <a:schemeClr val="accent6"/>
                  </a:solidFill>
                  <a:latin typeface="思源黑体 CN Bold" panose="020B0800000000000000" pitchFamily="34" charset="-122"/>
                  <a:ea typeface="思源黑体 CN Bold" panose="020B0800000000000000" pitchFamily="34" charset="-122"/>
                </a:rPr>
                <a:t>】</a:t>
              </a:r>
              <a:endParaRPr lang="zh-CN" altLang="en-US" dirty="0">
                <a:solidFill>
                  <a:schemeClr val="accent6"/>
                </a:solidFill>
                <a:latin typeface="思源黑体 CN Bold" panose="020B0800000000000000" pitchFamily="34" charset="-122"/>
                <a:ea typeface="思源黑体 CN Bold" panose="020B0800000000000000" pitchFamily="34" charset="-122"/>
              </a:endParaRPr>
            </a:p>
          </p:txBody>
        </p:sp>
        <p:sp>
          <p:nvSpPr>
            <p:cNvPr id="13" name="箭头: 下 12">
              <a:extLst>
                <a:ext uri="{FF2B5EF4-FFF2-40B4-BE49-F238E27FC236}">
                  <a16:creationId xmlns:a16="http://schemas.microsoft.com/office/drawing/2014/main" id="{C0DA706B-7D5F-47FD-A952-A877060F1259}"/>
                </a:ext>
              </a:extLst>
            </p:cNvPr>
            <p:cNvSpPr/>
            <p:nvPr/>
          </p:nvSpPr>
          <p:spPr>
            <a:xfrm rot="13500000">
              <a:off x="9335368" y="812683"/>
              <a:ext cx="355813" cy="718340"/>
            </a:xfrm>
            <a:prstGeom prst="downArrow">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17" name="椭圆 16">
            <a:extLst>
              <a:ext uri="{FF2B5EF4-FFF2-40B4-BE49-F238E27FC236}">
                <a16:creationId xmlns:a16="http://schemas.microsoft.com/office/drawing/2014/main" id="{81E4EAD4-4B3A-4159-9BAE-7C67B33FDB91}"/>
              </a:ext>
            </a:extLst>
          </p:cNvPr>
          <p:cNvSpPr/>
          <p:nvPr/>
        </p:nvSpPr>
        <p:spPr>
          <a:xfrm>
            <a:off x="7449739" y="2509508"/>
            <a:ext cx="795690" cy="533412"/>
          </a:xfrm>
          <a:prstGeom prst="ellipse">
            <a:avLst/>
          </a:prstGeom>
          <a:noFill/>
          <a:ln w="25400">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8" name="文本框 17">
            <a:extLst>
              <a:ext uri="{FF2B5EF4-FFF2-40B4-BE49-F238E27FC236}">
                <a16:creationId xmlns:a16="http://schemas.microsoft.com/office/drawing/2014/main" id="{7890E005-922B-4C73-9676-DF05C8A0D26F}"/>
              </a:ext>
            </a:extLst>
          </p:cNvPr>
          <p:cNvSpPr txBox="1"/>
          <p:nvPr/>
        </p:nvSpPr>
        <p:spPr>
          <a:xfrm>
            <a:off x="6096000" y="1834023"/>
            <a:ext cx="3185487" cy="369332"/>
          </a:xfrm>
          <a:prstGeom prst="rect">
            <a:avLst/>
          </a:prstGeom>
          <a:noFill/>
        </p:spPr>
        <p:txBody>
          <a:bodyPr wrap="none" rtlCol="0">
            <a:spAutoFit/>
          </a:bodyPr>
          <a:lstStyle/>
          <a:p>
            <a:r>
              <a:rPr lang="zh-CN" altLang="en-US" dirty="0">
                <a:latin typeface="思源黑体 CN Bold" panose="020B0800000000000000" pitchFamily="34" charset="-122"/>
                <a:ea typeface="思源黑体 CN Bold" panose="020B0800000000000000" pitchFamily="34" charset="-122"/>
              </a:rPr>
              <a:t>第</a:t>
            </a:r>
            <a:r>
              <a:rPr lang="en-US" altLang="zh-CN" dirty="0">
                <a:latin typeface="思源黑体 CN Bold" panose="020B0800000000000000" pitchFamily="34" charset="-122"/>
                <a:ea typeface="思源黑体 CN Bold" panose="020B0800000000000000" pitchFamily="34" charset="-122"/>
              </a:rPr>
              <a:t>2</a:t>
            </a:r>
            <a:r>
              <a:rPr lang="zh-CN" altLang="en-US" dirty="0">
                <a:latin typeface="思源黑体 CN Bold" panose="020B0800000000000000" pitchFamily="34" charset="-122"/>
                <a:ea typeface="思源黑体 CN Bold" panose="020B0800000000000000" pitchFamily="34" charset="-122"/>
              </a:rPr>
              <a:t>步：点击</a:t>
            </a:r>
            <a:r>
              <a:rPr lang="en-US" altLang="zh-CN" dirty="0">
                <a:solidFill>
                  <a:schemeClr val="accent6"/>
                </a:solidFill>
                <a:latin typeface="思源黑体 CN Bold" panose="020B0800000000000000" pitchFamily="34" charset="-122"/>
                <a:ea typeface="思源黑体 CN Bold" panose="020B0800000000000000" pitchFamily="34" charset="-122"/>
              </a:rPr>
              <a:t>【</a:t>
            </a:r>
            <a:r>
              <a:rPr lang="zh-CN" altLang="en-US" dirty="0">
                <a:solidFill>
                  <a:schemeClr val="accent6"/>
                </a:solidFill>
                <a:latin typeface="思源黑体 CN Bold" panose="020B0800000000000000" pitchFamily="34" charset="-122"/>
                <a:ea typeface="思源黑体 CN Bold" panose="020B0800000000000000" pitchFamily="34" charset="-122"/>
              </a:rPr>
              <a:t>幻灯片母版</a:t>
            </a:r>
            <a:r>
              <a:rPr lang="en-US" altLang="zh-CN" dirty="0">
                <a:solidFill>
                  <a:schemeClr val="accent6"/>
                </a:solidFill>
                <a:latin typeface="思源黑体 CN Bold" panose="020B0800000000000000" pitchFamily="34" charset="-122"/>
                <a:ea typeface="思源黑体 CN Bold" panose="020B0800000000000000" pitchFamily="34" charset="-122"/>
              </a:rPr>
              <a:t>】</a:t>
            </a:r>
            <a:endParaRPr lang="zh-CN" altLang="en-US" dirty="0">
              <a:solidFill>
                <a:schemeClr val="accent6"/>
              </a:solidFill>
              <a:latin typeface="思源黑体 CN Bold" panose="020B0800000000000000" pitchFamily="34" charset="-122"/>
              <a:ea typeface="思源黑体 CN Bold" panose="020B0800000000000000" pitchFamily="34" charset="-122"/>
            </a:endParaRPr>
          </a:p>
        </p:txBody>
      </p:sp>
      <p:sp>
        <p:nvSpPr>
          <p:cNvPr id="19" name="箭头: 下 18">
            <a:extLst>
              <a:ext uri="{FF2B5EF4-FFF2-40B4-BE49-F238E27FC236}">
                <a16:creationId xmlns:a16="http://schemas.microsoft.com/office/drawing/2014/main" id="{0536FF3A-12A1-4005-BD70-20A5E34C50A5}"/>
              </a:ext>
            </a:extLst>
          </p:cNvPr>
          <p:cNvSpPr/>
          <p:nvPr/>
        </p:nvSpPr>
        <p:spPr>
          <a:xfrm rot="7200000">
            <a:off x="8239426" y="2850667"/>
            <a:ext cx="355813" cy="533727"/>
          </a:xfrm>
          <a:prstGeom prst="downArrow">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3" name="文本框 22">
            <a:extLst>
              <a:ext uri="{FF2B5EF4-FFF2-40B4-BE49-F238E27FC236}">
                <a16:creationId xmlns:a16="http://schemas.microsoft.com/office/drawing/2014/main" id="{2C585399-F1EC-4330-9F60-223CC99CC3F3}"/>
              </a:ext>
            </a:extLst>
          </p:cNvPr>
          <p:cNvSpPr txBox="1"/>
          <p:nvPr/>
        </p:nvSpPr>
        <p:spPr>
          <a:xfrm>
            <a:off x="6096000" y="3541994"/>
            <a:ext cx="4681666" cy="369332"/>
          </a:xfrm>
          <a:prstGeom prst="rect">
            <a:avLst/>
          </a:prstGeom>
          <a:noFill/>
        </p:spPr>
        <p:txBody>
          <a:bodyPr wrap="none" rtlCol="0">
            <a:spAutoFit/>
          </a:bodyPr>
          <a:lstStyle/>
          <a:p>
            <a:r>
              <a:rPr lang="zh-CN" altLang="en-US" dirty="0">
                <a:latin typeface="思源黑体 CN Bold" panose="020B0800000000000000" pitchFamily="34" charset="-122"/>
                <a:ea typeface="思源黑体 CN Bold" panose="020B0800000000000000" pitchFamily="34" charset="-122"/>
              </a:rPr>
              <a:t>第</a:t>
            </a:r>
            <a:r>
              <a:rPr lang="en-US" altLang="zh-CN" dirty="0">
                <a:latin typeface="思源黑体 CN Bold" panose="020B0800000000000000" pitchFamily="34" charset="-122"/>
                <a:ea typeface="思源黑体 CN Bold" panose="020B0800000000000000" pitchFamily="34" charset="-122"/>
              </a:rPr>
              <a:t>3</a:t>
            </a:r>
            <a:r>
              <a:rPr lang="zh-CN" altLang="en-US" dirty="0">
                <a:latin typeface="思源黑体 CN Bold" panose="020B0800000000000000" pitchFamily="34" charset="-122"/>
                <a:ea typeface="思源黑体 CN Bold" panose="020B0800000000000000" pitchFamily="34" charset="-122"/>
              </a:rPr>
              <a:t>步：选择要改的页面</a:t>
            </a:r>
            <a:r>
              <a:rPr lang="en-US" altLang="zh-CN" dirty="0">
                <a:solidFill>
                  <a:schemeClr val="accent6"/>
                </a:solidFill>
                <a:latin typeface="思源黑体 CN Bold" panose="020B0800000000000000" pitchFamily="34" charset="-122"/>
                <a:ea typeface="思源黑体 CN Bold" panose="020B0800000000000000" pitchFamily="34" charset="-122"/>
              </a:rPr>
              <a:t>【</a:t>
            </a:r>
            <a:r>
              <a:rPr lang="zh-CN" altLang="en-US" dirty="0">
                <a:solidFill>
                  <a:schemeClr val="accent6"/>
                </a:solidFill>
                <a:latin typeface="思源黑体 CN Bold" panose="020B0800000000000000" pitchFamily="34" charset="-122"/>
                <a:ea typeface="思源黑体 CN Bold" panose="020B0800000000000000" pitchFamily="34" charset="-122"/>
              </a:rPr>
              <a:t>替换</a:t>
            </a:r>
            <a:r>
              <a:rPr lang="en-US" altLang="zh-CN" dirty="0">
                <a:solidFill>
                  <a:schemeClr val="accent6"/>
                </a:solidFill>
                <a:latin typeface="思源黑体 CN Bold" panose="020B0800000000000000" pitchFamily="34" charset="-122"/>
                <a:ea typeface="思源黑体 CN Bold" panose="020B0800000000000000" pitchFamily="34" charset="-122"/>
              </a:rPr>
              <a:t>LOGO</a:t>
            </a:r>
            <a:r>
              <a:rPr lang="zh-CN" altLang="en-US" dirty="0">
                <a:solidFill>
                  <a:schemeClr val="accent6"/>
                </a:solidFill>
                <a:latin typeface="思源黑体 CN Bold" panose="020B0800000000000000" pitchFamily="34" charset="-122"/>
                <a:ea typeface="思源黑体 CN Bold" panose="020B0800000000000000" pitchFamily="34" charset="-122"/>
              </a:rPr>
              <a:t>即可</a:t>
            </a:r>
            <a:r>
              <a:rPr lang="en-US" altLang="zh-CN" dirty="0">
                <a:solidFill>
                  <a:schemeClr val="accent6"/>
                </a:solidFill>
                <a:latin typeface="思源黑体 CN Bold" panose="020B0800000000000000" pitchFamily="34" charset="-122"/>
                <a:ea typeface="思源黑体 CN Bold" panose="020B0800000000000000" pitchFamily="34" charset="-122"/>
              </a:rPr>
              <a:t>】</a:t>
            </a:r>
            <a:endParaRPr lang="zh-CN" altLang="en-US" dirty="0">
              <a:solidFill>
                <a:schemeClr val="accent6"/>
              </a:solidFill>
              <a:latin typeface="思源黑体 CN Bold" panose="020B0800000000000000" pitchFamily="34" charset="-122"/>
              <a:ea typeface="思源黑体 CN Bold" panose="020B0800000000000000" pitchFamily="34" charset="-122"/>
            </a:endParaRPr>
          </a:p>
        </p:txBody>
      </p:sp>
      <p:sp>
        <p:nvSpPr>
          <p:cNvPr id="24" name="箭头: 下 23">
            <a:extLst>
              <a:ext uri="{FF2B5EF4-FFF2-40B4-BE49-F238E27FC236}">
                <a16:creationId xmlns:a16="http://schemas.microsoft.com/office/drawing/2014/main" id="{86B4ECF2-2F44-47D8-A916-40E7999BBFAB}"/>
              </a:ext>
            </a:extLst>
          </p:cNvPr>
          <p:cNvSpPr/>
          <p:nvPr/>
        </p:nvSpPr>
        <p:spPr>
          <a:xfrm rot="15300000">
            <a:off x="10850546" y="4010528"/>
            <a:ext cx="355813" cy="533727"/>
          </a:xfrm>
          <a:prstGeom prst="downArrow">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2" name="椭圆 21">
            <a:extLst>
              <a:ext uri="{FF2B5EF4-FFF2-40B4-BE49-F238E27FC236}">
                <a16:creationId xmlns:a16="http://schemas.microsoft.com/office/drawing/2014/main" id="{3F0234BF-D1EF-4FF2-BE3D-80C8AAFF149F}"/>
              </a:ext>
            </a:extLst>
          </p:cNvPr>
          <p:cNvSpPr/>
          <p:nvPr/>
        </p:nvSpPr>
        <p:spPr>
          <a:xfrm>
            <a:off x="5461264" y="3967006"/>
            <a:ext cx="1259577" cy="919954"/>
          </a:xfrm>
          <a:prstGeom prst="ellipse">
            <a:avLst/>
          </a:prstGeom>
          <a:noFill/>
          <a:ln w="25400">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9" name="文本框 28">
            <a:extLst>
              <a:ext uri="{FF2B5EF4-FFF2-40B4-BE49-F238E27FC236}">
                <a16:creationId xmlns:a16="http://schemas.microsoft.com/office/drawing/2014/main" id="{777186A0-168B-4E37-A643-48F9536A8854}"/>
              </a:ext>
            </a:extLst>
          </p:cNvPr>
          <p:cNvSpPr txBox="1"/>
          <p:nvPr/>
        </p:nvSpPr>
        <p:spPr>
          <a:xfrm>
            <a:off x="6096000" y="5371282"/>
            <a:ext cx="3783408" cy="369332"/>
          </a:xfrm>
          <a:prstGeom prst="rect">
            <a:avLst/>
          </a:prstGeom>
          <a:noFill/>
        </p:spPr>
        <p:txBody>
          <a:bodyPr wrap="none" rtlCol="0">
            <a:spAutoFit/>
          </a:bodyPr>
          <a:lstStyle/>
          <a:p>
            <a:r>
              <a:rPr lang="zh-CN" altLang="en-US" dirty="0">
                <a:latin typeface="思源黑体 CN Bold" panose="020B0800000000000000" pitchFamily="34" charset="-122"/>
                <a:ea typeface="思源黑体 CN Bold" panose="020B0800000000000000" pitchFamily="34" charset="-122"/>
              </a:rPr>
              <a:t>第</a:t>
            </a:r>
            <a:r>
              <a:rPr lang="en-US" altLang="zh-CN" dirty="0">
                <a:latin typeface="思源黑体 CN Bold" panose="020B0800000000000000" pitchFamily="34" charset="-122"/>
                <a:ea typeface="思源黑体 CN Bold" panose="020B0800000000000000" pitchFamily="34" charset="-122"/>
              </a:rPr>
              <a:t>4</a:t>
            </a:r>
            <a:r>
              <a:rPr lang="zh-CN" altLang="en-US" dirty="0">
                <a:latin typeface="思源黑体 CN Bold" panose="020B0800000000000000" pitchFamily="34" charset="-122"/>
                <a:ea typeface="思源黑体 CN Bold" panose="020B0800000000000000" pitchFamily="34" charset="-122"/>
              </a:rPr>
              <a:t>步：关闭</a:t>
            </a:r>
            <a:r>
              <a:rPr lang="en-US" altLang="zh-CN" dirty="0">
                <a:solidFill>
                  <a:schemeClr val="accent6"/>
                </a:solidFill>
                <a:latin typeface="思源黑体 CN Bold" panose="020B0800000000000000" pitchFamily="34" charset="-122"/>
                <a:ea typeface="思源黑体 CN Bold" panose="020B0800000000000000" pitchFamily="34" charset="-122"/>
              </a:rPr>
              <a:t>【</a:t>
            </a:r>
            <a:r>
              <a:rPr lang="zh-CN" altLang="en-US" dirty="0">
                <a:solidFill>
                  <a:schemeClr val="accent6"/>
                </a:solidFill>
                <a:latin typeface="思源黑体 CN Bold" panose="020B0800000000000000" pitchFamily="34" charset="-122"/>
                <a:ea typeface="思源黑体 CN Bold" panose="020B0800000000000000" pitchFamily="34" charset="-122"/>
              </a:rPr>
              <a:t>母版视图</a:t>
            </a:r>
            <a:r>
              <a:rPr lang="en-US" altLang="zh-CN" dirty="0">
                <a:solidFill>
                  <a:schemeClr val="accent6"/>
                </a:solidFill>
                <a:latin typeface="思源黑体 CN Bold" panose="020B0800000000000000" pitchFamily="34" charset="-122"/>
                <a:ea typeface="思源黑体 CN Bold" panose="020B0800000000000000" pitchFamily="34" charset="-122"/>
              </a:rPr>
              <a:t>】</a:t>
            </a:r>
            <a:r>
              <a:rPr lang="zh-CN" altLang="en-US" dirty="0">
                <a:latin typeface="思源黑体 CN Bold" panose="020B0800000000000000" pitchFamily="34" charset="-122"/>
                <a:ea typeface="思源黑体 CN Bold" panose="020B0800000000000000" pitchFamily="34" charset="-122"/>
              </a:rPr>
              <a:t>就完成了</a:t>
            </a:r>
            <a:endParaRPr lang="zh-CN" altLang="en-US" dirty="0">
              <a:solidFill>
                <a:schemeClr val="accent6"/>
              </a:solidFill>
              <a:latin typeface="思源黑体 CN Bold" panose="020B0800000000000000" pitchFamily="34" charset="-122"/>
              <a:ea typeface="思源黑体 CN Bold" panose="020B0800000000000000" pitchFamily="34" charset="-122"/>
            </a:endParaRPr>
          </a:p>
        </p:txBody>
      </p:sp>
      <p:sp>
        <p:nvSpPr>
          <p:cNvPr id="30" name="箭头: 下 29">
            <a:extLst>
              <a:ext uri="{FF2B5EF4-FFF2-40B4-BE49-F238E27FC236}">
                <a16:creationId xmlns:a16="http://schemas.microsoft.com/office/drawing/2014/main" id="{886FD850-30D9-4B6D-BF5D-D999E0ACB1B5}"/>
              </a:ext>
            </a:extLst>
          </p:cNvPr>
          <p:cNvSpPr/>
          <p:nvPr/>
        </p:nvSpPr>
        <p:spPr>
          <a:xfrm rot="15300000">
            <a:off x="10112045" y="6162302"/>
            <a:ext cx="355813" cy="533727"/>
          </a:xfrm>
          <a:prstGeom prst="downArrow">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1" name="椭圆 30">
            <a:extLst>
              <a:ext uri="{FF2B5EF4-FFF2-40B4-BE49-F238E27FC236}">
                <a16:creationId xmlns:a16="http://schemas.microsoft.com/office/drawing/2014/main" id="{FBD1C044-B897-4227-A53E-235B4F53CEA0}"/>
              </a:ext>
            </a:extLst>
          </p:cNvPr>
          <p:cNvSpPr/>
          <p:nvPr/>
        </p:nvSpPr>
        <p:spPr>
          <a:xfrm>
            <a:off x="10593767" y="6000332"/>
            <a:ext cx="607633" cy="857667"/>
          </a:xfrm>
          <a:prstGeom prst="ellipse">
            <a:avLst/>
          </a:prstGeom>
          <a:noFill/>
          <a:ln w="25400">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20734063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1" name="图片 30">
            <a:extLst>
              <a:ext uri="{FF2B5EF4-FFF2-40B4-BE49-F238E27FC236}">
                <a16:creationId xmlns:a16="http://schemas.microsoft.com/office/drawing/2014/main" id="{3C88904C-C00E-42A9-89E9-D456C2A73F4D}"/>
              </a:ext>
            </a:extLst>
          </p:cNvPr>
          <p:cNvPicPr>
            <a:picLocks noChangeAspect="1"/>
          </p:cNvPicPr>
          <p:nvPr/>
        </p:nvPicPr>
        <p:blipFill>
          <a:blip r:embed="rId2"/>
          <a:stretch>
            <a:fillRect/>
          </a:stretch>
        </p:blipFill>
        <p:spPr>
          <a:xfrm>
            <a:off x="6623600" y="3605042"/>
            <a:ext cx="2349283" cy="2992608"/>
          </a:xfrm>
          <a:prstGeom prst="rect">
            <a:avLst/>
          </a:prstGeom>
        </p:spPr>
      </p:pic>
      <p:sp>
        <p:nvSpPr>
          <p:cNvPr id="2" name="矩形 1">
            <a:extLst>
              <a:ext uri="{FF2B5EF4-FFF2-40B4-BE49-F238E27FC236}">
                <a16:creationId xmlns:a16="http://schemas.microsoft.com/office/drawing/2014/main" id="{BF271917-777A-4810-8014-A5B122EA8CC8}"/>
              </a:ext>
            </a:extLst>
          </p:cNvPr>
          <p:cNvSpPr/>
          <p:nvPr/>
        </p:nvSpPr>
        <p:spPr>
          <a:xfrm>
            <a:off x="0" y="0"/>
            <a:ext cx="4460240" cy="2515309"/>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3" name="组合 2">
            <a:extLst>
              <a:ext uri="{FF2B5EF4-FFF2-40B4-BE49-F238E27FC236}">
                <a16:creationId xmlns:a16="http://schemas.microsoft.com/office/drawing/2014/main" id="{CFF93C53-EC60-413E-AA77-7239C7F4E0A2}"/>
              </a:ext>
            </a:extLst>
          </p:cNvPr>
          <p:cNvGrpSpPr/>
          <p:nvPr/>
        </p:nvGrpSpPr>
        <p:grpSpPr>
          <a:xfrm>
            <a:off x="387950" y="212710"/>
            <a:ext cx="3808130" cy="2044441"/>
            <a:chOff x="263525" y="2215557"/>
            <a:chExt cx="3808130" cy="2044441"/>
          </a:xfrm>
        </p:grpSpPr>
        <p:sp>
          <p:nvSpPr>
            <p:cNvPr id="4" name="文本框 3">
              <a:extLst>
                <a:ext uri="{FF2B5EF4-FFF2-40B4-BE49-F238E27FC236}">
                  <a16:creationId xmlns:a16="http://schemas.microsoft.com/office/drawing/2014/main" id="{C5C04F61-78CB-4E48-85EA-BA914BA7D45B}"/>
                </a:ext>
              </a:extLst>
            </p:cNvPr>
            <p:cNvSpPr txBox="1"/>
            <p:nvPr/>
          </p:nvSpPr>
          <p:spPr>
            <a:xfrm>
              <a:off x="263525" y="2215557"/>
              <a:ext cx="3340851" cy="1323439"/>
            </a:xfrm>
            <a:prstGeom prst="rect">
              <a:avLst/>
            </a:prstGeom>
            <a:noFill/>
          </p:spPr>
          <p:txBody>
            <a:bodyPr wrap="square" rtlCol="0">
              <a:spAutoFit/>
            </a:bodyPr>
            <a:lstStyle/>
            <a:p>
              <a:r>
                <a:rPr lang="zh-CN" altLang="en-US" sz="4000" dirty="0">
                  <a:solidFill>
                    <a:schemeClr val="bg1"/>
                  </a:solidFill>
                  <a:latin typeface="思源黑体 CN Bold" panose="020B0800000000000000" pitchFamily="34" charset="-122"/>
                  <a:ea typeface="思源黑体 CN Bold" panose="020B0800000000000000" pitchFamily="34" charset="-122"/>
                </a:rPr>
                <a:t>如何把</a:t>
              </a:r>
              <a:r>
                <a:rPr lang="en-US" altLang="zh-CN" sz="4000" dirty="0">
                  <a:solidFill>
                    <a:schemeClr val="bg1"/>
                  </a:solidFill>
                  <a:latin typeface="思源黑体 CN Bold" panose="020B0800000000000000" pitchFamily="34" charset="-122"/>
                  <a:ea typeface="思源黑体 CN Bold" panose="020B0800000000000000" pitchFamily="34" charset="-122"/>
                </a:rPr>
                <a:t>LOGO</a:t>
              </a:r>
              <a:r>
                <a:rPr lang="zh-CN" altLang="en-US" sz="4000" dirty="0">
                  <a:solidFill>
                    <a:schemeClr val="bg1"/>
                  </a:solidFill>
                  <a:latin typeface="思源黑体 CN Bold" panose="020B0800000000000000" pitchFamily="34" charset="-122"/>
                  <a:ea typeface="思源黑体 CN Bold" panose="020B0800000000000000" pitchFamily="34" charset="-122"/>
                </a:rPr>
                <a:t>改成白色</a:t>
              </a:r>
            </a:p>
          </p:txBody>
        </p:sp>
        <p:sp>
          <p:nvSpPr>
            <p:cNvPr id="5" name="文本框 4">
              <a:extLst>
                <a:ext uri="{FF2B5EF4-FFF2-40B4-BE49-F238E27FC236}">
                  <a16:creationId xmlns:a16="http://schemas.microsoft.com/office/drawing/2014/main" id="{237B648D-3E26-426F-B3A4-83D308FF8A09}"/>
                </a:ext>
              </a:extLst>
            </p:cNvPr>
            <p:cNvSpPr txBox="1"/>
            <p:nvPr/>
          </p:nvSpPr>
          <p:spPr>
            <a:xfrm>
              <a:off x="263525" y="3552112"/>
              <a:ext cx="3262432" cy="707886"/>
            </a:xfrm>
            <a:prstGeom prst="rect">
              <a:avLst/>
            </a:prstGeom>
            <a:noFill/>
          </p:spPr>
          <p:txBody>
            <a:bodyPr wrap="none" rtlCol="0">
              <a:spAutoFit/>
            </a:bodyPr>
            <a:lstStyle/>
            <a:p>
              <a:r>
                <a:rPr lang="zh-CN" altLang="en-US" sz="4000" dirty="0">
                  <a:solidFill>
                    <a:schemeClr val="bg1"/>
                  </a:solidFill>
                  <a:latin typeface="思源黑体 CN Bold" panose="020B0800000000000000" pitchFamily="34" charset="-122"/>
                  <a:ea typeface="思源黑体 CN Bold" panose="020B0800000000000000" pitchFamily="34" charset="-122"/>
                </a:rPr>
                <a:t>详细操作说明</a:t>
              </a:r>
            </a:p>
          </p:txBody>
        </p:sp>
        <p:cxnSp>
          <p:nvCxnSpPr>
            <p:cNvPr id="6" name="直接箭头连接符 5">
              <a:extLst>
                <a:ext uri="{FF2B5EF4-FFF2-40B4-BE49-F238E27FC236}">
                  <a16:creationId xmlns:a16="http://schemas.microsoft.com/office/drawing/2014/main" id="{74BD52FD-3B37-4981-84F1-3776BF8F770F}"/>
                </a:ext>
              </a:extLst>
            </p:cNvPr>
            <p:cNvCxnSpPr>
              <a:cxnSpLocks/>
            </p:cNvCxnSpPr>
            <p:nvPr/>
          </p:nvCxnSpPr>
          <p:spPr>
            <a:xfrm>
              <a:off x="3604376" y="3906055"/>
              <a:ext cx="467279" cy="0"/>
            </a:xfrm>
            <a:prstGeom prst="straightConnector1">
              <a:avLst/>
            </a:prstGeom>
            <a:ln w="22225">
              <a:solidFill>
                <a:schemeClr val="bg1"/>
              </a:solidFill>
              <a:tailEnd type="triangle"/>
            </a:ln>
          </p:spPr>
          <p:style>
            <a:lnRef idx="1">
              <a:schemeClr val="accent1"/>
            </a:lnRef>
            <a:fillRef idx="0">
              <a:schemeClr val="accent1"/>
            </a:fillRef>
            <a:effectRef idx="0">
              <a:schemeClr val="accent1"/>
            </a:effectRef>
            <a:fontRef idx="minor">
              <a:schemeClr val="tx1"/>
            </a:fontRef>
          </p:style>
        </p:cxnSp>
      </p:grpSp>
      <p:pic>
        <p:nvPicPr>
          <p:cNvPr id="8" name="图片 7">
            <a:extLst>
              <a:ext uri="{FF2B5EF4-FFF2-40B4-BE49-F238E27FC236}">
                <a16:creationId xmlns:a16="http://schemas.microsoft.com/office/drawing/2014/main" id="{30C8AD67-E783-4B22-8CC4-BDD92294A3F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848190" y="368484"/>
            <a:ext cx="1702850" cy="1702850"/>
          </a:xfrm>
          <a:prstGeom prst="rect">
            <a:avLst/>
          </a:prstGeom>
        </p:spPr>
      </p:pic>
      <p:sp>
        <p:nvSpPr>
          <p:cNvPr id="9" name="箭头: 下 8">
            <a:extLst>
              <a:ext uri="{FF2B5EF4-FFF2-40B4-BE49-F238E27FC236}">
                <a16:creationId xmlns:a16="http://schemas.microsoft.com/office/drawing/2014/main" id="{4EA81DE8-2A6E-43CC-96D2-D2973FDBE280}"/>
              </a:ext>
            </a:extLst>
          </p:cNvPr>
          <p:cNvSpPr/>
          <p:nvPr/>
        </p:nvSpPr>
        <p:spPr>
          <a:xfrm rot="16200000">
            <a:off x="6852668" y="953047"/>
            <a:ext cx="355813" cy="533727"/>
          </a:xfrm>
          <a:prstGeom prst="downArrow">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矩形 9">
            <a:extLst>
              <a:ext uri="{FF2B5EF4-FFF2-40B4-BE49-F238E27FC236}">
                <a16:creationId xmlns:a16="http://schemas.microsoft.com/office/drawing/2014/main" id="{28A31B92-97E9-4CBF-87D7-43E1FE329C51}"/>
              </a:ext>
            </a:extLst>
          </p:cNvPr>
          <p:cNvSpPr/>
          <p:nvPr/>
        </p:nvSpPr>
        <p:spPr>
          <a:xfrm>
            <a:off x="7529050" y="91334"/>
            <a:ext cx="2692400" cy="2257151"/>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11" name="图片 10">
            <a:extLst>
              <a:ext uri="{FF2B5EF4-FFF2-40B4-BE49-F238E27FC236}">
                <a16:creationId xmlns:a16="http://schemas.microsoft.com/office/drawing/2014/main" id="{5D38C759-A30E-4F29-8262-45CE04A3241A}"/>
              </a:ext>
            </a:extLst>
          </p:cNvPr>
          <p:cNvPicPr>
            <a:picLocks noChangeAspect="1"/>
          </p:cNvPicPr>
          <p:nvPr/>
        </p:nvPicPr>
        <p:blipFill>
          <a:blip r:embed="rId4">
            <a:extLst>
              <a:ext uri="{BEBA8EAE-BF5A-486C-A8C5-ECC9F3942E4B}">
                <a14:imgProps xmlns:a14="http://schemas.microsoft.com/office/drawing/2010/main">
                  <a14:imgLayer r:embed="rId5">
                    <a14:imgEffect>
                      <a14:brightnessContrast bright="100000"/>
                    </a14:imgEffect>
                  </a14:imgLayer>
                </a14:imgProps>
              </a:ext>
              <a:ext uri="{28A0092B-C50C-407E-A947-70E740481C1C}">
                <a14:useLocalDpi xmlns:a14="http://schemas.microsoft.com/office/drawing/2010/main" val="0"/>
              </a:ext>
            </a:extLst>
          </a:blip>
          <a:stretch>
            <a:fillRect/>
          </a:stretch>
        </p:blipFill>
        <p:spPr>
          <a:xfrm>
            <a:off x="8023825" y="368484"/>
            <a:ext cx="1702850" cy="1702850"/>
          </a:xfrm>
          <a:prstGeom prst="rect">
            <a:avLst/>
          </a:prstGeom>
        </p:spPr>
      </p:pic>
      <p:pic>
        <p:nvPicPr>
          <p:cNvPr id="14" name="图片 13">
            <a:extLst>
              <a:ext uri="{FF2B5EF4-FFF2-40B4-BE49-F238E27FC236}">
                <a16:creationId xmlns:a16="http://schemas.microsoft.com/office/drawing/2014/main" id="{45953AD6-3398-4C21-B58F-B3E874D28D2C}"/>
              </a:ext>
            </a:extLst>
          </p:cNvPr>
          <p:cNvPicPr>
            <a:picLocks noChangeAspect="1"/>
          </p:cNvPicPr>
          <p:nvPr/>
        </p:nvPicPr>
        <p:blipFill rotWithShape="1">
          <a:blip r:embed="rId6">
            <a:extLst>
              <a:ext uri="{28A0092B-C50C-407E-A947-70E740481C1C}">
                <a14:useLocalDpi xmlns:a14="http://schemas.microsoft.com/office/drawing/2010/main" val="0"/>
              </a:ext>
            </a:extLst>
          </a:blip>
          <a:srcRect t="29833"/>
          <a:stretch/>
        </p:blipFill>
        <p:spPr>
          <a:xfrm>
            <a:off x="263525" y="3314355"/>
            <a:ext cx="2632075" cy="3283295"/>
          </a:xfrm>
          <a:prstGeom prst="rect">
            <a:avLst/>
          </a:prstGeom>
        </p:spPr>
      </p:pic>
      <p:sp>
        <p:nvSpPr>
          <p:cNvPr id="18" name="椭圆 17">
            <a:extLst>
              <a:ext uri="{FF2B5EF4-FFF2-40B4-BE49-F238E27FC236}">
                <a16:creationId xmlns:a16="http://schemas.microsoft.com/office/drawing/2014/main" id="{B47ABB9A-3FDC-4FDD-9C67-A6CBA84FB97C}"/>
              </a:ext>
            </a:extLst>
          </p:cNvPr>
          <p:cNvSpPr/>
          <p:nvPr/>
        </p:nvSpPr>
        <p:spPr>
          <a:xfrm>
            <a:off x="1252332" y="5964730"/>
            <a:ext cx="1241862" cy="205740"/>
          </a:xfrm>
          <a:prstGeom prst="ellipse">
            <a:avLst/>
          </a:prstGeom>
          <a:noFill/>
          <a:ln w="25400">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9" name="箭头: 下 18">
            <a:extLst>
              <a:ext uri="{FF2B5EF4-FFF2-40B4-BE49-F238E27FC236}">
                <a16:creationId xmlns:a16="http://schemas.microsoft.com/office/drawing/2014/main" id="{C3D842F9-C4B3-42E9-B5D7-0A46CEE6320C}"/>
              </a:ext>
            </a:extLst>
          </p:cNvPr>
          <p:cNvSpPr/>
          <p:nvPr/>
        </p:nvSpPr>
        <p:spPr>
          <a:xfrm rot="18900000">
            <a:off x="901149" y="5510423"/>
            <a:ext cx="355813" cy="533727"/>
          </a:xfrm>
          <a:prstGeom prst="downArrow">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0" name="文本框 19">
            <a:extLst>
              <a:ext uri="{FF2B5EF4-FFF2-40B4-BE49-F238E27FC236}">
                <a16:creationId xmlns:a16="http://schemas.microsoft.com/office/drawing/2014/main" id="{B78DB020-0FCE-4B73-A243-E208FC88EB49}"/>
              </a:ext>
            </a:extLst>
          </p:cNvPr>
          <p:cNvSpPr txBox="1"/>
          <p:nvPr/>
        </p:nvSpPr>
        <p:spPr>
          <a:xfrm>
            <a:off x="179705" y="2757579"/>
            <a:ext cx="3773725" cy="369332"/>
          </a:xfrm>
          <a:prstGeom prst="rect">
            <a:avLst/>
          </a:prstGeom>
          <a:noFill/>
        </p:spPr>
        <p:txBody>
          <a:bodyPr wrap="none" rtlCol="0">
            <a:spAutoFit/>
          </a:bodyPr>
          <a:lstStyle/>
          <a:p>
            <a:r>
              <a:rPr lang="zh-CN" altLang="en-US" dirty="0">
                <a:latin typeface="思源黑体 CN Bold" panose="020B0800000000000000" pitchFamily="34" charset="-122"/>
                <a:ea typeface="思源黑体 CN Bold" panose="020B0800000000000000" pitchFamily="34" charset="-122"/>
              </a:rPr>
              <a:t>第</a:t>
            </a:r>
            <a:r>
              <a:rPr lang="en-US" altLang="zh-CN" dirty="0">
                <a:latin typeface="思源黑体 CN Bold" panose="020B0800000000000000" pitchFamily="34" charset="-122"/>
                <a:ea typeface="思源黑体 CN Bold" panose="020B0800000000000000" pitchFamily="34" charset="-122"/>
              </a:rPr>
              <a:t>1</a:t>
            </a:r>
            <a:r>
              <a:rPr lang="zh-CN" altLang="en-US" dirty="0">
                <a:latin typeface="思源黑体 CN Bold" panose="020B0800000000000000" pitchFamily="34" charset="-122"/>
                <a:ea typeface="思源黑体 CN Bold" panose="020B0800000000000000" pitchFamily="34" charset="-122"/>
              </a:rPr>
              <a:t>步：右键点击</a:t>
            </a:r>
            <a:r>
              <a:rPr lang="en-US" altLang="zh-CN" dirty="0">
                <a:solidFill>
                  <a:schemeClr val="accent6"/>
                </a:solidFill>
                <a:latin typeface="思源黑体 CN Bold" panose="020B0800000000000000" pitchFamily="34" charset="-122"/>
                <a:ea typeface="思源黑体 CN Bold" panose="020B0800000000000000" pitchFamily="34" charset="-122"/>
              </a:rPr>
              <a:t>【</a:t>
            </a:r>
            <a:r>
              <a:rPr lang="zh-CN" altLang="en-US" dirty="0">
                <a:solidFill>
                  <a:schemeClr val="accent6"/>
                </a:solidFill>
                <a:latin typeface="思源黑体 CN Bold" panose="020B0800000000000000" pitchFamily="34" charset="-122"/>
                <a:ea typeface="思源黑体 CN Bold" panose="020B0800000000000000" pitchFamily="34" charset="-122"/>
              </a:rPr>
              <a:t>设计图片格式</a:t>
            </a:r>
            <a:r>
              <a:rPr lang="en-US" altLang="zh-CN" dirty="0">
                <a:solidFill>
                  <a:schemeClr val="accent6"/>
                </a:solidFill>
                <a:latin typeface="思源黑体 CN Bold" panose="020B0800000000000000" pitchFamily="34" charset="-122"/>
                <a:ea typeface="思源黑体 CN Bold" panose="020B0800000000000000" pitchFamily="34" charset="-122"/>
              </a:rPr>
              <a:t>】</a:t>
            </a:r>
            <a:endParaRPr lang="zh-CN" altLang="en-US" dirty="0">
              <a:solidFill>
                <a:schemeClr val="accent6"/>
              </a:solidFill>
              <a:latin typeface="思源黑体 CN Bold" panose="020B0800000000000000" pitchFamily="34" charset="-122"/>
              <a:ea typeface="思源黑体 CN Bold" panose="020B0800000000000000" pitchFamily="34" charset="-122"/>
            </a:endParaRPr>
          </a:p>
        </p:txBody>
      </p:sp>
      <p:pic>
        <p:nvPicPr>
          <p:cNvPr id="23" name="图片 22">
            <a:extLst>
              <a:ext uri="{FF2B5EF4-FFF2-40B4-BE49-F238E27FC236}">
                <a16:creationId xmlns:a16="http://schemas.microsoft.com/office/drawing/2014/main" id="{EB73657F-D47B-4747-92A0-0F34DBAC8821}"/>
              </a:ext>
            </a:extLst>
          </p:cNvPr>
          <p:cNvPicPr>
            <a:picLocks noChangeAspect="1"/>
          </p:cNvPicPr>
          <p:nvPr/>
        </p:nvPicPr>
        <p:blipFill>
          <a:blip r:embed="rId7"/>
          <a:stretch>
            <a:fillRect/>
          </a:stretch>
        </p:blipFill>
        <p:spPr>
          <a:xfrm>
            <a:off x="3728801" y="3605042"/>
            <a:ext cx="1970959" cy="2992608"/>
          </a:xfrm>
          <a:prstGeom prst="rect">
            <a:avLst/>
          </a:prstGeom>
        </p:spPr>
      </p:pic>
      <p:sp>
        <p:nvSpPr>
          <p:cNvPr id="24" name="文本框 23">
            <a:extLst>
              <a:ext uri="{FF2B5EF4-FFF2-40B4-BE49-F238E27FC236}">
                <a16:creationId xmlns:a16="http://schemas.microsoft.com/office/drawing/2014/main" id="{C70FB2CF-BBB6-45DD-9F44-FC2E600AFB95}"/>
              </a:ext>
            </a:extLst>
          </p:cNvPr>
          <p:cNvSpPr txBox="1"/>
          <p:nvPr/>
        </p:nvSpPr>
        <p:spPr>
          <a:xfrm>
            <a:off x="3642762" y="3162218"/>
            <a:ext cx="2398413" cy="369332"/>
          </a:xfrm>
          <a:prstGeom prst="rect">
            <a:avLst/>
          </a:prstGeom>
          <a:noFill/>
        </p:spPr>
        <p:txBody>
          <a:bodyPr wrap="none" rtlCol="0">
            <a:spAutoFit/>
          </a:bodyPr>
          <a:lstStyle/>
          <a:p>
            <a:r>
              <a:rPr lang="zh-CN" altLang="en-US" dirty="0">
                <a:latin typeface="思源黑体 CN Bold" panose="020B0800000000000000" pitchFamily="34" charset="-122"/>
                <a:ea typeface="思源黑体 CN Bold" panose="020B0800000000000000" pitchFamily="34" charset="-122"/>
              </a:rPr>
              <a:t>第</a:t>
            </a:r>
            <a:r>
              <a:rPr lang="en-US" altLang="zh-CN" dirty="0">
                <a:latin typeface="思源黑体 CN Bold" panose="020B0800000000000000" pitchFamily="34" charset="-122"/>
                <a:ea typeface="思源黑体 CN Bold" panose="020B0800000000000000" pitchFamily="34" charset="-122"/>
              </a:rPr>
              <a:t>2</a:t>
            </a:r>
            <a:r>
              <a:rPr lang="zh-CN" altLang="en-US" dirty="0">
                <a:latin typeface="思源黑体 CN Bold" panose="020B0800000000000000" pitchFamily="34" charset="-122"/>
                <a:ea typeface="思源黑体 CN Bold" panose="020B0800000000000000" pitchFamily="34" charset="-122"/>
              </a:rPr>
              <a:t>步：点击</a:t>
            </a:r>
            <a:r>
              <a:rPr lang="en-US" altLang="zh-CN" dirty="0">
                <a:solidFill>
                  <a:schemeClr val="accent6"/>
                </a:solidFill>
                <a:latin typeface="思源黑体 CN Bold" panose="020B0800000000000000" pitchFamily="34" charset="-122"/>
                <a:ea typeface="思源黑体 CN Bold" panose="020B0800000000000000" pitchFamily="34" charset="-122"/>
              </a:rPr>
              <a:t>【</a:t>
            </a:r>
            <a:r>
              <a:rPr lang="zh-CN" altLang="en-US" dirty="0">
                <a:solidFill>
                  <a:schemeClr val="accent6"/>
                </a:solidFill>
                <a:latin typeface="思源黑体 CN Bold" panose="020B0800000000000000" pitchFamily="34" charset="-122"/>
                <a:ea typeface="思源黑体 CN Bold" panose="020B0800000000000000" pitchFamily="34" charset="-122"/>
              </a:rPr>
              <a:t>图片</a:t>
            </a:r>
            <a:r>
              <a:rPr lang="en-US" altLang="zh-CN" dirty="0">
                <a:solidFill>
                  <a:schemeClr val="accent6"/>
                </a:solidFill>
                <a:latin typeface="思源黑体 CN Bold" panose="020B0800000000000000" pitchFamily="34" charset="-122"/>
                <a:ea typeface="思源黑体 CN Bold" panose="020B0800000000000000" pitchFamily="34" charset="-122"/>
              </a:rPr>
              <a:t>】</a:t>
            </a:r>
            <a:endParaRPr lang="zh-CN" altLang="en-US" dirty="0">
              <a:solidFill>
                <a:schemeClr val="accent6"/>
              </a:solidFill>
              <a:latin typeface="思源黑体 CN Bold" panose="020B0800000000000000" pitchFamily="34" charset="-122"/>
              <a:ea typeface="思源黑体 CN Bold" panose="020B0800000000000000" pitchFamily="34" charset="-122"/>
            </a:endParaRPr>
          </a:p>
        </p:txBody>
      </p:sp>
      <p:sp>
        <p:nvSpPr>
          <p:cNvPr id="25" name="椭圆 24">
            <a:extLst>
              <a:ext uri="{FF2B5EF4-FFF2-40B4-BE49-F238E27FC236}">
                <a16:creationId xmlns:a16="http://schemas.microsoft.com/office/drawing/2014/main" id="{A884C083-BE45-4EA3-A9E5-67300B0163E4}"/>
              </a:ext>
            </a:extLst>
          </p:cNvPr>
          <p:cNvSpPr/>
          <p:nvPr/>
        </p:nvSpPr>
        <p:spPr>
          <a:xfrm>
            <a:off x="4511040" y="3835735"/>
            <a:ext cx="549346" cy="342724"/>
          </a:xfrm>
          <a:prstGeom prst="ellipse">
            <a:avLst/>
          </a:prstGeom>
          <a:noFill/>
          <a:ln w="25400">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26" name="箭头: 下 25">
            <a:extLst>
              <a:ext uri="{FF2B5EF4-FFF2-40B4-BE49-F238E27FC236}">
                <a16:creationId xmlns:a16="http://schemas.microsoft.com/office/drawing/2014/main" id="{AE342FC9-872A-406A-B3B6-31EC93813257}"/>
              </a:ext>
            </a:extLst>
          </p:cNvPr>
          <p:cNvSpPr/>
          <p:nvPr/>
        </p:nvSpPr>
        <p:spPr>
          <a:xfrm rot="4500000">
            <a:off x="5186295" y="3670681"/>
            <a:ext cx="355813" cy="533727"/>
          </a:xfrm>
          <a:prstGeom prst="downArrow">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8" name="文本框 27">
            <a:extLst>
              <a:ext uri="{FF2B5EF4-FFF2-40B4-BE49-F238E27FC236}">
                <a16:creationId xmlns:a16="http://schemas.microsoft.com/office/drawing/2014/main" id="{F563CF4F-5DA3-49EE-BC9B-DBB3BD27A102}"/>
              </a:ext>
            </a:extLst>
          </p:cNvPr>
          <p:cNvSpPr txBox="1"/>
          <p:nvPr/>
        </p:nvSpPr>
        <p:spPr>
          <a:xfrm>
            <a:off x="6511037" y="3162218"/>
            <a:ext cx="4782078" cy="369332"/>
          </a:xfrm>
          <a:prstGeom prst="rect">
            <a:avLst/>
          </a:prstGeom>
          <a:noFill/>
        </p:spPr>
        <p:txBody>
          <a:bodyPr wrap="none" rtlCol="0">
            <a:spAutoFit/>
          </a:bodyPr>
          <a:lstStyle/>
          <a:p>
            <a:r>
              <a:rPr lang="zh-CN" altLang="en-US" dirty="0">
                <a:latin typeface="思源黑体 CN Bold" panose="020B0800000000000000" pitchFamily="34" charset="-122"/>
                <a:ea typeface="思源黑体 CN Bold" panose="020B0800000000000000" pitchFamily="34" charset="-122"/>
              </a:rPr>
              <a:t>第</a:t>
            </a:r>
            <a:r>
              <a:rPr lang="en-US" altLang="zh-CN" dirty="0">
                <a:latin typeface="思源黑体 CN Bold" panose="020B0800000000000000" pitchFamily="34" charset="-122"/>
                <a:ea typeface="思源黑体 CN Bold" panose="020B0800000000000000" pitchFamily="34" charset="-122"/>
              </a:rPr>
              <a:t>3</a:t>
            </a:r>
            <a:r>
              <a:rPr lang="zh-CN" altLang="en-US" dirty="0">
                <a:latin typeface="思源黑体 CN Bold" panose="020B0800000000000000" pitchFamily="34" charset="-122"/>
                <a:ea typeface="思源黑体 CN Bold" panose="020B0800000000000000" pitchFamily="34" charset="-122"/>
              </a:rPr>
              <a:t>步：把</a:t>
            </a:r>
            <a:r>
              <a:rPr lang="en-US" altLang="zh-CN" dirty="0">
                <a:solidFill>
                  <a:schemeClr val="accent6"/>
                </a:solidFill>
                <a:latin typeface="思源黑体 CN Bold" panose="020B0800000000000000" pitchFamily="34" charset="-122"/>
                <a:ea typeface="思源黑体 CN Bold" panose="020B0800000000000000" pitchFamily="34" charset="-122"/>
              </a:rPr>
              <a:t>【</a:t>
            </a:r>
            <a:r>
              <a:rPr lang="zh-CN" altLang="en-US" dirty="0">
                <a:solidFill>
                  <a:schemeClr val="accent6"/>
                </a:solidFill>
                <a:latin typeface="思源黑体 CN Bold" panose="020B0800000000000000" pitchFamily="34" charset="-122"/>
                <a:ea typeface="思源黑体 CN Bold" panose="020B0800000000000000" pitchFamily="34" charset="-122"/>
              </a:rPr>
              <a:t>亮度参数拉到</a:t>
            </a:r>
            <a:r>
              <a:rPr lang="en-US" altLang="zh-CN" dirty="0">
                <a:solidFill>
                  <a:schemeClr val="accent6"/>
                </a:solidFill>
                <a:latin typeface="思源黑体 CN Bold" panose="020B0800000000000000" pitchFamily="34" charset="-122"/>
                <a:ea typeface="思源黑体 CN Bold" panose="020B0800000000000000" pitchFamily="34" charset="-122"/>
              </a:rPr>
              <a:t>100%】</a:t>
            </a:r>
            <a:r>
              <a:rPr lang="zh-CN" altLang="en-US" dirty="0">
                <a:latin typeface="思源黑体 CN Bold" panose="020B0800000000000000" pitchFamily="34" charset="-122"/>
                <a:ea typeface="思源黑体 CN Bold" panose="020B0800000000000000" pitchFamily="34" charset="-122"/>
              </a:rPr>
              <a:t>就可以了</a:t>
            </a:r>
          </a:p>
        </p:txBody>
      </p:sp>
      <p:sp>
        <p:nvSpPr>
          <p:cNvPr id="29" name="椭圆 28">
            <a:extLst>
              <a:ext uri="{FF2B5EF4-FFF2-40B4-BE49-F238E27FC236}">
                <a16:creationId xmlns:a16="http://schemas.microsoft.com/office/drawing/2014/main" id="{DDAD103E-A4A4-4D45-9270-84F4C5F9E506}"/>
              </a:ext>
            </a:extLst>
          </p:cNvPr>
          <p:cNvSpPr/>
          <p:nvPr/>
        </p:nvSpPr>
        <p:spPr>
          <a:xfrm>
            <a:off x="7379314" y="5029200"/>
            <a:ext cx="1728110" cy="557299"/>
          </a:xfrm>
          <a:prstGeom prst="ellipse">
            <a:avLst/>
          </a:prstGeom>
          <a:noFill/>
          <a:ln w="25400">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30" name="箭头: 下 29">
            <a:extLst>
              <a:ext uri="{FF2B5EF4-FFF2-40B4-BE49-F238E27FC236}">
                <a16:creationId xmlns:a16="http://schemas.microsoft.com/office/drawing/2014/main" id="{A607470C-1F67-4503-AA2F-EE8826774FAC}"/>
              </a:ext>
            </a:extLst>
          </p:cNvPr>
          <p:cNvSpPr/>
          <p:nvPr/>
        </p:nvSpPr>
        <p:spPr>
          <a:xfrm rot="19800000">
            <a:off x="7351143" y="4442273"/>
            <a:ext cx="355813" cy="533727"/>
          </a:xfrm>
          <a:prstGeom prst="downArrow">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32" name="图片 31">
            <a:extLst>
              <a:ext uri="{FF2B5EF4-FFF2-40B4-BE49-F238E27FC236}">
                <a16:creationId xmlns:a16="http://schemas.microsoft.com/office/drawing/2014/main" id="{36B54903-C697-44FD-92C5-5D9F6E3D4DF7}"/>
              </a:ext>
            </a:extLst>
          </p:cNvPr>
          <p:cNvPicPr>
            <a:picLocks noChangeAspect="1"/>
          </p:cNvPicPr>
          <p:nvPr/>
        </p:nvPicPr>
        <p:blipFill>
          <a:blip r:embed="rId8"/>
          <a:stretch>
            <a:fillRect/>
          </a:stretch>
        </p:blipFill>
        <p:spPr>
          <a:xfrm>
            <a:off x="9166570" y="3679992"/>
            <a:ext cx="2761905" cy="2809524"/>
          </a:xfrm>
          <a:prstGeom prst="rect">
            <a:avLst/>
          </a:prstGeom>
        </p:spPr>
      </p:pic>
    </p:spTree>
    <p:extLst>
      <p:ext uri="{BB962C8B-B14F-4D97-AF65-F5344CB8AC3E}">
        <p14:creationId xmlns:p14="http://schemas.microsoft.com/office/powerpoint/2010/main" val="223064836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0" name="组合 39">
            <a:extLst>
              <a:ext uri="{FF2B5EF4-FFF2-40B4-BE49-F238E27FC236}">
                <a16:creationId xmlns:a16="http://schemas.microsoft.com/office/drawing/2014/main" id="{A3581D15-2F6F-410E-BB54-8ECBF1D02959}"/>
              </a:ext>
            </a:extLst>
          </p:cNvPr>
          <p:cNvGrpSpPr/>
          <p:nvPr/>
        </p:nvGrpSpPr>
        <p:grpSpPr>
          <a:xfrm>
            <a:off x="751840" y="1876962"/>
            <a:ext cx="10688320" cy="1957202"/>
            <a:chOff x="751840" y="1883397"/>
            <a:chExt cx="10688320" cy="1957202"/>
          </a:xfrm>
        </p:grpSpPr>
        <p:sp>
          <p:nvSpPr>
            <p:cNvPr id="16" name="文本框 10">
              <a:extLst>
                <a:ext uri="{FF2B5EF4-FFF2-40B4-BE49-F238E27FC236}">
                  <a16:creationId xmlns:a16="http://schemas.microsoft.com/office/drawing/2014/main" id="{FCB6F13A-8D5D-4AE4-B0A3-431E47C512DA}"/>
                </a:ext>
              </a:extLst>
            </p:cNvPr>
            <p:cNvSpPr txBox="1"/>
            <p:nvPr>
              <p:custDataLst>
                <p:tags r:id="rId1"/>
              </p:custDataLst>
            </p:nvPr>
          </p:nvSpPr>
          <p:spPr>
            <a:xfrm>
              <a:off x="751840" y="2886492"/>
              <a:ext cx="10688320" cy="954107"/>
            </a:xfrm>
            <a:prstGeom prst="rect">
              <a:avLst/>
            </a:prstGeom>
            <a:noFill/>
          </p:spPr>
          <p:txBody>
            <a:bodyPr wrap="square" rtlCol="0">
              <a:spAutoFit/>
            </a:bodyPr>
            <a:lstStyle/>
            <a:p>
              <a:pPr lvl="0" algn="ctr">
                <a:defRPr/>
              </a:pPr>
              <a:r>
                <a:rPr lang="en-US" altLang="en-US" sz="2800" dirty="0">
                  <a:solidFill>
                    <a:schemeClr val="accent1"/>
                  </a:solidFill>
                  <a:latin typeface="思源黑体 CN Bold" panose="020B0800000000000000" pitchFamily="34" charset="-122"/>
                  <a:ea typeface="思源黑体 CN Bold" panose="020B0800000000000000" pitchFamily="34" charset="-122"/>
                  <a:cs typeface="Arial" panose="020B0604020202020204" pitchFamily="34" charset="0"/>
                  <a:sym typeface="+mn-lt"/>
                </a:rPr>
                <a:t>PRMT3-mediated arginine methylation of IGF2BP1 promotes oxaliplatin resistance in liver cancer.</a:t>
              </a:r>
            </a:p>
          </p:txBody>
        </p:sp>
        <p:sp>
          <p:nvSpPr>
            <p:cNvPr id="21" name="文本框 10">
              <a:extLst>
                <a:ext uri="{FF2B5EF4-FFF2-40B4-BE49-F238E27FC236}">
                  <a16:creationId xmlns:a16="http://schemas.microsoft.com/office/drawing/2014/main" id="{C6865005-1EBB-4801-9F7E-DCBDCA54F0F9}"/>
                </a:ext>
              </a:extLst>
            </p:cNvPr>
            <p:cNvSpPr txBox="1"/>
            <p:nvPr>
              <p:custDataLst>
                <p:tags r:id="rId2"/>
              </p:custDataLst>
            </p:nvPr>
          </p:nvSpPr>
          <p:spPr>
            <a:xfrm>
              <a:off x="1013460" y="1883397"/>
              <a:ext cx="10165080" cy="954107"/>
            </a:xfrm>
            <a:prstGeom prst="rect">
              <a:avLst/>
            </a:prstGeom>
            <a:noFill/>
          </p:spPr>
          <p:txBody>
            <a:bodyPr wrap="square" rtlCol="0">
              <a:spAutoFit/>
            </a:bodyPr>
            <a:lstStyle/>
            <a:p>
              <a:pPr lvl="0" algn="ctr">
                <a:defRPr/>
              </a:pPr>
              <a:r>
                <a:rPr lang="zh-CN" altLang="en-US" sz="5600" dirty="0">
                  <a:latin typeface="思源黑体 CN Bold"/>
                  <a:ea typeface="思源黑体 CN Bold"/>
                  <a:cs typeface="Arial" panose="020B0604020202020204" pitchFamily="34" charset="0"/>
                  <a:sym typeface="+mn-lt"/>
                </a:rPr>
                <a:t>开题答辩文献汇报通用</a:t>
              </a:r>
              <a:r>
                <a:rPr lang="en-US" altLang="zh-CN" sz="5600" dirty="0">
                  <a:latin typeface="思源黑体 CN Bold"/>
                  <a:ea typeface="思源黑体 CN Bold"/>
                  <a:cs typeface="Arial" panose="020B0604020202020204" pitchFamily="34" charset="0"/>
                  <a:sym typeface="+mn-lt"/>
                </a:rPr>
                <a:t>PPT</a:t>
              </a:r>
              <a:r>
                <a:rPr lang="zh-CN" altLang="en-US" sz="5600" dirty="0">
                  <a:latin typeface="思源黑体 CN Bold"/>
                  <a:ea typeface="思源黑体 CN Bold"/>
                  <a:cs typeface="Arial" panose="020B0604020202020204" pitchFamily="34" charset="0"/>
                  <a:sym typeface="+mn-lt"/>
                </a:rPr>
                <a:t>模板</a:t>
              </a:r>
            </a:p>
          </p:txBody>
        </p:sp>
      </p:grpSp>
      <p:grpSp>
        <p:nvGrpSpPr>
          <p:cNvPr id="41" name="组合 40">
            <a:extLst>
              <a:ext uri="{FF2B5EF4-FFF2-40B4-BE49-F238E27FC236}">
                <a16:creationId xmlns:a16="http://schemas.microsoft.com/office/drawing/2014/main" id="{4165F933-1C6E-4B47-9A76-BA080568DFC6}"/>
              </a:ext>
            </a:extLst>
          </p:cNvPr>
          <p:cNvGrpSpPr/>
          <p:nvPr/>
        </p:nvGrpSpPr>
        <p:grpSpPr>
          <a:xfrm>
            <a:off x="-1" y="4630546"/>
            <a:ext cx="12192001" cy="1967104"/>
            <a:chOff x="-1" y="4468780"/>
            <a:chExt cx="12192001" cy="1967104"/>
          </a:xfrm>
        </p:grpSpPr>
        <p:grpSp>
          <p:nvGrpSpPr>
            <p:cNvPr id="15" name="组合 14">
              <a:extLst>
                <a:ext uri="{FF2B5EF4-FFF2-40B4-BE49-F238E27FC236}">
                  <a16:creationId xmlns:a16="http://schemas.microsoft.com/office/drawing/2014/main" id="{E0583FB6-742A-45D1-A138-8D99B3BAB71D}"/>
                </a:ext>
              </a:extLst>
            </p:cNvPr>
            <p:cNvGrpSpPr/>
            <p:nvPr/>
          </p:nvGrpSpPr>
          <p:grpSpPr>
            <a:xfrm>
              <a:off x="-1" y="4468780"/>
              <a:ext cx="12192001" cy="1967104"/>
              <a:chOff x="-1" y="4244349"/>
              <a:chExt cx="12192001" cy="1967104"/>
            </a:xfrm>
          </p:grpSpPr>
          <p:pic>
            <p:nvPicPr>
              <p:cNvPr id="20" name="图片 19">
                <a:extLst>
                  <a:ext uri="{FF2B5EF4-FFF2-40B4-BE49-F238E27FC236}">
                    <a16:creationId xmlns:a16="http://schemas.microsoft.com/office/drawing/2014/main" id="{DEEF1C42-C0CA-44EE-9207-FD1A8A79E488}"/>
                  </a:ext>
                </a:extLst>
              </p:cNvPr>
              <p:cNvPicPr>
                <a:picLocks noChangeAspect="1"/>
              </p:cNvPicPr>
              <p:nvPr/>
            </p:nvPicPr>
            <p:blipFill rotWithShape="1">
              <a:blip r:embed="rId4"/>
              <a:srcRect t="41540" b="26134"/>
              <a:stretch/>
            </p:blipFill>
            <p:spPr>
              <a:xfrm>
                <a:off x="0" y="4244349"/>
                <a:ext cx="12192000" cy="1967104"/>
              </a:xfrm>
              <a:prstGeom prst="rect">
                <a:avLst/>
              </a:prstGeom>
            </p:spPr>
          </p:pic>
          <p:sp>
            <p:nvSpPr>
              <p:cNvPr id="2" name="矩形 1">
                <a:extLst>
                  <a:ext uri="{FF2B5EF4-FFF2-40B4-BE49-F238E27FC236}">
                    <a16:creationId xmlns:a16="http://schemas.microsoft.com/office/drawing/2014/main" id="{41287225-8C43-42AF-B9C8-A7100BF0358A}"/>
                  </a:ext>
                </a:extLst>
              </p:cNvPr>
              <p:cNvSpPr/>
              <p:nvPr/>
            </p:nvSpPr>
            <p:spPr>
              <a:xfrm>
                <a:off x="-1" y="4244349"/>
                <a:ext cx="12192001" cy="1967104"/>
              </a:xfrm>
              <a:prstGeom prst="rect">
                <a:avLst/>
              </a:prstGeom>
              <a:solidFill>
                <a:schemeClr val="accent1">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8" name="组合 7">
              <a:extLst>
                <a:ext uri="{FF2B5EF4-FFF2-40B4-BE49-F238E27FC236}">
                  <a16:creationId xmlns:a16="http://schemas.microsoft.com/office/drawing/2014/main" id="{2CF20A7A-EA21-4941-B65C-1AE8CDAE98B7}"/>
                </a:ext>
              </a:extLst>
            </p:cNvPr>
            <p:cNvGrpSpPr/>
            <p:nvPr/>
          </p:nvGrpSpPr>
          <p:grpSpPr>
            <a:xfrm>
              <a:off x="1013460" y="4881045"/>
              <a:ext cx="10165080" cy="1142575"/>
              <a:chOff x="1013460" y="4667992"/>
              <a:chExt cx="10165080" cy="1142575"/>
            </a:xfrm>
          </p:grpSpPr>
          <p:sp>
            <p:nvSpPr>
              <p:cNvPr id="11" name="文本框 10">
                <a:extLst>
                  <a:ext uri="{FF2B5EF4-FFF2-40B4-BE49-F238E27FC236}">
                    <a16:creationId xmlns:a16="http://schemas.microsoft.com/office/drawing/2014/main" id="{592A2874-3547-4F6D-9F14-1B01DFFE73B0}"/>
                  </a:ext>
                </a:extLst>
              </p:cNvPr>
              <p:cNvSpPr txBox="1"/>
              <p:nvPr/>
            </p:nvSpPr>
            <p:spPr>
              <a:xfrm>
                <a:off x="4677082" y="4705018"/>
                <a:ext cx="2026517" cy="369332"/>
              </a:xfrm>
              <a:prstGeom prst="rect">
                <a:avLst/>
              </a:prstGeom>
              <a:noFill/>
            </p:spPr>
            <p:txBody>
              <a:bodyPr wrap="none" rtlCol="0">
                <a:spAutoFit/>
              </a:bodyPr>
              <a:lstStyle/>
              <a:p>
                <a:pPr marL="285750" indent="-285750">
                  <a:buFont typeface="Wingdings" panose="05000000000000000000" pitchFamily="2" charset="2"/>
                  <a:buChar char="Ø"/>
                </a:pPr>
                <a:r>
                  <a:rPr lang="zh-CN" altLang="en-US" dirty="0">
                    <a:solidFill>
                      <a:schemeClr val="bg1"/>
                    </a:solidFill>
                    <a:latin typeface="思源黑体 CN Regular" panose="020B0500000000000000" pitchFamily="34" charset="-122"/>
                    <a:ea typeface="思源黑体 CN Regular" panose="020B0500000000000000" pitchFamily="34" charset="-122"/>
                  </a:rPr>
                  <a:t>课题小组：</a:t>
                </a:r>
                <a:r>
                  <a:rPr lang="en-US" altLang="zh-CN" dirty="0">
                    <a:solidFill>
                      <a:schemeClr val="bg1"/>
                    </a:solidFill>
                    <a:latin typeface="思源黑体 CN Regular" panose="020B0500000000000000" pitchFamily="34" charset="-122"/>
                    <a:ea typeface="思源黑体 CN Regular" panose="020B0500000000000000" pitchFamily="34" charset="-122"/>
                  </a:rPr>
                  <a:t>XXX</a:t>
                </a:r>
              </a:p>
            </p:txBody>
          </p:sp>
          <p:sp>
            <p:nvSpPr>
              <p:cNvPr id="13" name="文本框 12">
                <a:extLst>
                  <a:ext uri="{FF2B5EF4-FFF2-40B4-BE49-F238E27FC236}">
                    <a16:creationId xmlns:a16="http://schemas.microsoft.com/office/drawing/2014/main" id="{F783CC5A-9F78-40B3-BA32-EDF67B2FA9C7}"/>
                  </a:ext>
                </a:extLst>
              </p:cNvPr>
              <p:cNvSpPr txBox="1"/>
              <p:nvPr/>
            </p:nvSpPr>
            <p:spPr>
              <a:xfrm>
                <a:off x="1013460" y="4705018"/>
                <a:ext cx="2539478" cy="369332"/>
              </a:xfrm>
              <a:prstGeom prst="rect">
                <a:avLst/>
              </a:prstGeom>
              <a:noFill/>
            </p:spPr>
            <p:txBody>
              <a:bodyPr wrap="none" rtlCol="0">
                <a:spAutoFit/>
              </a:bodyPr>
              <a:lstStyle/>
              <a:p>
                <a:pPr marL="285750" indent="-285750">
                  <a:buFont typeface="Wingdings" panose="05000000000000000000" pitchFamily="2" charset="2"/>
                  <a:buChar char="Ø"/>
                </a:pPr>
                <a:r>
                  <a:rPr lang="zh-CN" altLang="en-US" dirty="0">
                    <a:solidFill>
                      <a:schemeClr val="bg1"/>
                    </a:solidFill>
                    <a:latin typeface="思源黑体 CN Regular" panose="020B0500000000000000" pitchFamily="34" charset="-122"/>
                    <a:ea typeface="思源黑体 CN Regular" panose="020B0500000000000000" pitchFamily="34" charset="-122"/>
                  </a:rPr>
                  <a:t>指导教师：</a:t>
                </a:r>
                <a:r>
                  <a:rPr lang="en-US" altLang="zh-CN" dirty="0">
                    <a:solidFill>
                      <a:schemeClr val="bg1"/>
                    </a:solidFill>
                    <a:latin typeface="思源黑体 CN Regular" panose="020B0500000000000000" pitchFamily="34" charset="-122"/>
                    <a:ea typeface="思源黑体 CN Regular" panose="020B0500000000000000" pitchFamily="34" charset="-122"/>
                  </a:rPr>
                  <a:t>XXX </a:t>
                </a:r>
                <a:r>
                  <a:rPr lang="zh-CN" altLang="en-US" dirty="0">
                    <a:solidFill>
                      <a:schemeClr val="bg1"/>
                    </a:solidFill>
                    <a:latin typeface="思源黑体 CN Regular" panose="020B0500000000000000" pitchFamily="34" charset="-122"/>
                    <a:ea typeface="思源黑体 CN Regular" panose="020B0500000000000000" pitchFamily="34" charset="-122"/>
                  </a:rPr>
                  <a:t>教授</a:t>
                </a:r>
              </a:p>
            </p:txBody>
          </p:sp>
          <p:sp>
            <p:nvSpPr>
              <p:cNvPr id="14" name="文本框 13">
                <a:extLst>
                  <a:ext uri="{FF2B5EF4-FFF2-40B4-BE49-F238E27FC236}">
                    <a16:creationId xmlns:a16="http://schemas.microsoft.com/office/drawing/2014/main" id="{CA4A1C14-DBCC-46E2-8265-9653E8B82BB5}"/>
                  </a:ext>
                </a:extLst>
              </p:cNvPr>
              <p:cNvSpPr txBox="1"/>
              <p:nvPr/>
            </p:nvSpPr>
            <p:spPr>
              <a:xfrm>
                <a:off x="8858674" y="4667992"/>
                <a:ext cx="2319866" cy="369332"/>
              </a:xfrm>
              <a:prstGeom prst="rect">
                <a:avLst/>
              </a:prstGeom>
              <a:noFill/>
            </p:spPr>
            <p:txBody>
              <a:bodyPr wrap="none" rtlCol="0">
                <a:spAutoFit/>
              </a:bodyPr>
              <a:lstStyle/>
              <a:p>
                <a:pPr marL="285750" indent="-285750">
                  <a:buFont typeface="Wingdings" panose="05000000000000000000" pitchFamily="2" charset="2"/>
                  <a:buChar char="Ø"/>
                </a:pPr>
                <a:r>
                  <a:rPr lang="zh-CN" altLang="en-US" dirty="0">
                    <a:solidFill>
                      <a:schemeClr val="bg1"/>
                    </a:solidFill>
                    <a:latin typeface="思源黑体 CN Regular" panose="020B0500000000000000" pitchFamily="34" charset="-122"/>
                    <a:ea typeface="思源黑体 CN Regular" panose="020B0500000000000000" pitchFamily="34" charset="-122"/>
                  </a:rPr>
                  <a:t>专业：细胞生物学</a:t>
                </a:r>
              </a:p>
            </p:txBody>
          </p:sp>
          <p:sp>
            <p:nvSpPr>
              <p:cNvPr id="31" name="文本框 30">
                <a:extLst>
                  <a:ext uri="{FF2B5EF4-FFF2-40B4-BE49-F238E27FC236}">
                    <a16:creationId xmlns:a16="http://schemas.microsoft.com/office/drawing/2014/main" id="{FAD900D3-7EB2-4046-AEEE-CEA817B974B4}"/>
                  </a:ext>
                </a:extLst>
              </p:cNvPr>
              <p:cNvSpPr txBox="1"/>
              <p:nvPr/>
            </p:nvSpPr>
            <p:spPr>
              <a:xfrm>
                <a:off x="4677082" y="5441235"/>
                <a:ext cx="3756156" cy="369332"/>
              </a:xfrm>
              <a:prstGeom prst="rect">
                <a:avLst/>
              </a:prstGeom>
              <a:noFill/>
            </p:spPr>
            <p:txBody>
              <a:bodyPr wrap="none" rtlCol="0">
                <a:spAutoFit/>
              </a:bodyPr>
              <a:lstStyle/>
              <a:p>
                <a:pPr marL="285750" indent="-285750">
                  <a:buFont typeface="Wingdings" panose="05000000000000000000" pitchFamily="2" charset="2"/>
                  <a:buChar char="Ø"/>
                </a:pPr>
                <a:r>
                  <a:rPr lang="zh-CN" altLang="en-US" dirty="0">
                    <a:solidFill>
                      <a:schemeClr val="bg1"/>
                    </a:solidFill>
                    <a:latin typeface="思源黑体 CN Regular" panose="020B0500000000000000" pitchFamily="34" charset="-122"/>
                    <a:ea typeface="思源黑体 CN Regular" panose="020B0500000000000000" pitchFamily="34" charset="-122"/>
                  </a:rPr>
                  <a:t>研究方向： 造血干细胞与铁死亡</a:t>
                </a:r>
              </a:p>
            </p:txBody>
          </p:sp>
          <p:sp>
            <p:nvSpPr>
              <p:cNvPr id="34" name="文本框 33">
                <a:extLst>
                  <a:ext uri="{FF2B5EF4-FFF2-40B4-BE49-F238E27FC236}">
                    <a16:creationId xmlns:a16="http://schemas.microsoft.com/office/drawing/2014/main" id="{D3ABCDC6-1755-4F40-B444-6CCAB186F16B}"/>
                  </a:ext>
                </a:extLst>
              </p:cNvPr>
              <p:cNvSpPr txBox="1"/>
              <p:nvPr/>
            </p:nvSpPr>
            <p:spPr>
              <a:xfrm>
                <a:off x="1013460" y="5441235"/>
                <a:ext cx="1742785" cy="369332"/>
              </a:xfrm>
              <a:prstGeom prst="rect">
                <a:avLst/>
              </a:prstGeom>
              <a:noFill/>
            </p:spPr>
            <p:txBody>
              <a:bodyPr wrap="none" rtlCol="0">
                <a:spAutoFit/>
              </a:bodyPr>
              <a:lstStyle/>
              <a:p>
                <a:pPr marL="285750" indent="-285750">
                  <a:buFont typeface="Wingdings" panose="05000000000000000000" pitchFamily="2" charset="2"/>
                  <a:buChar char="Ø"/>
                </a:pPr>
                <a:r>
                  <a:rPr lang="zh-CN" altLang="en-US" dirty="0">
                    <a:solidFill>
                      <a:schemeClr val="bg1"/>
                    </a:solidFill>
                    <a:latin typeface="思源黑体 CN Regular" panose="020B0500000000000000" pitchFamily="34" charset="-122"/>
                    <a:ea typeface="思源黑体 CN Regular" panose="020B0500000000000000" pitchFamily="34" charset="-122"/>
                  </a:rPr>
                  <a:t>答辩人：</a:t>
                </a:r>
                <a:r>
                  <a:rPr lang="en-US" altLang="zh-CN" dirty="0">
                    <a:solidFill>
                      <a:schemeClr val="bg1"/>
                    </a:solidFill>
                    <a:latin typeface="思源黑体 CN Regular" panose="020B0500000000000000" pitchFamily="34" charset="-122"/>
                    <a:ea typeface="思源黑体 CN Regular" panose="020B0500000000000000" pitchFamily="34" charset="-122"/>
                  </a:rPr>
                  <a:t>xxx</a:t>
                </a:r>
                <a:endParaRPr lang="zh-CN" altLang="en-US" dirty="0">
                  <a:solidFill>
                    <a:schemeClr val="bg1"/>
                  </a:solidFill>
                  <a:latin typeface="思源黑体 CN Regular" panose="020B0500000000000000" pitchFamily="34" charset="-122"/>
                  <a:ea typeface="思源黑体 CN Regular" panose="020B0500000000000000" pitchFamily="34" charset="-122"/>
                </a:endParaRPr>
              </a:p>
            </p:txBody>
          </p:sp>
          <p:sp>
            <p:nvSpPr>
              <p:cNvPr id="37" name="文本框 36">
                <a:extLst>
                  <a:ext uri="{FF2B5EF4-FFF2-40B4-BE49-F238E27FC236}">
                    <a16:creationId xmlns:a16="http://schemas.microsoft.com/office/drawing/2014/main" id="{67D220C2-C6DF-48F8-BA17-92D24C00F61B}"/>
                  </a:ext>
                </a:extLst>
              </p:cNvPr>
              <p:cNvSpPr txBox="1"/>
              <p:nvPr/>
            </p:nvSpPr>
            <p:spPr>
              <a:xfrm>
                <a:off x="8858674" y="5441235"/>
                <a:ext cx="2319866" cy="369332"/>
              </a:xfrm>
              <a:prstGeom prst="rect">
                <a:avLst/>
              </a:prstGeom>
              <a:noFill/>
            </p:spPr>
            <p:txBody>
              <a:bodyPr wrap="none" rtlCol="0">
                <a:spAutoFit/>
              </a:bodyPr>
              <a:lstStyle/>
              <a:p>
                <a:pPr marL="285750" indent="-285750">
                  <a:buFont typeface="Wingdings" panose="05000000000000000000" pitchFamily="2" charset="2"/>
                  <a:buChar char="Ø"/>
                </a:pPr>
                <a:r>
                  <a:rPr lang="zh-CN" altLang="en-US" dirty="0">
                    <a:solidFill>
                      <a:schemeClr val="bg1"/>
                    </a:solidFill>
                    <a:latin typeface="思源黑体 CN Regular" panose="020B0500000000000000" pitchFamily="34" charset="-122"/>
                    <a:ea typeface="思源黑体 CN Regular" panose="020B0500000000000000" pitchFamily="34" charset="-122"/>
                  </a:rPr>
                  <a:t>日期：</a:t>
                </a:r>
                <a:r>
                  <a:rPr lang="en-US" altLang="zh-CN" dirty="0">
                    <a:solidFill>
                      <a:schemeClr val="bg1"/>
                    </a:solidFill>
                    <a:latin typeface="思源黑体 CN Regular" panose="020B0500000000000000" pitchFamily="34" charset="-122"/>
                    <a:ea typeface="思源黑体 CN Regular" panose="020B0500000000000000" pitchFamily="34" charset="-122"/>
                  </a:rPr>
                  <a:t>2026/xx/xx</a:t>
                </a:r>
                <a:endParaRPr lang="zh-CN" altLang="en-US" dirty="0">
                  <a:solidFill>
                    <a:schemeClr val="bg1"/>
                  </a:solidFill>
                  <a:latin typeface="思源黑体 CN Regular" panose="020B0500000000000000" pitchFamily="34" charset="-122"/>
                  <a:ea typeface="思源黑体 CN Regular" panose="020B0500000000000000" pitchFamily="34" charset="-122"/>
                </a:endParaRPr>
              </a:p>
            </p:txBody>
          </p:sp>
        </p:grpSp>
      </p:grpSp>
    </p:spTree>
    <p:extLst>
      <p:ext uri="{BB962C8B-B14F-4D97-AF65-F5344CB8AC3E}">
        <p14:creationId xmlns:p14="http://schemas.microsoft.com/office/powerpoint/2010/main" val="228387838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0" name="组合 39">
            <a:extLst>
              <a:ext uri="{FF2B5EF4-FFF2-40B4-BE49-F238E27FC236}">
                <a16:creationId xmlns:a16="http://schemas.microsoft.com/office/drawing/2014/main" id="{A3581D15-2F6F-410E-BB54-8ECBF1D02959}"/>
              </a:ext>
            </a:extLst>
          </p:cNvPr>
          <p:cNvGrpSpPr/>
          <p:nvPr/>
        </p:nvGrpSpPr>
        <p:grpSpPr>
          <a:xfrm>
            <a:off x="751840" y="1464410"/>
            <a:ext cx="10688320" cy="1834092"/>
            <a:chOff x="751840" y="1883397"/>
            <a:chExt cx="10688320" cy="1834092"/>
          </a:xfrm>
        </p:grpSpPr>
        <p:sp>
          <p:nvSpPr>
            <p:cNvPr id="16" name="文本框 10">
              <a:extLst>
                <a:ext uri="{FF2B5EF4-FFF2-40B4-BE49-F238E27FC236}">
                  <a16:creationId xmlns:a16="http://schemas.microsoft.com/office/drawing/2014/main" id="{FCB6F13A-8D5D-4AE4-B0A3-431E47C512DA}"/>
                </a:ext>
              </a:extLst>
            </p:cNvPr>
            <p:cNvSpPr txBox="1"/>
            <p:nvPr>
              <p:custDataLst>
                <p:tags r:id="rId6"/>
              </p:custDataLst>
            </p:nvPr>
          </p:nvSpPr>
          <p:spPr>
            <a:xfrm>
              <a:off x="751840" y="2886492"/>
              <a:ext cx="10688320" cy="830997"/>
            </a:xfrm>
            <a:prstGeom prst="rect">
              <a:avLst/>
            </a:prstGeom>
            <a:noFill/>
          </p:spPr>
          <p:txBody>
            <a:bodyPr wrap="square" rtlCol="0">
              <a:spAutoFit/>
            </a:bodyPr>
            <a:lstStyle/>
            <a:p>
              <a:pPr lvl="0" algn="ctr">
                <a:defRPr/>
              </a:pPr>
              <a:r>
                <a:rPr lang="en-US" altLang="en-US" sz="2400" dirty="0">
                  <a:solidFill>
                    <a:schemeClr val="tx1">
                      <a:lumMod val="50000"/>
                      <a:lumOff val="50000"/>
                    </a:schemeClr>
                  </a:solidFill>
                  <a:latin typeface="思源黑体 CN Regular" panose="020B0500000000000000" pitchFamily="34" charset="-122"/>
                  <a:ea typeface="思源黑体 CN Regular" panose="020B0500000000000000" pitchFamily="34" charset="-122"/>
                  <a:cs typeface="Arial" panose="020B0604020202020204" pitchFamily="34" charset="0"/>
                  <a:sym typeface="+mn-lt"/>
                </a:rPr>
                <a:t>PRMT3-mediated arginine methylation of IGF2BP1 promotes oxaliplatin resistance in liver cancer.</a:t>
              </a:r>
            </a:p>
          </p:txBody>
        </p:sp>
        <p:sp>
          <p:nvSpPr>
            <p:cNvPr id="21" name="文本框 10">
              <a:extLst>
                <a:ext uri="{FF2B5EF4-FFF2-40B4-BE49-F238E27FC236}">
                  <a16:creationId xmlns:a16="http://schemas.microsoft.com/office/drawing/2014/main" id="{C6865005-1EBB-4801-9F7E-DCBDCA54F0F9}"/>
                </a:ext>
              </a:extLst>
            </p:cNvPr>
            <p:cNvSpPr txBox="1"/>
            <p:nvPr>
              <p:custDataLst>
                <p:tags r:id="rId7"/>
              </p:custDataLst>
            </p:nvPr>
          </p:nvSpPr>
          <p:spPr>
            <a:xfrm>
              <a:off x="1013460" y="1883397"/>
              <a:ext cx="10165080" cy="954107"/>
            </a:xfrm>
            <a:prstGeom prst="rect">
              <a:avLst/>
            </a:prstGeom>
            <a:noFill/>
          </p:spPr>
          <p:txBody>
            <a:bodyPr wrap="square" rtlCol="0">
              <a:spAutoFit/>
            </a:bodyPr>
            <a:lstStyle/>
            <a:p>
              <a:pPr lvl="0" algn="ctr">
                <a:defRPr/>
              </a:pPr>
              <a:r>
                <a:rPr lang="zh-CN" altLang="en-US" sz="5600" dirty="0">
                  <a:latin typeface="思源黑体 CN Bold"/>
                  <a:ea typeface="思源黑体 CN Bold"/>
                  <a:cs typeface="Arial" panose="020B0604020202020204" pitchFamily="34" charset="0"/>
                  <a:sym typeface="+mn-lt"/>
                </a:rPr>
                <a:t>开题答辩文献汇报通用</a:t>
              </a:r>
              <a:r>
                <a:rPr lang="en-US" altLang="zh-CN" sz="5600" dirty="0">
                  <a:latin typeface="思源黑体 CN Bold"/>
                  <a:ea typeface="思源黑体 CN Bold"/>
                  <a:cs typeface="Arial" panose="020B0604020202020204" pitchFamily="34" charset="0"/>
                  <a:sym typeface="+mn-lt"/>
                </a:rPr>
                <a:t>PPT</a:t>
              </a:r>
              <a:r>
                <a:rPr lang="zh-CN" altLang="en-US" sz="5600" dirty="0">
                  <a:latin typeface="思源黑体 CN Bold"/>
                  <a:ea typeface="思源黑体 CN Bold"/>
                  <a:cs typeface="Arial" panose="020B0604020202020204" pitchFamily="34" charset="0"/>
                  <a:sym typeface="+mn-lt"/>
                </a:rPr>
                <a:t>模板</a:t>
              </a:r>
            </a:p>
          </p:txBody>
        </p:sp>
      </p:grpSp>
      <p:sp>
        <p:nvSpPr>
          <p:cNvPr id="17" name="矩形 16">
            <a:extLst>
              <a:ext uri="{FF2B5EF4-FFF2-40B4-BE49-F238E27FC236}">
                <a16:creationId xmlns:a16="http://schemas.microsoft.com/office/drawing/2014/main" id="{117BF2DA-234A-41B0-A0D8-4C56A55819C3}"/>
              </a:ext>
            </a:extLst>
          </p:cNvPr>
          <p:cNvSpPr/>
          <p:nvPr/>
        </p:nvSpPr>
        <p:spPr>
          <a:xfrm>
            <a:off x="0" y="6597653"/>
            <a:ext cx="12192000" cy="260347"/>
          </a:xfrm>
          <a:prstGeom prst="rect">
            <a:avLst/>
          </a:prstGeom>
          <a:solidFill>
            <a:schemeClr val="accent1"/>
          </a:solidFill>
          <a:ln w="15875">
            <a:no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8" name="矩形 4">
            <a:extLst>
              <a:ext uri="{FF2B5EF4-FFF2-40B4-BE49-F238E27FC236}">
                <a16:creationId xmlns:a16="http://schemas.microsoft.com/office/drawing/2014/main" id="{725AA8C3-28EF-44B6-BEF2-6FC6F0D91A9A}"/>
              </a:ext>
            </a:extLst>
          </p:cNvPr>
          <p:cNvSpPr/>
          <p:nvPr/>
        </p:nvSpPr>
        <p:spPr>
          <a:xfrm>
            <a:off x="897468" y="4090493"/>
            <a:ext cx="10442674" cy="2095070"/>
          </a:xfrm>
          <a:prstGeom prst="rect">
            <a:avLst/>
          </a:prstGeom>
          <a:solidFill>
            <a:schemeClr val="accent1">
              <a:alpha val="10000"/>
            </a:schemeClr>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dirty="0">
              <a:ln>
                <a:noFill/>
              </a:ln>
              <a:solidFill>
                <a:srgbClr val="FFFFFF"/>
              </a:solidFill>
              <a:effectLst/>
              <a:highlight>
                <a:srgbClr val="FF0000"/>
              </a:highlight>
              <a:uLnTx/>
              <a:uFillTx/>
              <a:latin typeface="Roboto"/>
              <a:ea typeface="思源黑体 CN Regular"/>
              <a:cs typeface="+mn-cs"/>
              <a:sym typeface="+mn-lt"/>
            </a:endParaRPr>
          </a:p>
        </p:txBody>
      </p:sp>
      <p:sp>
        <p:nvSpPr>
          <p:cNvPr id="29" name="矩形 11">
            <a:extLst>
              <a:ext uri="{FF2B5EF4-FFF2-40B4-BE49-F238E27FC236}">
                <a16:creationId xmlns:a16="http://schemas.microsoft.com/office/drawing/2014/main" id="{6EDA0C2F-456C-41D5-BCCF-76F563B6AAD9}"/>
              </a:ext>
            </a:extLst>
          </p:cNvPr>
          <p:cNvSpPr/>
          <p:nvPr/>
        </p:nvSpPr>
        <p:spPr>
          <a:xfrm>
            <a:off x="851858" y="4096948"/>
            <a:ext cx="91220" cy="2088614"/>
          </a:xfrm>
          <a:prstGeom prst="rect">
            <a:avLst/>
          </a:prstGeom>
          <a:solidFill>
            <a:schemeClr val="accent1"/>
          </a:solidFill>
          <a:ln>
            <a:solidFill>
              <a:schemeClr val="accent1"/>
            </a:solid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FFFF"/>
              </a:solidFill>
              <a:effectLst/>
              <a:highlight>
                <a:srgbClr val="FF0000"/>
              </a:highlight>
              <a:uLnTx/>
              <a:uFillTx/>
              <a:latin typeface="Roboto"/>
              <a:ea typeface="思源黑体 CN Regular"/>
              <a:cs typeface="+mn-cs"/>
              <a:sym typeface="+mn-lt"/>
            </a:endParaRPr>
          </a:p>
        </p:txBody>
      </p:sp>
      <p:grpSp>
        <p:nvGrpSpPr>
          <p:cNvPr id="30" name="组合 29">
            <a:extLst>
              <a:ext uri="{FF2B5EF4-FFF2-40B4-BE49-F238E27FC236}">
                <a16:creationId xmlns:a16="http://schemas.microsoft.com/office/drawing/2014/main" id="{4C0F1C06-EC30-4EC2-BFAC-0AF19038393E}"/>
              </a:ext>
            </a:extLst>
          </p:cNvPr>
          <p:cNvGrpSpPr/>
          <p:nvPr/>
        </p:nvGrpSpPr>
        <p:grpSpPr>
          <a:xfrm>
            <a:off x="1098785" y="4313027"/>
            <a:ext cx="7568838" cy="1650000"/>
            <a:chOff x="1019537" y="3901508"/>
            <a:chExt cx="7568838" cy="1650000"/>
          </a:xfrm>
        </p:grpSpPr>
        <p:sp>
          <p:nvSpPr>
            <p:cNvPr id="32" name="文本框 5">
              <a:extLst>
                <a:ext uri="{FF2B5EF4-FFF2-40B4-BE49-F238E27FC236}">
                  <a16:creationId xmlns:a16="http://schemas.microsoft.com/office/drawing/2014/main" id="{A0E0DD0A-35E2-434E-A381-AE9562B3D010}"/>
                </a:ext>
              </a:extLst>
            </p:cNvPr>
            <p:cNvSpPr txBox="1"/>
            <p:nvPr/>
          </p:nvSpPr>
          <p:spPr>
            <a:xfrm>
              <a:off x="1019537" y="3901508"/>
              <a:ext cx="4228465" cy="36933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1800" i="0" u="none" strike="noStrike" kern="1200" cap="none" spc="0" normalizeH="0" baseline="0" noProof="0" dirty="0">
                  <a:ln>
                    <a:noFill/>
                  </a:ln>
                  <a:solidFill>
                    <a:schemeClr val="tx1">
                      <a:lumMod val="50000"/>
                      <a:lumOff val="50000"/>
                    </a:schemeClr>
                  </a:solidFill>
                  <a:effectLst/>
                  <a:uLnTx/>
                  <a:uFillTx/>
                  <a:latin typeface="思源黑体 CN Regular" panose="020B0500000000000000" pitchFamily="34" charset="-122"/>
                  <a:ea typeface="思源黑体 CN Regular" panose="020B0500000000000000" pitchFamily="34" charset="-122"/>
                  <a:sym typeface="+mn-lt"/>
                </a:rPr>
                <a:t>指导教师：</a:t>
              </a:r>
              <a:r>
                <a:rPr kumimoji="0" lang="en-US" altLang="zh-CN" sz="1800" i="0" u="none" strike="noStrike" kern="1200" cap="none" spc="0" normalizeH="0" baseline="0" noProof="0" dirty="0">
                  <a:ln>
                    <a:noFill/>
                  </a:ln>
                  <a:solidFill>
                    <a:schemeClr val="tx1">
                      <a:lumMod val="50000"/>
                      <a:lumOff val="50000"/>
                    </a:schemeClr>
                  </a:solidFill>
                  <a:effectLst/>
                  <a:uLnTx/>
                  <a:uFillTx/>
                  <a:latin typeface="思源黑体 CN Regular" panose="020B0500000000000000" pitchFamily="34" charset="-122"/>
                  <a:ea typeface="思源黑体 CN Regular" panose="020B0500000000000000" pitchFamily="34" charset="-122"/>
                  <a:sym typeface="+mn-lt"/>
                </a:rPr>
                <a:t>XXX </a:t>
              </a:r>
              <a:r>
                <a:rPr kumimoji="0" lang="zh-CN" altLang="en-US" sz="1800" i="0" u="none" strike="noStrike" kern="1200" cap="none" spc="0" normalizeH="0" baseline="0" noProof="0" dirty="0">
                  <a:ln>
                    <a:noFill/>
                  </a:ln>
                  <a:solidFill>
                    <a:schemeClr val="tx1">
                      <a:lumMod val="50000"/>
                      <a:lumOff val="50000"/>
                    </a:schemeClr>
                  </a:solidFill>
                  <a:effectLst/>
                  <a:uLnTx/>
                  <a:uFillTx/>
                  <a:latin typeface="思源黑体 CN Regular" panose="020B0500000000000000" pitchFamily="34" charset="-122"/>
                  <a:ea typeface="思源黑体 CN Regular" panose="020B0500000000000000" pitchFamily="34" charset="-122"/>
                  <a:sym typeface="+mn-lt"/>
                </a:rPr>
                <a:t>教授</a:t>
              </a:r>
              <a:endParaRPr kumimoji="0" lang="en-US" altLang="zh-CN" sz="1800" i="1" u="none" strike="noStrike" kern="1200" cap="none" spc="0" normalizeH="0" baseline="0" noProof="0" dirty="0">
                <a:ln>
                  <a:noFill/>
                </a:ln>
                <a:solidFill>
                  <a:schemeClr val="tx1">
                    <a:lumMod val="50000"/>
                    <a:lumOff val="50000"/>
                  </a:schemeClr>
                </a:solidFill>
                <a:effectLst/>
                <a:uLnTx/>
                <a:uFillTx/>
                <a:latin typeface="思源黑体 CN Regular" panose="020B0500000000000000" pitchFamily="34" charset="-122"/>
                <a:ea typeface="思源黑体 CN Regular" panose="020B0500000000000000" pitchFamily="34" charset="-122"/>
                <a:sym typeface="+mn-lt"/>
              </a:endParaRPr>
            </a:p>
          </p:txBody>
        </p:sp>
        <p:sp>
          <p:nvSpPr>
            <p:cNvPr id="33" name="文本框 6">
              <a:extLst>
                <a:ext uri="{FF2B5EF4-FFF2-40B4-BE49-F238E27FC236}">
                  <a16:creationId xmlns:a16="http://schemas.microsoft.com/office/drawing/2014/main" id="{86A942D4-52AA-464B-AF2C-616480B478F0}"/>
                </a:ext>
              </a:extLst>
            </p:cNvPr>
            <p:cNvSpPr txBox="1"/>
            <p:nvPr>
              <p:custDataLst>
                <p:tags r:id="rId1"/>
              </p:custDataLst>
            </p:nvPr>
          </p:nvSpPr>
          <p:spPr>
            <a:xfrm>
              <a:off x="1019537" y="4541842"/>
              <a:ext cx="3866515" cy="36933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1800" i="0" u="none" strike="noStrike" kern="1200" cap="none" spc="0" normalizeH="0" baseline="0" noProof="0" dirty="0">
                  <a:ln>
                    <a:noFill/>
                  </a:ln>
                  <a:solidFill>
                    <a:schemeClr val="tx1">
                      <a:lumMod val="50000"/>
                      <a:lumOff val="50000"/>
                    </a:schemeClr>
                  </a:solidFill>
                  <a:effectLst/>
                  <a:uLnTx/>
                  <a:uFillTx/>
                  <a:latin typeface="思源黑体 CN Regular" panose="020B0500000000000000" pitchFamily="34" charset="-122"/>
                  <a:ea typeface="思源黑体 CN Regular" panose="020B0500000000000000" pitchFamily="34" charset="-122"/>
                  <a:sym typeface="+mn-lt"/>
                </a:rPr>
                <a:t>专业：细胞生物学</a:t>
              </a:r>
            </a:p>
          </p:txBody>
        </p:sp>
        <p:sp>
          <p:nvSpPr>
            <p:cNvPr id="35" name="文本框 7">
              <a:extLst>
                <a:ext uri="{FF2B5EF4-FFF2-40B4-BE49-F238E27FC236}">
                  <a16:creationId xmlns:a16="http://schemas.microsoft.com/office/drawing/2014/main" id="{DFDDCD88-8124-4CC4-BE97-BD136765C870}"/>
                </a:ext>
              </a:extLst>
            </p:cNvPr>
            <p:cNvSpPr txBox="1"/>
            <p:nvPr>
              <p:custDataLst>
                <p:tags r:id="rId2"/>
              </p:custDataLst>
            </p:nvPr>
          </p:nvSpPr>
          <p:spPr>
            <a:xfrm>
              <a:off x="1019537" y="5182176"/>
              <a:ext cx="3810515" cy="36933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1800" i="0" u="none" strike="noStrike" kern="1200" cap="none" spc="0" normalizeH="0" baseline="0" noProof="0" dirty="0">
                  <a:ln>
                    <a:noFill/>
                  </a:ln>
                  <a:solidFill>
                    <a:schemeClr val="tx1">
                      <a:lumMod val="50000"/>
                      <a:lumOff val="50000"/>
                    </a:schemeClr>
                  </a:solidFill>
                  <a:effectLst/>
                  <a:uLnTx/>
                  <a:uFillTx/>
                  <a:latin typeface="思源黑体 CN Regular" panose="020B0500000000000000" pitchFamily="34" charset="-122"/>
                  <a:ea typeface="思源黑体 CN Regular" panose="020B0500000000000000" pitchFamily="34" charset="-122"/>
                  <a:sym typeface="+mn-lt"/>
                </a:rPr>
                <a:t>研究方向： 造血干细胞与铁死亡</a:t>
              </a:r>
              <a:endParaRPr kumimoji="0" lang="en-US" altLang="zh-CN" sz="1800" i="0" u="none" strike="noStrike" kern="1200" cap="none" spc="0" normalizeH="0" baseline="0" noProof="0" dirty="0">
                <a:ln>
                  <a:noFill/>
                </a:ln>
                <a:solidFill>
                  <a:schemeClr val="tx1">
                    <a:lumMod val="50000"/>
                    <a:lumOff val="50000"/>
                  </a:schemeClr>
                </a:solidFill>
                <a:effectLst/>
                <a:uLnTx/>
                <a:uFillTx/>
                <a:latin typeface="思源黑体 CN Regular" panose="020B0500000000000000" pitchFamily="34" charset="-122"/>
                <a:ea typeface="思源黑体 CN Regular" panose="020B0500000000000000" pitchFamily="34" charset="-122"/>
                <a:sym typeface="+mn-lt"/>
              </a:endParaRPr>
            </a:p>
          </p:txBody>
        </p:sp>
        <p:sp>
          <p:nvSpPr>
            <p:cNvPr id="36" name="文本框 8">
              <a:extLst>
                <a:ext uri="{FF2B5EF4-FFF2-40B4-BE49-F238E27FC236}">
                  <a16:creationId xmlns:a16="http://schemas.microsoft.com/office/drawing/2014/main" id="{3CA07724-B4EB-4547-9625-9F1BE1E82E1F}"/>
                </a:ext>
              </a:extLst>
            </p:cNvPr>
            <p:cNvSpPr txBox="1"/>
            <p:nvPr>
              <p:custDataLst>
                <p:tags r:id="rId3"/>
              </p:custDataLst>
            </p:nvPr>
          </p:nvSpPr>
          <p:spPr>
            <a:xfrm>
              <a:off x="6036310" y="3901508"/>
              <a:ext cx="2552065" cy="36933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1800" i="0" u="none" strike="noStrike" kern="1200" cap="none" spc="0" normalizeH="0" baseline="0" noProof="0" dirty="0">
                  <a:ln>
                    <a:noFill/>
                  </a:ln>
                  <a:solidFill>
                    <a:schemeClr val="tx1">
                      <a:lumMod val="50000"/>
                      <a:lumOff val="50000"/>
                    </a:schemeClr>
                  </a:solidFill>
                  <a:effectLst/>
                  <a:uLnTx/>
                  <a:uFillTx/>
                  <a:latin typeface="思源黑体 CN Regular" panose="020B0500000000000000" pitchFamily="34" charset="-122"/>
                  <a:ea typeface="思源黑体 CN Regular" panose="020B0500000000000000" pitchFamily="34" charset="-122"/>
                  <a:sym typeface="+mn-lt"/>
                </a:rPr>
                <a:t>课题小组：</a:t>
              </a:r>
              <a:r>
                <a:rPr kumimoji="0" lang="en-US" altLang="zh-CN" sz="1800" i="0" u="none" strike="noStrike" kern="1200" cap="none" spc="0" normalizeH="0" baseline="0" noProof="0" dirty="0">
                  <a:ln>
                    <a:noFill/>
                  </a:ln>
                  <a:solidFill>
                    <a:schemeClr val="tx1">
                      <a:lumMod val="50000"/>
                      <a:lumOff val="50000"/>
                    </a:schemeClr>
                  </a:solidFill>
                  <a:effectLst/>
                  <a:uLnTx/>
                  <a:uFillTx/>
                  <a:latin typeface="思源黑体 CN Regular" panose="020B0500000000000000" pitchFamily="34" charset="-122"/>
                  <a:ea typeface="思源黑体 CN Regular" panose="020B0500000000000000" pitchFamily="34" charset="-122"/>
                  <a:sym typeface="+mn-lt"/>
                </a:rPr>
                <a:t>XXX</a:t>
              </a:r>
            </a:p>
          </p:txBody>
        </p:sp>
        <p:sp>
          <p:nvSpPr>
            <p:cNvPr id="38" name="文本框 9">
              <a:extLst>
                <a:ext uri="{FF2B5EF4-FFF2-40B4-BE49-F238E27FC236}">
                  <a16:creationId xmlns:a16="http://schemas.microsoft.com/office/drawing/2014/main" id="{3A4F9D34-E0C3-40A5-B66B-E28376B8B854}"/>
                </a:ext>
              </a:extLst>
            </p:cNvPr>
            <p:cNvSpPr txBox="1"/>
            <p:nvPr>
              <p:custDataLst>
                <p:tags r:id="rId4"/>
              </p:custDataLst>
            </p:nvPr>
          </p:nvSpPr>
          <p:spPr>
            <a:xfrm>
              <a:off x="6036310" y="4541842"/>
              <a:ext cx="2552065" cy="36830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1800" i="0" u="none" strike="noStrike" kern="1200" cap="none" spc="0" normalizeH="0" baseline="0" noProof="0" dirty="0">
                  <a:ln>
                    <a:noFill/>
                  </a:ln>
                  <a:solidFill>
                    <a:schemeClr val="tx1">
                      <a:lumMod val="50000"/>
                      <a:lumOff val="50000"/>
                    </a:schemeClr>
                  </a:solidFill>
                  <a:effectLst/>
                  <a:uLnTx/>
                  <a:uFillTx/>
                  <a:latin typeface="思源黑体 CN Regular" panose="020B0500000000000000" pitchFamily="34" charset="-122"/>
                  <a:ea typeface="思源黑体 CN Regular" panose="020B0500000000000000" pitchFamily="34" charset="-122"/>
                  <a:sym typeface="+mn-lt"/>
                </a:rPr>
                <a:t>答辩人：</a:t>
              </a:r>
              <a:r>
                <a:rPr kumimoji="0" lang="en-US" altLang="zh-CN" sz="1800" i="0" u="none" strike="noStrike" kern="1200" cap="none" spc="0" normalizeH="0" baseline="0" noProof="0" dirty="0">
                  <a:ln>
                    <a:noFill/>
                  </a:ln>
                  <a:solidFill>
                    <a:schemeClr val="tx1">
                      <a:lumMod val="50000"/>
                      <a:lumOff val="50000"/>
                    </a:schemeClr>
                  </a:solidFill>
                  <a:effectLst/>
                  <a:uLnTx/>
                  <a:uFillTx/>
                  <a:latin typeface="思源黑体 CN Regular" panose="020B0500000000000000" pitchFamily="34" charset="-122"/>
                  <a:ea typeface="思源黑体 CN Regular" panose="020B0500000000000000" pitchFamily="34" charset="-122"/>
                  <a:sym typeface="+mn-lt"/>
                </a:rPr>
                <a:t>XXX</a:t>
              </a:r>
              <a:endParaRPr kumimoji="0" lang="zh-CN" altLang="en-US" sz="1800" i="0" u="none" strike="noStrike" kern="1200" cap="none" spc="0" normalizeH="0" baseline="0" noProof="0" dirty="0">
                <a:ln>
                  <a:noFill/>
                </a:ln>
                <a:solidFill>
                  <a:schemeClr val="tx1">
                    <a:lumMod val="50000"/>
                    <a:lumOff val="50000"/>
                  </a:schemeClr>
                </a:solidFill>
                <a:effectLst/>
                <a:uLnTx/>
                <a:uFillTx/>
                <a:latin typeface="思源黑体 CN Regular" panose="020B0500000000000000" pitchFamily="34" charset="-122"/>
                <a:ea typeface="思源黑体 CN Regular" panose="020B0500000000000000" pitchFamily="34" charset="-122"/>
                <a:sym typeface="+mn-lt"/>
              </a:endParaRPr>
            </a:p>
          </p:txBody>
        </p:sp>
        <p:sp>
          <p:nvSpPr>
            <p:cNvPr id="39" name="文本框 13">
              <a:extLst>
                <a:ext uri="{FF2B5EF4-FFF2-40B4-BE49-F238E27FC236}">
                  <a16:creationId xmlns:a16="http://schemas.microsoft.com/office/drawing/2014/main" id="{9F3EF515-7084-4C5A-B4E0-FBCC11F366C3}"/>
                </a:ext>
              </a:extLst>
            </p:cNvPr>
            <p:cNvSpPr txBox="1"/>
            <p:nvPr>
              <p:custDataLst>
                <p:tags r:id="rId5"/>
              </p:custDataLst>
            </p:nvPr>
          </p:nvSpPr>
          <p:spPr>
            <a:xfrm>
              <a:off x="6036310" y="5182176"/>
              <a:ext cx="2552065" cy="36933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1800" i="0" u="none" strike="noStrike" kern="1200" cap="none" spc="0" normalizeH="0" baseline="0" noProof="0" dirty="0">
                  <a:ln>
                    <a:noFill/>
                  </a:ln>
                  <a:solidFill>
                    <a:schemeClr val="tx1">
                      <a:lumMod val="50000"/>
                      <a:lumOff val="50000"/>
                    </a:schemeClr>
                  </a:solidFill>
                  <a:effectLst/>
                  <a:uLnTx/>
                  <a:uFillTx/>
                  <a:latin typeface="思源黑体 CN Regular" panose="020B0500000000000000" pitchFamily="34" charset="-122"/>
                  <a:ea typeface="思源黑体 CN Regular" panose="020B0500000000000000" pitchFamily="34" charset="-122"/>
                  <a:sym typeface="+mn-lt"/>
                </a:rPr>
                <a:t>答辩日期：</a:t>
              </a:r>
              <a:r>
                <a:rPr kumimoji="0" lang="en-US" altLang="zh-CN" sz="1800" i="0" u="none" strike="noStrike" kern="1200" cap="none" spc="0" normalizeH="0" baseline="0" noProof="0" dirty="0">
                  <a:ln>
                    <a:noFill/>
                  </a:ln>
                  <a:solidFill>
                    <a:schemeClr val="tx1">
                      <a:lumMod val="50000"/>
                      <a:lumOff val="50000"/>
                    </a:schemeClr>
                  </a:solidFill>
                  <a:effectLst/>
                  <a:uLnTx/>
                  <a:uFillTx/>
                  <a:latin typeface="思源黑体 CN Regular" panose="020B0500000000000000" pitchFamily="34" charset="-122"/>
                  <a:ea typeface="思源黑体 CN Regular" panose="020B0500000000000000" pitchFamily="34" charset="-122"/>
                  <a:sym typeface="+mn-lt"/>
                </a:rPr>
                <a:t>2025.X.X</a:t>
              </a:r>
              <a:endParaRPr kumimoji="0" lang="zh-CN" altLang="en-US" sz="1800" i="0" u="none" strike="noStrike" kern="1200" cap="none" spc="0" normalizeH="0" baseline="0" noProof="0" dirty="0">
                <a:ln>
                  <a:noFill/>
                </a:ln>
                <a:solidFill>
                  <a:schemeClr val="tx1">
                    <a:lumMod val="50000"/>
                    <a:lumOff val="50000"/>
                  </a:schemeClr>
                </a:solidFill>
                <a:effectLst/>
                <a:uLnTx/>
                <a:uFillTx/>
                <a:latin typeface="思源黑体 CN Regular" panose="020B0500000000000000" pitchFamily="34" charset="-122"/>
                <a:ea typeface="思源黑体 CN Regular" panose="020B0500000000000000" pitchFamily="34" charset="-122"/>
                <a:sym typeface="+mn-lt"/>
              </a:endParaRPr>
            </a:p>
          </p:txBody>
        </p:sp>
      </p:grpSp>
      <p:cxnSp>
        <p:nvCxnSpPr>
          <p:cNvPr id="42" name="直接连接符 41">
            <a:extLst>
              <a:ext uri="{FF2B5EF4-FFF2-40B4-BE49-F238E27FC236}">
                <a16:creationId xmlns:a16="http://schemas.microsoft.com/office/drawing/2014/main" id="{4D893CFA-AF7A-41E0-9F74-623C8EF6F3BC}"/>
              </a:ext>
            </a:extLst>
          </p:cNvPr>
          <p:cNvCxnSpPr>
            <a:cxnSpLocks/>
          </p:cNvCxnSpPr>
          <p:nvPr/>
        </p:nvCxnSpPr>
        <p:spPr>
          <a:xfrm>
            <a:off x="851858" y="3648198"/>
            <a:ext cx="10470303" cy="0"/>
          </a:xfrm>
          <a:prstGeom prst="line">
            <a:avLst/>
          </a:prstGeom>
          <a:ln w="22225">
            <a:prstDash val="dash"/>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88974663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 name="图片 19">
            <a:extLst>
              <a:ext uri="{FF2B5EF4-FFF2-40B4-BE49-F238E27FC236}">
                <a16:creationId xmlns:a16="http://schemas.microsoft.com/office/drawing/2014/main" id="{DEEF1C42-C0CA-44EE-9207-FD1A8A79E488}"/>
              </a:ext>
            </a:extLst>
          </p:cNvPr>
          <p:cNvPicPr>
            <a:picLocks noChangeAspect="1"/>
          </p:cNvPicPr>
          <p:nvPr/>
        </p:nvPicPr>
        <p:blipFill rotWithShape="1">
          <a:blip r:embed="rId2"/>
          <a:srcRect t="26466" b="11061"/>
          <a:stretch/>
        </p:blipFill>
        <p:spPr>
          <a:xfrm>
            <a:off x="0" y="1372236"/>
            <a:ext cx="12192000" cy="3801648"/>
          </a:xfrm>
          <a:prstGeom prst="rect">
            <a:avLst/>
          </a:prstGeom>
        </p:spPr>
      </p:pic>
      <p:cxnSp>
        <p:nvCxnSpPr>
          <p:cNvPr id="23" name="直接连接符 22">
            <a:extLst>
              <a:ext uri="{FF2B5EF4-FFF2-40B4-BE49-F238E27FC236}">
                <a16:creationId xmlns:a16="http://schemas.microsoft.com/office/drawing/2014/main" id="{6D88D9DE-9CCF-4F00-882E-E723033C8EC2}"/>
              </a:ext>
            </a:extLst>
          </p:cNvPr>
          <p:cNvCxnSpPr>
            <a:cxnSpLocks/>
          </p:cNvCxnSpPr>
          <p:nvPr/>
        </p:nvCxnSpPr>
        <p:spPr>
          <a:xfrm>
            <a:off x="-1" y="1299490"/>
            <a:ext cx="12192001" cy="0"/>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sp>
        <p:nvSpPr>
          <p:cNvPr id="2" name="矩形 1">
            <a:extLst>
              <a:ext uri="{FF2B5EF4-FFF2-40B4-BE49-F238E27FC236}">
                <a16:creationId xmlns:a16="http://schemas.microsoft.com/office/drawing/2014/main" id="{41287225-8C43-42AF-B9C8-A7100BF0358A}"/>
              </a:ext>
            </a:extLst>
          </p:cNvPr>
          <p:cNvSpPr/>
          <p:nvPr/>
        </p:nvSpPr>
        <p:spPr>
          <a:xfrm>
            <a:off x="-1" y="1372235"/>
            <a:ext cx="12192001" cy="3801648"/>
          </a:xfrm>
          <a:prstGeom prst="rect">
            <a:avLst/>
          </a:prstGeom>
          <a:solidFill>
            <a:schemeClr val="accent1">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流程图: 接点 9">
            <a:extLst>
              <a:ext uri="{FF2B5EF4-FFF2-40B4-BE49-F238E27FC236}">
                <a16:creationId xmlns:a16="http://schemas.microsoft.com/office/drawing/2014/main" id="{BCCE06FF-7BA0-4B04-8FDB-9DBE2C8B1C29}"/>
              </a:ext>
            </a:extLst>
          </p:cNvPr>
          <p:cNvSpPr/>
          <p:nvPr/>
        </p:nvSpPr>
        <p:spPr>
          <a:xfrm>
            <a:off x="5695157" y="927748"/>
            <a:ext cx="801687" cy="801687"/>
          </a:xfrm>
          <a:prstGeom prst="flowChartConnector">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3" name="组合 2">
            <a:extLst>
              <a:ext uri="{FF2B5EF4-FFF2-40B4-BE49-F238E27FC236}">
                <a16:creationId xmlns:a16="http://schemas.microsoft.com/office/drawing/2014/main" id="{1826A012-91DD-40A8-9224-540FC55E3F62}"/>
              </a:ext>
            </a:extLst>
          </p:cNvPr>
          <p:cNvGrpSpPr/>
          <p:nvPr/>
        </p:nvGrpSpPr>
        <p:grpSpPr>
          <a:xfrm>
            <a:off x="1470712" y="5862077"/>
            <a:ext cx="9461825" cy="369332"/>
            <a:chOff x="1470712" y="5782212"/>
            <a:chExt cx="9461825" cy="369332"/>
          </a:xfrm>
        </p:grpSpPr>
        <p:sp>
          <p:nvSpPr>
            <p:cNvPr id="11" name="文本框 10">
              <a:extLst>
                <a:ext uri="{FF2B5EF4-FFF2-40B4-BE49-F238E27FC236}">
                  <a16:creationId xmlns:a16="http://schemas.microsoft.com/office/drawing/2014/main" id="{592A2874-3547-4F6D-9F14-1B01DFFE73B0}"/>
                </a:ext>
              </a:extLst>
            </p:cNvPr>
            <p:cNvSpPr txBox="1"/>
            <p:nvPr/>
          </p:nvSpPr>
          <p:spPr>
            <a:xfrm>
              <a:off x="1825606" y="5782212"/>
              <a:ext cx="1497526" cy="369332"/>
            </a:xfrm>
            <a:prstGeom prst="rect">
              <a:avLst/>
            </a:prstGeom>
            <a:noFill/>
          </p:spPr>
          <p:txBody>
            <a:bodyPr wrap="none" rtlCol="0">
              <a:spAutoFit/>
            </a:bodyPr>
            <a:lstStyle/>
            <a:p>
              <a:r>
                <a:rPr lang="zh-CN" altLang="en-US" dirty="0">
                  <a:latin typeface="思源黑体 CN Bold" panose="020B0800000000000000" pitchFamily="34" charset="-122"/>
                  <a:ea typeface="思源黑体 CN Bold" panose="020B0800000000000000" pitchFamily="34" charset="-122"/>
                </a:rPr>
                <a:t>答辩人：</a:t>
              </a:r>
              <a:r>
                <a:rPr lang="en-US" altLang="zh-CN" dirty="0">
                  <a:latin typeface="思源黑体 CN Bold" panose="020B0800000000000000" pitchFamily="34" charset="-122"/>
                  <a:ea typeface="思源黑体 CN Bold" panose="020B0800000000000000" pitchFamily="34" charset="-122"/>
                </a:rPr>
                <a:t>xxx</a:t>
              </a:r>
              <a:endParaRPr lang="zh-CN" altLang="en-US" dirty="0">
                <a:latin typeface="思源黑体 CN Bold" panose="020B0800000000000000" pitchFamily="34" charset="-122"/>
                <a:ea typeface="思源黑体 CN Bold" panose="020B0800000000000000" pitchFamily="34" charset="-122"/>
              </a:endParaRPr>
            </a:p>
          </p:txBody>
        </p:sp>
        <p:sp>
          <p:nvSpPr>
            <p:cNvPr id="17" name="graduate-hat_59495">
              <a:extLst>
                <a:ext uri="{FF2B5EF4-FFF2-40B4-BE49-F238E27FC236}">
                  <a16:creationId xmlns:a16="http://schemas.microsoft.com/office/drawing/2014/main" id="{751ABA52-B13D-4035-A8B8-4F42180E5D61}"/>
                </a:ext>
              </a:extLst>
            </p:cNvPr>
            <p:cNvSpPr/>
            <p:nvPr userDrawn="1"/>
          </p:nvSpPr>
          <p:spPr>
            <a:xfrm>
              <a:off x="1470712" y="5843919"/>
              <a:ext cx="330510" cy="245918"/>
            </a:xfrm>
            <a:custGeom>
              <a:avLst/>
              <a:gdLst>
                <a:gd name="connsiteX0" fmla="*/ 10223 w 596651"/>
                <a:gd name="connsiteY0" fmla="*/ 332075 h 443943"/>
                <a:gd name="connsiteX1" fmla="*/ 57217 w 596651"/>
                <a:gd name="connsiteY1" fmla="*/ 332075 h 443943"/>
                <a:gd name="connsiteX2" fmla="*/ 67353 w 596651"/>
                <a:gd name="connsiteY2" fmla="*/ 427370 h 443943"/>
                <a:gd name="connsiteX3" fmla="*/ 63667 w 596651"/>
                <a:gd name="connsiteY3" fmla="*/ 438879 h 443943"/>
                <a:gd name="connsiteX4" fmla="*/ 52149 w 596651"/>
                <a:gd name="connsiteY4" fmla="*/ 443943 h 443943"/>
                <a:gd name="connsiteX5" fmla="*/ 15291 w 596651"/>
                <a:gd name="connsiteY5" fmla="*/ 443943 h 443943"/>
                <a:gd name="connsiteX6" fmla="*/ 4233 w 596651"/>
                <a:gd name="connsiteY6" fmla="*/ 438879 h 443943"/>
                <a:gd name="connsiteX7" fmla="*/ 87 w 596651"/>
                <a:gd name="connsiteY7" fmla="*/ 427370 h 443943"/>
                <a:gd name="connsiteX8" fmla="*/ 528865 w 596651"/>
                <a:gd name="connsiteY8" fmla="*/ 191185 h 443943"/>
                <a:gd name="connsiteX9" fmla="*/ 541774 w 596651"/>
                <a:gd name="connsiteY9" fmla="*/ 309970 h 443943"/>
                <a:gd name="connsiteX10" fmla="*/ 526559 w 596651"/>
                <a:gd name="connsiteY10" fmla="*/ 325163 h 443943"/>
                <a:gd name="connsiteX11" fmla="*/ 523793 w 596651"/>
                <a:gd name="connsiteY11" fmla="*/ 325163 h 443943"/>
                <a:gd name="connsiteX12" fmla="*/ 486909 w 596651"/>
                <a:gd name="connsiteY12" fmla="*/ 322401 h 443943"/>
                <a:gd name="connsiteX13" fmla="*/ 322773 w 596651"/>
                <a:gd name="connsiteY13" fmla="*/ 399749 h 443943"/>
                <a:gd name="connsiteX14" fmla="*/ 309403 w 596651"/>
                <a:gd name="connsiteY14" fmla="*/ 408036 h 443943"/>
                <a:gd name="connsiteX15" fmla="*/ 304792 w 596651"/>
                <a:gd name="connsiteY15" fmla="*/ 408036 h 443943"/>
                <a:gd name="connsiteX16" fmla="*/ 290960 w 596651"/>
                <a:gd name="connsiteY16" fmla="*/ 399749 h 443943"/>
                <a:gd name="connsiteX17" fmla="*/ 126825 w 596651"/>
                <a:gd name="connsiteY17" fmla="*/ 322401 h 443943"/>
                <a:gd name="connsiteX18" fmla="*/ 89940 w 596651"/>
                <a:gd name="connsiteY18" fmla="*/ 325163 h 443943"/>
                <a:gd name="connsiteX19" fmla="*/ 77031 w 596651"/>
                <a:gd name="connsiteY19" fmla="*/ 320559 h 443943"/>
                <a:gd name="connsiteX20" fmla="*/ 72420 w 596651"/>
                <a:gd name="connsiteY20" fmla="*/ 307668 h 443943"/>
                <a:gd name="connsiteX21" fmla="*/ 85330 w 596651"/>
                <a:gd name="connsiteY21" fmla="*/ 192106 h 443943"/>
                <a:gd name="connsiteX22" fmla="*/ 307097 w 596651"/>
                <a:gd name="connsiteY22" fmla="*/ 275439 h 443943"/>
                <a:gd name="connsiteX23" fmla="*/ 301581 w 596651"/>
                <a:gd name="connsiteY23" fmla="*/ 1035 h 443943"/>
                <a:gd name="connsiteX24" fmla="*/ 312185 w 596651"/>
                <a:gd name="connsiteY24" fmla="*/ 1035 h 443943"/>
                <a:gd name="connsiteX25" fmla="*/ 586508 w 596651"/>
                <a:gd name="connsiteY25" fmla="*/ 104161 h 443943"/>
                <a:gd name="connsiteX26" fmla="*/ 596651 w 596651"/>
                <a:gd name="connsiteY26" fmla="*/ 118433 h 443943"/>
                <a:gd name="connsiteX27" fmla="*/ 586508 w 596651"/>
                <a:gd name="connsiteY27" fmla="*/ 132705 h 443943"/>
                <a:gd name="connsiteX28" fmla="*/ 312185 w 596651"/>
                <a:gd name="connsiteY28" fmla="*/ 235830 h 443943"/>
                <a:gd name="connsiteX29" fmla="*/ 301581 w 596651"/>
                <a:gd name="connsiteY29" fmla="*/ 235830 h 443943"/>
                <a:gd name="connsiteX30" fmla="*/ 51233 w 596651"/>
                <a:gd name="connsiteY30" fmla="*/ 141912 h 443943"/>
                <a:gd name="connsiteX31" fmla="*/ 51233 w 596651"/>
                <a:gd name="connsiteY31" fmla="*/ 305348 h 443943"/>
                <a:gd name="connsiteX32" fmla="*/ 16654 w 596651"/>
                <a:gd name="connsiteY32" fmla="*/ 305348 h 443943"/>
                <a:gd name="connsiteX33" fmla="*/ 16654 w 596651"/>
                <a:gd name="connsiteY33" fmla="*/ 118433 h 443943"/>
                <a:gd name="connsiteX34" fmla="*/ 26336 w 596651"/>
                <a:gd name="connsiteY34" fmla="*/ 104161 h 44394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596651" h="443943">
                  <a:moveTo>
                    <a:pt x="10223" y="332075"/>
                  </a:moveTo>
                  <a:lnTo>
                    <a:pt x="57217" y="332075"/>
                  </a:lnTo>
                  <a:lnTo>
                    <a:pt x="67353" y="427370"/>
                  </a:lnTo>
                  <a:cubicBezTo>
                    <a:pt x="67813" y="431513"/>
                    <a:pt x="66431" y="435656"/>
                    <a:pt x="63667" y="438879"/>
                  </a:cubicBezTo>
                  <a:cubicBezTo>
                    <a:pt x="60902" y="442102"/>
                    <a:pt x="56756" y="443943"/>
                    <a:pt x="52149" y="443943"/>
                  </a:cubicBezTo>
                  <a:lnTo>
                    <a:pt x="15291" y="443943"/>
                  </a:lnTo>
                  <a:cubicBezTo>
                    <a:pt x="11144" y="443943"/>
                    <a:pt x="6998" y="442102"/>
                    <a:pt x="4233" y="438879"/>
                  </a:cubicBezTo>
                  <a:cubicBezTo>
                    <a:pt x="1008" y="435656"/>
                    <a:pt x="-374" y="431513"/>
                    <a:pt x="87" y="427370"/>
                  </a:cubicBezTo>
                  <a:close/>
                  <a:moveTo>
                    <a:pt x="528865" y="191185"/>
                  </a:moveTo>
                  <a:cubicBezTo>
                    <a:pt x="528865" y="191185"/>
                    <a:pt x="541774" y="308588"/>
                    <a:pt x="541774" y="309970"/>
                  </a:cubicBezTo>
                  <a:cubicBezTo>
                    <a:pt x="542235" y="318717"/>
                    <a:pt x="534858" y="325163"/>
                    <a:pt x="526559" y="325163"/>
                  </a:cubicBezTo>
                  <a:cubicBezTo>
                    <a:pt x="526098" y="325163"/>
                    <a:pt x="524715" y="325163"/>
                    <a:pt x="523793" y="325163"/>
                  </a:cubicBezTo>
                  <a:cubicBezTo>
                    <a:pt x="511806" y="323321"/>
                    <a:pt x="499357" y="322401"/>
                    <a:pt x="486909" y="322401"/>
                  </a:cubicBezTo>
                  <a:cubicBezTo>
                    <a:pt x="413140" y="322401"/>
                    <a:pt x="347209" y="353708"/>
                    <a:pt x="322773" y="399749"/>
                  </a:cubicBezTo>
                  <a:cubicBezTo>
                    <a:pt x="320468" y="404813"/>
                    <a:pt x="314935" y="408036"/>
                    <a:pt x="309403" y="408036"/>
                  </a:cubicBezTo>
                  <a:lnTo>
                    <a:pt x="304792" y="408036"/>
                  </a:lnTo>
                  <a:cubicBezTo>
                    <a:pt x="298798" y="408036"/>
                    <a:pt x="293727" y="404813"/>
                    <a:pt x="290960" y="399749"/>
                  </a:cubicBezTo>
                  <a:cubicBezTo>
                    <a:pt x="266524" y="353248"/>
                    <a:pt x="200594" y="322401"/>
                    <a:pt x="126825" y="322401"/>
                  </a:cubicBezTo>
                  <a:cubicBezTo>
                    <a:pt x="114376" y="322401"/>
                    <a:pt x="101928" y="323321"/>
                    <a:pt x="89940" y="325163"/>
                  </a:cubicBezTo>
                  <a:cubicBezTo>
                    <a:pt x="85330" y="325623"/>
                    <a:pt x="80258" y="324242"/>
                    <a:pt x="77031" y="320559"/>
                  </a:cubicBezTo>
                  <a:cubicBezTo>
                    <a:pt x="73342" y="317336"/>
                    <a:pt x="71959" y="312732"/>
                    <a:pt x="72420" y="307668"/>
                  </a:cubicBezTo>
                  <a:lnTo>
                    <a:pt x="85330" y="192106"/>
                  </a:lnTo>
                  <a:lnTo>
                    <a:pt x="307097" y="275439"/>
                  </a:lnTo>
                  <a:close/>
                  <a:moveTo>
                    <a:pt x="301581" y="1035"/>
                  </a:moveTo>
                  <a:cubicBezTo>
                    <a:pt x="305270" y="-346"/>
                    <a:pt x="308958" y="-346"/>
                    <a:pt x="312185" y="1035"/>
                  </a:cubicBezTo>
                  <a:lnTo>
                    <a:pt x="586508" y="104161"/>
                  </a:lnTo>
                  <a:cubicBezTo>
                    <a:pt x="592502" y="106463"/>
                    <a:pt x="596651" y="111987"/>
                    <a:pt x="596651" y="118433"/>
                  </a:cubicBezTo>
                  <a:cubicBezTo>
                    <a:pt x="596651" y="124878"/>
                    <a:pt x="592502" y="130403"/>
                    <a:pt x="586508" y="132705"/>
                  </a:cubicBezTo>
                  <a:lnTo>
                    <a:pt x="312185" y="235830"/>
                  </a:lnTo>
                  <a:cubicBezTo>
                    <a:pt x="308958" y="237211"/>
                    <a:pt x="305270" y="237211"/>
                    <a:pt x="301581" y="235830"/>
                  </a:cubicBezTo>
                  <a:lnTo>
                    <a:pt x="51233" y="141912"/>
                  </a:lnTo>
                  <a:lnTo>
                    <a:pt x="51233" y="305348"/>
                  </a:lnTo>
                  <a:lnTo>
                    <a:pt x="16654" y="305348"/>
                  </a:lnTo>
                  <a:lnTo>
                    <a:pt x="16654" y="118433"/>
                  </a:lnTo>
                  <a:cubicBezTo>
                    <a:pt x="16654" y="112448"/>
                    <a:pt x="20343" y="106463"/>
                    <a:pt x="26336" y="104161"/>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文本框 12">
              <a:extLst>
                <a:ext uri="{FF2B5EF4-FFF2-40B4-BE49-F238E27FC236}">
                  <a16:creationId xmlns:a16="http://schemas.microsoft.com/office/drawing/2014/main" id="{F783CC5A-9F78-40B3-BA32-EDF67B2FA9C7}"/>
                </a:ext>
              </a:extLst>
            </p:cNvPr>
            <p:cNvSpPr txBox="1"/>
            <p:nvPr/>
          </p:nvSpPr>
          <p:spPr>
            <a:xfrm>
              <a:off x="5732965" y="5782212"/>
              <a:ext cx="1266693" cy="369332"/>
            </a:xfrm>
            <a:prstGeom prst="rect">
              <a:avLst/>
            </a:prstGeom>
            <a:noFill/>
          </p:spPr>
          <p:txBody>
            <a:bodyPr wrap="none" rtlCol="0">
              <a:spAutoFit/>
            </a:bodyPr>
            <a:lstStyle/>
            <a:p>
              <a:r>
                <a:rPr lang="zh-CN" altLang="en-US" dirty="0">
                  <a:latin typeface="思源黑体 CN Bold" panose="020B0800000000000000" pitchFamily="34" charset="-122"/>
                  <a:ea typeface="思源黑体 CN Bold" panose="020B0800000000000000" pitchFamily="34" charset="-122"/>
                </a:rPr>
                <a:t>导师：</a:t>
              </a:r>
              <a:r>
                <a:rPr lang="en-US" altLang="zh-CN" dirty="0">
                  <a:latin typeface="思源黑体 CN Bold" panose="020B0800000000000000" pitchFamily="34" charset="-122"/>
                  <a:ea typeface="思源黑体 CN Bold" panose="020B0800000000000000" pitchFamily="34" charset="-122"/>
                </a:rPr>
                <a:t>xxx</a:t>
              </a:r>
              <a:endParaRPr lang="zh-CN" altLang="en-US" dirty="0">
                <a:latin typeface="思源黑体 CN Bold" panose="020B0800000000000000" pitchFamily="34" charset="-122"/>
                <a:ea typeface="思源黑体 CN Bold" panose="020B0800000000000000" pitchFamily="34" charset="-122"/>
              </a:endParaRPr>
            </a:p>
          </p:txBody>
        </p:sp>
        <p:sp>
          <p:nvSpPr>
            <p:cNvPr id="18" name="teacher_43663">
              <a:extLst>
                <a:ext uri="{FF2B5EF4-FFF2-40B4-BE49-F238E27FC236}">
                  <a16:creationId xmlns:a16="http://schemas.microsoft.com/office/drawing/2014/main" id="{31C8FFF2-4362-4ACF-8BC8-85B13BC44678}"/>
                </a:ext>
              </a:extLst>
            </p:cNvPr>
            <p:cNvSpPr/>
            <p:nvPr/>
          </p:nvSpPr>
          <p:spPr>
            <a:xfrm>
              <a:off x="5493518" y="5793542"/>
              <a:ext cx="239447" cy="278007"/>
            </a:xfrm>
            <a:custGeom>
              <a:avLst/>
              <a:gdLst>
                <a:gd name="connsiteX0" fmla="*/ 166525 w 511059"/>
                <a:gd name="connsiteY0" fmla="*/ 236417 h 593362"/>
                <a:gd name="connsiteX1" fmla="*/ 147863 w 511059"/>
                <a:gd name="connsiteY1" fmla="*/ 300925 h 593362"/>
                <a:gd name="connsiteX2" fmla="*/ 166525 w 511059"/>
                <a:gd name="connsiteY2" fmla="*/ 300925 h 593362"/>
                <a:gd name="connsiteX3" fmla="*/ 338792 w 511059"/>
                <a:gd name="connsiteY3" fmla="*/ 233550 h 593362"/>
                <a:gd name="connsiteX4" fmla="*/ 340227 w 511059"/>
                <a:gd name="connsiteY4" fmla="*/ 300925 h 593362"/>
                <a:gd name="connsiteX5" fmla="*/ 357454 w 511059"/>
                <a:gd name="connsiteY5" fmla="*/ 300925 h 593362"/>
                <a:gd name="connsiteX6" fmla="*/ 225383 w 511059"/>
                <a:gd name="connsiteY6" fmla="*/ 173342 h 593362"/>
                <a:gd name="connsiteX7" fmla="*/ 256965 w 511059"/>
                <a:gd name="connsiteY7" fmla="*/ 209180 h 593362"/>
                <a:gd name="connsiteX8" fmla="*/ 287112 w 511059"/>
                <a:gd name="connsiteY8" fmla="*/ 173342 h 593362"/>
                <a:gd name="connsiteX9" fmla="*/ 374681 w 511059"/>
                <a:gd name="connsiteY9" fmla="*/ 186244 h 593362"/>
                <a:gd name="connsiteX10" fmla="*/ 406263 w 511059"/>
                <a:gd name="connsiteY10" fmla="*/ 300925 h 593362"/>
                <a:gd name="connsiteX11" fmla="*/ 511059 w 511059"/>
                <a:gd name="connsiteY11" fmla="*/ 300925 h 593362"/>
                <a:gd name="connsiteX12" fmla="*/ 511059 w 511059"/>
                <a:gd name="connsiteY12" fmla="*/ 366867 h 593362"/>
                <a:gd name="connsiteX13" fmla="*/ 469428 w 511059"/>
                <a:gd name="connsiteY13" fmla="*/ 366867 h 593362"/>
                <a:gd name="connsiteX14" fmla="*/ 469428 w 511059"/>
                <a:gd name="connsiteY14" fmla="*/ 593362 h 593362"/>
                <a:gd name="connsiteX15" fmla="*/ 41631 w 511059"/>
                <a:gd name="connsiteY15" fmla="*/ 593362 h 593362"/>
                <a:gd name="connsiteX16" fmla="*/ 41631 w 511059"/>
                <a:gd name="connsiteY16" fmla="*/ 366867 h 593362"/>
                <a:gd name="connsiteX17" fmla="*/ 0 w 511059"/>
                <a:gd name="connsiteY17" fmla="*/ 366867 h 593362"/>
                <a:gd name="connsiteX18" fmla="*/ 0 w 511059"/>
                <a:gd name="connsiteY18" fmla="*/ 300925 h 593362"/>
                <a:gd name="connsiteX19" fmla="*/ 101925 w 511059"/>
                <a:gd name="connsiteY19" fmla="*/ 300925 h 593362"/>
                <a:gd name="connsiteX20" fmla="*/ 136378 w 511059"/>
                <a:gd name="connsiteY20" fmla="*/ 184810 h 593362"/>
                <a:gd name="connsiteX21" fmla="*/ 254840 w 511059"/>
                <a:gd name="connsiteY21" fmla="*/ 0 h 593362"/>
                <a:gd name="connsiteX22" fmla="*/ 335879 w 511059"/>
                <a:gd name="connsiteY22" fmla="*/ 81039 h 593362"/>
                <a:gd name="connsiteX23" fmla="*/ 254840 w 511059"/>
                <a:gd name="connsiteY23" fmla="*/ 162078 h 593362"/>
                <a:gd name="connsiteX24" fmla="*/ 173801 w 511059"/>
                <a:gd name="connsiteY24" fmla="*/ 81039 h 593362"/>
                <a:gd name="connsiteX25" fmla="*/ 254840 w 511059"/>
                <a:gd name="connsiteY25" fmla="*/ 0 h 5933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511059" h="593362">
                  <a:moveTo>
                    <a:pt x="166525" y="236417"/>
                  </a:moveTo>
                  <a:lnTo>
                    <a:pt x="147863" y="300925"/>
                  </a:lnTo>
                  <a:lnTo>
                    <a:pt x="166525" y="300925"/>
                  </a:lnTo>
                  <a:close/>
                  <a:moveTo>
                    <a:pt x="338792" y="233550"/>
                  </a:moveTo>
                  <a:lnTo>
                    <a:pt x="340227" y="300925"/>
                  </a:lnTo>
                  <a:lnTo>
                    <a:pt x="357454" y="300925"/>
                  </a:lnTo>
                  <a:close/>
                  <a:moveTo>
                    <a:pt x="225383" y="173342"/>
                  </a:moveTo>
                  <a:lnTo>
                    <a:pt x="256965" y="209180"/>
                  </a:lnTo>
                  <a:lnTo>
                    <a:pt x="287112" y="173342"/>
                  </a:lnTo>
                  <a:lnTo>
                    <a:pt x="374681" y="186244"/>
                  </a:lnTo>
                  <a:lnTo>
                    <a:pt x="406263" y="300925"/>
                  </a:lnTo>
                  <a:lnTo>
                    <a:pt x="511059" y="300925"/>
                  </a:lnTo>
                  <a:lnTo>
                    <a:pt x="511059" y="366867"/>
                  </a:lnTo>
                  <a:lnTo>
                    <a:pt x="469428" y="366867"/>
                  </a:lnTo>
                  <a:lnTo>
                    <a:pt x="469428" y="593362"/>
                  </a:lnTo>
                  <a:lnTo>
                    <a:pt x="41631" y="593362"/>
                  </a:lnTo>
                  <a:lnTo>
                    <a:pt x="41631" y="366867"/>
                  </a:lnTo>
                  <a:lnTo>
                    <a:pt x="0" y="366867"/>
                  </a:lnTo>
                  <a:lnTo>
                    <a:pt x="0" y="300925"/>
                  </a:lnTo>
                  <a:lnTo>
                    <a:pt x="101925" y="300925"/>
                  </a:lnTo>
                  <a:lnTo>
                    <a:pt x="136378" y="184810"/>
                  </a:lnTo>
                  <a:close/>
                  <a:moveTo>
                    <a:pt x="254840" y="0"/>
                  </a:moveTo>
                  <a:cubicBezTo>
                    <a:pt x="299597" y="0"/>
                    <a:pt x="335879" y="36282"/>
                    <a:pt x="335879" y="81039"/>
                  </a:cubicBezTo>
                  <a:cubicBezTo>
                    <a:pt x="335879" y="125796"/>
                    <a:pt x="299597" y="162078"/>
                    <a:pt x="254840" y="162078"/>
                  </a:cubicBezTo>
                  <a:cubicBezTo>
                    <a:pt x="210083" y="162078"/>
                    <a:pt x="173801" y="125796"/>
                    <a:pt x="173801" y="81039"/>
                  </a:cubicBezTo>
                  <a:cubicBezTo>
                    <a:pt x="173801" y="36282"/>
                    <a:pt x="210083" y="0"/>
                    <a:pt x="254840" y="0"/>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文本框 13">
              <a:extLst>
                <a:ext uri="{FF2B5EF4-FFF2-40B4-BE49-F238E27FC236}">
                  <a16:creationId xmlns:a16="http://schemas.microsoft.com/office/drawing/2014/main" id="{CA4A1C14-DBCC-46E2-8265-9653E8B82BB5}"/>
                </a:ext>
              </a:extLst>
            </p:cNvPr>
            <p:cNvSpPr txBox="1"/>
            <p:nvPr/>
          </p:nvSpPr>
          <p:spPr>
            <a:xfrm>
              <a:off x="8811444" y="5782212"/>
              <a:ext cx="2121093" cy="369332"/>
            </a:xfrm>
            <a:prstGeom prst="rect">
              <a:avLst/>
            </a:prstGeom>
            <a:noFill/>
          </p:spPr>
          <p:txBody>
            <a:bodyPr wrap="none" rtlCol="0">
              <a:spAutoFit/>
            </a:bodyPr>
            <a:lstStyle/>
            <a:p>
              <a:r>
                <a:rPr lang="zh-CN" altLang="en-US" dirty="0">
                  <a:latin typeface="思源黑体 CN Bold" panose="020B0800000000000000" pitchFamily="34" charset="-122"/>
                  <a:ea typeface="思源黑体 CN Bold" panose="020B0800000000000000" pitchFamily="34" charset="-122"/>
                </a:rPr>
                <a:t>日期：</a:t>
              </a:r>
              <a:r>
                <a:rPr lang="en-US" altLang="zh-CN" dirty="0">
                  <a:latin typeface="思源黑体 CN Bold" panose="020B0800000000000000" pitchFamily="34" charset="-122"/>
                  <a:ea typeface="思源黑体 CN Bold" panose="020B0800000000000000" pitchFamily="34" charset="-122"/>
                </a:rPr>
                <a:t>2026/xx/xx</a:t>
              </a:r>
              <a:endParaRPr lang="zh-CN" altLang="en-US" dirty="0">
                <a:latin typeface="思源黑体 CN Bold" panose="020B0800000000000000" pitchFamily="34" charset="-122"/>
                <a:ea typeface="思源黑体 CN Bold" panose="020B0800000000000000" pitchFamily="34" charset="-122"/>
              </a:endParaRPr>
            </a:p>
          </p:txBody>
        </p:sp>
        <p:sp>
          <p:nvSpPr>
            <p:cNvPr id="19" name="alarm-clock_221910">
              <a:extLst>
                <a:ext uri="{FF2B5EF4-FFF2-40B4-BE49-F238E27FC236}">
                  <a16:creationId xmlns:a16="http://schemas.microsoft.com/office/drawing/2014/main" id="{2CA792EE-73A9-45E3-9864-8CF57569C3FD}"/>
                </a:ext>
              </a:extLst>
            </p:cNvPr>
            <p:cNvSpPr/>
            <p:nvPr/>
          </p:nvSpPr>
          <p:spPr>
            <a:xfrm>
              <a:off x="8568944" y="5835068"/>
              <a:ext cx="242500" cy="263620"/>
            </a:xfrm>
            <a:custGeom>
              <a:avLst/>
              <a:gdLst>
                <a:gd name="connsiteX0" fmla="*/ 440316 w 536231"/>
                <a:gd name="connsiteY0" fmla="*/ 549437 h 606736"/>
                <a:gd name="connsiteX1" fmla="*/ 464169 w 536231"/>
                <a:gd name="connsiteY1" fmla="*/ 583372 h 606736"/>
                <a:gd name="connsiteX2" fmla="*/ 430704 w 536231"/>
                <a:gd name="connsiteY2" fmla="*/ 606736 h 606736"/>
                <a:gd name="connsiteX3" fmla="*/ 406940 w 536231"/>
                <a:gd name="connsiteY3" fmla="*/ 572801 h 606736"/>
                <a:gd name="connsiteX4" fmla="*/ 440316 w 536231"/>
                <a:gd name="connsiteY4" fmla="*/ 549437 h 606736"/>
                <a:gd name="connsiteX5" fmla="*/ 95960 w 536231"/>
                <a:gd name="connsiteY5" fmla="*/ 549437 h 606736"/>
                <a:gd name="connsiteX6" fmla="*/ 129336 w 536231"/>
                <a:gd name="connsiteY6" fmla="*/ 572801 h 606736"/>
                <a:gd name="connsiteX7" fmla="*/ 105483 w 536231"/>
                <a:gd name="connsiteY7" fmla="*/ 606736 h 606736"/>
                <a:gd name="connsiteX8" fmla="*/ 72107 w 536231"/>
                <a:gd name="connsiteY8" fmla="*/ 583372 h 606736"/>
                <a:gd name="connsiteX9" fmla="*/ 246741 w 536231"/>
                <a:gd name="connsiteY9" fmla="*/ 202650 h 606736"/>
                <a:gd name="connsiteX10" fmla="*/ 246741 w 536231"/>
                <a:gd name="connsiteY10" fmla="*/ 346814 h 606736"/>
                <a:gd name="connsiteX11" fmla="*/ 348828 w 536231"/>
                <a:gd name="connsiteY11" fmla="*/ 448760 h 606736"/>
                <a:gd name="connsiteX12" fmla="*/ 377664 w 536231"/>
                <a:gd name="connsiteY12" fmla="*/ 419962 h 606736"/>
                <a:gd name="connsiteX13" fmla="*/ 287594 w 536231"/>
                <a:gd name="connsiteY13" fmla="*/ 329927 h 606736"/>
                <a:gd name="connsiteX14" fmla="*/ 287594 w 536231"/>
                <a:gd name="connsiteY14" fmla="*/ 202650 h 606736"/>
                <a:gd name="connsiteX15" fmla="*/ 268102 w 536231"/>
                <a:gd name="connsiteY15" fmla="*/ 108614 h 606736"/>
                <a:gd name="connsiteX16" fmla="*/ 498886 w 536231"/>
                <a:gd name="connsiteY16" fmla="*/ 339081 h 606736"/>
                <a:gd name="connsiteX17" fmla="*/ 268102 w 536231"/>
                <a:gd name="connsiteY17" fmla="*/ 569548 h 606736"/>
                <a:gd name="connsiteX18" fmla="*/ 37318 w 536231"/>
                <a:gd name="connsiteY18" fmla="*/ 339081 h 606736"/>
                <a:gd name="connsiteX19" fmla="*/ 268102 w 536231"/>
                <a:gd name="connsiteY19" fmla="*/ 108614 h 606736"/>
                <a:gd name="connsiteX20" fmla="*/ 396984 w 536231"/>
                <a:gd name="connsiteY20" fmla="*/ 1809 h 606736"/>
                <a:gd name="connsiteX21" fmla="*/ 485626 w 536231"/>
                <a:gd name="connsiteY21" fmla="*/ 21426 h 606736"/>
                <a:gd name="connsiteX22" fmla="*/ 514729 w 536231"/>
                <a:gd name="connsiteY22" fmla="*/ 186448 h 606736"/>
                <a:gd name="connsiteX23" fmla="*/ 320356 w 536231"/>
                <a:gd name="connsiteY23" fmla="*/ 50574 h 606736"/>
                <a:gd name="connsiteX24" fmla="*/ 396984 w 536231"/>
                <a:gd name="connsiteY24" fmla="*/ 1809 h 606736"/>
                <a:gd name="connsiteX25" fmla="*/ 139293 w 536231"/>
                <a:gd name="connsiteY25" fmla="*/ 1809 h 606736"/>
                <a:gd name="connsiteX26" fmla="*/ 215849 w 536231"/>
                <a:gd name="connsiteY26" fmla="*/ 50574 h 606736"/>
                <a:gd name="connsiteX27" fmla="*/ 21460 w 536231"/>
                <a:gd name="connsiteY27" fmla="*/ 186448 h 606736"/>
                <a:gd name="connsiteX28" fmla="*/ 50654 w 536231"/>
                <a:gd name="connsiteY28" fmla="*/ 21426 h 606736"/>
                <a:gd name="connsiteX29" fmla="*/ 139293 w 536231"/>
                <a:gd name="connsiteY29" fmla="*/ 1809 h 606736"/>
                <a:gd name="connsiteX30" fmla="*/ 247744 w 536231"/>
                <a:gd name="connsiteY30" fmla="*/ 14 h 606736"/>
                <a:gd name="connsiteX31" fmla="*/ 288531 w 536231"/>
                <a:gd name="connsiteY31" fmla="*/ 14 h 606736"/>
                <a:gd name="connsiteX32" fmla="*/ 288531 w 536231"/>
                <a:gd name="connsiteY32" fmla="*/ 68604 h 606736"/>
                <a:gd name="connsiteX33" fmla="*/ 268138 w 536231"/>
                <a:gd name="connsiteY33" fmla="*/ 67893 h 606736"/>
                <a:gd name="connsiteX34" fmla="*/ 247744 w 536231"/>
                <a:gd name="connsiteY34" fmla="*/ 68604 h 6067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536231" h="606736">
                  <a:moveTo>
                    <a:pt x="440316" y="549437"/>
                  </a:moveTo>
                  <a:lnTo>
                    <a:pt x="464169" y="583372"/>
                  </a:lnTo>
                  <a:lnTo>
                    <a:pt x="430704" y="606736"/>
                  </a:lnTo>
                  <a:lnTo>
                    <a:pt x="406940" y="572801"/>
                  </a:lnTo>
                  <a:cubicBezTo>
                    <a:pt x="418689" y="565783"/>
                    <a:pt x="429814" y="557965"/>
                    <a:pt x="440316" y="549437"/>
                  </a:cubicBezTo>
                  <a:close/>
                  <a:moveTo>
                    <a:pt x="95960" y="549437"/>
                  </a:moveTo>
                  <a:cubicBezTo>
                    <a:pt x="106462" y="557965"/>
                    <a:pt x="117587" y="565783"/>
                    <a:pt x="129336" y="572801"/>
                  </a:cubicBezTo>
                  <a:lnTo>
                    <a:pt x="105483" y="606736"/>
                  </a:lnTo>
                  <a:lnTo>
                    <a:pt x="72107" y="583372"/>
                  </a:lnTo>
                  <a:close/>
                  <a:moveTo>
                    <a:pt x="246741" y="202650"/>
                  </a:moveTo>
                  <a:lnTo>
                    <a:pt x="246741" y="346814"/>
                  </a:lnTo>
                  <a:lnTo>
                    <a:pt x="348828" y="448760"/>
                  </a:lnTo>
                  <a:lnTo>
                    <a:pt x="377664" y="419962"/>
                  </a:lnTo>
                  <a:lnTo>
                    <a:pt x="287594" y="329927"/>
                  </a:lnTo>
                  <a:lnTo>
                    <a:pt x="287594" y="202650"/>
                  </a:lnTo>
                  <a:close/>
                  <a:moveTo>
                    <a:pt x="268102" y="108614"/>
                  </a:moveTo>
                  <a:cubicBezTo>
                    <a:pt x="395554" y="108614"/>
                    <a:pt x="498886" y="211804"/>
                    <a:pt x="498886" y="339081"/>
                  </a:cubicBezTo>
                  <a:cubicBezTo>
                    <a:pt x="498886" y="466358"/>
                    <a:pt x="395554" y="569548"/>
                    <a:pt x="268102" y="569548"/>
                  </a:cubicBezTo>
                  <a:cubicBezTo>
                    <a:pt x="140650" y="569548"/>
                    <a:pt x="37318" y="466358"/>
                    <a:pt x="37318" y="339081"/>
                  </a:cubicBezTo>
                  <a:cubicBezTo>
                    <a:pt x="37318" y="211804"/>
                    <a:pt x="140650" y="108614"/>
                    <a:pt x="268102" y="108614"/>
                  </a:cubicBezTo>
                  <a:close/>
                  <a:moveTo>
                    <a:pt x="396984" y="1809"/>
                  </a:moveTo>
                  <a:cubicBezTo>
                    <a:pt x="426887" y="-3456"/>
                    <a:pt x="458793" y="2676"/>
                    <a:pt x="485626" y="21426"/>
                  </a:cubicBezTo>
                  <a:cubicBezTo>
                    <a:pt x="539292" y="59016"/>
                    <a:pt x="552375" y="132863"/>
                    <a:pt x="514729" y="186448"/>
                  </a:cubicBezTo>
                  <a:lnTo>
                    <a:pt x="320356" y="50574"/>
                  </a:lnTo>
                  <a:cubicBezTo>
                    <a:pt x="339179" y="23737"/>
                    <a:pt x="367080" y="7075"/>
                    <a:pt x="396984" y="1809"/>
                  </a:cubicBezTo>
                  <a:close/>
                  <a:moveTo>
                    <a:pt x="139293" y="1809"/>
                  </a:moveTo>
                  <a:cubicBezTo>
                    <a:pt x="169188" y="7075"/>
                    <a:pt x="197069" y="23737"/>
                    <a:pt x="215849" y="50574"/>
                  </a:cubicBezTo>
                  <a:lnTo>
                    <a:pt x="21460" y="186448"/>
                  </a:lnTo>
                  <a:cubicBezTo>
                    <a:pt x="-16100" y="132863"/>
                    <a:pt x="-3105" y="58927"/>
                    <a:pt x="50654" y="21426"/>
                  </a:cubicBezTo>
                  <a:cubicBezTo>
                    <a:pt x="77489" y="2676"/>
                    <a:pt x="109398" y="-3456"/>
                    <a:pt x="139293" y="1809"/>
                  </a:cubicBezTo>
                  <a:close/>
                  <a:moveTo>
                    <a:pt x="247744" y="14"/>
                  </a:moveTo>
                  <a:lnTo>
                    <a:pt x="288531" y="14"/>
                  </a:lnTo>
                  <a:lnTo>
                    <a:pt x="288531" y="68604"/>
                  </a:lnTo>
                  <a:cubicBezTo>
                    <a:pt x="281852" y="68160"/>
                    <a:pt x="274995" y="67893"/>
                    <a:pt x="268138" y="67893"/>
                  </a:cubicBezTo>
                  <a:cubicBezTo>
                    <a:pt x="261280" y="67893"/>
                    <a:pt x="254512" y="68160"/>
                    <a:pt x="247744" y="68604"/>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pic>
        <p:nvPicPr>
          <p:cNvPr id="28" name="图片 27">
            <a:extLst>
              <a:ext uri="{FF2B5EF4-FFF2-40B4-BE49-F238E27FC236}">
                <a16:creationId xmlns:a16="http://schemas.microsoft.com/office/drawing/2014/main" id="{EFC9C6AB-2107-4292-B9C7-DA93CA0876ED}"/>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736740" y="969331"/>
            <a:ext cx="718520" cy="718520"/>
          </a:xfrm>
          <a:prstGeom prst="rect">
            <a:avLst/>
          </a:prstGeom>
        </p:spPr>
      </p:pic>
      <p:sp>
        <p:nvSpPr>
          <p:cNvPr id="21" name="文本框 20">
            <a:extLst>
              <a:ext uri="{FF2B5EF4-FFF2-40B4-BE49-F238E27FC236}">
                <a16:creationId xmlns:a16="http://schemas.microsoft.com/office/drawing/2014/main" id="{B0403E33-DC34-42C7-89BC-FE02C2B4AFC9}"/>
              </a:ext>
            </a:extLst>
          </p:cNvPr>
          <p:cNvSpPr txBox="1"/>
          <p:nvPr/>
        </p:nvSpPr>
        <p:spPr>
          <a:xfrm>
            <a:off x="1177185" y="2328613"/>
            <a:ext cx="9837629" cy="923330"/>
          </a:xfrm>
          <a:prstGeom prst="rect">
            <a:avLst/>
          </a:prstGeom>
          <a:noFill/>
        </p:spPr>
        <p:txBody>
          <a:bodyPr wrap="none" rtlCol="0">
            <a:spAutoFit/>
          </a:bodyPr>
          <a:lstStyle/>
          <a:p>
            <a:pPr algn="ctr"/>
            <a:r>
              <a:rPr lang="zh-CN" altLang="en-US" sz="5400" dirty="0">
                <a:solidFill>
                  <a:schemeClr val="bg1"/>
                </a:solidFill>
                <a:latin typeface="思源黑体 CN Bold" panose="020B0800000000000000" pitchFamily="34" charset="-122"/>
                <a:ea typeface="思源黑体 CN Bold" panose="020B0800000000000000" pitchFamily="34" charset="-122"/>
              </a:rPr>
              <a:t>开题答辩文献汇报通用</a:t>
            </a:r>
            <a:r>
              <a:rPr lang="en-US" altLang="zh-CN" sz="5400" dirty="0">
                <a:solidFill>
                  <a:schemeClr val="bg1"/>
                </a:solidFill>
                <a:latin typeface="思源黑体 CN Bold" panose="020B0800000000000000" pitchFamily="34" charset="-122"/>
                <a:ea typeface="思源黑体 CN Bold" panose="020B0800000000000000" pitchFamily="34" charset="-122"/>
              </a:rPr>
              <a:t>PPT</a:t>
            </a:r>
            <a:r>
              <a:rPr lang="zh-CN" altLang="en-US" sz="5400" dirty="0">
                <a:solidFill>
                  <a:schemeClr val="bg1"/>
                </a:solidFill>
                <a:latin typeface="思源黑体 CN Bold" panose="020B0800000000000000" pitchFamily="34" charset="-122"/>
                <a:ea typeface="思源黑体 CN Bold" panose="020B0800000000000000" pitchFamily="34" charset="-122"/>
              </a:rPr>
              <a:t>模板</a:t>
            </a:r>
          </a:p>
        </p:txBody>
      </p:sp>
      <p:sp>
        <p:nvSpPr>
          <p:cNvPr id="22" name="文本框 21">
            <a:extLst>
              <a:ext uri="{FF2B5EF4-FFF2-40B4-BE49-F238E27FC236}">
                <a16:creationId xmlns:a16="http://schemas.microsoft.com/office/drawing/2014/main" id="{430D0DB0-73AF-493B-A059-9E8C2DC11226}"/>
              </a:ext>
            </a:extLst>
          </p:cNvPr>
          <p:cNvSpPr txBox="1"/>
          <p:nvPr/>
        </p:nvSpPr>
        <p:spPr>
          <a:xfrm>
            <a:off x="1501136" y="3495864"/>
            <a:ext cx="9189724" cy="954107"/>
          </a:xfrm>
          <a:prstGeom prst="rect">
            <a:avLst/>
          </a:prstGeom>
          <a:noFill/>
        </p:spPr>
        <p:txBody>
          <a:bodyPr wrap="square" rtlCol="0">
            <a:spAutoFit/>
          </a:bodyPr>
          <a:lstStyle/>
          <a:p>
            <a:pPr algn="ctr"/>
            <a:r>
              <a:rPr lang="en-US" altLang="zh-CN" sz="2800" dirty="0">
                <a:solidFill>
                  <a:schemeClr val="bg1"/>
                </a:solidFill>
                <a:latin typeface="思源黑体 CN Bold" panose="020B0800000000000000" pitchFamily="34" charset="-122"/>
                <a:ea typeface="思源黑体 CN Bold" panose="020B0800000000000000" pitchFamily="34" charset="-122"/>
              </a:rPr>
              <a:t>PRMT3-mediated arginine methylation of IGF2BP1 promotes oxaliplatin resistance in liver cancer.</a:t>
            </a:r>
          </a:p>
        </p:txBody>
      </p:sp>
      <p:cxnSp>
        <p:nvCxnSpPr>
          <p:cNvPr id="24" name="直接连接符 23">
            <a:extLst>
              <a:ext uri="{FF2B5EF4-FFF2-40B4-BE49-F238E27FC236}">
                <a16:creationId xmlns:a16="http://schemas.microsoft.com/office/drawing/2014/main" id="{2A2161EB-0169-4296-80D1-4E3AA158ACA6}"/>
              </a:ext>
            </a:extLst>
          </p:cNvPr>
          <p:cNvCxnSpPr>
            <a:cxnSpLocks/>
          </p:cNvCxnSpPr>
          <p:nvPr/>
        </p:nvCxnSpPr>
        <p:spPr>
          <a:xfrm>
            <a:off x="1333500" y="3301947"/>
            <a:ext cx="9525000" cy="0"/>
          </a:xfrm>
          <a:prstGeom prst="line">
            <a:avLst/>
          </a:prstGeom>
          <a:ln>
            <a:solidFill>
              <a:schemeClr val="bg1">
                <a:alpha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23858197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 name="图片 19">
            <a:extLst>
              <a:ext uri="{FF2B5EF4-FFF2-40B4-BE49-F238E27FC236}">
                <a16:creationId xmlns:a16="http://schemas.microsoft.com/office/drawing/2014/main" id="{DEEF1C42-C0CA-44EE-9207-FD1A8A79E488}"/>
              </a:ext>
            </a:extLst>
          </p:cNvPr>
          <p:cNvPicPr>
            <a:picLocks noChangeAspect="1"/>
          </p:cNvPicPr>
          <p:nvPr/>
        </p:nvPicPr>
        <p:blipFill rotWithShape="1">
          <a:blip r:embed="rId2"/>
          <a:srcRect t="26466" b="11061"/>
          <a:stretch/>
        </p:blipFill>
        <p:spPr>
          <a:xfrm>
            <a:off x="0" y="1372236"/>
            <a:ext cx="12192000" cy="3801648"/>
          </a:xfrm>
          <a:prstGeom prst="rect">
            <a:avLst/>
          </a:prstGeom>
        </p:spPr>
      </p:pic>
      <p:cxnSp>
        <p:nvCxnSpPr>
          <p:cNvPr id="23" name="直接连接符 22">
            <a:extLst>
              <a:ext uri="{FF2B5EF4-FFF2-40B4-BE49-F238E27FC236}">
                <a16:creationId xmlns:a16="http://schemas.microsoft.com/office/drawing/2014/main" id="{6D88D9DE-9CCF-4F00-882E-E723033C8EC2}"/>
              </a:ext>
            </a:extLst>
          </p:cNvPr>
          <p:cNvCxnSpPr>
            <a:cxnSpLocks/>
          </p:cNvCxnSpPr>
          <p:nvPr/>
        </p:nvCxnSpPr>
        <p:spPr>
          <a:xfrm>
            <a:off x="-1" y="1299490"/>
            <a:ext cx="12192001" cy="0"/>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sp>
        <p:nvSpPr>
          <p:cNvPr id="2" name="矩形 1">
            <a:extLst>
              <a:ext uri="{FF2B5EF4-FFF2-40B4-BE49-F238E27FC236}">
                <a16:creationId xmlns:a16="http://schemas.microsoft.com/office/drawing/2014/main" id="{41287225-8C43-42AF-B9C8-A7100BF0358A}"/>
              </a:ext>
            </a:extLst>
          </p:cNvPr>
          <p:cNvSpPr/>
          <p:nvPr/>
        </p:nvSpPr>
        <p:spPr>
          <a:xfrm>
            <a:off x="-1" y="1372235"/>
            <a:ext cx="12192001" cy="3801648"/>
          </a:xfrm>
          <a:prstGeom prst="rect">
            <a:avLst/>
          </a:prstGeom>
          <a:solidFill>
            <a:schemeClr val="accent1">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 name="文本框 4">
            <a:extLst>
              <a:ext uri="{FF2B5EF4-FFF2-40B4-BE49-F238E27FC236}">
                <a16:creationId xmlns:a16="http://schemas.microsoft.com/office/drawing/2014/main" id="{7FB85967-7F6B-48D0-A5B3-A6F279C471BC}"/>
              </a:ext>
            </a:extLst>
          </p:cNvPr>
          <p:cNvSpPr txBox="1"/>
          <p:nvPr/>
        </p:nvSpPr>
        <p:spPr>
          <a:xfrm>
            <a:off x="918258" y="2210277"/>
            <a:ext cx="10355484" cy="2287614"/>
          </a:xfrm>
          <a:prstGeom prst="rect">
            <a:avLst/>
          </a:prstGeom>
          <a:noFill/>
        </p:spPr>
        <p:txBody>
          <a:bodyPr wrap="square" rtlCol="0">
            <a:spAutoFit/>
          </a:bodyPr>
          <a:lstStyle/>
          <a:p>
            <a:pPr algn="ctr">
              <a:lnSpc>
                <a:spcPct val="110000"/>
              </a:lnSpc>
            </a:pPr>
            <a:r>
              <a:rPr lang="en-US" altLang="zh-CN" sz="4400" dirty="0">
                <a:solidFill>
                  <a:schemeClr val="bg1"/>
                </a:solidFill>
                <a:latin typeface="思源黑体 CN Bold" panose="020B0800000000000000" pitchFamily="34" charset="-122"/>
                <a:ea typeface="思源黑体 CN Bold" panose="020B0800000000000000" pitchFamily="34" charset="-122"/>
              </a:rPr>
              <a:t>PRMT3-mediated arginine methylation of IGF2BP1 promotes oxaliplatin resistance in liver cancer.</a:t>
            </a:r>
          </a:p>
        </p:txBody>
      </p:sp>
      <p:grpSp>
        <p:nvGrpSpPr>
          <p:cNvPr id="3" name="组合 2">
            <a:extLst>
              <a:ext uri="{FF2B5EF4-FFF2-40B4-BE49-F238E27FC236}">
                <a16:creationId xmlns:a16="http://schemas.microsoft.com/office/drawing/2014/main" id="{1826A012-91DD-40A8-9224-540FC55E3F62}"/>
              </a:ext>
            </a:extLst>
          </p:cNvPr>
          <p:cNvGrpSpPr/>
          <p:nvPr/>
        </p:nvGrpSpPr>
        <p:grpSpPr>
          <a:xfrm>
            <a:off x="1470712" y="5862077"/>
            <a:ext cx="9461825" cy="369332"/>
            <a:chOff x="1470712" y="5782212"/>
            <a:chExt cx="9461825" cy="369332"/>
          </a:xfrm>
        </p:grpSpPr>
        <p:sp>
          <p:nvSpPr>
            <p:cNvPr id="11" name="文本框 10">
              <a:extLst>
                <a:ext uri="{FF2B5EF4-FFF2-40B4-BE49-F238E27FC236}">
                  <a16:creationId xmlns:a16="http://schemas.microsoft.com/office/drawing/2014/main" id="{592A2874-3547-4F6D-9F14-1B01DFFE73B0}"/>
                </a:ext>
              </a:extLst>
            </p:cNvPr>
            <p:cNvSpPr txBox="1"/>
            <p:nvPr/>
          </p:nvSpPr>
          <p:spPr>
            <a:xfrm>
              <a:off x="1825606" y="5782212"/>
              <a:ext cx="1497526" cy="369332"/>
            </a:xfrm>
            <a:prstGeom prst="rect">
              <a:avLst/>
            </a:prstGeom>
            <a:noFill/>
          </p:spPr>
          <p:txBody>
            <a:bodyPr wrap="none" rtlCol="0">
              <a:spAutoFit/>
            </a:bodyPr>
            <a:lstStyle/>
            <a:p>
              <a:r>
                <a:rPr lang="zh-CN" altLang="en-US" dirty="0">
                  <a:latin typeface="思源黑体 CN Bold" panose="020B0800000000000000" pitchFamily="34" charset="-122"/>
                  <a:ea typeface="思源黑体 CN Bold" panose="020B0800000000000000" pitchFamily="34" charset="-122"/>
                </a:rPr>
                <a:t>答辩人：</a:t>
              </a:r>
              <a:r>
                <a:rPr lang="en-US" altLang="zh-CN" dirty="0">
                  <a:latin typeface="思源黑体 CN Bold" panose="020B0800000000000000" pitchFamily="34" charset="-122"/>
                  <a:ea typeface="思源黑体 CN Bold" panose="020B0800000000000000" pitchFamily="34" charset="-122"/>
                </a:rPr>
                <a:t>xxx</a:t>
              </a:r>
              <a:endParaRPr lang="zh-CN" altLang="en-US" dirty="0">
                <a:latin typeface="思源黑体 CN Bold" panose="020B0800000000000000" pitchFamily="34" charset="-122"/>
                <a:ea typeface="思源黑体 CN Bold" panose="020B0800000000000000" pitchFamily="34" charset="-122"/>
              </a:endParaRPr>
            </a:p>
          </p:txBody>
        </p:sp>
        <p:sp>
          <p:nvSpPr>
            <p:cNvPr id="17" name="graduate-hat_59495">
              <a:extLst>
                <a:ext uri="{FF2B5EF4-FFF2-40B4-BE49-F238E27FC236}">
                  <a16:creationId xmlns:a16="http://schemas.microsoft.com/office/drawing/2014/main" id="{751ABA52-B13D-4035-A8B8-4F42180E5D61}"/>
                </a:ext>
              </a:extLst>
            </p:cNvPr>
            <p:cNvSpPr/>
            <p:nvPr userDrawn="1"/>
          </p:nvSpPr>
          <p:spPr>
            <a:xfrm>
              <a:off x="1470712" y="5843919"/>
              <a:ext cx="330510" cy="245918"/>
            </a:xfrm>
            <a:custGeom>
              <a:avLst/>
              <a:gdLst>
                <a:gd name="connsiteX0" fmla="*/ 10223 w 596651"/>
                <a:gd name="connsiteY0" fmla="*/ 332075 h 443943"/>
                <a:gd name="connsiteX1" fmla="*/ 57217 w 596651"/>
                <a:gd name="connsiteY1" fmla="*/ 332075 h 443943"/>
                <a:gd name="connsiteX2" fmla="*/ 67353 w 596651"/>
                <a:gd name="connsiteY2" fmla="*/ 427370 h 443943"/>
                <a:gd name="connsiteX3" fmla="*/ 63667 w 596651"/>
                <a:gd name="connsiteY3" fmla="*/ 438879 h 443943"/>
                <a:gd name="connsiteX4" fmla="*/ 52149 w 596651"/>
                <a:gd name="connsiteY4" fmla="*/ 443943 h 443943"/>
                <a:gd name="connsiteX5" fmla="*/ 15291 w 596651"/>
                <a:gd name="connsiteY5" fmla="*/ 443943 h 443943"/>
                <a:gd name="connsiteX6" fmla="*/ 4233 w 596651"/>
                <a:gd name="connsiteY6" fmla="*/ 438879 h 443943"/>
                <a:gd name="connsiteX7" fmla="*/ 87 w 596651"/>
                <a:gd name="connsiteY7" fmla="*/ 427370 h 443943"/>
                <a:gd name="connsiteX8" fmla="*/ 528865 w 596651"/>
                <a:gd name="connsiteY8" fmla="*/ 191185 h 443943"/>
                <a:gd name="connsiteX9" fmla="*/ 541774 w 596651"/>
                <a:gd name="connsiteY9" fmla="*/ 309970 h 443943"/>
                <a:gd name="connsiteX10" fmla="*/ 526559 w 596651"/>
                <a:gd name="connsiteY10" fmla="*/ 325163 h 443943"/>
                <a:gd name="connsiteX11" fmla="*/ 523793 w 596651"/>
                <a:gd name="connsiteY11" fmla="*/ 325163 h 443943"/>
                <a:gd name="connsiteX12" fmla="*/ 486909 w 596651"/>
                <a:gd name="connsiteY12" fmla="*/ 322401 h 443943"/>
                <a:gd name="connsiteX13" fmla="*/ 322773 w 596651"/>
                <a:gd name="connsiteY13" fmla="*/ 399749 h 443943"/>
                <a:gd name="connsiteX14" fmla="*/ 309403 w 596651"/>
                <a:gd name="connsiteY14" fmla="*/ 408036 h 443943"/>
                <a:gd name="connsiteX15" fmla="*/ 304792 w 596651"/>
                <a:gd name="connsiteY15" fmla="*/ 408036 h 443943"/>
                <a:gd name="connsiteX16" fmla="*/ 290960 w 596651"/>
                <a:gd name="connsiteY16" fmla="*/ 399749 h 443943"/>
                <a:gd name="connsiteX17" fmla="*/ 126825 w 596651"/>
                <a:gd name="connsiteY17" fmla="*/ 322401 h 443943"/>
                <a:gd name="connsiteX18" fmla="*/ 89940 w 596651"/>
                <a:gd name="connsiteY18" fmla="*/ 325163 h 443943"/>
                <a:gd name="connsiteX19" fmla="*/ 77031 w 596651"/>
                <a:gd name="connsiteY19" fmla="*/ 320559 h 443943"/>
                <a:gd name="connsiteX20" fmla="*/ 72420 w 596651"/>
                <a:gd name="connsiteY20" fmla="*/ 307668 h 443943"/>
                <a:gd name="connsiteX21" fmla="*/ 85330 w 596651"/>
                <a:gd name="connsiteY21" fmla="*/ 192106 h 443943"/>
                <a:gd name="connsiteX22" fmla="*/ 307097 w 596651"/>
                <a:gd name="connsiteY22" fmla="*/ 275439 h 443943"/>
                <a:gd name="connsiteX23" fmla="*/ 301581 w 596651"/>
                <a:gd name="connsiteY23" fmla="*/ 1035 h 443943"/>
                <a:gd name="connsiteX24" fmla="*/ 312185 w 596651"/>
                <a:gd name="connsiteY24" fmla="*/ 1035 h 443943"/>
                <a:gd name="connsiteX25" fmla="*/ 586508 w 596651"/>
                <a:gd name="connsiteY25" fmla="*/ 104161 h 443943"/>
                <a:gd name="connsiteX26" fmla="*/ 596651 w 596651"/>
                <a:gd name="connsiteY26" fmla="*/ 118433 h 443943"/>
                <a:gd name="connsiteX27" fmla="*/ 586508 w 596651"/>
                <a:gd name="connsiteY27" fmla="*/ 132705 h 443943"/>
                <a:gd name="connsiteX28" fmla="*/ 312185 w 596651"/>
                <a:gd name="connsiteY28" fmla="*/ 235830 h 443943"/>
                <a:gd name="connsiteX29" fmla="*/ 301581 w 596651"/>
                <a:gd name="connsiteY29" fmla="*/ 235830 h 443943"/>
                <a:gd name="connsiteX30" fmla="*/ 51233 w 596651"/>
                <a:gd name="connsiteY30" fmla="*/ 141912 h 443943"/>
                <a:gd name="connsiteX31" fmla="*/ 51233 w 596651"/>
                <a:gd name="connsiteY31" fmla="*/ 305348 h 443943"/>
                <a:gd name="connsiteX32" fmla="*/ 16654 w 596651"/>
                <a:gd name="connsiteY32" fmla="*/ 305348 h 443943"/>
                <a:gd name="connsiteX33" fmla="*/ 16654 w 596651"/>
                <a:gd name="connsiteY33" fmla="*/ 118433 h 443943"/>
                <a:gd name="connsiteX34" fmla="*/ 26336 w 596651"/>
                <a:gd name="connsiteY34" fmla="*/ 104161 h 44394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596651" h="443943">
                  <a:moveTo>
                    <a:pt x="10223" y="332075"/>
                  </a:moveTo>
                  <a:lnTo>
                    <a:pt x="57217" y="332075"/>
                  </a:lnTo>
                  <a:lnTo>
                    <a:pt x="67353" y="427370"/>
                  </a:lnTo>
                  <a:cubicBezTo>
                    <a:pt x="67813" y="431513"/>
                    <a:pt x="66431" y="435656"/>
                    <a:pt x="63667" y="438879"/>
                  </a:cubicBezTo>
                  <a:cubicBezTo>
                    <a:pt x="60902" y="442102"/>
                    <a:pt x="56756" y="443943"/>
                    <a:pt x="52149" y="443943"/>
                  </a:cubicBezTo>
                  <a:lnTo>
                    <a:pt x="15291" y="443943"/>
                  </a:lnTo>
                  <a:cubicBezTo>
                    <a:pt x="11144" y="443943"/>
                    <a:pt x="6998" y="442102"/>
                    <a:pt x="4233" y="438879"/>
                  </a:cubicBezTo>
                  <a:cubicBezTo>
                    <a:pt x="1008" y="435656"/>
                    <a:pt x="-374" y="431513"/>
                    <a:pt x="87" y="427370"/>
                  </a:cubicBezTo>
                  <a:close/>
                  <a:moveTo>
                    <a:pt x="528865" y="191185"/>
                  </a:moveTo>
                  <a:cubicBezTo>
                    <a:pt x="528865" y="191185"/>
                    <a:pt x="541774" y="308588"/>
                    <a:pt x="541774" y="309970"/>
                  </a:cubicBezTo>
                  <a:cubicBezTo>
                    <a:pt x="542235" y="318717"/>
                    <a:pt x="534858" y="325163"/>
                    <a:pt x="526559" y="325163"/>
                  </a:cubicBezTo>
                  <a:cubicBezTo>
                    <a:pt x="526098" y="325163"/>
                    <a:pt x="524715" y="325163"/>
                    <a:pt x="523793" y="325163"/>
                  </a:cubicBezTo>
                  <a:cubicBezTo>
                    <a:pt x="511806" y="323321"/>
                    <a:pt x="499357" y="322401"/>
                    <a:pt x="486909" y="322401"/>
                  </a:cubicBezTo>
                  <a:cubicBezTo>
                    <a:pt x="413140" y="322401"/>
                    <a:pt x="347209" y="353708"/>
                    <a:pt x="322773" y="399749"/>
                  </a:cubicBezTo>
                  <a:cubicBezTo>
                    <a:pt x="320468" y="404813"/>
                    <a:pt x="314935" y="408036"/>
                    <a:pt x="309403" y="408036"/>
                  </a:cubicBezTo>
                  <a:lnTo>
                    <a:pt x="304792" y="408036"/>
                  </a:lnTo>
                  <a:cubicBezTo>
                    <a:pt x="298798" y="408036"/>
                    <a:pt x="293727" y="404813"/>
                    <a:pt x="290960" y="399749"/>
                  </a:cubicBezTo>
                  <a:cubicBezTo>
                    <a:pt x="266524" y="353248"/>
                    <a:pt x="200594" y="322401"/>
                    <a:pt x="126825" y="322401"/>
                  </a:cubicBezTo>
                  <a:cubicBezTo>
                    <a:pt x="114376" y="322401"/>
                    <a:pt x="101928" y="323321"/>
                    <a:pt x="89940" y="325163"/>
                  </a:cubicBezTo>
                  <a:cubicBezTo>
                    <a:pt x="85330" y="325623"/>
                    <a:pt x="80258" y="324242"/>
                    <a:pt x="77031" y="320559"/>
                  </a:cubicBezTo>
                  <a:cubicBezTo>
                    <a:pt x="73342" y="317336"/>
                    <a:pt x="71959" y="312732"/>
                    <a:pt x="72420" y="307668"/>
                  </a:cubicBezTo>
                  <a:lnTo>
                    <a:pt x="85330" y="192106"/>
                  </a:lnTo>
                  <a:lnTo>
                    <a:pt x="307097" y="275439"/>
                  </a:lnTo>
                  <a:close/>
                  <a:moveTo>
                    <a:pt x="301581" y="1035"/>
                  </a:moveTo>
                  <a:cubicBezTo>
                    <a:pt x="305270" y="-346"/>
                    <a:pt x="308958" y="-346"/>
                    <a:pt x="312185" y="1035"/>
                  </a:cubicBezTo>
                  <a:lnTo>
                    <a:pt x="586508" y="104161"/>
                  </a:lnTo>
                  <a:cubicBezTo>
                    <a:pt x="592502" y="106463"/>
                    <a:pt x="596651" y="111987"/>
                    <a:pt x="596651" y="118433"/>
                  </a:cubicBezTo>
                  <a:cubicBezTo>
                    <a:pt x="596651" y="124878"/>
                    <a:pt x="592502" y="130403"/>
                    <a:pt x="586508" y="132705"/>
                  </a:cubicBezTo>
                  <a:lnTo>
                    <a:pt x="312185" y="235830"/>
                  </a:lnTo>
                  <a:cubicBezTo>
                    <a:pt x="308958" y="237211"/>
                    <a:pt x="305270" y="237211"/>
                    <a:pt x="301581" y="235830"/>
                  </a:cubicBezTo>
                  <a:lnTo>
                    <a:pt x="51233" y="141912"/>
                  </a:lnTo>
                  <a:lnTo>
                    <a:pt x="51233" y="305348"/>
                  </a:lnTo>
                  <a:lnTo>
                    <a:pt x="16654" y="305348"/>
                  </a:lnTo>
                  <a:lnTo>
                    <a:pt x="16654" y="118433"/>
                  </a:lnTo>
                  <a:cubicBezTo>
                    <a:pt x="16654" y="112448"/>
                    <a:pt x="20343" y="106463"/>
                    <a:pt x="26336" y="104161"/>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文本框 12">
              <a:extLst>
                <a:ext uri="{FF2B5EF4-FFF2-40B4-BE49-F238E27FC236}">
                  <a16:creationId xmlns:a16="http://schemas.microsoft.com/office/drawing/2014/main" id="{F783CC5A-9F78-40B3-BA32-EDF67B2FA9C7}"/>
                </a:ext>
              </a:extLst>
            </p:cNvPr>
            <p:cNvSpPr txBox="1"/>
            <p:nvPr/>
          </p:nvSpPr>
          <p:spPr>
            <a:xfrm>
              <a:off x="5732965" y="5782212"/>
              <a:ext cx="1266693" cy="369332"/>
            </a:xfrm>
            <a:prstGeom prst="rect">
              <a:avLst/>
            </a:prstGeom>
            <a:noFill/>
          </p:spPr>
          <p:txBody>
            <a:bodyPr wrap="none" rtlCol="0">
              <a:spAutoFit/>
            </a:bodyPr>
            <a:lstStyle/>
            <a:p>
              <a:r>
                <a:rPr lang="zh-CN" altLang="en-US" dirty="0">
                  <a:latin typeface="思源黑体 CN Bold" panose="020B0800000000000000" pitchFamily="34" charset="-122"/>
                  <a:ea typeface="思源黑体 CN Bold" panose="020B0800000000000000" pitchFamily="34" charset="-122"/>
                </a:rPr>
                <a:t>导师：</a:t>
              </a:r>
              <a:r>
                <a:rPr lang="en-US" altLang="zh-CN" dirty="0">
                  <a:latin typeface="思源黑体 CN Bold" panose="020B0800000000000000" pitchFamily="34" charset="-122"/>
                  <a:ea typeface="思源黑体 CN Bold" panose="020B0800000000000000" pitchFamily="34" charset="-122"/>
                </a:rPr>
                <a:t>xxx</a:t>
              </a:r>
              <a:endParaRPr lang="zh-CN" altLang="en-US" dirty="0">
                <a:latin typeface="思源黑体 CN Bold" panose="020B0800000000000000" pitchFamily="34" charset="-122"/>
                <a:ea typeface="思源黑体 CN Bold" panose="020B0800000000000000" pitchFamily="34" charset="-122"/>
              </a:endParaRPr>
            </a:p>
          </p:txBody>
        </p:sp>
        <p:sp>
          <p:nvSpPr>
            <p:cNvPr id="18" name="teacher_43663">
              <a:extLst>
                <a:ext uri="{FF2B5EF4-FFF2-40B4-BE49-F238E27FC236}">
                  <a16:creationId xmlns:a16="http://schemas.microsoft.com/office/drawing/2014/main" id="{31C8FFF2-4362-4ACF-8BC8-85B13BC44678}"/>
                </a:ext>
              </a:extLst>
            </p:cNvPr>
            <p:cNvSpPr/>
            <p:nvPr/>
          </p:nvSpPr>
          <p:spPr>
            <a:xfrm>
              <a:off x="5493518" y="5793542"/>
              <a:ext cx="239447" cy="278007"/>
            </a:xfrm>
            <a:custGeom>
              <a:avLst/>
              <a:gdLst>
                <a:gd name="connsiteX0" fmla="*/ 166525 w 511059"/>
                <a:gd name="connsiteY0" fmla="*/ 236417 h 593362"/>
                <a:gd name="connsiteX1" fmla="*/ 147863 w 511059"/>
                <a:gd name="connsiteY1" fmla="*/ 300925 h 593362"/>
                <a:gd name="connsiteX2" fmla="*/ 166525 w 511059"/>
                <a:gd name="connsiteY2" fmla="*/ 300925 h 593362"/>
                <a:gd name="connsiteX3" fmla="*/ 338792 w 511059"/>
                <a:gd name="connsiteY3" fmla="*/ 233550 h 593362"/>
                <a:gd name="connsiteX4" fmla="*/ 340227 w 511059"/>
                <a:gd name="connsiteY4" fmla="*/ 300925 h 593362"/>
                <a:gd name="connsiteX5" fmla="*/ 357454 w 511059"/>
                <a:gd name="connsiteY5" fmla="*/ 300925 h 593362"/>
                <a:gd name="connsiteX6" fmla="*/ 225383 w 511059"/>
                <a:gd name="connsiteY6" fmla="*/ 173342 h 593362"/>
                <a:gd name="connsiteX7" fmla="*/ 256965 w 511059"/>
                <a:gd name="connsiteY7" fmla="*/ 209180 h 593362"/>
                <a:gd name="connsiteX8" fmla="*/ 287112 w 511059"/>
                <a:gd name="connsiteY8" fmla="*/ 173342 h 593362"/>
                <a:gd name="connsiteX9" fmla="*/ 374681 w 511059"/>
                <a:gd name="connsiteY9" fmla="*/ 186244 h 593362"/>
                <a:gd name="connsiteX10" fmla="*/ 406263 w 511059"/>
                <a:gd name="connsiteY10" fmla="*/ 300925 h 593362"/>
                <a:gd name="connsiteX11" fmla="*/ 511059 w 511059"/>
                <a:gd name="connsiteY11" fmla="*/ 300925 h 593362"/>
                <a:gd name="connsiteX12" fmla="*/ 511059 w 511059"/>
                <a:gd name="connsiteY12" fmla="*/ 366867 h 593362"/>
                <a:gd name="connsiteX13" fmla="*/ 469428 w 511059"/>
                <a:gd name="connsiteY13" fmla="*/ 366867 h 593362"/>
                <a:gd name="connsiteX14" fmla="*/ 469428 w 511059"/>
                <a:gd name="connsiteY14" fmla="*/ 593362 h 593362"/>
                <a:gd name="connsiteX15" fmla="*/ 41631 w 511059"/>
                <a:gd name="connsiteY15" fmla="*/ 593362 h 593362"/>
                <a:gd name="connsiteX16" fmla="*/ 41631 w 511059"/>
                <a:gd name="connsiteY16" fmla="*/ 366867 h 593362"/>
                <a:gd name="connsiteX17" fmla="*/ 0 w 511059"/>
                <a:gd name="connsiteY17" fmla="*/ 366867 h 593362"/>
                <a:gd name="connsiteX18" fmla="*/ 0 w 511059"/>
                <a:gd name="connsiteY18" fmla="*/ 300925 h 593362"/>
                <a:gd name="connsiteX19" fmla="*/ 101925 w 511059"/>
                <a:gd name="connsiteY19" fmla="*/ 300925 h 593362"/>
                <a:gd name="connsiteX20" fmla="*/ 136378 w 511059"/>
                <a:gd name="connsiteY20" fmla="*/ 184810 h 593362"/>
                <a:gd name="connsiteX21" fmla="*/ 254840 w 511059"/>
                <a:gd name="connsiteY21" fmla="*/ 0 h 593362"/>
                <a:gd name="connsiteX22" fmla="*/ 335879 w 511059"/>
                <a:gd name="connsiteY22" fmla="*/ 81039 h 593362"/>
                <a:gd name="connsiteX23" fmla="*/ 254840 w 511059"/>
                <a:gd name="connsiteY23" fmla="*/ 162078 h 593362"/>
                <a:gd name="connsiteX24" fmla="*/ 173801 w 511059"/>
                <a:gd name="connsiteY24" fmla="*/ 81039 h 593362"/>
                <a:gd name="connsiteX25" fmla="*/ 254840 w 511059"/>
                <a:gd name="connsiteY25" fmla="*/ 0 h 5933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511059" h="593362">
                  <a:moveTo>
                    <a:pt x="166525" y="236417"/>
                  </a:moveTo>
                  <a:lnTo>
                    <a:pt x="147863" y="300925"/>
                  </a:lnTo>
                  <a:lnTo>
                    <a:pt x="166525" y="300925"/>
                  </a:lnTo>
                  <a:close/>
                  <a:moveTo>
                    <a:pt x="338792" y="233550"/>
                  </a:moveTo>
                  <a:lnTo>
                    <a:pt x="340227" y="300925"/>
                  </a:lnTo>
                  <a:lnTo>
                    <a:pt x="357454" y="300925"/>
                  </a:lnTo>
                  <a:close/>
                  <a:moveTo>
                    <a:pt x="225383" y="173342"/>
                  </a:moveTo>
                  <a:lnTo>
                    <a:pt x="256965" y="209180"/>
                  </a:lnTo>
                  <a:lnTo>
                    <a:pt x="287112" y="173342"/>
                  </a:lnTo>
                  <a:lnTo>
                    <a:pt x="374681" y="186244"/>
                  </a:lnTo>
                  <a:lnTo>
                    <a:pt x="406263" y="300925"/>
                  </a:lnTo>
                  <a:lnTo>
                    <a:pt x="511059" y="300925"/>
                  </a:lnTo>
                  <a:lnTo>
                    <a:pt x="511059" y="366867"/>
                  </a:lnTo>
                  <a:lnTo>
                    <a:pt x="469428" y="366867"/>
                  </a:lnTo>
                  <a:lnTo>
                    <a:pt x="469428" y="593362"/>
                  </a:lnTo>
                  <a:lnTo>
                    <a:pt x="41631" y="593362"/>
                  </a:lnTo>
                  <a:lnTo>
                    <a:pt x="41631" y="366867"/>
                  </a:lnTo>
                  <a:lnTo>
                    <a:pt x="0" y="366867"/>
                  </a:lnTo>
                  <a:lnTo>
                    <a:pt x="0" y="300925"/>
                  </a:lnTo>
                  <a:lnTo>
                    <a:pt x="101925" y="300925"/>
                  </a:lnTo>
                  <a:lnTo>
                    <a:pt x="136378" y="184810"/>
                  </a:lnTo>
                  <a:close/>
                  <a:moveTo>
                    <a:pt x="254840" y="0"/>
                  </a:moveTo>
                  <a:cubicBezTo>
                    <a:pt x="299597" y="0"/>
                    <a:pt x="335879" y="36282"/>
                    <a:pt x="335879" y="81039"/>
                  </a:cubicBezTo>
                  <a:cubicBezTo>
                    <a:pt x="335879" y="125796"/>
                    <a:pt x="299597" y="162078"/>
                    <a:pt x="254840" y="162078"/>
                  </a:cubicBezTo>
                  <a:cubicBezTo>
                    <a:pt x="210083" y="162078"/>
                    <a:pt x="173801" y="125796"/>
                    <a:pt x="173801" y="81039"/>
                  </a:cubicBezTo>
                  <a:cubicBezTo>
                    <a:pt x="173801" y="36282"/>
                    <a:pt x="210083" y="0"/>
                    <a:pt x="254840" y="0"/>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文本框 13">
              <a:extLst>
                <a:ext uri="{FF2B5EF4-FFF2-40B4-BE49-F238E27FC236}">
                  <a16:creationId xmlns:a16="http://schemas.microsoft.com/office/drawing/2014/main" id="{CA4A1C14-DBCC-46E2-8265-9653E8B82BB5}"/>
                </a:ext>
              </a:extLst>
            </p:cNvPr>
            <p:cNvSpPr txBox="1"/>
            <p:nvPr/>
          </p:nvSpPr>
          <p:spPr>
            <a:xfrm>
              <a:off x="8811444" y="5782212"/>
              <a:ext cx="2121093" cy="369332"/>
            </a:xfrm>
            <a:prstGeom prst="rect">
              <a:avLst/>
            </a:prstGeom>
            <a:noFill/>
          </p:spPr>
          <p:txBody>
            <a:bodyPr wrap="none" rtlCol="0">
              <a:spAutoFit/>
            </a:bodyPr>
            <a:lstStyle/>
            <a:p>
              <a:r>
                <a:rPr lang="zh-CN" altLang="en-US" dirty="0">
                  <a:latin typeface="思源黑体 CN Bold" panose="020B0800000000000000" pitchFamily="34" charset="-122"/>
                  <a:ea typeface="思源黑体 CN Bold" panose="020B0800000000000000" pitchFamily="34" charset="-122"/>
                </a:rPr>
                <a:t>日期：</a:t>
              </a:r>
              <a:r>
                <a:rPr lang="en-US" altLang="zh-CN" dirty="0">
                  <a:latin typeface="思源黑体 CN Bold" panose="020B0800000000000000" pitchFamily="34" charset="-122"/>
                  <a:ea typeface="思源黑体 CN Bold" panose="020B0800000000000000" pitchFamily="34" charset="-122"/>
                </a:rPr>
                <a:t>2026/xx/xx</a:t>
              </a:r>
              <a:endParaRPr lang="zh-CN" altLang="en-US" dirty="0">
                <a:latin typeface="思源黑体 CN Bold" panose="020B0800000000000000" pitchFamily="34" charset="-122"/>
                <a:ea typeface="思源黑体 CN Bold" panose="020B0800000000000000" pitchFamily="34" charset="-122"/>
              </a:endParaRPr>
            </a:p>
          </p:txBody>
        </p:sp>
        <p:sp>
          <p:nvSpPr>
            <p:cNvPr id="19" name="alarm-clock_221910">
              <a:extLst>
                <a:ext uri="{FF2B5EF4-FFF2-40B4-BE49-F238E27FC236}">
                  <a16:creationId xmlns:a16="http://schemas.microsoft.com/office/drawing/2014/main" id="{2CA792EE-73A9-45E3-9864-8CF57569C3FD}"/>
                </a:ext>
              </a:extLst>
            </p:cNvPr>
            <p:cNvSpPr/>
            <p:nvPr/>
          </p:nvSpPr>
          <p:spPr>
            <a:xfrm>
              <a:off x="8568944" y="5835068"/>
              <a:ext cx="242500" cy="263620"/>
            </a:xfrm>
            <a:custGeom>
              <a:avLst/>
              <a:gdLst>
                <a:gd name="connsiteX0" fmla="*/ 440316 w 536231"/>
                <a:gd name="connsiteY0" fmla="*/ 549437 h 606736"/>
                <a:gd name="connsiteX1" fmla="*/ 464169 w 536231"/>
                <a:gd name="connsiteY1" fmla="*/ 583372 h 606736"/>
                <a:gd name="connsiteX2" fmla="*/ 430704 w 536231"/>
                <a:gd name="connsiteY2" fmla="*/ 606736 h 606736"/>
                <a:gd name="connsiteX3" fmla="*/ 406940 w 536231"/>
                <a:gd name="connsiteY3" fmla="*/ 572801 h 606736"/>
                <a:gd name="connsiteX4" fmla="*/ 440316 w 536231"/>
                <a:gd name="connsiteY4" fmla="*/ 549437 h 606736"/>
                <a:gd name="connsiteX5" fmla="*/ 95960 w 536231"/>
                <a:gd name="connsiteY5" fmla="*/ 549437 h 606736"/>
                <a:gd name="connsiteX6" fmla="*/ 129336 w 536231"/>
                <a:gd name="connsiteY6" fmla="*/ 572801 h 606736"/>
                <a:gd name="connsiteX7" fmla="*/ 105483 w 536231"/>
                <a:gd name="connsiteY7" fmla="*/ 606736 h 606736"/>
                <a:gd name="connsiteX8" fmla="*/ 72107 w 536231"/>
                <a:gd name="connsiteY8" fmla="*/ 583372 h 606736"/>
                <a:gd name="connsiteX9" fmla="*/ 246741 w 536231"/>
                <a:gd name="connsiteY9" fmla="*/ 202650 h 606736"/>
                <a:gd name="connsiteX10" fmla="*/ 246741 w 536231"/>
                <a:gd name="connsiteY10" fmla="*/ 346814 h 606736"/>
                <a:gd name="connsiteX11" fmla="*/ 348828 w 536231"/>
                <a:gd name="connsiteY11" fmla="*/ 448760 h 606736"/>
                <a:gd name="connsiteX12" fmla="*/ 377664 w 536231"/>
                <a:gd name="connsiteY12" fmla="*/ 419962 h 606736"/>
                <a:gd name="connsiteX13" fmla="*/ 287594 w 536231"/>
                <a:gd name="connsiteY13" fmla="*/ 329927 h 606736"/>
                <a:gd name="connsiteX14" fmla="*/ 287594 w 536231"/>
                <a:gd name="connsiteY14" fmla="*/ 202650 h 606736"/>
                <a:gd name="connsiteX15" fmla="*/ 268102 w 536231"/>
                <a:gd name="connsiteY15" fmla="*/ 108614 h 606736"/>
                <a:gd name="connsiteX16" fmla="*/ 498886 w 536231"/>
                <a:gd name="connsiteY16" fmla="*/ 339081 h 606736"/>
                <a:gd name="connsiteX17" fmla="*/ 268102 w 536231"/>
                <a:gd name="connsiteY17" fmla="*/ 569548 h 606736"/>
                <a:gd name="connsiteX18" fmla="*/ 37318 w 536231"/>
                <a:gd name="connsiteY18" fmla="*/ 339081 h 606736"/>
                <a:gd name="connsiteX19" fmla="*/ 268102 w 536231"/>
                <a:gd name="connsiteY19" fmla="*/ 108614 h 606736"/>
                <a:gd name="connsiteX20" fmla="*/ 396984 w 536231"/>
                <a:gd name="connsiteY20" fmla="*/ 1809 h 606736"/>
                <a:gd name="connsiteX21" fmla="*/ 485626 w 536231"/>
                <a:gd name="connsiteY21" fmla="*/ 21426 h 606736"/>
                <a:gd name="connsiteX22" fmla="*/ 514729 w 536231"/>
                <a:gd name="connsiteY22" fmla="*/ 186448 h 606736"/>
                <a:gd name="connsiteX23" fmla="*/ 320356 w 536231"/>
                <a:gd name="connsiteY23" fmla="*/ 50574 h 606736"/>
                <a:gd name="connsiteX24" fmla="*/ 396984 w 536231"/>
                <a:gd name="connsiteY24" fmla="*/ 1809 h 606736"/>
                <a:gd name="connsiteX25" fmla="*/ 139293 w 536231"/>
                <a:gd name="connsiteY25" fmla="*/ 1809 h 606736"/>
                <a:gd name="connsiteX26" fmla="*/ 215849 w 536231"/>
                <a:gd name="connsiteY26" fmla="*/ 50574 h 606736"/>
                <a:gd name="connsiteX27" fmla="*/ 21460 w 536231"/>
                <a:gd name="connsiteY27" fmla="*/ 186448 h 606736"/>
                <a:gd name="connsiteX28" fmla="*/ 50654 w 536231"/>
                <a:gd name="connsiteY28" fmla="*/ 21426 h 606736"/>
                <a:gd name="connsiteX29" fmla="*/ 139293 w 536231"/>
                <a:gd name="connsiteY29" fmla="*/ 1809 h 606736"/>
                <a:gd name="connsiteX30" fmla="*/ 247744 w 536231"/>
                <a:gd name="connsiteY30" fmla="*/ 14 h 606736"/>
                <a:gd name="connsiteX31" fmla="*/ 288531 w 536231"/>
                <a:gd name="connsiteY31" fmla="*/ 14 h 606736"/>
                <a:gd name="connsiteX32" fmla="*/ 288531 w 536231"/>
                <a:gd name="connsiteY32" fmla="*/ 68604 h 606736"/>
                <a:gd name="connsiteX33" fmla="*/ 268138 w 536231"/>
                <a:gd name="connsiteY33" fmla="*/ 67893 h 606736"/>
                <a:gd name="connsiteX34" fmla="*/ 247744 w 536231"/>
                <a:gd name="connsiteY34" fmla="*/ 68604 h 6067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536231" h="606736">
                  <a:moveTo>
                    <a:pt x="440316" y="549437"/>
                  </a:moveTo>
                  <a:lnTo>
                    <a:pt x="464169" y="583372"/>
                  </a:lnTo>
                  <a:lnTo>
                    <a:pt x="430704" y="606736"/>
                  </a:lnTo>
                  <a:lnTo>
                    <a:pt x="406940" y="572801"/>
                  </a:lnTo>
                  <a:cubicBezTo>
                    <a:pt x="418689" y="565783"/>
                    <a:pt x="429814" y="557965"/>
                    <a:pt x="440316" y="549437"/>
                  </a:cubicBezTo>
                  <a:close/>
                  <a:moveTo>
                    <a:pt x="95960" y="549437"/>
                  </a:moveTo>
                  <a:cubicBezTo>
                    <a:pt x="106462" y="557965"/>
                    <a:pt x="117587" y="565783"/>
                    <a:pt x="129336" y="572801"/>
                  </a:cubicBezTo>
                  <a:lnTo>
                    <a:pt x="105483" y="606736"/>
                  </a:lnTo>
                  <a:lnTo>
                    <a:pt x="72107" y="583372"/>
                  </a:lnTo>
                  <a:close/>
                  <a:moveTo>
                    <a:pt x="246741" y="202650"/>
                  </a:moveTo>
                  <a:lnTo>
                    <a:pt x="246741" y="346814"/>
                  </a:lnTo>
                  <a:lnTo>
                    <a:pt x="348828" y="448760"/>
                  </a:lnTo>
                  <a:lnTo>
                    <a:pt x="377664" y="419962"/>
                  </a:lnTo>
                  <a:lnTo>
                    <a:pt x="287594" y="329927"/>
                  </a:lnTo>
                  <a:lnTo>
                    <a:pt x="287594" y="202650"/>
                  </a:lnTo>
                  <a:close/>
                  <a:moveTo>
                    <a:pt x="268102" y="108614"/>
                  </a:moveTo>
                  <a:cubicBezTo>
                    <a:pt x="395554" y="108614"/>
                    <a:pt x="498886" y="211804"/>
                    <a:pt x="498886" y="339081"/>
                  </a:cubicBezTo>
                  <a:cubicBezTo>
                    <a:pt x="498886" y="466358"/>
                    <a:pt x="395554" y="569548"/>
                    <a:pt x="268102" y="569548"/>
                  </a:cubicBezTo>
                  <a:cubicBezTo>
                    <a:pt x="140650" y="569548"/>
                    <a:pt x="37318" y="466358"/>
                    <a:pt x="37318" y="339081"/>
                  </a:cubicBezTo>
                  <a:cubicBezTo>
                    <a:pt x="37318" y="211804"/>
                    <a:pt x="140650" y="108614"/>
                    <a:pt x="268102" y="108614"/>
                  </a:cubicBezTo>
                  <a:close/>
                  <a:moveTo>
                    <a:pt x="396984" y="1809"/>
                  </a:moveTo>
                  <a:cubicBezTo>
                    <a:pt x="426887" y="-3456"/>
                    <a:pt x="458793" y="2676"/>
                    <a:pt x="485626" y="21426"/>
                  </a:cubicBezTo>
                  <a:cubicBezTo>
                    <a:pt x="539292" y="59016"/>
                    <a:pt x="552375" y="132863"/>
                    <a:pt x="514729" y="186448"/>
                  </a:cubicBezTo>
                  <a:lnTo>
                    <a:pt x="320356" y="50574"/>
                  </a:lnTo>
                  <a:cubicBezTo>
                    <a:pt x="339179" y="23737"/>
                    <a:pt x="367080" y="7075"/>
                    <a:pt x="396984" y="1809"/>
                  </a:cubicBezTo>
                  <a:close/>
                  <a:moveTo>
                    <a:pt x="139293" y="1809"/>
                  </a:moveTo>
                  <a:cubicBezTo>
                    <a:pt x="169188" y="7075"/>
                    <a:pt x="197069" y="23737"/>
                    <a:pt x="215849" y="50574"/>
                  </a:cubicBezTo>
                  <a:lnTo>
                    <a:pt x="21460" y="186448"/>
                  </a:lnTo>
                  <a:cubicBezTo>
                    <a:pt x="-16100" y="132863"/>
                    <a:pt x="-3105" y="58927"/>
                    <a:pt x="50654" y="21426"/>
                  </a:cubicBezTo>
                  <a:cubicBezTo>
                    <a:pt x="77489" y="2676"/>
                    <a:pt x="109398" y="-3456"/>
                    <a:pt x="139293" y="1809"/>
                  </a:cubicBezTo>
                  <a:close/>
                  <a:moveTo>
                    <a:pt x="247744" y="14"/>
                  </a:moveTo>
                  <a:lnTo>
                    <a:pt x="288531" y="14"/>
                  </a:lnTo>
                  <a:lnTo>
                    <a:pt x="288531" y="68604"/>
                  </a:lnTo>
                  <a:cubicBezTo>
                    <a:pt x="281852" y="68160"/>
                    <a:pt x="274995" y="67893"/>
                    <a:pt x="268138" y="67893"/>
                  </a:cubicBezTo>
                  <a:cubicBezTo>
                    <a:pt x="261280" y="67893"/>
                    <a:pt x="254512" y="68160"/>
                    <a:pt x="247744" y="68604"/>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22" name="流程图: 接点 21">
            <a:extLst>
              <a:ext uri="{FF2B5EF4-FFF2-40B4-BE49-F238E27FC236}">
                <a16:creationId xmlns:a16="http://schemas.microsoft.com/office/drawing/2014/main" id="{1BAEDF04-A857-45F7-873D-B659C6EE7EEF}"/>
              </a:ext>
            </a:extLst>
          </p:cNvPr>
          <p:cNvSpPr/>
          <p:nvPr/>
        </p:nvSpPr>
        <p:spPr>
          <a:xfrm>
            <a:off x="5695157" y="927748"/>
            <a:ext cx="801687" cy="801687"/>
          </a:xfrm>
          <a:prstGeom prst="flowChartConnector">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24" name="图片 23">
            <a:extLst>
              <a:ext uri="{FF2B5EF4-FFF2-40B4-BE49-F238E27FC236}">
                <a16:creationId xmlns:a16="http://schemas.microsoft.com/office/drawing/2014/main" id="{DED4F681-E374-428C-B934-B65B9699A056}"/>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736740" y="969331"/>
            <a:ext cx="718520" cy="718520"/>
          </a:xfrm>
          <a:prstGeom prst="rect">
            <a:avLst/>
          </a:prstGeom>
        </p:spPr>
      </p:pic>
    </p:spTree>
    <p:extLst>
      <p:ext uri="{BB962C8B-B14F-4D97-AF65-F5344CB8AC3E}">
        <p14:creationId xmlns:p14="http://schemas.microsoft.com/office/powerpoint/2010/main" val="147610562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5" name="矩形 154">
            <a:extLst>
              <a:ext uri="{FF2B5EF4-FFF2-40B4-BE49-F238E27FC236}">
                <a16:creationId xmlns:a16="http://schemas.microsoft.com/office/drawing/2014/main" id="{C2CA6011-6896-4874-800D-6397A6F5DCE6}"/>
              </a:ext>
            </a:extLst>
          </p:cNvPr>
          <p:cNvSpPr/>
          <p:nvPr/>
        </p:nvSpPr>
        <p:spPr>
          <a:xfrm>
            <a:off x="-1" y="0"/>
            <a:ext cx="5191761"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8" name="矩形 37">
            <a:extLst>
              <a:ext uri="{FF2B5EF4-FFF2-40B4-BE49-F238E27FC236}">
                <a16:creationId xmlns:a16="http://schemas.microsoft.com/office/drawing/2014/main" id="{9D4276D1-0836-43B5-A00A-3DEAF42BCCA7}"/>
              </a:ext>
            </a:extLst>
          </p:cNvPr>
          <p:cNvSpPr/>
          <p:nvPr/>
        </p:nvSpPr>
        <p:spPr>
          <a:xfrm>
            <a:off x="529796" y="1362917"/>
            <a:ext cx="4132166" cy="4132166"/>
          </a:xfrm>
          <a:prstGeom prst="rect">
            <a:avLst/>
          </a:prstGeom>
          <a:blipFill dpi="0" rotWithShape="1">
            <a:blip r:embed="rId2">
              <a:alphaModFix amt="5000"/>
            </a:blip>
            <a:srcRect/>
            <a:stretch>
              <a:fillRect/>
            </a:stretch>
          </a:blip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4" name="文本框 163">
            <a:extLst>
              <a:ext uri="{FF2B5EF4-FFF2-40B4-BE49-F238E27FC236}">
                <a16:creationId xmlns:a16="http://schemas.microsoft.com/office/drawing/2014/main" id="{2974BA8B-1D23-40DC-AACC-D36E521982F4}"/>
              </a:ext>
            </a:extLst>
          </p:cNvPr>
          <p:cNvSpPr txBox="1"/>
          <p:nvPr/>
        </p:nvSpPr>
        <p:spPr>
          <a:xfrm>
            <a:off x="1375032" y="2705725"/>
            <a:ext cx="2441694" cy="1446550"/>
          </a:xfrm>
          <a:prstGeom prst="rect">
            <a:avLst/>
          </a:prstGeom>
          <a:noFill/>
        </p:spPr>
        <p:txBody>
          <a:bodyPr wrap="none" rtlCol="0">
            <a:spAutoFit/>
          </a:bodyPr>
          <a:lstStyle/>
          <a:p>
            <a:r>
              <a:rPr lang="zh-CN" altLang="en-US" sz="8800" dirty="0">
                <a:solidFill>
                  <a:schemeClr val="bg1"/>
                </a:solidFill>
                <a:latin typeface="思源黑体 CN Bold" panose="020B0800000000000000" pitchFamily="34" charset="-122"/>
                <a:ea typeface="思源黑体 CN Bold" panose="020B0800000000000000" pitchFamily="34" charset="-122"/>
              </a:rPr>
              <a:t>目录</a:t>
            </a:r>
          </a:p>
        </p:txBody>
      </p:sp>
      <p:sp>
        <p:nvSpPr>
          <p:cNvPr id="180" name="文本框 179">
            <a:extLst>
              <a:ext uri="{FF2B5EF4-FFF2-40B4-BE49-F238E27FC236}">
                <a16:creationId xmlns:a16="http://schemas.microsoft.com/office/drawing/2014/main" id="{A651CCD4-21E3-462F-9E21-7E5E13600E07}"/>
              </a:ext>
            </a:extLst>
          </p:cNvPr>
          <p:cNvSpPr txBox="1"/>
          <p:nvPr/>
        </p:nvSpPr>
        <p:spPr>
          <a:xfrm>
            <a:off x="6487860" y="1409601"/>
            <a:ext cx="809837" cy="707886"/>
          </a:xfrm>
          <a:prstGeom prst="rect">
            <a:avLst/>
          </a:prstGeom>
          <a:noFill/>
        </p:spPr>
        <p:txBody>
          <a:bodyPr wrap="none" rtlCol="0">
            <a:spAutoFit/>
          </a:bodyPr>
          <a:lstStyle/>
          <a:p>
            <a:r>
              <a:rPr lang="en-US" altLang="zh-CN" sz="4000" dirty="0">
                <a:solidFill>
                  <a:schemeClr val="accent1"/>
                </a:solidFill>
                <a:latin typeface="思源黑体 CN Heavy" panose="020B0A00000000000000" pitchFamily="34" charset="-122"/>
                <a:ea typeface="思源黑体 CN Heavy" panose="020B0A00000000000000" pitchFamily="34" charset="-122"/>
              </a:rPr>
              <a:t>01</a:t>
            </a:r>
            <a:endParaRPr lang="zh-CN" altLang="en-US" sz="4000" dirty="0">
              <a:solidFill>
                <a:schemeClr val="accent1"/>
              </a:solidFill>
              <a:latin typeface="思源黑体 CN Heavy" panose="020B0A00000000000000" pitchFamily="34" charset="-122"/>
              <a:ea typeface="思源黑体 CN Heavy" panose="020B0A00000000000000" pitchFamily="34" charset="-122"/>
            </a:endParaRPr>
          </a:p>
        </p:txBody>
      </p:sp>
      <p:sp>
        <p:nvSpPr>
          <p:cNvPr id="181" name="文本框 180">
            <a:extLst>
              <a:ext uri="{FF2B5EF4-FFF2-40B4-BE49-F238E27FC236}">
                <a16:creationId xmlns:a16="http://schemas.microsoft.com/office/drawing/2014/main" id="{C1FD39B7-1DC0-4C32-B470-5F7315FE9ED9}"/>
              </a:ext>
            </a:extLst>
          </p:cNvPr>
          <p:cNvSpPr txBox="1"/>
          <p:nvPr/>
        </p:nvSpPr>
        <p:spPr>
          <a:xfrm>
            <a:off x="7275255" y="1501934"/>
            <a:ext cx="2698175" cy="523220"/>
          </a:xfrm>
          <a:prstGeom prst="rect">
            <a:avLst/>
          </a:prstGeom>
          <a:noFill/>
        </p:spPr>
        <p:txBody>
          <a:bodyPr wrap="none" rtlCol="0">
            <a:spAutoFit/>
          </a:bodyPr>
          <a:lstStyle/>
          <a:p>
            <a:r>
              <a:rPr lang="zh-CN" altLang="en-US" sz="2800" dirty="0">
                <a:latin typeface="思源黑体 CN Bold" panose="020B0800000000000000" pitchFamily="34" charset="-122"/>
                <a:ea typeface="思源黑体 CN Bold" panose="020B0800000000000000" pitchFamily="34" charset="-122"/>
              </a:rPr>
              <a:t>研究背景及现状</a:t>
            </a:r>
          </a:p>
        </p:txBody>
      </p:sp>
      <p:sp>
        <p:nvSpPr>
          <p:cNvPr id="259" name="文本框 258">
            <a:extLst>
              <a:ext uri="{FF2B5EF4-FFF2-40B4-BE49-F238E27FC236}">
                <a16:creationId xmlns:a16="http://schemas.microsoft.com/office/drawing/2014/main" id="{5D0022BE-CDEA-4C97-883B-DEC56661BAFB}"/>
              </a:ext>
            </a:extLst>
          </p:cNvPr>
          <p:cNvSpPr txBox="1"/>
          <p:nvPr/>
        </p:nvSpPr>
        <p:spPr>
          <a:xfrm>
            <a:off x="6487860" y="2287763"/>
            <a:ext cx="809837" cy="707886"/>
          </a:xfrm>
          <a:prstGeom prst="rect">
            <a:avLst/>
          </a:prstGeom>
          <a:noFill/>
        </p:spPr>
        <p:txBody>
          <a:bodyPr wrap="none" rtlCol="0">
            <a:spAutoFit/>
          </a:bodyPr>
          <a:lstStyle/>
          <a:p>
            <a:r>
              <a:rPr lang="en-US" altLang="zh-CN" sz="4000" dirty="0">
                <a:solidFill>
                  <a:schemeClr val="accent1"/>
                </a:solidFill>
                <a:latin typeface="思源黑体 CN Heavy" panose="020B0A00000000000000" pitchFamily="34" charset="-122"/>
                <a:ea typeface="思源黑体 CN Heavy" panose="020B0A00000000000000" pitchFamily="34" charset="-122"/>
              </a:rPr>
              <a:t>02</a:t>
            </a:r>
            <a:endParaRPr lang="zh-CN" altLang="en-US" sz="4000" dirty="0">
              <a:solidFill>
                <a:schemeClr val="accent1"/>
              </a:solidFill>
              <a:latin typeface="思源黑体 CN Heavy" panose="020B0A00000000000000" pitchFamily="34" charset="-122"/>
              <a:ea typeface="思源黑体 CN Heavy" panose="020B0A00000000000000" pitchFamily="34" charset="-122"/>
            </a:endParaRPr>
          </a:p>
        </p:txBody>
      </p:sp>
      <p:sp>
        <p:nvSpPr>
          <p:cNvPr id="260" name="文本框 259">
            <a:extLst>
              <a:ext uri="{FF2B5EF4-FFF2-40B4-BE49-F238E27FC236}">
                <a16:creationId xmlns:a16="http://schemas.microsoft.com/office/drawing/2014/main" id="{6A549DB9-9476-495A-9E36-1DF6780D9AB5}"/>
              </a:ext>
            </a:extLst>
          </p:cNvPr>
          <p:cNvSpPr txBox="1"/>
          <p:nvPr/>
        </p:nvSpPr>
        <p:spPr>
          <a:xfrm>
            <a:off x="7275255" y="2380096"/>
            <a:ext cx="3416320" cy="523220"/>
          </a:xfrm>
          <a:prstGeom prst="rect">
            <a:avLst/>
          </a:prstGeom>
          <a:noFill/>
        </p:spPr>
        <p:txBody>
          <a:bodyPr wrap="none" rtlCol="0">
            <a:spAutoFit/>
          </a:bodyPr>
          <a:lstStyle/>
          <a:p>
            <a:r>
              <a:rPr lang="zh-CN" altLang="en-US" sz="2800" dirty="0">
                <a:latin typeface="思源黑体 CN Bold" panose="020B0800000000000000" pitchFamily="34" charset="-122"/>
                <a:ea typeface="思源黑体 CN Bold" panose="020B0800000000000000" pitchFamily="34" charset="-122"/>
              </a:rPr>
              <a:t>研究目标和研究内容</a:t>
            </a:r>
          </a:p>
        </p:txBody>
      </p:sp>
      <p:sp>
        <p:nvSpPr>
          <p:cNvPr id="263" name="文本框 262">
            <a:extLst>
              <a:ext uri="{FF2B5EF4-FFF2-40B4-BE49-F238E27FC236}">
                <a16:creationId xmlns:a16="http://schemas.microsoft.com/office/drawing/2014/main" id="{2F737359-3EE0-421C-8287-575BE9A4EC17}"/>
              </a:ext>
            </a:extLst>
          </p:cNvPr>
          <p:cNvSpPr txBox="1"/>
          <p:nvPr/>
        </p:nvSpPr>
        <p:spPr>
          <a:xfrm>
            <a:off x="6487860" y="3165925"/>
            <a:ext cx="809837" cy="707886"/>
          </a:xfrm>
          <a:prstGeom prst="rect">
            <a:avLst/>
          </a:prstGeom>
          <a:noFill/>
        </p:spPr>
        <p:txBody>
          <a:bodyPr wrap="none" rtlCol="0">
            <a:spAutoFit/>
          </a:bodyPr>
          <a:lstStyle/>
          <a:p>
            <a:r>
              <a:rPr lang="en-US" altLang="zh-CN" sz="4000" dirty="0">
                <a:solidFill>
                  <a:schemeClr val="accent1"/>
                </a:solidFill>
                <a:latin typeface="思源黑体 CN Heavy" panose="020B0A00000000000000" pitchFamily="34" charset="-122"/>
                <a:ea typeface="思源黑体 CN Heavy" panose="020B0A00000000000000" pitchFamily="34" charset="-122"/>
              </a:rPr>
              <a:t>03</a:t>
            </a:r>
            <a:endParaRPr lang="zh-CN" altLang="en-US" sz="4000" dirty="0">
              <a:solidFill>
                <a:schemeClr val="accent1"/>
              </a:solidFill>
              <a:latin typeface="思源黑体 CN Heavy" panose="020B0A00000000000000" pitchFamily="34" charset="-122"/>
              <a:ea typeface="思源黑体 CN Heavy" panose="020B0A00000000000000" pitchFamily="34" charset="-122"/>
            </a:endParaRPr>
          </a:p>
        </p:txBody>
      </p:sp>
      <p:sp>
        <p:nvSpPr>
          <p:cNvPr id="264" name="文本框 263">
            <a:extLst>
              <a:ext uri="{FF2B5EF4-FFF2-40B4-BE49-F238E27FC236}">
                <a16:creationId xmlns:a16="http://schemas.microsoft.com/office/drawing/2014/main" id="{AF6F239C-1CDF-4D61-8837-F94EB36D3598}"/>
              </a:ext>
            </a:extLst>
          </p:cNvPr>
          <p:cNvSpPr txBox="1"/>
          <p:nvPr/>
        </p:nvSpPr>
        <p:spPr>
          <a:xfrm>
            <a:off x="7275255" y="3258258"/>
            <a:ext cx="2698175" cy="523220"/>
          </a:xfrm>
          <a:prstGeom prst="rect">
            <a:avLst/>
          </a:prstGeom>
          <a:noFill/>
        </p:spPr>
        <p:txBody>
          <a:bodyPr wrap="none" rtlCol="0">
            <a:spAutoFit/>
          </a:bodyPr>
          <a:lstStyle/>
          <a:p>
            <a:r>
              <a:rPr lang="zh-CN" altLang="en-US" sz="2800" dirty="0">
                <a:latin typeface="思源黑体 CN Bold" panose="020B0800000000000000" pitchFamily="34" charset="-122"/>
                <a:ea typeface="思源黑体 CN Bold" panose="020B0800000000000000" pitchFamily="34" charset="-122"/>
              </a:rPr>
              <a:t>研究方法与思路</a:t>
            </a:r>
          </a:p>
        </p:txBody>
      </p:sp>
      <p:sp>
        <p:nvSpPr>
          <p:cNvPr id="267" name="文本框 266">
            <a:extLst>
              <a:ext uri="{FF2B5EF4-FFF2-40B4-BE49-F238E27FC236}">
                <a16:creationId xmlns:a16="http://schemas.microsoft.com/office/drawing/2014/main" id="{EE2B8F3D-F0DA-43C4-A92B-0E6EB2469E6E}"/>
              </a:ext>
            </a:extLst>
          </p:cNvPr>
          <p:cNvSpPr txBox="1"/>
          <p:nvPr/>
        </p:nvSpPr>
        <p:spPr>
          <a:xfrm>
            <a:off x="6487860" y="4044087"/>
            <a:ext cx="809837" cy="707886"/>
          </a:xfrm>
          <a:prstGeom prst="rect">
            <a:avLst/>
          </a:prstGeom>
          <a:noFill/>
        </p:spPr>
        <p:txBody>
          <a:bodyPr wrap="none" rtlCol="0">
            <a:spAutoFit/>
          </a:bodyPr>
          <a:lstStyle/>
          <a:p>
            <a:r>
              <a:rPr lang="en-US" altLang="zh-CN" sz="4000" dirty="0">
                <a:solidFill>
                  <a:schemeClr val="accent1"/>
                </a:solidFill>
                <a:latin typeface="思源黑体 CN Heavy" panose="020B0A00000000000000" pitchFamily="34" charset="-122"/>
                <a:ea typeface="思源黑体 CN Heavy" panose="020B0A00000000000000" pitchFamily="34" charset="-122"/>
              </a:rPr>
              <a:t>04</a:t>
            </a:r>
            <a:endParaRPr lang="zh-CN" altLang="en-US" sz="4000" dirty="0">
              <a:solidFill>
                <a:schemeClr val="accent1"/>
              </a:solidFill>
              <a:latin typeface="思源黑体 CN Heavy" panose="020B0A00000000000000" pitchFamily="34" charset="-122"/>
              <a:ea typeface="思源黑体 CN Heavy" panose="020B0A00000000000000" pitchFamily="34" charset="-122"/>
            </a:endParaRPr>
          </a:p>
        </p:txBody>
      </p:sp>
      <p:sp>
        <p:nvSpPr>
          <p:cNvPr id="268" name="文本框 267">
            <a:extLst>
              <a:ext uri="{FF2B5EF4-FFF2-40B4-BE49-F238E27FC236}">
                <a16:creationId xmlns:a16="http://schemas.microsoft.com/office/drawing/2014/main" id="{098D9AED-FA8E-47B3-96E2-31431805D0FD}"/>
              </a:ext>
            </a:extLst>
          </p:cNvPr>
          <p:cNvSpPr txBox="1"/>
          <p:nvPr/>
        </p:nvSpPr>
        <p:spPr>
          <a:xfrm>
            <a:off x="7275255" y="4136420"/>
            <a:ext cx="3057247" cy="523220"/>
          </a:xfrm>
          <a:prstGeom prst="rect">
            <a:avLst/>
          </a:prstGeom>
          <a:noFill/>
        </p:spPr>
        <p:txBody>
          <a:bodyPr wrap="none" rtlCol="0">
            <a:spAutoFit/>
          </a:bodyPr>
          <a:lstStyle/>
          <a:p>
            <a:r>
              <a:rPr lang="zh-CN" altLang="en-US" sz="2800" dirty="0">
                <a:latin typeface="思源黑体 CN Bold" panose="020B0800000000000000" pitchFamily="34" charset="-122"/>
                <a:ea typeface="思源黑体 CN Bold" panose="020B0800000000000000" pitchFamily="34" charset="-122"/>
              </a:rPr>
              <a:t>关键技术与创新点</a:t>
            </a:r>
          </a:p>
        </p:txBody>
      </p:sp>
      <p:sp>
        <p:nvSpPr>
          <p:cNvPr id="271" name="文本框 270">
            <a:extLst>
              <a:ext uri="{FF2B5EF4-FFF2-40B4-BE49-F238E27FC236}">
                <a16:creationId xmlns:a16="http://schemas.microsoft.com/office/drawing/2014/main" id="{7EBE0905-66DC-4CCA-9AD2-737BCDDFED2D}"/>
              </a:ext>
            </a:extLst>
          </p:cNvPr>
          <p:cNvSpPr txBox="1"/>
          <p:nvPr/>
        </p:nvSpPr>
        <p:spPr>
          <a:xfrm>
            <a:off x="6487860" y="4922249"/>
            <a:ext cx="809837" cy="707886"/>
          </a:xfrm>
          <a:prstGeom prst="rect">
            <a:avLst/>
          </a:prstGeom>
          <a:noFill/>
        </p:spPr>
        <p:txBody>
          <a:bodyPr wrap="none" rtlCol="0">
            <a:spAutoFit/>
          </a:bodyPr>
          <a:lstStyle/>
          <a:p>
            <a:r>
              <a:rPr lang="en-US" altLang="zh-CN" sz="4000" dirty="0">
                <a:solidFill>
                  <a:schemeClr val="accent1"/>
                </a:solidFill>
                <a:latin typeface="思源黑体 CN Heavy" panose="020B0A00000000000000" pitchFamily="34" charset="-122"/>
                <a:ea typeface="思源黑体 CN Heavy" panose="020B0A00000000000000" pitchFamily="34" charset="-122"/>
              </a:rPr>
              <a:t>05</a:t>
            </a:r>
            <a:endParaRPr lang="zh-CN" altLang="en-US" sz="4000" dirty="0">
              <a:solidFill>
                <a:schemeClr val="accent1"/>
              </a:solidFill>
              <a:latin typeface="思源黑体 CN Heavy" panose="020B0A00000000000000" pitchFamily="34" charset="-122"/>
              <a:ea typeface="思源黑体 CN Heavy" panose="020B0A00000000000000" pitchFamily="34" charset="-122"/>
            </a:endParaRPr>
          </a:p>
        </p:txBody>
      </p:sp>
      <p:sp>
        <p:nvSpPr>
          <p:cNvPr id="272" name="文本框 271">
            <a:extLst>
              <a:ext uri="{FF2B5EF4-FFF2-40B4-BE49-F238E27FC236}">
                <a16:creationId xmlns:a16="http://schemas.microsoft.com/office/drawing/2014/main" id="{FFAE6270-CB95-413D-94E6-DB9A94BF576D}"/>
              </a:ext>
            </a:extLst>
          </p:cNvPr>
          <p:cNvSpPr txBox="1"/>
          <p:nvPr/>
        </p:nvSpPr>
        <p:spPr>
          <a:xfrm>
            <a:off x="7275255" y="5014582"/>
            <a:ext cx="4134465" cy="523220"/>
          </a:xfrm>
          <a:prstGeom prst="rect">
            <a:avLst/>
          </a:prstGeom>
          <a:noFill/>
        </p:spPr>
        <p:txBody>
          <a:bodyPr wrap="none" rtlCol="0">
            <a:spAutoFit/>
          </a:bodyPr>
          <a:lstStyle/>
          <a:p>
            <a:r>
              <a:rPr lang="zh-CN" altLang="en-US" sz="2800" dirty="0">
                <a:latin typeface="思源黑体 CN Bold" panose="020B0800000000000000" pitchFamily="34" charset="-122"/>
                <a:ea typeface="思源黑体 CN Bold" panose="020B0800000000000000" pitchFamily="34" charset="-122"/>
              </a:rPr>
              <a:t>已开展工作与可行性分析</a:t>
            </a:r>
          </a:p>
        </p:txBody>
      </p:sp>
      <p:sp>
        <p:nvSpPr>
          <p:cNvPr id="275" name="文本框 274">
            <a:extLst>
              <a:ext uri="{FF2B5EF4-FFF2-40B4-BE49-F238E27FC236}">
                <a16:creationId xmlns:a16="http://schemas.microsoft.com/office/drawing/2014/main" id="{B3CB216E-A2A8-49EF-B477-BF40CE30E4B7}"/>
              </a:ext>
            </a:extLst>
          </p:cNvPr>
          <p:cNvSpPr txBox="1"/>
          <p:nvPr/>
        </p:nvSpPr>
        <p:spPr>
          <a:xfrm>
            <a:off x="6487860" y="5800412"/>
            <a:ext cx="809837" cy="707886"/>
          </a:xfrm>
          <a:prstGeom prst="rect">
            <a:avLst/>
          </a:prstGeom>
          <a:noFill/>
        </p:spPr>
        <p:txBody>
          <a:bodyPr wrap="none" rtlCol="0">
            <a:spAutoFit/>
          </a:bodyPr>
          <a:lstStyle/>
          <a:p>
            <a:r>
              <a:rPr lang="en-US" altLang="zh-CN" sz="4000" dirty="0">
                <a:solidFill>
                  <a:schemeClr val="accent1"/>
                </a:solidFill>
                <a:latin typeface="思源黑体 CN Heavy" panose="020B0A00000000000000" pitchFamily="34" charset="-122"/>
                <a:ea typeface="思源黑体 CN Heavy" panose="020B0A00000000000000" pitchFamily="34" charset="-122"/>
              </a:rPr>
              <a:t>06</a:t>
            </a:r>
            <a:endParaRPr lang="zh-CN" altLang="en-US" sz="4000" dirty="0">
              <a:solidFill>
                <a:schemeClr val="accent1"/>
              </a:solidFill>
              <a:latin typeface="思源黑体 CN Heavy" panose="020B0A00000000000000" pitchFamily="34" charset="-122"/>
              <a:ea typeface="思源黑体 CN Heavy" panose="020B0A00000000000000" pitchFamily="34" charset="-122"/>
            </a:endParaRPr>
          </a:p>
        </p:txBody>
      </p:sp>
      <p:sp>
        <p:nvSpPr>
          <p:cNvPr id="276" name="文本框 275">
            <a:extLst>
              <a:ext uri="{FF2B5EF4-FFF2-40B4-BE49-F238E27FC236}">
                <a16:creationId xmlns:a16="http://schemas.microsoft.com/office/drawing/2014/main" id="{32F1FBD0-62A4-445D-A42B-A13ABC87C262}"/>
              </a:ext>
            </a:extLst>
          </p:cNvPr>
          <p:cNvSpPr txBox="1"/>
          <p:nvPr/>
        </p:nvSpPr>
        <p:spPr>
          <a:xfrm>
            <a:off x="7275255" y="5892745"/>
            <a:ext cx="3416320" cy="523220"/>
          </a:xfrm>
          <a:prstGeom prst="rect">
            <a:avLst/>
          </a:prstGeom>
          <a:noFill/>
        </p:spPr>
        <p:txBody>
          <a:bodyPr wrap="none" rtlCol="0">
            <a:spAutoFit/>
          </a:bodyPr>
          <a:lstStyle/>
          <a:p>
            <a:r>
              <a:rPr lang="zh-CN" altLang="en-US" sz="2800" dirty="0">
                <a:latin typeface="思源黑体 CN Bold" panose="020B0800000000000000" pitchFamily="34" charset="-122"/>
                <a:ea typeface="思源黑体 CN Bold" panose="020B0800000000000000" pitchFamily="34" charset="-122"/>
              </a:rPr>
              <a:t>进度安排及预期成果</a:t>
            </a:r>
          </a:p>
        </p:txBody>
      </p:sp>
    </p:spTree>
    <p:extLst>
      <p:ext uri="{BB962C8B-B14F-4D97-AF65-F5344CB8AC3E}">
        <p14:creationId xmlns:p14="http://schemas.microsoft.com/office/powerpoint/2010/main" val="101787904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2" name="矩形: 圆角 41">
            <a:extLst>
              <a:ext uri="{FF2B5EF4-FFF2-40B4-BE49-F238E27FC236}">
                <a16:creationId xmlns:a16="http://schemas.microsoft.com/office/drawing/2014/main" id="{2AF5A3FE-FCC1-4F98-B5B9-1271B448A81A}"/>
              </a:ext>
            </a:extLst>
          </p:cNvPr>
          <p:cNvSpPr/>
          <p:nvPr/>
        </p:nvSpPr>
        <p:spPr>
          <a:xfrm>
            <a:off x="2389111" y="6024679"/>
            <a:ext cx="9467927" cy="577402"/>
          </a:xfrm>
          <a:prstGeom prst="roundRect">
            <a:avLst>
              <a:gd name="adj" fmla="val 11608"/>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6" name="矩形: 圆角 45">
            <a:extLst>
              <a:ext uri="{FF2B5EF4-FFF2-40B4-BE49-F238E27FC236}">
                <a16:creationId xmlns:a16="http://schemas.microsoft.com/office/drawing/2014/main" id="{C7439EA8-BF95-4112-94E1-02B40D3F05D7}"/>
              </a:ext>
            </a:extLst>
          </p:cNvPr>
          <p:cNvSpPr/>
          <p:nvPr/>
        </p:nvSpPr>
        <p:spPr>
          <a:xfrm>
            <a:off x="2445499" y="6076403"/>
            <a:ext cx="1691822" cy="473954"/>
          </a:xfrm>
          <a:prstGeom prst="roundRect">
            <a:avLst>
              <a:gd name="adj" fmla="val 11608"/>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 name="文本框 4">
            <a:extLst>
              <a:ext uri="{FF2B5EF4-FFF2-40B4-BE49-F238E27FC236}">
                <a16:creationId xmlns:a16="http://schemas.microsoft.com/office/drawing/2014/main" id="{FA50774F-B53F-49A1-A425-864A038AC9F2}"/>
              </a:ext>
            </a:extLst>
          </p:cNvPr>
          <p:cNvSpPr txBox="1"/>
          <p:nvPr/>
        </p:nvSpPr>
        <p:spPr>
          <a:xfrm>
            <a:off x="2209656" y="248670"/>
            <a:ext cx="1947969" cy="461665"/>
          </a:xfrm>
          <a:prstGeom prst="rect">
            <a:avLst/>
          </a:prstGeom>
          <a:noFill/>
        </p:spPr>
        <p:txBody>
          <a:bodyPr wrap="none" rtlCol="0">
            <a:spAutoFit/>
          </a:bodyPr>
          <a:lstStyle/>
          <a:p>
            <a:r>
              <a:rPr lang="en-US" altLang="zh-CN" sz="2400" dirty="0">
                <a:solidFill>
                  <a:schemeClr val="accent1"/>
                </a:solidFill>
                <a:latin typeface="思源黑体 CN Bold" panose="020B0800000000000000" pitchFamily="34" charset="-122"/>
                <a:ea typeface="思源黑体 CN Bold" panose="020B0800000000000000" pitchFamily="34" charset="-122"/>
              </a:rPr>
              <a:t>1.1 </a:t>
            </a:r>
            <a:r>
              <a:rPr lang="zh-CN" altLang="en-US" sz="2400" dirty="0">
                <a:solidFill>
                  <a:schemeClr val="accent1"/>
                </a:solidFill>
                <a:latin typeface="思源黑体 CN Bold" panose="020B0800000000000000" pitchFamily="34" charset="-122"/>
                <a:ea typeface="思源黑体 CN Bold" panose="020B0800000000000000" pitchFamily="34" charset="-122"/>
              </a:rPr>
              <a:t>研究背景</a:t>
            </a:r>
          </a:p>
        </p:txBody>
      </p:sp>
      <p:grpSp>
        <p:nvGrpSpPr>
          <p:cNvPr id="4099" name="组合 4098">
            <a:extLst>
              <a:ext uri="{FF2B5EF4-FFF2-40B4-BE49-F238E27FC236}">
                <a16:creationId xmlns:a16="http://schemas.microsoft.com/office/drawing/2014/main" id="{15EDA950-5DB6-4A0B-B572-85AF9CFBD135}"/>
              </a:ext>
            </a:extLst>
          </p:cNvPr>
          <p:cNvGrpSpPr/>
          <p:nvPr/>
        </p:nvGrpSpPr>
        <p:grpSpPr>
          <a:xfrm>
            <a:off x="2391287" y="1215535"/>
            <a:ext cx="9465752" cy="476900"/>
            <a:chOff x="6248217" y="1215535"/>
            <a:chExt cx="9108949" cy="476900"/>
          </a:xfrm>
        </p:grpSpPr>
        <p:sp>
          <p:nvSpPr>
            <p:cNvPr id="43" name="矩形: 圆角 42">
              <a:extLst>
                <a:ext uri="{FF2B5EF4-FFF2-40B4-BE49-F238E27FC236}">
                  <a16:creationId xmlns:a16="http://schemas.microsoft.com/office/drawing/2014/main" id="{C7BEF58F-2A83-4042-ABAD-BE236E92725C}"/>
                </a:ext>
              </a:extLst>
            </p:cNvPr>
            <p:cNvSpPr/>
            <p:nvPr/>
          </p:nvSpPr>
          <p:spPr>
            <a:xfrm>
              <a:off x="6248217" y="1215535"/>
              <a:ext cx="9108949" cy="476900"/>
            </a:xfrm>
            <a:prstGeom prst="roundRect">
              <a:avLst>
                <a:gd name="adj" fmla="val 11608"/>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 name="文本框 13">
              <a:extLst>
                <a:ext uri="{FF2B5EF4-FFF2-40B4-BE49-F238E27FC236}">
                  <a16:creationId xmlns:a16="http://schemas.microsoft.com/office/drawing/2014/main" id="{F321879E-185E-47EC-92F3-C3352A3EA9D1}"/>
                </a:ext>
              </a:extLst>
            </p:cNvPr>
            <p:cNvSpPr txBox="1"/>
            <p:nvPr/>
          </p:nvSpPr>
          <p:spPr>
            <a:xfrm>
              <a:off x="6282942" y="1260791"/>
              <a:ext cx="7816598" cy="386388"/>
            </a:xfrm>
            <a:prstGeom prst="rect">
              <a:avLst/>
            </a:prstGeom>
            <a:noFill/>
          </p:spPr>
          <p:txBody>
            <a:bodyPr wrap="square" rtlCol="0">
              <a:spAutoFit/>
            </a:bodyPr>
            <a:lstStyle/>
            <a:p>
              <a:pPr>
                <a:lnSpc>
                  <a:spcPct val="130000"/>
                </a:lnSpc>
              </a:pPr>
              <a:r>
                <a:rPr lang="zh-CN" altLang="en-US" sz="1600" dirty="0">
                  <a:latin typeface="思源黑体 CN Bold" panose="020B0800000000000000" pitchFamily="34" charset="-122"/>
                  <a:ea typeface="思源黑体 CN Bold" panose="020B0800000000000000" pitchFamily="34" charset="-122"/>
                </a:rPr>
                <a:t>专业背景：计算机应用技术（智慧养老方向）</a:t>
              </a:r>
              <a:r>
                <a:rPr lang="en-US" altLang="zh-CN" sz="1600" dirty="0">
                  <a:latin typeface="思源黑体 CN Bold" panose="020B0800000000000000" pitchFamily="34" charset="-122"/>
                  <a:ea typeface="思源黑体 CN Bold" panose="020B0800000000000000" pitchFamily="34" charset="-122"/>
                </a:rPr>
                <a:t>|</a:t>
              </a:r>
              <a:r>
                <a:rPr lang="zh-CN" altLang="en-US" sz="1600" dirty="0">
                  <a:latin typeface="思源黑体 CN Bold" panose="020B0800000000000000" pitchFamily="34" charset="-122"/>
                  <a:ea typeface="思源黑体 CN Bold" panose="020B0800000000000000" pitchFamily="34" charset="-122"/>
                </a:rPr>
                <a:t> 行业背景：养老服务数字化转型</a:t>
              </a:r>
            </a:p>
          </p:txBody>
        </p:sp>
      </p:grpSp>
      <p:sp>
        <p:nvSpPr>
          <p:cNvPr id="44" name="文本框 43">
            <a:extLst>
              <a:ext uri="{FF2B5EF4-FFF2-40B4-BE49-F238E27FC236}">
                <a16:creationId xmlns:a16="http://schemas.microsoft.com/office/drawing/2014/main" id="{A6D4BFAA-7C6A-499D-851D-6583A38FEBCC}"/>
              </a:ext>
            </a:extLst>
          </p:cNvPr>
          <p:cNvSpPr txBox="1"/>
          <p:nvPr/>
        </p:nvSpPr>
        <p:spPr>
          <a:xfrm>
            <a:off x="4207914" y="6120186"/>
            <a:ext cx="4244727" cy="386388"/>
          </a:xfrm>
          <a:prstGeom prst="rect">
            <a:avLst/>
          </a:prstGeom>
          <a:noFill/>
        </p:spPr>
        <p:txBody>
          <a:bodyPr wrap="square" rtlCol="0">
            <a:spAutoFit/>
          </a:bodyPr>
          <a:lstStyle/>
          <a:p>
            <a:pPr>
              <a:lnSpc>
                <a:spcPct val="130000"/>
              </a:lnSpc>
            </a:pPr>
            <a:r>
              <a:rPr lang="zh-CN" altLang="en-US" sz="1600" dirty="0">
                <a:latin typeface="思源黑体 CN Bold" panose="020B0800000000000000" pitchFamily="34" charset="-122"/>
                <a:ea typeface="思源黑体 CN Bold" panose="020B0800000000000000" pitchFamily="34" charset="-122"/>
              </a:rPr>
              <a:t>老龄化下智能养老个性化服务缺口填补研究</a:t>
            </a:r>
          </a:p>
        </p:txBody>
      </p:sp>
      <p:sp>
        <p:nvSpPr>
          <p:cNvPr id="8" name="矩形: 圆角 7">
            <a:extLst>
              <a:ext uri="{FF2B5EF4-FFF2-40B4-BE49-F238E27FC236}">
                <a16:creationId xmlns:a16="http://schemas.microsoft.com/office/drawing/2014/main" id="{6586EA71-76DC-4244-B27E-07A0375E043F}"/>
              </a:ext>
            </a:extLst>
          </p:cNvPr>
          <p:cNvSpPr/>
          <p:nvPr/>
        </p:nvSpPr>
        <p:spPr>
          <a:xfrm>
            <a:off x="2391286" y="1977009"/>
            <a:ext cx="3032995" cy="3795576"/>
          </a:xfrm>
          <a:prstGeom prst="roundRect">
            <a:avLst>
              <a:gd name="adj" fmla="val 4721"/>
            </a:avLst>
          </a:prstGeom>
          <a:solidFill>
            <a:schemeClr val="bg1"/>
          </a:solidFill>
          <a:ln w="15875">
            <a:solidFill>
              <a:schemeClr val="accent1"/>
            </a:solidFill>
            <a:prstDash val="dash"/>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5" name="矩形: 圆顶角 14">
            <a:extLst>
              <a:ext uri="{FF2B5EF4-FFF2-40B4-BE49-F238E27FC236}">
                <a16:creationId xmlns:a16="http://schemas.microsoft.com/office/drawing/2014/main" id="{07FDFDF1-9143-4E15-BE17-D3ECA5F5F7AC}"/>
              </a:ext>
            </a:extLst>
          </p:cNvPr>
          <p:cNvSpPr/>
          <p:nvPr/>
        </p:nvSpPr>
        <p:spPr>
          <a:xfrm>
            <a:off x="2874079" y="1970913"/>
            <a:ext cx="2067408" cy="376049"/>
          </a:xfrm>
          <a:prstGeom prst="round2SameRect">
            <a:avLst>
              <a:gd name="adj1" fmla="val 0"/>
              <a:gd name="adj2" fmla="val 19256"/>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600" b="1" dirty="0">
                <a:latin typeface="思源黑体 CN Bold" panose="020B0800000000000000" pitchFamily="34" charset="-122"/>
                <a:ea typeface="思源黑体 CN Bold" panose="020B0800000000000000" pitchFamily="34" charset="-122"/>
              </a:rPr>
              <a:t>行业现状与需求</a:t>
            </a:r>
          </a:p>
        </p:txBody>
      </p:sp>
      <p:sp>
        <p:nvSpPr>
          <p:cNvPr id="16" name="文本框 15">
            <a:extLst>
              <a:ext uri="{FF2B5EF4-FFF2-40B4-BE49-F238E27FC236}">
                <a16:creationId xmlns:a16="http://schemas.microsoft.com/office/drawing/2014/main" id="{46F4815B-3971-47DB-AB76-AA660FDEDE55}"/>
              </a:ext>
            </a:extLst>
          </p:cNvPr>
          <p:cNvSpPr txBox="1"/>
          <p:nvPr/>
        </p:nvSpPr>
        <p:spPr>
          <a:xfrm>
            <a:off x="2391286" y="5041888"/>
            <a:ext cx="3031104" cy="629724"/>
          </a:xfrm>
          <a:prstGeom prst="rect">
            <a:avLst/>
          </a:prstGeom>
          <a:noFill/>
        </p:spPr>
        <p:txBody>
          <a:bodyPr wrap="square" rtlCol="0">
            <a:spAutoFit/>
          </a:bodyPr>
          <a:lstStyle/>
          <a:p>
            <a:pPr algn="ctr">
              <a:lnSpc>
                <a:spcPct val="130000"/>
              </a:lnSpc>
            </a:pPr>
            <a:r>
              <a:rPr lang="en-US" altLang="zh-CN" sz="1400" dirty="0">
                <a:latin typeface="思源黑体 CN Regular" panose="020B0500000000000000" pitchFamily="34" charset="-122"/>
                <a:ea typeface="思源黑体 CN Regular" panose="020B0500000000000000" pitchFamily="34" charset="-122"/>
              </a:rPr>
              <a:t>2025 </a:t>
            </a:r>
            <a:r>
              <a:rPr lang="zh-CN" altLang="en-US" sz="1400" dirty="0">
                <a:latin typeface="思源黑体 CN Regular" panose="020B0500000000000000" pitchFamily="34" charset="-122"/>
                <a:ea typeface="思源黑体 CN Regular" panose="020B0500000000000000" pitchFamily="34" charset="-122"/>
              </a:rPr>
              <a:t>年我国 </a:t>
            </a:r>
            <a:r>
              <a:rPr lang="en-US" altLang="zh-CN" sz="1400" dirty="0">
                <a:latin typeface="思源黑体 CN Regular" panose="020B0500000000000000" pitchFamily="34" charset="-122"/>
                <a:ea typeface="思源黑体 CN Regular" panose="020B0500000000000000" pitchFamily="34" charset="-122"/>
              </a:rPr>
              <a:t>60 </a:t>
            </a:r>
            <a:r>
              <a:rPr lang="zh-CN" altLang="en-US" sz="1400" dirty="0">
                <a:latin typeface="思源黑体 CN Regular" panose="020B0500000000000000" pitchFamily="34" charset="-122"/>
                <a:ea typeface="思源黑体 CN Regular" panose="020B0500000000000000" pitchFamily="34" charset="-122"/>
              </a:rPr>
              <a:t>岁以上人口占比超 </a:t>
            </a:r>
            <a:r>
              <a:rPr lang="en-US" altLang="zh-CN" sz="1400" dirty="0">
                <a:latin typeface="思源黑体 CN Regular" panose="020B0500000000000000" pitchFamily="34" charset="-122"/>
                <a:ea typeface="思源黑体 CN Regular" panose="020B0500000000000000" pitchFamily="34" charset="-122"/>
              </a:rPr>
              <a:t>21%</a:t>
            </a:r>
            <a:r>
              <a:rPr lang="zh-CN" altLang="en-US" sz="1400" dirty="0">
                <a:latin typeface="思源黑体 CN Regular" panose="020B0500000000000000" pitchFamily="34" charset="-122"/>
                <a:ea typeface="思源黑体 CN Regular" panose="020B0500000000000000" pitchFamily="34" charset="-122"/>
              </a:rPr>
              <a:t>，智能养老需求激增。</a:t>
            </a:r>
          </a:p>
        </p:txBody>
      </p:sp>
      <p:pic>
        <p:nvPicPr>
          <p:cNvPr id="35" name="图片 34">
            <a:extLst>
              <a:ext uri="{FF2B5EF4-FFF2-40B4-BE49-F238E27FC236}">
                <a16:creationId xmlns:a16="http://schemas.microsoft.com/office/drawing/2014/main" id="{8D00331E-734E-4025-B297-2AD62638DE19}"/>
              </a:ext>
            </a:extLst>
          </p:cNvPr>
          <p:cNvPicPr>
            <a:picLocks noChangeAspect="1"/>
          </p:cNvPicPr>
          <p:nvPr/>
        </p:nvPicPr>
        <p:blipFill>
          <a:blip r:embed="rId2"/>
          <a:stretch>
            <a:fillRect/>
          </a:stretch>
        </p:blipFill>
        <p:spPr>
          <a:xfrm>
            <a:off x="2406020" y="2881595"/>
            <a:ext cx="3003527" cy="1518133"/>
          </a:xfrm>
          <a:prstGeom prst="rect">
            <a:avLst/>
          </a:prstGeom>
        </p:spPr>
      </p:pic>
      <p:sp>
        <p:nvSpPr>
          <p:cNvPr id="12" name="矩形: 圆角 11">
            <a:extLst>
              <a:ext uri="{FF2B5EF4-FFF2-40B4-BE49-F238E27FC236}">
                <a16:creationId xmlns:a16="http://schemas.microsoft.com/office/drawing/2014/main" id="{9FEC5120-235E-477C-A6BD-771C96D07E9E}"/>
              </a:ext>
            </a:extLst>
          </p:cNvPr>
          <p:cNvSpPr/>
          <p:nvPr/>
        </p:nvSpPr>
        <p:spPr>
          <a:xfrm>
            <a:off x="5607664" y="1977009"/>
            <a:ext cx="3032995" cy="3795576"/>
          </a:xfrm>
          <a:prstGeom prst="roundRect">
            <a:avLst>
              <a:gd name="adj" fmla="val 4721"/>
            </a:avLst>
          </a:prstGeom>
          <a:solidFill>
            <a:schemeClr val="bg1"/>
          </a:solidFill>
          <a:ln w="15875">
            <a:solidFill>
              <a:schemeClr val="accent1"/>
            </a:solidFill>
            <a:prstDash val="dash"/>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27" name="文本框 26">
            <a:extLst>
              <a:ext uri="{FF2B5EF4-FFF2-40B4-BE49-F238E27FC236}">
                <a16:creationId xmlns:a16="http://schemas.microsoft.com/office/drawing/2014/main" id="{680BEEA9-6374-4521-A7AB-CCDC24EA9116}"/>
              </a:ext>
            </a:extLst>
          </p:cNvPr>
          <p:cNvSpPr txBox="1"/>
          <p:nvPr/>
        </p:nvSpPr>
        <p:spPr>
          <a:xfrm>
            <a:off x="5607664" y="5041888"/>
            <a:ext cx="3032995" cy="629724"/>
          </a:xfrm>
          <a:prstGeom prst="rect">
            <a:avLst/>
          </a:prstGeom>
          <a:noFill/>
        </p:spPr>
        <p:txBody>
          <a:bodyPr wrap="square" rtlCol="0">
            <a:spAutoFit/>
          </a:bodyPr>
          <a:lstStyle/>
          <a:p>
            <a:pPr algn="ctr">
              <a:lnSpc>
                <a:spcPct val="130000"/>
              </a:lnSpc>
            </a:pPr>
            <a:r>
              <a:rPr lang="en-US" altLang="zh-CN" sz="1400" dirty="0">
                <a:latin typeface="思源黑体 CN Regular" panose="020B0500000000000000" pitchFamily="34" charset="-122"/>
                <a:ea typeface="思源黑体 CN Regular" panose="020B0500000000000000" pitchFamily="34" charset="-122"/>
              </a:rPr>
              <a:t>AI </a:t>
            </a:r>
            <a:r>
              <a:rPr lang="zh-CN" altLang="en-US" sz="1400" dirty="0">
                <a:latin typeface="思源黑体 CN Regular" panose="020B0500000000000000" pitchFamily="34" charset="-122"/>
                <a:ea typeface="思源黑体 CN Regular" panose="020B0500000000000000" pitchFamily="34" charset="-122"/>
              </a:rPr>
              <a:t>养老设备市场年增速达 </a:t>
            </a:r>
            <a:r>
              <a:rPr lang="en-US" altLang="zh-CN" sz="1400" dirty="0">
                <a:latin typeface="思源黑体 CN Regular" panose="020B0500000000000000" pitchFamily="34" charset="-122"/>
                <a:ea typeface="思源黑体 CN Regular" panose="020B0500000000000000" pitchFamily="34" charset="-122"/>
              </a:rPr>
              <a:t>35%</a:t>
            </a:r>
            <a:r>
              <a:rPr lang="zh-CN" altLang="en-US" sz="1400" dirty="0">
                <a:latin typeface="思源黑体 CN Regular" panose="020B0500000000000000" pitchFamily="34" charset="-122"/>
                <a:ea typeface="思源黑体 CN Regular" panose="020B0500000000000000" pitchFamily="34" charset="-122"/>
              </a:rPr>
              <a:t>，为智慧养老方案落地提供技术支撑。</a:t>
            </a:r>
          </a:p>
        </p:txBody>
      </p:sp>
      <p:grpSp>
        <p:nvGrpSpPr>
          <p:cNvPr id="4100" name="组合 4099">
            <a:extLst>
              <a:ext uri="{FF2B5EF4-FFF2-40B4-BE49-F238E27FC236}">
                <a16:creationId xmlns:a16="http://schemas.microsoft.com/office/drawing/2014/main" id="{8355AC1A-1FF6-48B7-9485-B08B96A05BD0}"/>
              </a:ext>
            </a:extLst>
          </p:cNvPr>
          <p:cNvGrpSpPr/>
          <p:nvPr/>
        </p:nvGrpSpPr>
        <p:grpSpPr>
          <a:xfrm>
            <a:off x="5688237" y="2426741"/>
            <a:ext cx="2871849" cy="2489145"/>
            <a:chOff x="4676533" y="2858110"/>
            <a:chExt cx="2926665" cy="2522795"/>
          </a:xfrm>
        </p:grpSpPr>
        <p:pic>
          <p:nvPicPr>
            <p:cNvPr id="31" name="图片 30">
              <a:extLst>
                <a:ext uri="{FF2B5EF4-FFF2-40B4-BE49-F238E27FC236}">
                  <a16:creationId xmlns:a16="http://schemas.microsoft.com/office/drawing/2014/main" id="{F6802201-9935-4E91-80F9-EBEB5AE65117}"/>
                </a:ext>
              </a:extLst>
            </p:cNvPr>
            <p:cNvPicPr>
              <a:picLocks noChangeAspect="1"/>
            </p:cNvPicPr>
            <p:nvPr/>
          </p:nvPicPr>
          <p:blipFill rotWithShape="1">
            <a:blip r:embed="rId3"/>
            <a:srcRect t="60555"/>
            <a:stretch/>
          </p:blipFill>
          <p:spPr>
            <a:xfrm>
              <a:off x="4676533" y="4120155"/>
              <a:ext cx="2838935" cy="1260750"/>
            </a:xfrm>
            <a:prstGeom prst="rect">
              <a:avLst/>
            </a:prstGeom>
          </p:spPr>
        </p:pic>
        <p:pic>
          <p:nvPicPr>
            <p:cNvPr id="39" name="图片 38">
              <a:extLst>
                <a:ext uri="{FF2B5EF4-FFF2-40B4-BE49-F238E27FC236}">
                  <a16:creationId xmlns:a16="http://schemas.microsoft.com/office/drawing/2014/main" id="{A662D162-B827-49AB-8AE9-78673D701560}"/>
                </a:ext>
              </a:extLst>
            </p:cNvPr>
            <p:cNvPicPr>
              <a:picLocks noChangeAspect="1"/>
            </p:cNvPicPr>
            <p:nvPr/>
          </p:nvPicPr>
          <p:blipFill rotWithShape="1">
            <a:blip r:embed="rId3"/>
            <a:srcRect t="1097" r="49287" b="62909"/>
            <a:stretch/>
          </p:blipFill>
          <p:spPr>
            <a:xfrm>
              <a:off x="4676533" y="2858110"/>
              <a:ext cx="1577747" cy="1260750"/>
            </a:xfrm>
            <a:prstGeom prst="rect">
              <a:avLst/>
            </a:prstGeom>
          </p:spPr>
        </p:pic>
        <p:pic>
          <p:nvPicPr>
            <p:cNvPr id="40" name="图片 39">
              <a:extLst>
                <a:ext uri="{FF2B5EF4-FFF2-40B4-BE49-F238E27FC236}">
                  <a16:creationId xmlns:a16="http://schemas.microsoft.com/office/drawing/2014/main" id="{5A569C18-5BF2-432F-A7F3-AF9BD58ADD4A}"/>
                </a:ext>
              </a:extLst>
            </p:cNvPr>
            <p:cNvPicPr>
              <a:picLocks noChangeAspect="1"/>
            </p:cNvPicPr>
            <p:nvPr/>
          </p:nvPicPr>
          <p:blipFill rotWithShape="1">
            <a:blip r:embed="rId3"/>
            <a:srcRect l="54269" t="1158" r="7250" b="71295"/>
            <a:stretch/>
          </p:blipFill>
          <p:spPr>
            <a:xfrm>
              <a:off x="6197600" y="2941320"/>
              <a:ext cx="1405598" cy="1132840"/>
            </a:xfrm>
            <a:prstGeom prst="rect">
              <a:avLst/>
            </a:prstGeom>
          </p:spPr>
        </p:pic>
      </p:grpSp>
      <p:sp>
        <p:nvSpPr>
          <p:cNvPr id="26" name="矩形: 圆顶角 25">
            <a:extLst>
              <a:ext uri="{FF2B5EF4-FFF2-40B4-BE49-F238E27FC236}">
                <a16:creationId xmlns:a16="http://schemas.microsoft.com/office/drawing/2014/main" id="{1DA5F78B-4702-4C73-BC89-51780B54751F}"/>
              </a:ext>
            </a:extLst>
          </p:cNvPr>
          <p:cNvSpPr/>
          <p:nvPr/>
        </p:nvSpPr>
        <p:spPr>
          <a:xfrm>
            <a:off x="6090457" y="1970913"/>
            <a:ext cx="2067408" cy="376049"/>
          </a:xfrm>
          <a:prstGeom prst="round2SameRect">
            <a:avLst>
              <a:gd name="adj1" fmla="val 0"/>
              <a:gd name="adj2" fmla="val 19256"/>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600" b="1" dirty="0">
                <a:latin typeface="思源黑体 CN Bold" panose="020B0800000000000000" pitchFamily="34" charset="-122"/>
                <a:ea typeface="思源黑体 CN Bold" panose="020B0800000000000000" pitchFamily="34" charset="-122"/>
              </a:rPr>
              <a:t>技术发展与支撑</a:t>
            </a:r>
          </a:p>
        </p:txBody>
      </p:sp>
      <p:sp>
        <p:nvSpPr>
          <p:cNvPr id="13" name="矩形: 圆角 12">
            <a:extLst>
              <a:ext uri="{FF2B5EF4-FFF2-40B4-BE49-F238E27FC236}">
                <a16:creationId xmlns:a16="http://schemas.microsoft.com/office/drawing/2014/main" id="{3B557AEB-8ED7-4D26-BDFD-CD44720F1166}"/>
              </a:ext>
            </a:extLst>
          </p:cNvPr>
          <p:cNvSpPr/>
          <p:nvPr/>
        </p:nvSpPr>
        <p:spPr>
          <a:xfrm>
            <a:off x="8824043" y="1977009"/>
            <a:ext cx="3032995" cy="3795576"/>
          </a:xfrm>
          <a:prstGeom prst="roundRect">
            <a:avLst>
              <a:gd name="adj" fmla="val 4721"/>
            </a:avLst>
          </a:prstGeom>
          <a:solidFill>
            <a:schemeClr val="bg1"/>
          </a:solidFill>
          <a:ln w="15875">
            <a:solidFill>
              <a:schemeClr val="accent1"/>
            </a:solidFill>
            <a:prstDash val="dash"/>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36" name="矩形: 圆顶角 35">
            <a:extLst>
              <a:ext uri="{FF2B5EF4-FFF2-40B4-BE49-F238E27FC236}">
                <a16:creationId xmlns:a16="http://schemas.microsoft.com/office/drawing/2014/main" id="{8487AA3B-2DBA-4B44-B88E-621EF3284E64}"/>
              </a:ext>
            </a:extLst>
          </p:cNvPr>
          <p:cNvSpPr/>
          <p:nvPr/>
        </p:nvSpPr>
        <p:spPr>
          <a:xfrm>
            <a:off x="9306836" y="1970913"/>
            <a:ext cx="2067408" cy="376049"/>
          </a:xfrm>
          <a:prstGeom prst="round2SameRect">
            <a:avLst>
              <a:gd name="adj1" fmla="val 0"/>
              <a:gd name="adj2" fmla="val 19256"/>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600" b="1" dirty="0">
                <a:latin typeface="思源黑体 CN Bold" panose="020B0800000000000000" pitchFamily="34" charset="-122"/>
                <a:ea typeface="思源黑体 CN Bold" panose="020B0800000000000000" pitchFamily="34" charset="-122"/>
              </a:rPr>
              <a:t>现有研究缺口</a:t>
            </a:r>
          </a:p>
        </p:txBody>
      </p:sp>
      <p:sp>
        <p:nvSpPr>
          <p:cNvPr id="37" name="文本框 36">
            <a:extLst>
              <a:ext uri="{FF2B5EF4-FFF2-40B4-BE49-F238E27FC236}">
                <a16:creationId xmlns:a16="http://schemas.microsoft.com/office/drawing/2014/main" id="{2D1E83C9-A3D3-436B-9E2D-179310947127}"/>
              </a:ext>
            </a:extLst>
          </p:cNvPr>
          <p:cNvSpPr txBox="1"/>
          <p:nvPr/>
        </p:nvSpPr>
        <p:spPr>
          <a:xfrm>
            <a:off x="8824043" y="4761811"/>
            <a:ext cx="3032995" cy="909801"/>
          </a:xfrm>
          <a:prstGeom prst="rect">
            <a:avLst/>
          </a:prstGeom>
          <a:noFill/>
        </p:spPr>
        <p:txBody>
          <a:bodyPr wrap="square" rtlCol="0">
            <a:spAutoFit/>
          </a:bodyPr>
          <a:lstStyle/>
          <a:p>
            <a:pPr algn="ctr">
              <a:lnSpc>
                <a:spcPct val="130000"/>
              </a:lnSpc>
            </a:pPr>
            <a:r>
              <a:rPr lang="zh-CN" altLang="en-US" sz="1400" dirty="0">
                <a:latin typeface="思源黑体 CN Regular" panose="020B0500000000000000" pitchFamily="34" charset="-122"/>
                <a:ea typeface="思源黑体 CN Regular" panose="020B0500000000000000" pitchFamily="34" charset="-122"/>
              </a:rPr>
              <a:t>当前智能养老产品同质化严重，仅 </a:t>
            </a:r>
            <a:r>
              <a:rPr lang="en-US" altLang="zh-CN" sz="1400" dirty="0">
                <a:latin typeface="思源黑体 CN Regular" panose="020B0500000000000000" pitchFamily="34" charset="-122"/>
                <a:ea typeface="思源黑体 CN Regular" panose="020B0500000000000000" pitchFamily="34" charset="-122"/>
              </a:rPr>
              <a:t>12% </a:t>
            </a:r>
            <a:r>
              <a:rPr lang="zh-CN" altLang="en-US" sz="1400" dirty="0">
                <a:latin typeface="思源黑体 CN Regular" panose="020B0500000000000000" pitchFamily="34" charset="-122"/>
                <a:ea typeface="思源黑体 CN Regular" panose="020B0500000000000000" pitchFamily="34" charset="-122"/>
              </a:rPr>
              <a:t>养老机构实</a:t>
            </a:r>
            <a:r>
              <a:rPr lang="en-US" altLang="zh-CN" sz="1400" dirty="0">
                <a:latin typeface="思源黑体 CN Regular" panose="020B0500000000000000" pitchFamily="34" charset="-122"/>
                <a:ea typeface="思源黑体 CN Regular" panose="020B0500000000000000" pitchFamily="34" charset="-122"/>
              </a:rPr>
              <a:t>z</a:t>
            </a:r>
            <a:r>
              <a:rPr lang="zh-CN" altLang="en-US" sz="1400" dirty="0">
                <a:latin typeface="思源黑体 CN Regular" panose="020B0500000000000000" pitchFamily="34" charset="-122"/>
                <a:ea typeface="思源黑体 CN Regular" panose="020B0500000000000000" pitchFamily="34" charset="-122"/>
              </a:rPr>
              <a:t>现个性化服务，精准适配性研究不足。</a:t>
            </a:r>
          </a:p>
        </p:txBody>
      </p:sp>
      <p:pic>
        <p:nvPicPr>
          <p:cNvPr id="4101" name="图片 4100">
            <a:extLst>
              <a:ext uri="{FF2B5EF4-FFF2-40B4-BE49-F238E27FC236}">
                <a16:creationId xmlns:a16="http://schemas.microsoft.com/office/drawing/2014/main" id="{88AFEDDF-B9CE-42F7-8A3A-1BEDCD907369}"/>
              </a:ext>
            </a:extLst>
          </p:cNvPr>
          <p:cNvPicPr>
            <a:picLocks noChangeAspect="1"/>
          </p:cNvPicPr>
          <p:nvPr/>
        </p:nvPicPr>
        <p:blipFill>
          <a:blip r:embed="rId4"/>
          <a:stretch>
            <a:fillRect/>
          </a:stretch>
        </p:blipFill>
        <p:spPr>
          <a:xfrm>
            <a:off x="8956693" y="2480548"/>
            <a:ext cx="2767696" cy="2286422"/>
          </a:xfrm>
          <a:prstGeom prst="rect">
            <a:avLst/>
          </a:prstGeom>
        </p:spPr>
      </p:pic>
      <p:sp>
        <p:nvSpPr>
          <p:cNvPr id="50" name="文本框 49">
            <a:extLst>
              <a:ext uri="{FF2B5EF4-FFF2-40B4-BE49-F238E27FC236}">
                <a16:creationId xmlns:a16="http://schemas.microsoft.com/office/drawing/2014/main" id="{2BBD0928-9ED7-46ED-9A28-B16521DEDEFD}"/>
              </a:ext>
            </a:extLst>
          </p:cNvPr>
          <p:cNvSpPr txBox="1"/>
          <p:nvPr/>
        </p:nvSpPr>
        <p:spPr>
          <a:xfrm>
            <a:off x="2499974" y="6102104"/>
            <a:ext cx="1582872" cy="422552"/>
          </a:xfrm>
          <a:prstGeom prst="rect">
            <a:avLst/>
          </a:prstGeom>
          <a:noFill/>
        </p:spPr>
        <p:txBody>
          <a:bodyPr wrap="square" rtlCol="0">
            <a:spAutoFit/>
          </a:bodyPr>
          <a:lstStyle/>
          <a:p>
            <a:pPr algn="ctr">
              <a:lnSpc>
                <a:spcPct val="130000"/>
              </a:lnSpc>
            </a:pPr>
            <a:r>
              <a:rPr lang="zh-CN" altLang="en-US" dirty="0">
                <a:solidFill>
                  <a:schemeClr val="bg1"/>
                </a:solidFill>
                <a:latin typeface="思源黑体 CN Bold" panose="020B0800000000000000" pitchFamily="34" charset="-122"/>
                <a:ea typeface="思源黑体 CN Bold" panose="020B0800000000000000" pitchFamily="34" charset="-122"/>
              </a:rPr>
              <a:t>需求核心总结</a:t>
            </a:r>
          </a:p>
        </p:txBody>
      </p:sp>
      <p:sp>
        <p:nvSpPr>
          <p:cNvPr id="6" name="矩形 5">
            <a:extLst>
              <a:ext uri="{FF2B5EF4-FFF2-40B4-BE49-F238E27FC236}">
                <a16:creationId xmlns:a16="http://schemas.microsoft.com/office/drawing/2014/main" id="{DC2D98E8-E673-4175-AE33-B9FEDBAE6937}"/>
              </a:ext>
            </a:extLst>
          </p:cNvPr>
          <p:cNvSpPr/>
          <p:nvPr/>
        </p:nvSpPr>
        <p:spPr>
          <a:xfrm>
            <a:off x="0" y="1970913"/>
            <a:ext cx="2052320" cy="56374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69" name="文本框 68">
            <a:extLst>
              <a:ext uri="{FF2B5EF4-FFF2-40B4-BE49-F238E27FC236}">
                <a16:creationId xmlns:a16="http://schemas.microsoft.com/office/drawing/2014/main" id="{BAF67AEF-157F-4618-B132-8AEBA3C9FCFE}"/>
              </a:ext>
            </a:extLst>
          </p:cNvPr>
          <p:cNvSpPr txBox="1"/>
          <p:nvPr/>
        </p:nvSpPr>
        <p:spPr>
          <a:xfrm>
            <a:off x="373082" y="2098899"/>
            <a:ext cx="1660612" cy="338554"/>
          </a:xfrm>
          <a:prstGeom prst="rect">
            <a:avLst/>
          </a:prstGeom>
          <a:noFill/>
        </p:spPr>
        <p:txBody>
          <a:bodyPr wrap="square" rtlCol="0">
            <a:spAutoFit/>
          </a:bodyPr>
          <a:lstStyle/>
          <a:p>
            <a:r>
              <a:rPr lang="zh-CN" altLang="en-US" sz="1600" dirty="0">
                <a:solidFill>
                  <a:schemeClr val="accent1"/>
                </a:solidFill>
                <a:latin typeface="思源黑体 CN Regular" panose="020B0500000000000000" pitchFamily="34" charset="-122"/>
                <a:ea typeface="思源黑体 CN Regular" panose="020B0500000000000000" pitchFamily="34" charset="-122"/>
              </a:rPr>
              <a:t>研究背景及现状</a:t>
            </a:r>
          </a:p>
        </p:txBody>
      </p:sp>
      <p:sp>
        <p:nvSpPr>
          <p:cNvPr id="62" name="任意矩形：001">
            <a:extLst>
              <a:ext uri="{FF2B5EF4-FFF2-40B4-BE49-F238E27FC236}">
                <a16:creationId xmlns:a16="http://schemas.microsoft.com/office/drawing/2014/main" id="{E659416B-631C-458F-AD30-C1DD9251AD2A}"/>
              </a:ext>
            </a:extLst>
          </p:cNvPr>
          <p:cNvSpPr/>
          <p:nvPr/>
        </p:nvSpPr>
        <p:spPr>
          <a:xfrm>
            <a:off x="131492" y="2145245"/>
            <a:ext cx="226722" cy="202893"/>
          </a:xfrm>
          <a:custGeom>
            <a:avLst/>
            <a:gdLst>
              <a:gd name="connsiteX0" fmla="*/ 79591 w 607005"/>
              <a:gd name="connsiteY0" fmla="*/ 373864 h 543210"/>
              <a:gd name="connsiteX1" fmla="*/ 33701 w 607005"/>
              <a:gd name="connsiteY1" fmla="*/ 461494 h 543210"/>
              <a:gd name="connsiteX2" fmla="*/ 79501 w 607005"/>
              <a:gd name="connsiteY2" fmla="*/ 507233 h 543210"/>
              <a:gd name="connsiteX3" fmla="*/ 125392 w 607005"/>
              <a:gd name="connsiteY3" fmla="*/ 461494 h 543210"/>
              <a:gd name="connsiteX4" fmla="*/ 79591 w 607005"/>
              <a:gd name="connsiteY4" fmla="*/ 373864 h 543210"/>
              <a:gd name="connsiteX5" fmla="*/ 79501 w 607005"/>
              <a:gd name="connsiteY5" fmla="*/ 328661 h 543210"/>
              <a:gd name="connsiteX6" fmla="*/ 92856 w 607005"/>
              <a:gd name="connsiteY6" fmla="*/ 335106 h 543210"/>
              <a:gd name="connsiteX7" fmla="*/ 158913 w 607005"/>
              <a:gd name="connsiteY7" fmla="*/ 461404 h 543210"/>
              <a:gd name="connsiteX8" fmla="*/ 79501 w 607005"/>
              <a:gd name="connsiteY8" fmla="*/ 540710 h 543210"/>
              <a:gd name="connsiteX9" fmla="*/ 0 w 607005"/>
              <a:gd name="connsiteY9" fmla="*/ 461404 h 543210"/>
              <a:gd name="connsiteX10" fmla="*/ 66236 w 607005"/>
              <a:gd name="connsiteY10" fmla="*/ 335195 h 543210"/>
              <a:gd name="connsiteX11" fmla="*/ 79501 w 607005"/>
              <a:gd name="connsiteY11" fmla="*/ 328661 h 543210"/>
              <a:gd name="connsiteX12" fmla="*/ 196548 w 607005"/>
              <a:gd name="connsiteY12" fmla="*/ 281688 h 543210"/>
              <a:gd name="connsiteX13" fmla="*/ 391755 w 607005"/>
              <a:gd name="connsiteY13" fmla="*/ 476431 h 543210"/>
              <a:gd name="connsiteX14" fmla="*/ 540265 w 607005"/>
              <a:gd name="connsiteY14" fmla="*/ 476431 h 543210"/>
              <a:gd name="connsiteX15" fmla="*/ 540265 w 607005"/>
              <a:gd name="connsiteY15" fmla="*/ 328047 h 543210"/>
              <a:gd name="connsiteX16" fmla="*/ 493749 w 607005"/>
              <a:gd name="connsiteY16" fmla="*/ 281688 h 543210"/>
              <a:gd name="connsiteX17" fmla="*/ 261707 w 607005"/>
              <a:gd name="connsiteY17" fmla="*/ 49894 h 543210"/>
              <a:gd name="connsiteX18" fmla="*/ 113017 w 607005"/>
              <a:gd name="connsiteY18" fmla="*/ 198278 h 543210"/>
              <a:gd name="connsiteX19" fmla="*/ 163028 w 607005"/>
              <a:gd name="connsiteY19" fmla="*/ 248127 h 543210"/>
              <a:gd name="connsiteX20" fmla="*/ 460229 w 607005"/>
              <a:gd name="connsiteY20" fmla="*/ 248127 h 543210"/>
              <a:gd name="connsiteX21" fmla="*/ 271073 w 607005"/>
              <a:gd name="connsiteY21" fmla="*/ 0 h 543210"/>
              <a:gd name="connsiteX22" fmla="*/ 282948 w 607005"/>
              <a:gd name="connsiteY22" fmla="*/ 4967 h 543210"/>
              <a:gd name="connsiteX23" fmla="*/ 285099 w 607005"/>
              <a:gd name="connsiteY23" fmla="*/ 25909 h 543210"/>
              <a:gd name="connsiteX24" fmla="*/ 563927 w 607005"/>
              <a:gd name="connsiteY24" fmla="*/ 304331 h 543210"/>
              <a:gd name="connsiteX25" fmla="*/ 563927 w 607005"/>
              <a:gd name="connsiteY25" fmla="*/ 500148 h 543210"/>
              <a:gd name="connsiteX26" fmla="*/ 367824 w 607005"/>
              <a:gd name="connsiteY26" fmla="*/ 500148 h 543210"/>
              <a:gd name="connsiteX27" fmla="*/ 88997 w 607005"/>
              <a:gd name="connsiteY27" fmla="*/ 221726 h 543210"/>
              <a:gd name="connsiteX28" fmla="*/ 68024 w 607005"/>
              <a:gd name="connsiteY28" fmla="*/ 219578 h 543210"/>
              <a:gd name="connsiteX29" fmla="*/ 68024 w 607005"/>
              <a:gd name="connsiteY29" fmla="*/ 195862 h 543210"/>
              <a:gd name="connsiteX30" fmla="*/ 259197 w 607005"/>
              <a:gd name="connsiteY30" fmla="*/ 4967 h 543210"/>
              <a:gd name="connsiteX31" fmla="*/ 271073 w 607005"/>
              <a:gd name="connsiteY31" fmla="*/ 0 h 5432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607005" h="543210">
                <a:moveTo>
                  <a:pt x="79591" y="373864"/>
                </a:moveTo>
                <a:cubicBezTo>
                  <a:pt x="57452" y="405192"/>
                  <a:pt x="33701" y="445024"/>
                  <a:pt x="33701" y="461494"/>
                </a:cubicBezTo>
                <a:cubicBezTo>
                  <a:pt x="33701" y="486646"/>
                  <a:pt x="54226" y="507233"/>
                  <a:pt x="79501" y="507233"/>
                </a:cubicBezTo>
                <a:cubicBezTo>
                  <a:pt x="104687" y="507233"/>
                  <a:pt x="125212" y="486646"/>
                  <a:pt x="125392" y="461494"/>
                </a:cubicBezTo>
                <a:cubicBezTo>
                  <a:pt x="125392" y="445024"/>
                  <a:pt x="101729" y="405282"/>
                  <a:pt x="79591" y="373864"/>
                </a:cubicBezTo>
                <a:close/>
                <a:moveTo>
                  <a:pt x="79501" y="328661"/>
                </a:moveTo>
                <a:cubicBezTo>
                  <a:pt x="84610" y="328661"/>
                  <a:pt x="89540" y="331078"/>
                  <a:pt x="92856" y="335106"/>
                </a:cubicBezTo>
                <a:cubicBezTo>
                  <a:pt x="103881" y="349517"/>
                  <a:pt x="158913" y="423094"/>
                  <a:pt x="158913" y="461404"/>
                </a:cubicBezTo>
                <a:cubicBezTo>
                  <a:pt x="158913" y="505175"/>
                  <a:pt x="123240" y="540710"/>
                  <a:pt x="79501" y="540710"/>
                </a:cubicBezTo>
                <a:cubicBezTo>
                  <a:pt x="35583" y="540710"/>
                  <a:pt x="0" y="505085"/>
                  <a:pt x="0" y="461404"/>
                </a:cubicBezTo>
                <a:cubicBezTo>
                  <a:pt x="0" y="423094"/>
                  <a:pt x="55122" y="349517"/>
                  <a:pt x="66236" y="335195"/>
                </a:cubicBezTo>
                <a:cubicBezTo>
                  <a:pt x="69284" y="331078"/>
                  <a:pt x="74213" y="328661"/>
                  <a:pt x="79501" y="328661"/>
                </a:cubicBezTo>
                <a:close/>
                <a:moveTo>
                  <a:pt x="196548" y="281688"/>
                </a:moveTo>
                <a:lnTo>
                  <a:pt x="391755" y="476431"/>
                </a:lnTo>
                <a:cubicBezTo>
                  <a:pt x="420525" y="505249"/>
                  <a:pt x="488999" y="527623"/>
                  <a:pt x="540265" y="476431"/>
                </a:cubicBezTo>
                <a:cubicBezTo>
                  <a:pt x="592249" y="424524"/>
                  <a:pt x="570290" y="358028"/>
                  <a:pt x="540265" y="328047"/>
                </a:cubicBezTo>
                <a:lnTo>
                  <a:pt x="493749" y="281688"/>
                </a:lnTo>
                <a:close/>
                <a:moveTo>
                  <a:pt x="261707" y="49894"/>
                </a:moveTo>
                <a:lnTo>
                  <a:pt x="113017" y="198278"/>
                </a:lnTo>
                <a:lnTo>
                  <a:pt x="163028" y="248127"/>
                </a:lnTo>
                <a:lnTo>
                  <a:pt x="460229" y="248127"/>
                </a:lnTo>
                <a:close/>
                <a:moveTo>
                  <a:pt x="271073" y="0"/>
                </a:moveTo>
                <a:cubicBezTo>
                  <a:pt x="275375" y="0"/>
                  <a:pt x="279677" y="1655"/>
                  <a:pt x="282948" y="4967"/>
                </a:cubicBezTo>
                <a:cubicBezTo>
                  <a:pt x="288595" y="10694"/>
                  <a:pt x="289312" y="19465"/>
                  <a:pt x="285099" y="25909"/>
                </a:cubicBezTo>
                <a:lnTo>
                  <a:pt x="563927" y="304331"/>
                </a:lnTo>
                <a:cubicBezTo>
                  <a:pt x="604528" y="344872"/>
                  <a:pt x="636076" y="428104"/>
                  <a:pt x="563927" y="500148"/>
                </a:cubicBezTo>
                <a:cubicBezTo>
                  <a:pt x="492495" y="571476"/>
                  <a:pt x="409501" y="541763"/>
                  <a:pt x="367824" y="500148"/>
                </a:cubicBezTo>
                <a:lnTo>
                  <a:pt x="88997" y="221726"/>
                </a:lnTo>
                <a:cubicBezTo>
                  <a:pt x="81468" y="226380"/>
                  <a:pt x="73850" y="225485"/>
                  <a:pt x="68024" y="219578"/>
                </a:cubicBezTo>
                <a:cubicBezTo>
                  <a:pt x="61392" y="213045"/>
                  <a:pt x="61392" y="202395"/>
                  <a:pt x="68024" y="195862"/>
                </a:cubicBezTo>
                <a:lnTo>
                  <a:pt x="259197" y="4967"/>
                </a:lnTo>
                <a:cubicBezTo>
                  <a:pt x="262469" y="1655"/>
                  <a:pt x="266771" y="0"/>
                  <a:pt x="271073" y="0"/>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3" name="任意矩形：002">
            <a:extLst>
              <a:ext uri="{FF2B5EF4-FFF2-40B4-BE49-F238E27FC236}">
                <a16:creationId xmlns:a16="http://schemas.microsoft.com/office/drawing/2014/main" id="{77792A8B-5B7C-4586-BAFC-C80E1832F972}"/>
              </a:ext>
            </a:extLst>
          </p:cNvPr>
          <p:cNvSpPr/>
          <p:nvPr/>
        </p:nvSpPr>
        <p:spPr>
          <a:xfrm>
            <a:off x="143798" y="2860995"/>
            <a:ext cx="202111" cy="201828"/>
          </a:xfrm>
          <a:custGeom>
            <a:avLst/>
            <a:gdLst>
              <a:gd name="connsiteX0" fmla="*/ 303643 w 607215"/>
              <a:gd name="connsiteY0" fmla="*/ 280873 h 606369"/>
              <a:gd name="connsiteX1" fmla="*/ 325219 w 607215"/>
              <a:gd name="connsiteY1" fmla="*/ 302335 h 606369"/>
              <a:gd name="connsiteX2" fmla="*/ 303643 w 607215"/>
              <a:gd name="connsiteY2" fmla="*/ 323873 h 606369"/>
              <a:gd name="connsiteX3" fmla="*/ 282068 w 607215"/>
              <a:gd name="connsiteY3" fmla="*/ 302335 h 606369"/>
              <a:gd name="connsiteX4" fmla="*/ 303643 w 607215"/>
              <a:gd name="connsiteY4" fmla="*/ 280873 h 606369"/>
              <a:gd name="connsiteX5" fmla="*/ 303678 w 607215"/>
              <a:gd name="connsiteY5" fmla="*/ 280357 h 606369"/>
              <a:gd name="connsiteX6" fmla="*/ 281626 w 607215"/>
              <a:gd name="connsiteY6" fmla="*/ 302374 h 606369"/>
              <a:gd name="connsiteX7" fmla="*/ 303678 w 607215"/>
              <a:gd name="connsiteY7" fmla="*/ 324391 h 606369"/>
              <a:gd name="connsiteX8" fmla="*/ 325730 w 607215"/>
              <a:gd name="connsiteY8" fmla="*/ 302374 h 606369"/>
              <a:gd name="connsiteX9" fmla="*/ 303678 w 607215"/>
              <a:gd name="connsiteY9" fmla="*/ 280357 h 606369"/>
              <a:gd name="connsiteX10" fmla="*/ 303643 w 607215"/>
              <a:gd name="connsiteY10" fmla="*/ 279792 h 606369"/>
              <a:gd name="connsiteX11" fmla="*/ 326224 w 607215"/>
              <a:gd name="connsiteY11" fmla="*/ 302335 h 606369"/>
              <a:gd name="connsiteX12" fmla="*/ 303643 w 607215"/>
              <a:gd name="connsiteY12" fmla="*/ 324954 h 606369"/>
              <a:gd name="connsiteX13" fmla="*/ 281062 w 607215"/>
              <a:gd name="connsiteY13" fmla="*/ 302335 h 606369"/>
              <a:gd name="connsiteX14" fmla="*/ 303643 w 607215"/>
              <a:gd name="connsiteY14" fmla="*/ 279792 h 606369"/>
              <a:gd name="connsiteX15" fmla="*/ 281043 w 607215"/>
              <a:gd name="connsiteY15" fmla="*/ 46068 h 606369"/>
              <a:gd name="connsiteX16" fmla="*/ 120855 w 607215"/>
              <a:gd name="connsiteY16" fmla="*/ 120687 h 606369"/>
              <a:gd name="connsiteX17" fmla="*/ 46132 w 607215"/>
              <a:gd name="connsiteY17" fmla="*/ 280652 h 606369"/>
              <a:gd name="connsiteX18" fmla="*/ 147128 w 607215"/>
              <a:gd name="connsiteY18" fmla="*/ 280652 h 606369"/>
              <a:gd name="connsiteX19" fmla="*/ 169770 w 607215"/>
              <a:gd name="connsiteY19" fmla="*/ 303185 h 606369"/>
              <a:gd name="connsiteX20" fmla="*/ 147128 w 607215"/>
              <a:gd name="connsiteY20" fmla="*/ 325717 h 606369"/>
              <a:gd name="connsiteX21" fmla="*/ 46132 w 607215"/>
              <a:gd name="connsiteY21" fmla="*/ 325717 h 606369"/>
              <a:gd name="connsiteX22" fmla="*/ 120855 w 607215"/>
              <a:gd name="connsiteY22" fmla="*/ 485682 h 606369"/>
              <a:gd name="connsiteX23" fmla="*/ 281043 w 607215"/>
              <a:gd name="connsiteY23" fmla="*/ 560301 h 606369"/>
              <a:gd name="connsiteX24" fmla="*/ 281043 w 607215"/>
              <a:gd name="connsiteY24" fmla="*/ 459446 h 606369"/>
              <a:gd name="connsiteX25" fmla="*/ 303608 w 607215"/>
              <a:gd name="connsiteY25" fmla="*/ 436913 h 606369"/>
              <a:gd name="connsiteX26" fmla="*/ 326172 w 607215"/>
              <a:gd name="connsiteY26" fmla="*/ 459446 h 606369"/>
              <a:gd name="connsiteX27" fmla="*/ 326172 w 607215"/>
              <a:gd name="connsiteY27" fmla="*/ 560301 h 606369"/>
              <a:gd name="connsiteX28" fmla="*/ 486360 w 607215"/>
              <a:gd name="connsiteY28" fmla="*/ 485682 h 606369"/>
              <a:gd name="connsiteX29" fmla="*/ 561083 w 607215"/>
              <a:gd name="connsiteY29" fmla="*/ 325717 h 606369"/>
              <a:gd name="connsiteX30" fmla="*/ 460087 w 607215"/>
              <a:gd name="connsiteY30" fmla="*/ 325717 h 606369"/>
              <a:gd name="connsiteX31" fmla="*/ 437523 w 607215"/>
              <a:gd name="connsiteY31" fmla="*/ 303185 h 606369"/>
              <a:gd name="connsiteX32" fmla="*/ 460087 w 607215"/>
              <a:gd name="connsiteY32" fmla="*/ 280652 h 606369"/>
              <a:gd name="connsiteX33" fmla="*/ 561083 w 607215"/>
              <a:gd name="connsiteY33" fmla="*/ 280652 h 606369"/>
              <a:gd name="connsiteX34" fmla="*/ 486360 w 607215"/>
              <a:gd name="connsiteY34" fmla="*/ 120687 h 606369"/>
              <a:gd name="connsiteX35" fmla="*/ 326172 w 607215"/>
              <a:gd name="connsiteY35" fmla="*/ 46068 h 606369"/>
              <a:gd name="connsiteX36" fmla="*/ 326172 w 607215"/>
              <a:gd name="connsiteY36" fmla="*/ 146923 h 606369"/>
              <a:gd name="connsiteX37" fmla="*/ 303608 w 607215"/>
              <a:gd name="connsiteY37" fmla="*/ 169533 h 606369"/>
              <a:gd name="connsiteX38" fmla="*/ 281043 w 607215"/>
              <a:gd name="connsiteY38" fmla="*/ 146923 h 606369"/>
              <a:gd name="connsiteX39" fmla="*/ 281617 w 607215"/>
              <a:gd name="connsiteY39" fmla="*/ 45548 h 606369"/>
              <a:gd name="connsiteX40" fmla="*/ 281617 w 607215"/>
              <a:gd name="connsiteY40" fmla="*/ 146935 h 606369"/>
              <a:gd name="connsiteX41" fmla="*/ 303640 w 607215"/>
              <a:gd name="connsiteY41" fmla="*/ 169002 h 606369"/>
              <a:gd name="connsiteX42" fmla="*/ 325741 w 607215"/>
              <a:gd name="connsiteY42" fmla="*/ 146935 h 606369"/>
              <a:gd name="connsiteX43" fmla="*/ 325741 w 607215"/>
              <a:gd name="connsiteY43" fmla="*/ 45548 h 606369"/>
              <a:gd name="connsiteX44" fmla="*/ 561663 w 607215"/>
              <a:gd name="connsiteY44" fmla="*/ 281192 h 606369"/>
              <a:gd name="connsiteX45" fmla="*/ 460123 w 607215"/>
              <a:gd name="connsiteY45" fmla="*/ 281192 h 606369"/>
              <a:gd name="connsiteX46" fmla="*/ 438022 w 607215"/>
              <a:gd name="connsiteY46" fmla="*/ 303182 h 606369"/>
              <a:gd name="connsiteX47" fmla="*/ 460123 w 607215"/>
              <a:gd name="connsiteY47" fmla="*/ 325250 h 606369"/>
              <a:gd name="connsiteX48" fmla="*/ 561663 w 607215"/>
              <a:gd name="connsiteY48" fmla="*/ 325250 h 606369"/>
              <a:gd name="connsiteX49" fmla="*/ 325741 w 607215"/>
              <a:gd name="connsiteY49" fmla="*/ 560815 h 606369"/>
              <a:gd name="connsiteX50" fmla="*/ 325741 w 607215"/>
              <a:gd name="connsiteY50" fmla="*/ 459429 h 606369"/>
              <a:gd name="connsiteX51" fmla="*/ 303640 w 607215"/>
              <a:gd name="connsiteY51" fmla="*/ 437361 h 606369"/>
              <a:gd name="connsiteX52" fmla="*/ 281617 w 607215"/>
              <a:gd name="connsiteY52" fmla="*/ 459429 h 606369"/>
              <a:gd name="connsiteX53" fmla="*/ 281617 w 607215"/>
              <a:gd name="connsiteY53" fmla="*/ 560815 h 606369"/>
              <a:gd name="connsiteX54" fmla="*/ 45616 w 607215"/>
              <a:gd name="connsiteY54" fmla="*/ 325250 h 606369"/>
              <a:gd name="connsiteX55" fmla="*/ 147157 w 607215"/>
              <a:gd name="connsiteY55" fmla="*/ 325250 h 606369"/>
              <a:gd name="connsiteX56" fmla="*/ 169257 w 607215"/>
              <a:gd name="connsiteY56" fmla="*/ 303182 h 606369"/>
              <a:gd name="connsiteX57" fmla="*/ 147157 w 607215"/>
              <a:gd name="connsiteY57" fmla="*/ 281192 h 606369"/>
              <a:gd name="connsiteX58" fmla="*/ 45616 w 607215"/>
              <a:gd name="connsiteY58" fmla="*/ 281192 h 606369"/>
              <a:gd name="connsiteX59" fmla="*/ 281617 w 607215"/>
              <a:gd name="connsiteY59" fmla="*/ 45548 h 606369"/>
              <a:gd name="connsiteX60" fmla="*/ 281508 w 607215"/>
              <a:gd name="connsiteY60" fmla="*/ 44987 h 606369"/>
              <a:gd name="connsiteX61" fmla="*/ 120160 w 607215"/>
              <a:gd name="connsiteY61" fmla="*/ 119993 h 606369"/>
              <a:gd name="connsiteX62" fmla="*/ 45050 w 607215"/>
              <a:gd name="connsiteY62" fmla="*/ 281115 h 606369"/>
              <a:gd name="connsiteX63" fmla="*/ 45050 w 607215"/>
              <a:gd name="connsiteY63" fmla="*/ 281655 h 606369"/>
              <a:gd name="connsiteX64" fmla="*/ 147128 w 607215"/>
              <a:gd name="connsiteY64" fmla="*/ 281655 h 606369"/>
              <a:gd name="connsiteX65" fmla="*/ 168688 w 607215"/>
              <a:gd name="connsiteY65" fmla="*/ 303185 h 606369"/>
              <a:gd name="connsiteX66" fmla="*/ 147128 w 607215"/>
              <a:gd name="connsiteY66" fmla="*/ 324714 h 606369"/>
              <a:gd name="connsiteX67" fmla="*/ 45050 w 607215"/>
              <a:gd name="connsiteY67" fmla="*/ 324714 h 606369"/>
              <a:gd name="connsiteX68" fmla="*/ 45050 w 607215"/>
              <a:gd name="connsiteY68" fmla="*/ 325254 h 606369"/>
              <a:gd name="connsiteX69" fmla="*/ 120160 w 607215"/>
              <a:gd name="connsiteY69" fmla="*/ 486454 h 606369"/>
              <a:gd name="connsiteX70" fmla="*/ 281508 w 607215"/>
              <a:gd name="connsiteY70" fmla="*/ 561382 h 606369"/>
              <a:gd name="connsiteX71" fmla="*/ 282048 w 607215"/>
              <a:gd name="connsiteY71" fmla="*/ 561459 h 606369"/>
              <a:gd name="connsiteX72" fmla="*/ 282048 w 607215"/>
              <a:gd name="connsiteY72" fmla="*/ 459446 h 606369"/>
              <a:gd name="connsiteX73" fmla="*/ 303608 w 607215"/>
              <a:gd name="connsiteY73" fmla="*/ 437916 h 606369"/>
              <a:gd name="connsiteX74" fmla="*/ 325167 w 607215"/>
              <a:gd name="connsiteY74" fmla="*/ 459446 h 606369"/>
              <a:gd name="connsiteX75" fmla="*/ 325167 w 607215"/>
              <a:gd name="connsiteY75" fmla="*/ 561459 h 606369"/>
              <a:gd name="connsiteX76" fmla="*/ 325708 w 607215"/>
              <a:gd name="connsiteY76" fmla="*/ 561382 h 606369"/>
              <a:gd name="connsiteX77" fmla="*/ 487132 w 607215"/>
              <a:gd name="connsiteY77" fmla="*/ 486454 h 606369"/>
              <a:gd name="connsiteX78" fmla="*/ 562165 w 607215"/>
              <a:gd name="connsiteY78" fmla="*/ 325254 h 606369"/>
              <a:gd name="connsiteX79" fmla="*/ 562242 w 607215"/>
              <a:gd name="connsiteY79" fmla="*/ 324714 h 606369"/>
              <a:gd name="connsiteX80" fmla="*/ 460087 w 607215"/>
              <a:gd name="connsiteY80" fmla="*/ 324714 h 606369"/>
              <a:gd name="connsiteX81" fmla="*/ 438527 w 607215"/>
              <a:gd name="connsiteY81" fmla="*/ 303185 h 606369"/>
              <a:gd name="connsiteX82" fmla="*/ 460087 w 607215"/>
              <a:gd name="connsiteY82" fmla="*/ 281655 h 606369"/>
              <a:gd name="connsiteX83" fmla="*/ 562242 w 607215"/>
              <a:gd name="connsiteY83" fmla="*/ 281655 h 606369"/>
              <a:gd name="connsiteX84" fmla="*/ 562165 w 607215"/>
              <a:gd name="connsiteY84" fmla="*/ 281115 h 606369"/>
              <a:gd name="connsiteX85" fmla="*/ 487132 w 607215"/>
              <a:gd name="connsiteY85" fmla="*/ 119993 h 606369"/>
              <a:gd name="connsiteX86" fmla="*/ 325708 w 607215"/>
              <a:gd name="connsiteY86" fmla="*/ 44987 h 606369"/>
              <a:gd name="connsiteX87" fmla="*/ 325167 w 607215"/>
              <a:gd name="connsiteY87" fmla="*/ 44987 h 606369"/>
              <a:gd name="connsiteX88" fmla="*/ 325167 w 607215"/>
              <a:gd name="connsiteY88" fmla="*/ 146923 h 606369"/>
              <a:gd name="connsiteX89" fmla="*/ 303608 w 607215"/>
              <a:gd name="connsiteY89" fmla="*/ 168453 h 606369"/>
              <a:gd name="connsiteX90" fmla="*/ 282048 w 607215"/>
              <a:gd name="connsiteY90" fmla="*/ 146923 h 606369"/>
              <a:gd name="connsiteX91" fmla="*/ 282048 w 607215"/>
              <a:gd name="connsiteY91" fmla="*/ 44987 h 606369"/>
              <a:gd name="connsiteX92" fmla="*/ 303608 w 607215"/>
              <a:gd name="connsiteY92" fmla="*/ 1003 h 606369"/>
              <a:gd name="connsiteX93" fmla="*/ 421450 w 607215"/>
              <a:gd name="connsiteY93" fmla="*/ 24770 h 606369"/>
              <a:gd name="connsiteX94" fmla="*/ 517578 w 607215"/>
              <a:gd name="connsiteY94" fmla="*/ 89512 h 606369"/>
              <a:gd name="connsiteX95" fmla="*/ 582410 w 607215"/>
              <a:gd name="connsiteY95" fmla="*/ 185584 h 606369"/>
              <a:gd name="connsiteX96" fmla="*/ 606211 w 607215"/>
              <a:gd name="connsiteY96" fmla="*/ 303185 h 606369"/>
              <a:gd name="connsiteX97" fmla="*/ 582410 w 607215"/>
              <a:gd name="connsiteY97" fmla="*/ 420863 h 606369"/>
              <a:gd name="connsiteX98" fmla="*/ 517578 w 607215"/>
              <a:gd name="connsiteY98" fmla="*/ 516857 h 606369"/>
              <a:gd name="connsiteX99" fmla="*/ 421450 w 607215"/>
              <a:gd name="connsiteY99" fmla="*/ 581599 h 606369"/>
              <a:gd name="connsiteX100" fmla="*/ 303608 w 607215"/>
              <a:gd name="connsiteY100" fmla="*/ 605366 h 606369"/>
              <a:gd name="connsiteX101" fmla="*/ 185842 w 607215"/>
              <a:gd name="connsiteY101" fmla="*/ 581599 h 606369"/>
              <a:gd name="connsiteX102" fmla="*/ 89637 w 607215"/>
              <a:gd name="connsiteY102" fmla="*/ 516857 h 606369"/>
              <a:gd name="connsiteX103" fmla="*/ 24805 w 607215"/>
              <a:gd name="connsiteY103" fmla="*/ 420863 h 606369"/>
              <a:gd name="connsiteX104" fmla="*/ 1004 w 607215"/>
              <a:gd name="connsiteY104" fmla="*/ 303185 h 606369"/>
              <a:gd name="connsiteX105" fmla="*/ 24805 w 607215"/>
              <a:gd name="connsiteY105" fmla="*/ 185584 h 606369"/>
              <a:gd name="connsiteX106" fmla="*/ 89637 w 607215"/>
              <a:gd name="connsiteY106" fmla="*/ 89512 h 606369"/>
              <a:gd name="connsiteX107" fmla="*/ 185842 w 607215"/>
              <a:gd name="connsiteY107" fmla="*/ 24770 h 606369"/>
              <a:gd name="connsiteX108" fmla="*/ 303608 w 607215"/>
              <a:gd name="connsiteY108" fmla="*/ 1003 h 606369"/>
              <a:gd name="connsiteX109" fmla="*/ 303640 w 607215"/>
              <a:gd name="connsiteY109" fmla="*/ 565 h 606369"/>
              <a:gd name="connsiteX110" fmla="*/ 185640 w 607215"/>
              <a:gd name="connsiteY110" fmla="*/ 24330 h 606369"/>
              <a:gd name="connsiteX111" fmla="*/ 89354 w 607215"/>
              <a:gd name="connsiteY111" fmla="*/ 89220 h 606369"/>
              <a:gd name="connsiteX112" fmla="*/ 24366 w 607215"/>
              <a:gd name="connsiteY112" fmla="*/ 185360 h 606369"/>
              <a:gd name="connsiteX113" fmla="*/ 565 w 607215"/>
              <a:gd name="connsiteY113" fmla="*/ 303182 h 606369"/>
              <a:gd name="connsiteX114" fmla="*/ 24366 w 607215"/>
              <a:gd name="connsiteY114" fmla="*/ 421004 h 606369"/>
              <a:gd name="connsiteX115" fmla="*/ 89354 w 607215"/>
              <a:gd name="connsiteY115" fmla="*/ 517221 h 606369"/>
              <a:gd name="connsiteX116" fmla="*/ 185640 w 607215"/>
              <a:gd name="connsiteY116" fmla="*/ 582034 h 606369"/>
              <a:gd name="connsiteX117" fmla="*/ 303640 w 607215"/>
              <a:gd name="connsiteY117" fmla="*/ 605876 h 606369"/>
              <a:gd name="connsiteX118" fmla="*/ 421640 w 607215"/>
              <a:gd name="connsiteY118" fmla="*/ 582034 h 606369"/>
              <a:gd name="connsiteX119" fmla="*/ 518003 w 607215"/>
              <a:gd name="connsiteY119" fmla="*/ 517221 h 606369"/>
              <a:gd name="connsiteX120" fmla="*/ 582914 w 607215"/>
              <a:gd name="connsiteY120" fmla="*/ 421004 h 606369"/>
              <a:gd name="connsiteX121" fmla="*/ 606792 w 607215"/>
              <a:gd name="connsiteY121" fmla="*/ 303182 h 606369"/>
              <a:gd name="connsiteX122" fmla="*/ 582914 w 607215"/>
              <a:gd name="connsiteY122" fmla="*/ 185360 h 606369"/>
              <a:gd name="connsiteX123" fmla="*/ 518003 w 607215"/>
              <a:gd name="connsiteY123" fmla="*/ 89220 h 606369"/>
              <a:gd name="connsiteX124" fmla="*/ 421640 w 607215"/>
              <a:gd name="connsiteY124" fmla="*/ 24330 h 606369"/>
              <a:gd name="connsiteX125" fmla="*/ 303640 w 607215"/>
              <a:gd name="connsiteY125" fmla="*/ 565 h 606369"/>
              <a:gd name="connsiteX126" fmla="*/ 303608 w 607215"/>
              <a:gd name="connsiteY126" fmla="*/ 0 h 606369"/>
              <a:gd name="connsiteX127" fmla="*/ 421836 w 607215"/>
              <a:gd name="connsiteY127" fmla="*/ 23844 h 606369"/>
              <a:gd name="connsiteX128" fmla="*/ 518351 w 607215"/>
              <a:gd name="connsiteY128" fmla="*/ 88818 h 606369"/>
              <a:gd name="connsiteX129" fmla="*/ 583338 w 607215"/>
              <a:gd name="connsiteY129" fmla="*/ 185198 h 606369"/>
              <a:gd name="connsiteX130" fmla="*/ 607215 w 607215"/>
              <a:gd name="connsiteY130" fmla="*/ 303185 h 606369"/>
              <a:gd name="connsiteX131" fmla="*/ 583338 w 607215"/>
              <a:gd name="connsiteY131" fmla="*/ 421248 h 606369"/>
              <a:gd name="connsiteX132" fmla="*/ 518351 w 607215"/>
              <a:gd name="connsiteY132" fmla="*/ 517629 h 606369"/>
              <a:gd name="connsiteX133" fmla="*/ 421836 w 607215"/>
              <a:gd name="connsiteY133" fmla="*/ 582525 h 606369"/>
              <a:gd name="connsiteX134" fmla="*/ 303608 w 607215"/>
              <a:gd name="connsiteY134" fmla="*/ 606369 h 606369"/>
              <a:gd name="connsiteX135" fmla="*/ 185456 w 607215"/>
              <a:gd name="connsiteY135" fmla="*/ 582525 h 606369"/>
              <a:gd name="connsiteX136" fmla="*/ 88942 w 607215"/>
              <a:gd name="connsiteY136" fmla="*/ 517629 h 606369"/>
              <a:gd name="connsiteX137" fmla="*/ 23877 w 607215"/>
              <a:gd name="connsiteY137" fmla="*/ 421248 h 606369"/>
              <a:gd name="connsiteX138" fmla="*/ 0 w 607215"/>
              <a:gd name="connsiteY138" fmla="*/ 303185 h 606369"/>
              <a:gd name="connsiteX139" fmla="*/ 23877 w 607215"/>
              <a:gd name="connsiteY139" fmla="*/ 185198 h 606369"/>
              <a:gd name="connsiteX140" fmla="*/ 88942 w 607215"/>
              <a:gd name="connsiteY140" fmla="*/ 88818 h 606369"/>
              <a:gd name="connsiteX141" fmla="*/ 185456 w 607215"/>
              <a:gd name="connsiteY141" fmla="*/ 23844 h 606369"/>
              <a:gd name="connsiteX142" fmla="*/ 303608 w 607215"/>
              <a:gd name="connsiteY142" fmla="*/ 0 h 6063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Lst>
            <a:rect l="l" t="t" r="r" b="b"/>
            <a:pathLst>
              <a:path w="607215" h="606369">
                <a:moveTo>
                  <a:pt x="303643" y="280873"/>
                </a:moveTo>
                <a:cubicBezTo>
                  <a:pt x="315552" y="280873"/>
                  <a:pt x="325219" y="290523"/>
                  <a:pt x="325219" y="302335"/>
                </a:cubicBezTo>
                <a:cubicBezTo>
                  <a:pt x="325219" y="314223"/>
                  <a:pt x="315552" y="323873"/>
                  <a:pt x="303643" y="323873"/>
                </a:cubicBezTo>
                <a:cubicBezTo>
                  <a:pt x="291734" y="323873"/>
                  <a:pt x="282068" y="314223"/>
                  <a:pt x="282068" y="302335"/>
                </a:cubicBezTo>
                <a:cubicBezTo>
                  <a:pt x="282068" y="290523"/>
                  <a:pt x="291734" y="280873"/>
                  <a:pt x="303643" y="280873"/>
                </a:cubicBezTo>
                <a:close/>
                <a:moveTo>
                  <a:pt x="303678" y="280357"/>
                </a:moveTo>
                <a:cubicBezTo>
                  <a:pt x="291499" y="280357"/>
                  <a:pt x="281626" y="290214"/>
                  <a:pt x="281626" y="302374"/>
                </a:cubicBezTo>
                <a:cubicBezTo>
                  <a:pt x="281626" y="314534"/>
                  <a:pt x="291499" y="324391"/>
                  <a:pt x="303678" y="324391"/>
                </a:cubicBezTo>
                <a:cubicBezTo>
                  <a:pt x="315857" y="324391"/>
                  <a:pt x="325730" y="314534"/>
                  <a:pt x="325730" y="302374"/>
                </a:cubicBezTo>
                <a:cubicBezTo>
                  <a:pt x="325730" y="290214"/>
                  <a:pt x="315857" y="280357"/>
                  <a:pt x="303678" y="280357"/>
                </a:cubicBezTo>
                <a:close/>
                <a:moveTo>
                  <a:pt x="303643" y="279792"/>
                </a:moveTo>
                <a:cubicBezTo>
                  <a:pt x="316094" y="279792"/>
                  <a:pt x="326224" y="289905"/>
                  <a:pt x="326224" y="302335"/>
                </a:cubicBezTo>
                <a:cubicBezTo>
                  <a:pt x="326224" y="314841"/>
                  <a:pt x="316094" y="324954"/>
                  <a:pt x="303643" y="324954"/>
                </a:cubicBezTo>
                <a:cubicBezTo>
                  <a:pt x="291193" y="324954"/>
                  <a:pt x="281062" y="314841"/>
                  <a:pt x="281062" y="302335"/>
                </a:cubicBezTo>
                <a:cubicBezTo>
                  <a:pt x="281062" y="289905"/>
                  <a:pt x="291193" y="279792"/>
                  <a:pt x="303643" y="279792"/>
                </a:cubicBezTo>
                <a:close/>
                <a:moveTo>
                  <a:pt x="281043" y="46068"/>
                </a:moveTo>
                <a:cubicBezTo>
                  <a:pt x="220693" y="51315"/>
                  <a:pt x="163820" y="77783"/>
                  <a:pt x="120855" y="120687"/>
                </a:cubicBezTo>
                <a:cubicBezTo>
                  <a:pt x="77891" y="163591"/>
                  <a:pt x="51387" y="220385"/>
                  <a:pt x="46132" y="280652"/>
                </a:cubicBezTo>
                <a:lnTo>
                  <a:pt x="147128" y="280652"/>
                </a:lnTo>
                <a:cubicBezTo>
                  <a:pt x="159647" y="280652"/>
                  <a:pt x="169770" y="290761"/>
                  <a:pt x="169770" y="303185"/>
                </a:cubicBezTo>
                <a:cubicBezTo>
                  <a:pt x="169770" y="315608"/>
                  <a:pt x="159647" y="325717"/>
                  <a:pt x="147128" y="325717"/>
                </a:cubicBezTo>
                <a:lnTo>
                  <a:pt x="46132" y="325717"/>
                </a:lnTo>
                <a:cubicBezTo>
                  <a:pt x="51387" y="385984"/>
                  <a:pt x="77891" y="442778"/>
                  <a:pt x="120855" y="485682"/>
                </a:cubicBezTo>
                <a:cubicBezTo>
                  <a:pt x="163820" y="528586"/>
                  <a:pt x="220693" y="555131"/>
                  <a:pt x="281043" y="560301"/>
                </a:cubicBezTo>
                <a:lnTo>
                  <a:pt x="281043" y="459446"/>
                </a:lnTo>
                <a:cubicBezTo>
                  <a:pt x="281043" y="447022"/>
                  <a:pt x="291167" y="436913"/>
                  <a:pt x="303608" y="436913"/>
                </a:cubicBezTo>
                <a:cubicBezTo>
                  <a:pt x="316049" y="436913"/>
                  <a:pt x="326172" y="447022"/>
                  <a:pt x="326172" y="459446"/>
                </a:cubicBezTo>
                <a:lnTo>
                  <a:pt x="326172" y="560301"/>
                </a:lnTo>
                <a:cubicBezTo>
                  <a:pt x="386522" y="555131"/>
                  <a:pt x="443395" y="528586"/>
                  <a:pt x="486360" y="485682"/>
                </a:cubicBezTo>
                <a:cubicBezTo>
                  <a:pt x="529324" y="442778"/>
                  <a:pt x="555906" y="385984"/>
                  <a:pt x="561083" y="325717"/>
                </a:cubicBezTo>
                <a:lnTo>
                  <a:pt x="460087" y="325717"/>
                </a:lnTo>
                <a:cubicBezTo>
                  <a:pt x="447645" y="325717"/>
                  <a:pt x="437523" y="315608"/>
                  <a:pt x="437523" y="303185"/>
                </a:cubicBezTo>
                <a:cubicBezTo>
                  <a:pt x="437523" y="290761"/>
                  <a:pt x="447645" y="280652"/>
                  <a:pt x="460087" y="280652"/>
                </a:cubicBezTo>
                <a:lnTo>
                  <a:pt x="561083" y="280652"/>
                </a:lnTo>
                <a:cubicBezTo>
                  <a:pt x="555906" y="220385"/>
                  <a:pt x="529324" y="163591"/>
                  <a:pt x="486360" y="120687"/>
                </a:cubicBezTo>
                <a:cubicBezTo>
                  <a:pt x="443395" y="77783"/>
                  <a:pt x="386522" y="51315"/>
                  <a:pt x="326172" y="46068"/>
                </a:cubicBezTo>
                <a:lnTo>
                  <a:pt x="326172" y="146923"/>
                </a:lnTo>
                <a:cubicBezTo>
                  <a:pt x="326172" y="159424"/>
                  <a:pt x="316049" y="169533"/>
                  <a:pt x="303608" y="169533"/>
                </a:cubicBezTo>
                <a:cubicBezTo>
                  <a:pt x="291167" y="169533"/>
                  <a:pt x="281043" y="159424"/>
                  <a:pt x="281043" y="146923"/>
                </a:cubicBezTo>
                <a:close/>
                <a:moveTo>
                  <a:pt x="281617" y="45548"/>
                </a:moveTo>
                <a:lnTo>
                  <a:pt x="281617" y="146935"/>
                </a:lnTo>
                <a:cubicBezTo>
                  <a:pt x="281617" y="159126"/>
                  <a:pt x="291431" y="169002"/>
                  <a:pt x="303640" y="169002"/>
                </a:cubicBezTo>
                <a:cubicBezTo>
                  <a:pt x="315850" y="169002"/>
                  <a:pt x="325741" y="159126"/>
                  <a:pt x="325741" y="146935"/>
                </a:cubicBezTo>
                <a:lnTo>
                  <a:pt x="325741" y="45548"/>
                </a:lnTo>
                <a:cubicBezTo>
                  <a:pt x="451159" y="56119"/>
                  <a:pt x="551077" y="155963"/>
                  <a:pt x="561663" y="281192"/>
                </a:cubicBezTo>
                <a:lnTo>
                  <a:pt x="460123" y="281192"/>
                </a:lnTo>
                <a:cubicBezTo>
                  <a:pt x="447914" y="281192"/>
                  <a:pt x="438022" y="290991"/>
                  <a:pt x="438022" y="303182"/>
                </a:cubicBezTo>
                <a:cubicBezTo>
                  <a:pt x="438022" y="315373"/>
                  <a:pt x="447914" y="325250"/>
                  <a:pt x="460123" y="325250"/>
                </a:cubicBezTo>
                <a:lnTo>
                  <a:pt x="561663" y="325250"/>
                </a:lnTo>
                <a:cubicBezTo>
                  <a:pt x="551077" y="450478"/>
                  <a:pt x="451159" y="550245"/>
                  <a:pt x="325741" y="560815"/>
                </a:cubicBezTo>
                <a:lnTo>
                  <a:pt x="325741" y="459429"/>
                </a:lnTo>
                <a:cubicBezTo>
                  <a:pt x="325741" y="447238"/>
                  <a:pt x="315850" y="437361"/>
                  <a:pt x="303640" y="437361"/>
                </a:cubicBezTo>
                <a:cubicBezTo>
                  <a:pt x="291431" y="437361"/>
                  <a:pt x="281617" y="447238"/>
                  <a:pt x="281617" y="459429"/>
                </a:cubicBezTo>
                <a:lnTo>
                  <a:pt x="281617" y="560815"/>
                </a:lnTo>
                <a:cubicBezTo>
                  <a:pt x="156198" y="550245"/>
                  <a:pt x="56203" y="450478"/>
                  <a:pt x="45616" y="325250"/>
                </a:cubicBezTo>
                <a:lnTo>
                  <a:pt x="147157" y="325250"/>
                </a:lnTo>
                <a:cubicBezTo>
                  <a:pt x="159366" y="325250"/>
                  <a:pt x="169257" y="315373"/>
                  <a:pt x="169257" y="303182"/>
                </a:cubicBezTo>
                <a:cubicBezTo>
                  <a:pt x="169257" y="290991"/>
                  <a:pt x="159366" y="281192"/>
                  <a:pt x="147157" y="281192"/>
                </a:cubicBezTo>
                <a:lnTo>
                  <a:pt x="45616" y="281192"/>
                </a:lnTo>
                <a:cubicBezTo>
                  <a:pt x="56203" y="155963"/>
                  <a:pt x="156198" y="56119"/>
                  <a:pt x="281617" y="45548"/>
                </a:cubicBezTo>
                <a:close/>
                <a:moveTo>
                  <a:pt x="281508" y="44987"/>
                </a:moveTo>
                <a:cubicBezTo>
                  <a:pt x="220693" y="50158"/>
                  <a:pt x="163433" y="76780"/>
                  <a:pt x="120160" y="119993"/>
                </a:cubicBezTo>
                <a:cubicBezTo>
                  <a:pt x="76887" y="163205"/>
                  <a:pt x="50228" y="220385"/>
                  <a:pt x="45050" y="281115"/>
                </a:cubicBezTo>
                <a:lnTo>
                  <a:pt x="45050" y="281655"/>
                </a:lnTo>
                <a:lnTo>
                  <a:pt x="147128" y="281655"/>
                </a:lnTo>
                <a:cubicBezTo>
                  <a:pt x="159029" y="281655"/>
                  <a:pt x="168688" y="291301"/>
                  <a:pt x="168688" y="303185"/>
                </a:cubicBezTo>
                <a:cubicBezTo>
                  <a:pt x="168688" y="315068"/>
                  <a:pt x="159029" y="324714"/>
                  <a:pt x="147128" y="324714"/>
                </a:cubicBezTo>
                <a:lnTo>
                  <a:pt x="45050" y="324714"/>
                </a:lnTo>
                <a:lnTo>
                  <a:pt x="45050" y="325254"/>
                </a:lnTo>
                <a:cubicBezTo>
                  <a:pt x="50228" y="385984"/>
                  <a:pt x="76887" y="443241"/>
                  <a:pt x="120160" y="486454"/>
                </a:cubicBezTo>
                <a:cubicBezTo>
                  <a:pt x="163433" y="529666"/>
                  <a:pt x="220693" y="556289"/>
                  <a:pt x="281508" y="561382"/>
                </a:cubicBezTo>
                <a:lnTo>
                  <a:pt x="282048" y="561459"/>
                </a:lnTo>
                <a:lnTo>
                  <a:pt x="282048" y="459446"/>
                </a:lnTo>
                <a:cubicBezTo>
                  <a:pt x="282048" y="447562"/>
                  <a:pt x="291708" y="437916"/>
                  <a:pt x="303608" y="437916"/>
                </a:cubicBezTo>
                <a:cubicBezTo>
                  <a:pt x="315508" y="437916"/>
                  <a:pt x="325167" y="447562"/>
                  <a:pt x="325167" y="459446"/>
                </a:cubicBezTo>
                <a:lnTo>
                  <a:pt x="325167" y="561459"/>
                </a:lnTo>
                <a:lnTo>
                  <a:pt x="325708" y="561382"/>
                </a:lnTo>
                <a:cubicBezTo>
                  <a:pt x="386522" y="556289"/>
                  <a:pt x="443859" y="529666"/>
                  <a:pt x="487132" y="486454"/>
                </a:cubicBezTo>
                <a:cubicBezTo>
                  <a:pt x="530405" y="443241"/>
                  <a:pt x="557065" y="385984"/>
                  <a:pt x="562165" y="325254"/>
                </a:cubicBezTo>
                <a:lnTo>
                  <a:pt x="562242" y="324714"/>
                </a:lnTo>
                <a:lnTo>
                  <a:pt x="460087" y="324714"/>
                </a:lnTo>
                <a:cubicBezTo>
                  <a:pt x="448186" y="324714"/>
                  <a:pt x="438527" y="315068"/>
                  <a:pt x="438527" y="303185"/>
                </a:cubicBezTo>
                <a:cubicBezTo>
                  <a:pt x="438527" y="291301"/>
                  <a:pt x="448186" y="281655"/>
                  <a:pt x="460087" y="281655"/>
                </a:cubicBezTo>
                <a:lnTo>
                  <a:pt x="562242" y="281655"/>
                </a:lnTo>
                <a:lnTo>
                  <a:pt x="562165" y="281115"/>
                </a:lnTo>
                <a:cubicBezTo>
                  <a:pt x="557065" y="220385"/>
                  <a:pt x="530405" y="163205"/>
                  <a:pt x="487132" y="119993"/>
                </a:cubicBezTo>
                <a:cubicBezTo>
                  <a:pt x="443859" y="76780"/>
                  <a:pt x="386522" y="50158"/>
                  <a:pt x="325708" y="44987"/>
                </a:cubicBezTo>
                <a:lnTo>
                  <a:pt x="325167" y="44987"/>
                </a:lnTo>
                <a:lnTo>
                  <a:pt x="325167" y="146923"/>
                </a:lnTo>
                <a:cubicBezTo>
                  <a:pt x="325167" y="158807"/>
                  <a:pt x="315508" y="168453"/>
                  <a:pt x="303608" y="168453"/>
                </a:cubicBezTo>
                <a:cubicBezTo>
                  <a:pt x="291708" y="168453"/>
                  <a:pt x="282048" y="158807"/>
                  <a:pt x="282048" y="146923"/>
                </a:cubicBezTo>
                <a:lnTo>
                  <a:pt x="282048" y="44987"/>
                </a:lnTo>
                <a:close/>
                <a:moveTo>
                  <a:pt x="303608" y="1003"/>
                </a:moveTo>
                <a:cubicBezTo>
                  <a:pt x="344485" y="1003"/>
                  <a:pt x="384049" y="9028"/>
                  <a:pt x="421450" y="24770"/>
                </a:cubicBezTo>
                <a:cubicBezTo>
                  <a:pt x="457459" y="40049"/>
                  <a:pt x="489837" y="61810"/>
                  <a:pt x="517578" y="89512"/>
                </a:cubicBezTo>
                <a:cubicBezTo>
                  <a:pt x="545396" y="117292"/>
                  <a:pt x="567188" y="149547"/>
                  <a:pt x="582410" y="185584"/>
                </a:cubicBezTo>
                <a:cubicBezTo>
                  <a:pt x="598174" y="222855"/>
                  <a:pt x="606211" y="262441"/>
                  <a:pt x="606211" y="303185"/>
                </a:cubicBezTo>
                <a:cubicBezTo>
                  <a:pt x="606211" y="344005"/>
                  <a:pt x="598174" y="383514"/>
                  <a:pt x="582410" y="420863"/>
                </a:cubicBezTo>
                <a:cubicBezTo>
                  <a:pt x="567188" y="456822"/>
                  <a:pt x="545396" y="489154"/>
                  <a:pt x="517578" y="516857"/>
                </a:cubicBezTo>
                <a:cubicBezTo>
                  <a:pt x="489837" y="544637"/>
                  <a:pt x="457459" y="566397"/>
                  <a:pt x="421450" y="581599"/>
                </a:cubicBezTo>
                <a:cubicBezTo>
                  <a:pt x="384049" y="597341"/>
                  <a:pt x="344485" y="605366"/>
                  <a:pt x="303608" y="605366"/>
                </a:cubicBezTo>
                <a:cubicBezTo>
                  <a:pt x="262807" y="605366"/>
                  <a:pt x="223166" y="597341"/>
                  <a:pt x="185842" y="581599"/>
                </a:cubicBezTo>
                <a:cubicBezTo>
                  <a:pt x="149756" y="566397"/>
                  <a:pt x="117455" y="544637"/>
                  <a:pt x="89637" y="516857"/>
                </a:cubicBezTo>
                <a:cubicBezTo>
                  <a:pt x="61896" y="489154"/>
                  <a:pt x="40105" y="456822"/>
                  <a:pt x="24805" y="420863"/>
                </a:cubicBezTo>
                <a:cubicBezTo>
                  <a:pt x="9041" y="383514"/>
                  <a:pt x="1004" y="344005"/>
                  <a:pt x="1004" y="303185"/>
                </a:cubicBezTo>
                <a:cubicBezTo>
                  <a:pt x="1004" y="262441"/>
                  <a:pt x="9041" y="222855"/>
                  <a:pt x="24805" y="185584"/>
                </a:cubicBezTo>
                <a:cubicBezTo>
                  <a:pt x="40105" y="149547"/>
                  <a:pt x="61896" y="117292"/>
                  <a:pt x="89637" y="89512"/>
                </a:cubicBezTo>
                <a:cubicBezTo>
                  <a:pt x="117455" y="61810"/>
                  <a:pt x="149756" y="40049"/>
                  <a:pt x="185842" y="24770"/>
                </a:cubicBezTo>
                <a:cubicBezTo>
                  <a:pt x="223166" y="9028"/>
                  <a:pt x="262807" y="1003"/>
                  <a:pt x="303608" y="1003"/>
                </a:cubicBezTo>
                <a:close/>
                <a:moveTo>
                  <a:pt x="303640" y="565"/>
                </a:moveTo>
                <a:cubicBezTo>
                  <a:pt x="262761" y="565"/>
                  <a:pt x="223041" y="8512"/>
                  <a:pt x="185640" y="24330"/>
                </a:cubicBezTo>
                <a:cubicBezTo>
                  <a:pt x="149552" y="39607"/>
                  <a:pt x="117174" y="61366"/>
                  <a:pt x="89354" y="89220"/>
                </a:cubicBezTo>
                <a:cubicBezTo>
                  <a:pt x="61458" y="116997"/>
                  <a:pt x="39666" y="149327"/>
                  <a:pt x="24366" y="185360"/>
                </a:cubicBezTo>
                <a:cubicBezTo>
                  <a:pt x="8524" y="222705"/>
                  <a:pt x="565" y="262365"/>
                  <a:pt x="565" y="303182"/>
                </a:cubicBezTo>
                <a:cubicBezTo>
                  <a:pt x="565" y="343999"/>
                  <a:pt x="8524" y="383659"/>
                  <a:pt x="24366" y="421004"/>
                </a:cubicBezTo>
                <a:cubicBezTo>
                  <a:pt x="39666" y="457037"/>
                  <a:pt x="61458" y="489444"/>
                  <a:pt x="89354" y="517221"/>
                </a:cubicBezTo>
                <a:cubicBezTo>
                  <a:pt x="117174" y="544998"/>
                  <a:pt x="149552" y="566834"/>
                  <a:pt x="185640" y="582034"/>
                </a:cubicBezTo>
                <a:cubicBezTo>
                  <a:pt x="223041" y="597852"/>
                  <a:pt x="262761" y="605876"/>
                  <a:pt x="303640" y="605876"/>
                </a:cubicBezTo>
                <a:cubicBezTo>
                  <a:pt x="344596" y="605876"/>
                  <a:pt x="384239" y="597852"/>
                  <a:pt x="421640" y="582034"/>
                </a:cubicBezTo>
                <a:cubicBezTo>
                  <a:pt x="457728" y="566834"/>
                  <a:pt x="490183" y="544998"/>
                  <a:pt x="518003" y="517221"/>
                </a:cubicBezTo>
                <a:cubicBezTo>
                  <a:pt x="545822" y="489444"/>
                  <a:pt x="567691" y="457037"/>
                  <a:pt x="582914" y="421004"/>
                </a:cubicBezTo>
                <a:cubicBezTo>
                  <a:pt x="598756" y="383659"/>
                  <a:pt x="606792" y="343999"/>
                  <a:pt x="606792" y="303182"/>
                </a:cubicBezTo>
                <a:cubicBezTo>
                  <a:pt x="606792" y="262365"/>
                  <a:pt x="598756" y="222705"/>
                  <a:pt x="582914" y="185360"/>
                </a:cubicBezTo>
                <a:cubicBezTo>
                  <a:pt x="567691" y="149327"/>
                  <a:pt x="545822" y="116997"/>
                  <a:pt x="518003" y="89220"/>
                </a:cubicBezTo>
                <a:cubicBezTo>
                  <a:pt x="490183" y="61366"/>
                  <a:pt x="457728" y="39607"/>
                  <a:pt x="421640" y="24330"/>
                </a:cubicBezTo>
                <a:cubicBezTo>
                  <a:pt x="384239" y="8512"/>
                  <a:pt x="344519" y="565"/>
                  <a:pt x="303640" y="565"/>
                </a:cubicBezTo>
                <a:close/>
                <a:moveTo>
                  <a:pt x="303608" y="0"/>
                </a:moveTo>
                <a:cubicBezTo>
                  <a:pt x="344563" y="0"/>
                  <a:pt x="384359" y="8025"/>
                  <a:pt x="421836" y="23844"/>
                </a:cubicBezTo>
                <a:cubicBezTo>
                  <a:pt x="458000" y="39123"/>
                  <a:pt x="490455" y="60961"/>
                  <a:pt x="518351" y="88818"/>
                </a:cubicBezTo>
                <a:cubicBezTo>
                  <a:pt x="546169" y="116674"/>
                  <a:pt x="568038" y="149084"/>
                  <a:pt x="583338" y="185198"/>
                </a:cubicBezTo>
                <a:cubicBezTo>
                  <a:pt x="599179" y="222546"/>
                  <a:pt x="607215" y="262286"/>
                  <a:pt x="607215" y="303185"/>
                </a:cubicBezTo>
                <a:cubicBezTo>
                  <a:pt x="607215" y="344083"/>
                  <a:pt x="599179" y="383823"/>
                  <a:pt x="583338" y="421248"/>
                </a:cubicBezTo>
                <a:cubicBezTo>
                  <a:pt x="568038" y="457362"/>
                  <a:pt x="546169" y="489772"/>
                  <a:pt x="518351" y="517629"/>
                </a:cubicBezTo>
                <a:cubicBezTo>
                  <a:pt x="490455" y="545408"/>
                  <a:pt x="458000" y="567246"/>
                  <a:pt x="421836" y="582525"/>
                </a:cubicBezTo>
                <a:cubicBezTo>
                  <a:pt x="384359" y="598344"/>
                  <a:pt x="344563" y="606369"/>
                  <a:pt x="303608" y="606369"/>
                </a:cubicBezTo>
                <a:cubicBezTo>
                  <a:pt x="262652" y="606369"/>
                  <a:pt x="222856" y="598344"/>
                  <a:pt x="185456" y="582525"/>
                </a:cubicBezTo>
                <a:cubicBezTo>
                  <a:pt x="149292" y="567246"/>
                  <a:pt x="116760" y="545408"/>
                  <a:pt x="88942" y="517629"/>
                </a:cubicBezTo>
                <a:cubicBezTo>
                  <a:pt x="61046" y="489772"/>
                  <a:pt x="39177" y="457362"/>
                  <a:pt x="23877" y="421248"/>
                </a:cubicBezTo>
                <a:cubicBezTo>
                  <a:pt x="8036" y="383823"/>
                  <a:pt x="0" y="344083"/>
                  <a:pt x="0" y="303185"/>
                </a:cubicBezTo>
                <a:cubicBezTo>
                  <a:pt x="0" y="262286"/>
                  <a:pt x="8036" y="222546"/>
                  <a:pt x="23877" y="185198"/>
                </a:cubicBezTo>
                <a:cubicBezTo>
                  <a:pt x="39177" y="149084"/>
                  <a:pt x="61046" y="116674"/>
                  <a:pt x="88942" y="88818"/>
                </a:cubicBezTo>
                <a:cubicBezTo>
                  <a:pt x="116760" y="60961"/>
                  <a:pt x="149292" y="39123"/>
                  <a:pt x="185456" y="23844"/>
                </a:cubicBezTo>
                <a:cubicBezTo>
                  <a:pt x="222856" y="8025"/>
                  <a:pt x="262652" y="0"/>
                  <a:pt x="303608"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dirty="0"/>
          </a:p>
        </p:txBody>
      </p:sp>
      <p:sp>
        <p:nvSpPr>
          <p:cNvPr id="103" name="文本框 102">
            <a:extLst>
              <a:ext uri="{FF2B5EF4-FFF2-40B4-BE49-F238E27FC236}">
                <a16:creationId xmlns:a16="http://schemas.microsoft.com/office/drawing/2014/main" id="{E110E0CE-094F-431B-82C5-FA2C25CD12A4}"/>
              </a:ext>
            </a:extLst>
          </p:cNvPr>
          <p:cNvSpPr txBox="1"/>
          <p:nvPr/>
        </p:nvSpPr>
        <p:spPr>
          <a:xfrm>
            <a:off x="373082" y="2808021"/>
            <a:ext cx="1660612" cy="338554"/>
          </a:xfrm>
          <a:prstGeom prst="rect">
            <a:avLst/>
          </a:prstGeom>
          <a:noFill/>
        </p:spPr>
        <p:txBody>
          <a:bodyPr wrap="square" rtlCol="0">
            <a:spAutoFit/>
          </a:bodyPr>
          <a:lstStyle/>
          <a:p>
            <a:r>
              <a:rPr lang="zh-CN" altLang="en-US" sz="1600" dirty="0">
                <a:solidFill>
                  <a:schemeClr val="bg1"/>
                </a:solidFill>
                <a:latin typeface="思源黑体 CN Regular" panose="020B0500000000000000" pitchFamily="34" charset="-122"/>
                <a:ea typeface="思源黑体 CN Regular" panose="020B0500000000000000" pitchFamily="34" charset="-122"/>
              </a:rPr>
              <a:t>研究目标和内容</a:t>
            </a:r>
          </a:p>
        </p:txBody>
      </p:sp>
      <p:sp>
        <p:nvSpPr>
          <p:cNvPr id="100" name="任意矩形：003">
            <a:extLst>
              <a:ext uri="{FF2B5EF4-FFF2-40B4-BE49-F238E27FC236}">
                <a16:creationId xmlns:a16="http://schemas.microsoft.com/office/drawing/2014/main" id="{29A425F2-F816-4B18-9F9E-3540522221AF}"/>
              </a:ext>
            </a:extLst>
          </p:cNvPr>
          <p:cNvSpPr/>
          <p:nvPr/>
        </p:nvSpPr>
        <p:spPr>
          <a:xfrm rot="10800000" flipH="1" flipV="1">
            <a:off x="145020" y="3571293"/>
            <a:ext cx="199667" cy="199477"/>
          </a:xfrm>
          <a:custGeom>
            <a:avLst/>
            <a:gdLst>
              <a:gd name="connsiteX0" fmla="*/ 320200 w 604886"/>
              <a:gd name="connsiteY0" fmla="*/ 166778 h 604313"/>
              <a:gd name="connsiteX1" fmla="*/ 338200 w 604886"/>
              <a:gd name="connsiteY1" fmla="*/ 168153 h 604313"/>
              <a:gd name="connsiteX2" fmla="*/ 394904 w 604886"/>
              <a:gd name="connsiteY2" fmla="*/ 210003 h 604313"/>
              <a:gd name="connsiteX3" fmla="*/ 448997 w 604886"/>
              <a:gd name="connsiteY3" fmla="*/ 297466 h 604313"/>
              <a:gd name="connsiteX4" fmla="*/ 433479 w 604886"/>
              <a:gd name="connsiteY4" fmla="*/ 381599 h 604313"/>
              <a:gd name="connsiteX5" fmla="*/ 230304 w 604886"/>
              <a:gd name="connsiteY5" fmla="*/ 584474 h 604313"/>
              <a:gd name="connsiteX6" fmla="*/ 177952 w 604886"/>
              <a:gd name="connsiteY6" fmla="*/ 604313 h 604313"/>
              <a:gd name="connsiteX7" fmla="*/ 58454 w 604886"/>
              <a:gd name="connsiteY7" fmla="*/ 545956 h 604313"/>
              <a:gd name="connsiteX8" fmla="*/ 19733 w 604886"/>
              <a:gd name="connsiteY8" fmla="*/ 374359 h 604313"/>
              <a:gd name="connsiteX9" fmla="*/ 93549 w 604886"/>
              <a:gd name="connsiteY9" fmla="*/ 300652 h 604313"/>
              <a:gd name="connsiteX10" fmla="*/ 127049 w 604886"/>
              <a:gd name="connsiteY10" fmla="*/ 300652 h 604313"/>
              <a:gd name="connsiteX11" fmla="*/ 127049 w 604886"/>
              <a:gd name="connsiteY11" fmla="*/ 333958 h 604313"/>
              <a:gd name="connsiteX12" fmla="*/ 53233 w 604886"/>
              <a:gd name="connsiteY12" fmla="*/ 407665 h 604313"/>
              <a:gd name="connsiteX13" fmla="*/ 91809 w 604886"/>
              <a:gd name="connsiteY13" fmla="*/ 512650 h 604313"/>
              <a:gd name="connsiteX14" fmla="*/ 196950 w 604886"/>
              <a:gd name="connsiteY14" fmla="*/ 551169 h 604313"/>
              <a:gd name="connsiteX15" fmla="*/ 400124 w 604886"/>
              <a:gd name="connsiteY15" fmla="*/ 348294 h 604313"/>
              <a:gd name="connsiteX16" fmla="*/ 403460 w 604886"/>
              <a:gd name="connsiteY16" fmla="*/ 310065 h 604313"/>
              <a:gd name="connsiteX17" fmla="*/ 361549 w 604886"/>
              <a:gd name="connsiteY17" fmla="*/ 243308 h 604313"/>
              <a:gd name="connsiteX18" fmla="*/ 316737 w 604886"/>
              <a:gd name="connsiteY18" fmla="*/ 210147 h 604313"/>
              <a:gd name="connsiteX19" fmla="*/ 306441 w 604886"/>
              <a:gd name="connsiteY19" fmla="*/ 178435 h 604313"/>
              <a:gd name="connsiteX20" fmla="*/ 320200 w 604886"/>
              <a:gd name="connsiteY20" fmla="*/ 166778 h 604313"/>
              <a:gd name="connsiteX21" fmla="*/ 411085 w 604886"/>
              <a:gd name="connsiteY21" fmla="*/ 1388 h 604313"/>
              <a:gd name="connsiteX22" fmla="*/ 458862 w 604886"/>
              <a:gd name="connsiteY22" fmla="*/ 4683 h 604313"/>
              <a:gd name="connsiteX23" fmla="*/ 546442 w 604886"/>
              <a:gd name="connsiteY23" fmla="*/ 58698 h 604313"/>
              <a:gd name="connsiteX24" fmla="*/ 585156 w 604886"/>
              <a:gd name="connsiteY24" fmla="*/ 230302 h 604313"/>
              <a:gd name="connsiteX25" fmla="*/ 511352 w 604886"/>
              <a:gd name="connsiteY25" fmla="*/ 304012 h 604313"/>
              <a:gd name="connsiteX26" fmla="*/ 477857 w 604886"/>
              <a:gd name="connsiteY26" fmla="*/ 304012 h 604313"/>
              <a:gd name="connsiteX27" fmla="*/ 477857 w 604886"/>
              <a:gd name="connsiteY27" fmla="*/ 270705 h 604313"/>
              <a:gd name="connsiteX28" fmla="*/ 551662 w 604886"/>
              <a:gd name="connsiteY28" fmla="*/ 196995 h 604313"/>
              <a:gd name="connsiteX29" fmla="*/ 513092 w 604886"/>
              <a:gd name="connsiteY29" fmla="*/ 92005 h 604313"/>
              <a:gd name="connsiteX30" fmla="*/ 446247 w 604886"/>
              <a:gd name="connsiteY30" fmla="*/ 50154 h 604313"/>
              <a:gd name="connsiteX31" fmla="*/ 407968 w 604886"/>
              <a:gd name="connsiteY31" fmla="*/ 53485 h 604313"/>
              <a:gd name="connsiteX32" fmla="*/ 204825 w 604886"/>
              <a:gd name="connsiteY32" fmla="*/ 256368 h 604313"/>
              <a:gd name="connsiteX33" fmla="*/ 201490 w 604886"/>
              <a:gd name="connsiteY33" fmla="*/ 294599 h 604313"/>
              <a:gd name="connsiteX34" fmla="*/ 243394 w 604886"/>
              <a:gd name="connsiteY34" fmla="*/ 361358 h 604313"/>
              <a:gd name="connsiteX35" fmla="*/ 288199 w 604886"/>
              <a:gd name="connsiteY35" fmla="*/ 394520 h 604313"/>
              <a:gd name="connsiteX36" fmla="*/ 298494 w 604886"/>
              <a:gd name="connsiteY36" fmla="*/ 426234 h 604313"/>
              <a:gd name="connsiteX37" fmla="*/ 277469 w 604886"/>
              <a:gd name="connsiteY37" fmla="*/ 438978 h 604313"/>
              <a:gd name="connsiteX38" fmla="*/ 266739 w 604886"/>
              <a:gd name="connsiteY38" fmla="*/ 436516 h 604313"/>
              <a:gd name="connsiteX39" fmla="*/ 210044 w 604886"/>
              <a:gd name="connsiteY39" fmla="*/ 394665 h 604313"/>
              <a:gd name="connsiteX40" fmla="*/ 155960 w 604886"/>
              <a:gd name="connsiteY40" fmla="*/ 307198 h 604313"/>
              <a:gd name="connsiteX41" fmla="*/ 171330 w 604886"/>
              <a:gd name="connsiteY41" fmla="*/ 223061 h 604313"/>
              <a:gd name="connsiteX42" fmla="*/ 374618 w 604886"/>
              <a:gd name="connsiteY42" fmla="*/ 20033 h 604313"/>
              <a:gd name="connsiteX43" fmla="*/ 411085 w 604886"/>
              <a:gd name="connsiteY43" fmla="*/ 1388 h 6043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Lst>
            <a:rect l="l" t="t" r="r" b="b"/>
            <a:pathLst>
              <a:path w="604886" h="604313">
                <a:moveTo>
                  <a:pt x="320200" y="166778"/>
                </a:moveTo>
                <a:cubicBezTo>
                  <a:pt x="325946" y="164931"/>
                  <a:pt x="332399" y="165257"/>
                  <a:pt x="338200" y="168153"/>
                </a:cubicBezTo>
                <a:cubicBezTo>
                  <a:pt x="358068" y="178290"/>
                  <a:pt x="377646" y="192771"/>
                  <a:pt x="394904" y="210003"/>
                </a:cubicBezTo>
                <a:cubicBezTo>
                  <a:pt x="421443" y="236358"/>
                  <a:pt x="440585" y="267491"/>
                  <a:pt x="448997" y="297466"/>
                </a:cubicBezTo>
                <a:cubicBezTo>
                  <a:pt x="458568" y="332075"/>
                  <a:pt x="453202" y="362050"/>
                  <a:pt x="433479" y="381599"/>
                </a:cubicBezTo>
                <a:lnTo>
                  <a:pt x="230304" y="584474"/>
                </a:lnTo>
                <a:cubicBezTo>
                  <a:pt x="216962" y="597942"/>
                  <a:pt x="198690" y="604313"/>
                  <a:pt x="177952" y="604313"/>
                </a:cubicBezTo>
                <a:cubicBezTo>
                  <a:pt x="140971" y="604313"/>
                  <a:pt x="96305" y="583750"/>
                  <a:pt x="58454" y="545956"/>
                </a:cubicBezTo>
                <a:cubicBezTo>
                  <a:pt x="-570" y="487019"/>
                  <a:pt x="-17537" y="411575"/>
                  <a:pt x="19733" y="374359"/>
                </a:cubicBezTo>
                <a:lnTo>
                  <a:pt x="93549" y="300652"/>
                </a:lnTo>
                <a:cubicBezTo>
                  <a:pt x="102831" y="291384"/>
                  <a:pt x="117768" y="291384"/>
                  <a:pt x="127049" y="300652"/>
                </a:cubicBezTo>
                <a:cubicBezTo>
                  <a:pt x="136186" y="309775"/>
                  <a:pt x="136186" y="324690"/>
                  <a:pt x="127049" y="333958"/>
                </a:cubicBezTo>
                <a:lnTo>
                  <a:pt x="53233" y="407665"/>
                </a:lnTo>
                <a:cubicBezTo>
                  <a:pt x="37426" y="423304"/>
                  <a:pt x="50623" y="471525"/>
                  <a:pt x="91809" y="512650"/>
                </a:cubicBezTo>
                <a:cubicBezTo>
                  <a:pt x="132995" y="553631"/>
                  <a:pt x="181287" y="566808"/>
                  <a:pt x="196950" y="551169"/>
                </a:cubicBezTo>
                <a:lnTo>
                  <a:pt x="400124" y="348294"/>
                </a:lnTo>
                <a:cubicBezTo>
                  <a:pt x="407085" y="341343"/>
                  <a:pt x="408246" y="327441"/>
                  <a:pt x="403460" y="310065"/>
                </a:cubicBezTo>
                <a:cubicBezTo>
                  <a:pt x="397369" y="288199"/>
                  <a:pt x="381997" y="263871"/>
                  <a:pt x="361549" y="243308"/>
                </a:cubicBezTo>
                <a:cubicBezTo>
                  <a:pt x="347627" y="229552"/>
                  <a:pt x="332254" y="218112"/>
                  <a:pt x="316737" y="210147"/>
                </a:cubicBezTo>
                <a:cubicBezTo>
                  <a:pt x="305135" y="204355"/>
                  <a:pt x="300495" y="190019"/>
                  <a:pt x="306441" y="178435"/>
                </a:cubicBezTo>
                <a:cubicBezTo>
                  <a:pt x="309414" y="172642"/>
                  <a:pt x="314453" y="168624"/>
                  <a:pt x="320200" y="166778"/>
                </a:cubicBezTo>
                <a:close/>
                <a:moveTo>
                  <a:pt x="411085" y="1388"/>
                </a:moveTo>
                <a:cubicBezTo>
                  <a:pt x="425368" y="-1219"/>
                  <a:pt x="441535" y="-169"/>
                  <a:pt x="458862" y="4683"/>
                </a:cubicBezTo>
                <a:cubicBezTo>
                  <a:pt x="488877" y="13082"/>
                  <a:pt x="519907" y="32197"/>
                  <a:pt x="546442" y="58698"/>
                </a:cubicBezTo>
                <a:cubicBezTo>
                  <a:pt x="605456" y="117637"/>
                  <a:pt x="622421" y="192940"/>
                  <a:pt x="585156" y="230302"/>
                </a:cubicBezTo>
                <a:lnTo>
                  <a:pt x="511352" y="304012"/>
                </a:lnTo>
                <a:cubicBezTo>
                  <a:pt x="502072" y="313135"/>
                  <a:pt x="487137" y="313135"/>
                  <a:pt x="477857" y="304012"/>
                </a:cubicBezTo>
                <a:cubicBezTo>
                  <a:pt x="468722" y="294744"/>
                  <a:pt x="468722" y="279828"/>
                  <a:pt x="477857" y="270705"/>
                </a:cubicBezTo>
                <a:lnTo>
                  <a:pt x="551662" y="196995"/>
                </a:lnTo>
                <a:cubicBezTo>
                  <a:pt x="567321" y="181355"/>
                  <a:pt x="554127" y="133132"/>
                  <a:pt x="513092" y="92005"/>
                </a:cubicBezTo>
                <a:cubicBezTo>
                  <a:pt x="492502" y="71586"/>
                  <a:pt x="468142" y="56236"/>
                  <a:pt x="446247" y="50154"/>
                </a:cubicBezTo>
                <a:cubicBezTo>
                  <a:pt x="428848" y="45230"/>
                  <a:pt x="414928" y="46534"/>
                  <a:pt x="407968" y="53485"/>
                </a:cubicBezTo>
                <a:lnTo>
                  <a:pt x="204825" y="256368"/>
                </a:lnTo>
                <a:cubicBezTo>
                  <a:pt x="197865" y="263319"/>
                  <a:pt x="196560" y="277221"/>
                  <a:pt x="201490" y="294599"/>
                </a:cubicBezTo>
                <a:cubicBezTo>
                  <a:pt x="207579" y="316466"/>
                  <a:pt x="222949" y="340795"/>
                  <a:pt x="243394" y="361358"/>
                </a:cubicBezTo>
                <a:cubicBezTo>
                  <a:pt x="257169" y="375115"/>
                  <a:pt x="272684" y="386556"/>
                  <a:pt x="288199" y="394520"/>
                </a:cubicBezTo>
                <a:cubicBezTo>
                  <a:pt x="299799" y="400313"/>
                  <a:pt x="304439" y="414505"/>
                  <a:pt x="298494" y="426234"/>
                </a:cubicBezTo>
                <a:cubicBezTo>
                  <a:pt x="294289" y="434344"/>
                  <a:pt x="286024" y="438978"/>
                  <a:pt x="277469" y="438978"/>
                </a:cubicBezTo>
                <a:cubicBezTo>
                  <a:pt x="273844" y="438978"/>
                  <a:pt x="270219" y="438254"/>
                  <a:pt x="266739" y="436516"/>
                </a:cubicBezTo>
                <a:cubicBezTo>
                  <a:pt x="246874" y="426379"/>
                  <a:pt x="227299" y="411898"/>
                  <a:pt x="210044" y="394665"/>
                </a:cubicBezTo>
                <a:cubicBezTo>
                  <a:pt x="183510" y="368164"/>
                  <a:pt x="164370" y="337174"/>
                  <a:pt x="155960" y="307198"/>
                </a:cubicBezTo>
                <a:cubicBezTo>
                  <a:pt x="146245" y="272587"/>
                  <a:pt x="151755" y="242611"/>
                  <a:pt x="171330" y="223061"/>
                </a:cubicBezTo>
                <a:lnTo>
                  <a:pt x="374618" y="20033"/>
                </a:lnTo>
                <a:cubicBezTo>
                  <a:pt x="384406" y="10258"/>
                  <a:pt x="396803" y="3995"/>
                  <a:pt x="411085" y="1388"/>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105" name="文本框 104">
            <a:extLst>
              <a:ext uri="{FF2B5EF4-FFF2-40B4-BE49-F238E27FC236}">
                <a16:creationId xmlns:a16="http://schemas.microsoft.com/office/drawing/2014/main" id="{0AF75F27-FEE8-49E9-8171-36F315F9FE05}"/>
              </a:ext>
            </a:extLst>
          </p:cNvPr>
          <p:cNvSpPr txBox="1"/>
          <p:nvPr/>
        </p:nvSpPr>
        <p:spPr>
          <a:xfrm>
            <a:off x="373082" y="3517143"/>
            <a:ext cx="1660612" cy="338554"/>
          </a:xfrm>
          <a:prstGeom prst="rect">
            <a:avLst/>
          </a:prstGeom>
          <a:noFill/>
        </p:spPr>
        <p:txBody>
          <a:bodyPr wrap="square" rtlCol="0">
            <a:spAutoFit/>
          </a:bodyPr>
          <a:lstStyle/>
          <a:p>
            <a:r>
              <a:rPr lang="zh-CN" altLang="en-US" sz="1600" dirty="0">
                <a:solidFill>
                  <a:schemeClr val="bg1"/>
                </a:solidFill>
                <a:latin typeface="思源黑体 CN Regular" panose="020B0500000000000000" pitchFamily="34" charset="-122"/>
                <a:ea typeface="思源黑体 CN Regular" panose="020B0500000000000000" pitchFamily="34" charset="-122"/>
              </a:rPr>
              <a:t>研究方法与思路</a:t>
            </a:r>
          </a:p>
        </p:txBody>
      </p:sp>
      <p:sp>
        <p:nvSpPr>
          <p:cNvPr id="107" name="文本框 106">
            <a:extLst>
              <a:ext uri="{FF2B5EF4-FFF2-40B4-BE49-F238E27FC236}">
                <a16:creationId xmlns:a16="http://schemas.microsoft.com/office/drawing/2014/main" id="{9172FD85-70B0-4338-8D8C-742441A03CA4}"/>
              </a:ext>
            </a:extLst>
          </p:cNvPr>
          <p:cNvSpPr txBox="1"/>
          <p:nvPr/>
        </p:nvSpPr>
        <p:spPr>
          <a:xfrm>
            <a:off x="373082" y="4226265"/>
            <a:ext cx="1660612" cy="338554"/>
          </a:xfrm>
          <a:prstGeom prst="rect">
            <a:avLst/>
          </a:prstGeom>
          <a:noFill/>
        </p:spPr>
        <p:txBody>
          <a:bodyPr wrap="square" rtlCol="0">
            <a:spAutoFit/>
          </a:bodyPr>
          <a:lstStyle/>
          <a:p>
            <a:r>
              <a:rPr lang="zh-CN" altLang="en-US" sz="1600" dirty="0">
                <a:solidFill>
                  <a:schemeClr val="bg1"/>
                </a:solidFill>
                <a:latin typeface="思源黑体 CN Regular" panose="020B0500000000000000" pitchFamily="34" charset="-122"/>
                <a:ea typeface="思源黑体 CN Regular" panose="020B0500000000000000" pitchFamily="34" charset="-122"/>
              </a:rPr>
              <a:t>关键技术与创新</a:t>
            </a:r>
          </a:p>
        </p:txBody>
      </p:sp>
      <p:sp>
        <p:nvSpPr>
          <p:cNvPr id="68" name="任意矩形：004">
            <a:extLst>
              <a:ext uri="{FF2B5EF4-FFF2-40B4-BE49-F238E27FC236}">
                <a16:creationId xmlns:a16="http://schemas.microsoft.com/office/drawing/2014/main" id="{E924157F-419F-4F0C-AC31-164DA0A1EB03}"/>
              </a:ext>
            </a:extLst>
          </p:cNvPr>
          <p:cNvSpPr/>
          <p:nvPr/>
        </p:nvSpPr>
        <p:spPr>
          <a:xfrm rot="20700000">
            <a:off x="101744" y="4285500"/>
            <a:ext cx="251496" cy="189307"/>
          </a:xfrm>
          <a:custGeom>
            <a:avLst/>
            <a:gdLst>
              <a:gd name="T0" fmla="*/ 6845 w 7011"/>
              <a:gd name="T1" fmla="*/ 1345 h 5286"/>
              <a:gd name="T2" fmla="*/ 5180 w 7011"/>
              <a:gd name="T3" fmla="*/ 598 h 5286"/>
              <a:gd name="T4" fmla="*/ 5179 w 7011"/>
              <a:gd name="T5" fmla="*/ 598 h 5286"/>
              <a:gd name="T6" fmla="*/ 3505 w 7011"/>
              <a:gd name="T7" fmla="*/ 0 h 5286"/>
              <a:gd name="T8" fmla="*/ 907 w 7011"/>
              <a:gd name="T9" fmla="*/ 2166 h 5286"/>
              <a:gd name="T10" fmla="*/ 167 w 7011"/>
              <a:gd name="T11" fmla="*/ 3741 h 5286"/>
              <a:gd name="T12" fmla="*/ 1605 w 7011"/>
              <a:gd name="T13" fmla="*/ 4477 h 5286"/>
              <a:gd name="T14" fmla="*/ 3505 w 7011"/>
              <a:gd name="T15" fmla="*/ 5286 h 5286"/>
              <a:gd name="T16" fmla="*/ 6136 w 7011"/>
              <a:gd name="T17" fmla="*/ 2888 h 5286"/>
              <a:gd name="T18" fmla="*/ 6845 w 7011"/>
              <a:gd name="T19" fmla="*/ 1345 h 5286"/>
              <a:gd name="T20" fmla="*/ 521 w 7011"/>
              <a:gd name="T21" fmla="*/ 3613 h 5286"/>
              <a:gd name="T22" fmla="*/ 865 w 7011"/>
              <a:gd name="T23" fmla="*/ 2729 h 5286"/>
              <a:gd name="T24" fmla="*/ 1279 w 7011"/>
              <a:gd name="T25" fmla="*/ 4061 h 5286"/>
              <a:gd name="T26" fmla="*/ 521 w 7011"/>
              <a:gd name="T27" fmla="*/ 3613 h 5286"/>
              <a:gd name="T28" fmla="*/ 3507 w 7011"/>
              <a:gd name="T29" fmla="*/ 4909 h 5286"/>
              <a:gd name="T30" fmla="*/ 2171 w 7011"/>
              <a:gd name="T31" fmla="*/ 4472 h 5286"/>
              <a:gd name="T32" fmla="*/ 4051 w 7011"/>
              <a:gd name="T33" fmla="*/ 4060 h 5286"/>
              <a:gd name="T34" fmla="*/ 5695 w 7011"/>
              <a:gd name="T35" fmla="*/ 3233 h 5286"/>
              <a:gd name="T36" fmla="*/ 3507 w 7011"/>
              <a:gd name="T37" fmla="*/ 4909 h 5286"/>
              <a:gd name="T38" fmla="*/ 5772 w 7011"/>
              <a:gd name="T39" fmla="*/ 2705 h 5286"/>
              <a:gd name="T40" fmla="*/ 3924 w 7011"/>
              <a:gd name="T41" fmla="*/ 3706 h 5286"/>
              <a:gd name="T42" fmla="*/ 1779 w 7011"/>
              <a:gd name="T43" fmla="*/ 4108 h 5286"/>
              <a:gd name="T44" fmla="*/ 1240 w 7011"/>
              <a:gd name="T45" fmla="*/ 2642 h 5286"/>
              <a:gd name="T46" fmla="*/ 3507 w 7011"/>
              <a:gd name="T47" fmla="*/ 376 h 5286"/>
              <a:gd name="T48" fmla="*/ 5773 w 7011"/>
              <a:gd name="T49" fmla="*/ 2642 h 5286"/>
              <a:gd name="T50" fmla="*/ 5772 w 7011"/>
              <a:gd name="T51" fmla="*/ 2705 h 5286"/>
              <a:gd name="T52" fmla="*/ 6133 w 7011"/>
              <a:gd name="T53" fmla="*/ 2364 h 5286"/>
              <a:gd name="T54" fmla="*/ 5571 w 7011"/>
              <a:gd name="T55" fmla="*/ 996 h 5286"/>
              <a:gd name="T56" fmla="*/ 6491 w 7011"/>
              <a:gd name="T57" fmla="*/ 1472 h 5286"/>
              <a:gd name="T58" fmla="*/ 6133 w 7011"/>
              <a:gd name="T59" fmla="*/ 2364 h 528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7011" h="5286">
                <a:moveTo>
                  <a:pt x="6845" y="1345"/>
                </a:moveTo>
                <a:cubicBezTo>
                  <a:pt x="6672" y="864"/>
                  <a:pt x="6081" y="598"/>
                  <a:pt x="5180" y="598"/>
                </a:cubicBezTo>
                <a:lnTo>
                  <a:pt x="5179" y="598"/>
                </a:lnTo>
                <a:cubicBezTo>
                  <a:pt x="4723" y="225"/>
                  <a:pt x="4140" y="0"/>
                  <a:pt x="3505" y="0"/>
                </a:cubicBezTo>
                <a:cubicBezTo>
                  <a:pt x="2212" y="0"/>
                  <a:pt x="1132" y="936"/>
                  <a:pt x="907" y="2166"/>
                </a:cubicBezTo>
                <a:cubicBezTo>
                  <a:pt x="264" y="2720"/>
                  <a:pt x="0" y="3278"/>
                  <a:pt x="167" y="3741"/>
                </a:cubicBezTo>
                <a:cubicBezTo>
                  <a:pt x="325" y="4184"/>
                  <a:pt x="863" y="4433"/>
                  <a:pt x="1605" y="4477"/>
                </a:cubicBezTo>
                <a:cubicBezTo>
                  <a:pt x="2087" y="4976"/>
                  <a:pt x="2760" y="5286"/>
                  <a:pt x="3505" y="5286"/>
                </a:cubicBezTo>
                <a:cubicBezTo>
                  <a:pt x="4880" y="5286"/>
                  <a:pt x="6012" y="4232"/>
                  <a:pt x="6136" y="2888"/>
                </a:cubicBezTo>
                <a:cubicBezTo>
                  <a:pt x="6728" y="2364"/>
                  <a:pt x="7011" y="1804"/>
                  <a:pt x="6845" y="1345"/>
                </a:cubicBezTo>
                <a:close/>
                <a:moveTo>
                  <a:pt x="521" y="3613"/>
                </a:moveTo>
                <a:cubicBezTo>
                  <a:pt x="437" y="3380"/>
                  <a:pt x="565" y="3064"/>
                  <a:pt x="865" y="2729"/>
                </a:cubicBezTo>
                <a:cubicBezTo>
                  <a:pt x="881" y="3218"/>
                  <a:pt x="1031" y="3673"/>
                  <a:pt x="1279" y="4061"/>
                </a:cubicBezTo>
                <a:cubicBezTo>
                  <a:pt x="871" y="3988"/>
                  <a:pt x="599" y="3830"/>
                  <a:pt x="521" y="3613"/>
                </a:cubicBezTo>
                <a:close/>
                <a:moveTo>
                  <a:pt x="3507" y="4909"/>
                </a:moveTo>
                <a:cubicBezTo>
                  <a:pt x="3008" y="4909"/>
                  <a:pt x="2545" y="4746"/>
                  <a:pt x="2171" y="4472"/>
                </a:cubicBezTo>
                <a:cubicBezTo>
                  <a:pt x="2740" y="4434"/>
                  <a:pt x="3384" y="4300"/>
                  <a:pt x="4051" y="4060"/>
                </a:cubicBezTo>
                <a:cubicBezTo>
                  <a:pt x="4684" y="3833"/>
                  <a:pt x="5243" y="3546"/>
                  <a:pt x="5695" y="3233"/>
                </a:cubicBezTo>
                <a:cubicBezTo>
                  <a:pt x="5433" y="4197"/>
                  <a:pt x="4552" y="4909"/>
                  <a:pt x="3507" y="4909"/>
                </a:cubicBezTo>
                <a:close/>
                <a:moveTo>
                  <a:pt x="5772" y="2705"/>
                </a:moveTo>
                <a:cubicBezTo>
                  <a:pt x="5328" y="3068"/>
                  <a:pt x="4700" y="3428"/>
                  <a:pt x="3924" y="3706"/>
                </a:cubicBezTo>
                <a:cubicBezTo>
                  <a:pt x="3111" y="3998"/>
                  <a:pt x="2365" y="4117"/>
                  <a:pt x="1779" y="4108"/>
                </a:cubicBezTo>
                <a:cubicBezTo>
                  <a:pt x="1443" y="3712"/>
                  <a:pt x="1240" y="3201"/>
                  <a:pt x="1240" y="2642"/>
                </a:cubicBezTo>
                <a:cubicBezTo>
                  <a:pt x="1240" y="1393"/>
                  <a:pt x="2256" y="376"/>
                  <a:pt x="3507" y="376"/>
                </a:cubicBezTo>
                <a:cubicBezTo>
                  <a:pt x="4756" y="376"/>
                  <a:pt x="5773" y="1393"/>
                  <a:pt x="5773" y="2642"/>
                </a:cubicBezTo>
                <a:cubicBezTo>
                  <a:pt x="5773" y="2664"/>
                  <a:pt x="5772" y="2684"/>
                  <a:pt x="5772" y="2705"/>
                </a:cubicBezTo>
                <a:close/>
                <a:moveTo>
                  <a:pt x="6133" y="2364"/>
                </a:moveTo>
                <a:cubicBezTo>
                  <a:pt x="6079" y="1849"/>
                  <a:pt x="5877" y="1380"/>
                  <a:pt x="5571" y="996"/>
                </a:cubicBezTo>
                <a:cubicBezTo>
                  <a:pt x="6067" y="1053"/>
                  <a:pt x="6401" y="1221"/>
                  <a:pt x="6491" y="1472"/>
                </a:cubicBezTo>
                <a:cubicBezTo>
                  <a:pt x="6573" y="1704"/>
                  <a:pt x="6443" y="2024"/>
                  <a:pt x="6133" y="2364"/>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109" name="文本框 108">
            <a:extLst>
              <a:ext uri="{FF2B5EF4-FFF2-40B4-BE49-F238E27FC236}">
                <a16:creationId xmlns:a16="http://schemas.microsoft.com/office/drawing/2014/main" id="{50AA970F-36F5-4774-BF3F-59F819C99425}"/>
              </a:ext>
            </a:extLst>
          </p:cNvPr>
          <p:cNvSpPr txBox="1"/>
          <p:nvPr/>
        </p:nvSpPr>
        <p:spPr>
          <a:xfrm>
            <a:off x="373082" y="4935387"/>
            <a:ext cx="1660612" cy="338554"/>
          </a:xfrm>
          <a:prstGeom prst="rect">
            <a:avLst/>
          </a:prstGeom>
          <a:noFill/>
        </p:spPr>
        <p:txBody>
          <a:bodyPr wrap="square" rtlCol="0">
            <a:spAutoFit/>
          </a:bodyPr>
          <a:lstStyle/>
          <a:p>
            <a:r>
              <a:rPr lang="zh-CN" altLang="en-US" sz="1600" dirty="0">
                <a:solidFill>
                  <a:schemeClr val="bg1"/>
                </a:solidFill>
                <a:latin typeface="思源黑体 CN Regular" panose="020B0500000000000000" pitchFamily="34" charset="-122"/>
                <a:ea typeface="思源黑体 CN Regular" panose="020B0500000000000000" pitchFamily="34" charset="-122"/>
              </a:rPr>
              <a:t>已开展工作</a:t>
            </a:r>
          </a:p>
        </p:txBody>
      </p:sp>
      <p:sp>
        <p:nvSpPr>
          <p:cNvPr id="95" name="任意矩形：005">
            <a:extLst>
              <a:ext uri="{FF2B5EF4-FFF2-40B4-BE49-F238E27FC236}">
                <a16:creationId xmlns:a16="http://schemas.microsoft.com/office/drawing/2014/main" id="{D0A75F3C-3FF9-4FDB-B803-45DFEC65A3C6}"/>
              </a:ext>
            </a:extLst>
          </p:cNvPr>
          <p:cNvSpPr/>
          <p:nvPr/>
        </p:nvSpPr>
        <p:spPr>
          <a:xfrm>
            <a:off x="123946" y="4988361"/>
            <a:ext cx="201734" cy="201828"/>
          </a:xfrm>
          <a:custGeom>
            <a:avLst/>
            <a:gdLst>
              <a:gd name="T0" fmla="*/ 278945 h 440259"/>
              <a:gd name="T1" fmla="*/ 278945 h 440259"/>
              <a:gd name="T2" fmla="*/ 278945 h 440259"/>
              <a:gd name="T3" fmla="*/ 278945 h 440259"/>
              <a:gd name="T4" fmla="*/ 278945 h 440259"/>
              <a:gd name="T5" fmla="*/ 278945 h 440259"/>
              <a:gd name="T6" fmla="*/ 278945 h 440259"/>
              <a:gd name="T7" fmla="*/ 278945 h 440259"/>
              <a:gd name="T8" fmla="*/ 278945 h 440259"/>
              <a:gd name="T9" fmla="*/ 278945 h 440259"/>
              <a:gd name="T10" fmla="*/ 278945 h 440259"/>
              <a:gd name="T11" fmla="*/ 278945 h 440259"/>
              <a:gd name="T12" fmla="*/ 278945 h 440259"/>
              <a:gd name="T13" fmla="*/ 278945 h 440259"/>
              <a:gd name="T14" fmla="*/ 278945 h 440259"/>
              <a:gd name="T15" fmla="*/ 278945 h 440259"/>
              <a:gd name="T16" fmla="*/ 278945 h 440259"/>
              <a:gd name="T17" fmla="*/ 278945 h 440259"/>
              <a:gd name="T18" fmla="*/ 278945 h 440259"/>
              <a:gd name="T19" fmla="*/ 278945 h 440259"/>
              <a:gd name="T20" fmla="*/ 278945 h 440259"/>
              <a:gd name="T21" fmla="*/ 278945 h 440259"/>
              <a:gd name="T22" fmla="*/ 278945 h 440259"/>
              <a:gd name="T23" fmla="*/ 278945 h 440259"/>
              <a:gd name="T24" fmla="*/ 278945 h 440259"/>
              <a:gd name="T25" fmla="*/ 278945 h 440259"/>
              <a:gd name="T26" fmla="*/ 278945 h 440259"/>
              <a:gd name="T27" fmla="*/ 278945 h 440259"/>
              <a:gd name="T28" fmla="*/ 278945 h 440259"/>
              <a:gd name="T29" fmla="*/ 278945 h 440259"/>
              <a:gd name="T30" fmla="*/ 278945 h 440259"/>
              <a:gd name="T31" fmla="*/ 278945 h 440259"/>
              <a:gd name="T32" fmla="*/ 278945 h 440259"/>
              <a:gd name="T33" fmla="*/ 278945 h 440259"/>
              <a:gd name="T34" fmla="*/ 278945 h 440259"/>
              <a:gd name="T35" fmla="*/ 278945 h 440259"/>
              <a:gd name="T36" fmla="*/ 278945 h 440259"/>
              <a:gd name="T37" fmla="*/ 278945 h 440259"/>
              <a:gd name="T38" fmla="*/ 278945 h 440259"/>
              <a:gd name="T39" fmla="*/ 278945 h 440259"/>
              <a:gd name="T40" fmla="*/ 278945 h 440259"/>
              <a:gd name="T41" fmla="*/ 278945 h 440259"/>
              <a:gd name="T42" fmla="*/ 278945 h 440259"/>
              <a:gd name="T43" fmla="*/ 278945 h 440259"/>
              <a:gd name="T44" fmla="*/ 278945 h 440259"/>
              <a:gd name="T45" fmla="*/ 278945 h 440259"/>
              <a:gd name="T46" fmla="*/ 278945 h 440259"/>
              <a:gd name="T47" fmla="*/ 278945 h 440259"/>
              <a:gd name="T48" fmla="*/ 278945 h 440259"/>
              <a:gd name="T49" fmla="*/ 278945 h 440259"/>
              <a:gd name="T50" fmla="*/ 278945 h 440259"/>
              <a:gd name="T51" fmla="*/ 278945 h 440259"/>
              <a:gd name="T52" fmla="*/ 278945 h 440259"/>
              <a:gd name="T53" fmla="*/ 278945 h 440259"/>
              <a:gd name="T54" fmla="*/ 278945 h 440259"/>
              <a:gd name="T55" fmla="*/ 278945 h 440259"/>
              <a:gd name="T56" fmla="*/ 278945 h 440259"/>
              <a:gd name="T57" fmla="*/ 278945 h 440259"/>
              <a:gd name="T58" fmla="*/ 278945 h 440259"/>
              <a:gd name="T59" fmla="*/ 278945 h 440259"/>
              <a:gd name="T60" fmla="*/ 278945 h 440259"/>
              <a:gd name="T61" fmla="*/ 278945 h 440259"/>
              <a:gd name="T62" fmla="*/ 278945 h 440259"/>
              <a:gd name="T63" fmla="*/ 278945 h 440259"/>
              <a:gd name="T64" fmla="*/ 278945 h 440259"/>
              <a:gd name="T65" fmla="*/ 278945 h 440259"/>
              <a:gd name="T66" fmla="*/ 278945 h 440259"/>
              <a:gd name="T67" fmla="*/ 278945 h 440259"/>
              <a:gd name="T68" fmla="*/ 278945 h 440259"/>
              <a:gd name="T69" fmla="*/ 278945 h 440259"/>
              <a:gd name="T70" fmla="*/ 278945 h 440259"/>
              <a:gd name="T71" fmla="*/ 278945 h 440259"/>
              <a:gd name="T72" fmla="*/ 278945 h 440259"/>
              <a:gd name="T73" fmla="*/ 278945 h 440259"/>
              <a:gd name="T74" fmla="*/ 278945 h 440259"/>
              <a:gd name="T75" fmla="*/ 278945 h 440259"/>
              <a:gd name="T76" fmla="*/ 278945 h 440259"/>
              <a:gd name="T77" fmla="*/ 278945 h 440259"/>
              <a:gd name="T78" fmla="*/ 278945 h 440259"/>
              <a:gd name="T79" fmla="*/ 278945 h 440259"/>
              <a:gd name="T80" fmla="*/ 278945 h 440259"/>
              <a:gd name="T81" fmla="*/ 278945 h 440259"/>
              <a:gd name="T82" fmla="*/ 278945 h 440259"/>
              <a:gd name="T83" fmla="*/ 278945 h 440259"/>
              <a:gd name="T84" fmla="*/ 88862 h 440259"/>
              <a:gd name="T85" fmla="*/ 88862 h 440259"/>
              <a:gd name="T86" fmla="*/ 278945 h 440259"/>
              <a:gd name="T87" fmla="*/ 278945 h 44025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Lst>
            <a:rect l="0" t="0" r="r" b="b"/>
            <a:pathLst>
              <a:path w="6495" h="6508">
                <a:moveTo>
                  <a:pt x="6495" y="203"/>
                </a:moveTo>
                <a:lnTo>
                  <a:pt x="6495" y="197"/>
                </a:lnTo>
                <a:cubicBezTo>
                  <a:pt x="6495" y="193"/>
                  <a:pt x="6493" y="191"/>
                  <a:pt x="6493" y="187"/>
                </a:cubicBezTo>
                <a:cubicBezTo>
                  <a:pt x="6493" y="184"/>
                  <a:pt x="6493" y="181"/>
                  <a:pt x="6492" y="179"/>
                </a:cubicBezTo>
                <a:cubicBezTo>
                  <a:pt x="6492" y="176"/>
                  <a:pt x="6491" y="173"/>
                  <a:pt x="6491" y="172"/>
                </a:cubicBezTo>
                <a:cubicBezTo>
                  <a:pt x="6489" y="169"/>
                  <a:pt x="6489" y="165"/>
                  <a:pt x="6488" y="163"/>
                </a:cubicBezTo>
                <a:cubicBezTo>
                  <a:pt x="6488" y="161"/>
                  <a:pt x="6487" y="160"/>
                  <a:pt x="6487" y="157"/>
                </a:cubicBezTo>
                <a:lnTo>
                  <a:pt x="6483" y="145"/>
                </a:lnTo>
                <a:cubicBezTo>
                  <a:pt x="6483" y="144"/>
                  <a:pt x="6481" y="144"/>
                  <a:pt x="6481" y="143"/>
                </a:cubicBezTo>
                <a:cubicBezTo>
                  <a:pt x="6480" y="139"/>
                  <a:pt x="6477" y="133"/>
                  <a:pt x="6475" y="129"/>
                </a:cubicBezTo>
                <a:cubicBezTo>
                  <a:pt x="6475" y="128"/>
                  <a:pt x="6473" y="127"/>
                  <a:pt x="6473" y="127"/>
                </a:cubicBezTo>
                <a:cubicBezTo>
                  <a:pt x="6471" y="123"/>
                  <a:pt x="6469" y="119"/>
                  <a:pt x="6467" y="115"/>
                </a:cubicBezTo>
                <a:cubicBezTo>
                  <a:pt x="6457" y="101"/>
                  <a:pt x="6447" y="89"/>
                  <a:pt x="6435" y="79"/>
                </a:cubicBezTo>
                <a:cubicBezTo>
                  <a:pt x="6385" y="23"/>
                  <a:pt x="6304" y="0"/>
                  <a:pt x="6231" y="31"/>
                </a:cubicBezTo>
                <a:lnTo>
                  <a:pt x="112" y="2559"/>
                </a:lnTo>
                <a:cubicBezTo>
                  <a:pt x="111" y="2560"/>
                  <a:pt x="108" y="2560"/>
                  <a:pt x="107" y="2561"/>
                </a:cubicBezTo>
                <a:cubicBezTo>
                  <a:pt x="103" y="2563"/>
                  <a:pt x="100" y="2564"/>
                  <a:pt x="96" y="2567"/>
                </a:cubicBezTo>
                <a:lnTo>
                  <a:pt x="88" y="2571"/>
                </a:lnTo>
                <a:cubicBezTo>
                  <a:pt x="85" y="2572"/>
                  <a:pt x="83" y="2573"/>
                  <a:pt x="80" y="2576"/>
                </a:cubicBezTo>
                <a:cubicBezTo>
                  <a:pt x="77" y="2577"/>
                  <a:pt x="75" y="2580"/>
                  <a:pt x="72" y="2581"/>
                </a:cubicBezTo>
                <a:cubicBezTo>
                  <a:pt x="69" y="2583"/>
                  <a:pt x="68" y="2584"/>
                  <a:pt x="65" y="2587"/>
                </a:cubicBezTo>
                <a:cubicBezTo>
                  <a:pt x="63" y="2588"/>
                  <a:pt x="61" y="2591"/>
                  <a:pt x="59" y="2593"/>
                </a:cubicBezTo>
                <a:cubicBezTo>
                  <a:pt x="56" y="2595"/>
                  <a:pt x="55" y="2597"/>
                  <a:pt x="52" y="2599"/>
                </a:cubicBezTo>
                <a:lnTo>
                  <a:pt x="45" y="2605"/>
                </a:lnTo>
                <a:cubicBezTo>
                  <a:pt x="44" y="2608"/>
                  <a:pt x="41" y="2609"/>
                  <a:pt x="40" y="2612"/>
                </a:cubicBezTo>
                <a:cubicBezTo>
                  <a:pt x="39" y="2615"/>
                  <a:pt x="36" y="2617"/>
                  <a:pt x="35" y="2619"/>
                </a:cubicBezTo>
                <a:cubicBezTo>
                  <a:pt x="33" y="2621"/>
                  <a:pt x="31" y="2623"/>
                  <a:pt x="29" y="2625"/>
                </a:cubicBezTo>
                <a:cubicBezTo>
                  <a:pt x="28" y="2628"/>
                  <a:pt x="25" y="2631"/>
                  <a:pt x="24" y="2633"/>
                </a:cubicBezTo>
                <a:cubicBezTo>
                  <a:pt x="23" y="2636"/>
                  <a:pt x="21" y="2637"/>
                  <a:pt x="20" y="2640"/>
                </a:cubicBezTo>
                <a:cubicBezTo>
                  <a:pt x="17" y="2644"/>
                  <a:pt x="16" y="2648"/>
                  <a:pt x="15" y="2652"/>
                </a:cubicBezTo>
                <a:cubicBezTo>
                  <a:pt x="15" y="2653"/>
                  <a:pt x="13" y="2655"/>
                  <a:pt x="12" y="2656"/>
                </a:cubicBezTo>
                <a:lnTo>
                  <a:pt x="12" y="2656"/>
                </a:lnTo>
                <a:cubicBezTo>
                  <a:pt x="9" y="2661"/>
                  <a:pt x="8" y="2667"/>
                  <a:pt x="7" y="2672"/>
                </a:cubicBezTo>
                <a:lnTo>
                  <a:pt x="7" y="2673"/>
                </a:lnTo>
                <a:cubicBezTo>
                  <a:pt x="5" y="2679"/>
                  <a:pt x="4" y="2684"/>
                  <a:pt x="3" y="2691"/>
                </a:cubicBezTo>
                <a:cubicBezTo>
                  <a:pt x="3" y="2693"/>
                  <a:pt x="1" y="2696"/>
                  <a:pt x="1" y="2699"/>
                </a:cubicBezTo>
                <a:cubicBezTo>
                  <a:pt x="1" y="2701"/>
                  <a:pt x="0" y="2705"/>
                  <a:pt x="0" y="2708"/>
                </a:cubicBezTo>
                <a:lnTo>
                  <a:pt x="0" y="2716"/>
                </a:lnTo>
                <a:lnTo>
                  <a:pt x="0" y="2725"/>
                </a:lnTo>
                <a:lnTo>
                  <a:pt x="0" y="2733"/>
                </a:lnTo>
                <a:lnTo>
                  <a:pt x="0" y="2743"/>
                </a:lnTo>
                <a:cubicBezTo>
                  <a:pt x="0" y="2745"/>
                  <a:pt x="1" y="2748"/>
                  <a:pt x="1" y="2749"/>
                </a:cubicBezTo>
                <a:cubicBezTo>
                  <a:pt x="1" y="2753"/>
                  <a:pt x="3" y="2756"/>
                  <a:pt x="3" y="2760"/>
                </a:cubicBezTo>
                <a:cubicBezTo>
                  <a:pt x="4" y="2764"/>
                  <a:pt x="4" y="2768"/>
                  <a:pt x="5" y="2772"/>
                </a:cubicBezTo>
                <a:cubicBezTo>
                  <a:pt x="7" y="2775"/>
                  <a:pt x="7" y="2777"/>
                  <a:pt x="8" y="2780"/>
                </a:cubicBezTo>
                <a:cubicBezTo>
                  <a:pt x="9" y="2784"/>
                  <a:pt x="11" y="2789"/>
                  <a:pt x="13" y="2793"/>
                </a:cubicBezTo>
                <a:lnTo>
                  <a:pt x="13" y="2793"/>
                </a:lnTo>
                <a:cubicBezTo>
                  <a:pt x="15" y="2799"/>
                  <a:pt x="17" y="2803"/>
                  <a:pt x="20" y="2807"/>
                </a:cubicBezTo>
                <a:cubicBezTo>
                  <a:pt x="20" y="2808"/>
                  <a:pt x="21" y="2809"/>
                  <a:pt x="21" y="2809"/>
                </a:cubicBezTo>
                <a:cubicBezTo>
                  <a:pt x="23" y="2813"/>
                  <a:pt x="25" y="2816"/>
                  <a:pt x="28" y="2820"/>
                </a:cubicBezTo>
                <a:cubicBezTo>
                  <a:pt x="29" y="2821"/>
                  <a:pt x="29" y="2823"/>
                  <a:pt x="31" y="2824"/>
                </a:cubicBezTo>
                <a:cubicBezTo>
                  <a:pt x="33" y="2828"/>
                  <a:pt x="35" y="2831"/>
                  <a:pt x="37" y="2833"/>
                </a:cubicBezTo>
                <a:cubicBezTo>
                  <a:pt x="39" y="2835"/>
                  <a:pt x="39" y="2836"/>
                  <a:pt x="40" y="2836"/>
                </a:cubicBezTo>
                <a:cubicBezTo>
                  <a:pt x="44" y="2840"/>
                  <a:pt x="47" y="2844"/>
                  <a:pt x="51" y="2848"/>
                </a:cubicBezTo>
                <a:lnTo>
                  <a:pt x="51" y="2848"/>
                </a:lnTo>
                <a:cubicBezTo>
                  <a:pt x="55" y="2852"/>
                  <a:pt x="59" y="2855"/>
                  <a:pt x="63" y="2859"/>
                </a:cubicBezTo>
                <a:cubicBezTo>
                  <a:pt x="64" y="2860"/>
                  <a:pt x="65" y="2861"/>
                  <a:pt x="67" y="2861"/>
                </a:cubicBezTo>
                <a:cubicBezTo>
                  <a:pt x="69" y="2864"/>
                  <a:pt x="73" y="2867"/>
                  <a:pt x="76" y="2868"/>
                </a:cubicBezTo>
                <a:cubicBezTo>
                  <a:pt x="77" y="2869"/>
                  <a:pt x="79" y="2869"/>
                  <a:pt x="80" y="2871"/>
                </a:cubicBezTo>
                <a:cubicBezTo>
                  <a:pt x="84" y="2873"/>
                  <a:pt x="89" y="2876"/>
                  <a:pt x="93" y="2879"/>
                </a:cubicBezTo>
                <a:cubicBezTo>
                  <a:pt x="95" y="2879"/>
                  <a:pt x="95" y="2880"/>
                  <a:pt x="96" y="2880"/>
                </a:cubicBezTo>
                <a:cubicBezTo>
                  <a:pt x="100" y="2883"/>
                  <a:pt x="104" y="2884"/>
                  <a:pt x="109" y="2887"/>
                </a:cubicBezTo>
                <a:cubicBezTo>
                  <a:pt x="111" y="2887"/>
                  <a:pt x="111" y="2888"/>
                  <a:pt x="112" y="2888"/>
                </a:cubicBezTo>
                <a:lnTo>
                  <a:pt x="2579" y="3933"/>
                </a:lnTo>
                <a:lnTo>
                  <a:pt x="3624" y="6400"/>
                </a:lnTo>
                <a:cubicBezTo>
                  <a:pt x="3625" y="6405"/>
                  <a:pt x="3628" y="6409"/>
                  <a:pt x="3631" y="6413"/>
                </a:cubicBezTo>
                <a:cubicBezTo>
                  <a:pt x="3631" y="6415"/>
                  <a:pt x="3632" y="6416"/>
                  <a:pt x="3632" y="6416"/>
                </a:cubicBezTo>
                <a:cubicBezTo>
                  <a:pt x="3635" y="6420"/>
                  <a:pt x="3636" y="6423"/>
                  <a:pt x="3639" y="6427"/>
                </a:cubicBezTo>
                <a:cubicBezTo>
                  <a:pt x="3640" y="6428"/>
                  <a:pt x="3640" y="6429"/>
                  <a:pt x="3641" y="6431"/>
                </a:cubicBezTo>
                <a:cubicBezTo>
                  <a:pt x="3644" y="6435"/>
                  <a:pt x="3647" y="6437"/>
                  <a:pt x="3648" y="6440"/>
                </a:cubicBezTo>
                <a:cubicBezTo>
                  <a:pt x="3649" y="6441"/>
                  <a:pt x="3649" y="6443"/>
                  <a:pt x="3651" y="6443"/>
                </a:cubicBezTo>
                <a:cubicBezTo>
                  <a:pt x="3655" y="6447"/>
                  <a:pt x="3657" y="6451"/>
                  <a:pt x="3661" y="6455"/>
                </a:cubicBezTo>
                <a:lnTo>
                  <a:pt x="3663" y="6456"/>
                </a:lnTo>
                <a:cubicBezTo>
                  <a:pt x="3667" y="6459"/>
                  <a:pt x="3669" y="6463"/>
                  <a:pt x="3673" y="6465"/>
                </a:cubicBezTo>
                <a:cubicBezTo>
                  <a:pt x="3675" y="6467"/>
                  <a:pt x="3676" y="6468"/>
                  <a:pt x="3677" y="6468"/>
                </a:cubicBezTo>
                <a:cubicBezTo>
                  <a:pt x="3680" y="6471"/>
                  <a:pt x="3684" y="6473"/>
                  <a:pt x="3687" y="6475"/>
                </a:cubicBezTo>
                <a:cubicBezTo>
                  <a:pt x="3688" y="6476"/>
                  <a:pt x="3689" y="6476"/>
                  <a:pt x="3691" y="6477"/>
                </a:cubicBezTo>
                <a:cubicBezTo>
                  <a:pt x="3695" y="6480"/>
                  <a:pt x="3700" y="6483"/>
                  <a:pt x="3704" y="6485"/>
                </a:cubicBezTo>
                <a:cubicBezTo>
                  <a:pt x="3705" y="6485"/>
                  <a:pt x="3707" y="6487"/>
                  <a:pt x="3707" y="6487"/>
                </a:cubicBezTo>
                <a:cubicBezTo>
                  <a:pt x="3711" y="6489"/>
                  <a:pt x="3715" y="6491"/>
                  <a:pt x="3719" y="6492"/>
                </a:cubicBezTo>
                <a:cubicBezTo>
                  <a:pt x="3720" y="6492"/>
                  <a:pt x="3720" y="6493"/>
                  <a:pt x="3721" y="6493"/>
                </a:cubicBezTo>
                <a:cubicBezTo>
                  <a:pt x="3721" y="6493"/>
                  <a:pt x="3723" y="6493"/>
                  <a:pt x="3723" y="6495"/>
                </a:cubicBezTo>
                <a:cubicBezTo>
                  <a:pt x="3727" y="6496"/>
                  <a:pt x="3732" y="6499"/>
                  <a:pt x="3736" y="6500"/>
                </a:cubicBezTo>
                <a:lnTo>
                  <a:pt x="3737" y="6500"/>
                </a:lnTo>
                <a:cubicBezTo>
                  <a:pt x="3743" y="6501"/>
                  <a:pt x="3747" y="6503"/>
                  <a:pt x="3752" y="6504"/>
                </a:cubicBezTo>
                <a:cubicBezTo>
                  <a:pt x="3753" y="6504"/>
                  <a:pt x="3756" y="6504"/>
                  <a:pt x="3757" y="6505"/>
                </a:cubicBezTo>
                <a:cubicBezTo>
                  <a:pt x="3761" y="6505"/>
                  <a:pt x="3764" y="6507"/>
                  <a:pt x="3768" y="6507"/>
                </a:cubicBezTo>
                <a:lnTo>
                  <a:pt x="3773" y="6507"/>
                </a:lnTo>
                <a:cubicBezTo>
                  <a:pt x="3779" y="6507"/>
                  <a:pt x="3783" y="6508"/>
                  <a:pt x="3788" y="6508"/>
                </a:cubicBezTo>
                <a:lnTo>
                  <a:pt x="3788" y="6508"/>
                </a:lnTo>
                <a:lnTo>
                  <a:pt x="3788" y="6508"/>
                </a:lnTo>
                <a:lnTo>
                  <a:pt x="3788" y="6508"/>
                </a:lnTo>
                <a:lnTo>
                  <a:pt x="3788" y="6508"/>
                </a:lnTo>
                <a:cubicBezTo>
                  <a:pt x="3793" y="6508"/>
                  <a:pt x="3799" y="6508"/>
                  <a:pt x="3803" y="6507"/>
                </a:cubicBezTo>
                <a:lnTo>
                  <a:pt x="3808" y="6507"/>
                </a:lnTo>
                <a:cubicBezTo>
                  <a:pt x="3812" y="6507"/>
                  <a:pt x="3816" y="6505"/>
                  <a:pt x="3819" y="6505"/>
                </a:cubicBezTo>
                <a:cubicBezTo>
                  <a:pt x="3820" y="6505"/>
                  <a:pt x="3823" y="6505"/>
                  <a:pt x="3824" y="6504"/>
                </a:cubicBezTo>
                <a:cubicBezTo>
                  <a:pt x="3829" y="6503"/>
                  <a:pt x="3835" y="6501"/>
                  <a:pt x="3839" y="6500"/>
                </a:cubicBezTo>
                <a:cubicBezTo>
                  <a:pt x="3840" y="6500"/>
                  <a:pt x="3840" y="6500"/>
                  <a:pt x="3841" y="6499"/>
                </a:cubicBezTo>
                <a:cubicBezTo>
                  <a:pt x="3845" y="6497"/>
                  <a:pt x="3851" y="6496"/>
                  <a:pt x="3855" y="6493"/>
                </a:cubicBezTo>
                <a:cubicBezTo>
                  <a:pt x="3856" y="6493"/>
                  <a:pt x="3856" y="6493"/>
                  <a:pt x="3857" y="6492"/>
                </a:cubicBezTo>
                <a:cubicBezTo>
                  <a:pt x="3859" y="6492"/>
                  <a:pt x="3859" y="6491"/>
                  <a:pt x="3860" y="6491"/>
                </a:cubicBezTo>
                <a:cubicBezTo>
                  <a:pt x="3864" y="6489"/>
                  <a:pt x="3868" y="6487"/>
                  <a:pt x="3872" y="6484"/>
                </a:cubicBezTo>
                <a:cubicBezTo>
                  <a:pt x="3873" y="6484"/>
                  <a:pt x="3873" y="6483"/>
                  <a:pt x="3875" y="6483"/>
                </a:cubicBezTo>
                <a:cubicBezTo>
                  <a:pt x="3879" y="6480"/>
                  <a:pt x="3884" y="6477"/>
                  <a:pt x="3888" y="6475"/>
                </a:cubicBezTo>
                <a:cubicBezTo>
                  <a:pt x="3889" y="6473"/>
                  <a:pt x="3891" y="6473"/>
                  <a:pt x="3892" y="6472"/>
                </a:cubicBezTo>
                <a:cubicBezTo>
                  <a:pt x="3895" y="6469"/>
                  <a:pt x="3899" y="6468"/>
                  <a:pt x="3901" y="6465"/>
                </a:cubicBezTo>
                <a:cubicBezTo>
                  <a:pt x="3903" y="6464"/>
                  <a:pt x="3904" y="6463"/>
                  <a:pt x="3905" y="6463"/>
                </a:cubicBezTo>
                <a:cubicBezTo>
                  <a:pt x="3909" y="6459"/>
                  <a:pt x="3913" y="6456"/>
                  <a:pt x="3916" y="6452"/>
                </a:cubicBezTo>
                <a:lnTo>
                  <a:pt x="3916" y="6452"/>
                </a:lnTo>
                <a:cubicBezTo>
                  <a:pt x="3920" y="6448"/>
                  <a:pt x="3923" y="6444"/>
                  <a:pt x="3927" y="6440"/>
                </a:cubicBezTo>
                <a:cubicBezTo>
                  <a:pt x="3928" y="6439"/>
                  <a:pt x="3928" y="6437"/>
                  <a:pt x="3929" y="6436"/>
                </a:cubicBezTo>
                <a:cubicBezTo>
                  <a:pt x="3932" y="6433"/>
                  <a:pt x="3935" y="6429"/>
                  <a:pt x="3936" y="6427"/>
                </a:cubicBezTo>
                <a:cubicBezTo>
                  <a:pt x="3937" y="6425"/>
                  <a:pt x="3937" y="6424"/>
                  <a:pt x="3939" y="6423"/>
                </a:cubicBezTo>
                <a:cubicBezTo>
                  <a:pt x="3941" y="6419"/>
                  <a:pt x="3943" y="6416"/>
                  <a:pt x="3945" y="6412"/>
                </a:cubicBezTo>
                <a:cubicBezTo>
                  <a:pt x="3945" y="6411"/>
                  <a:pt x="3947" y="6409"/>
                  <a:pt x="3947" y="6409"/>
                </a:cubicBezTo>
                <a:cubicBezTo>
                  <a:pt x="3949" y="6405"/>
                  <a:pt x="3951" y="6400"/>
                  <a:pt x="3953" y="6396"/>
                </a:cubicBezTo>
                <a:lnTo>
                  <a:pt x="6481" y="284"/>
                </a:lnTo>
                <a:cubicBezTo>
                  <a:pt x="6485" y="273"/>
                  <a:pt x="6489" y="261"/>
                  <a:pt x="6492" y="249"/>
                </a:cubicBezTo>
                <a:cubicBezTo>
                  <a:pt x="6493" y="245"/>
                  <a:pt x="6493" y="240"/>
                  <a:pt x="6493" y="236"/>
                </a:cubicBezTo>
                <a:lnTo>
                  <a:pt x="6493" y="232"/>
                </a:lnTo>
                <a:cubicBezTo>
                  <a:pt x="6493" y="227"/>
                  <a:pt x="6493" y="223"/>
                  <a:pt x="6495" y="217"/>
                </a:cubicBezTo>
                <a:lnTo>
                  <a:pt x="6495" y="215"/>
                </a:lnTo>
                <a:lnTo>
                  <a:pt x="6495" y="203"/>
                </a:lnTo>
                <a:close/>
                <a:moveTo>
                  <a:pt x="648" y="2727"/>
                </a:moveTo>
                <a:lnTo>
                  <a:pt x="5589" y="687"/>
                </a:lnTo>
                <a:lnTo>
                  <a:pt x="2685" y="3589"/>
                </a:lnTo>
                <a:lnTo>
                  <a:pt x="648" y="2727"/>
                </a:lnTo>
                <a:close/>
                <a:moveTo>
                  <a:pt x="3787" y="5865"/>
                </a:moveTo>
                <a:lnTo>
                  <a:pt x="2933" y="3851"/>
                </a:lnTo>
                <a:lnTo>
                  <a:pt x="5804" y="981"/>
                </a:lnTo>
                <a:lnTo>
                  <a:pt x="3787" y="5865"/>
                </a:ln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111" name="文本框 110">
            <a:extLst>
              <a:ext uri="{FF2B5EF4-FFF2-40B4-BE49-F238E27FC236}">
                <a16:creationId xmlns:a16="http://schemas.microsoft.com/office/drawing/2014/main" id="{5170E354-3C9D-4F9F-9279-6F4A839AB12C}"/>
              </a:ext>
            </a:extLst>
          </p:cNvPr>
          <p:cNvSpPr txBox="1"/>
          <p:nvPr/>
        </p:nvSpPr>
        <p:spPr>
          <a:xfrm>
            <a:off x="373082" y="5620123"/>
            <a:ext cx="1660612" cy="338554"/>
          </a:xfrm>
          <a:prstGeom prst="rect">
            <a:avLst/>
          </a:prstGeom>
          <a:noFill/>
        </p:spPr>
        <p:txBody>
          <a:bodyPr wrap="square" rtlCol="0">
            <a:spAutoFit/>
          </a:bodyPr>
          <a:lstStyle/>
          <a:p>
            <a:r>
              <a:rPr lang="zh-CN" altLang="en-US" sz="1600" dirty="0">
                <a:solidFill>
                  <a:schemeClr val="bg1"/>
                </a:solidFill>
                <a:latin typeface="思源黑体 CN Regular" panose="020B0500000000000000" pitchFamily="34" charset="-122"/>
                <a:ea typeface="思源黑体 CN Regular" panose="020B0500000000000000" pitchFamily="34" charset="-122"/>
              </a:rPr>
              <a:t>预期成果</a:t>
            </a:r>
          </a:p>
        </p:txBody>
      </p:sp>
      <p:sp>
        <p:nvSpPr>
          <p:cNvPr id="96" name="任意矩形：006">
            <a:extLst>
              <a:ext uri="{FF2B5EF4-FFF2-40B4-BE49-F238E27FC236}">
                <a16:creationId xmlns:a16="http://schemas.microsoft.com/office/drawing/2014/main" id="{86C1B167-29F7-4A54-AEEB-D09FBB83AA8F}"/>
              </a:ext>
            </a:extLst>
          </p:cNvPr>
          <p:cNvSpPr/>
          <p:nvPr/>
        </p:nvSpPr>
        <p:spPr>
          <a:xfrm>
            <a:off x="125661" y="5689964"/>
            <a:ext cx="203662" cy="187126"/>
          </a:xfrm>
          <a:custGeom>
            <a:avLst/>
            <a:gdLst>
              <a:gd name="T0" fmla="*/ 11834 w 13933"/>
              <a:gd name="T1" fmla="*/ 1094 h 12800"/>
              <a:gd name="T2" fmla="*/ 10384 w 13933"/>
              <a:gd name="T3" fmla="*/ 1094 h 12800"/>
              <a:gd name="T4" fmla="*/ 10384 w 13933"/>
              <a:gd name="T5" fmla="*/ 315 h 12800"/>
              <a:gd name="T6" fmla="*/ 10069 w 13933"/>
              <a:gd name="T7" fmla="*/ 0 h 12800"/>
              <a:gd name="T8" fmla="*/ 9754 w 13933"/>
              <a:gd name="T9" fmla="*/ 315 h 12800"/>
              <a:gd name="T10" fmla="*/ 9754 w 13933"/>
              <a:gd name="T11" fmla="*/ 1094 h 12800"/>
              <a:gd name="T12" fmla="*/ 4056 w 13933"/>
              <a:gd name="T13" fmla="*/ 1094 h 12800"/>
              <a:gd name="T14" fmla="*/ 4056 w 13933"/>
              <a:gd name="T15" fmla="*/ 315 h 12800"/>
              <a:gd name="T16" fmla="*/ 3741 w 13933"/>
              <a:gd name="T17" fmla="*/ 0 h 12800"/>
              <a:gd name="T18" fmla="*/ 3426 w 13933"/>
              <a:gd name="T19" fmla="*/ 315 h 12800"/>
              <a:gd name="T20" fmla="*/ 3426 w 13933"/>
              <a:gd name="T21" fmla="*/ 1094 h 12800"/>
              <a:gd name="T22" fmla="*/ 2099 w 13933"/>
              <a:gd name="T23" fmla="*/ 1094 h 12800"/>
              <a:gd name="T24" fmla="*/ 0 w 13933"/>
              <a:gd name="T25" fmla="*/ 3193 h 12800"/>
              <a:gd name="T26" fmla="*/ 0 w 13933"/>
              <a:gd name="T27" fmla="*/ 10701 h 12800"/>
              <a:gd name="T28" fmla="*/ 2099 w 13933"/>
              <a:gd name="T29" fmla="*/ 12800 h 12800"/>
              <a:gd name="T30" fmla="*/ 11834 w 13933"/>
              <a:gd name="T31" fmla="*/ 12800 h 12800"/>
              <a:gd name="T32" fmla="*/ 13933 w 13933"/>
              <a:gd name="T33" fmla="*/ 10701 h 12800"/>
              <a:gd name="T34" fmla="*/ 13933 w 13933"/>
              <a:gd name="T35" fmla="*/ 3193 h 12800"/>
              <a:gd name="T36" fmla="*/ 11834 w 13933"/>
              <a:gd name="T37" fmla="*/ 1094 h 12800"/>
              <a:gd name="T38" fmla="*/ 2099 w 13933"/>
              <a:gd name="T39" fmla="*/ 1933 h 12800"/>
              <a:gd name="T40" fmla="*/ 3426 w 13933"/>
              <a:gd name="T41" fmla="*/ 1933 h 12800"/>
              <a:gd name="T42" fmla="*/ 3426 w 13933"/>
              <a:gd name="T43" fmla="*/ 2757 h 12800"/>
              <a:gd name="T44" fmla="*/ 3741 w 13933"/>
              <a:gd name="T45" fmla="*/ 3072 h 12800"/>
              <a:gd name="T46" fmla="*/ 4056 w 13933"/>
              <a:gd name="T47" fmla="*/ 2757 h 12800"/>
              <a:gd name="T48" fmla="*/ 4056 w 13933"/>
              <a:gd name="T49" fmla="*/ 1933 h 12800"/>
              <a:gd name="T50" fmla="*/ 9754 w 13933"/>
              <a:gd name="T51" fmla="*/ 1933 h 12800"/>
              <a:gd name="T52" fmla="*/ 9754 w 13933"/>
              <a:gd name="T53" fmla="*/ 2757 h 12800"/>
              <a:gd name="T54" fmla="*/ 10069 w 13933"/>
              <a:gd name="T55" fmla="*/ 3072 h 12800"/>
              <a:gd name="T56" fmla="*/ 10384 w 13933"/>
              <a:gd name="T57" fmla="*/ 2757 h 12800"/>
              <a:gd name="T58" fmla="*/ 10384 w 13933"/>
              <a:gd name="T59" fmla="*/ 1933 h 12800"/>
              <a:gd name="T60" fmla="*/ 11834 w 13933"/>
              <a:gd name="T61" fmla="*/ 1933 h 12800"/>
              <a:gd name="T62" fmla="*/ 13094 w 13933"/>
              <a:gd name="T63" fmla="*/ 3193 h 12800"/>
              <a:gd name="T64" fmla="*/ 13094 w 13933"/>
              <a:gd name="T65" fmla="*/ 4646 h 12800"/>
              <a:gd name="T66" fmla="*/ 840 w 13933"/>
              <a:gd name="T67" fmla="*/ 4646 h 12800"/>
              <a:gd name="T68" fmla="*/ 840 w 13933"/>
              <a:gd name="T69" fmla="*/ 3193 h 12800"/>
              <a:gd name="T70" fmla="*/ 2099 w 13933"/>
              <a:gd name="T71" fmla="*/ 1933 h 12800"/>
              <a:gd name="T72" fmla="*/ 11834 w 13933"/>
              <a:gd name="T73" fmla="*/ 11960 h 12800"/>
              <a:gd name="T74" fmla="*/ 2099 w 13933"/>
              <a:gd name="T75" fmla="*/ 11960 h 12800"/>
              <a:gd name="T76" fmla="*/ 840 w 13933"/>
              <a:gd name="T77" fmla="*/ 10701 h 12800"/>
              <a:gd name="T78" fmla="*/ 840 w 13933"/>
              <a:gd name="T79" fmla="*/ 5276 h 12800"/>
              <a:gd name="T80" fmla="*/ 13094 w 13933"/>
              <a:gd name="T81" fmla="*/ 5276 h 12800"/>
              <a:gd name="T82" fmla="*/ 13094 w 13933"/>
              <a:gd name="T83" fmla="*/ 10701 h 12800"/>
              <a:gd name="T84" fmla="*/ 11834 w 13933"/>
              <a:gd name="T85" fmla="*/ 11960 h 128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Lst>
            <a:rect l="0" t="0" r="r" b="b"/>
            <a:pathLst>
              <a:path w="13933" h="12800">
                <a:moveTo>
                  <a:pt x="11834" y="1094"/>
                </a:moveTo>
                <a:lnTo>
                  <a:pt x="10384" y="1094"/>
                </a:lnTo>
                <a:lnTo>
                  <a:pt x="10384" y="315"/>
                </a:lnTo>
                <a:cubicBezTo>
                  <a:pt x="10384" y="141"/>
                  <a:pt x="10243" y="0"/>
                  <a:pt x="10069" y="0"/>
                </a:cubicBezTo>
                <a:cubicBezTo>
                  <a:pt x="9895" y="0"/>
                  <a:pt x="9754" y="141"/>
                  <a:pt x="9754" y="315"/>
                </a:cubicBezTo>
                <a:lnTo>
                  <a:pt x="9754" y="1094"/>
                </a:lnTo>
                <a:lnTo>
                  <a:pt x="4056" y="1094"/>
                </a:lnTo>
                <a:lnTo>
                  <a:pt x="4056" y="315"/>
                </a:lnTo>
                <a:cubicBezTo>
                  <a:pt x="4056" y="141"/>
                  <a:pt x="3915" y="0"/>
                  <a:pt x="3741" y="0"/>
                </a:cubicBezTo>
                <a:cubicBezTo>
                  <a:pt x="3567" y="0"/>
                  <a:pt x="3426" y="141"/>
                  <a:pt x="3426" y="315"/>
                </a:cubicBezTo>
                <a:lnTo>
                  <a:pt x="3426" y="1094"/>
                </a:lnTo>
                <a:lnTo>
                  <a:pt x="2099" y="1094"/>
                </a:lnTo>
                <a:cubicBezTo>
                  <a:pt x="940" y="1095"/>
                  <a:pt x="1" y="2034"/>
                  <a:pt x="0" y="3193"/>
                </a:cubicBezTo>
                <a:lnTo>
                  <a:pt x="0" y="10701"/>
                </a:lnTo>
                <a:cubicBezTo>
                  <a:pt x="1" y="11860"/>
                  <a:pt x="940" y="12799"/>
                  <a:pt x="2099" y="12800"/>
                </a:cubicBezTo>
                <a:lnTo>
                  <a:pt x="11834" y="12800"/>
                </a:lnTo>
                <a:cubicBezTo>
                  <a:pt x="12993" y="12799"/>
                  <a:pt x="13932" y="11860"/>
                  <a:pt x="13933" y="10701"/>
                </a:cubicBezTo>
                <a:lnTo>
                  <a:pt x="13933" y="3193"/>
                </a:lnTo>
                <a:cubicBezTo>
                  <a:pt x="13932" y="2034"/>
                  <a:pt x="12993" y="1095"/>
                  <a:pt x="11834" y="1094"/>
                </a:cubicBezTo>
                <a:close/>
                <a:moveTo>
                  <a:pt x="2099" y="1933"/>
                </a:moveTo>
                <a:lnTo>
                  <a:pt x="3426" y="1933"/>
                </a:lnTo>
                <a:lnTo>
                  <a:pt x="3426" y="2757"/>
                </a:lnTo>
                <a:cubicBezTo>
                  <a:pt x="3426" y="2931"/>
                  <a:pt x="3567" y="3072"/>
                  <a:pt x="3741" y="3072"/>
                </a:cubicBezTo>
                <a:cubicBezTo>
                  <a:pt x="3915" y="3072"/>
                  <a:pt x="4056" y="2931"/>
                  <a:pt x="4056" y="2757"/>
                </a:cubicBezTo>
                <a:lnTo>
                  <a:pt x="4056" y="1933"/>
                </a:lnTo>
                <a:lnTo>
                  <a:pt x="9754" y="1933"/>
                </a:lnTo>
                <a:lnTo>
                  <a:pt x="9754" y="2757"/>
                </a:lnTo>
                <a:cubicBezTo>
                  <a:pt x="9754" y="2931"/>
                  <a:pt x="9895" y="3072"/>
                  <a:pt x="10069" y="3072"/>
                </a:cubicBezTo>
                <a:cubicBezTo>
                  <a:pt x="10243" y="3072"/>
                  <a:pt x="10384" y="2931"/>
                  <a:pt x="10384" y="2757"/>
                </a:cubicBezTo>
                <a:lnTo>
                  <a:pt x="10384" y="1933"/>
                </a:lnTo>
                <a:lnTo>
                  <a:pt x="11834" y="1933"/>
                </a:lnTo>
                <a:cubicBezTo>
                  <a:pt x="12529" y="1934"/>
                  <a:pt x="13093" y="2497"/>
                  <a:pt x="13094" y="3193"/>
                </a:cubicBezTo>
                <a:lnTo>
                  <a:pt x="13094" y="4646"/>
                </a:lnTo>
                <a:lnTo>
                  <a:pt x="840" y="4646"/>
                </a:lnTo>
                <a:lnTo>
                  <a:pt x="840" y="3193"/>
                </a:lnTo>
                <a:cubicBezTo>
                  <a:pt x="840" y="2497"/>
                  <a:pt x="1404" y="1934"/>
                  <a:pt x="2099" y="1933"/>
                </a:cubicBezTo>
                <a:close/>
                <a:moveTo>
                  <a:pt x="11834" y="11960"/>
                </a:moveTo>
                <a:lnTo>
                  <a:pt x="2099" y="11960"/>
                </a:lnTo>
                <a:cubicBezTo>
                  <a:pt x="1404" y="11960"/>
                  <a:pt x="840" y="11396"/>
                  <a:pt x="840" y="10701"/>
                </a:cubicBezTo>
                <a:lnTo>
                  <a:pt x="840" y="5276"/>
                </a:lnTo>
                <a:lnTo>
                  <a:pt x="13094" y="5276"/>
                </a:lnTo>
                <a:lnTo>
                  <a:pt x="13094" y="10701"/>
                </a:lnTo>
                <a:cubicBezTo>
                  <a:pt x="13093" y="11396"/>
                  <a:pt x="12529" y="11960"/>
                  <a:pt x="11834" y="1196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13113258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 name="文本框 69">
            <a:extLst>
              <a:ext uri="{FF2B5EF4-FFF2-40B4-BE49-F238E27FC236}">
                <a16:creationId xmlns:a16="http://schemas.microsoft.com/office/drawing/2014/main" id="{669184F9-9C2C-4822-855E-8B3A4CDFE976}"/>
              </a:ext>
            </a:extLst>
          </p:cNvPr>
          <p:cNvSpPr txBox="1"/>
          <p:nvPr/>
        </p:nvSpPr>
        <p:spPr>
          <a:xfrm>
            <a:off x="2209656" y="248670"/>
            <a:ext cx="2871299" cy="461665"/>
          </a:xfrm>
          <a:prstGeom prst="rect">
            <a:avLst/>
          </a:prstGeom>
          <a:noFill/>
        </p:spPr>
        <p:txBody>
          <a:bodyPr wrap="none" rtlCol="0">
            <a:spAutoFit/>
          </a:bodyPr>
          <a:lstStyle/>
          <a:p>
            <a:r>
              <a:rPr lang="en-US" altLang="zh-CN" sz="2400" dirty="0">
                <a:solidFill>
                  <a:schemeClr val="accent1"/>
                </a:solidFill>
                <a:latin typeface="思源黑体 CN Bold" panose="020B0800000000000000" pitchFamily="34" charset="-122"/>
                <a:ea typeface="思源黑体 CN Bold" panose="020B0800000000000000" pitchFamily="34" charset="-122"/>
              </a:rPr>
              <a:t>1.2 </a:t>
            </a:r>
            <a:r>
              <a:rPr lang="zh-CN" altLang="en-US" sz="2400" dirty="0">
                <a:solidFill>
                  <a:schemeClr val="accent1"/>
                </a:solidFill>
                <a:latin typeface="思源黑体 CN Bold" panose="020B0800000000000000" pitchFamily="34" charset="-122"/>
                <a:ea typeface="思源黑体 CN Bold" panose="020B0800000000000000" pitchFamily="34" charset="-122"/>
              </a:rPr>
              <a:t>国内外研究现状</a:t>
            </a:r>
          </a:p>
        </p:txBody>
      </p:sp>
      <p:sp>
        <p:nvSpPr>
          <p:cNvPr id="72" name="矩形 71">
            <a:extLst>
              <a:ext uri="{FF2B5EF4-FFF2-40B4-BE49-F238E27FC236}">
                <a16:creationId xmlns:a16="http://schemas.microsoft.com/office/drawing/2014/main" id="{7A3353A9-1593-4C31-A14F-B171598F61CD}"/>
              </a:ext>
            </a:extLst>
          </p:cNvPr>
          <p:cNvSpPr/>
          <p:nvPr/>
        </p:nvSpPr>
        <p:spPr>
          <a:xfrm>
            <a:off x="0" y="1970913"/>
            <a:ext cx="2052320" cy="56374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73" name="文本框 72">
            <a:extLst>
              <a:ext uri="{FF2B5EF4-FFF2-40B4-BE49-F238E27FC236}">
                <a16:creationId xmlns:a16="http://schemas.microsoft.com/office/drawing/2014/main" id="{C277F087-EC69-4345-A2D2-EF6883D61962}"/>
              </a:ext>
            </a:extLst>
          </p:cNvPr>
          <p:cNvSpPr txBox="1"/>
          <p:nvPr/>
        </p:nvSpPr>
        <p:spPr>
          <a:xfrm>
            <a:off x="373082" y="2098899"/>
            <a:ext cx="1660612" cy="338554"/>
          </a:xfrm>
          <a:prstGeom prst="rect">
            <a:avLst/>
          </a:prstGeom>
          <a:noFill/>
        </p:spPr>
        <p:txBody>
          <a:bodyPr wrap="square" rtlCol="0">
            <a:spAutoFit/>
          </a:bodyPr>
          <a:lstStyle/>
          <a:p>
            <a:r>
              <a:rPr lang="zh-CN" altLang="en-US" sz="1600" dirty="0">
                <a:solidFill>
                  <a:schemeClr val="accent1"/>
                </a:solidFill>
                <a:latin typeface="思源黑体 CN Regular" panose="020B0500000000000000" pitchFamily="34" charset="-122"/>
                <a:ea typeface="思源黑体 CN Regular" panose="020B0500000000000000" pitchFamily="34" charset="-122"/>
              </a:rPr>
              <a:t>研究背景及现状</a:t>
            </a:r>
          </a:p>
        </p:txBody>
      </p:sp>
      <p:sp>
        <p:nvSpPr>
          <p:cNvPr id="74" name="任意矩形：001">
            <a:extLst>
              <a:ext uri="{FF2B5EF4-FFF2-40B4-BE49-F238E27FC236}">
                <a16:creationId xmlns:a16="http://schemas.microsoft.com/office/drawing/2014/main" id="{19AE9B85-8905-4DCA-AE3E-EC6F67C512A1}"/>
              </a:ext>
            </a:extLst>
          </p:cNvPr>
          <p:cNvSpPr/>
          <p:nvPr/>
        </p:nvSpPr>
        <p:spPr>
          <a:xfrm>
            <a:off x="131492" y="2145245"/>
            <a:ext cx="226722" cy="202893"/>
          </a:xfrm>
          <a:custGeom>
            <a:avLst/>
            <a:gdLst>
              <a:gd name="connsiteX0" fmla="*/ 79591 w 607005"/>
              <a:gd name="connsiteY0" fmla="*/ 373864 h 543210"/>
              <a:gd name="connsiteX1" fmla="*/ 33701 w 607005"/>
              <a:gd name="connsiteY1" fmla="*/ 461494 h 543210"/>
              <a:gd name="connsiteX2" fmla="*/ 79501 w 607005"/>
              <a:gd name="connsiteY2" fmla="*/ 507233 h 543210"/>
              <a:gd name="connsiteX3" fmla="*/ 125392 w 607005"/>
              <a:gd name="connsiteY3" fmla="*/ 461494 h 543210"/>
              <a:gd name="connsiteX4" fmla="*/ 79591 w 607005"/>
              <a:gd name="connsiteY4" fmla="*/ 373864 h 543210"/>
              <a:gd name="connsiteX5" fmla="*/ 79501 w 607005"/>
              <a:gd name="connsiteY5" fmla="*/ 328661 h 543210"/>
              <a:gd name="connsiteX6" fmla="*/ 92856 w 607005"/>
              <a:gd name="connsiteY6" fmla="*/ 335106 h 543210"/>
              <a:gd name="connsiteX7" fmla="*/ 158913 w 607005"/>
              <a:gd name="connsiteY7" fmla="*/ 461404 h 543210"/>
              <a:gd name="connsiteX8" fmla="*/ 79501 w 607005"/>
              <a:gd name="connsiteY8" fmla="*/ 540710 h 543210"/>
              <a:gd name="connsiteX9" fmla="*/ 0 w 607005"/>
              <a:gd name="connsiteY9" fmla="*/ 461404 h 543210"/>
              <a:gd name="connsiteX10" fmla="*/ 66236 w 607005"/>
              <a:gd name="connsiteY10" fmla="*/ 335195 h 543210"/>
              <a:gd name="connsiteX11" fmla="*/ 79501 w 607005"/>
              <a:gd name="connsiteY11" fmla="*/ 328661 h 543210"/>
              <a:gd name="connsiteX12" fmla="*/ 196548 w 607005"/>
              <a:gd name="connsiteY12" fmla="*/ 281688 h 543210"/>
              <a:gd name="connsiteX13" fmla="*/ 391755 w 607005"/>
              <a:gd name="connsiteY13" fmla="*/ 476431 h 543210"/>
              <a:gd name="connsiteX14" fmla="*/ 540265 w 607005"/>
              <a:gd name="connsiteY14" fmla="*/ 476431 h 543210"/>
              <a:gd name="connsiteX15" fmla="*/ 540265 w 607005"/>
              <a:gd name="connsiteY15" fmla="*/ 328047 h 543210"/>
              <a:gd name="connsiteX16" fmla="*/ 493749 w 607005"/>
              <a:gd name="connsiteY16" fmla="*/ 281688 h 543210"/>
              <a:gd name="connsiteX17" fmla="*/ 261707 w 607005"/>
              <a:gd name="connsiteY17" fmla="*/ 49894 h 543210"/>
              <a:gd name="connsiteX18" fmla="*/ 113017 w 607005"/>
              <a:gd name="connsiteY18" fmla="*/ 198278 h 543210"/>
              <a:gd name="connsiteX19" fmla="*/ 163028 w 607005"/>
              <a:gd name="connsiteY19" fmla="*/ 248127 h 543210"/>
              <a:gd name="connsiteX20" fmla="*/ 460229 w 607005"/>
              <a:gd name="connsiteY20" fmla="*/ 248127 h 543210"/>
              <a:gd name="connsiteX21" fmla="*/ 271073 w 607005"/>
              <a:gd name="connsiteY21" fmla="*/ 0 h 543210"/>
              <a:gd name="connsiteX22" fmla="*/ 282948 w 607005"/>
              <a:gd name="connsiteY22" fmla="*/ 4967 h 543210"/>
              <a:gd name="connsiteX23" fmla="*/ 285099 w 607005"/>
              <a:gd name="connsiteY23" fmla="*/ 25909 h 543210"/>
              <a:gd name="connsiteX24" fmla="*/ 563927 w 607005"/>
              <a:gd name="connsiteY24" fmla="*/ 304331 h 543210"/>
              <a:gd name="connsiteX25" fmla="*/ 563927 w 607005"/>
              <a:gd name="connsiteY25" fmla="*/ 500148 h 543210"/>
              <a:gd name="connsiteX26" fmla="*/ 367824 w 607005"/>
              <a:gd name="connsiteY26" fmla="*/ 500148 h 543210"/>
              <a:gd name="connsiteX27" fmla="*/ 88997 w 607005"/>
              <a:gd name="connsiteY27" fmla="*/ 221726 h 543210"/>
              <a:gd name="connsiteX28" fmla="*/ 68024 w 607005"/>
              <a:gd name="connsiteY28" fmla="*/ 219578 h 543210"/>
              <a:gd name="connsiteX29" fmla="*/ 68024 w 607005"/>
              <a:gd name="connsiteY29" fmla="*/ 195862 h 543210"/>
              <a:gd name="connsiteX30" fmla="*/ 259197 w 607005"/>
              <a:gd name="connsiteY30" fmla="*/ 4967 h 543210"/>
              <a:gd name="connsiteX31" fmla="*/ 271073 w 607005"/>
              <a:gd name="connsiteY31" fmla="*/ 0 h 5432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607005" h="543210">
                <a:moveTo>
                  <a:pt x="79591" y="373864"/>
                </a:moveTo>
                <a:cubicBezTo>
                  <a:pt x="57452" y="405192"/>
                  <a:pt x="33701" y="445024"/>
                  <a:pt x="33701" y="461494"/>
                </a:cubicBezTo>
                <a:cubicBezTo>
                  <a:pt x="33701" y="486646"/>
                  <a:pt x="54226" y="507233"/>
                  <a:pt x="79501" y="507233"/>
                </a:cubicBezTo>
                <a:cubicBezTo>
                  <a:pt x="104687" y="507233"/>
                  <a:pt x="125212" y="486646"/>
                  <a:pt x="125392" y="461494"/>
                </a:cubicBezTo>
                <a:cubicBezTo>
                  <a:pt x="125392" y="445024"/>
                  <a:pt x="101729" y="405282"/>
                  <a:pt x="79591" y="373864"/>
                </a:cubicBezTo>
                <a:close/>
                <a:moveTo>
                  <a:pt x="79501" y="328661"/>
                </a:moveTo>
                <a:cubicBezTo>
                  <a:pt x="84610" y="328661"/>
                  <a:pt x="89540" y="331078"/>
                  <a:pt x="92856" y="335106"/>
                </a:cubicBezTo>
                <a:cubicBezTo>
                  <a:pt x="103881" y="349517"/>
                  <a:pt x="158913" y="423094"/>
                  <a:pt x="158913" y="461404"/>
                </a:cubicBezTo>
                <a:cubicBezTo>
                  <a:pt x="158913" y="505175"/>
                  <a:pt x="123240" y="540710"/>
                  <a:pt x="79501" y="540710"/>
                </a:cubicBezTo>
                <a:cubicBezTo>
                  <a:pt x="35583" y="540710"/>
                  <a:pt x="0" y="505085"/>
                  <a:pt x="0" y="461404"/>
                </a:cubicBezTo>
                <a:cubicBezTo>
                  <a:pt x="0" y="423094"/>
                  <a:pt x="55122" y="349517"/>
                  <a:pt x="66236" y="335195"/>
                </a:cubicBezTo>
                <a:cubicBezTo>
                  <a:pt x="69284" y="331078"/>
                  <a:pt x="74213" y="328661"/>
                  <a:pt x="79501" y="328661"/>
                </a:cubicBezTo>
                <a:close/>
                <a:moveTo>
                  <a:pt x="196548" y="281688"/>
                </a:moveTo>
                <a:lnTo>
                  <a:pt x="391755" y="476431"/>
                </a:lnTo>
                <a:cubicBezTo>
                  <a:pt x="420525" y="505249"/>
                  <a:pt x="488999" y="527623"/>
                  <a:pt x="540265" y="476431"/>
                </a:cubicBezTo>
                <a:cubicBezTo>
                  <a:pt x="592249" y="424524"/>
                  <a:pt x="570290" y="358028"/>
                  <a:pt x="540265" y="328047"/>
                </a:cubicBezTo>
                <a:lnTo>
                  <a:pt x="493749" y="281688"/>
                </a:lnTo>
                <a:close/>
                <a:moveTo>
                  <a:pt x="261707" y="49894"/>
                </a:moveTo>
                <a:lnTo>
                  <a:pt x="113017" y="198278"/>
                </a:lnTo>
                <a:lnTo>
                  <a:pt x="163028" y="248127"/>
                </a:lnTo>
                <a:lnTo>
                  <a:pt x="460229" y="248127"/>
                </a:lnTo>
                <a:close/>
                <a:moveTo>
                  <a:pt x="271073" y="0"/>
                </a:moveTo>
                <a:cubicBezTo>
                  <a:pt x="275375" y="0"/>
                  <a:pt x="279677" y="1655"/>
                  <a:pt x="282948" y="4967"/>
                </a:cubicBezTo>
                <a:cubicBezTo>
                  <a:pt x="288595" y="10694"/>
                  <a:pt x="289312" y="19465"/>
                  <a:pt x="285099" y="25909"/>
                </a:cubicBezTo>
                <a:lnTo>
                  <a:pt x="563927" y="304331"/>
                </a:lnTo>
                <a:cubicBezTo>
                  <a:pt x="604528" y="344872"/>
                  <a:pt x="636076" y="428104"/>
                  <a:pt x="563927" y="500148"/>
                </a:cubicBezTo>
                <a:cubicBezTo>
                  <a:pt x="492495" y="571476"/>
                  <a:pt x="409501" y="541763"/>
                  <a:pt x="367824" y="500148"/>
                </a:cubicBezTo>
                <a:lnTo>
                  <a:pt x="88997" y="221726"/>
                </a:lnTo>
                <a:cubicBezTo>
                  <a:pt x="81468" y="226380"/>
                  <a:pt x="73850" y="225485"/>
                  <a:pt x="68024" y="219578"/>
                </a:cubicBezTo>
                <a:cubicBezTo>
                  <a:pt x="61392" y="213045"/>
                  <a:pt x="61392" y="202395"/>
                  <a:pt x="68024" y="195862"/>
                </a:cubicBezTo>
                <a:lnTo>
                  <a:pt x="259197" y="4967"/>
                </a:lnTo>
                <a:cubicBezTo>
                  <a:pt x="262469" y="1655"/>
                  <a:pt x="266771" y="0"/>
                  <a:pt x="271073" y="0"/>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5" name="任意矩形：002">
            <a:extLst>
              <a:ext uri="{FF2B5EF4-FFF2-40B4-BE49-F238E27FC236}">
                <a16:creationId xmlns:a16="http://schemas.microsoft.com/office/drawing/2014/main" id="{52A56603-6675-4030-8A18-CD0E38156E2F}"/>
              </a:ext>
            </a:extLst>
          </p:cNvPr>
          <p:cNvSpPr/>
          <p:nvPr/>
        </p:nvSpPr>
        <p:spPr>
          <a:xfrm>
            <a:off x="143798" y="2860995"/>
            <a:ext cx="202111" cy="201828"/>
          </a:xfrm>
          <a:custGeom>
            <a:avLst/>
            <a:gdLst>
              <a:gd name="connsiteX0" fmla="*/ 303643 w 607215"/>
              <a:gd name="connsiteY0" fmla="*/ 280873 h 606369"/>
              <a:gd name="connsiteX1" fmla="*/ 325219 w 607215"/>
              <a:gd name="connsiteY1" fmla="*/ 302335 h 606369"/>
              <a:gd name="connsiteX2" fmla="*/ 303643 w 607215"/>
              <a:gd name="connsiteY2" fmla="*/ 323873 h 606369"/>
              <a:gd name="connsiteX3" fmla="*/ 282068 w 607215"/>
              <a:gd name="connsiteY3" fmla="*/ 302335 h 606369"/>
              <a:gd name="connsiteX4" fmla="*/ 303643 w 607215"/>
              <a:gd name="connsiteY4" fmla="*/ 280873 h 606369"/>
              <a:gd name="connsiteX5" fmla="*/ 303678 w 607215"/>
              <a:gd name="connsiteY5" fmla="*/ 280357 h 606369"/>
              <a:gd name="connsiteX6" fmla="*/ 281626 w 607215"/>
              <a:gd name="connsiteY6" fmla="*/ 302374 h 606369"/>
              <a:gd name="connsiteX7" fmla="*/ 303678 w 607215"/>
              <a:gd name="connsiteY7" fmla="*/ 324391 h 606369"/>
              <a:gd name="connsiteX8" fmla="*/ 325730 w 607215"/>
              <a:gd name="connsiteY8" fmla="*/ 302374 h 606369"/>
              <a:gd name="connsiteX9" fmla="*/ 303678 w 607215"/>
              <a:gd name="connsiteY9" fmla="*/ 280357 h 606369"/>
              <a:gd name="connsiteX10" fmla="*/ 303643 w 607215"/>
              <a:gd name="connsiteY10" fmla="*/ 279792 h 606369"/>
              <a:gd name="connsiteX11" fmla="*/ 326224 w 607215"/>
              <a:gd name="connsiteY11" fmla="*/ 302335 h 606369"/>
              <a:gd name="connsiteX12" fmla="*/ 303643 w 607215"/>
              <a:gd name="connsiteY12" fmla="*/ 324954 h 606369"/>
              <a:gd name="connsiteX13" fmla="*/ 281062 w 607215"/>
              <a:gd name="connsiteY13" fmla="*/ 302335 h 606369"/>
              <a:gd name="connsiteX14" fmla="*/ 303643 w 607215"/>
              <a:gd name="connsiteY14" fmla="*/ 279792 h 606369"/>
              <a:gd name="connsiteX15" fmla="*/ 281043 w 607215"/>
              <a:gd name="connsiteY15" fmla="*/ 46068 h 606369"/>
              <a:gd name="connsiteX16" fmla="*/ 120855 w 607215"/>
              <a:gd name="connsiteY16" fmla="*/ 120687 h 606369"/>
              <a:gd name="connsiteX17" fmla="*/ 46132 w 607215"/>
              <a:gd name="connsiteY17" fmla="*/ 280652 h 606369"/>
              <a:gd name="connsiteX18" fmla="*/ 147128 w 607215"/>
              <a:gd name="connsiteY18" fmla="*/ 280652 h 606369"/>
              <a:gd name="connsiteX19" fmla="*/ 169770 w 607215"/>
              <a:gd name="connsiteY19" fmla="*/ 303185 h 606369"/>
              <a:gd name="connsiteX20" fmla="*/ 147128 w 607215"/>
              <a:gd name="connsiteY20" fmla="*/ 325717 h 606369"/>
              <a:gd name="connsiteX21" fmla="*/ 46132 w 607215"/>
              <a:gd name="connsiteY21" fmla="*/ 325717 h 606369"/>
              <a:gd name="connsiteX22" fmla="*/ 120855 w 607215"/>
              <a:gd name="connsiteY22" fmla="*/ 485682 h 606369"/>
              <a:gd name="connsiteX23" fmla="*/ 281043 w 607215"/>
              <a:gd name="connsiteY23" fmla="*/ 560301 h 606369"/>
              <a:gd name="connsiteX24" fmla="*/ 281043 w 607215"/>
              <a:gd name="connsiteY24" fmla="*/ 459446 h 606369"/>
              <a:gd name="connsiteX25" fmla="*/ 303608 w 607215"/>
              <a:gd name="connsiteY25" fmla="*/ 436913 h 606369"/>
              <a:gd name="connsiteX26" fmla="*/ 326172 w 607215"/>
              <a:gd name="connsiteY26" fmla="*/ 459446 h 606369"/>
              <a:gd name="connsiteX27" fmla="*/ 326172 w 607215"/>
              <a:gd name="connsiteY27" fmla="*/ 560301 h 606369"/>
              <a:gd name="connsiteX28" fmla="*/ 486360 w 607215"/>
              <a:gd name="connsiteY28" fmla="*/ 485682 h 606369"/>
              <a:gd name="connsiteX29" fmla="*/ 561083 w 607215"/>
              <a:gd name="connsiteY29" fmla="*/ 325717 h 606369"/>
              <a:gd name="connsiteX30" fmla="*/ 460087 w 607215"/>
              <a:gd name="connsiteY30" fmla="*/ 325717 h 606369"/>
              <a:gd name="connsiteX31" fmla="*/ 437523 w 607215"/>
              <a:gd name="connsiteY31" fmla="*/ 303185 h 606369"/>
              <a:gd name="connsiteX32" fmla="*/ 460087 w 607215"/>
              <a:gd name="connsiteY32" fmla="*/ 280652 h 606369"/>
              <a:gd name="connsiteX33" fmla="*/ 561083 w 607215"/>
              <a:gd name="connsiteY33" fmla="*/ 280652 h 606369"/>
              <a:gd name="connsiteX34" fmla="*/ 486360 w 607215"/>
              <a:gd name="connsiteY34" fmla="*/ 120687 h 606369"/>
              <a:gd name="connsiteX35" fmla="*/ 326172 w 607215"/>
              <a:gd name="connsiteY35" fmla="*/ 46068 h 606369"/>
              <a:gd name="connsiteX36" fmla="*/ 326172 w 607215"/>
              <a:gd name="connsiteY36" fmla="*/ 146923 h 606369"/>
              <a:gd name="connsiteX37" fmla="*/ 303608 w 607215"/>
              <a:gd name="connsiteY37" fmla="*/ 169533 h 606369"/>
              <a:gd name="connsiteX38" fmla="*/ 281043 w 607215"/>
              <a:gd name="connsiteY38" fmla="*/ 146923 h 606369"/>
              <a:gd name="connsiteX39" fmla="*/ 281617 w 607215"/>
              <a:gd name="connsiteY39" fmla="*/ 45548 h 606369"/>
              <a:gd name="connsiteX40" fmla="*/ 281617 w 607215"/>
              <a:gd name="connsiteY40" fmla="*/ 146935 h 606369"/>
              <a:gd name="connsiteX41" fmla="*/ 303640 w 607215"/>
              <a:gd name="connsiteY41" fmla="*/ 169002 h 606369"/>
              <a:gd name="connsiteX42" fmla="*/ 325741 w 607215"/>
              <a:gd name="connsiteY42" fmla="*/ 146935 h 606369"/>
              <a:gd name="connsiteX43" fmla="*/ 325741 w 607215"/>
              <a:gd name="connsiteY43" fmla="*/ 45548 h 606369"/>
              <a:gd name="connsiteX44" fmla="*/ 561663 w 607215"/>
              <a:gd name="connsiteY44" fmla="*/ 281192 h 606369"/>
              <a:gd name="connsiteX45" fmla="*/ 460123 w 607215"/>
              <a:gd name="connsiteY45" fmla="*/ 281192 h 606369"/>
              <a:gd name="connsiteX46" fmla="*/ 438022 w 607215"/>
              <a:gd name="connsiteY46" fmla="*/ 303182 h 606369"/>
              <a:gd name="connsiteX47" fmla="*/ 460123 w 607215"/>
              <a:gd name="connsiteY47" fmla="*/ 325250 h 606369"/>
              <a:gd name="connsiteX48" fmla="*/ 561663 w 607215"/>
              <a:gd name="connsiteY48" fmla="*/ 325250 h 606369"/>
              <a:gd name="connsiteX49" fmla="*/ 325741 w 607215"/>
              <a:gd name="connsiteY49" fmla="*/ 560815 h 606369"/>
              <a:gd name="connsiteX50" fmla="*/ 325741 w 607215"/>
              <a:gd name="connsiteY50" fmla="*/ 459429 h 606369"/>
              <a:gd name="connsiteX51" fmla="*/ 303640 w 607215"/>
              <a:gd name="connsiteY51" fmla="*/ 437361 h 606369"/>
              <a:gd name="connsiteX52" fmla="*/ 281617 w 607215"/>
              <a:gd name="connsiteY52" fmla="*/ 459429 h 606369"/>
              <a:gd name="connsiteX53" fmla="*/ 281617 w 607215"/>
              <a:gd name="connsiteY53" fmla="*/ 560815 h 606369"/>
              <a:gd name="connsiteX54" fmla="*/ 45616 w 607215"/>
              <a:gd name="connsiteY54" fmla="*/ 325250 h 606369"/>
              <a:gd name="connsiteX55" fmla="*/ 147157 w 607215"/>
              <a:gd name="connsiteY55" fmla="*/ 325250 h 606369"/>
              <a:gd name="connsiteX56" fmla="*/ 169257 w 607215"/>
              <a:gd name="connsiteY56" fmla="*/ 303182 h 606369"/>
              <a:gd name="connsiteX57" fmla="*/ 147157 w 607215"/>
              <a:gd name="connsiteY57" fmla="*/ 281192 h 606369"/>
              <a:gd name="connsiteX58" fmla="*/ 45616 w 607215"/>
              <a:gd name="connsiteY58" fmla="*/ 281192 h 606369"/>
              <a:gd name="connsiteX59" fmla="*/ 281617 w 607215"/>
              <a:gd name="connsiteY59" fmla="*/ 45548 h 606369"/>
              <a:gd name="connsiteX60" fmla="*/ 281508 w 607215"/>
              <a:gd name="connsiteY60" fmla="*/ 44987 h 606369"/>
              <a:gd name="connsiteX61" fmla="*/ 120160 w 607215"/>
              <a:gd name="connsiteY61" fmla="*/ 119993 h 606369"/>
              <a:gd name="connsiteX62" fmla="*/ 45050 w 607215"/>
              <a:gd name="connsiteY62" fmla="*/ 281115 h 606369"/>
              <a:gd name="connsiteX63" fmla="*/ 45050 w 607215"/>
              <a:gd name="connsiteY63" fmla="*/ 281655 h 606369"/>
              <a:gd name="connsiteX64" fmla="*/ 147128 w 607215"/>
              <a:gd name="connsiteY64" fmla="*/ 281655 h 606369"/>
              <a:gd name="connsiteX65" fmla="*/ 168688 w 607215"/>
              <a:gd name="connsiteY65" fmla="*/ 303185 h 606369"/>
              <a:gd name="connsiteX66" fmla="*/ 147128 w 607215"/>
              <a:gd name="connsiteY66" fmla="*/ 324714 h 606369"/>
              <a:gd name="connsiteX67" fmla="*/ 45050 w 607215"/>
              <a:gd name="connsiteY67" fmla="*/ 324714 h 606369"/>
              <a:gd name="connsiteX68" fmla="*/ 45050 w 607215"/>
              <a:gd name="connsiteY68" fmla="*/ 325254 h 606369"/>
              <a:gd name="connsiteX69" fmla="*/ 120160 w 607215"/>
              <a:gd name="connsiteY69" fmla="*/ 486454 h 606369"/>
              <a:gd name="connsiteX70" fmla="*/ 281508 w 607215"/>
              <a:gd name="connsiteY70" fmla="*/ 561382 h 606369"/>
              <a:gd name="connsiteX71" fmla="*/ 282048 w 607215"/>
              <a:gd name="connsiteY71" fmla="*/ 561459 h 606369"/>
              <a:gd name="connsiteX72" fmla="*/ 282048 w 607215"/>
              <a:gd name="connsiteY72" fmla="*/ 459446 h 606369"/>
              <a:gd name="connsiteX73" fmla="*/ 303608 w 607215"/>
              <a:gd name="connsiteY73" fmla="*/ 437916 h 606369"/>
              <a:gd name="connsiteX74" fmla="*/ 325167 w 607215"/>
              <a:gd name="connsiteY74" fmla="*/ 459446 h 606369"/>
              <a:gd name="connsiteX75" fmla="*/ 325167 w 607215"/>
              <a:gd name="connsiteY75" fmla="*/ 561459 h 606369"/>
              <a:gd name="connsiteX76" fmla="*/ 325708 w 607215"/>
              <a:gd name="connsiteY76" fmla="*/ 561382 h 606369"/>
              <a:gd name="connsiteX77" fmla="*/ 487132 w 607215"/>
              <a:gd name="connsiteY77" fmla="*/ 486454 h 606369"/>
              <a:gd name="connsiteX78" fmla="*/ 562165 w 607215"/>
              <a:gd name="connsiteY78" fmla="*/ 325254 h 606369"/>
              <a:gd name="connsiteX79" fmla="*/ 562242 w 607215"/>
              <a:gd name="connsiteY79" fmla="*/ 324714 h 606369"/>
              <a:gd name="connsiteX80" fmla="*/ 460087 w 607215"/>
              <a:gd name="connsiteY80" fmla="*/ 324714 h 606369"/>
              <a:gd name="connsiteX81" fmla="*/ 438527 w 607215"/>
              <a:gd name="connsiteY81" fmla="*/ 303185 h 606369"/>
              <a:gd name="connsiteX82" fmla="*/ 460087 w 607215"/>
              <a:gd name="connsiteY82" fmla="*/ 281655 h 606369"/>
              <a:gd name="connsiteX83" fmla="*/ 562242 w 607215"/>
              <a:gd name="connsiteY83" fmla="*/ 281655 h 606369"/>
              <a:gd name="connsiteX84" fmla="*/ 562165 w 607215"/>
              <a:gd name="connsiteY84" fmla="*/ 281115 h 606369"/>
              <a:gd name="connsiteX85" fmla="*/ 487132 w 607215"/>
              <a:gd name="connsiteY85" fmla="*/ 119993 h 606369"/>
              <a:gd name="connsiteX86" fmla="*/ 325708 w 607215"/>
              <a:gd name="connsiteY86" fmla="*/ 44987 h 606369"/>
              <a:gd name="connsiteX87" fmla="*/ 325167 w 607215"/>
              <a:gd name="connsiteY87" fmla="*/ 44987 h 606369"/>
              <a:gd name="connsiteX88" fmla="*/ 325167 w 607215"/>
              <a:gd name="connsiteY88" fmla="*/ 146923 h 606369"/>
              <a:gd name="connsiteX89" fmla="*/ 303608 w 607215"/>
              <a:gd name="connsiteY89" fmla="*/ 168453 h 606369"/>
              <a:gd name="connsiteX90" fmla="*/ 282048 w 607215"/>
              <a:gd name="connsiteY90" fmla="*/ 146923 h 606369"/>
              <a:gd name="connsiteX91" fmla="*/ 282048 w 607215"/>
              <a:gd name="connsiteY91" fmla="*/ 44987 h 606369"/>
              <a:gd name="connsiteX92" fmla="*/ 303608 w 607215"/>
              <a:gd name="connsiteY92" fmla="*/ 1003 h 606369"/>
              <a:gd name="connsiteX93" fmla="*/ 421450 w 607215"/>
              <a:gd name="connsiteY93" fmla="*/ 24770 h 606369"/>
              <a:gd name="connsiteX94" fmla="*/ 517578 w 607215"/>
              <a:gd name="connsiteY94" fmla="*/ 89512 h 606369"/>
              <a:gd name="connsiteX95" fmla="*/ 582410 w 607215"/>
              <a:gd name="connsiteY95" fmla="*/ 185584 h 606369"/>
              <a:gd name="connsiteX96" fmla="*/ 606211 w 607215"/>
              <a:gd name="connsiteY96" fmla="*/ 303185 h 606369"/>
              <a:gd name="connsiteX97" fmla="*/ 582410 w 607215"/>
              <a:gd name="connsiteY97" fmla="*/ 420863 h 606369"/>
              <a:gd name="connsiteX98" fmla="*/ 517578 w 607215"/>
              <a:gd name="connsiteY98" fmla="*/ 516857 h 606369"/>
              <a:gd name="connsiteX99" fmla="*/ 421450 w 607215"/>
              <a:gd name="connsiteY99" fmla="*/ 581599 h 606369"/>
              <a:gd name="connsiteX100" fmla="*/ 303608 w 607215"/>
              <a:gd name="connsiteY100" fmla="*/ 605366 h 606369"/>
              <a:gd name="connsiteX101" fmla="*/ 185842 w 607215"/>
              <a:gd name="connsiteY101" fmla="*/ 581599 h 606369"/>
              <a:gd name="connsiteX102" fmla="*/ 89637 w 607215"/>
              <a:gd name="connsiteY102" fmla="*/ 516857 h 606369"/>
              <a:gd name="connsiteX103" fmla="*/ 24805 w 607215"/>
              <a:gd name="connsiteY103" fmla="*/ 420863 h 606369"/>
              <a:gd name="connsiteX104" fmla="*/ 1004 w 607215"/>
              <a:gd name="connsiteY104" fmla="*/ 303185 h 606369"/>
              <a:gd name="connsiteX105" fmla="*/ 24805 w 607215"/>
              <a:gd name="connsiteY105" fmla="*/ 185584 h 606369"/>
              <a:gd name="connsiteX106" fmla="*/ 89637 w 607215"/>
              <a:gd name="connsiteY106" fmla="*/ 89512 h 606369"/>
              <a:gd name="connsiteX107" fmla="*/ 185842 w 607215"/>
              <a:gd name="connsiteY107" fmla="*/ 24770 h 606369"/>
              <a:gd name="connsiteX108" fmla="*/ 303608 w 607215"/>
              <a:gd name="connsiteY108" fmla="*/ 1003 h 606369"/>
              <a:gd name="connsiteX109" fmla="*/ 303640 w 607215"/>
              <a:gd name="connsiteY109" fmla="*/ 565 h 606369"/>
              <a:gd name="connsiteX110" fmla="*/ 185640 w 607215"/>
              <a:gd name="connsiteY110" fmla="*/ 24330 h 606369"/>
              <a:gd name="connsiteX111" fmla="*/ 89354 w 607215"/>
              <a:gd name="connsiteY111" fmla="*/ 89220 h 606369"/>
              <a:gd name="connsiteX112" fmla="*/ 24366 w 607215"/>
              <a:gd name="connsiteY112" fmla="*/ 185360 h 606369"/>
              <a:gd name="connsiteX113" fmla="*/ 565 w 607215"/>
              <a:gd name="connsiteY113" fmla="*/ 303182 h 606369"/>
              <a:gd name="connsiteX114" fmla="*/ 24366 w 607215"/>
              <a:gd name="connsiteY114" fmla="*/ 421004 h 606369"/>
              <a:gd name="connsiteX115" fmla="*/ 89354 w 607215"/>
              <a:gd name="connsiteY115" fmla="*/ 517221 h 606369"/>
              <a:gd name="connsiteX116" fmla="*/ 185640 w 607215"/>
              <a:gd name="connsiteY116" fmla="*/ 582034 h 606369"/>
              <a:gd name="connsiteX117" fmla="*/ 303640 w 607215"/>
              <a:gd name="connsiteY117" fmla="*/ 605876 h 606369"/>
              <a:gd name="connsiteX118" fmla="*/ 421640 w 607215"/>
              <a:gd name="connsiteY118" fmla="*/ 582034 h 606369"/>
              <a:gd name="connsiteX119" fmla="*/ 518003 w 607215"/>
              <a:gd name="connsiteY119" fmla="*/ 517221 h 606369"/>
              <a:gd name="connsiteX120" fmla="*/ 582914 w 607215"/>
              <a:gd name="connsiteY120" fmla="*/ 421004 h 606369"/>
              <a:gd name="connsiteX121" fmla="*/ 606792 w 607215"/>
              <a:gd name="connsiteY121" fmla="*/ 303182 h 606369"/>
              <a:gd name="connsiteX122" fmla="*/ 582914 w 607215"/>
              <a:gd name="connsiteY122" fmla="*/ 185360 h 606369"/>
              <a:gd name="connsiteX123" fmla="*/ 518003 w 607215"/>
              <a:gd name="connsiteY123" fmla="*/ 89220 h 606369"/>
              <a:gd name="connsiteX124" fmla="*/ 421640 w 607215"/>
              <a:gd name="connsiteY124" fmla="*/ 24330 h 606369"/>
              <a:gd name="connsiteX125" fmla="*/ 303640 w 607215"/>
              <a:gd name="connsiteY125" fmla="*/ 565 h 606369"/>
              <a:gd name="connsiteX126" fmla="*/ 303608 w 607215"/>
              <a:gd name="connsiteY126" fmla="*/ 0 h 606369"/>
              <a:gd name="connsiteX127" fmla="*/ 421836 w 607215"/>
              <a:gd name="connsiteY127" fmla="*/ 23844 h 606369"/>
              <a:gd name="connsiteX128" fmla="*/ 518351 w 607215"/>
              <a:gd name="connsiteY128" fmla="*/ 88818 h 606369"/>
              <a:gd name="connsiteX129" fmla="*/ 583338 w 607215"/>
              <a:gd name="connsiteY129" fmla="*/ 185198 h 606369"/>
              <a:gd name="connsiteX130" fmla="*/ 607215 w 607215"/>
              <a:gd name="connsiteY130" fmla="*/ 303185 h 606369"/>
              <a:gd name="connsiteX131" fmla="*/ 583338 w 607215"/>
              <a:gd name="connsiteY131" fmla="*/ 421248 h 606369"/>
              <a:gd name="connsiteX132" fmla="*/ 518351 w 607215"/>
              <a:gd name="connsiteY132" fmla="*/ 517629 h 606369"/>
              <a:gd name="connsiteX133" fmla="*/ 421836 w 607215"/>
              <a:gd name="connsiteY133" fmla="*/ 582525 h 606369"/>
              <a:gd name="connsiteX134" fmla="*/ 303608 w 607215"/>
              <a:gd name="connsiteY134" fmla="*/ 606369 h 606369"/>
              <a:gd name="connsiteX135" fmla="*/ 185456 w 607215"/>
              <a:gd name="connsiteY135" fmla="*/ 582525 h 606369"/>
              <a:gd name="connsiteX136" fmla="*/ 88942 w 607215"/>
              <a:gd name="connsiteY136" fmla="*/ 517629 h 606369"/>
              <a:gd name="connsiteX137" fmla="*/ 23877 w 607215"/>
              <a:gd name="connsiteY137" fmla="*/ 421248 h 606369"/>
              <a:gd name="connsiteX138" fmla="*/ 0 w 607215"/>
              <a:gd name="connsiteY138" fmla="*/ 303185 h 606369"/>
              <a:gd name="connsiteX139" fmla="*/ 23877 w 607215"/>
              <a:gd name="connsiteY139" fmla="*/ 185198 h 606369"/>
              <a:gd name="connsiteX140" fmla="*/ 88942 w 607215"/>
              <a:gd name="connsiteY140" fmla="*/ 88818 h 606369"/>
              <a:gd name="connsiteX141" fmla="*/ 185456 w 607215"/>
              <a:gd name="connsiteY141" fmla="*/ 23844 h 606369"/>
              <a:gd name="connsiteX142" fmla="*/ 303608 w 607215"/>
              <a:gd name="connsiteY142" fmla="*/ 0 h 6063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Lst>
            <a:rect l="l" t="t" r="r" b="b"/>
            <a:pathLst>
              <a:path w="607215" h="606369">
                <a:moveTo>
                  <a:pt x="303643" y="280873"/>
                </a:moveTo>
                <a:cubicBezTo>
                  <a:pt x="315552" y="280873"/>
                  <a:pt x="325219" y="290523"/>
                  <a:pt x="325219" y="302335"/>
                </a:cubicBezTo>
                <a:cubicBezTo>
                  <a:pt x="325219" y="314223"/>
                  <a:pt x="315552" y="323873"/>
                  <a:pt x="303643" y="323873"/>
                </a:cubicBezTo>
                <a:cubicBezTo>
                  <a:pt x="291734" y="323873"/>
                  <a:pt x="282068" y="314223"/>
                  <a:pt x="282068" y="302335"/>
                </a:cubicBezTo>
                <a:cubicBezTo>
                  <a:pt x="282068" y="290523"/>
                  <a:pt x="291734" y="280873"/>
                  <a:pt x="303643" y="280873"/>
                </a:cubicBezTo>
                <a:close/>
                <a:moveTo>
                  <a:pt x="303678" y="280357"/>
                </a:moveTo>
                <a:cubicBezTo>
                  <a:pt x="291499" y="280357"/>
                  <a:pt x="281626" y="290214"/>
                  <a:pt x="281626" y="302374"/>
                </a:cubicBezTo>
                <a:cubicBezTo>
                  <a:pt x="281626" y="314534"/>
                  <a:pt x="291499" y="324391"/>
                  <a:pt x="303678" y="324391"/>
                </a:cubicBezTo>
                <a:cubicBezTo>
                  <a:pt x="315857" y="324391"/>
                  <a:pt x="325730" y="314534"/>
                  <a:pt x="325730" y="302374"/>
                </a:cubicBezTo>
                <a:cubicBezTo>
                  <a:pt x="325730" y="290214"/>
                  <a:pt x="315857" y="280357"/>
                  <a:pt x="303678" y="280357"/>
                </a:cubicBezTo>
                <a:close/>
                <a:moveTo>
                  <a:pt x="303643" y="279792"/>
                </a:moveTo>
                <a:cubicBezTo>
                  <a:pt x="316094" y="279792"/>
                  <a:pt x="326224" y="289905"/>
                  <a:pt x="326224" y="302335"/>
                </a:cubicBezTo>
                <a:cubicBezTo>
                  <a:pt x="326224" y="314841"/>
                  <a:pt x="316094" y="324954"/>
                  <a:pt x="303643" y="324954"/>
                </a:cubicBezTo>
                <a:cubicBezTo>
                  <a:pt x="291193" y="324954"/>
                  <a:pt x="281062" y="314841"/>
                  <a:pt x="281062" y="302335"/>
                </a:cubicBezTo>
                <a:cubicBezTo>
                  <a:pt x="281062" y="289905"/>
                  <a:pt x="291193" y="279792"/>
                  <a:pt x="303643" y="279792"/>
                </a:cubicBezTo>
                <a:close/>
                <a:moveTo>
                  <a:pt x="281043" y="46068"/>
                </a:moveTo>
                <a:cubicBezTo>
                  <a:pt x="220693" y="51315"/>
                  <a:pt x="163820" y="77783"/>
                  <a:pt x="120855" y="120687"/>
                </a:cubicBezTo>
                <a:cubicBezTo>
                  <a:pt x="77891" y="163591"/>
                  <a:pt x="51387" y="220385"/>
                  <a:pt x="46132" y="280652"/>
                </a:cubicBezTo>
                <a:lnTo>
                  <a:pt x="147128" y="280652"/>
                </a:lnTo>
                <a:cubicBezTo>
                  <a:pt x="159647" y="280652"/>
                  <a:pt x="169770" y="290761"/>
                  <a:pt x="169770" y="303185"/>
                </a:cubicBezTo>
                <a:cubicBezTo>
                  <a:pt x="169770" y="315608"/>
                  <a:pt x="159647" y="325717"/>
                  <a:pt x="147128" y="325717"/>
                </a:cubicBezTo>
                <a:lnTo>
                  <a:pt x="46132" y="325717"/>
                </a:lnTo>
                <a:cubicBezTo>
                  <a:pt x="51387" y="385984"/>
                  <a:pt x="77891" y="442778"/>
                  <a:pt x="120855" y="485682"/>
                </a:cubicBezTo>
                <a:cubicBezTo>
                  <a:pt x="163820" y="528586"/>
                  <a:pt x="220693" y="555131"/>
                  <a:pt x="281043" y="560301"/>
                </a:cubicBezTo>
                <a:lnTo>
                  <a:pt x="281043" y="459446"/>
                </a:lnTo>
                <a:cubicBezTo>
                  <a:pt x="281043" y="447022"/>
                  <a:pt x="291167" y="436913"/>
                  <a:pt x="303608" y="436913"/>
                </a:cubicBezTo>
                <a:cubicBezTo>
                  <a:pt x="316049" y="436913"/>
                  <a:pt x="326172" y="447022"/>
                  <a:pt x="326172" y="459446"/>
                </a:cubicBezTo>
                <a:lnTo>
                  <a:pt x="326172" y="560301"/>
                </a:lnTo>
                <a:cubicBezTo>
                  <a:pt x="386522" y="555131"/>
                  <a:pt x="443395" y="528586"/>
                  <a:pt x="486360" y="485682"/>
                </a:cubicBezTo>
                <a:cubicBezTo>
                  <a:pt x="529324" y="442778"/>
                  <a:pt x="555906" y="385984"/>
                  <a:pt x="561083" y="325717"/>
                </a:cubicBezTo>
                <a:lnTo>
                  <a:pt x="460087" y="325717"/>
                </a:lnTo>
                <a:cubicBezTo>
                  <a:pt x="447645" y="325717"/>
                  <a:pt x="437523" y="315608"/>
                  <a:pt x="437523" y="303185"/>
                </a:cubicBezTo>
                <a:cubicBezTo>
                  <a:pt x="437523" y="290761"/>
                  <a:pt x="447645" y="280652"/>
                  <a:pt x="460087" y="280652"/>
                </a:cubicBezTo>
                <a:lnTo>
                  <a:pt x="561083" y="280652"/>
                </a:lnTo>
                <a:cubicBezTo>
                  <a:pt x="555906" y="220385"/>
                  <a:pt x="529324" y="163591"/>
                  <a:pt x="486360" y="120687"/>
                </a:cubicBezTo>
                <a:cubicBezTo>
                  <a:pt x="443395" y="77783"/>
                  <a:pt x="386522" y="51315"/>
                  <a:pt x="326172" y="46068"/>
                </a:cubicBezTo>
                <a:lnTo>
                  <a:pt x="326172" y="146923"/>
                </a:lnTo>
                <a:cubicBezTo>
                  <a:pt x="326172" y="159424"/>
                  <a:pt x="316049" y="169533"/>
                  <a:pt x="303608" y="169533"/>
                </a:cubicBezTo>
                <a:cubicBezTo>
                  <a:pt x="291167" y="169533"/>
                  <a:pt x="281043" y="159424"/>
                  <a:pt x="281043" y="146923"/>
                </a:cubicBezTo>
                <a:close/>
                <a:moveTo>
                  <a:pt x="281617" y="45548"/>
                </a:moveTo>
                <a:lnTo>
                  <a:pt x="281617" y="146935"/>
                </a:lnTo>
                <a:cubicBezTo>
                  <a:pt x="281617" y="159126"/>
                  <a:pt x="291431" y="169002"/>
                  <a:pt x="303640" y="169002"/>
                </a:cubicBezTo>
                <a:cubicBezTo>
                  <a:pt x="315850" y="169002"/>
                  <a:pt x="325741" y="159126"/>
                  <a:pt x="325741" y="146935"/>
                </a:cubicBezTo>
                <a:lnTo>
                  <a:pt x="325741" y="45548"/>
                </a:lnTo>
                <a:cubicBezTo>
                  <a:pt x="451159" y="56119"/>
                  <a:pt x="551077" y="155963"/>
                  <a:pt x="561663" y="281192"/>
                </a:cubicBezTo>
                <a:lnTo>
                  <a:pt x="460123" y="281192"/>
                </a:lnTo>
                <a:cubicBezTo>
                  <a:pt x="447914" y="281192"/>
                  <a:pt x="438022" y="290991"/>
                  <a:pt x="438022" y="303182"/>
                </a:cubicBezTo>
                <a:cubicBezTo>
                  <a:pt x="438022" y="315373"/>
                  <a:pt x="447914" y="325250"/>
                  <a:pt x="460123" y="325250"/>
                </a:cubicBezTo>
                <a:lnTo>
                  <a:pt x="561663" y="325250"/>
                </a:lnTo>
                <a:cubicBezTo>
                  <a:pt x="551077" y="450478"/>
                  <a:pt x="451159" y="550245"/>
                  <a:pt x="325741" y="560815"/>
                </a:cubicBezTo>
                <a:lnTo>
                  <a:pt x="325741" y="459429"/>
                </a:lnTo>
                <a:cubicBezTo>
                  <a:pt x="325741" y="447238"/>
                  <a:pt x="315850" y="437361"/>
                  <a:pt x="303640" y="437361"/>
                </a:cubicBezTo>
                <a:cubicBezTo>
                  <a:pt x="291431" y="437361"/>
                  <a:pt x="281617" y="447238"/>
                  <a:pt x="281617" y="459429"/>
                </a:cubicBezTo>
                <a:lnTo>
                  <a:pt x="281617" y="560815"/>
                </a:lnTo>
                <a:cubicBezTo>
                  <a:pt x="156198" y="550245"/>
                  <a:pt x="56203" y="450478"/>
                  <a:pt x="45616" y="325250"/>
                </a:cubicBezTo>
                <a:lnTo>
                  <a:pt x="147157" y="325250"/>
                </a:lnTo>
                <a:cubicBezTo>
                  <a:pt x="159366" y="325250"/>
                  <a:pt x="169257" y="315373"/>
                  <a:pt x="169257" y="303182"/>
                </a:cubicBezTo>
                <a:cubicBezTo>
                  <a:pt x="169257" y="290991"/>
                  <a:pt x="159366" y="281192"/>
                  <a:pt x="147157" y="281192"/>
                </a:cubicBezTo>
                <a:lnTo>
                  <a:pt x="45616" y="281192"/>
                </a:lnTo>
                <a:cubicBezTo>
                  <a:pt x="56203" y="155963"/>
                  <a:pt x="156198" y="56119"/>
                  <a:pt x="281617" y="45548"/>
                </a:cubicBezTo>
                <a:close/>
                <a:moveTo>
                  <a:pt x="281508" y="44987"/>
                </a:moveTo>
                <a:cubicBezTo>
                  <a:pt x="220693" y="50158"/>
                  <a:pt x="163433" y="76780"/>
                  <a:pt x="120160" y="119993"/>
                </a:cubicBezTo>
                <a:cubicBezTo>
                  <a:pt x="76887" y="163205"/>
                  <a:pt x="50228" y="220385"/>
                  <a:pt x="45050" y="281115"/>
                </a:cubicBezTo>
                <a:lnTo>
                  <a:pt x="45050" y="281655"/>
                </a:lnTo>
                <a:lnTo>
                  <a:pt x="147128" y="281655"/>
                </a:lnTo>
                <a:cubicBezTo>
                  <a:pt x="159029" y="281655"/>
                  <a:pt x="168688" y="291301"/>
                  <a:pt x="168688" y="303185"/>
                </a:cubicBezTo>
                <a:cubicBezTo>
                  <a:pt x="168688" y="315068"/>
                  <a:pt x="159029" y="324714"/>
                  <a:pt x="147128" y="324714"/>
                </a:cubicBezTo>
                <a:lnTo>
                  <a:pt x="45050" y="324714"/>
                </a:lnTo>
                <a:lnTo>
                  <a:pt x="45050" y="325254"/>
                </a:lnTo>
                <a:cubicBezTo>
                  <a:pt x="50228" y="385984"/>
                  <a:pt x="76887" y="443241"/>
                  <a:pt x="120160" y="486454"/>
                </a:cubicBezTo>
                <a:cubicBezTo>
                  <a:pt x="163433" y="529666"/>
                  <a:pt x="220693" y="556289"/>
                  <a:pt x="281508" y="561382"/>
                </a:cubicBezTo>
                <a:lnTo>
                  <a:pt x="282048" y="561459"/>
                </a:lnTo>
                <a:lnTo>
                  <a:pt x="282048" y="459446"/>
                </a:lnTo>
                <a:cubicBezTo>
                  <a:pt x="282048" y="447562"/>
                  <a:pt x="291708" y="437916"/>
                  <a:pt x="303608" y="437916"/>
                </a:cubicBezTo>
                <a:cubicBezTo>
                  <a:pt x="315508" y="437916"/>
                  <a:pt x="325167" y="447562"/>
                  <a:pt x="325167" y="459446"/>
                </a:cubicBezTo>
                <a:lnTo>
                  <a:pt x="325167" y="561459"/>
                </a:lnTo>
                <a:lnTo>
                  <a:pt x="325708" y="561382"/>
                </a:lnTo>
                <a:cubicBezTo>
                  <a:pt x="386522" y="556289"/>
                  <a:pt x="443859" y="529666"/>
                  <a:pt x="487132" y="486454"/>
                </a:cubicBezTo>
                <a:cubicBezTo>
                  <a:pt x="530405" y="443241"/>
                  <a:pt x="557065" y="385984"/>
                  <a:pt x="562165" y="325254"/>
                </a:cubicBezTo>
                <a:lnTo>
                  <a:pt x="562242" y="324714"/>
                </a:lnTo>
                <a:lnTo>
                  <a:pt x="460087" y="324714"/>
                </a:lnTo>
                <a:cubicBezTo>
                  <a:pt x="448186" y="324714"/>
                  <a:pt x="438527" y="315068"/>
                  <a:pt x="438527" y="303185"/>
                </a:cubicBezTo>
                <a:cubicBezTo>
                  <a:pt x="438527" y="291301"/>
                  <a:pt x="448186" y="281655"/>
                  <a:pt x="460087" y="281655"/>
                </a:cubicBezTo>
                <a:lnTo>
                  <a:pt x="562242" y="281655"/>
                </a:lnTo>
                <a:lnTo>
                  <a:pt x="562165" y="281115"/>
                </a:lnTo>
                <a:cubicBezTo>
                  <a:pt x="557065" y="220385"/>
                  <a:pt x="530405" y="163205"/>
                  <a:pt x="487132" y="119993"/>
                </a:cubicBezTo>
                <a:cubicBezTo>
                  <a:pt x="443859" y="76780"/>
                  <a:pt x="386522" y="50158"/>
                  <a:pt x="325708" y="44987"/>
                </a:cubicBezTo>
                <a:lnTo>
                  <a:pt x="325167" y="44987"/>
                </a:lnTo>
                <a:lnTo>
                  <a:pt x="325167" y="146923"/>
                </a:lnTo>
                <a:cubicBezTo>
                  <a:pt x="325167" y="158807"/>
                  <a:pt x="315508" y="168453"/>
                  <a:pt x="303608" y="168453"/>
                </a:cubicBezTo>
                <a:cubicBezTo>
                  <a:pt x="291708" y="168453"/>
                  <a:pt x="282048" y="158807"/>
                  <a:pt x="282048" y="146923"/>
                </a:cubicBezTo>
                <a:lnTo>
                  <a:pt x="282048" y="44987"/>
                </a:lnTo>
                <a:close/>
                <a:moveTo>
                  <a:pt x="303608" y="1003"/>
                </a:moveTo>
                <a:cubicBezTo>
                  <a:pt x="344485" y="1003"/>
                  <a:pt x="384049" y="9028"/>
                  <a:pt x="421450" y="24770"/>
                </a:cubicBezTo>
                <a:cubicBezTo>
                  <a:pt x="457459" y="40049"/>
                  <a:pt x="489837" y="61810"/>
                  <a:pt x="517578" y="89512"/>
                </a:cubicBezTo>
                <a:cubicBezTo>
                  <a:pt x="545396" y="117292"/>
                  <a:pt x="567188" y="149547"/>
                  <a:pt x="582410" y="185584"/>
                </a:cubicBezTo>
                <a:cubicBezTo>
                  <a:pt x="598174" y="222855"/>
                  <a:pt x="606211" y="262441"/>
                  <a:pt x="606211" y="303185"/>
                </a:cubicBezTo>
                <a:cubicBezTo>
                  <a:pt x="606211" y="344005"/>
                  <a:pt x="598174" y="383514"/>
                  <a:pt x="582410" y="420863"/>
                </a:cubicBezTo>
                <a:cubicBezTo>
                  <a:pt x="567188" y="456822"/>
                  <a:pt x="545396" y="489154"/>
                  <a:pt x="517578" y="516857"/>
                </a:cubicBezTo>
                <a:cubicBezTo>
                  <a:pt x="489837" y="544637"/>
                  <a:pt x="457459" y="566397"/>
                  <a:pt x="421450" y="581599"/>
                </a:cubicBezTo>
                <a:cubicBezTo>
                  <a:pt x="384049" y="597341"/>
                  <a:pt x="344485" y="605366"/>
                  <a:pt x="303608" y="605366"/>
                </a:cubicBezTo>
                <a:cubicBezTo>
                  <a:pt x="262807" y="605366"/>
                  <a:pt x="223166" y="597341"/>
                  <a:pt x="185842" y="581599"/>
                </a:cubicBezTo>
                <a:cubicBezTo>
                  <a:pt x="149756" y="566397"/>
                  <a:pt x="117455" y="544637"/>
                  <a:pt x="89637" y="516857"/>
                </a:cubicBezTo>
                <a:cubicBezTo>
                  <a:pt x="61896" y="489154"/>
                  <a:pt x="40105" y="456822"/>
                  <a:pt x="24805" y="420863"/>
                </a:cubicBezTo>
                <a:cubicBezTo>
                  <a:pt x="9041" y="383514"/>
                  <a:pt x="1004" y="344005"/>
                  <a:pt x="1004" y="303185"/>
                </a:cubicBezTo>
                <a:cubicBezTo>
                  <a:pt x="1004" y="262441"/>
                  <a:pt x="9041" y="222855"/>
                  <a:pt x="24805" y="185584"/>
                </a:cubicBezTo>
                <a:cubicBezTo>
                  <a:pt x="40105" y="149547"/>
                  <a:pt x="61896" y="117292"/>
                  <a:pt x="89637" y="89512"/>
                </a:cubicBezTo>
                <a:cubicBezTo>
                  <a:pt x="117455" y="61810"/>
                  <a:pt x="149756" y="40049"/>
                  <a:pt x="185842" y="24770"/>
                </a:cubicBezTo>
                <a:cubicBezTo>
                  <a:pt x="223166" y="9028"/>
                  <a:pt x="262807" y="1003"/>
                  <a:pt x="303608" y="1003"/>
                </a:cubicBezTo>
                <a:close/>
                <a:moveTo>
                  <a:pt x="303640" y="565"/>
                </a:moveTo>
                <a:cubicBezTo>
                  <a:pt x="262761" y="565"/>
                  <a:pt x="223041" y="8512"/>
                  <a:pt x="185640" y="24330"/>
                </a:cubicBezTo>
                <a:cubicBezTo>
                  <a:pt x="149552" y="39607"/>
                  <a:pt x="117174" y="61366"/>
                  <a:pt x="89354" y="89220"/>
                </a:cubicBezTo>
                <a:cubicBezTo>
                  <a:pt x="61458" y="116997"/>
                  <a:pt x="39666" y="149327"/>
                  <a:pt x="24366" y="185360"/>
                </a:cubicBezTo>
                <a:cubicBezTo>
                  <a:pt x="8524" y="222705"/>
                  <a:pt x="565" y="262365"/>
                  <a:pt x="565" y="303182"/>
                </a:cubicBezTo>
                <a:cubicBezTo>
                  <a:pt x="565" y="343999"/>
                  <a:pt x="8524" y="383659"/>
                  <a:pt x="24366" y="421004"/>
                </a:cubicBezTo>
                <a:cubicBezTo>
                  <a:pt x="39666" y="457037"/>
                  <a:pt x="61458" y="489444"/>
                  <a:pt x="89354" y="517221"/>
                </a:cubicBezTo>
                <a:cubicBezTo>
                  <a:pt x="117174" y="544998"/>
                  <a:pt x="149552" y="566834"/>
                  <a:pt x="185640" y="582034"/>
                </a:cubicBezTo>
                <a:cubicBezTo>
                  <a:pt x="223041" y="597852"/>
                  <a:pt x="262761" y="605876"/>
                  <a:pt x="303640" y="605876"/>
                </a:cubicBezTo>
                <a:cubicBezTo>
                  <a:pt x="344596" y="605876"/>
                  <a:pt x="384239" y="597852"/>
                  <a:pt x="421640" y="582034"/>
                </a:cubicBezTo>
                <a:cubicBezTo>
                  <a:pt x="457728" y="566834"/>
                  <a:pt x="490183" y="544998"/>
                  <a:pt x="518003" y="517221"/>
                </a:cubicBezTo>
                <a:cubicBezTo>
                  <a:pt x="545822" y="489444"/>
                  <a:pt x="567691" y="457037"/>
                  <a:pt x="582914" y="421004"/>
                </a:cubicBezTo>
                <a:cubicBezTo>
                  <a:pt x="598756" y="383659"/>
                  <a:pt x="606792" y="343999"/>
                  <a:pt x="606792" y="303182"/>
                </a:cubicBezTo>
                <a:cubicBezTo>
                  <a:pt x="606792" y="262365"/>
                  <a:pt x="598756" y="222705"/>
                  <a:pt x="582914" y="185360"/>
                </a:cubicBezTo>
                <a:cubicBezTo>
                  <a:pt x="567691" y="149327"/>
                  <a:pt x="545822" y="116997"/>
                  <a:pt x="518003" y="89220"/>
                </a:cubicBezTo>
                <a:cubicBezTo>
                  <a:pt x="490183" y="61366"/>
                  <a:pt x="457728" y="39607"/>
                  <a:pt x="421640" y="24330"/>
                </a:cubicBezTo>
                <a:cubicBezTo>
                  <a:pt x="384239" y="8512"/>
                  <a:pt x="344519" y="565"/>
                  <a:pt x="303640" y="565"/>
                </a:cubicBezTo>
                <a:close/>
                <a:moveTo>
                  <a:pt x="303608" y="0"/>
                </a:moveTo>
                <a:cubicBezTo>
                  <a:pt x="344563" y="0"/>
                  <a:pt x="384359" y="8025"/>
                  <a:pt x="421836" y="23844"/>
                </a:cubicBezTo>
                <a:cubicBezTo>
                  <a:pt x="458000" y="39123"/>
                  <a:pt x="490455" y="60961"/>
                  <a:pt x="518351" y="88818"/>
                </a:cubicBezTo>
                <a:cubicBezTo>
                  <a:pt x="546169" y="116674"/>
                  <a:pt x="568038" y="149084"/>
                  <a:pt x="583338" y="185198"/>
                </a:cubicBezTo>
                <a:cubicBezTo>
                  <a:pt x="599179" y="222546"/>
                  <a:pt x="607215" y="262286"/>
                  <a:pt x="607215" y="303185"/>
                </a:cubicBezTo>
                <a:cubicBezTo>
                  <a:pt x="607215" y="344083"/>
                  <a:pt x="599179" y="383823"/>
                  <a:pt x="583338" y="421248"/>
                </a:cubicBezTo>
                <a:cubicBezTo>
                  <a:pt x="568038" y="457362"/>
                  <a:pt x="546169" y="489772"/>
                  <a:pt x="518351" y="517629"/>
                </a:cubicBezTo>
                <a:cubicBezTo>
                  <a:pt x="490455" y="545408"/>
                  <a:pt x="458000" y="567246"/>
                  <a:pt x="421836" y="582525"/>
                </a:cubicBezTo>
                <a:cubicBezTo>
                  <a:pt x="384359" y="598344"/>
                  <a:pt x="344563" y="606369"/>
                  <a:pt x="303608" y="606369"/>
                </a:cubicBezTo>
                <a:cubicBezTo>
                  <a:pt x="262652" y="606369"/>
                  <a:pt x="222856" y="598344"/>
                  <a:pt x="185456" y="582525"/>
                </a:cubicBezTo>
                <a:cubicBezTo>
                  <a:pt x="149292" y="567246"/>
                  <a:pt x="116760" y="545408"/>
                  <a:pt x="88942" y="517629"/>
                </a:cubicBezTo>
                <a:cubicBezTo>
                  <a:pt x="61046" y="489772"/>
                  <a:pt x="39177" y="457362"/>
                  <a:pt x="23877" y="421248"/>
                </a:cubicBezTo>
                <a:cubicBezTo>
                  <a:pt x="8036" y="383823"/>
                  <a:pt x="0" y="344083"/>
                  <a:pt x="0" y="303185"/>
                </a:cubicBezTo>
                <a:cubicBezTo>
                  <a:pt x="0" y="262286"/>
                  <a:pt x="8036" y="222546"/>
                  <a:pt x="23877" y="185198"/>
                </a:cubicBezTo>
                <a:cubicBezTo>
                  <a:pt x="39177" y="149084"/>
                  <a:pt x="61046" y="116674"/>
                  <a:pt x="88942" y="88818"/>
                </a:cubicBezTo>
                <a:cubicBezTo>
                  <a:pt x="116760" y="60961"/>
                  <a:pt x="149292" y="39123"/>
                  <a:pt x="185456" y="23844"/>
                </a:cubicBezTo>
                <a:cubicBezTo>
                  <a:pt x="222856" y="8025"/>
                  <a:pt x="262652" y="0"/>
                  <a:pt x="303608"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dirty="0"/>
          </a:p>
        </p:txBody>
      </p:sp>
      <p:sp>
        <p:nvSpPr>
          <p:cNvPr id="76" name="文本框 75">
            <a:extLst>
              <a:ext uri="{FF2B5EF4-FFF2-40B4-BE49-F238E27FC236}">
                <a16:creationId xmlns:a16="http://schemas.microsoft.com/office/drawing/2014/main" id="{12966546-3C3C-421F-8747-C983CF63336D}"/>
              </a:ext>
            </a:extLst>
          </p:cNvPr>
          <p:cNvSpPr txBox="1"/>
          <p:nvPr/>
        </p:nvSpPr>
        <p:spPr>
          <a:xfrm>
            <a:off x="373082" y="2808021"/>
            <a:ext cx="1660612" cy="338554"/>
          </a:xfrm>
          <a:prstGeom prst="rect">
            <a:avLst/>
          </a:prstGeom>
          <a:noFill/>
        </p:spPr>
        <p:txBody>
          <a:bodyPr wrap="square" rtlCol="0">
            <a:spAutoFit/>
          </a:bodyPr>
          <a:lstStyle/>
          <a:p>
            <a:r>
              <a:rPr lang="zh-CN" altLang="en-US" sz="1600" dirty="0">
                <a:solidFill>
                  <a:schemeClr val="bg1"/>
                </a:solidFill>
                <a:latin typeface="思源黑体 CN Regular" panose="020B0500000000000000" pitchFamily="34" charset="-122"/>
                <a:ea typeface="思源黑体 CN Regular" panose="020B0500000000000000" pitchFamily="34" charset="-122"/>
              </a:rPr>
              <a:t>研究目标和内容</a:t>
            </a:r>
          </a:p>
        </p:txBody>
      </p:sp>
      <p:sp>
        <p:nvSpPr>
          <p:cNvPr id="77" name="任意矩形：003">
            <a:extLst>
              <a:ext uri="{FF2B5EF4-FFF2-40B4-BE49-F238E27FC236}">
                <a16:creationId xmlns:a16="http://schemas.microsoft.com/office/drawing/2014/main" id="{0450C6E1-EC04-41A2-BA37-DC77D9E9F879}"/>
              </a:ext>
            </a:extLst>
          </p:cNvPr>
          <p:cNvSpPr/>
          <p:nvPr/>
        </p:nvSpPr>
        <p:spPr>
          <a:xfrm rot="10800000" flipH="1" flipV="1">
            <a:off x="145020" y="3571293"/>
            <a:ext cx="199667" cy="199477"/>
          </a:xfrm>
          <a:custGeom>
            <a:avLst/>
            <a:gdLst>
              <a:gd name="connsiteX0" fmla="*/ 320200 w 604886"/>
              <a:gd name="connsiteY0" fmla="*/ 166778 h 604313"/>
              <a:gd name="connsiteX1" fmla="*/ 338200 w 604886"/>
              <a:gd name="connsiteY1" fmla="*/ 168153 h 604313"/>
              <a:gd name="connsiteX2" fmla="*/ 394904 w 604886"/>
              <a:gd name="connsiteY2" fmla="*/ 210003 h 604313"/>
              <a:gd name="connsiteX3" fmla="*/ 448997 w 604886"/>
              <a:gd name="connsiteY3" fmla="*/ 297466 h 604313"/>
              <a:gd name="connsiteX4" fmla="*/ 433479 w 604886"/>
              <a:gd name="connsiteY4" fmla="*/ 381599 h 604313"/>
              <a:gd name="connsiteX5" fmla="*/ 230304 w 604886"/>
              <a:gd name="connsiteY5" fmla="*/ 584474 h 604313"/>
              <a:gd name="connsiteX6" fmla="*/ 177952 w 604886"/>
              <a:gd name="connsiteY6" fmla="*/ 604313 h 604313"/>
              <a:gd name="connsiteX7" fmla="*/ 58454 w 604886"/>
              <a:gd name="connsiteY7" fmla="*/ 545956 h 604313"/>
              <a:gd name="connsiteX8" fmla="*/ 19733 w 604886"/>
              <a:gd name="connsiteY8" fmla="*/ 374359 h 604313"/>
              <a:gd name="connsiteX9" fmla="*/ 93549 w 604886"/>
              <a:gd name="connsiteY9" fmla="*/ 300652 h 604313"/>
              <a:gd name="connsiteX10" fmla="*/ 127049 w 604886"/>
              <a:gd name="connsiteY10" fmla="*/ 300652 h 604313"/>
              <a:gd name="connsiteX11" fmla="*/ 127049 w 604886"/>
              <a:gd name="connsiteY11" fmla="*/ 333958 h 604313"/>
              <a:gd name="connsiteX12" fmla="*/ 53233 w 604886"/>
              <a:gd name="connsiteY12" fmla="*/ 407665 h 604313"/>
              <a:gd name="connsiteX13" fmla="*/ 91809 w 604886"/>
              <a:gd name="connsiteY13" fmla="*/ 512650 h 604313"/>
              <a:gd name="connsiteX14" fmla="*/ 196950 w 604886"/>
              <a:gd name="connsiteY14" fmla="*/ 551169 h 604313"/>
              <a:gd name="connsiteX15" fmla="*/ 400124 w 604886"/>
              <a:gd name="connsiteY15" fmla="*/ 348294 h 604313"/>
              <a:gd name="connsiteX16" fmla="*/ 403460 w 604886"/>
              <a:gd name="connsiteY16" fmla="*/ 310065 h 604313"/>
              <a:gd name="connsiteX17" fmla="*/ 361549 w 604886"/>
              <a:gd name="connsiteY17" fmla="*/ 243308 h 604313"/>
              <a:gd name="connsiteX18" fmla="*/ 316737 w 604886"/>
              <a:gd name="connsiteY18" fmla="*/ 210147 h 604313"/>
              <a:gd name="connsiteX19" fmla="*/ 306441 w 604886"/>
              <a:gd name="connsiteY19" fmla="*/ 178435 h 604313"/>
              <a:gd name="connsiteX20" fmla="*/ 320200 w 604886"/>
              <a:gd name="connsiteY20" fmla="*/ 166778 h 604313"/>
              <a:gd name="connsiteX21" fmla="*/ 411085 w 604886"/>
              <a:gd name="connsiteY21" fmla="*/ 1388 h 604313"/>
              <a:gd name="connsiteX22" fmla="*/ 458862 w 604886"/>
              <a:gd name="connsiteY22" fmla="*/ 4683 h 604313"/>
              <a:gd name="connsiteX23" fmla="*/ 546442 w 604886"/>
              <a:gd name="connsiteY23" fmla="*/ 58698 h 604313"/>
              <a:gd name="connsiteX24" fmla="*/ 585156 w 604886"/>
              <a:gd name="connsiteY24" fmla="*/ 230302 h 604313"/>
              <a:gd name="connsiteX25" fmla="*/ 511352 w 604886"/>
              <a:gd name="connsiteY25" fmla="*/ 304012 h 604313"/>
              <a:gd name="connsiteX26" fmla="*/ 477857 w 604886"/>
              <a:gd name="connsiteY26" fmla="*/ 304012 h 604313"/>
              <a:gd name="connsiteX27" fmla="*/ 477857 w 604886"/>
              <a:gd name="connsiteY27" fmla="*/ 270705 h 604313"/>
              <a:gd name="connsiteX28" fmla="*/ 551662 w 604886"/>
              <a:gd name="connsiteY28" fmla="*/ 196995 h 604313"/>
              <a:gd name="connsiteX29" fmla="*/ 513092 w 604886"/>
              <a:gd name="connsiteY29" fmla="*/ 92005 h 604313"/>
              <a:gd name="connsiteX30" fmla="*/ 446247 w 604886"/>
              <a:gd name="connsiteY30" fmla="*/ 50154 h 604313"/>
              <a:gd name="connsiteX31" fmla="*/ 407968 w 604886"/>
              <a:gd name="connsiteY31" fmla="*/ 53485 h 604313"/>
              <a:gd name="connsiteX32" fmla="*/ 204825 w 604886"/>
              <a:gd name="connsiteY32" fmla="*/ 256368 h 604313"/>
              <a:gd name="connsiteX33" fmla="*/ 201490 w 604886"/>
              <a:gd name="connsiteY33" fmla="*/ 294599 h 604313"/>
              <a:gd name="connsiteX34" fmla="*/ 243394 w 604886"/>
              <a:gd name="connsiteY34" fmla="*/ 361358 h 604313"/>
              <a:gd name="connsiteX35" fmla="*/ 288199 w 604886"/>
              <a:gd name="connsiteY35" fmla="*/ 394520 h 604313"/>
              <a:gd name="connsiteX36" fmla="*/ 298494 w 604886"/>
              <a:gd name="connsiteY36" fmla="*/ 426234 h 604313"/>
              <a:gd name="connsiteX37" fmla="*/ 277469 w 604886"/>
              <a:gd name="connsiteY37" fmla="*/ 438978 h 604313"/>
              <a:gd name="connsiteX38" fmla="*/ 266739 w 604886"/>
              <a:gd name="connsiteY38" fmla="*/ 436516 h 604313"/>
              <a:gd name="connsiteX39" fmla="*/ 210044 w 604886"/>
              <a:gd name="connsiteY39" fmla="*/ 394665 h 604313"/>
              <a:gd name="connsiteX40" fmla="*/ 155960 w 604886"/>
              <a:gd name="connsiteY40" fmla="*/ 307198 h 604313"/>
              <a:gd name="connsiteX41" fmla="*/ 171330 w 604886"/>
              <a:gd name="connsiteY41" fmla="*/ 223061 h 604313"/>
              <a:gd name="connsiteX42" fmla="*/ 374618 w 604886"/>
              <a:gd name="connsiteY42" fmla="*/ 20033 h 604313"/>
              <a:gd name="connsiteX43" fmla="*/ 411085 w 604886"/>
              <a:gd name="connsiteY43" fmla="*/ 1388 h 6043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Lst>
            <a:rect l="l" t="t" r="r" b="b"/>
            <a:pathLst>
              <a:path w="604886" h="604313">
                <a:moveTo>
                  <a:pt x="320200" y="166778"/>
                </a:moveTo>
                <a:cubicBezTo>
                  <a:pt x="325946" y="164931"/>
                  <a:pt x="332399" y="165257"/>
                  <a:pt x="338200" y="168153"/>
                </a:cubicBezTo>
                <a:cubicBezTo>
                  <a:pt x="358068" y="178290"/>
                  <a:pt x="377646" y="192771"/>
                  <a:pt x="394904" y="210003"/>
                </a:cubicBezTo>
                <a:cubicBezTo>
                  <a:pt x="421443" y="236358"/>
                  <a:pt x="440585" y="267491"/>
                  <a:pt x="448997" y="297466"/>
                </a:cubicBezTo>
                <a:cubicBezTo>
                  <a:pt x="458568" y="332075"/>
                  <a:pt x="453202" y="362050"/>
                  <a:pt x="433479" y="381599"/>
                </a:cubicBezTo>
                <a:lnTo>
                  <a:pt x="230304" y="584474"/>
                </a:lnTo>
                <a:cubicBezTo>
                  <a:pt x="216962" y="597942"/>
                  <a:pt x="198690" y="604313"/>
                  <a:pt x="177952" y="604313"/>
                </a:cubicBezTo>
                <a:cubicBezTo>
                  <a:pt x="140971" y="604313"/>
                  <a:pt x="96305" y="583750"/>
                  <a:pt x="58454" y="545956"/>
                </a:cubicBezTo>
                <a:cubicBezTo>
                  <a:pt x="-570" y="487019"/>
                  <a:pt x="-17537" y="411575"/>
                  <a:pt x="19733" y="374359"/>
                </a:cubicBezTo>
                <a:lnTo>
                  <a:pt x="93549" y="300652"/>
                </a:lnTo>
                <a:cubicBezTo>
                  <a:pt x="102831" y="291384"/>
                  <a:pt x="117768" y="291384"/>
                  <a:pt x="127049" y="300652"/>
                </a:cubicBezTo>
                <a:cubicBezTo>
                  <a:pt x="136186" y="309775"/>
                  <a:pt x="136186" y="324690"/>
                  <a:pt x="127049" y="333958"/>
                </a:cubicBezTo>
                <a:lnTo>
                  <a:pt x="53233" y="407665"/>
                </a:lnTo>
                <a:cubicBezTo>
                  <a:pt x="37426" y="423304"/>
                  <a:pt x="50623" y="471525"/>
                  <a:pt x="91809" y="512650"/>
                </a:cubicBezTo>
                <a:cubicBezTo>
                  <a:pt x="132995" y="553631"/>
                  <a:pt x="181287" y="566808"/>
                  <a:pt x="196950" y="551169"/>
                </a:cubicBezTo>
                <a:lnTo>
                  <a:pt x="400124" y="348294"/>
                </a:lnTo>
                <a:cubicBezTo>
                  <a:pt x="407085" y="341343"/>
                  <a:pt x="408246" y="327441"/>
                  <a:pt x="403460" y="310065"/>
                </a:cubicBezTo>
                <a:cubicBezTo>
                  <a:pt x="397369" y="288199"/>
                  <a:pt x="381997" y="263871"/>
                  <a:pt x="361549" y="243308"/>
                </a:cubicBezTo>
                <a:cubicBezTo>
                  <a:pt x="347627" y="229552"/>
                  <a:pt x="332254" y="218112"/>
                  <a:pt x="316737" y="210147"/>
                </a:cubicBezTo>
                <a:cubicBezTo>
                  <a:pt x="305135" y="204355"/>
                  <a:pt x="300495" y="190019"/>
                  <a:pt x="306441" y="178435"/>
                </a:cubicBezTo>
                <a:cubicBezTo>
                  <a:pt x="309414" y="172642"/>
                  <a:pt x="314453" y="168624"/>
                  <a:pt x="320200" y="166778"/>
                </a:cubicBezTo>
                <a:close/>
                <a:moveTo>
                  <a:pt x="411085" y="1388"/>
                </a:moveTo>
                <a:cubicBezTo>
                  <a:pt x="425368" y="-1219"/>
                  <a:pt x="441535" y="-169"/>
                  <a:pt x="458862" y="4683"/>
                </a:cubicBezTo>
                <a:cubicBezTo>
                  <a:pt x="488877" y="13082"/>
                  <a:pt x="519907" y="32197"/>
                  <a:pt x="546442" y="58698"/>
                </a:cubicBezTo>
                <a:cubicBezTo>
                  <a:pt x="605456" y="117637"/>
                  <a:pt x="622421" y="192940"/>
                  <a:pt x="585156" y="230302"/>
                </a:cubicBezTo>
                <a:lnTo>
                  <a:pt x="511352" y="304012"/>
                </a:lnTo>
                <a:cubicBezTo>
                  <a:pt x="502072" y="313135"/>
                  <a:pt x="487137" y="313135"/>
                  <a:pt x="477857" y="304012"/>
                </a:cubicBezTo>
                <a:cubicBezTo>
                  <a:pt x="468722" y="294744"/>
                  <a:pt x="468722" y="279828"/>
                  <a:pt x="477857" y="270705"/>
                </a:cubicBezTo>
                <a:lnTo>
                  <a:pt x="551662" y="196995"/>
                </a:lnTo>
                <a:cubicBezTo>
                  <a:pt x="567321" y="181355"/>
                  <a:pt x="554127" y="133132"/>
                  <a:pt x="513092" y="92005"/>
                </a:cubicBezTo>
                <a:cubicBezTo>
                  <a:pt x="492502" y="71586"/>
                  <a:pt x="468142" y="56236"/>
                  <a:pt x="446247" y="50154"/>
                </a:cubicBezTo>
                <a:cubicBezTo>
                  <a:pt x="428848" y="45230"/>
                  <a:pt x="414928" y="46534"/>
                  <a:pt x="407968" y="53485"/>
                </a:cubicBezTo>
                <a:lnTo>
                  <a:pt x="204825" y="256368"/>
                </a:lnTo>
                <a:cubicBezTo>
                  <a:pt x="197865" y="263319"/>
                  <a:pt x="196560" y="277221"/>
                  <a:pt x="201490" y="294599"/>
                </a:cubicBezTo>
                <a:cubicBezTo>
                  <a:pt x="207579" y="316466"/>
                  <a:pt x="222949" y="340795"/>
                  <a:pt x="243394" y="361358"/>
                </a:cubicBezTo>
                <a:cubicBezTo>
                  <a:pt x="257169" y="375115"/>
                  <a:pt x="272684" y="386556"/>
                  <a:pt x="288199" y="394520"/>
                </a:cubicBezTo>
                <a:cubicBezTo>
                  <a:pt x="299799" y="400313"/>
                  <a:pt x="304439" y="414505"/>
                  <a:pt x="298494" y="426234"/>
                </a:cubicBezTo>
                <a:cubicBezTo>
                  <a:pt x="294289" y="434344"/>
                  <a:pt x="286024" y="438978"/>
                  <a:pt x="277469" y="438978"/>
                </a:cubicBezTo>
                <a:cubicBezTo>
                  <a:pt x="273844" y="438978"/>
                  <a:pt x="270219" y="438254"/>
                  <a:pt x="266739" y="436516"/>
                </a:cubicBezTo>
                <a:cubicBezTo>
                  <a:pt x="246874" y="426379"/>
                  <a:pt x="227299" y="411898"/>
                  <a:pt x="210044" y="394665"/>
                </a:cubicBezTo>
                <a:cubicBezTo>
                  <a:pt x="183510" y="368164"/>
                  <a:pt x="164370" y="337174"/>
                  <a:pt x="155960" y="307198"/>
                </a:cubicBezTo>
                <a:cubicBezTo>
                  <a:pt x="146245" y="272587"/>
                  <a:pt x="151755" y="242611"/>
                  <a:pt x="171330" y="223061"/>
                </a:cubicBezTo>
                <a:lnTo>
                  <a:pt x="374618" y="20033"/>
                </a:lnTo>
                <a:cubicBezTo>
                  <a:pt x="384406" y="10258"/>
                  <a:pt x="396803" y="3995"/>
                  <a:pt x="411085" y="1388"/>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78" name="文本框 77">
            <a:extLst>
              <a:ext uri="{FF2B5EF4-FFF2-40B4-BE49-F238E27FC236}">
                <a16:creationId xmlns:a16="http://schemas.microsoft.com/office/drawing/2014/main" id="{5C086EF5-8B83-40F1-AA8C-DD9BF993E384}"/>
              </a:ext>
            </a:extLst>
          </p:cNvPr>
          <p:cNvSpPr txBox="1"/>
          <p:nvPr/>
        </p:nvSpPr>
        <p:spPr>
          <a:xfrm>
            <a:off x="373082" y="3517143"/>
            <a:ext cx="1660612" cy="338554"/>
          </a:xfrm>
          <a:prstGeom prst="rect">
            <a:avLst/>
          </a:prstGeom>
          <a:noFill/>
        </p:spPr>
        <p:txBody>
          <a:bodyPr wrap="square" rtlCol="0">
            <a:spAutoFit/>
          </a:bodyPr>
          <a:lstStyle/>
          <a:p>
            <a:r>
              <a:rPr lang="zh-CN" altLang="en-US" sz="1600" dirty="0">
                <a:solidFill>
                  <a:schemeClr val="bg1"/>
                </a:solidFill>
                <a:latin typeface="思源黑体 CN Regular" panose="020B0500000000000000" pitchFamily="34" charset="-122"/>
                <a:ea typeface="思源黑体 CN Regular" panose="020B0500000000000000" pitchFamily="34" charset="-122"/>
              </a:rPr>
              <a:t>研究方法与思路</a:t>
            </a:r>
          </a:p>
        </p:txBody>
      </p:sp>
      <p:sp>
        <p:nvSpPr>
          <p:cNvPr id="79" name="文本框 78">
            <a:extLst>
              <a:ext uri="{FF2B5EF4-FFF2-40B4-BE49-F238E27FC236}">
                <a16:creationId xmlns:a16="http://schemas.microsoft.com/office/drawing/2014/main" id="{00333C44-3320-4CD8-B5FD-AE14A4BA2631}"/>
              </a:ext>
            </a:extLst>
          </p:cNvPr>
          <p:cNvSpPr txBox="1"/>
          <p:nvPr/>
        </p:nvSpPr>
        <p:spPr>
          <a:xfrm>
            <a:off x="373082" y="4226265"/>
            <a:ext cx="1660612" cy="338554"/>
          </a:xfrm>
          <a:prstGeom prst="rect">
            <a:avLst/>
          </a:prstGeom>
          <a:noFill/>
        </p:spPr>
        <p:txBody>
          <a:bodyPr wrap="square" rtlCol="0">
            <a:spAutoFit/>
          </a:bodyPr>
          <a:lstStyle/>
          <a:p>
            <a:r>
              <a:rPr lang="zh-CN" altLang="en-US" sz="1600" dirty="0">
                <a:solidFill>
                  <a:schemeClr val="bg1"/>
                </a:solidFill>
                <a:latin typeface="思源黑体 CN Regular" panose="020B0500000000000000" pitchFamily="34" charset="-122"/>
                <a:ea typeface="思源黑体 CN Regular" panose="020B0500000000000000" pitchFamily="34" charset="-122"/>
              </a:rPr>
              <a:t>关键技术与创新</a:t>
            </a:r>
          </a:p>
        </p:txBody>
      </p:sp>
      <p:sp>
        <p:nvSpPr>
          <p:cNvPr id="80" name="任意矩形：004">
            <a:extLst>
              <a:ext uri="{FF2B5EF4-FFF2-40B4-BE49-F238E27FC236}">
                <a16:creationId xmlns:a16="http://schemas.microsoft.com/office/drawing/2014/main" id="{EA6E45C1-D809-49DC-B803-076F51860BA1}"/>
              </a:ext>
            </a:extLst>
          </p:cNvPr>
          <p:cNvSpPr/>
          <p:nvPr/>
        </p:nvSpPr>
        <p:spPr>
          <a:xfrm rot="20700000">
            <a:off x="101744" y="4285500"/>
            <a:ext cx="251496" cy="189307"/>
          </a:xfrm>
          <a:custGeom>
            <a:avLst/>
            <a:gdLst>
              <a:gd name="T0" fmla="*/ 6845 w 7011"/>
              <a:gd name="T1" fmla="*/ 1345 h 5286"/>
              <a:gd name="T2" fmla="*/ 5180 w 7011"/>
              <a:gd name="T3" fmla="*/ 598 h 5286"/>
              <a:gd name="T4" fmla="*/ 5179 w 7011"/>
              <a:gd name="T5" fmla="*/ 598 h 5286"/>
              <a:gd name="T6" fmla="*/ 3505 w 7011"/>
              <a:gd name="T7" fmla="*/ 0 h 5286"/>
              <a:gd name="T8" fmla="*/ 907 w 7011"/>
              <a:gd name="T9" fmla="*/ 2166 h 5286"/>
              <a:gd name="T10" fmla="*/ 167 w 7011"/>
              <a:gd name="T11" fmla="*/ 3741 h 5286"/>
              <a:gd name="T12" fmla="*/ 1605 w 7011"/>
              <a:gd name="T13" fmla="*/ 4477 h 5286"/>
              <a:gd name="T14" fmla="*/ 3505 w 7011"/>
              <a:gd name="T15" fmla="*/ 5286 h 5286"/>
              <a:gd name="T16" fmla="*/ 6136 w 7011"/>
              <a:gd name="T17" fmla="*/ 2888 h 5286"/>
              <a:gd name="T18" fmla="*/ 6845 w 7011"/>
              <a:gd name="T19" fmla="*/ 1345 h 5286"/>
              <a:gd name="T20" fmla="*/ 521 w 7011"/>
              <a:gd name="T21" fmla="*/ 3613 h 5286"/>
              <a:gd name="T22" fmla="*/ 865 w 7011"/>
              <a:gd name="T23" fmla="*/ 2729 h 5286"/>
              <a:gd name="T24" fmla="*/ 1279 w 7011"/>
              <a:gd name="T25" fmla="*/ 4061 h 5286"/>
              <a:gd name="T26" fmla="*/ 521 w 7011"/>
              <a:gd name="T27" fmla="*/ 3613 h 5286"/>
              <a:gd name="T28" fmla="*/ 3507 w 7011"/>
              <a:gd name="T29" fmla="*/ 4909 h 5286"/>
              <a:gd name="T30" fmla="*/ 2171 w 7011"/>
              <a:gd name="T31" fmla="*/ 4472 h 5286"/>
              <a:gd name="T32" fmla="*/ 4051 w 7011"/>
              <a:gd name="T33" fmla="*/ 4060 h 5286"/>
              <a:gd name="T34" fmla="*/ 5695 w 7011"/>
              <a:gd name="T35" fmla="*/ 3233 h 5286"/>
              <a:gd name="T36" fmla="*/ 3507 w 7011"/>
              <a:gd name="T37" fmla="*/ 4909 h 5286"/>
              <a:gd name="T38" fmla="*/ 5772 w 7011"/>
              <a:gd name="T39" fmla="*/ 2705 h 5286"/>
              <a:gd name="T40" fmla="*/ 3924 w 7011"/>
              <a:gd name="T41" fmla="*/ 3706 h 5286"/>
              <a:gd name="T42" fmla="*/ 1779 w 7011"/>
              <a:gd name="T43" fmla="*/ 4108 h 5286"/>
              <a:gd name="T44" fmla="*/ 1240 w 7011"/>
              <a:gd name="T45" fmla="*/ 2642 h 5286"/>
              <a:gd name="T46" fmla="*/ 3507 w 7011"/>
              <a:gd name="T47" fmla="*/ 376 h 5286"/>
              <a:gd name="T48" fmla="*/ 5773 w 7011"/>
              <a:gd name="T49" fmla="*/ 2642 h 5286"/>
              <a:gd name="T50" fmla="*/ 5772 w 7011"/>
              <a:gd name="T51" fmla="*/ 2705 h 5286"/>
              <a:gd name="T52" fmla="*/ 6133 w 7011"/>
              <a:gd name="T53" fmla="*/ 2364 h 5286"/>
              <a:gd name="T54" fmla="*/ 5571 w 7011"/>
              <a:gd name="T55" fmla="*/ 996 h 5286"/>
              <a:gd name="T56" fmla="*/ 6491 w 7011"/>
              <a:gd name="T57" fmla="*/ 1472 h 5286"/>
              <a:gd name="T58" fmla="*/ 6133 w 7011"/>
              <a:gd name="T59" fmla="*/ 2364 h 528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7011" h="5286">
                <a:moveTo>
                  <a:pt x="6845" y="1345"/>
                </a:moveTo>
                <a:cubicBezTo>
                  <a:pt x="6672" y="864"/>
                  <a:pt x="6081" y="598"/>
                  <a:pt x="5180" y="598"/>
                </a:cubicBezTo>
                <a:lnTo>
                  <a:pt x="5179" y="598"/>
                </a:lnTo>
                <a:cubicBezTo>
                  <a:pt x="4723" y="225"/>
                  <a:pt x="4140" y="0"/>
                  <a:pt x="3505" y="0"/>
                </a:cubicBezTo>
                <a:cubicBezTo>
                  <a:pt x="2212" y="0"/>
                  <a:pt x="1132" y="936"/>
                  <a:pt x="907" y="2166"/>
                </a:cubicBezTo>
                <a:cubicBezTo>
                  <a:pt x="264" y="2720"/>
                  <a:pt x="0" y="3278"/>
                  <a:pt x="167" y="3741"/>
                </a:cubicBezTo>
                <a:cubicBezTo>
                  <a:pt x="325" y="4184"/>
                  <a:pt x="863" y="4433"/>
                  <a:pt x="1605" y="4477"/>
                </a:cubicBezTo>
                <a:cubicBezTo>
                  <a:pt x="2087" y="4976"/>
                  <a:pt x="2760" y="5286"/>
                  <a:pt x="3505" y="5286"/>
                </a:cubicBezTo>
                <a:cubicBezTo>
                  <a:pt x="4880" y="5286"/>
                  <a:pt x="6012" y="4232"/>
                  <a:pt x="6136" y="2888"/>
                </a:cubicBezTo>
                <a:cubicBezTo>
                  <a:pt x="6728" y="2364"/>
                  <a:pt x="7011" y="1804"/>
                  <a:pt x="6845" y="1345"/>
                </a:cubicBezTo>
                <a:close/>
                <a:moveTo>
                  <a:pt x="521" y="3613"/>
                </a:moveTo>
                <a:cubicBezTo>
                  <a:pt x="437" y="3380"/>
                  <a:pt x="565" y="3064"/>
                  <a:pt x="865" y="2729"/>
                </a:cubicBezTo>
                <a:cubicBezTo>
                  <a:pt x="881" y="3218"/>
                  <a:pt x="1031" y="3673"/>
                  <a:pt x="1279" y="4061"/>
                </a:cubicBezTo>
                <a:cubicBezTo>
                  <a:pt x="871" y="3988"/>
                  <a:pt x="599" y="3830"/>
                  <a:pt x="521" y="3613"/>
                </a:cubicBezTo>
                <a:close/>
                <a:moveTo>
                  <a:pt x="3507" y="4909"/>
                </a:moveTo>
                <a:cubicBezTo>
                  <a:pt x="3008" y="4909"/>
                  <a:pt x="2545" y="4746"/>
                  <a:pt x="2171" y="4472"/>
                </a:cubicBezTo>
                <a:cubicBezTo>
                  <a:pt x="2740" y="4434"/>
                  <a:pt x="3384" y="4300"/>
                  <a:pt x="4051" y="4060"/>
                </a:cubicBezTo>
                <a:cubicBezTo>
                  <a:pt x="4684" y="3833"/>
                  <a:pt x="5243" y="3546"/>
                  <a:pt x="5695" y="3233"/>
                </a:cubicBezTo>
                <a:cubicBezTo>
                  <a:pt x="5433" y="4197"/>
                  <a:pt x="4552" y="4909"/>
                  <a:pt x="3507" y="4909"/>
                </a:cubicBezTo>
                <a:close/>
                <a:moveTo>
                  <a:pt x="5772" y="2705"/>
                </a:moveTo>
                <a:cubicBezTo>
                  <a:pt x="5328" y="3068"/>
                  <a:pt x="4700" y="3428"/>
                  <a:pt x="3924" y="3706"/>
                </a:cubicBezTo>
                <a:cubicBezTo>
                  <a:pt x="3111" y="3998"/>
                  <a:pt x="2365" y="4117"/>
                  <a:pt x="1779" y="4108"/>
                </a:cubicBezTo>
                <a:cubicBezTo>
                  <a:pt x="1443" y="3712"/>
                  <a:pt x="1240" y="3201"/>
                  <a:pt x="1240" y="2642"/>
                </a:cubicBezTo>
                <a:cubicBezTo>
                  <a:pt x="1240" y="1393"/>
                  <a:pt x="2256" y="376"/>
                  <a:pt x="3507" y="376"/>
                </a:cubicBezTo>
                <a:cubicBezTo>
                  <a:pt x="4756" y="376"/>
                  <a:pt x="5773" y="1393"/>
                  <a:pt x="5773" y="2642"/>
                </a:cubicBezTo>
                <a:cubicBezTo>
                  <a:pt x="5773" y="2664"/>
                  <a:pt x="5772" y="2684"/>
                  <a:pt x="5772" y="2705"/>
                </a:cubicBezTo>
                <a:close/>
                <a:moveTo>
                  <a:pt x="6133" y="2364"/>
                </a:moveTo>
                <a:cubicBezTo>
                  <a:pt x="6079" y="1849"/>
                  <a:pt x="5877" y="1380"/>
                  <a:pt x="5571" y="996"/>
                </a:cubicBezTo>
                <a:cubicBezTo>
                  <a:pt x="6067" y="1053"/>
                  <a:pt x="6401" y="1221"/>
                  <a:pt x="6491" y="1472"/>
                </a:cubicBezTo>
                <a:cubicBezTo>
                  <a:pt x="6573" y="1704"/>
                  <a:pt x="6443" y="2024"/>
                  <a:pt x="6133" y="2364"/>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81" name="文本框 80">
            <a:extLst>
              <a:ext uri="{FF2B5EF4-FFF2-40B4-BE49-F238E27FC236}">
                <a16:creationId xmlns:a16="http://schemas.microsoft.com/office/drawing/2014/main" id="{62015132-25DA-4F59-B76C-D4CCB07C3A64}"/>
              </a:ext>
            </a:extLst>
          </p:cNvPr>
          <p:cNvSpPr txBox="1"/>
          <p:nvPr/>
        </p:nvSpPr>
        <p:spPr>
          <a:xfrm>
            <a:off x="373082" y="4935387"/>
            <a:ext cx="1660612" cy="338554"/>
          </a:xfrm>
          <a:prstGeom prst="rect">
            <a:avLst/>
          </a:prstGeom>
          <a:noFill/>
        </p:spPr>
        <p:txBody>
          <a:bodyPr wrap="square" rtlCol="0">
            <a:spAutoFit/>
          </a:bodyPr>
          <a:lstStyle/>
          <a:p>
            <a:r>
              <a:rPr lang="zh-CN" altLang="en-US" sz="1600" dirty="0">
                <a:solidFill>
                  <a:schemeClr val="bg1"/>
                </a:solidFill>
                <a:latin typeface="思源黑体 CN Regular" panose="020B0500000000000000" pitchFamily="34" charset="-122"/>
                <a:ea typeface="思源黑体 CN Regular" panose="020B0500000000000000" pitchFamily="34" charset="-122"/>
              </a:rPr>
              <a:t>已开展工作</a:t>
            </a:r>
          </a:p>
        </p:txBody>
      </p:sp>
      <p:sp>
        <p:nvSpPr>
          <p:cNvPr id="82" name="任意矩形：005">
            <a:extLst>
              <a:ext uri="{FF2B5EF4-FFF2-40B4-BE49-F238E27FC236}">
                <a16:creationId xmlns:a16="http://schemas.microsoft.com/office/drawing/2014/main" id="{D0246B9A-8DD8-4002-93F7-4FA516EF7EF9}"/>
              </a:ext>
            </a:extLst>
          </p:cNvPr>
          <p:cNvSpPr/>
          <p:nvPr/>
        </p:nvSpPr>
        <p:spPr>
          <a:xfrm>
            <a:off x="123946" y="4988361"/>
            <a:ext cx="201734" cy="201828"/>
          </a:xfrm>
          <a:custGeom>
            <a:avLst/>
            <a:gdLst>
              <a:gd name="T0" fmla="*/ 278945 h 440259"/>
              <a:gd name="T1" fmla="*/ 278945 h 440259"/>
              <a:gd name="T2" fmla="*/ 278945 h 440259"/>
              <a:gd name="T3" fmla="*/ 278945 h 440259"/>
              <a:gd name="T4" fmla="*/ 278945 h 440259"/>
              <a:gd name="T5" fmla="*/ 278945 h 440259"/>
              <a:gd name="T6" fmla="*/ 278945 h 440259"/>
              <a:gd name="T7" fmla="*/ 278945 h 440259"/>
              <a:gd name="T8" fmla="*/ 278945 h 440259"/>
              <a:gd name="T9" fmla="*/ 278945 h 440259"/>
              <a:gd name="T10" fmla="*/ 278945 h 440259"/>
              <a:gd name="T11" fmla="*/ 278945 h 440259"/>
              <a:gd name="T12" fmla="*/ 278945 h 440259"/>
              <a:gd name="T13" fmla="*/ 278945 h 440259"/>
              <a:gd name="T14" fmla="*/ 278945 h 440259"/>
              <a:gd name="T15" fmla="*/ 278945 h 440259"/>
              <a:gd name="T16" fmla="*/ 278945 h 440259"/>
              <a:gd name="T17" fmla="*/ 278945 h 440259"/>
              <a:gd name="T18" fmla="*/ 278945 h 440259"/>
              <a:gd name="T19" fmla="*/ 278945 h 440259"/>
              <a:gd name="T20" fmla="*/ 278945 h 440259"/>
              <a:gd name="T21" fmla="*/ 278945 h 440259"/>
              <a:gd name="T22" fmla="*/ 278945 h 440259"/>
              <a:gd name="T23" fmla="*/ 278945 h 440259"/>
              <a:gd name="T24" fmla="*/ 278945 h 440259"/>
              <a:gd name="T25" fmla="*/ 278945 h 440259"/>
              <a:gd name="T26" fmla="*/ 278945 h 440259"/>
              <a:gd name="T27" fmla="*/ 278945 h 440259"/>
              <a:gd name="T28" fmla="*/ 278945 h 440259"/>
              <a:gd name="T29" fmla="*/ 278945 h 440259"/>
              <a:gd name="T30" fmla="*/ 278945 h 440259"/>
              <a:gd name="T31" fmla="*/ 278945 h 440259"/>
              <a:gd name="T32" fmla="*/ 278945 h 440259"/>
              <a:gd name="T33" fmla="*/ 278945 h 440259"/>
              <a:gd name="T34" fmla="*/ 278945 h 440259"/>
              <a:gd name="T35" fmla="*/ 278945 h 440259"/>
              <a:gd name="T36" fmla="*/ 278945 h 440259"/>
              <a:gd name="T37" fmla="*/ 278945 h 440259"/>
              <a:gd name="T38" fmla="*/ 278945 h 440259"/>
              <a:gd name="T39" fmla="*/ 278945 h 440259"/>
              <a:gd name="T40" fmla="*/ 278945 h 440259"/>
              <a:gd name="T41" fmla="*/ 278945 h 440259"/>
              <a:gd name="T42" fmla="*/ 278945 h 440259"/>
              <a:gd name="T43" fmla="*/ 278945 h 440259"/>
              <a:gd name="T44" fmla="*/ 278945 h 440259"/>
              <a:gd name="T45" fmla="*/ 278945 h 440259"/>
              <a:gd name="T46" fmla="*/ 278945 h 440259"/>
              <a:gd name="T47" fmla="*/ 278945 h 440259"/>
              <a:gd name="T48" fmla="*/ 278945 h 440259"/>
              <a:gd name="T49" fmla="*/ 278945 h 440259"/>
              <a:gd name="T50" fmla="*/ 278945 h 440259"/>
              <a:gd name="T51" fmla="*/ 278945 h 440259"/>
              <a:gd name="T52" fmla="*/ 278945 h 440259"/>
              <a:gd name="T53" fmla="*/ 278945 h 440259"/>
              <a:gd name="T54" fmla="*/ 278945 h 440259"/>
              <a:gd name="T55" fmla="*/ 278945 h 440259"/>
              <a:gd name="T56" fmla="*/ 278945 h 440259"/>
              <a:gd name="T57" fmla="*/ 278945 h 440259"/>
              <a:gd name="T58" fmla="*/ 278945 h 440259"/>
              <a:gd name="T59" fmla="*/ 278945 h 440259"/>
              <a:gd name="T60" fmla="*/ 278945 h 440259"/>
              <a:gd name="T61" fmla="*/ 278945 h 440259"/>
              <a:gd name="T62" fmla="*/ 278945 h 440259"/>
              <a:gd name="T63" fmla="*/ 278945 h 440259"/>
              <a:gd name="T64" fmla="*/ 278945 h 440259"/>
              <a:gd name="T65" fmla="*/ 278945 h 440259"/>
              <a:gd name="T66" fmla="*/ 278945 h 440259"/>
              <a:gd name="T67" fmla="*/ 278945 h 440259"/>
              <a:gd name="T68" fmla="*/ 278945 h 440259"/>
              <a:gd name="T69" fmla="*/ 278945 h 440259"/>
              <a:gd name="T70" fmla="*/ 278945 h 440259"/>
              <a:gd name="T71" fmla="*/ 278945 h 440259"/>
              <a:gd name="T72" fmla="*/ 278945 h 440259"/>
              <a:gd name="T73" fmla="*/ 278945 h 440259"/>
              <a:gd name="T74" fmla="*/ 278945 h 440259"/>
              <a:gd name="T75" fmla="*/ 278945 h 440259"/>
              <a:gd name="T76" fmla="*/ 278945 h 440259"/>
              <a:gd name="T77" fmla="*/ 278945 h 440259"/>
              <a:gd name="T78" fmla="*/ 278945 h 440259"/>
              <a:gd name="T79" fmla="*/ 278945 h 440259"/>
              <a:gd name="T80" fmla="*/ 278945 h 440259"/>
              <a:gd name="T81" fmla="*/ 278945 h 440259"/>
              <a:gd name="T82" fmla="*/ 278945 h 440259"/>
              <a:gd name="T83" fmla="*/ 278945 h 440259"/>
              <a:gd name="T84" fmla="*/ 88862 h 440259"/>
              <a:gd name="T85" fmla="*/ 88862 h 440259"/>
              <a:gd name="T86" fmla="*/ 278945 h 440259"/>
              <a:gd name="T87" fmla="*/ 278945 h 44025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Lst>
            <a:rect l="0" t="0" r="r" b="b"/>
            <a:pathLst>
              <a:path w="6495" h="6508">
                <a:moveTo>
                  <a:pt x="6495" y="203"/>
                </a:moveTo>
                <a:lnTo>
                  <a:pt x="6495" y="197"/>
                </a:lnTo>
                <a:cubicBezTo>
                  <a:pt x="6495" y="193"/>
                  <a:pt x="6493" y="191"/>
                  <a:pt x="6493" y="187"/>
                </a:cubicBezTo>
                <a:cubicBezTo>
                  <a:pt x="6493" y="184"/>
                  <a:pt x="6493" y="181"/>
                  <a:pt x="6492" y="179"/>
                </a:cubicBezTo>
                <a:cubicBezTo>
                  <a:pt x="6492" y="176"/>
                  <a:pt x="6491" y="173"/>
                  <a:pt x="6491" y="172"/>
                </a:cubicBezTo>
                <a:cubicBezTo>
                  <a:pt x="6489" y="169"/>
                  <a:pt x="6489" y="165"/>
                  <a:pt x="6488" y="163"/>
                </a:cubicBezTo>
                <a:cubicBezTo>
                  <a:pt x="6488" y="161"/>
                  <a:pt x="6487" y="160"/>
                  <a:pt x="6487" y="157"/>
                </a:cubicBezTo>
                <a:lnTo>
                  <a:pt x="6483" y="145"/>
                </a:lnTo>
                <a:cubicBezTo>
                  <a:pt x="6483" y="144"/>
                  <a:pt x="6481" y="144"/>
                  <a:pt x="6481" y="143"/>
                </a:cubicBezTo>
                <a:cubicBezTo>
                  <a:pt x="6480" y="139"/>
                  <a:pt x="6477" y="133"/>
                  <a:pt x="6475" y="129"/>
                </a:cubicBezTo>
                <a:cubicBezTo>
                  <a:pt x="6475" y="128"/>
                  <a:pt x="6473" y="127"/>
                  <a:pt x="6473" y="127"/>
                </a:cubicBezTo>
                <a:cubicBezTo>
                  <a:pt x="6471" y="123"/>
                  <a:pt x="6469" y="119"/>
                  <a:pt x="6467" y="115"/>
                </a:cubicBezTo>
                <a:cubicBezTo>
                  <a:pt x="6457" y="101"/>
                  <a:pt x="6447" y="89"/>
                  <a:pt x="6435" y="79"/>
                </a:cubicBezTo>
                <a:cubicBezTo>
                  <a:pt x="6385" y="23"/>
                  <a:pt x="6304" y="0"/>
                  <a:pt x="6231" y="31"/>
                </a:cubicBezTo>
                <a:lnTo>
                  <a:pt x="112" y="2559"/>
                </a:lnTo>
                <a:cubicBezTo>
                  <a:pt x="111" y="2560"/>
                  <a:pt x="108" y="2560"/>
                  <a:pt x="107" y="2561"/>
                </a:cubicBezTo>
                <a:cubicBezTo>
                  <a:pt x="103" y="2563"/>
                  <a:pt x="100" y="2564"/>
                  <a:pt x="96" y="2567"/>
                </a:cubicBezTo>
                <a:lnTo>
                  <a:pt x="88" y="2571"/>
                </a:lnTo>
                <a:cubicBezTo>
                  <a:pt x="85" y="2572"/>
                  <a:pt x="83" y="2573"/>
                  <a:pt x="80" y="2576"/>
                </a:cubicBezTo>
                <a:cubicBezTo>
                  <a:pt x="77" y="2577"/>
                  <a:pt x="75" y="2580"/>
                  <a:pt x="72" y="2581"/>
                </a:cubicBezTo>
                <a:cubicBezTo>
                  <a:pt x="69" y="2583"/>
                  <a:pt x="68" y="2584"/>
                  <a:pt x="65" y="2587"/>
                </a:cubicBezTo>
                <a:cubicBezTo>
                  <a:pt x="63" y="2588"/>
                  <a:pt x="61" y="2591"/>
                  <a:pt x="59" y="2593"/>
                </a:cubicBezTo>
                <a:cubicBezTo>
                  <a:pt x="56" y="2595"/>
                  <a:pt x="55" y="2597"/>
                  <a:pt x="52" y="2599"/>
                </a:cubicBezTo>
                <a:lnTo>
                  <a:pt x="45" y="2605"/>
                </a:lnTo>
                <a:cubicBezTo>
                  <a:pt x="44" y="2608"/>
                  <a:pt x="41" y="2609"/>
                  <a:pt x="40" y="2612"/>
                </a:cubicBezTo>
                <a:cubicBezTo>
                  <a:pt x="39" y="2615"/>
                  <a:pt x="36" y="2617"/>
                  <a:pt x="35" y="2619"/>
                </a:cubicBezTo>
                <a:cubicBezTo>
                  <a:pt x="33" y="2621"/>
                  <a:pt x="31" y="2623"/>
                  <a:pt x="29" y="2625"/>
                </a:cubicBezTo>
                <a:cubicBezTo>
                  <a:pt x="28" y="2628"/>
                  <a:pt x="25" y="2631"/>
                  <a:pt x="24" y="2633"/>
                </a:cubicBezTo>
                <a:cubicBezTo>
                  <a:pt x="23" y="2636"/>
                  <a:pt x="21" y="2637"/>
                  <a:pt x="20" y="2640"/>
                </a:cubicBezTo>
                <a:cubicBezTo>
                  <a:pt x="17" y="2644"/>
                  <a:pt x="16" y="2648"/>
                  <a:pt x="15" y="2652"/>
                </a:cubicBezTo>
                <a:cubicBezTo>
                  <a:pt x="15" y="2653"/>
                  <a:pt x="13" y="2655"/>
                  <a:pt x="12" y="2656"/>
                </a:cubicBezTo>
                <a:lnTo>
                  <a:pt x="12" y="2656"/>
                </a:lnTo>
                <a:cubicBezTo>
                  <a:pt x="9" y="2661"/>
                  <a:pt x="8" y="2667"/>
                  <a:pt x="7" y="2672"/>
                </a:cubicBezTo>
                <a:lnTo>
                  <a:pt x="7" y="2673"/>
                </a:lnTo>
                <a:cubicBezTo>
                  <a:pt x="5" y="2679"/>
                  <a:pt x="4" y="2684"/>
                  <a:pt x="3" y="2691"/>
                </a:cubicBezTo>
                <a:cubicBezTo>
                  <a:pt x="3" y="2693"/>
                  <a:pt x="1" y="2696"/>
                  <a:pt x="1" y="2699"/>
                </a:cubicBezTo>
                <a:cubicBezTo>
                  <a:pt x="1" y="2701"/>
                  <a:pt x="0" y="2705"/>
                  <a:pt x="0" y="2708"/>
                </a:cubicBezTo>
                <a:lnTo>
                  <a:pt x="0" y="2716"/>
                </a:lnTo>
                <a:lnTo>
                  <a:pt x="0" y="2725"/>
                </a:lnTo>
                <a:lnTo>
                  <a:pt x="0" y="2733"/>
                </a:lnTo>
                <a:lnTo>
                  <a:pt x="0" y="2743"/>
                </a:lnTo>
                <a:cubicBezTo>
                  <a:pt x="0" y="2745"/>
                  <a:pt x="1" y="2748"/>
                  <a:pt x="1" y="2749"/>
                </a:cubicBezTo>
                <a:cubicBezTo>
                  <a:pt x="1" y="2753"/>
                  <a:pt x="3" y="2756"/>
                  <a:pt x="3" y="2760"/>
                </a:cubicBezTo>
                <a:cubicBezTo>
                  <a:pt x="4" y="2764"/>
                  <a:pt x="4" y="2768"/>
                  <a:pt x="5" y="2772"/>
                </a:cubicBezTo>
                <a:cubicBezTo>
                  <a:pt x="7" y="2775"/>
                  <a:pt x="7" y="2777"/>
                  <a:pt x="8" y="2780"/>
                </a:cubicBezTo>
                <a:cubicBezTo>
                  <a:pt x="9" y="2784"/>
                  <a:pt x="11" y="2789"/>
                  <a:pt x="13" y="2793"/>
                </a:cubicBezTo>
                <a:lnTo>
                  <a:pt x="13" y="2793"/>
                </a:lnTo>
                <a:cubicBezTo>
                  <a:pt x="15" y="2799"/>
                  <a:pt x="17" y="2803"/>
                  <a:pt x="20" y="2807"/>
                </a:cubicBezTo>
                <a:cubicBezTo>
                  <a:pt x="20" y="2808"/>
                  <a:pt x="21" y="2809"/>
                  <a:pt x="21" y="2809"/>
                </a:cubicBezTo>
                <a:cubicBezTo>
                  <a:pt x="23" y="2813"/>
                  <a:pt x="25" y="2816"/>
                  <a:pt x="28" y="2820"/>
                </a:cubicBezTo>
                <a:cubicBezTo>
                  <a:pt x="29" y="2821"/>
                  <a:pt x="29" y="2823"/>
                  <a:pt x="31" y="2824"/>
                </a:cubicBezTo>
                <a:cubicBezTo>
                  <a:pt x="33" y="2828"/>
                  <a:pt x="35" y="2831"/>
                  <a:pt x="37" y="2833"/>
                </a:cubicBezTo>
                <a:cubicBezTo>
                  <a:pt x="39" y="2835"/>
                  <a:pt x="39" y="2836"/>
                  <a:pt x="40" y="2836"/>
                </a:cubicBezTo>
                <a:cubicBezTo>
                  <a:pt x="44" y="2840"/>
                  <a:pt x="47" y="2844"/>
                  <a:pt x="51" y="2848"/>
                </a:cubicBezTo>
                <a:lnTo>
                  <a:pt x="51" y="2848"/>
                </a:lnTo>
                <a:cubicBezTo>
                  <a:pt x="55" y="2852"/>
                  <a:pt x="59" y="2855"/>
                  <a:pt x="63" y="2859"/>
                </a:cubicBezTo>
                <a:cubicBezTo>
                  <a:pt x="64" y="2860"/>
                  <a:pt x="65" y="2861"/>
                  <a:pt x="67" y="2861"/>
                </a:cubicBezTo>
                <a:cubicBezTo>
                  <a:pt x="69" y="2864"/>
                  <a:pt x="73" y="2867"/>
                  <a:pt x="76" y="2868"/>
                </a:cubicBezTo>
                <a:cubicBezTo>
                  <a:pt x="77" y="2869"/>
                  <a:pt x="79" y="2869"/>
                  <a:pt x="80" y="2871"/>
                </a:cubicBezTo>
                <a:cubicBezTo>
                  <a:pt x="84" y="2873"/>
                  <a:pt x="89" y="2876"/>
                  <a:pt x="93" y="2879"/>
                </a:cubicBezTo>
                <a:cubicBezTo>
                  <a:pt x="95" y="2879"/>
                  <a:pt x="95" y="2880"/>
                  <a:pt x="96" y="2880"/>
                </a:cubicBezTo>
                <a:cubicBezTo>
                  <a:pt x="100" y="2883"/>
                  <a:pt x="104" y="2884"/>
                  <a:pt x="109" y="2887"/>
                </a:cubicBezTo>
                <a:cubicBezTo>
                  <a:pt x="111" y="2887"/>
                  <a:pt x="111" y="2888"/>
                  <a:pt x="112" y="2888"/>
                </a:cubicBezTo>
                <a:lnTo>
                  <a:pt x="2579" y="3933"/>
                </a:lnTo>
                <a:lnTo>
                  <a:pt x="3624" y="6400"/>
                </a:lnTo>
                <a:cubicBezTo>
                  <a:pt x="3625" y="6405"/>
                  <a:pt x="3628" y="6409"/>
                  <a:pt x="3631" y="6413"/>
                </a:cubicBezTo>
                <a:cubicBezTo>
                  <a:pt x="3631" y="6415"/>
                  <a:pt x="3632" y="6416"/>
                  <a:pt x="3632" y="6416"/>
                </a:cubicBezTo>
                <a:cubicBezTo>
                  <a:pt x="3635" y="6420"/>
                  <a:pt x="3636" y="6423"/>
                  <a:pt x="3639" y="6427"/>
                </a:cubicBezTo>
                <a:cubicBezTo>
                  <a:pt x="3640" y="6428"/>
                  <a:pt x="3640" y="6429"/>
                  <a:pt x="3641" y="6431"/>
                </a:cubicBezTo>
                <a:cubicBezTo>
                  <a:pt x="3644" y="6435"/>
                  <a:pt x="3647" y="6437"/>
                  <a:pt x="3648" y="6440"/>
                </a:cubicBezTo>
                <a:cubicBezTo>
                  <a:pt x="3649" y="6441"/>
                  <a:pt x="3649" y="6443"/>
                  <a:pt x="3651" y="6443"/>
                </a:cubicBezTo>
                <a:cubicBezTo>
                  <a:pt x="3655" y="6447"/>
                  <a:pt x="3657" y="6451"/>
                  <a:pt x="3661" y="6455"/>
                </a:cubicBezTo>
                <a:lnTo>
                  <a:pt x="3663" y="6456"/>
                </a:lnTo>
                <a:cubicBezTo>
                  <a:pt x="3667" y="6459"/>
                  <a:pt x="3669" y="6463"/>
                  <a:pt x="3673" y="6465"/>
                </a:cubicBezTo>
                <a:cubicBezTo>
                  <a:pt x="3675" y="6467"/>
                  <a:pt x="3676" y="6468"/>
                  <a:pt x="3677" y="6468"/>
                </a:cubicBezTo>
                <a:cubicBezTo>
                  <a:pt x="3680" y="6471"/>
                  <a:pt x="3684" y="6473"/>
                  <a:pt x="3687" y="6475"/>
                </a:cubicBezTo>
                <a:cubicBezTo>
                  <a:pt x="3688" y="6476"/>
                  <a:pt x="3689" y="6476"/>
                  <a:pt x="3691" y="6477"/>
                </a:cubicBezTo>
                <a:cubicBezTo>
                  <a:pt x="3695" y="6480"/>
                  <a:pt x="3700" y="6483"/>
                  <a:pt x="3704" y="6485"/>
                </a:cubicBezTo>
                <a:cubicBezTo>
                  <a:pt x="3705" y="6485"/>
                  <a:pt x="3707" y="6487"/>
                  <a:pt x="3707" y="6487"/>
                </a:cubicBezTo>
                <a:cubicBezTo>
                  <a:pt x="3711" y="6489"/>
                  <a:pt x="3715" y="6491"/>
                  <a:pt x="3719" y="6492"/>
                </a:cubicBezTo>
                <a:cubicBezTo>
                  <a:pt x="3720" y="6492"/>
                  <a:pt x="3720" y="6493"/>
                  <a:pt x="3721" y="6493"/>
                </a:cubicBezTo>
                <a:cubicBezTo>
                  <a:pt x="3721" y="6493"/>
                  <a:pt x="3723" y="6493"/>
                  <a:pt x="3723" y="6495"/>
                </a:cubicBezTo>
                <a:cubicBezTo>
                  <a:pt x="3727" y="6496"/>
                  <a:pt x="3732" y="6499"/>
                  <a:pt x="3736" y="6500"/>
                </a:cubicBezTo>
                <a:lnTo>
                  <a:pt x="3737" y="6500"/>
                </a:lnTo>
                <a:cubicBezTo>
                  <a:pt x="3743" y="6501"/>
                  <a:pt x="3747" y="6503"/>
                  <a:pt x="3752" y="6504"/>
                </a:cubicBezTo>
                <a:cubicBezTo>
                  <a:pt x="3753" y="6504"/>
                  <a:pt x="3756" y="6504"/>
                  <a:pt x="3757" y="6505"/>
                </a:cubicBezTo>
                <a:cubicBezTo>
                  <a:pt x="3761" y="6505"/>
                  <a:pt x="3764" y="6507"/>
                  <a:pt x="3768" y="6507"/>
                </a:cubicBezTo>
                <a:lnTo>
                  <a:pt x="3773" y="6507"/>
                </a:lnTo>
                <a:cubicBezTo>
                  <a:pt x="3779" y="6507"/>
                  <a:pt x="3783" y="6508"/>
                  <a:pt x="3788" y="6508"/>
                </a:cubicBezTo>
                <a:lnTo>
                  <a:pt x="3788" y="6508"/>
                </a:lnTo>
                <a:lnTo>
                  <a:pt x="3788" y="6508"/>
                </a:lnTo>
                <a:lnTo>
                  <a:pt x="3788" y="6508"/>
                </a:lnTo>
                <a:lnTo>
                  <a:pt x="3788" y="6508"/>
                </a:lnTo>
                <a:cubicBezTo>
                  <a:pt x="3793" y="6508"/>
                  <a:pt x="3799" y="6508"/>
                  <a:pt x="3803" y="6507"/>
                </a:cubicBezTo>
                <a:lnTo>
                  <a:pt x="3808" y="6507"/>
                </a:lnTo>
                <a:cubicBezTo>
                  <a:pt x="3812" y="6507"/>
                  <a:pt x="3816" y="6505"/>
                  <a:pt x="3819" y="6505"/>
                </a:cubicBezTo>
                <a:cubicBezTo>
                  <a:pt x="3820" y="6505"/>
                  <a:pt x="3823" y="6505"/>
                  <a:pt x="3824" y="6504"/>
                </a:cubicBezTo>
                <a:cubicBezTo>
                  <a:pt x="3829" y="6503"/>
                  <a:pt x="3835" y="6501"/>
                  <a:pt x="3839" y="6500"/>
                </a:cubicBezTo>
                <a:cubicBezTo>
                  <a:pt x="3840" y="6500"/>
                  <a:pt x="3840" y="6500"/>
                  <a:pt x="3841" y="6499"/>
                </a:cubicBezTo>
                <a:cubicBezTo>
                  <a:pt x="3845" y="6497"/>
                  <a:pt x="3851" y="6496"/>
                  <a:pt x="3855" y="6493"/>
                </a:cubicBezTo>
                <a:cubicBezTo>
                  <a:pt x="3856" y="6493"/>
                  <a:pt x="3856" y="6493"/>
                  <a:pt x="3857" y="6492"/>
                </a:cubicBezTo>
                <a:cubicBezTo>
                  <a:pt x="3859" y="6492"/>
                  <a:pt x="3859" y="6491"/>
                  <a:pt x="3860" y="6491"/>
                </a:cubicBezTo>
                <a:cubicBezTo>
                  <a:pt x="3864" y="6489"/>
                  <a:pt x="3868" y="6487"/>
                  <a:pt x="3872" y="6484"/>
                </a:cubicBezTo>
                <a:cubicBezTo>
                  <a:pt x="3873" y="6484"/>
                  <a:pt x="3873" y="6483"/>
                  <a:pt x="3875" y="6483"/>
                </a:cubicBezTo>
                <a:cubicBezTo>
                  <a:pt x="3879" y="6480"/>
                  <a:pt x="3884" y="6477"/>
                  <a:pt x="3888" y="6475"/>
                </a:cubicBezTo>
                <a:cubicBezTo>
                  <a:pt x="3889" y="6473"/>
                  <a:pt x="3891" y="6473"/>
                  <a:pt x="3892" y="6472"/>
                </a:cubicBezTo>
                <a:cubicBezTo>
                  <a:pt x="3895" y="6469"/>
                  <a:pt x="3899" y="6468"/>
                  <a:pt x="3901" y="6465"/>
                </a:cubicBezTo>
                <a:cubicBezTo>
                  <a:pt x="3903" y="6464"/>
                  <a:pt x="3904" y="6463"/>
                  <a:pt x="3905" y="6463"/>
                </a:cubicBezTo>
                <a:cubicBezTo>
                  <a:pt x="3909" y="6459"/>
                  <a:pt x="3913" y="6456"/>
                  <a:pt x="3916" y="6452"/>
                </a:cubicBezTo>
                <a:lnTo>
                  <a:pt x="3916" y="6452"/>
                </a:lnTo>
                <a:cubicBezTo>
                  <a:pt x="3920" y="6448"/>
                  <a:pt x="3923" y="6444"/>
                  <a:pt x="3927" y="6440"/>
                </a:cubicBezTo>
                <a:cubicBezTo>
                  <a:pt x="3928" y="6439"/>
                  <a:pt x="3928" y="6437"/>
                  <a:pt x="3929" y="6436"/>
                </a:cubicBezTo>
                <a:cubicBezTo>
                  <a:pt x="3932" y="6433"/>
                  <a:pt x="3935" y="6429"/>
                  <a:pt x="3936" y="6427"/>
                </a:cubicBezTo>
                <a:cubicBezTo>
                  <a:pt x="3937" y="6425"/>
                  <a:pt x="3937" y="6424"/>
                  <a:pt x="3939" y="6423"/>
                </a:cubicBezTo>
                <a:cubicBezTo>
                  <a:pt x="3941" y="6419"/>
                  <a:pt x="3943" y="6416"/>
                  <a:pt x="3945" y="6412"/>
                </a:cubicBezTo>
                <a:cubicBezTo>
                  <a:pt x="3945" y="6411"/>
                  <a:pt x="3947" y="6409"/>
                  <a:pt x="3947" y="6409"/>
                </a:cubicBezTo>
                <a:cubicBezTo>
                  <a:pt x="3949" y="6405"/>
                  <a:pt x="3951" y="6400"/>
                  <a:pt x="3953" y="6396"/>
                </a:cubicBezTo>
                <a:lnTo>
                  <a:pt x="6481" y="284"/>
                </a:lnTo>
                <a:cubicBezTo>
                  <a:pt x="6485" y="273"/>
                  <a:pt x="6489" y="261"/>
                  <a:pt x="6492" y="249"/>
                </a:cubicBezTo>
                <a:cubicBezTo>
                  <a:pt x="6493" y="245"/>
                  <a:pt x="6493" y="240"/>
                  <a:pt x="6493" y="236"/>
                </a:cubicBezTo>
                <a:lnTo>
                  <a:pt x="6493" y="232"/>
                </a:lnTo>
                <a:cubicBezTo>
                  <a:pt x="6493" y="227"/>
                  <a:pt x="6493" y="223"/>
                  <a:pt x="6495" y="217"/>
                </a:cubicBezTo>
                <a:lnTo>
                  <a:pt x="6495" y="215"/>
                </a:lnTo>
                <a:lnTo>
                  <a:pt x="6495" y="203"/>
                </a:lnTo>
                <a:close/>
                <a:moveTo>
                  <a:pt x="648" y="2727"/>
                </a:moveTo>
                <a:lnTo>
                  <a:pt x="5589" y="687"/>
                </a:lnTo>
                <a:lnTo>
                  <a:pt x="2685" y="3589"/>
                </a:lnTo>
                <a:lnTo>
                  <a:pt x="648" y="2727"/>
                </a:lnTo>
                <a:close/>
                <a:moveTo>
                  <a:pt x="3787" y="5865"/>
                </a:moveTo>
                <a:lnTo>
                  <a:pt x="2933" y="3851"/>
                </a:lnTo>
                <a:lnTo>
                  <a:pt x="5804" y="981"/>
                </a:lnTo>
                <a:lnTo>
                  <a:pt x="3787" y="5865"/>
                </a:ln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grpSp>
        <p:nvGrpSpPr>
          <p:cNvPr id="4" name="组合 3">
            <a:extLst>
              <a:ext uri="{FF2B5EF4-FFF2-40B4-BE49-F238E27FC236}">
                <a16:creationId xmlns:a16="http://schemas.microsoft.com/office/drawing/2014/main" id="{BD6FB37C-A785-4C5A-BB78-719EE9A7B384}"/>
              </a:ext>
            </a:extLst>
          </p:cNvPr>
          <p:cNvGrpSpPr/>
          <p:nvPr/>
        </p:nvGrpSpPr>
        <p:grpSpPr>
          <a:xfrm>
            <a:off x="2387601" y="1611611"/>
            <a:ext cx="9469438" cy="4516115"/>
            <a:chOff x="2304926" y="1611611"/>
            <a:chExt cx="9623549" cy="4516115"/>
          </a:xfrm>
        </p:grpSpPr>
        <p:sp>
          <p:nvSpPr>
            <p:cNvPr id="11" name="矩形: 圆角 10">
              <a:extLst>
                <a:ext uri="{FF2B5EF4-FFF2-40B4-BE49-F238E27FC236}">
                  <a16:creationId xmlns:a16="http://schemas.microsoft.com/office/drawing/2014/main" id="{8BE4F5B9-0A7A-4D0C-81A2-093ACA468498}"/>
                </a:ext>
              </a:extLst>
            </p:cNvPr>
            <p:cNvSpPr/>
            <p:nvPr/>
          </p:nvSpPr>
          <p:spPr>
            <a:xfrm>
              <a:off x="2304926" y="1614148"/>
              <a:ext cx="4691646" cy="4513578"/>
            </a:xfrm>
            <a:prstGeom prst="roundRect">
              <a:avLst>
                <a:gd name="adj" fmla="val 4721"/>
              </a:avLst>
            </a:prstGeom>
            <a:solidFill>
              <a:schemeClr val="bg1"/>
            </a:solidFill>
            <a:ln w="15875">
              <a:solidFill>
                <a:schemeClr val="accent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4" name="矩形: 圆角 13">
              <a:extLst>
                <a:ext uri="{FF2B5EF4-FFF2-40B4-BE49-F238E27FC236}">
                  <a16:creationId xmlns:a16="http://schemas.microsoft.com/office/drawing/2014/main" id="{D8DDBBFE-275A-41A7-ABF4-E39F33F6F230}"/>
                </a:ext>
              </a:extLst>
            </p:cNvPr>
            <p:cNvSpPr/>
            <p:nvPr/>
          </p:nvSpPr>
          <p:spPr>
            <a:xfrm>
              <a:off x="7236829" y="1614148"/>
              <a:ext cx="4691646" cy="4513578"/>
            </a:xfrm>
            <a:prstGeom prst="roundRect">
              <a:avLst>
                <a:gd name="adj" fmla="val 4721"/>
              </a:avLst>
            </a:prstGeom>
            <a:solidFill>
              <a:schemeClr val="bg1"/>
            </a:solidFill>
            <a:ln w="15875">
              <a:solidFill>
                <a:schemeClr val="accent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8" name="矩形: 圆顶角 17">
              <a:extLst>
                <a:ext uri="{FF2B5EF4-FFF2-40B4-BE49-F238E27FC236}">
                  <a16:creationId xmlns:a16="http://schemas.microsoft.com/office/drawing/2014/main" id="{A5E3953C-8D54-4517-B4AE-FC8808B07825}"/>
                </a:ext>
              </a:extLst>
            </p:cNvPr>
            <p:cNvSpPr/>
            <p:nvPr/>
          </p:nvSpPr>
          <p:spPr>
            <a:xfrm>
              <a:off x="3445308" y="1611611"/>
              <a:ext cx="2410882" cy="376049"/>
            </a:xfrm>
            <a:prstGeom prst="round2SameRect">
              <a:avLst>
                <a:gd name="adj1" fmla="val 0"/>
                <a:gd name="adj2" fmla="val 19256"/>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600" b="1" dirty="0">
                  <a:latin typeface="思源黑体 CN Bold" panose="020B0800000000000000" pitchFamily="34" charset="-122"/>
                  <a:ea typeface="思源黑体 CN Bold" panose="020B0800000000000000" pitchFamily="34" charset="-122"/>
                </a:rPr>
                <a:t>国内研究现状</a:t>
              </a:r>
            </a:p>
          </p:txBody>
        </p:sp>
        <p:sp>
          <p:nvSpPr>
            <p:cNvPr id="19" name="文本框 18">
              <a:extLst>
                <a:ext uri="{FF2B5EF4-FFF2-40B4-BE49-F238E27FC236}">
                  <a16:creationId xmlns:a16="http://schemas.microsoft.com/office/drawing/2014/main" id="{109A25A3-71DC-4450-9F2C-E8C0E1359FDE}"/>
                </a:ext>
              </a:extLst>
            </p:cNvPr>
            <p:cNvSpPr txBox="1"/>
            <p:nvPr/>
          </p:nvSpPr>
          <p:spPr>
            <a:xfrm>
              <a:off x="2592695" y="2057102"/>
              <a:ext cx="4116108" cy="706475"/>
            </a:xfrm>
            <a:prstGeom prst="rect">
              <a:avLst/>
            </a:prstGeom>
            <a:noFill/>
          </p:spPr>
          <p:txBody>
            <a:bodyPr wrap="square" rtlCol="0">
              <a:spAutoFit/>
            </a:bodyPr>
            <a:lstStyle/>
            <a:p>
              <a:pPr algn="ctr">
                <a:lnSpc>
                  <a:spcPct val="130000"/>
                </a:lnSpc>
              </a:pPr>
              <a:r>
                <a:rPr lang="zh-CN" altLang="en-US" sz="1600" dirty="0">
                  <a:latin typeface="思源黑体 CN Regular" panose="020B0500000000000000" pitchFamily="34" charset="-122"/>
                  <a:ea typeface="思源黑体 CN Regular" panose="020B0500000000000000" pitchFamily="34" charset="-122"/>
                </a:rPr>
                <a:t>国内侧重居家社区协同，</a:t>
              </a:r>
              <a:r>
                <a:rPr lang="en-US" altLang="zh-CN" sz="1600" dirty="0">
                  <a:latin typeface="思源黑体 CN Regular" panose="020B0500000000000000" pitchFamily="34" charset="-122"/>
                  <a:ea typeface="思源黑体 CN Regular" panose="020B0500000000000000" pitchFamily="34" charset="-122"/>
                </a:rPr>
                <a:t>2025</a:t>
              </a:r>
              <a:r>
                <a:rPr lang="zh-CN" altLang="en-US" sz="1600" dirty="0">
                  <a:latin typeface="思源黑体 CN Regular" panose="020B0500000000000000" pitchFamily="34" charset="-122"/>
                  <a:ea typeface="思源黑体 CN Regular" panose="020B0500000000000000" pitchFamily="34" charset="-122"/>
                </a:rPr>
                <a:t>年居家护理覆盖率提升至</a:t>
              </a:r>
              <a:r>
                <a:rPr lang="en-US" altLang="zh-CN" sz="1600" dirty="0">
                  <a:latin typeface="思源黑体 CN Regular" panose="020B0500000000000000" pitchFamily="34" charset="-122"/>
                  <a:ea typeface="思源黑体 CN Regular" panose="020B0500000000000000" pitchFamily="34" charset="-122"/>
                </a:rPr>
                <a:t>52.3%</a:t>
              </a:r>
              <a:r>
                <a:rPr lang="zh-CN" altLang="en-US" sz="1600" dirty="0">
                  <a:latin typeface="思源黑体 CN Regular" panose="020B0500000000000000" pitchFamily="34" charset="-122"/>
                  <a:ea typeface="思源黑体 CN Regular" panose="020B0500000000000000" pitchFamily="34" charset="-122"/>
                </a:rPr>
                <a:t>。</a:t>
              </a:r>
            </a:p>
          </p:txBody>
        </p:sp>
        <p:pic>
          <p:nvPicPr>
            <p:cNvPr id="3074" name="Picture 2" descr="查看图片">
              <a:extLst>
                <a:ext uri="{FF2B5EF4-FFF2-40B4-BE49-F238E27FC236}">
                  <a16:creationId xmlns:a16="http://schemas.microsoft.com/office/drawing/2014/main" id="{B5C7323D-8A9A-4B19-8F0B-594645C41DAF}"/>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4865" t="21477" r="3678" b="7728"/>
            <a:stretch/>
          </p:blipFill>
          <p:spPr bwMode="auto">
            <a:xfrm>
              <a:off x="2739928" y="2763577"/>
              <a:ext cx="3821643" cy="3334304"/>
            </a:xfrm>
            <a:prstGeom prst="rect">
              <a:avLst/>
            </a:prstGeom>
            <a:noFill/>
            <a:extLst>
              <a:ext uri="{909E8E84-426E-40DD-AFC4-6F175D3DCCD1}">
                <a14:hiddenFill xmlns:a14="http://schemas.microsoft.com/office/drawing/2010/main">
                  <a:solidFill>
                    <a:srgbClr val="FFFFFF"/>
                  </a:solidFill>
                </a14:hiddenFill>
              </a:ext>
            </a:extLst>
          </p:spPr>
        </p:pic>
        <p:grpSp>
          <p:nvGrpSpPr>
            <p:cNvPr id="3" name="组合 2">
              <a:extLst>
                <a:ext uri="{FF2B5EF4-FFF2-40B4-BE49-F238E27FC236}">
                  <a16:creationId xmlns:a16="http://schemas.microsoft.com/office/drawing/2014/main" id="{1475056D-9A07-4153-BD89-DE48B7F054A9}"/>
                </a:ext>
              </a:extLst>
            </p:cNvPr>
            <p:cNvGrpSpPr/>
            <p:nvPr/>
          </p:nvGrpSpPr>
          <p:grpSpPr>
            <a:xfrm>
              <a:off x="7307572" y="3100764"/>
              <a:ext cx="4539582" cy="2793282"/>
              <a:chOff x="7438247" y="3267087"/>
              <a:chExt cx="4867623" cy="2995131"/>
            </a:xfrm>
          </p:grpSpPr>
          <p:pic>
            <p:nvPicPr>
              <p:cNvPr id="9" name="图片 8">
                <a:extLst>
                  <a:ext uri="{FF2B5EF4-FFF2-40B4-BE49-F238E27FC236}">
                    <a16:creationId xmlns:a16="http://schemas.microsoft.com/office/drawing/2014/main" id="{3D4C152A-019B-4D29-B4B8-A2F6CBD401D8}"/>
                  </a:ext>
                </a:extLst>
              </p:cNvPr>
              <p:cNvPicPr>
                <a:picLocks noChangeAspect="1"/>
              </p:cNvPicPr>
              <p:nvPr/>
            </p:nvPicPr>
            <p:blipFill rotWithShape="1">
              <a:blip r:embed="rId3"/>
              <a:srcRect l="4764" r="2570" b="54667"/>
              <a:stretch/>
            </p:blipFill>
            <p:spPr>
              <a:xfrm>
                <a:off x="7438247" y="3267087"/>
                <a:ext cx="2968348" cy="1941172"/>
              </a:xfrm>
              <a:prstGeom prst="rect">
                <a:avLst/>
              </a:prstGeom>
            </p:spPr>
          </p:pic>
          <p:pic>
            <p:nvPicPr>
              <p:cNvPr id="20" name="图片 19">
                <a:extLst>
                  <a:ext uri="{FF2B5EF4-FFF2-40B4-BE49-F238E27FC236}">
                    <a16:creationId xmlns:a16="http://schemas.microsoft.com/office/drawing/2014/main" id="{2B6642BF-9BAB-418C-8996-1372D953197D}"/>
                  </a:ext>
                </a:extLst>
              </p:cNvPr>
              <p:cNvPicPr>
                <a:picLocks noChangeAspect="1"/>
              </p:cNvPicPr>
              <p:nvPr/>
            </p:nvPicPr>
            <p:blipFill rotWithShape="1">
              <a:blip r:embed="rId3"/>
              <a:srcRect l="27678" t="55536" r="10577"/>
              <a:stretch/>
            </p:blipFill>
            <p:spPr>
              <a:xfrm>
                <a:off x="10277546" y="4309649"/>
                <a:ext cx="2028324" cy="1952569"/>
              </a:xfrm>
              <a:prstGeom prst="rect">
                <a:avLst/>
              </a:prstGeom>
            </p:spPr>
          </p:pic>
        </p:grpSp>
        <p:sp>
          <p:nvSpPr>
            <p:cNvPr id="21" name="矩形: 圆顶角 20">
              <a:extLst>
                <a:ext uri="{FF2B5EF4-FFF2-40B4-BE49-F238E27FC236}">
                  <a16:creationId xmlns:a16="http://schemas.microsoft.com/office/drawing/2014/main" id="{3D7BF2E2-5C77-4676-9D87-EFC46B230ED4}"/>
                </a:ext>
              </a:extLst>
            </p:cNvPr>
            <p:cNvSpPr/>
            <p:nvPr/>
          </p:nvSpPr>
          <p:spPr>
            <a:xfrm>
              <a:off x="8377211" y="1611611"/>
              <a:ext cx="2410882" cy="376049"/>
            </a:xfrm>
            <a:prstGeom prst="round2SameRect">
              <a:avLst>
                <a:gd name="adj1" fmla="val 0"/>
                <a:gd name="adj2" fmla="val 19256"/>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600" b="1" dirty="0">
                  <a:latin typeface="思源黑体 CN Bold" panose="020B0800000000000000" pitchFamily="34" charset="-122"/>
                  <a:ea typeface="思源黑体 CN Bold" panose="020B0800000000000000" pitchFamily="34" charset="-122"/>
                </a:rPr>
                <a:t>国外研究现状</a:t>
              </a:r>
            </a:p>
          </p:txBody>
        </p:sp>
        <p:sp>
          <p:nvSpPr>
            <p:cNvPr id="88" name="文本框 87">
              <a:extLst>
                <a:ext uri="{FF2B5EF4-FFF2-40B4-BE49-F238E27FC236}">
                  <a16:creationId xmlns:a16="http://schemas.microsoft.com/office/drawing/2014/main" id="{80657E8A-D308-4DD3-BCE7-8542EFCD6EAF}"/>
                </a:ext>
              </a:extLst>
            </p:cNvPr>
            <p:cNvSpPr txBox="1"/>
            <p:nvPr/>
          </p:nvSpPr>
          <p:spPr>
            <a:xfrm>
              <a:off x="7524598" y="2057102"/>
              <a:ext cx="4116108" cy="706475"/>
            </a:xfrm>
            <a:prstGeom prst="rect">
              <a:avLst/>
            </a:prstGeom>
            <a:noFill/>
          </p:spPr>
          <p:txBody>
            <a:bodyPr wrap="square" rtlCol="0">
              <a:spAutoFit/>
            </a:bodyPr>
            <a:lstStyle/>
            <a:p>
              <a:pPr algn="ctr">
                <a:lnSpc>
                  <a:spcPct val="130000"/>
                </a:lnSpc>
              </a:pPr>
              <a:r>
                <a:rPr lang="zh-CN" altLang="en-US" sz="1600" dirty="0">
                  <a:latin typeface="思源黑体 CN Regular" panose="020B0500000000000000" pitchFamily="34" charset="-122"/>
                  <a:ea typeface="思源黑体 CN Regular" panose="020B0500000000000000" pitchFamily="34" charset="-122"/>
                </a:rPr>
                <a:t>国外聚焦长期护理体系完善，</a:t>
              </a:r>
              <a:r>
                <a:rPr lang="en-US" altLang="zh-CN" sz="1600" dirty="0">
                  <a:latin typeface="思源黑体 CN Regular" panose="020B0500000000000000" pitchFamily="34" charset="-122"/>
                  <a:ea typeface="思源黑体 CN Regular" panose="020B0500000000000000" pitchFamily="34" charset="-122"/>
                </a:rPr>
                <a:t>2024</a:t>
              </a:r>
              <a:r>
                <a:rPr lang="zh-CN" altLang="en-US" sz="1600" dirty="0">
                  <a:latin typeface="思源黑体 CN Regular" panose="020B0500000000000000" pitchFamily="34" charset="-122"/>
                  <a:ea typeface="思源黑体 CN Regular" panose="020B0500000000000000" pitchFamily="34" charset="-122"/>
                </a:rPr>
                <a:t>年欧美社区护理覆盖率达</a:t>
              </a:r>
              <a:r>
                <a:rPr lang="en-US" altLang="zh-CN" sz="1600" dirty="0">
                  <a:latin typeface="思源黑体 CN Regular" panose="020B0500000000000000" pitchFamily="34" charset="-122"/>
                  <a:ea typeface="思源黑体 CN Regular" panose="020B0500000000000000" pitchFamily="34" charset="-122"/>
                </a:rPr>
                <a:t>68.5%</a:t>
              </a:r>
              <a:r>
                <a:rPr lang="zh-CN" altLang="en-US" sz="1600" dirty="0">
                  <a:latin typeface="思源黑体 CN Regular" panose="020B0500000000000000" pitchFamily="34" charset="-122"/>
                  <a:ea typeface="思源黑体 CN Regular" panose="020B0500000000000000" pitchFamily="34" charset="-122"/>
                </a:rPr>
                <a:t>。</a:t>
              </a:r>
            </a:p>
          </p:txBody>
        </p:sp>
      </p:grpSp>
      <p:sp>
        <p:nvSpPr>
          <p:cNvPr id="91" name="文本框 90">
            <a:extLst>
              <a:ext uri="{FF2B5EF4-FFF2-40B4-BE49-F238E27FC236}">
                <a16:creationId xmlns:a16="http://schemas.microsoft.com/office/drawing/2014/main" id="{515C0838-AF61-4AC7-A535-2AF47A9A452B}"/>
              </a:ext>
            </a:extLst>
          </p:cNvPr>
          <p:cNvSpPr txBox="1"/>
          <p:nvPr/>
        </p:nvSpPr>
        <p:spPr>
          <a:xfrm>
            <a:off x="373082" y="5620123"/>
            <a:ext cx="1660612" cy="338554"/>
          </a:xfrm>
          <a:prstGeom prst="rect">
            <a:avLst/>
          </a:prstGeom>
          <a:noFill/>
        </p:spPr>
        <p:txBody>
          <a:bodyPr wrap="square" rtlCol="0">
            <a:spAutoFit/>
          </a:bodyPr>
          <a:lstStyle/>
          <a:p>
            <a:r>
              <a:rPr lang="zh-CN" altLang="en-US" sz="1600" dirty="0">
                <a:solidFill>
                  <a:schemeClr val="bg1"/>
                </a:solidFill>
                <a:latin typeface="思源黑体 CN Regular" panose="020B0500000000000000" pitchFamily="34" charset="-122"/>
                <a:ea typeface="思源黑体 CN Regular" panose="020B0500000000000000" pitchFamily="34" charset="-122"/>
              </a:rPr>
              <a:t>预期成果</a:t>
            </a:r>
          </a:p>
        </p:txBody>
      </p:sp>
      <p:sp>
        <p:nvSpPr>
          <p:cNvPr id="106" name="任意矩形：006">
            <a:extLst>
              <a:ext uri="{FF2B5EF4-FFF2-40B4-BE49-F238E27FC236}">
                <a16:creationId xmlns:a16="http://schemas.microsoft.com/office/drawing/2014/main" id="{05B97671-D8CC-44E2-82B3-FE686B4ED61C}"/>
              </a:ext>
            </a:extLst>
          </p:cNvPr>
          <p:cNvSpPr/>
          <p:nvPr/>
        </p:nvSpPr>
        <p:spPr>
          <a:xfrm>
            <a:off x="125661" y="5689964"/>
            <a:ext cx="203662" cy="187126"/>
          </a:xfrm>
          <a:custGeom>
            <a:avLst/>
            <a:gdLst>
              <a:gd name="T0" fmla="*/ 11834 w 13933"/>
              <a:gd name="T1" fmla="*/ 1094 h 12800"/>
              <a:gd name="T2" fmla="*/ 10384 w 13933"/>
              <a:gd name="T3" fmla="*/ 1094 h 12800"/>
              <a:gd name="T4" fmla="*/ 10384 w 13933"/>
              <a:gd name="T5" fmla="*/ 315 h 12800"/>
              <a:gd name="T6" fmla="*/ 10069 w 13933"/>
              <a:gd name="T7" fmla="*/ 0 h 12800"/>
              <a:gd name="T8" fmla="*/ 9754 w 13933"/>
              <a:gd name="T9" fmla="*/ 315 h 12800"/>
              <a:gd name="T10" fmla="*/ 9754 w 13933"/>
              <a:gd name="T11" fmla="*/ 1094 h 12800"/>
              <a:gd name="T12" fmla="*/ 4056 w 13933"/>
              <a:gd name="T13" fmla="*/ 1094 h 12800"/>
              <a:gd name="T14" fmla="*/ 4056 w 13933"/>
              <a:gd name="T15" fmla="*/ 315 h 12800"/>
              <a:gd name="T16" fmla="*/ 3741 w 13933"/>
              <a:gd name="T17" fmla="*/ 0 h 12800"/>
              <a:gd name="T18" fmla="*/ 3426 w 13933"/>
              <a:gd name="T19" fmla="*/ 315 h 12800"/>
              <a:gd name="T20" fmla="*/ 3426 w 13933"/>
              <a:gd name="T21" fmla="*/ 1094 h 12800"/>
              <a:gd name="T22" fmla="*/ 2099 w 13933"/>
              <a:gd name="T23" fmla="*/ 1094 h 12800"/>
              <a:gd name="T24" fmla="*/ 0 w 13933"/>
              <a:gd name="T25" fmla="*/ 3193 h 12800"/>
              <a:gd name="T26" fmla="*/ 0 w 13933"/>
              <a:gd name="T27" fmla="*/ 10701 h 12800"/>
              <a:gd name="T28" fmla="*/ 2099 w 13933"/>
              <a:gd name="T29" fmla="*/ 12800 h 12800"/>
              <a:gd name="T30" fmla="*/ 11834 w 13933"/>
              <a:gd name="T31" fmla="*/ 12800 h 12800"/>
              <a:gd name="T32" fmla="*/ 13933 w 13933"/>
              <a:gd name="T33" fmla="*/ 10701 h 12800"/>
              <a:gd name="T34" fmla="*/ 13933 w 13933"/>
              <a:gd name="T35" fmla="*/ 3193 h 12800"/>
              <a:gd name="T36" fmla="*/ 11834 w 13933"/>
              <a:gd name="T37" fmla="*/ 1094 h 12800"/>
              <a:gd name="T38" fmla="*/ 2099 w 13933"/>
              <a:gd name="T39" fmla="*/ 1933 h 12800"/>
              <a:gd name="T40" fmla="*/ 3426 w 13933"/>
              <a:gd name="T41" fmla="*/ 1933 h 12800"/>
              <a:gd name="T42" fmla="*/ 3426 w 13933"/>
              <a:gd name="T43" fmla="*/ 2757 h 12800"/>
              <a:gd name="T44" fmla="*/ 3741 w 13933"/>
              <a:gd name="T45" fmla="*/ 3072 h 12800"/>
              <a:gd name="T46" fmla="*/ 4056 w 13933"/>
              <a:gd name="T47" fmla="*/ 2757 h 12800"/>
              <a:gd name="T48" fmla="*/ 4056 w 13933"/>
              <a:gd name="T49" fmla="*/ 1933 h 12800"/>
              <a:gd name="T50" fmla="*/ 9754 w 13933"/>
              <a:gd name="T51" fmla="*/ 1933 h 12800"/>
              <a:gd name="T52" fmla="*/ 9754 w 13933"/>
              <a:gd name="T53" fmla="*/ 2757 h 12800"/>
              <a:gd name="T54" fmla="*/ 10069 w 13933"/>
              <a:gd name="T55" fmla="*/ 3072 h 12800"/>
              <a:gd name="T56" fmla="*/ 10384 w 13933"/>
              <a:gd name="T57" fmla="*/ 2757 h 12800"/>
              <a:gd name="T58" fmla="*/ 10384 w 13933"/>
              <a:gd name="T59" fmla="*/ 1933 h 12800"/>
              <a:gd name="T60" fmla="*/ 11834 w 13933"/>
              <a:gd name="T61" fmla="*/ 1933 h 12800"/>
              <a:gd name="T62" fmla="*/ 13094 w 13933"/>
              <a:gd name="T63" fmla="*/ 3193 h 12800"/>
              <a:gd name="T64" fmla="*/ 13094 w 13933"/>
              <a:gd name="T65" fmla="*/ 4646 h 12800"/>
              <a:gd name="T66" fmla="*/ 840 w 13933"/>
              <a:gd name="T67" fmla="*/ 4646 h 12800"/>
              <a:gd name="T68" fmla="*/ 840 w 13933"/>
              <a:gd name="T69" fmla="*/ 3193 h 12800"/>
              <a:gd name="T70" fmla="*/ 2099 w 13933"/>
              <a:gd name="T71" fmla="*/ 1933 h 12800"/>
              <a:gd name="T72" fmla="*/ 11834 w 13933"/>
              <a:gd name="T73" fmla="*/ 11960 h 12800"/>
              <a:gd name="T74" fmla="*/ 2099 w 13933"/>
              <a:gd name="T75" fmla="*/ 11960 h 12800"/>
              <a:gd name="T76" fmla="*/ 840 w 13933"/>
              <a:gd name="T77" fmla="*/ 10701 h 12800"/>
              <a:gd name="T78" fmla="*/ 840 w 13933"/>
              <a:gd name="T79" fmla="*/ 5276 h 12800"/>
              <a:gd name="T80" fmla="*/ 13094 w 13933"/>
              <a:gd name="T81" fmla="*/ 5276 h 12800"/>
              <a:gd name="T82" fmla="*/ 13094 w 13933"/>
              <a:gd name="T83" fmla="*/ 10701 h 12800"/>
              <a:gd name="T84" fmla="*/ 11834 w 13933"/>
              <a:gd name="T85" fmla="*/ 11960 h 128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Lst>
            <a:rect l="0" t="0" r="r" b="b"/>
            <a:pathLst>
              <a:path w="13933" h="12800">
                <a:moveTo>
                  <a:pt x="11834" y="1094"/>
                </a:moveTo>
                <a:lnTo>
                  <a:pt x="10384" y="1094"/>
                </a:lnTo>
                <a:lnTo>
                  <a:pt x="10384" y="315"/>
                </a:lnTo>
                <a:cubicBezTo>
                  <a:pt x="10384" y="141"/>
                  <a:pt x="10243" y="0"/>
                  <a:pt x="10069" y="0"/>
                </a:cubicBezTo>
                <a:cubicBezTo>
                  <a:pt x="9895" y="0"/>
                  <a:pt x="9754" y="141"/>
                  <a:pt x="9754" y="315"/>
                </a:cubicBezTo>
                <a:lnTo>
                  <a:pt x="9754" y="1094"/>
                </a:lnTo>
                <a:lnTo>
                  <a:pt x="4056" y="1094"/>
                </a:lnTo>
                <a:lnTo>
                  <a:pt x="4056" y="315"/>
                </a:lnTo>
                <a:cubicBezTo>
                  <a:pt x="4056" y="141"/>
                  <a:pt x="3915" y="0"/>
                  <a:pt x="3741" y="0"/>
                </a:cubicBezTo>
                <a:cubicBezTo>
                  <a:pt x="3567" y="0"/>
                  <a:pt x="3426" y="141"/>
                  <a:pt x="3426" y="315"/>
                </a:cubicBezTo>
                <a:lnTo>
                  <a:pt x="3426" y="1094"/>
                </a:lnTo>
                <a:lnTo>
                  <a:pt x="2099" y="1094"/>
                </a:lnTo>
                <a:cubicBezTo>
                  <a:pt x="940" y="1095"/>
                  <a:pt x="1" y="2034"/>
                  <a:pt x="0" y="3193"/>
                </a:cubicBezTo>
                <a:lnTo>
                  <a:pt x="0" y="10701"/>
                </a:lnTo>
                <a:cubicBezTo>
                  <a:pt x="1" y="11860"/>
                  <a:pt x="940" y="12799"/>
                  <a:pt x="2099" y="12800"/>
                </a:cubicBezTo>
                <a:lnTo>
                  <a:pt x="11834" y="12800"/>
                </a:lnTo>
                <a:cubicBezTo>
                  <a:pt x="12993" y="12799"/>
                  <a:pt x="13932" y="11860"/>
                  <a:pt x="13933" y="10701"/>
                </a:cubicBezTo>
                <a:lnTo>
                  <a:pt x="13933" y="3193"/>
                </a:lnTo>
                <a:cubicBezTo>
                  <a:pt x="13932" y="2034"/>
                  <a:pt x="12993" y="1095"/>
                  <a:pt x="11834" y="1094"/>
                </a:cubicBezTo>
                <a:close/>
                <a:moveTo>
                  <a:pt x="2099" y="1933"/>
                </a:moveTo>
                <a:lnTo>
                  <a:pt x="3426" y="1933"/>
                </a:lnTo>
                <a:lnTo>
                  <a:pt x="3426" y="2757"/>
                </a:lnTo>
                <a:cubicBezTo>
                  <a:pt x="3426" y="2931"/>
                  <a:pt x="3567" y="3072"/>
                  <a:pt x="3741" y="3072"/>
                </a:cubicBezTo>
                <a:cubicBezTo>
                  <a:pt x="3915" y="3072"/>
                  <a:pt x="4056" y="2931"/>
                  <a:pt x="4056" y="2757"/>
                </a:cubicBezTo>
                <a:lnTo>
                  <a:pt x="4056" y="1933"/>
                </a:lnTo>
                <a:lnTo>
                  <a:pt x="9754" y="1933"/>
                </a:lnTo>
                <a:lnTo>
                  <a:pt x="9754" y="2757"/>
                </a:lnTo>
                <a:cubicBezTo>
                  <a:pt x="9754" y="2931"/>
                  <a:pt x="9895" y="3072"/>
                  <a:pt x="10069" y="3072"/>
                </a:cubicBezTo>
                <a:cubicBezTo>
                  <a:pt x="10243" y="3072"/>
                  <a:pt x="10384" y="2931"/>
                  <a:pt x="10384" y="2757"/>
                </a:cubicBezTo>
                <a:lnTo>
                  <a:pt x="10384" y="1933"/>
                </a:lnTo>
                <a:lnTo>
                  <a:pt x="11834" y="1933"/>
                </a:lnTo>
                <a:cubicBezTo>
                  <a:pt x="12529" y="1934"/>
                  <a:pt x="13093" y="2497"/>
                  <a:pt x="13094" y="3193"/>
                </a:cubicBezTo>
                <a:lnTo>
                  <a:pt x="13094" y="4646"/>
                </a:lnTo>
                <a:lnTo>
                  <a:pt x="840" y="4646"/>
                </a:lnTo>
                <a:lnTo>
                  <a:pt x="840" y="3193"/>
                </a:lnTo>
                <a:cubicBezTo>
                  <a:pt x="840" y="2497"/>
                  <a:pt x="1404" y="1934"/>
                  <a:pt x="2099" y="1933"/>
                </a:cubicBezTo>
                <a:close/>
                <a:moveTo>
                  <a:pt x="11834" y="11960"/>
                </a:moveTo>
                <a:lnTo>
                  <a:pt x="2099" y="11960"/>
                </a:lnTo>
                <a:cubicBezTo>
                  <a:pt x="1404" y="11960"/>
                  <a:pt x="840" y="11396"/>
                  <a:pt x="840" y="10701"/>
                </a:cubicBezTo>
                <a:lnTo>
                  <a:pt x="840" y="5276"/>
                </a:lnTo>
                <a:lnTo>
                  <a:pt x="13094" y="5276"/>
                </a:lnTo>
                <a:lnTo>
                  <a:pt x="13094" y="10701"/>
                </a:lnTo>
                <a:cubicBezTo>
                  <a:pt x="13093" y="11396"/>
                  <a:pt x="12529" y="11960"/>
                  <a:pt x="11834" y="1196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48720030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6" name="矩形: 圆角 125">
            <a:extLst>
              <a:ext uri="{FF2B5EF4-FFF2-40B4-BE49-F238E27FC236}">
                <a16:creationId xmlns:a16="http://schemas.microsoft.com/office/drawing/2014/main" id="{37500F2A-A779-4EE7-B601-6510E98E88F3}"/>
              </a:ext>
            </a:extLst>
          </p:cNvPr>
          <p:cNvSpPr/>
          <p:nvPr/>
        </p:nvSpPr>
        <p:spPr>
          <a:xfrm>
            <a:off x="9523996" y="1998624"/>
            <a:ext cx="2333042" cy="4302107"/>
          </a:xfrm>
          <a:prstGeom prst="roundRect">
            <a:avLst>
              <a:gd name="adj" fmla="val 4721"/>
            </a:avLst>
          </a:prstGeom>
          <a:solidFill>
            <a:schemeClr val="bg2"/>
          </a:solidFill>
          <a:ln w="15875">
            <a:no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40" name="矩形: 圆角 39">
            <a:extLst>
              <a:ext uri="{FF2B5EF4-FFF2-40B4-BE49-F238E27FC236}">
                <a16:creationId xmlns:a16="http://schemas.microsoft.com/office/drawing/2014/main" id="{D9B6D686-A1A6-48C3-8B2F-CEB5A7BDDD5D}"/>
              </a:ext>
            </a:extLst>
          </p:cNvPr>
          <p:cNvSpPr/>
          <p:nvPr/>
        </p:nvSpPr>
        <p:spPr>
          <a:xfrm>
            <a:off x="5266165" y="1362936"/>
            <a:ext cx="3712308" cy="5106268"/>
          </a:xfrm>
          <a:prstGeom prst="roundRect">
            <a:avLst>
              <a:gd name="adj" fmla="val 4721"/>
            </a:avLst>
          </a:prstGeom>
          <a:solidFill>
            <a:schemeClr val="bg1"/>
          </a:solidFill>
          <a:ln w="15875">
            <a:solidFill>
              <a:schemeClr val="accent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pic>
        <p:nvPicPr>
          <p:cNvPr id="2052" name="Picture 4" descr="查看图片">
            <a:extLst>
              <a:ext uri="{FF2B5EF4-FFF2-40B4-BE49-F238E27FC236}">
                <a16:creationId xmlns:a16="http://schemas.microsoft.com/office/drawing/2014/main" id="{21B78430-EEA7-4BC6-81DF-9CF13F2996D2}"/>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b="3185"/>
          <a:stretch/>
        </p:blipFill>
        <p:spPr bwMode="auto">
          <a:xfrm>
            <a:off x="5338029" y="1559707"/>
            <a:ext cx="3568580" cy="4712728"/>
          </a:xfrm>
          <a:prstGeom prst="rect">
            <a:avLst/>
          </a:prstGeom>
          <a:noFill/>
          <a:extLst>
            <a:ext uri="{909E8E84-426E-40DD-AFC4-6F175D3DCCD1}">
              <a14:hiddenFill xmlns:a14="http://schemas.microsoft.com/office/drawing/2010/main">
                <a:solidFill>
                  <a:srgbClr val="FFFFFF"/>
                </a:solidFill>
              </a14:hiddenFill>
            </a:ext>
          </a:extLst>
        </p:spPr>
      </p:pic>
      <p:sp>
        <p:nvSpPr>
          <p:cNvPr id="39" name="箭头: 右 38">
            <a:extLst>
              <a:ext uri="{FF2B5EF4-FFF2-40B4-BE49-F238E27FC236}">
                <a16:creationId xmlns:a16="http://schemas.microsoft.com/office/drawing/2014/main" id="{5D2D38D9-F4A2-46BD-A20F-6C15CC110CCE}"/>
              </a:ext>
            </a:extLst>
          </p:cNvPr>
          <p:cNvSpPr/>
          <p:nvPr/>
        </p:nvSpPr>
        <p:spPr>
          <a:xfrm>
            <a:off x="4817922" y="3722070"/>
            <a:ext cx="350963" cy="388001"/>
          </a:xfrm>
          <a:prstGeom prst="rightArrow">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7" name="矩形: 圆角 16">
            <a:extLst>
              <a:ext uri="{FF2B5EF4-FFF2-40B4-BE49-F238E27FC236}">
                <a16:creationId xmlns:a16="http://schemas.microsoft.com/office/drawing/2014/main" id="{97FD7EA7-74EA-4012-9612-9662D839B8C7}"/>
              </a:ext>
            </a:extLst>
          </p:cNvPr>
          <p:cNvSpPr/>
          <p:nvPr/>
        </p:nvSpPr>
        <p:spPr>
          <a:xfrm>
            <a:off x="2387600" y="1998624"/>
            <a:ext cx="2333042" cy="4302107"/>
          </a:xfrm>
          <a:prstGeom prst="roundRect">
            <a:avLst>
              <a:gd name="adj" fmla="val 4721"/>
            </a:avLst>
          </a:prstGeom>
          <a:solidFill>
            <a:schemeClr val="bg2"/>
          </a:solidFill>
          <a:ln w="15875">
            <a:no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23" name="矩形: 圆角 22">
            <a:extLst>
              <a:ext uri="{FF2B5EF4-FFF2-40B4-BE49-F238E27FC236}">
                <a16:creationId xmlns:a16="http://schemas.microsoft.com/office/drawing/2014/main" id="{D051C553-E518-4DFC-8668-3CA2617A20DD}"/>
              </a:ext>
            </a:extLst>
          </p:cNvPr>
          <p:cNvSpPr/>
          <p:nvPr/>
        </p:nvSpPr>
        <p:spPr>
          <a:xfrm>
            <a:off x="2387600" y="1531410"/>
            <a:ext cx="2333042" cy="376049"/>
          </a:xfrm>
          <a:prstGeom prst="roundRect">
            <a:avLst>
              <a:gd name="adj" fmla="val 50000"/>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600" b="1" dirty="0">
                <a:latin typeface="思源黑体 CN Bold" panose="020B0800000000000000" pitchFamily="34" charset="-122"/>
                <a:ea typeface="思源黑体 CN Bold" panose="020B0800000000000000" pitchFamily="34" charset="-122"/>
              </a:rPr>
              <a:t>行业需求层面</a:t>
            </a:r>
          </a:p>
        </p:txBody>
      </p:sp>
      <p:sp>
        <p:nvSpPr>
          <p:cNvPr id="26" name="文本框 25">
            <a:extLst>
              <a:ext uri="{FF2B5EF4-FFF2-40B4-BE49-F238E27FC236}">
                <a16:creationId xmlns:a16="http://schemas.microsoft.com/office/drawing/2014/main" id="{246543C7-6800-4376-88E7-77B792DE9D05}"/>
              </a:ext>
            </a:extLst>
          </p:cNvPr>
          <p:cNvSpPr txBox="1"/>
          <p:nvPr/>
        </p:nvSpPr>
        <p:spPr>
          <a:xfrm>
            <a:off x="2459465" y="2294411"/>
            <a:ext cx="2189313" cy="1432828"/>
          </a:xfrm>
          <a:prstGeom prst="rect">
            <a:avLst/>
          </a:prstGeom>
          <a:noFill/>
        </p:spPr>
        <p:txBody>
          <a:bodyPr wrap="square" rtlCol="0">
            <a:spAutoFit/>
          </a:bodyPr>
          <a:lstStyle>
            <a:defPPr>
              <a:defRPr lang="zh-CN"/>
            </a:defPPr>
            <a:lvl1pPr marL="285750" indent="-285750">
              <a:lnSpc>
                <a:spcPct val="110000"/>
              </a:lnSpc>
              <a:buFont typeface="Wingdings" panose="05000000000000000000" pitchFamily="2" charset="2"/>
              <a:buChar char="u"/>
              <a:defRPr sz="1400">
                <a:latin typeface="思源黑体 CN Regular" panose="020B0500000000000000" pitchFamily="34" charset="-122"/>
                <a:ea typeface="思源黑体 CN Regular" panose="020B0500000000000000" pitchFamily="34" charset="-122"/>
              </a:defRPr>
            </a:lvl1pPr>
          </a:lstStyle>
          <a:p>
            <a:pPr marL="0" indent="0" algn="just">
              <a:buNone/>
            </a:pPr>
            <a:r>
              <a:rPr lang="zh-CN" altLang="en-US" sz="1600" dirty="0"/>
              <a:t>我国慢性病患者超</a:t>
            </a:r>
            <a:r>
              <a:rPr lang="en-US" altLang="zh-CN" sz="1600" dirty="0"/>
              <a:t>4</a:t>
            </a:r>
            <a:r>
              <a:rPr lang="zh-CN" altLang="en-US" sz="1600" dirty="0"/>
              <a:t>亿，传统筛查滞后，基层医疗机构缺乏高效风险评估工具，防控压力突出。</a:t>
            </a:r>
          </a:p>
        </p:txBody>
      </p:sp>
      <p:sp>
        <p:nvSpPr>
          <p:cNvPr id="27" name="文本框 26">
            <a:extLst>
              <a:ext uri="{FF2B5EF4-FFF2-40B4-BE49-F238E27FC236}">
                <a16:creationId xmlns:a16="http://schemas.microsoft.com/office/drawing/2014/main" id="{E0CF2584-546D-4C0B-B084-B4554538E10A}"/>
              </a:ext>
            </a:extLst>
          </p:cNvPr>
          <p:cNvSpPr txBox="1"/>
          <p:nvPr/>
        </p:nvSpPr>
        <p:spPr>
          <a:xfrm>
            <a:off x="2459465" y="4207933"/>
            <a:ext cx="2189313" cy="1432828"/>
          </a:xfrm>
          <a:prstGeom prst="rect">
            <a:avLst/>
          </a:prstGeom>
          <a:noFill/>
        </p:spPr>
        <p:txBody>
          <a:bodyPr wrap="square" rtlCol="0">
            <a:spAutoFit/>
          </a:bodyPr>
          <a:lstStyle>
            <a:defPPr>
              <a:defRPr lang="zh-CN"/>
            </a:defPPr>
            <a:lvl1pPr marL="285750" indent="-285750">
              <a:lnSpc>
                <a:spcPct val="110000"/>
              </a:lnSpc>
              <a:buFont typeface="Wingdings" panose="05000000000000000000" pitchFamily="2" charset="2"/>
              <a:buChar char="u"/>
              <a:defRPr sz="1400">
                <a:latin typeface="思源黑体 CN Regular" panose="020B0500000000000000" pitchFamily="34" charset="-122"/>
                <a:ea typeface="思源黑体 CN Regular" panose="020B0500000000000000" pitchFamily="34" charset="-122"/>
              </a:defRPr>
            </a:lvl1pPr>
          </a:lstStyle>
          <a:p>
            <a:pPr marL="0" indent="0" algn="just">
              <a:buNone/>
            </a:pPr>
            <a:r>
              <a:rPr lang="en-US" altLang="zh-CN" sz="1600" dirty="0"/>
              <a:t>AI</a:t>
            </a:r>
            <a:r>
              <a:rPr lang="zh-CN" altLang="en-US" sz="1600" dirty="0"/>
              <a:t>医疗落地率不足</a:t>
            </a:r>
            <a:r>
              <a:rPr lang="en-US" altLang="zh-CN" sz="1600" dirty="0"/>
              <a:t>30%</a:t>
            </a:r>
            <a:r>
              <a:rPr lang="zh-CN" altLang="en-US" sz="1600" dirty="0"/>
              <a:t>，慢性病预测模型多适配三甲医院，基层场景适配性缺口显著。</a:t>
            </a:r>
          </a:p>
        </p:txBody>
      </p:sp>
      <p:cxnSp>
        <p:nvCxnSpPr>
          <p:cNvPr id="62" name="直接连接符 61">
            <a:extLst>
              <a:ext uri="{FF2B5EF4-FFF2-40B4-BE49-F238E27FC236}">
                <a16:creationId xmlns:a16="http://schemas.microsoft.com/office/drawing/2014/main" id="{C38DD591-C403-4D88-BDC2-92E25A602719}"/>
              </a:ext>
            </a:extLst>
          </p:cNvPr>
          <p:cNvCxnSpPr>
            <a:cxnSpLocks/>
          </p:cNvCxnSpPr>
          <p:nvPr/>
        </p:nvCxnSpPr>
        <p:spPr>
          <a:xfrm>
            <a:off x="2529527" y="3916070"/>
            <a:ext cx="2049189" cy="0"/>
          </a:xfrm>
          <a:prstGeom prst="line">
            <a:avLst/>
          </a:prstGeom>
          <a:ln w="12700">
            <a:solidFill>
              <a:schemeClr val="accent1"/>
            </a:solidFill>
          </a:ln>
        </p:spPr>
        <p:style>
          <a:lnRef idx="1">
            <a:schemeClr val="accent1"/>
          </a:lnRef>
          <a:fillRef idx="0">
            <a:schemeClr val="accent1"/>
          </a:fillRef>
          <a:effectRef idx="0">
            <a:schemeClr val="accent1"/>
          </a:effectRef>
          <a:fontRef idx="minor">
            <a:schemeClr val="tx1"/>
          </a:fontRef>
        </p:style>
      </p:cxnSp>
      <p:sp>
        <p:nvSpPr>
          <p:cNvPr id="111" name="文本框 110">
            <a:extLst>
              <a:ext uri="{FF2B5EF4-FFF2-40B4-BE49-F238E27FC236}">
                <a16:creationId xmlns:a16="http://schemas.microsoft.com/office/drawing/2014/main" id="{100CA2E4-9825-41A7-AA9F-74D7DC52BB18}"/>
              </a:ext>
            </a:extLst>
          </p:cNvPr>
          <p:cNvSpPr txBox="1"/>
          <p:nvPr/>
        </p:nvSpPr>
        <p:spPr>
          <a:xfrm>
            <a:off x="2209656" y="248670"/>
            <a:ext cx="2871299" cy="461665"/>
          </a:xfrm>
          <a:prstGeom prst="rect">
            <a:avLst/>
          </a:prstGeom>
          <a:noFill/>
        </p:spPr>
        <p:txBody>
          <a:bodyPr wrap="none" rtlCol="0">
            <a:spAutoFit/>
          </a:bodyPr>
          <a:lstStyle/>
          <a:p>
            <a:r>
              <a:rPr lang="en-US" altLang="zh-CN" sz="2400" dirty="0">
                <a:solidFill>
                  <a:schemeClr val="accent1"/>
                </a:solidFill>
                <a:latin typeface="思源黑体 CN Bold" panose="020B0800000000000000" pitchFamily="34" charset="-122"/>
                <a:ea typeface="思源黑体 CN Bold" panose="020B0800000000000000" pitchFamily="34" charset="-122"/>
              </a:rPr>
              <a:t>1.3 </a:t>
            </a:r>
            <a:r>
              <a:rPr lang="zh-CN" altLang="en-US" sz="2400" dirty="0">
                <a:solidFill>
                  <a:schemeClr val="accent1"/>
                </a:solidFill>
                <a:latin typeface="思源黑体 CN Bold" panose="020B0800000000000000" pitchFamily="34" charset="-122"/>
                <a:ea typeface="思源黑体 CN Bold" panose="020B0800000000000000" pitchFamily="34" charset="-122"/>
              </a:rPr>
              <a:t>国内外研究现状</a:t>
            </a:r>
          </a:p>
        </p:txBody>
      </p:sp>
      <p:sp>
        <p:nvSpPr>
          <p:cNvPr id="112" name="矩形 111">
            <a:extLst>
              <a:ext uri="{FF2B5EF4-FFF2-40B4-BE49-F238E27FC236}">
                <a16:creationId xmlns:a16="http://schemas.microsoft.com/office/drawing/2014/main" id="{A5C3F5A5-B3D4-43AF-B380-8F39CD59BFEB}"/>
              </a:ext>
            </a:extLst>
          </p:cNvPr>
          <p:cNvSpPr/>
          <p:nvPr/>
        </p:nvSpPr>
        <p:spPr>
          <a:xfrm>
            <a:off x="0" y="1970913"/>
            <a:ext cx="2052320" cy="56374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13" name="文本框 112">
            <a:extLst>
              <a:ext uri="{FF2B5EF4-FFF2-40B4-BE49-F238E27FC236}">
                <a16:creationId xmlns:a16="http://schemas.microsoft.com/office/drawing/2014/main" id="{2E37C6AB-D64E-4A24-BD23-47B23EE2D38B}"/>
              </a:ext>
            </a:extLst>
          </p:cNvPr>
          <p:cNvSpPr txBox="1"/>
          <p:nvPr/>
        </p:nvSpPr>
        <p:spPr>
          <a:xfrm>
            <a:off x="373082" y="2098899"/>
            <a:ext cx="1660612" cy="338554"/>
          </a:xfrm>
          <a:prstGeom prst="rect">
            <a:avLst/>
          </a:prstGeom>
          <a:noFill/>
        </p:spPr>
        <p:txBody>
          <a:bodyPr wrap="square" rtlCol="0">
            <a:spAutoFit/>
          </a:bodyPr>
          <a:lstStyle/>
          <a:p>
            <a:r>
              <a:rPr lang="zh-CN" altLang="en-US" sz="1600" dirty="0">
                <a:solidFill>
                  <a:schemeClr val="accent1"/>
                </a:solidFill>
                <a:latin typeface="思源黑体 CN Regular" panose="020B0500000000000000" pitchFamily="34" charset="-122"/>
                <a:ea typeface="思源黑体 CN Regular" panose="020B0500000000000000" pitchFamily="34" charset="-122"/>
              </a:rPr>
              <a:t>研究背景及现状</a:t>
            </a:r>
          </a:p>
        </p:txBody>
      </p:sp>
      <p:sp>
        <p:nvSpPr>
          <p:cNvPr id="114" name="任意矩形：001">
            <a:extLst>
              <a:ext uri="{FF2B5EF4-FFF2-40B4-BE49-F238E27FC236}">
                <a16:creationId xmlns:a16="http://schemas.microsoft.com/office/drawing/2014/main" id="{A6E06603-35C2-49B4-B1E8-78F02DDA22A4}"/>
              </a:ext>
            </a:extLst>
          </p:cNvPr>
          <p:cNvSpPr/>
          <p:nvPr/>
        </p:nvSpPr>
        <p:spPr>
          <a:xfrm>
            <a:off x="131492" y="2145245"/>
            <a:ext cx="226722" cy="202893"/>
          </a:xfrm>
          <a:custGeom>
            <a:avLst/>
            <a:gdLst>
              <a:gd name="connsiteX0" fmla="*/ 79591 w 607005"/>
              <a:gd name="connsiteY0" fmla="*/ 373864 h 543210"/>
              <a:gd name="connsiteX1" fmla="*/ 33701 w 607005"/>
              <a:gd name="connsiteY1" fmla="*/ 461494 h 543210"/>
              <a:gd name="connsiteX2" fmla="*/ 79501 w 607005"/>
              <a:gd name="connsiteY2" fmla="*/ 507233 h 543210"/>
              <a:gd name="connsiteX3" fmla="*/ 125392 w 607005"/>
              <a:gd name="connsiteY3" fmla="*/ 461494 h 543210"/>
              <a:gd name="connsiteX4" fmla="*/ 79591 w 607005"/>
              <a:gd name="connsiteY4" fmla="*/ 373864 h 543210"/>
              <a:gd name="connsiteX5" fmla="*/ 79501 w 607005"/>
              <a:gd name="connsiteY5" fmla="*/ 328661 h 543210"/>
              <a:gd name="connsiteX6" fmla="*/ 92856 w 607005"/>
              <a:gd name="connsiteY6" fmla="*/ 335106 h 543210"/>
              <a:gd name="connsiteX7" fmla="*/ 158913 w 607005"/>
              <a:gd name="connsiteY7" fmla="*/ 461404 h 543210"/>
              <a:gd name="connsiteX8" fmla="*/ 79501 w 607005"/>
              <a:gd name="connsiteY8" fmla="*/ 540710 h 543210"/>
              <a:gd name="connsiteX9" fmla="*/ 0 w 607005"/>
              <a:gd name="connsiteY9" fmla="*/ 461404 h 543210"/>
              <a:gd name="connsiteX10" fmla="*/ 66236 w 607005"/>
              <a:gd name="connsiteY10" fmla="*/ 335195 h 543210"/>
              <a:gd name="connsiteX11" fmla="*/ 79501 w 607005"/>
              <a:gd name="connsiteY11" fmla="*/ 328661 h 543210"/>
              <a:gd name="connsiteX12" fmla="*/ 196548 w 607005"/>
              <a:gd name="connsiteY12" fmla="*/ 281688 h 543210"/>
              <a:gd name="connsiteX13" fmla="*/ 391755 w 607005"/>
              <a:gd name="connsiteY13" fmla="*/ 476431 h 543210"/>
              <a:gd name="connsiteX14" fmla="*/ 540265 w 607005"/>
              <a:gd name="connsiteY14" fmla="*/ 476431 h 543210"/>
              <a:gd name="connsiteX15" fmla="*/ 540265 w 607005"/>
              <a:gd name="connsiteY15" fmla="*/ 328047 h 543210"/>
              <a:gd name="connsiteX16" fmla="*/ 493749 w 607005"/>
              <a:gd name="connsiteY16" fmla="*/ 281688 h 543210"/>
              <a:gd name="connsiteX17" fmla="*/ 261707 w 607005"/>
              <a:gd name="connsiteY17" fmla="*/ 49894 h 543210"/>
              <a:gd name="connsiteX18" fmla="*/ 113017 w 607005"/>
              <a:gd name="connsiteY18" fmla="*/ 198278 h 543210"/>
              <a:gd name="connsiteX19" fmla="*/ 163028 w 607005"/>
              <a:gd name="connsiteY19" fmla="*/ 248127 h 543210"/>
              <a:gd name="connsiteX20" fmla="*/ 460229 w 607005"/>
              <a:gd name="connsiteY20" fmla="*/ 248127 h 543210"/>
              <a:gd name="connsiteX21" fmla="*/ 271073 w 607005"/>
              <a:gd name="connsiteY21" fmla="*/ 0 h 543210"/>
              <a:gd name="connsiteX22" fmla="*/ 282948 w 607005"/>
              <a:gd name="connsiteY22" fmla="*/ 4967 h 543210"/>
              <a:gd name="connsiteX23" fmla="*/ 285099 w 607005"/>
              <a:gd name="connsiteY23" fmla="*/ 25909 h 543210"/>
              <a:gd name="connsiteX24" fmla="*/ 563927 w 607005"/>
              <a:gd name="connsiteY24" fmla="*/ 304331 h 543210"/>
              <a:gd name="connsiteX25" fmla="*/ 563927 w 607005"/>
              <a:gd name="connsiteY25" fmla="*/ 500148 h 543210"/>
              <a:gd name="connsiteX26" fmla="*/ 367824 w 607005"/>
              <a:gd name="connsiteY26" fmla="*/ 500148 h 543210"/>
              <a:gd name="connsiteX27" fmla="*/ 88997 w 607005"/>
              <a:gd name="connsiteY27" fmla="*/ 221726 h 543210"/>
              <a:gd name="connsiteX28" fmla="*/ 68024 w 607005"/>
              <a:gd name="connsiteY28" fmla="*/ 219578 h 543210"/>
              <a:gd name="connsiteX29" fmla="*/ 68024 w 607005"/>
              <a:gd name="connsiteY29" fmla="*/ 195862 h 543210"/>
              <a:gd name="connsiteX30" fmla="*/ 259197 w 607005"/>
              <a:gd name="connsiteY30" fmla="*/ 4967 h 543210"/>
              <a:gd name="connsiteX31" fmla="*/ 271073 w 607005"/>
              <a:gd name="connsiteY31" fmla="*/ 0 h 5432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607005" h="543210">
                <a:moveTo>
                  <a:pt x="79591" y="373864"/>
                </a:moveTo>
                <a:cubicBezTo>
                  <a:pt x="57452" y="405192"/>
                  <a:pt x="33701" y="445024"/>
                  <a:pt x="33701" y="461494"/>
                </a:cubicBezTo>
                <a:cubicBezTo>
                  <a:pt x="33701" y="486646"/>
                  <a:pt x="54226" y="507233"/>
                  <a:pt x="79501" y="507233"/>
                </a:cubicBezTo>
                <a:cubicBezTo>
                  <a:pt x="104687" y="507233"/>
                  <a:pt x="125212" y="486646"/>
                  <a:pt x="125392" y="461494"/>
                </a:cubicBezTo>
                <a:cubicBezTo>
                  <a:pt x="125392" y="445024"/>
                  <a:pt x="101729" y="405282"/>
                  <a:pt x="79591" y="373864"/>
                </a:cubicBezTo>
                <a:close/>
                <a:moveTo>
                  <a:pt x="79501" y="328661"/>
                </a:moveTo>
                <a:cubicBezTo>
                  <a:pt x="84610" y="328661"/>
                  <a:pt x="89540" y="331078"/>
                  <a:pt x="92856" y="335106"/>
                </a:cubicBezTo>
                <a:cubicBezTo>
                  <a:pt x="103881" y="349517"/>
                  <a:pt x="158913" y="423094"/>
                  <a:pt x="158913" y="461404"/>
                </a:cubicBezTo>
                <a:cubicBezTo>
                  <a:pt x="158913" y="505175"/>
                  <a:pt x="123240" y="540710"/>
                  <a:pt x="79501" y="540710"/>
                </a:cubicBezTo>
                <a:cubicBezTo>
                  <a:pt x="35583" y="540710"/>
                  <a:pt x="0" y="505085"/>
                  <a:pt x="0" y="461404"/>
                </a:cubicBezTo>
                <a:cubicBezTo>
                  <a:pt x="0" y="423094"/>
                  <a:pt x="55122" y="349517"/>
                  <a:pt x="66236" y="335195"/>
                </a:cubicBezTo>
                <a:cubicBezTo>
                  <a:pt x="69284" y="331078"/>
                  <a:pt x="74213" y="328661"/>
                  <a:pt x="79501" y="328661"/>
                </a:cubicBezTo>
                <a:close/>
                <a:moveTo>
                  <a:pt x="196548" y="281688"/>
                </a:moveTo>
                <a:lnTo>
                  <a:pt x="391755" y="476431"/>
                </a:lnTo>
                <a:cubicBezTo>
                  <a:pt x="420525" y="505249"/>
                  <a:pt x="488999" y="527623"/>
                  <a:pt x="540265" y="476431"/>
                </a:cubicBezTo>
                <a:cubicBezTo>
                  <a:pt x="592249" y="424524"/>
                  <a:pt x="570290" y="358028"/>
                  <a:pt x="540265" y="328047"/>
                </a:cubicBezTo>
                <a:lnTo>
                  <a:pt x="493749" y="281688"/>
                </a:lnTo>
                <a:close/>
                <a:moveTo>
                  <a:pt x="261707" y="49894"/>
                </a:moveTo>
                <a:lnTo>
                  <a:pt x="113017" y="198278"/>
                </a:lnTo>
                <a:lnTo>
                  <a:pt x="163028" y="248127"/>
                </a:lnTo>
                <a:lnTo>
                  <a:pt x="460229" y="248127"/>
                </a:lnTo>
                <a:close/>
                <a:moveTo>
                  <a:pt x="271073" y="0"/>
                </a:moveTo>
                <a:cubicBezTo>
                  <a:pt x="275375" y="0"/>
                  <a:pt x="279677" y="1655"/>
                  <a:pt x="282948" y="4967"/>
                </a:cubicBezTo>
                <a:cubicBezTo>
                  <a:pt x="288595" y="10694"/>
                  <a:pt x="289312" y="19465"/>
                  <a:pt x="285099" y="25909"/>
                </a:cubicBezTo>
                <a:lnTo>
                  <a:pt x="563927" y="304331"/>
                </a:lnTo>
                <a:cubicBezTo>
                  <a:pt x="604528" y="344872"/>
                  <a:pt x="636076" y="428104"/>
                  <a:pt x="563927" y="500148"/>
                </a:cubicBezTo>
                <a:cubicBezTo>
                  <a:pt x="492495" y="571476"/>
                  <a:pt x="409501" y="541763"/>
                  <a:pt x="367824" y="500148"/>
                </a:cubicBezTo>
                <a:lnTo>
                  <a:pt x="88997" y="221726"/>
                </a:lnTo>
                <a:cubicBezTo>
                  <a:pt x="81468" y="226380"/>
                  <a:pt x="73850" y="225485"/>
                  <a:pt x="68024" y="219578"/>
                </a:cubicBezTo>
                <a:cubicBezTo>
                  <a:pt x="61392" y="213045"/>
                  <a:pt x="61392" y="202395"/>
                  <a:pt x="68024" y="195862"/>
                </a:cubicBezTo>
                <a:lnTo>
                  <a:pt x="259197" y="4967"/>
                </a:lnTo>
                <a:cubicBezTo>
                  <a:pt x="262469" y="1655"/>
                  <a:pt x="266771" y="0"/>
                  <a:pt x="271073" y="0"/>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5" name="任意矩形：002">
            <a:extLst>
              <a:ext uri="{FF2B5EF4-FFF2-40B4-BE49-F238E27FC236}">
                <a16:creationId xmlns:a16="http://schemas.microsoft.com/office/drawing/2014/main" id="{89C218F4-9A5D-450D-AC3C-41EB87784E37}"/>
              </a:ext>
            </a:extLst>
          </p:cNvPr>
          <p:cNvSpPr/>
          <p:nvPr/>
        </p:nvSpPr>
        <p:spPr>
          <a:xfrm>
            <a:off x="143798" y="2860995"/>
            <a:ext cx="202111" cy="201828"/>
          </a:xfrm>
          <a:custGeom>
            <a:avLst/>
            <a:gdLst>
              <a:gd name="connsiteX0" fmla="*/ 303643 w 607215"/>
              <a:gd name="connsiteY0" fmla="*/ 280873 h 606369"/>
              <a:gd name="connsiteX1" fmla="*/ 325219 w 607215"/>
              <a:gd name="connsiteY1" fmla="*/ 302335 h 606369"/>
              <a:gd name="connsiteX2" fmla="*/ 303643 w 607215"/>
              <a:gd name="connsiteY2" fmla="*/ 323873 h 606369"/>
              <a:gd name="connsiteX3" fmla="*/ 282068 w 607215"/>
              <a:gd name="connsiteY3" fmla="*/ 302335 h 606369"/>
              <a:gd name="connsiteX4" fmla="*/ 303643 w 607215"/>
              <a:gd name="connsiteY4" fmla="*/ 280873 h 606369"/>
              <a:gd name="connsiteX5" fmla="*/ 303678 w 607215"/>
              <a:gd name="connsiteY5" fmla="*/ 280357 h 606369"/>
              <a:gd name="connsiteX6" fmla="*/ 281626 w 607215"/>
              <a:gd name="connsiteY6" fmla="*/ 302374 h 606369"/>
              <a:gd name="connsiteX7" fmla="*/ 303678 w 607215"/>
              <a:gd name="connsiteY7" fmla="*/ 324391 h 606369"/>
              <a:gd name="connsiteX8" fmla="*/ 325730 w 607215"/>
              <a:gd name="connsiteY8" fmla="*/ 302374 h 606369"/>
              <a:gd name="connsiteX9" fmla="*/ 303678 w 607215"/>
              <a:gd name="connsiteY9" fmla="*/ 280357 h 606369"/>
              <a:gd name="connsiteX10" fmla="*/ 303643 w 607215"/>
              <a:gd name="connsiteY10" fmla="*/ 279792 h 606369"/>
              <a:gd name="connsiteX11" fmla="*/ 326224 w 607215"/>
              <a:gd name="connsiteY11" fmla="*/ 302335 h 606369"/>
              <a:gd name="connsiteX12" fmla="*/ 303643 w 607215"/>
              <a:gd name="connsiteY12" fmla="*/ 324954 h 606369"/>
              <a:gd name="connsiteX13" fmla="*/ 281062 w 607215"/>
              <a:gd name="connsiteY13" fmla="*/ 302335 h 606369"/>
              <a:gd name="connsiteX14" fmla="*/ 303643 w 607215"/>
              <a:gd name="connsiteY14" fmla="*/ 279792 h 606369"/>
              <a:gd name="connsiteX15" fmla="*/ 281043 w 607215"/>
              <a:gd name="connsiteY15" fmla="*/ 46068 h 606369"/>
              <a:gd name="connsiteX16" fmla="*/ 120855 w 607215"/>
              <a:gd name="connsiteY16" fmla="*/ 120687 h 606369"/>
              <a:gd name="connsiteX17" fmla="*/ 46132 w 607215"/>
              <a:gd name="connsiteY17" fmla="*/ 280652 h 606369"/>
              <a:gd name="connsiteX18" fmla="*/ 147128 w 607215"/>
              <a:gd name="connsiteY18" fmla="*/ 280652 h 606369"/>
              <a:gd name="connsiteX19" fmla="*/ 169770 w 607215"/>
              <a:gd name="connsiteY19" fmla="*/ 303185 h 606369"/>
              <a:gd name="connsiteX20" fmla="*/ 147128 w 607215"/>
              <a:gd name="connsiteY20" fmla="*/ 325717 h 606369"/>
              <a:gd name="connsiteX21" fmla="*/ 46132 w 607215"/>
              <a:gd name="connsiteY21" fmla="*/ 325717 h 606369"/>
              <a:gd name="connsiteX22" fmla="*/ 120855 w 607215"/>
              <a:gd name="connsiteY22" fmla="*/ 485682 h 606369"/>
              <a:gd name="connsiteX23" fmla="*/ 281043 w 607215"/>
              <a:gd name="connsiteY23" fmla="*/ 560301 h 606369"/>
              <a:gd name="connsiteX24" fmla="*/ 281043 w 607215"/>
              <a:gd name="connsiteY24" fmla="*/ 459446 h 606369"/>
              <a:gd name="connsiteX25" fmla="*/ 303608 w 607215"/>
              <a:gd name="connsiteY25" fmla="*/ 436913 h 606369"/>
              <a:gd name="connsiteX26" fmla="*/ 326172 w 607215"/>
              <a:gd name="connsiteY26" fmla="*/ 459446 h 606369"/>
              <a:gd name="connsiteX27" fmla="*/ 326172 w 607215"/>
              <a:gd name="connsiteY27" fmla="*/ 560301 h 606369"/>
              <a:gd name="connsiteX28" fmla="*/ 486360 w 607215"/>
              <a:gd name="connsiteY28" fmla="*/ 485682 h 606369"/>
              <a:gd name="connsiteX29" fmla="*/ 561083 w 607215"/>
              <a:gd name="connsiteY29" fmla="*/ 325717 h 606369"/>
              <a:gd name="connsiteX30" fmla="*/ 460087 w 607215"/>
              <a:gd name="connsiteY30" fmla="*/ 325717 h 606369"/>
              <a:gd name="connsiteX31" fmla="*/ 437523 w 607215"/>
              <a:gd name="connsiteY31" fmla="*/ 303185 h 606369"/>
              <a:gd name="connsiteX32" fmla="*/ 460087 w 607215"/>
              <a:gd name="connsiteY32" fmla="*/ 280652 h 606369"/>
              <a:gd name="connsiteX33" fmla="*/ 561083 w 607215"/>
              <a:gd name="connsiteY33" fmla="*/ 280652 h 606369"/>
              <a:gd name="connsiteX34" fmla="*/ 486360 w 607215"/>
              <a:gd name="connsiteY34" fmla="*/ 120687 h 606369"/>
              <a:gd name="connsiteX35" fmla="*/ 326172 w 607215"/>
              <a:gd name="connsiteY35" fmla="*/ 46068 h 606369"/>
              <a:gd name="connsiteX36" fmla="*/ 326172 w 607215"/>
              <a:gd name="connsiteY36" fmla="*/ 146923 h 606369"/>
              <a:gd name="connsiteX37" fmla="*/ 303608 w 607215"/>
              <a:gd name="connsiteY37" fmla="*/ 169533 h 606369"/>
              <a:gd name="connsiteX38" fmla="*/ 281043 w 607215"/>
              <a:gd name="connsiteY38" fmla="*/ 146923 h 606369"/>
              <a:gd name="connsiteX39" fmla="*/ 281617 w 607215"/>
              <a:gd name="connsiteY39" fmla="*/ 45548 h 606369"/>
              <a:gd name="connsiteX40" fmla="*/ 281617 w 607215"/>
              <a:gd name="connsiteY40" fmla="*/ 146935 h 606369"/>
              <a:gd name="connsiteX41" fmla="*/ 303640 w 607215"/>
              <a:gd name="connsiteY41" fmla="*/ 169002 h 606369"/>
              <a:gd name="connsiteX42" fmla="*/ 325741 w 607215"/>
              <a:gd name="connsiteY42" fmla="*/ 146935 h 606369"/>
              <a:gd name="connsiteX43" fmla="*/ 325741 w 607215"/>
              <a:gd name="connsiteY43" fmla="*/ 45548 h 606369"/>
              <a:gd name="connsiteX44" fmla="*/ 561663 w 607215"/>
              <a:gd name="connsiteY44" fmla="*/ 281192 h 606369"/>
              <a:gd name="connsiteX45" fmla="*/ 460123 w 607215"/>
              <a:gd name="connsiteY45" fmla="*/ 281192 h 606369"/>
              <a:gd name="connsiteX46" fmla="*/ 438022 w 607215"/>
              <a:gd name="connsiteY46" fmla="*/ 303182 h 606369"/>
              <a:gd name="connsiteX47" fmla="*/ 460123 w 607215"/>
              <a:gd name="connsiteY47" fmla="*/ 325250 h 606369"/>
              <a:gd name="connsiteX48" fmla="*/ 561663 w 607215"/>
              <a:gd name="connsiteY48" fmla="*/ 325250 h 606369"/>
              <a:gd name="connsiteX49" fmla="*/ 325741 w 607215"/>
              <a:gd name="connsiteY49" fmla="*/ 560815 h 606369"/>
              <a:gd name="connsiteX50" fmla="*/ 325741 w 607215"/>
              <a:gd name="connsiteY50" fmla="*/ 459429 h 606369"/>
              <a:gd name="connsiteX51" fmla="*/ 303640 w 607215"/>
              <a:gd name="connsiteY51" fmla="*/ 437361 h 606369"/>
              <a:gd name="connsiteX52" fmla="*/ 281617 w 607215"/>
              <a:gd name="connsiteY52" fmla="*/ 459429 h 606369"/>
              <a:gd name="connsiteX53" fmla="*/ 281617 w 607215"/>
              <a:gd name="connsiteY53" fmla="*/ 560815 h 606369"/>
              <a:gd name="connsiteX54" fmla="*/ 45616 w 607215"/>
              <a:gd name="connsiteY54" fmla="*/ 325250 h 606369"/>
              <a:gd name="connsiteX55" fmla="*/ 147157 w 607215"/>
              <a:gd name="connsiteY55" fmla="*/ 325250 h 606369"/>
              <a:gd name="connsiteX56" fmla="*/ 169257 w 607215"/>
              <a:gd name="connsiteY56" fmla="*/ 303182 h 606369"/>
              <a:gd name="connsiteX57" fmla="*/ 147157 w 607215"/>
              <a:gd name="connsiteY57" fmla="*/ 281192 h 606369"/>
              <a:gd name="connsiteX58" fmla="*/ 45616 w 607215"/>
              <a:gd name="connsiteY58" fmla="*/ 281192 h 606369"/>
              <a:gd name="connsiteX59" fmla="*/ 281617 w 607215"/>
              <a:gd name="connsiteY59" fmla="*/ 45548 h 606369"/>
              <a:gd name="connsiteX60" fmla="*/ 281508 w 607215"/>
              <a:gd name="connsiteY60" fmla="*/ 44987 h 606369"/>
              <a:gd name="connsiteX61" fmla="*/ 120160 w 607215"/>
              <a:gd name="connsiteY61" fmla="*/ 119993 h 606369"/>
              <a:gd name="connsiteX62" fmla="*/ 45050 w 607215"/>
              <a:gd name="connsiteY62" fmla="*/ 281115 h 606369"/>
              <a:gd name="connsiteX63" fmla="*/ 45050 w 607215"/>
              <a:gd name="connsiteY63" fmla="*/ 281655 h 606369"/>
              <a:gd name="connsiteX64" fmla="*/ 147128 w 607215"/>
              <a:gd name="connsiteY64" fmla="*/ 281655 h 606369"/>
              <a:gd name="connsiteX65" fmla="*/ 168688 w 607215"/>
              <a:gd name="connsiteY65" fmla="*/ 303185 h 606369"/>
              <a:gd name="connsiteX66" fmla="*/ 147128 w 607215"/>
              <a:gd name="connsiteY66" fmla="*/ 324714 h 606369"/>
              <a:gd name="connsiteX67" fmla="*/ 45050 w 607215"/>
              <a:gd name="connsiteY67" fmla="*/ 324714 h 606369"/>
              <a:gd name="connsiteX68" fmla="*/ 45050 w 607215"/>
              <a:gd name="connsiteY68" fmla="*/ 325254 h 606369"/>
              <a:gd name="connsiteX69" fmla="*/ 120160 w 607215"/>
              <a:gd name="connsiteY69" fmla="*/ 486454 h 606369"/>
              <a:gd name="connsiteX70" fmla="*/ 281508 w 607215"/>
              <a:gd name="connsiteY70" fmla="*/ 561382 h 606369"/>
              <a:gd name="connsiteX71" fmla="*/ 282048 w 607215"/>
              <a:gd name="connsiteY71" fmla="*/ 561459 h 606369"/>
              <a:gd name="connsiteX72" fmla="*/ 282048 w 607215"/>
              <a:gd name="connsiteY72" fmla="*/ 459446 h 606369"/>
              <a:gd name="connsiteX73" fmla="*/ 303608 w 607215"/>
              <a:gd name="connsiteY73" fmla="*/ 437916 h 606369"/>
              <a:gd name="connsiteX74" fmla="*/ 325167 w 607215"/>
              <a:gd name="connsiteY74" fmla="*/ 459446 h 606369"/>
              <a:gd name="connsiteX75" fmla="*/ 325167 w 607215"/>
              <a:gd name="connsiteY75" fmla="*/ 561459 h 606369"/>
              <a:gd name="connsiteX76" fmla="*/ 325708 w 607215"/>
              <a:gd name="connsiteY76" fmla="*/ 561382 h 606369"/>
              <a:gd name="connsiteX77" fmla="*/ 487132 w 607215"/>
              <a:gd name="connsiteY77" fmla="*/ 486454 h 606369"/>
              <a:gd name="connsiteX78" fmla="*/ 562165 w 607215"/>
              <a:gd name="connsiteY78" fmla="*/ 325254 h 606369"/>
              <a:gd name="connsiteX79" fmla="*/ 562242 w 607215"/>
              <a:gd name="connsiteY79" fmla="*/ 324714 h 606369"/>
              <a:gd name="connsiteX80" fmla="*/ 460087 w 607215"/>
              <a:gd name="connsiteY80" fmla="*/ 324714 h 606369"/>
              <a:gd name="connsiteX81" fmla="*/ 438527 w 607215"/>
              <a:gd name="connsiteY81" fmla="*/ 303185 h 606369"/>
              <a:gd name="connsiteX82" fmla="*/ 460087 w 607215"/>
              <a:gd name="connsiteY82" fmla="*/ 281655 h 606369"/>
              <a:gd name="connsiteX83" fmla="*/ 562242 w 607215"/>
              <a:gd name="connsiteY83" fmla="*/ 281655 h 606369"/>
              <a:gd name="connsiteX84" fmla="*/ 562165 w 607215"/>
              <a:gd name="connsiteY84" fmla="*/ 281115 h 606369"/>
              <a:gd name="connsiteX85" fmla="*/ 487132 w 607215"/>
              <a:gd name="connsiteY85" fmla="*/ 119993 h 606369"/>
              <a:gd name="connsiteX86" fmla="*/ 325708 w 607215"/>
              <a:gd name="connsiteY86" fmla="*/ 44987 h 606369"/>
              <a:gd name="connsiteX87" fmla="*/ 325167 w 607215"/>
              <a:gd name="connsiteY87" fmla="*/ 44987 h 606369"/>
              <a:gd name="connsiteX88" fmla="*/ 325167 w 607215"/>
              <a:gd name="connsiteY88" fmla="*/ 146923 h 606369"/>
              <a:gd name="connsiteX89" fmla="*/ 303608 w 607215"/>
              <a:gd name="connsiteY89" fmla="*/ 168453 h 606369"/>
              <a:gd name="connsiteX90" fmla="*/ 282048 w 607215"/>
              <a:gd name="connsiteY90" fmla="*/ 146923 h 606369"/>
              <a:gd name="connsiteX91" fmla="*/ 282048 w 607215"/>
              <a:gd name="connsiteY91" fmla="*/ 44987 h 606369"/>
              <a:gd name="connsiteX92" fmla="*/ 303608 w 607215"/>
              <a:gd name="connsiteY92" fmla="*/ 1003 h 606369"/>
              <a:gd name="connsiteX93" fmla="*/ 421450 w 607215"/>
              <a:gd name="connsiteY93" fmla="*/ 24770 h 606369"/>
              <a:gd name="connsiteX94" fmla="*/ 517578 w 607215"/>
              <a:gd name="connsiteY94" fmla="*/ 89512 h 606369"/>
              <a:gd name="connsiteX95" fmla="*/ 582410 w 607215"/>
              <a:gd name="connsiteY95" fmla="*/ 185584 h 606369"/>
              <a:gd name="connsiteX96" fmla="*/ 606211 w 607215"/>
              <a:gd name="connsiteY96" fmla="*/ 303185 h 606369"/>
              <a:gd name="connsiteX97" fmla="*/ 582410 w 607215"/>
              <a:gd name="connsiteY97" fmla="*/ 420863 h 606369"/>
              <a:gd name="connsiteX98" fmla="*/ 517578 w 607215"/>
              <a:gd name="connsiteY98" fmla="*/ 516857 h 606369"/>
              <a:gd name="connsiteX99" fmla="*/ 421450 w 607215"/>
              <a:gd name="connsiteY99" fmla="*/ 581599 h 606369"/>
              <a:gd name="connsiteX100" fmla="*/ 303608 w 607215"/>
              <a:gd name="connsiteY100" fmla="*/ 605366 h 606369"/>
              <a:gd name="connsiteX101" fmla="*/ 185842 w 607215"/>
              <a:gd name="connsiteY101" fmla="*/ 581599 h 606369"/>
              <a:gd name="connsiteX102" fmla="*/ 89637 w 607215"/>
              <a:gd name="connsiteY102" fmla="*/ 516857 h 606369"/>
              <a:gd name="connsiteX103" fmla="*/ 24805 w 607215"/>
              <a:gd name="connsiteY103" fmla="*/ 420863 h 606369"/>
              <a:gd name="connsiteX104" fmla="*/ 1004 w 607215"/>
              <a:gd name="connsiteY104" fmla="*/ 303185 h 606369"/>
              <a:gd name="connsiteX105" fmla="*/ 24805 w 607215"/>
              <a:gd name="connsiteY105" fmla="*/ 185584 h 606369"/>
              <a:gd name="connsiteX106" fmla="*/ 89637 w 607215"/>
              <a:gd name="connsiteY106" fmla="*/ 89512 h 606369"/>
              <a:gd name="connsiteX107" fmla="*/ 185842 w 607215"/>
              <a:gd name="connsiteY107" fmla="*/ 24770 h 606369"/>
              <a:gd name="connsiteX108" fmla="*/ 303608 w 607215"/>
              <a:gd name="connsiteY108" fmla="*/ 1003 h 606369"/>
              <a:gd name="connsiteX109" fmla="*/ 303640 w 607215"/>
              <a:gd name="connsiteY109" fmla="*/ 565 h 606369"/>
              <a:gd name="connsiteX110" fmla="*/ 185640 w 607215"/>
              <a:gd name="connsiteY110" fmla="*/ 24330 h 606369"/>
              <a:gd name="connsiteX111" fmla="*/ 89354 w 607215"/>
              <a:gd name="connsiteY111" fmla="*/ 89220 h 606369"/>
              <a:gd name="connsiteX112" fmla="*/ 24366 w 607215"/>
              <a:gd name="connsiteY112" fmla="*/ 185360 h 606369"/>
              <a:gd name="connsiteX113" fmla="*/ 565 w 607215"/>
              <a:gd name="connsiteY113" fmla="*/ 303182 h 606369"/>
              <a:gd name="connsiteX114" fmla="*/ 24366 w 607215"/>
              <a:gd name="connsiteY114" fmla="*/ 421004 h 606369"/>
              <a:gd name="connsiteX115" fmla="*/ 89354 w 607215"/>
              <a:gd name="connsiteY115" fmla="*/ 517221 h 606369"/>
              <a:gd name="connsiteX116" fmla="*/ 185640 w 607215"/>
              <a:gd name="connsiteY116" fmla="*/ 582034 h 606369"/>
              <a:gd name="connsiteX117" fmla="*/ 303640 w 607215"/>
              <a:gd name="connsiteY117" fmla="*/ 605876 h 606369"/>
              <a:gd name="connsiteX118" fmla="*/ 421640 w 607215"/>
              <a:gd name="connsiteY118" fmla="*/ 582034 h 606369"/>
              <a:gd name="connsiteX119" fmla="*/ 518003 w 607215"/>
              <a:gd name="connsiteY119" fmla="*/ 517221 h 606369"/>
              <a:gd name="connsiteX120" fmla="*/ 582914 w 607215"/>
              <a:gd name="connsiteY120" fmla="*/ 421004 h 606369"/>
              <a:gd name="connsiteX121" fmla="*/ 606792 w 607215"/>
              <a:gd name="connsiteY121" fmla="*/ 303182 h 606369"/>
              <a:gd name="connsiteX122" fmla="*/ 582914 w 607215"/>
              <a:gd name="connsiteY122" fmla="*/ 185360 h 606369"/>
              <a:gd name="connsiteX123" fmla="*/ 518003 w 607215"/>
              <a:gd name="connsiteY123" fmla="*/ 89220 h 606369"/>
              <a:gd name="connsiteX124" fmla="*/ 421640 w 607215"/>
              <a:gd name="connsiteY124" fmla="*/ 24330 h 606369"/>
              <a:gd name="connsiteX125" fmla="*/ 303640 w 607215"/>
              <a:gd name="connsiteY125" fmla="*/ 565 h 606369"/>
              <a:gd name="connsiteX126" fmla="*/ 303608 w 607215"/>
              <a:gd name="connsiteY126" fmla="*/ 0 h 606369"/>
              <a:gd name="connsiteX127" fmla="*/ 421836 w 607215"/>
              <a:gd name="connsiteY127" fmla="*/ 23844 h 606369"/>
              <a:gd name="connsiteX128" fmla="*/ 518351 w 607215"/>
              <a:gd name="connsiteY128" fmla="*/ 88818 h 606369"/>
              <a:gd name="connsiteX129" fmla="*/ 583338 w 607215"/>
              <a:gd name="connsiteY129" fmla="*/ 185198 h 606369"/>
              <a:gd name="connsiteX130" fmla="*/ 607215 w 607215"/>
              <a:gd name="connsiteY130" fmla="*/ 303185 h 606369"/>
              <a:gd name="connsiteX131" fmla="*/ 583338 w 607215"/>
              <a:gd name="connsiteY131" fmla="*/ 421248 h 606369"/>
              <a:gd name="connsiteX132" fmla="*/ 518351 w 607215"/>
              <a:gd name="connsiteY132" fmla="*/ 517629 h 606369"/>
              <a:gd name="connsiteX133" fmla="*/ 421836 w 607215"/>
              <a:gd name="connsiteY133" fmla="*/ 582525 h 606369"/>
              <a:gd name="connsiteX134" fmla="*/ 303608 w 607215"/>
              <a:gd name="connsiteY134" fmla="*/ 606369 h 606369"/>
              <a:gd name="connsiteX135" fmla="*/ 185456 w 607215"/>
              <a:gd name="connsiteY135" fmla="*/ 582525 h 606369"/>
              <a:gd name="connsiteX136" fmla="*/ 88942 w 607215"/>
              <a:gd name="connsiteY136" fmla="*/ 517629 h 606369"/>
              <a:gd name="connsiteX137" fmla="*/ 23877 w 607215"/>
              <a:gd name="connsiteY137" fmla="*/ 421248 h 606369"/>
              <a:gd name="connsiteX138" fmla="*/ 0 w 607215"/>
              <a:gd name="connsiteY138" fmla="*/ 303185 h 606369"/>
              <a:gd name="connsiteX139" fmla="*/ 23877 w 607215"/>
              <a:gd name="connsiteY139" fmla="*/ 185198 h 606369"/>
              <a:gd name="connsiteX140" fmla="*/ 88942 w 607215"/>
              <a:gd name="connsiteY140" fmla="*/ 88818 h 606369"/>
              <a:gd name="connsiteX141" fmla="*/ 185456 w 607215"/>
              <a:gd name="connsiteY141" fmla="*/ 23844 h 606369"/>
              <a:gd name="connsiteX142" fmla="*/ 303608 w 607215"/>
              <a:gd name="connsiteY142" fmla="*/ 0 h 6063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Lst>
            <a:rect l="l" t="t" r="r" b="b"/>
            <a:pathLst>
              <a:path w="607215" h="606369">
                <a:moveTo>
                  <a:pt x="303643" y="280873"/>
                </a:moveTo>
                <a:cubicBezTo>
                  <a:pt x="315552" y="280873"/>
                  <a:pt x="325219" y="290523"/>
                  <a:pt x="325219" y="302335"/>
                </a:cubicBezTo>
                <a:cubicBezTo>
                  <a:pt x="325219" y="314223"/>
                  <a:pt x="315552" y="323873"/>
                  <a:pt x="303643" y="323873"/>
                </a:cubicBezTo>
                <a:cubicBezTo>
                  <a:pt x="291734" y="323873"/>
                  <a:pt x="282068" y="314223"/>
                  <a:pt x="282068" y="302335"/>
                </a:cubicBezTo>
                <a:cubicBezTo>
                  <a:pt x="282068" y="290523"/>
                  <a:pt x="291734" y="280873"/>
                  <a:pt x="303643" y="280873"/>
                </a:cubicBezTo>
                <a:close/>
                <a:moveTo>
                  <a:pt x="303678" y="280357"/>
                </a:moveTo>
                <a:cubicBezTo>
                  <a:pt x="291499" y="280357"/>
                  <a:pt x="281626" y="290214"/>
                  <a:pt x="281626" y="302374"/>
                </a:cubicBezTo>
                <a:cubicBezTo>
                  <a:pt x="281626" y="314534"/>
                  <a:pt x="291499" y="324391"/>
                  <a:pt x="303678" y="324391"/>
                </a:cubicBezTo>
                <a:cubicBezTo>
                  <a:pt x="315857" y="324391"/>
                  <a:pt x="325730" y="314534"/>
                  <a:pt x="325730" y="302374"/>
                </a:cubicBezTo>
                <a:cubicBezTo>
                  <a:pt x="325730" y="290214"/>
                  <a:pt x="315857" y="280357"/>
                  <a:pt x="303678" y="280357"/>
                </a:cubicBezTo>
                <a:close/>
                <a:moveTo>
                  <a:pt x="303643" y="279792"/>
                </a:moveTo>
                <a:cubicBezTo>
                  <a:pt x="316094" y="279792"/>
                  <a:pt x="326224" y="289905"/>
                  <a:pt x="326224" y="302335"/>
                </a:cubicBezTo>
                <a:cubicBezTo>
                  <a:pt x="326224" y="314841"/>
                  <a:pt x="316094" y="324954"/>
                  <a:pt x="303643" y="324954"/>
                </a:cubicBezTo>
                <a:cubicBezTo>
                  <a:pt x="291193" y="324954"/>
                  <a:pt x="281062" y="314841"/>
                  <a:pt x="281062" y="302335"/>
                </a:cubicBezTo>
                <a:cubicBezTo>
                  <a:pt x="281062" y="289905"/>
                  <a:pt x="291193" y="279792"/>
                  <a:pt x="303643" y="279792"/>
                </a:cubicBezTo>
                <a:close/>
                <a:moveTo>
                  <a:pt x="281043" y="46068"/>
                </a:moveTo>
                <a:cubicBezTo>
                  <a:pt x="220693" y="51315"/>
                  <a:pt x="163820" y="77783"/>
                  <a:pt x="120855" y="120687"/>
                </a:cubicBezTo>
                <a:cubicBezTo>
                  <a:pt x="77891" y="163591"/>
                  <a:pt x="51387" y="220385"/>
                  <a:pt x="46132" y="280652"/>
                </a:cubicBezTo>
                <a:lnTo>
                  <a:pt x="147128" y="280652"/>
                </a:lnTo>
                <a:cubicBezTo>
                  <a:pt x="159647" y="280652"/>
                  <a:pt x="169770" y="290761"/>
                  <a:pt x="169770" y="303185"/>
                </a:cubicBezTo>
                <a:cubicBezTo>
                  <a:pt x="169770" y="315608"/>
                  <a:pt x="159647" y="325717"/>
                  <a:pt x="147128" y="325717"/>
                </a:cubicBezTo>
                <a:lnTo>
                  <a:pt x="46132" y="325717"/>
                </a:lnTo>
                <a:cubicBezTo>
                  <a:pt x="51387" y="385984"/>
                  <a:pt x="77891" y="442778"/>
                  <a:pt x="120855" y="485682"/>
                </a:cubicBezTo>
                <a:cubicBezTo>
                  <a:pt x="163820" y="528586"/>
                  <a:pt x="220693" y="555131"/>
                  <a:pt x="281043" y="560301"/>
                </a:cubicBezTo>
                <a:lnTo>
                  <a:pt x="281043" y="459446"/>
                </a:lnTo>
                <a:cubicBezTo>
                  <a:pt x="281043" y="447022"/>
                  <a:pt x="291167" y="436913"/>
                  <a:pt x="303608" y="436913"/>
                </a:cubicBezTo>
                <a:cubicBezTo>
                  <a:pt x="316049" y="436913"/>
                  <a:pt x="326172" y="447022"/>
                  <a:pt x="326172" y="459446"/>
                </a:cubicBezTo>
                <a:lnTo>
                  <a:pt x="326172" y="560301"/>
                </a:lnTo>
                <a:cubicBezTo>
                  <a:pt x="386522" y="555131"/>
                  <a:pt x="443395" y="528586"/>
                  <a:pt x="486360" y="485682"/>
                </a:cubicBezTo>
                <a:cubicBezTo>
                  <a:pt x="529324" y="442778"/>
                  <a:pt x="555906" y="385984"/>
                  <a:pt x="561083" y="325717"/>
                </a:cubicBezTo>
                <a:lnTo>
                  <a:pt x="460087" y="325717"/>
                </a:lnTo>
                <a:cubicBezTo>
                  <a:pt x="447645" y="325717"/>
                  <a:pt x="437523" y="315608"/>
                  <a:pt x="437523" y="303185"/>
                </a:cubicBezTo>
                <a:cubicBezTo>
                  <a:pt x="437523" y="290761"/>
                  <a:pt x="447645" y="280652"/>
                  <a:pt x="460087" y="280652"/>
                </a:cubicBezTo>
                <a:lnTo>
                  <a:pt x="561083" y="280652"/>
                </a:lnTo>
                <a:cubicBezTo>
                  <a:pt x="555906" y="220385"/>
                  <a:pt x="529324" y="163591"/>
                  <a:pt x="486360" y="120687"/>
                </a:cubicBezTo>
                <a:cubicBezTo>
                  <a:pt x="443395" y="77783"/>
                  <a:pt x="386522" y="51315"/>
                  <a:pt x="326172" y="46068"/>
                </a:cubicBezTo>
                <a:lnTo>
                  <a:pt x="326172" y="146923"/>
                </a:lnTo>
                <a:cubicBezTo>
                  <a:pt x="326172" y="159424"/>
                  <a:pt x="316049" y="169533"/>
                  <a:pt x="303608" y="169533"/>
                </a:cubicBezTo>
                <a:cubicBezTo>
                  <a:pt x="291167" y="169533"/>
                  <a:pt x="281043" y="159424"/>
                  <a:pt x="281043" y="146923"/>
                </a:cubicBezTo>
                <a:close/>
                <a:moveTo>
                  <a:pt x="281617" y="45548"/>
                </a:moveTo>
                <a:lnTo>
                  <a:pt x="281617" y="146935"/>
                </a:lnTo>
                <a:cubicBezTo>
                  <a:pt x="281617" y="159126"/>
                  <a:pt x="291431" y="169002"/>
                  <a:pt x="303640" y="169002"/>
                </a:cubicBezTo>
                <a:cubicBezTo>
                  <a:pt x="315850" y="169002"/>
                  <a:pt x="325741" y="159126"/>
                  <a:pt x="325741" y="146935"/>
                </a:cubicBezTo>
                <a:lnTo>
                  <a:pt x="325741" y="45548"/>
                </a:lnTo>
                <a:cubicBezTo>
                  <a:pt x="451159" y="56119"/>
                  <a:pt x="551077" y="155963"/>
                  <a:pt x="561663" y="281192"/>
                </a:cubicBezTo>
                <a:lnTo>
                  <a:pt x="460123" y="281192"/>
                </a:lnTo>
                <a:cubicBezTo>
                  <a:pt x="447914" y="281192"/>
                  <a:pt x="438022" y="290991"/>
                  <a:pt x="438022" y="303182"/>
                </a:cubicBezTo>
                <a:cubicBezTo>
                  <a:pt x="438022" y="315373"/>
                  <a:pt x="447914" y="325250"/>
                  <a:pt x="460123" y="325250"/>
                </a:cubicBezTo>
                <a:lnTo>
                  <a:pt x="561663" y="325250"/>
                </a:lnTo>
                <a:cubicBezTo>
                  <a:pt x="551077" y="450478"/>
                  <a:pt x="451159" y="550245"/>
                  <a:pt x="325741" y="560815"/>
                </a:cubicBezTo>
                <a:lnTo>
                  <a:pt x="325741" y="459429"/>
                </a:lnTo>
                <a:cubicBezTo>
                  <a:pt x="325741" y="447238"/>
                  <a:pt x="315850" y="437361"/>
                  <a:pt x="303640" y="437361"/>
                </a:cubicBezTo>
                <a:cubicBezTo>
                  <a:pt x="291431" y="437361"/>
                  <a:pt x="281617" y="447238"/>
                  <a:pt x="281617" y="459429"/>
                </a:cubicBezTo>
                <a:lnTo>
                  <a:pt x="281617" y="560815"/>
                </a:lnTo>
                <a:cubicBezTo>
                  <a:pt x="156198" y="550245"/>
                  <a:pt x="56203" y="450478"/>
                  <a:pt x="45616" y="325250"/>
                </a:cubicBezTo>
                <a:lnTo>
                  <a:pt x="147157" y="325250"/>
                </a:lnTo>
                <a:cubicBezTo>
                  <a:pt x="159366" y="325250"/>
                  <a:pt x="169257" y="315373"/>
                  <a:pt x="169257" y="303182"/>
                </a:cubicBezTo>
                <a:cubicBezTo>
                  <a:pt x="169257" y="290991"/>
                  <a:pt x="159366" y="281192"/>
                  <a:pt x="147157" y="281192"/>
                </a:cubicBezTo>
                <a:lnTo>
                  <a:pt x="45616" y="281192"/>
                </a:lnTo>
                <a:cubicBezTo>
                  <a:pt x="56203" y="155963"/>
                  <a:pt x="156198" y="56119"/>
                  <a:pt x="281617" y="45548"/>
                </a:cubicBezTo>
                <a:close/>
                <a:moveTo>
                  <a:pt x="281508" y="44987"/>
                </a:moveTo>
                <a:cubicBezTo>
                  <a:pt x="220693" y="50158"/>
                  <a:pt x="163433" y="76780"/>
                  <a:pt x="120160" y="119993"/>
                </a:cubicBezTo>
                <a:cubicBezTo>
                  <a:pt x="76887" y="163205"/>
                  <a:pt x="50228" y="220385"/>
                  <a:pt x="45050" y="281115"/>
                </a:cubicBezTo>
                <a:lnTo>
                  <a:pt x="45050" y="281655"/>
                </a:lnTo>
                <a:lnTo>
                  <a:pt x="147128" y="281655"/>
                </a:lnTo>
                <a:cubicBezTo>
                  <a:pt x="159029" y="281655"/>
                  <a:pt x="168688" y="291301"/>
                  <a:pt x="168688" y="303185"/>
                </a:cubicBezTo>
                <a:cubicBezTo>
                  <a:pt x="168688" y="315068"/>
                  <a:pt x="159029" y="324714"/>
                  <a:pt x="147128" y="324714"/>
                </a:cubicBezTo>
                <a:lnTo>
                  <a:pt x="45050" y="324714"/>
                </a:lnTo>
                <a:lnTo>
                  <a:pt x="45050" y="325254"/>
                </a:lnTo>
                <a:cubicBezTo>
                  <a:pt x="50228" y="385984"/>
                  <a:pt x="76887" y="443241"/>
                  <a:pt x="120160" y="486454"/>
                </a:cubicBezTo>
                <a:cubicBezTo>
                  <a:pt x="163433" y="529666"/>
                  <a:pt x="220693" y="556289"/>
                  <a:pt x="281508" y="561382"/>
                </a:cubicBezTo>
                <a:lnTo>
                  <a:pt x="282048" y="561459"/>
                </a:lnTo>
                <a:lnTo>
                  <a:pt x="282048" y="459446"/>
                </a:lnTo>
                <a:cubicBezTo>
                  <a:pt x="282048" y="447562"/>
                  <a:pt x="291708" y="437916"/>
                  <a:pt x="303608" y="437916"/>
                </a:cubicBezTo>
                <a:cubicBezTo>
                  <a:pt x="315508" y="437916"/>
                  <a:pt x="325167" y="447562"/>
                  <a:pt x="325167" y="459446"/>
                </a:cubicBezTo>
                <a:lnTo>
                  <a:pt x="325167" y="561459"/>
                </a:lnTo>
                <a:lnTo>
                  <a:pt x="325708" y="561382"/>
                </a:lnTo>
                <a:cubicBezTo>
                  <a:pt x="386522" y="556289"/>
                  <a:pt x="443859" y="529666"/>
                  <a:pt x="487132" y="486454"/>
                </a:cubicBezTo>
                <a:cubicBezTo>
                  <a:pt x="530405" y="443241"/>
                  <a:pt x="557065" y="385984"/>
                  <a:pt x="562165" y="325254"/>
                </a:cubicBezTo>
                <a:lnTo>
                  <a:pt x="562242" y="324714"/>
                </a:lnTo>
                <a:lnTo>
                  <a:pt x="460087" y="324714"/>
                </a:lnTo>
                <a:cubicBezTo>
                  <a:pt x="448186" y="324714"/>
                  <a:pt x="438527" y="315068"/>
                  <a:pt x="438527" y="303185"/>
                </a:cubicBezTo>
                <a:cubicBezTo>
                  <a:pt x="438527" y="291301"/>
                  <a:pt x="448186" y="281655"/>
                  <a:pt x="460087" y="281655"/>
                </a:cubicBezTo>
                <a:lnTo>
                  <a:pt x="562242" y="281655"/>
                </a:lnTo>
                <a:lnTo>
                  <a:pt x="562165" y="281115"/>
                </a:lnTo>
                <a:cubicBezTo>
                  <a:pt x="557065" y="220385"/>
                  <a:pt x="530405" y="163205"/>
                  <a:pt x="487132" y="119993"/>
                </a:cubicBezTo>
                <a:cubicBezTo>
                  <a:pt x="443859" y="76780"/>
                  <a:pt x="386522" y="50158"/>
                  <a:pt x="325708" y="44987"/>
                </a:cubicBezTo>
                <a:lnTo>
                  <a:pt x="325167" y="44987"/>
                </a:lnTo>
                <a:lnTo>
                  <a:pt x="325167" y="146923"/>
                </a:lnTo>
                <a:cubicBezTo>
                  <a:pt x="325167" y="158807"/>
                  <a:pt x="315508" y="168453"/>
                  <a:pt x="303608" y="168453"/>
                </a:cubicBezTo>
                <a:cubicBezTo>
                  <a:pt x="291708" y="168453"/>
                  <a:pt x="282048" y="158807"/>
                  <a:pt x="282048" y="146923"/>
                </a:cubicBezTo>
                <a:lnTo>
                  <a:pt x="282048" y="44987"/>
                </a:lnTo>
                <a:close/>
                <a:moveTo>
                  <a:pt x="303608" y="1003"/>
                </a:moveTo>
                <a:cubicBezTo>
                  <a:pt x="344485" y="1003"/>
                  <a:pt x="384049" y="9028"/>
                  <a:pt x="421450" y="24770"/>
                </a:cubicBezTo>
                <a:cubicBezTo>
                  <a:pt x="457459" y="40049"/>
                  <a:pt x="489837" y="61810"/>
                  <a:pt x="517578" y="89512"/>
                </a:cubicBezTo>
                <a:cubicBezTo>
                  <a:pt x="545396" y="117292"/>
                  <a:pt x="567188" y="149547"/>
                  <a:pt x="582410" y="185584"/>
                </a:cubicBezTo>
                <a:cubicBezTo>
                  <a:pt x="598174" y="222855"/>
                  <a:pt x="606211" y="262441"/>
                  <a:pt x="606211" y="303185"/>
                </a:cubicBezTo>
                <a:cubicBezTo>
                  <a:pt x="606211" y="344005"/>
                  <a:pt x="598174" y="383514"/>
                  <a:pt x="582410" y="420863"/>
                </a:cubicBezTo>
                <a:cubicBezTo>
                  <a:pt x="567188" y="456822"/>
                  <a:pt x="545396" y="489154"/>
                  <a:pt x="517578" y="516857"/>
                </a:cubicBezTo>
                <a:cubicBezTo>
                  <a:pt x="489837" y="544637"/>
                  <a:pt x="457459" y="566397"/>
                  <a:pt x="421450" y="581599"/>
                </a:cubicBezTo>
                <a:cubicBezTo>
                  <a:pt x="384049" y="597341"/>
                  <a:pt x="344485" y="605366"/>
                  <a:pt x="303608" y="605366"/>
                </a:cubicBezTo>
                <a:cubicBezTo>
                  <a:pt x="262807" y="605366"/>
                  <a:pt x="223166" y="597341"/>
                  <a:pt x="185842" y="581599"/>
                </a:cubicBezTo>
                <a:cubicBezTo>
                  <a:pt x="149756" y="566397"/>
                  <a:pt x="117455" y="544637"/>
                  <a:pt x="89637" y="516857"/>
                </a:cubicBezTo>
                <a:cubicBezTo>
                  <a:pt x="61896" y="489154"/>
                  <a:pt x="40105" y="456822"/>
                  <a:pt x="24805" y="420863"/>
                </a:cubicBezTo>
                <a:cubicBezTo>
                  <a:pt x="9041" y="383514"/>
                  <a:pt x="1004" y="344005"/>
                  <a:pt x="1004" y="303185"/>
                </a:cubicBezTo>
                <a:cubicBezTo>
                  <a:pt x="1004" y="262441"/>
                  <a:pt x="9041" y="222855"/>
                  <a:pt x="24805" y="185584"/>
                </a:cubicBezTo>
                <a:cubicBezTo>
                  <a:pt x="40105" y="149547"/>
                  <a:pt x="61896" y="117292"/>
                  <a:pt x="89637" y="89512"/>
                </a:cubicBezTo>
                <a:cubicBezTo>
                  <a:pt x="117455" y="61810"/>
                  <a:pt x="149756" y="40049"/>
                  <a:pt x="185842" y="24770"/>
                </a:cubicBezTo>
                <a:cubicBezTo>
                  <a:pt x="223166" y="9028"/>
                  <a:pt x="262807" y="1003"/>
                  <a:pt x="303608" y="1003"/>
                </a:cubicBezTo>
                <a:close/>
                <a:moveTo>
                  <a:pt x="303640" y="565"/>
                </a:moveTo>
                <a:cubicBezTo>
                  <a:pt x="262761" y="565"/>
                  <a:pt x="223041" y="8512"/>
                  <a:pt x="185640" y="24330"/>
                </a:cubicBezTo>
                <a:cubicBezTo>
                  <a:pt x="149552" y="39607"/>
                  <a:pt x="117174" y="61366"/>
                  <a:pt x="89354" y="89220"/>
                </a:cubicBezTo>
                <a:cubicBezTo>
                  <a:pt x="61458" y="116997"/>
                  <a:pt x="39666" y="149327"/>
                  <a:pt x="24366" y="185360"/>
                </a:cubicBezTo>
                <a:cubicBezTo>
                  <a:pt x="8524" y="222705"/>
                  <a:pt x="565" y="262365"/>
                  <a:pt x="565" y="303182"/>
                </a:cubicBezTo>
                <a:cubicBezTo>
                  <a:pt x="565" y="343999"/>
                  <a:pt x="8524" y="383659"/>
                  <a:pt x="24366" y="421004"/>
                </a:cubicBezTo>
                <a:cubicBezTo>
                  <a:pt x="39666" y="457037"/>
                  <a:pt x="61458" y="489444"/>
                  <a:pt x="89354" y="517221"/>
                </a:cubicBezTo>
                <a:cubicBezTo>
                  <a:pt x="117174" y="544998"/>
                  <a:pt x="149552" y="566834"/>
                  <a:pt x="185640" y="582034"/>
                </a:cubicBezTo>
                <a:cubicBezTo>
                  <a:pt x="223041" y="597852"/>
                  <a:pt x="262761" y="605876"/>
                  <a:pt x="303640" y="605876"/>
                </a:cubicBezTo>
                <a:cubicBezTo>
                  <a:pt x="344596" y="605876"/>
                  <a:pt x="384239" y="597852"/>
                  <a:pt x="421640" y="582034"/>
                </a:cubicBezTo>
                <a:cubicBezTo>
                  <a:pt x="457728" y="566834"/>
                  <a:pt x="490183" y="544998"/>
                  <a:pt x="518003" y="517221"/>
                </a:cubicBezTo>
                <a:cubicBezTo>
                  <a:pt x="545822" y="489444"/>
                  <a:pt x="567691" y="457037"/>
                  <a:pt x="582914" y="421004"/>
                </a:cubicBezTo>
                <a:cubicBezTo>
                  <a:pt x="598756" y="383659"/>
                  <a:pt x="606792" y="343999"/>
                  <a:pt x="606792" y="303182"/>
                </a:cubicBezTo>
                <a:cubicBezTo>
                  <a:pt x="606792" y="262365"/>
                  <a:pt x="598756" y="222705"/>
                  <a:pt x="582914" y="185360"/>
                </a:cubicBezTo>
                <a:cubicBezTo>
                  <a:pt x="567691" y="149327"/>
                  <a:pt x="545822" y="116997"/>
                  <a:pt x="518003" y="89220"/>
                </a:cubicBezTo>
                <a:cubicBezTo>
                  <a:pt x="490183" y="61366"/>
                  <a:pt x="457728" y="39607"/>
                  <a:pt x="421640" y="24330"/>
                </a:cubicBezTo>
                <a:cubicBezTo>
                  <a:pt x="384239" y="8512"/>
                  <a:pt x="344519" y="565"/>
                  <a:pt x="303640" y="565"/>
                </a:cubicBezTo>
                <a:close/>
                <a:moveTo>
                  <a:pt x="303608" y="0"/>
                </a:moveTo>
                <a:cubicBezTo>
                  <a:pt x="344563" y="0"/>
                  <a:pt x="384359" y="8025"/>
                  <a:pt x="421836" y="23844"/>
                </a:cubicBezTo>
                <a:cubicBezTo>
                  <a:pt x="458000" y="39123"/>
                  <a:pt x="490455" y="60961"/>
                  <a:pt x="518351" y="88818"/>
                </a:cubicBezTo>
                <a:cubicBezTo>
                  <a:pt x="546169" y="116674"/>
                  <a:pt x="568038" y="149084"/>
                  <a:pt x="583338" y="185198"/>
                </a:cubicBezTo>
                <a:cubicBezTo>
                  <a:pt x="599179" y="222546"/>
                  <a:pt x="607215" y="262286"/>
                  <a:pt x="607215" y="303185"/>
                </a:cubicBezTo>
                <a:cubicBezTo>
                  <a:pt x="607215" y="344083"/>
                  <a:pt x="599179" y="383823"/>
                  <a:pt x="583338" y="421248"/>
                </a:cubicBezTo>
                <a:cubicBezTo>
                  <a:pt x="568038" y="457362"/>
                  <a:pt x="546169" y="489772"/>
                  <a:pt x="518351" y="517629"/>
                </a:cubicBezTo>
                <a:cubicBezTo>
                  <a:pt x="490455" y="545408"/>
                  <a:pt x="458000" y="567246"/>
                  <a:pt x="421836" y="582525"/>
                </a:cubicBezTo>
                <a:cubicBezTo>
                  <a:pt x="384359" y="598344"/>
                  <a:pt x="344563" y="606369"/>
                  <a:pt x="303608" y="606369"/>
                </a:cubicBezTo>
                <a:cubicBezTo>
                  <a:pt x="262652" y="606369"/>
                  <a:pt x="222856" y="598344"/>
                  <a:pt x="185456" y="582525"/>
                </a:cubicBezTo>
                <a:cubicBezTo>
                  <a:pt x="149292" y="567246"/>
                  <a:pt x="116760" y="545408"/>
                  <a:pt x="88942" y="517629"/>
                </a:cubicBezTo>
                <a:cubicBezTo>
                  <a:pt x="61046" y="489772"/>
                  <a:pt x="39177" y="457362"/>
                  <a:pt x="23877" y="421248"/>
                </a:cubicBezTo>
                <a:cubicBezTo>
                  <a:pt x="8036" y="383823"/>
                  <a:pt x="0" y="344083"/>
                  <a:pt x="0" y="303185"/>
                </a:cubicBezTo>
                <a:cubicBezTo>
                  <a:pt x="0" y="262286"/>
                  <a:pt x="8036" y="222546"/>
                  <a:pt x="23877" y="185198"/>
                </a:cubicBezTo>
                <a:cubicBezTo>
                  <a:pt x="39177" y="149084"/>
                  <a:pt x="61046" y="116674"/>
                  <a:pt x="88942" y="88818"/>
                </a:cubicBezTo>
                <a:cubicBezTo>
                  <a:pt x="116760" y="60961"/>
                  <a:pt x="149292" y="39123"/>
                  <a:pt x="185456" y="23844"/>
                </a:cubicBezTo>
                <a:cubicBezTo>
                  <a:pt x="222856" y="8025"/>
                  <a:pt x="262652" y="0"/>
                  <a:pt x="303608"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dirty="0"/>
          </a:p>
        </p:txBody>
      </p:sp>
      <p:sp>
        <p:nvSpPr>
          <p:cNvPr id="116" name="文本框 115">
            <a:extLst>
              <a:ext uri="{FF2B5EF4-FFF2-40B4-BE49-F238E27FC236}">
                <a16:creationId xmlns:a16="http://schemas.microsoft.com/office/drawing/2014/main" id="{870FAC35-9B2B-45D8-95AC-F80E41C0FE03}"/>
              </a:ext>
            </a:extLst>
          </p:cNvPr>
          <p:cNvSpPr txBox="1"/>
          <p:nvPr/>
        </p:nvSpPr>
        <p:spPr>
          <a:xfrm>
            <a:off x="373082" y="2808021"/>
            <a:ext cx="1660612" cy="338554"/>
          </a:xfrm>
          <a:prstGeom prst="rect">
            <a:avLst/>
          </a:prstGeom>
          <a:noFill/>
        </p:spPr>
        <p:txBody>
          <a:bodyPr wrap="square" rtlCol="0">
            <a:spAutoFit/>
          </a:bodyPr>
          <a:lstStyle/>
          <a:p>
            <a:r>
              <a:rPr lang="zh-CN" altLang="en-US" sz="1600" dirty="0">
                <a:solidFill>
                  <a:schemeClr val="bg1"/>
                </a:solidFill>
                <a:latin typeface="思源黑体 CN Regular" panose="020B0500000000000000" pitchFamily="34" charset="-122"/>
                <a:ea typeface="思源黑体 CN Regular" panose="020B0500000000000000" pitchFamily="34" charset="-122"/>
              </a:rPr>
              <a:t>研究目标和内容</a:t>
            </a:r>
          </a:p>
        </p:txBody>
      </p:sp>
      <p:sp>
        <p:nvSpPr>
          <p:cNvPr id="117" name="任意矩形：003">
            <a:extLst>
              <a:ext uri="{FF2B5EF4-FFF2-40B4-BE49-F238E27FC236}">
                <a16:creationId xmlns:a16="http://schemas.microsoft.com/office/drawing/2014/main" id="{9533D150-4053-40AC-AFAC-806D22EE0569}"/>
              </a:ext>
            </a:extLst>
          </p:cNvPr>
          <p:cNvSpPr/>
          <p:nvPr/>
        </p:nvSpPr>
        <p:spPr>
          <a:xfrm rot="10800000" flipH="1" flipV="1">
            <a:off x="145020" y="3571293"/>
            <a:ext cx="199667" cy="199477"/>
          </a:xfrm>
          <a:custGeom>
            <a:avLst/>
            <a:gdLst>
              <a:gd name="connsiteX0" fmla="*/ 320200 w 604886"/>
              <a:gd name="connsiteY0" fmla="*/ 166778 h 604313"/>
              <a:gd name="connsiteX1" fmla="*/ 338200 w 604886"/>
              <a:gd name="connsiteY1" fmla="*/ 168153 h 604313"/>
              <a:gd name="connsiteX2" fmla="*/ 394904 w 604886"/>
              <a:gd name="connsiteY2" fmla="*/ 210003 h 604313"/>
              <a:gd name="connsiteX3" fmla="*/ 448997 w 604886"/>
              <a:gd name="connsiteY3" fmla="*/ 297466 h 604313"/>
              <a:gd name="connsiteX4" fmla="*/ 433479 w 604886"/>
              <a:gd name="connsiteY4" fmla="*/ 381599 h 604313"/>
              <a:gd name="connsiteX5" fmla="*/ 230304 w 604886"/>
              <a:gd name="connsiteY5" fmla="*/ 584474 h 604313"/>
              <a:gd name="connsiteX6" fmla="*/ 177952 w 604886"/>
              <a:gd name="connsiteY6" fmla="*/ 604313 h 604313"/>
              <a:gd name="connsiteX7" fmla="*/ 58454 w 604886"/>
              <a:gd name="connsiteY7" fmla="*/ 545956 h 604313"/>
              <a:gd name="connsiteX8" fmla="*/ 19733 w 604886"/>
              <a:gd name="connsiteY8" fmla="*/ 374359 h 604313"/>
              <a:gd name="connsiteX9" fmla="*/ 93549 w 604886"/>
              <a:gd name="connsiteY9" fmla="*/ 300652 h 604313"/>
              <a:gd name="connsiteX10" fmla="*/ 127049 w 604886"/>
              <a:gd name="connsiteY10" fmla="*/ 300652 h 604313"/>
              <a:gd name="connsiteX11" fmla="*/ 127049 w 604886"/>
              <a:gd name="connsiteY11" fmla="*/ 333958 h 604313"/>
              <a:gd name="connsiteX12" fmla="*/ 53233 w 604886"/>
              <a:gd name="connsiteY12" fmla="*/ 407665 h 604313"/>
              <a:gd name="connsiteX13" fmla="*/ 91809 w 604886"/>
              <a:gd name="connsiteY13" fmla="*/ 512650 h 604313"/>
              <a:gd name="connsiteX14" fmla="*/ 196950 w 604886"/>
              <a:gd name="connsiteY14" fmla="*/ 551169 h 604313"/>
              <a:gd name="connsiteX15" fmla="*/ 400124 w 604886"/>
              <a:gd name="connsiteY15" fmla="*/ 348294 h 604313"/>
              <a:gd name="connsiteX16" fmla="*/ 403460 w 604886"/>
              <a:gd name="connsiteY16" fmla="*/ 310065 h 604313"/>
              <a:gd name="connsiteX17" fmla="*/ 361549 w 604886"/>
              <a:gd name="connsiteY17" fmla="*/ 243308 h 604313"/>
              <a:gd name="connsiteX18" fmla="*/ 316737 w 604886"/>
              <a:gd name="connsiteY18" fmla="*/ 210147 h 604313"/>
              <a:gd name="connsiteX19" fmla="*/ 306441 w 604886"/>
              <a:gd name="connsiteY19" fmla="*/ 178435 h 604313"/>
              <a:gd name="connsiteX20" fmla="*/ 320200 w 604886"/>
              <a:gd name="connsiteY20" fmla="*/ 166778 h 604313"/>
              <a:gd name="connsiteX21" fmla="*/ 411085 w 604886"/>
              <a:gd name="connsiteY21" fmla="*/ 1388 h 604313"/>
              <a:gd name="connsiteX22" fmla="*/ 458862 w 604886"/>
              <a:gd name="connsiteY22" fmla="*/ 4683 h 604313"/>
              <a:gd name="connsiteX23" fmla="*/ 546442 w 604886"/>
              <a:gd name="connsiteY23" fmla="*/ 58698 h 604313"/>
              <a:gd name="connsiteX24" fmla="*/ 585156 w 604886"/>
              <a:gd name="connsiteY24" fmla="*/ 230302 h 604313"/>
              <a:gd name="connsiteX25" fmla="*/ 511352 w 604886"/>
              <a:gd name="connsiteY25" fmla="*/ 304012 h 604313"/>
              <a:gd name="connsiteX26" fmla="*/ 477857 w 604886"/>
              <a:gd name="connsiteY26" fmla="*/ 304012 h 604313"/>
              <a:gd name="connsiteX27" fmla="*/ 477857 w 604886"/>
              <a:gd name="connsiteY27" fmla="*/ 270705 h 604313"/>
              <a:gd name="connsiteX28" fmla="*/ 551662 w 604886"/>
              <a:gd name="connsiteY28" fmla="*/ 196995 h 604313"/>
              <a:gd name="connsiteX29" fmla="*/ 513092 w 604886"/>
              <a:gd name="connsiteY29" fmla="*/ 92005 h 604313"/>
              <a:gd name="connsiteX30" fmla="*/ 446247 w 604886"/>
              <a:gd name="connsiteY30" fmla="*/ 50154 h 604313"/>
              <a:gd name="connsiteX31" fmla="*/ 407968 w 604886"/>
              <a:gd name="connsiteY31" fmla="*/ 53485 h 604313"/>
              <a:gd name="connsiteX32" fmla="*/ 204825 w 604886"/>
              <a:gd name="connsiteY32" fmla="*/ 256368 h 604313"/>
              <a:gd name="connsiteX33" fmla="*/ 201490 w 604886"/>
              <a:gd name="connsiteY33" fmla="*/ 294599 h 604313"/>
              <a:gd name="connsiteX34" fmla="*/ 243394 w 604886"/>
              <a:gd name="connsiteY34" fmla="*/ 361358 h 604313"/>
              <a:gd name="connsiteX35" fmla="*/ 288199 w 604886"/>
              <a:gd name="connsiteY35" fmla="*/ 394520 h 604313"/>
              <a:gd name="connsiteX36" fmla="*/ 298494 w 604886"/>
              <a:gd name="connsiteY36" fmla="*/ 426234 h 604313"/>
              <a:gd name="connsiteX37" fmla="*/ 277469 w 604886"/>
              <a:gd name="connsiteY37" fmla="*/ 438978 h 604313"/>
              <a:gd name="connsiteX38" fmla="*/ 266739 w 604886"/>
              <a:gd name="connsiteY38" fmla="*/ 436516 h 604313"/>
              <a:gd name="connsiteX39" fmla="*/ 210044 w 604886"/>
              <a:gd name="connsiteY39" fmla="*/ 394665 h 604313"/>
              <a:gd name="connsiteX40" fmla="*/ 155960 w 604886"/>
              <a:gd name="connsiteY40" fmla="*/ 307198 h 604313"/>
              <a:gd name="connsiteX41" fmla="*/ 171330 w 604886"/>
              <a:gd name="connsiteY41" fmla="*/ 223061 h 604313"/>
              <a:gd name="connsiteX42" fmla="*/ 374618 w 604886"/>
              <a:gd name="connsiteY42" fmla="*/ 20033 h 604313"/>
              <a:gd name="connsiteX43" fmla="*/ 411085 w 604886"/>
              <a:gd name="connsiteY43" fmla="*/ 1388 h 6043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Lst>
            <a:rect l="l" t="t" r="r" b="b"/>
            <a:pathLst>
              <a:path w="604886" h="604313">
                <a:moveTo>
                  <a:pt x="320200" y="166778"/>
                </a:moveTo>
                <a:cubicBezTo>
                  <a:pt x="325946" y="164931"/>
                  <a:pt x="332399" y="165257"/>
                  <a:pt x="338200" y="168153"/>
                </a:cubicBezTo>
                <a:cubicBezTo>
                  <a:pt x="358068" y="178290"/>
                  <a:pt x="377646" y="192771"/>
                  <a:pt x="394904" y="210003"/>
                </a:cubicBezTo>
                <a:cubicBezTo>
                  <a:pt x="421443" y="236358"/>
                  <a:pt x="440585" y="267491"/>
                  <a:pt x="448997" y="297466"/>
                </a:cubicBezTo>
                <a:cubicBezTo>
                  <a:pt x="458568" y="332075"/>
                  <a:pt x="453202" y="362050"/>
                  <a:pt x="433479" y="381599"/>
                </a:cubicBezTo>
                <a:lnTo>
                  <a:pt x="230304" y="584474"/>
                </a:lnTo>
                <a:cubicBezTo>
                  <a:pt x="216962" y="597942"/>
                  <a:pt x="198690" y="604313"/>
                  <a:pt x="177952" y="604313"/>
                </a:cubicBezTo>
                <a:cubicBezTo>
                  <a:pt x="140971" y="604313"/>
                  <a:pt x="96305" y="583750"/>
                  <a:pt x="58454" y="545956"/>
                </a:cubicBezTo>
                <a:cubicBezTo>
                  <a:pt x="-570" y="487019"/>
                  <a:pt x="-17537" y="411575"/>
                  <a:pt x="19733" y="374359"/>
                </a:cubicBezTo>
                <a:lnTo>
                  <a:pt x="93549" y="300652"/>
                </a:lnTo>
                <a:cubicBezTo>
                  <a:pt x="102831" y="291384"/>
                  <a:pt x="117768" y="291384"/>
                  <a:pt x="127049" y="300652"/>
                </a:cubicBezTo>
                <a:cubicBezTo>
                  <a:pt x="136186" y="309775"/>
                  <a:pt x="136186" y="324690"/>
                  <a:pt x="127049" y="333958"/>
                </a:cubicBezTo>
                <a:lnTo>
                  <a:pt x="53233" y="407665"/>
                </a:lnTo>
                <a:cubicBezTo>
                  <a:pt x="37426" y="423304"/>
                  <a:pt x="50623" y="471525"/>
                  <a:pt x="91809" y="512650"/>
                </a:cubicBezTo>
                <a:cubicBezTo>
                  <a:pt x="132995" y="553631"/>
                  <a:pt x="181287" y="566808"/>
                  <a:pt x="196950" y="551169"/>
                </a:cubicBezTo>
                <a:lnTo>
                  <a:pt x="400124" y="348294"/>
                </a:lnTo>
                <a:cubicBezTo>
                  <a:pt x="407085" y="341343"/>
                  <a:pt x="408246" y="327441"/>
                  <a:pt x="403460" y="310065"/>
                </a:cubicBezTo>
                <a:cubicBezTo>
                  <a:pt x="397369" y="288199"/>
                  <a:pt x="381997" y="263871"/>
                  <a:pt x="361549" y="243308"/>
                </a:cubicBezTo>
                <a:cubicBezTo>
                  <a:pt x="347627" y="229552"/>
                  <a:pt x="332254" y="218112"/>
                  <a:pt x="316737" y="210147"/>
                </a:cubicBezTo>
                <a:cubicBezTo>
                  <a:pt x="305135" y="204355"/>
                  <a:pt x="300495" y="190019"/>
                  <a:pt x="306441" y="178435"/>
                </a:cubicBezTo>
                <a:cubicBezTo>
                  <a:pt x="309414" y="172642"/>
                  <a:pt x="314453" y="168624"/>
                  <a:pt x="320200" y="166778"/>
                </a:cubicBezTo>
                <a:close/>
                <a:moveTo>
                  <a:pt x="411085" y="1388"/>
                </a:moveTo>
                <a:cubicBezTo>
                  <a:pt x="425368" y="-1219"/>
                  <a:pt x="441535" y="-169"/>
                  <a:pt x="458862" y="4683"/>
                </a:cubicBezTo>
                <a:cubicBezTo>
                  <a:pt x="488877" y="13082"/>
                  <a:pt x="519907" y="32197"/>
                  <a:pt x="546442" y="58698"/>
                </a:cubicBezTo>
                <a:cubicBezTo>
                  <a:pt x="605456" y="117637"/>
                  <a:pt x="622421" y="192940"/>
                  <a:pt x="585156" y="230302"/>
                </a:cubicBezTo>
                <a:lnTo>
                  <a:pt x="511352" y="304012"/>
                </a:lnTo>
                <a:cubicBezTo>
                  <a:pt x="502072" y="313135"/>
                  <a:pt x="487137" y="313135"/>
                  <a:pt x="477857" y="304012"/>
                </a:cubicBezTo>
                <a:cubicBezTo>
                  <a:pt x="468722" y="294744"/>
                  <a:pt x="468722" y="279828"/>
                  <a:pt x="477857" y="270705"/>
                </a:cubicBezTo>
                <a:lnTo>
                  <a:pt x="551662" y="196995"/>
                </a:lnTo>
                <a:cubicBezTo>
                  <a:pt x="567321" y="181355"/>
                  <a:pt x="554127" y="133132"/>
                  <a:pt x="513092" y="92005"/>
                </a:cubicBezTo>
                <a:cubicBezTo>
                  <a:pt x="492502" y="71586"/>
                  <a:pt x="468142" y="56236"/>
                  <a:pt x="446247" y="50154"/>
                </a:cubicBezTo>
                <a:cubicBezTo>
                  <a:pt x="428848" y="45230"/>
                  <a:pt x="414928" y="46534"/>
                  <a:pt x="407968" y="53485"/>
                </a:cubicBezTo>
                <a:lnTo>
                  <a:pt x="204825" y="256368"/>
                </a:lnTo>
                <a:cubicBezTo>
                  <a:pt x="197865" y="263319"/>
                  <a:pt x="196560" y="277221"/>
                  <a:pt x="201490" y="294599"/>
                </a:cubicBezTo>
                <a:cubicBezTo>
                  <a:pt x="207579" y="316466"/>
                  <a:pt x="222949" y="340795"/>
                  <a:pt x="243394" y="361358"/>
                </a:cubicBezTo>
                <a:cubicBezTo>
                  <a:pt x="257169" y="375115"/>
                  <a:pt x="272684" y="386556"/>
                  <a:pt x="288199" y="394520"/>
                </a:cubicBezTo>
                <a:cubicBezTo>
                  <a:pt x="299799" y="400313"/>
                  <a:pt x="304439" y="414505"/>
                  <a:pt x="298494" y="426234"/>
                </a:cubicBezTo>
                <a:cubicBezTo>
                  <a:pt x="294289" y="434344"/>
                  <a:pt x="286024" y="438978"/>
                  <a:pt x="277469" y="438978"/>
                </a:cubicBezTo>
                <a:cubicBezTo>
                  <a:pt x="273844" y="438978"/>
                  <a:pt x="270219" y="438254"/>
                  <a:pt x="266739" y="436516"/>
                </a:cubicBezTo>
                <a:cubicBezTo>
                  <a:pt x="246874" y="426379"/>
                  <a:pt x="227299" y="411898"/>
                  <a:pt x="210044" y="394665"/>
                </a:cubicBezTo>
                <a:cubicBezTo>
                  <a:pt x="183510" y="368164"/>
                  <a:pt x="164370" y="337174"/>
                  <a:pt x="155960" y="307198"/>
                </a:cubicBezTo>
                <a:cubicBezTo>
                  <a:pt x="146245" y="272587"/>
                  <a:pt x="151755" y="242611"/>
                  <a:pt x="171330" y="223061"/>
                </a:cubicBezTo>
                <a:lnTo>
                  <a:pt x="374618" y="20033"/>
                </a:lnTo>
                <a:cubicBezTo>
                  <a:pt x="384406" y="10258"/>
                  <a:pt x="396803" y="3995"/>
                  <a:pt x="411085" y="1388"/>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118" name="文本框 117">
            <a:extLst>
              <a:ext uri="{FF2B5EF4-FFF2-40B4-BE49-F238E27FC236}">
                <a16:creationId xmlns:a16="http://schemas.microsoft.com/office/drawing/2014/main" id="{C128A8DF-0FF2-4F9D-A308-312F5CD02532}"/>
              </a:ext>
            </a:extLst>
          </p:cNvPr>
          <p:cNvSpPr txBox="1"/>
          <p:nvPr/>
        </p:nvSpPr>
        <p:spPr>
          <a:xfrm>
            <a:off x="373082" y="3517143"/>
            <a:ext cx="1660612" cy="338554"/>
          </a:xfrm>
          <a:prstGeom prst="rect">
            <a:avLst/>
          </a:prstGeom>
          <a:noFill/>
        </p:spPr>
        <p:txBody>
          <a:bodyPr wrap="square" rtlCol="0">
            <a:spAutoFit/>
          </a:bodyPr>
          <a:lstStyle/>
          <a:p>
            <a:r>
              <a:rPr lang="zh-CN" altLang="en-US" sz="1600" dirty="0">
                <a:solidFill>
                  <a:schemeClr val="bg1"/>
                </a:solidFill>
                <a:latin typeface="思源黑体 CN Regular" panose="020B0500000000000000" pitchFamily="34" charset="-122"/>
                <a:ea typeface="思源黑体 CN Regular" panose="020B0500000000000000" pitchFamily="34" charset="-122"/>
              </a:rPr>
              <a:t>研究方法与思路</a:t>
            </a:r>
          </a:p>
        </p:txBody>
      </p:sp>
      <p:sp>
        <p:nvSpPr>
          <p:cNvPr id="119" name="文本框 118">
            <a:extLst>
              <a:ext uri="{FF2B5EF4-FFF2-40B4-BE49-F238E27FC236}">
                <a16:creationId xmlns:a16="http://schemas.microsoft.com/office/drawing/2014/main" id="{23267456-25EA-478C-A294-EE001FB189A4}"/>
              </a:ext>
            </a:extLst>
          </p:cNvPr>
          <p:cNvSpPr txBox="1"/>
          <p:nvPr/>
        </p:nvSpPr>
        <p:spPr>
          <a:xfrm>
            <a:off x="373082" y="4226265"/>
            <a:ext cx="1660612" cy="338554"/>
          </a:xfrm>
          <a:prstGeom prst="rect">
            <a:avLst/>
          </a:prstGeom>
          <a:noFill/>
        </p:spPr>
        <p:txBody>
          <a:bodyPr wrap="square" rtlCol="0">
            <a:spAutoFit/>
          </a:bodyPr>
          <a:lstStyle/>
          <a:p>
            <a:r>
              <a:rPr lang="zh-CN" altLang="en-US" sz="1600" dirty="0">
                <a:solidFill>
                  <a:schemeClr val="bg1"/>
                </a:solidFill>
                <a:latin typeface="思源黑体 CN Regular" panose="020B0500000000000000" pitchFamily="34" charset="-122"/>
                <a:ea typeface="思源黑体 CN Regular" panose="020B0500000000000000" pitchFamily="34" charset="-122"/>
              </a:rPr>
              <a:t>关键技术与创新</a:t>
            </a:r>
          </a:p>
        </p:txBody>
      </p:sp>
      <p:sp>
        <p:nvSpPr>
          <p:cNvPr id="120" name="任意矩形：004">
            <a:extLst>
              <a:ext uri="{FF2B5EF4-FFF2-40B4-BE49-F238E27FC236}">
                <a16:creationId xmlns:a16="http://schemas.microsoft.com/office/drawing/2014/main" id="{0D06917A-C68F-4282-9BB9-F6D841C77B47}"/>
              </a:ext>
            </a:extLst>
          </p:cNvPr>
          <p:cNvSpPr/>
          <p:nvPr/>
        </p:nvSpPr>
        <p:spPr>
          <a:xfrm rot="20700000">
            <a:off x="101744" y="4285500"/>
            <a:ext cx="251496" cy="189307"/>
          </a:xfrm>
          <a:custGeom>
            <a:avLst/>
            <a:gdLst>
              <a:gd name="T0" fmla="*/ 6845 w 7011"/>
              <a:gd name="T1" fmla="*/ 1345 h 5286"/>
              <a:gd name="T2" fmla="*/ 5180 w 7011"/>
              <a:gd name="T3" fmla="*/ 598 h 5286"/>
              <a:gd name="T4" fmla="*/ 5179 w 7011"/>
              <a:gd name="T5" fmla="*/ 598 h 5286"/>
              <a:gd name="T6" fmla="*/ 3505 w 7011"/>
              <a:gd name="T7" fmla="*/ 0 h 5286"/>
              <a:gd name="T8" fmla="*/ 907 w 7011"/>
              <a:gd name="T9" fmla="*/ 2166 h 5286"/>
              <a:gd name="T10" fmla="*/ 167 w 7011"/>
              <a:gd name="T11" fmla="*/ 3741 h 5286"/>
              <a:gd name="T12" fmla="*/ 1605 w 7011"/>
              <a:gd name="T13" fmla="*/ 4477 h 5286"/>
              <a:gd name="T14" fmla="*/ 3505 w 7011"/>
              <a:gd name="T15" fmla="*/ 5286 h 5286"/>
              <a:gd name="T16" fmla="*/ 6136 w 7011"/>
              <a:gd name="T17" fmla="*/ 2888 h 5286"/>
              <a:gd name="T18" fmla="*/ 6845 w 7011"/>
              <a:gd name="T19" fmla="*/ 1345 h 5286"/>
              <a:gd name="T20" fmla="*/ 521 w 7011"/>
              <a:gd name="T21" fmla="*/ 3613 h 5286"/>
              <a:gd name="T22" fmla="*/ 865 w 7011"/>
              <a:gd name="T23" fmla="*/ 2729 h 5286"/>
              <a:gd name="T24" fmla="*/ 1279 w 7011"/>
              <a:gd name="T25" fmla="*/ 4061 h 5286"/>
              <a:gd name="T26" fmla="*/ 521 w 7011"/>
              <a:gd name="T27" fmla="*/ 3613 h 5286"/>
              <a:gd name="T28" fmla="*/ 3507 w 7011"/>
              <a:gd name="T29" fmla="*/ 4909 h 5286"/>
              <a:gd name="T30" fmla="*/ 2171 w 7011"/>
              <a:gd name="T31" fmla="*/ 4472 h 5286"/>
              <a:gd name="T32" fmla="*/ 4051 w 7011"/>
              <a:gd name="T33" fmla="*/ 4060 h 5286"/>
              <a:gd name="T34" fmla="*/ 5695 w 7011"/>
              <a:gd name="T35" fmla="*/ 3233 h 5286"/>
              <a:gd name="T36" fmla="*/ 3507 w 7011"/>
              <a:gd name="T37" fmla="*/ 4909 h 5286"/>
              <a:gd name="T38" fmla="*/ 5772 w 7011"/>
              <a:gd name="T39" fmla="*/ 2705 h 5286"/>
              <a:gd name="T40" fmla="*/ 3924 w 7011"/>
              <a:gd name="T41" fmla="*/ 3706 h 5286"/>
              <a:gd name="T42" fmla="*/ 1779 w 7011"/>
              <a:gd name="T43" fmla="*/ 4108 h 5286"/>
              <a:gd name="T44" fmla="*/ 1240 w 7011"/>
              <a:gd name="T45" fmla="*/ 2642 h 5286"/>
              <a:gd name="T46" fmla="*/ 3507 w 7011"/>
              <a:gd name="T47" fmla="*/ 376 h 5286"/>
              <a:gd name="T48" fmla="*/ 5773 w 7011"/>
              <a:gd name="T49" fmla="*/ 2642 h 5286"/>
              <a:gd name="T50" fmla="*/ 5772 w 7011"/>
              <a:gd name="T51" fmla="*/ 2705 h 5286"/>
              <a:gd name="T52" fmla="*/ 6133 w 7011"/>
              <a:gd name="T53" fmla="*/ 2364 h 5286"/>
              <a:gd name="T54" fmla="*/ 5571 w 7011"/>
              <a:gd name="T55" fmla="*/ 996 h 5286"/>
              <a:gd name="T56" fmla="*/ 6491 w 7011"/>
              <a:gd name="T57" fmla="*/ 1472 h 5286"/>
              <a:gd name="T58" fmla="*/ 6133 w 7011"/>
              <a:gd name="T59" fmla="*/ 2364 h 528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7011" h="5286">
                <a:moveTo>
                  <a:pt x="6845" y="1345"/>
                </a:moveTo>
                <a:cubicBezTo>
                  <a:pt x="6672" y="864"/>
                  <a:pt x="6081" y="598"/>
                  <a:pt x="5180" y="598"/>
                </a:cubicBezTo>
                <a:lnTo>
                  <a:pt x="5179" y="598"/>
                </a:lnTo>
                <a:cubicBezTo>
                  <a:pt x="4723" y="225"/>
                  <a:pt x="4140" y="0"/>
                  <a:pt x="3505" y="0"/>
                </a:cubicBezTo>
                <a:cubicBezTo>
                  <a:pt x="2212" y="0"/>
                  <a:pt x="1132" y="936"/>
                  <a:pt x="907" y="2166"/>
                </a:cubicBezTo>
                <a:cubicBezTo>
                  <a:pt x="264" y="2720"/>
                  <a:pt x="0" y="3278"/>
                  <a:pt x="167" y="3741"/>
                </a:cubicBezTo>
                <a:cubicBezTo>
                  <a:pt x="325" y="4184"/>
                  <a:pt x="863" y="4433"/>
                  <a:pt x="1605" y="4477"/>
                </a:cubicBezTo>
                <a:cubicBezTo>
                  <a:pt x="2087" y="4976"/>
                  <a:pt x="2760" y="5286"/>
                  <a:pt x="3505" y="5286"/>
                </a:cubicBezTo>
                <a:cubicBezTo>
                  <a:pt x="4880" y="5286"/>
                  <a:pt x="6012" y="4232"/>
                  <a:pt x="6136" y="2888"/>
                </a:cubicBezTo>
                <a:cubicBezTo>
                  <a:pt x="6728" y="2364"/>
                  <a:pt x="7011" y="1804"/>
                  <a:pt x="6845" y="1345"/>
                </a:cubicBezTo>
                <a:close/>
                <a:moveTo>
                  <a:pt x="521" y="3613"/>
                </a:moveTo>
                <a:cubicBezTo>
                  <a:pt x="437" y="3380"/>
                  <a:pt x="565" y="3064"/>
                  <a:pt x="865" y="2729"/>
                </a:cubicBezTo>
                <a:cubicBezTo>
                  <a:pt x="881" y="3218"/>
                  <a:pt x="1031" y="3673"/>
                  <a:pt x="1279" y="4061"/>
                </a:cubicBezTo>
                <a:cubicBezTo>
                  <a:pt x="871" y="3988"/>
                  <a:pt x="599" y="3830"/>
                  <a:pt x="521" y="3613"/>
                </a:cubicBezTo>
                <a:close/>
                <a:moveTo>
                  <a:pt x="3507" y="4909"/>
                </a:moveTo>
                <a:cubicBezTo>
                  <a:pt x="3008" y="4909"/>
                  <a:pt x="2545" y="4746"/>
                  <a:pt x="2171" y="4472"/>
                </a:cubicBezTo>
                <a:cubicBezTo>
                  <a:pt x="2740" y="4434"/>
                  <a:pt x="3384" y="4300"/>
                  <a:pt x="4051" y="4060"/>
                </a:cubicBezTo>
                <a:cubicBezTo>
                  <a:pt x="4684" y="3833"/>
                  <a:pt x="5243" y="3546"/>
                  <a:pt x="5695" y="3233"/>
                </a:cubicBezTo>
                <a:cubicBezTo>
                  <a:pt x="5433" y="4197"/>
                  <a:pt x="4552" y="4909"/>
                  <a:pt x="3507" y="4909"/>
                </a:cubicBezTo>
                <a:close/>
                <a:moveTo>
                  <a:pt x="5772" y="2705"/>
                </a:moveTo>
                <a:cubicBezTo>
                  <a:pt x="5328" y="3068"/>
                  <a:pt x="4700" y="3428"/>
                  <a:pt x="3924" y="3706"/>
                </a:cubicBezTo>
                <a:cubicBezTo>
                  <a:pt x="3111" y="3998"/>
                  <a:pt x="2365" y="4117"/>
                  <a:pt x="1779" y="4108"/>
                </a:cubicBezTo>
                <a:cubicBezTo>
                  <a:pt x="1443" y="3712"/>
                  <a:pt x="1240" y="3201"/>
                  <a:pt x="1240" y="2642"/>
                </a:cubicBezTo>
                <a:cubicBezTo>
                  <a:pt x="1240" y="1393"/>
                  <a:pt x="2256" y="376"/>
                  <a:pt x="3507" y="376"/>
                </a:cubicBezTo>
                <a:cubicBezTo>
                  <a:pt x="4756" y="376"/>
                  <a:pt x="5773" y="1393"/>
                  <a:pt x="5773" y="2642"/>
                </a:cubicBezTo>
                <a:cubicBezTo>
                  <a:pt x="5773" y="2664"/>
                  <a:pt x="5772" y="2684"/>
                  <a:pt x="5772" y="2705"/>
                </a:cubicBezTo>
                <a:close/>
                <a:moveTo>
                  <a:pt x="6133" y="2364"/>
                </a:moveTo>
                <a:cubicBezTo>
                  <a:pt x="6079" y="1849"/>
                  <a:pt x="5877" y="1380"/>
                  <a:pt x="5571" y="996"/>
                </a:cubicBezTo>
                <a:cubicBezTo>
                  <a:pt x="6067" y="1053"/>
                  <a:pt x="6401" y="1221"/>
                  <a:pt x="6491" y="1472"/>
                </a:cubicBezTo>
                <a:cubicBezTo>
                  <a:pt x="6573" y="1704"/>
                  <a:pt x="6443" y="2024"/>
                  <a:pt x="6133" y="2364"/>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121" name="文本框 120">
            <a:extLst>
              <a:ext uri="{FF2B5EF4-FFF2-40B4-BE49-F238E27FC236}">
                <a16:creationId xmlns:a16="http://schemas.microsoft.com/office/drawing/2014/main" id="{51C9F3DA-3B74-414E-9DB0-5551334E6642}"/>
              </a:ext>
            </a:extLst>
          </p:cNvPr>
          <p:cNvSpPr txBox="1"/>
          <p:nvPr/>
        </p:nvSpPr>
        <p:spPr>
          <a:xfrm>
            <a:off x="373082" y="4935387"/>
            <a:ext cx="1660612" cy="338554"/>
          </a:xfrm>
          <a:prstGeom prst="rect">
            <a:avLst/>
          </a:prstGeom>
          <a:noFill/>
        </p:spPr>
        <p:txBody>
          <a:bodyPr wrap="square" rtlCol="0">
            <a:spAutoFit/>
          </a:bodyPr>
          <a:lstStyle/>
          <a:p>
            <a:r>
              <a:rPr lang="zh-CN" altLang="en-US" sz="1600" dirty="0">
                <a:solidFill>
                  <a:schemeClr val="bg1"/>
                </a:solidFill>
                <a:latin typeface="思源黑体 CN Regular" panose="020B0500000000000000" pitchFamily="34" charset="-122"/>
                <a:ea typeface="思源黑体 CN Regular" panose="020B0500000000000000" pitchFamily="34" charset="-122"/>
              </a:rPr>
              <a:t>已开展工作</a:t>
            </a:r>
          </a:p>
        </p:txBody>
      </p:sp>
      <p:sp>
        <p:nvSpPr>
          <p:cNvPr id="122" name="任意矩形：005">
            <a:extLst>
              <a:ext uri="{FF2B5EF4-FFF2-40B4-BE49-F238E27FC236}">
                <a16:creationId xmlns:a16="http://schemas.microsoft.com/office/drawing/2014/main" id="{7CD3C82C-DE96-4903-AC80-30B4C170BD9B}"/>
              </a:ext>
            </a:extLst>
          </p:cNvPr>
          <p:cNvSpPr/>
          <p:nvPr/>
        </p:nvSpPr>
        <p:spPr>
          <a:xfrm>
            <a:off x="123946" y="4988361"/>
            <a:ext cx="201734" cy="201828"/>
          </a:xfrm>
          <a:custGeom>
            <a:avLst/>
            <a:gdLst>
              <a:gd name="T0" fmla="*/ 278945 h 440259"/>
              <a:gd name="T1" fmla="*/ 278945 h 440259"/>
              <a:gd name="T2" fmla="*/ 278945 h 440259"/>
              <a:gd name="T3" fmla="*/ 278945 h 440259"/>
              <a:gd name="T4" fmla="*/ 278945 h 440259"/>
              <a:gd name="T5" fmla="*/ 278945 h 440259"/>
              <a:gd name="T6" fmla="*/ 278945 h 440259"/>
              <a:gd name="T7" fmla="*/ 278945 h 440259"/>
              <a:gd name="T8" fmla="*/ 278945 h 440259"/>
              <a:gd name="T9" fmla="*/ 278945 h 440259"/>
              <a:gd name="T10" fmla="*/ 278945 h 440259"/>
              <a:gd name="T11" fmla="*/ 278945 h 440259"/>
              <a:gd name="T12" fmla="*/ 278945 h 440259"/>
              <a:gd name="T13" fmla="*/ 278945 h 440259"/>
              <a:gd name="T14" fmla="*/ 278945 h 440259"/>
              <a:gd name="T15" fmla="*/ 278945 h 440259"/>
              <a:gd name="T16" fmla="*/ 278945 h 440259"/>
              <a:gd name="T17" fmla="*/ 278945 h 440259"/>
              <a:gd name="T18" fmla="*/ 278945 h 440259"/>
              <a:gd name="T19" fmla="*/ 278945 h 440259"/>
              <a:gd name="T20" fmla="*/ 278945 h 440259"/>
              <a:gd name="T21" fmla="*/ 278945 h 440259"/>
              <a:gd name="T22" fmla="*/ 278945 h 440259"/>
              <a:gd name="T23" fmla="*/ 278945 h 440259"/>
              <a:gd name="T24" fmla="*/ 278945 h 440259"/>
              <a:gd name="T25" fmla="*/ 278945 h 440259"/>
              <a:gd name="T26" fmla="*/ 278945 h 440259"/>
              <a:gd name="T27" fmla="*/ 278945 h 440259"/>
              <a:gd name="T28" fmla="*/ 278945 h 440259"/>
              <a:gd name="T29" fmla="*/ 278945 h 440259"/>
              <a:gd name="T30" fmla="*/ 278945 h 440259"/>
              <a:gd name="T31" fmla="*/ 278945 h 440259"/>
              <a:gd name="T32" fmla="*/ 278945 h 440259"/>
              <a:gd name="T33" fmla="*/ 278945 h 440259"/>
              <a:gd name="T34" fmla="*/ 278945 h 440259"/>
              <a:gd name="T35" fmla="*/ 278945 h 440259"/>
              <a:gd name="T36" fmla="*/ 278945 h 440259"/>
              <a:gd name="T37" fmla="*/ 278945 h 440259"/>
              <a:gd name="T38" fmla="*/ 278945 h 440259"/>
              <a:gd name="T39" fmla="*/ 278945 h 440259"/>
              <a:gd name="T40" fmla="*/ 278945 h 440259"/>
              <a:gd name="T41" fmla="*/ 278945 h 440259"/>
              <a:gd name="T42" fmla="*/ 278945 h 440259"/>
              <a:gd name="T43" fmla="*/ 278945 h 440259"/>
              <a:gd name="T44" fmla="*/ 278945 h 440259"/>
              <a:gd name="T45" fmla="*/ 278945 h 440259"/>
              <a:gd name="T46" fmla="*/ 278945 h 440259"/>
              <a:gd name="T47" fmla="*/ 278945 h 440259"/>
              <a:gd name="T48" fmla="*/ 278945 h 440259"/>
              <a:gd name="T49" fmla="*/ 278945 h 440259"/>
              <a:gd name="T50" fmla="*/ 278945 h 440259"/>
              <a:gd name="T51" fmla="*/ 278945 h 440259"/>
              <a:gd name="T52" fmla="*/ 278945 h 440259"/>
              <a:gd name="T53" fmla="*/ 278945 h 440259"/>
              <a:gd name="T54" fmla="*/ 278945 h 440259"/>
              <a:gd name="T55" fmla="*/ 278945 h 440259"/>
              <a:gd name="T56" fmla="*/ 278945 h 440259"/>
              <a:gd name="T57" fmla="*/ 278945 h 440259"/>
              <a:gd name="T58" fmla="*/ 278945 h 440259"/>
              <a:gd name="T59" fmla="*/ 278945 h 440259"/>
              <a:gd name="T60" fmla="*/ 278945 h 440259"/>
              <a:gd name="T61" fmla="*/ 278945 h 440259"/>
              <a:gd name="T62" fmla="*/ 278945 h 440259"/>
              <a:gd name="T63" fmla="*/ 278945 h 440259"/>
              <a:gd name="T64" fmla="*/ 278945 h 440259"/>
              <a:gd name="T65" fmla="*/ 278945 h 440259"/>
              <a:gd name="T66" fmla="*/ 278945 h 440259"/>
              <a:gd name="T67" fmla="*/ 278945 h 440259"/>
              <a:gd name="T68" fmla="*/ 278945 h 440259"/>
              <a:gd name="T69" fmla="*/ 278945 h 440259"/>
              <a:gd name="T70" fmla="*/ 278945 h 440259"/>
              <a:gd name="T71" fmla="*/ 278945 h 440259"/>
              <a:gd name="T72" fmla="*/ 278945 h 440259"/>
              <a:gd name="T73" fmla="*/ 278945 h 440259"/>
              <a:gd name="T74" fmla="*/ 278945 h 440259"/>
              <a:gd name="T75" fmla="*/ 278945 h 440259"/>
              <a:gd name="T76" fmla="*/ 278945 h 440259"/>
              <a:gd name="T77" fmla="*/ 278945 h 440259"/>
              <a:gd name="T78" fmla="*/ 278945 h 440259"/>
              <a:gd name="T79" fmla="*/ 278945 h 440259"/>
              <a:gd name="T80" fmla="*/ 278945 h 440259"/>
              <a:gd name="T81" fmla="*/ 278945 h 440259"/>
              <a:gd name="T82" fmla="*/ 278945 h 440259"/>
              <a:gd name="T83" fmla="*/ 278945 h 440259"/>
              <a:gd name="T84" fmla="*/ 88862 h 440259"/>
              <a:gd name="T85" fmla="*/ 88862 h 440259"/>
              <a:gd name="T86" fmla="*/ 278945 h 440259"/>
              <a:gd name="T87" fmla="*/ 278945 h 44025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Lst>
            <a:rect l="0" t="0" r="r" b="b"/>
            <a:pathLst>
              <a:path w="6495" h="6508">
                <a:moveTo>
                  <a:pt x="6495" y="203"/>
                </a:moveTo>
                <a:lnTo>
                  <a:pt x="6495" y="197"/>
                </a:lnTo>
                <a:cubicBezTo>
                  <a:pt x="6495" y="193"/>
                  <a:pt x="6493" y="191"/>
                  <a:pt x="6493" y="187"/>
                </a:cubicBezTo>
                <a:cubicBezTo>
                  <a:pt x="6493" y="184"/>
                  <a:pt x="6493" y="181"/>
                  <a:pt x="6492" y="179"/>
                </a:cubicBezTo>
                <a:cubicBezTo>
                  <a:pt x="6492" y="176"/>
                  <a:pt x="6491" y="173"/>
                  <a:pt x="6491" y="172"/>
                </a:cubicBezTo>
                <a:cubicBezTo>
                  <a:pt x="6489" y="169"/>
                  <a:pt x="6489" y="165"/>
                  <a:pt x="6488" y="163"/>
                </a:cubicBezTo>
                <a:cubicBezTo>
                  <a:pt x="6488" y="161"/>
                  <a:pt x="6487" y="160"/>
                  <a:pt x="6487" y="157"/>
                </a:cubicBezTo>
                <a:lnTo>
                  <a:pt x="6483" y="145"/>
                </a:lnTo>
                <a:cubicBezTo>
                  <a:pt x="6483" y="144"/>
                  <a:pt x="6481" y="144"/>
                  <a:pt x="6481" y="143"/>
                </a:cubicBezTo>
                <a:cubicBezTo>
                  <a:pt x="6480" y="139"/>
                  <a:pt x="6477" y="133"/>
                  <a:pt x="6475" y="129"/>
                </a:cubicBezTo>
                <a:cubicBezTo>
                  <a:pt x="6475" y="128"/>
                  <a:pt x="6473" y="127"/>
                  <a:pt x="6473" y="127"/>
                </a:cubicBezTo>
                <a:cubicBezTo>
                  <a:pt x="6471" y="123"/>
                  <a:pt x="6469" y="119"/>
                  <a:pt x="6467" y="115"/>
                </a:cubicBezTo>
                <a:cubicBezTo>
                  <a:pt x="6457" y="101"/>
                  <a:pt x="6447" y="89"/>
                  <a:pt x="6435" y="79"/>
                </a:cubicBezTo>
                <a:cubicBezTo>
                  <a:pt x="6385" y="23"/>
                  <a:pt x="6304" y="0"/>
                  <a:pt x="6231" y="31"/>
                </a:cubicBezTo>
                <a:lnTo>
                  <a:pt x="112" y="2559"/>
                </a:lnTo>
                <a:cubicBezTo>
                  <a:pt x="111" y="2560"/>
                  <a:pt x="108" y="2560"/>
                  <a:pt x="107" y="2561"/>
                </a:cubicBezTo>
                <a:cubicBezTo>
                  <a:pt x="103" y="2563"/>
                  <a:pt x="100" y="2564"/>
                  <a:pt x="96" y="2567"/>
                </a:cubicBezTo>
                <a:lnTo>
                  <a:pt x="88" y="2571"/>
                </a:lnTo>
                <a:cubicBezTo>
                  <a:pt x="85" y="2572"/>
                  <a:pt x="83" y="2573"/>
                  <a:pt x="80" y="2576"/>
                </a:cubicBezTo>
                <a:cubicBezTo>
                  <a:pt x="77" y="2577"/>
                  <a:pt x="75" y="2580"/>
                  <a:pt x="72" y="2581"/>
                </a:cubicBezTo>
                <a:cubicBezTo>
                  <a:pt x="69" y="2583"/>
                  <a:pt x="68" y="2584"/>
                  <a:pt x="65" y="2587"/>
                </a:cubicBezTo>
                <a:cubicBezTo>
                  <a:pt x="63" y="2588"/>
                  <a:pt x="61" y="2591"/>
                  <a:pt x="59" y="2593"/>
                </a:cubicBezTo>
                <a:cubicBezTo>
                  <a:pt x="56" y="2595"/>
                  <a:pt x="55" y="2597"/>
                  <a:pt x="52" y="2599"/>
                </a:cubicBezTo>
                <a:lnTo>
                  <a:pt x="45" y="2605"/>
                </a:lnTo>
                <a:cubicBezTo>
                  <a:pt x="44" y="2608"/>
                  <a:pt x="41" y="2609"/>
                  <a:pt x="40" y="2612"/>
                </a:cubicBezTo>
                <a:cubicBezTo>
                  <a:pt x="39" y="2615"/>
                  <a:pt x="36" y="2617"/>
                  <a:pt x="35" y="2619"/>
                </a:cubicBezTo>
                <a:cubicBezTo>
                  <a:pt x="33" y="2621"/>
                  <a:pt x="31" y="2623"/>
                  <a:pt x="29" y="2625"/>
                </a:cubicBezTo>
                <a:cubicBezTo>
                  <a:pt x="28" y="2628"/>
                  <a:pt x="25" y="2631"/>
                  <a:pt x="24" y="2633"/>
                </a:cubicBezTo>
                <a:cubicBezTo>
                  <a:pt x="23" y="2636"/>
                  <a:pt x="21" y="2637"/>
                  <a:pt x="20" y="2640"/>
                </a:cubicBezTo>
                <a:cubicBezTo>
                  <a:pt x="17" y="2644"/>
                  <a:pt x="16" y="2648"/>
                  <a:pt x="15" y="2652"/>
                </a:cubicBezTo>
                <a:cubicBezTo>
                  <a:pt x="15" y="2653"/>
                  <a:pt x="13" y="2655"/>
                  <a:pt x="12" y="2656"/>
                </a:cubicBezTo>
                <a:lnTo>
                  <a:pt x="12" y="2656"/>
                </a:lnTo>
                <a:cubicBezTo>
                  <a:pt x="9" y="2661"/>
                  <a:pt x="8" y="2667"/>
                  <a:pt x="7" y="2672"/>
                </a:cubicBezTo>
                <a:lnTo>
                  <a:pt x="7" y="2673"/>
                </a:lnTo>
                <a:cubicBezTo>
                  <a:pt x="5" y="2679"/>
                  <a:pt x="4" y="2684"/>
                  <a:pt x="3" y="2691"/>
                </a:cubicBezTo>
                <a:cubicBezTo>
                  <a:pt x="3" y="2693"/>
                  <a:pt x="1" y="2696"/>
                  <a:pt x="1" y="2699"/>
                </a:cubicBezTo>
                <a:cubicBezTo>
                  <a:pt x="1" y="2701"/>
                  <a:pt x="0" y="2705"/>
                  <a:pt x="0" y="2708"/>
                </a:cubicBezTo>
                <a:lnTo>
                  <a:pt x="0" y="2716"/>
                </a:lnTo>
                <a:lnTo>
                  <a:pt x="0" y="2725"/>
                </a:lnTo>
                <a:lnTo>
                  <a:pt x="0" y="2733"/>
                </a:lnTo>
                <a:lnTo>
                  <a:pt x="0" y="2743"/>
                </a:lnTo>
                <a:cubicBezTo>
                  <a:pt x="0" y="2745"/>
                  <a:pt x="1" y="2748"/>
                  <a:pt x="1" y="2749"/>
                </a:cubicBezTo>
                <a:cubicBezTo>
                  <a:pt x="1" y="2753"/>
                  <a:pt x="3" y="2756"/>
                  <a:pt x="3" y="2760"/>
                </a:cubicBezTo>
                <a:cubicBezTo>
                  <a:pt x="4" y="2764"/>
                  <a:pt x="4" y="2768"/>
                  <a:pt x="5" y="2772"/>
                </a:cubicBezTo>
                <a:cubicBezTo>
                  <a:pt x="7" y="2775"/>
                  <a:pt x="7" y="2777"/>
                  <a:pt x="8" y="2780"/>
                </a:cubicBezTo>
                <a:cubicBezTo>
                  <a:pt x="9" y="2784"/>
                  <a:pt x="11" y="2789"/>
                  <a:pt x="13" y="2793"/>
                </a:cubicBezTo>
                <a:lnTo>
                  <a:pt x="13" y="2793"/>
                </a:lnTo>
                <a:cubicBezTo>
                  <a:pt x="15" y="2799"/>
                  <a:pt x="17" y="2803"/>
                  <a:pt x="20" y="2807"/>
                </a:cubicBezTo>
                <a:cubicBezTo>
                  <a:pt x="20" y="2808"/>
                  <a:pt x="21" y="2809"/>
                  <a:pt x="21" y="2809"/>
                </a:cubicBezTo>
                <a:cubicBezTo>
                  <a:pt x="23" y="2813"/>
                  <a:pt x="25" y="2816"/>
                  <a:pt x="28" y="2820"/>
                </a:cubicBezTo>
                <a:cubicBezTo>
                  <a:pt x="29" y="2821"/>
                  <a:pt x="29" y="2823"/>
                  <a:pt x="31" y="2824"/>
                </a:cubicBezTo>
                <a:cubicBezTo>
                  <a:pt x="33" y="2828"/>
                  <a:pt x="35" y="2831"/>
                  <a:pt x="37" y="2833"/>
                </a:cubicBezTo>
                <a:cubicBezTo>
                  <a:pt x="39" y="2835"/>
                  <a:pt x="39" y="2836"/>
                  <a:pt x="40" y="2836"/>
                </a:cubicBezTo>
                <a:cubicBezTo>
                  <a:pt x="44" y="2840"/>
                  <a:pt x="47" y="2844"/>
                  <a:pt x="51" y="2848"/>
                </a:cubicBezTo>
                <a:lnTo>
                  <a:pt x="51" y="2848"/>
                </a:lnTo>
                <a:cubicBezTo>
                  <a:pt x="55" y="2852"/>
                  <a:pt x="59" y="2855"/>
                  <a:pt x="63" y="2859"/>
                </a:cubicBezTo>
                <a:cubicBezTo>
                  <a:pt x="64" y="2860"/>
                  <a:pt x="65" y="2861"/>
                  <a:pt x="67" y="2861"/>
                </a:cubicBezTo>
                <a:cubicBezTo>
                  <a:pt x="69" y="2864"/>
                  <a:pt x="73" y="2867"/>
                  <a:pt x="76" y="2868"/>
                </a:cubicBezTo>
                <a:cubicBezTo>
                  <a:pt x="77" y="2869"/>
                  <a:pt x="79" y="2869"/>
                  <a:pt x="80" y="2871"/>
                </a:cubicBezTo>
                <a:cubicBezTo>
                  <a:pt x="84" y="2873"/>
                  <a:pt x="89" y="2876"/>
                  <a:pt x="93" y="2879"/>
                </a:cubicBezTo>
                <a:cubicBezTo>
                  <a:pt x="95" y="2879"/>
                  <a:pt x="95" y="2880"/>
                  <a:pt x="96" y="2880"/>
                </a:cubicBezTo>
                <a:cubicBezTo>
                  <a:pt x="100" y="2883"/>
                  <a:pt x="104" y="2884"/>
                  <a:pt x="109" y="2887"/>
                </a:cubicBezTo>
                <a:cubicBezTo>
                  <a:pt x="111" y="2887"/>
                  <a:pt x="111" y="2888"/>
                  <a:pt x="112" y="2888"/>
                </a:cubicBezTo>
                <a:lnTo>
                  <a:pt x="2579" y="3933"/>
                </a:lnTo>
                <a:lnTo>
                  <a:pt x="3624" y="6400"/>
                </a:lnTo>
                <a:cubicBezTo>
                  <a:pt x="3625" y="6405"/>
                  <a:pt x="3628" y="6409"/>
                  <a:pt x="3631" y="6413"/>
                </a:cubicBezTo>
                <a:cubicBezTo>
                  <a:pt x="3631" y="6415"/>
                  <a:pt x="3632" y="6416"/>
                  <a:pt x="3632" y="6416"/>
                </a:cubicBezTo>
                <a:cubicBezTo>
                  <a:pt x="3635" y="6420"/>
                  <a:pt x="3636" y="6423"/>
                  <a:pt x="3639" y="6427"/>
                </a:cubicBezTo>
                <a:cubicBezTo>
                  <a:pt x="3640" y="6428"/>
                  <a:pt x="3640" y="6429"/>
                  <a:pt x="3641" y="6431"/>
                </a:cubicBezTo>
                <a:cubicBezTo>
                  <a:pt x="3644" y="6435"/>
                  <a:pt x="3647" y="6437"/>
                  <a:pt x="3648" y="6440"/>
                </a:cubicBezTo>
                <a:cubicBezTo>
                  <a:pt x="3649" y="6441"/>
                  <a:pt x="3649" y="6443"/>
                  <a:pt x="3651" y="6443"/>
                </a:cubicBezTo>
                <a:cubicBezTo>
                  <a:pt x="3655" y="6447"/>
                  <a:pt x="3657" y="6451"/>
                  <a:pt x="3661" y="6455"/>
                </a:cubicBezTo>
                <a:lnTo>
                  <a:pt x="3663" y="6456"/>
                </a:lnTo>
                <a:cubicBezTo>
                  <a:pt x="3667" y="6459"/>
                  <a:pt x="3669" y="6463"/>
                  <a:pt x="3673" y="6465"/>
                </a:cubicBezTo>
                <a:cubicBezTo>
                  <a:pt x="3675" y="6467"/>
                  <a:pt x="3676" y="6468"/>
                  <a:pt x="3677" y="6468"/>
                </a:cubicBezTo>
                <a:cubicBezTo>
                  <a:pt x="3680" y="6471"/>
                  <a:pt x="3684" y="6473"/>
                  <a:pt x="3687" y="6475"/>
                </a:cubicBezTo>
                <a:cubicBezTo>
                  <a:pt x="3688" y="6476"/>
                  <a:pt x="3689" y="6476"/>
                  <a:pt x="3691" y="6477"/>
                </a:cubicBezTo>
                <a:cubicBezTo>
                  <a:pt x="3695" y="6480"/>
                  <a:pt x="3700" y="6483"/>
                  <a:pt x="3704" y="6485"/>
                </a:cubicBezTo>
                <a:cubicBezTo>
                  <a:pt x="3705" y="6485"/>
                  <a:pt x="3707" y="6487"/>
                  <a:pt x="3707" y="6487"/>
                </a:cubicBezTo>
                <a:cubicBezTo>
                  <a:pt x="3711" y="6489"/>
                  <a:pt x="3715" y="6491"/>
                  <a:pt x="3719" y="6492"/>
                </a:cubicBezTo>
                <a:cubicBezTo>
                  <a:pt x="3720" y="6492"/>
                  <a:pt x="3720" y="6493"/>
                  <a:pt x="3721" y="6493"/>
                </a:cubicBezTo>
                <a:cubicBezTo>
                  <a:pt x="3721" y="6493"/>
                  <a:pt x="3723" y="6493"/>
                  <a:pt x="3723" y="6495"/>
                </a:cubicBezTo>
                <a:cubicBezTo>
                  <a:pt x="3727" y="6496"/>
                  <a:pt x="3732" y="6499"/>
                  <a:pt x="3736" y="6500"/>
                </a:cubicBezTo>
                <a:lnTo>
                  <a:pt x="3737" y="6500"/>
                </a:lnTo>
                <a:cubicBezTo>
                  <a:pt x="3743" y="6501"/>
                  <a:pt x="3747" y="6503"/>
                  <a:pt x="3752" y="6504"/>
                </a:cubicBezTo>
                <a:cubicBezTo>
                  <a:pt x="3753" y="6504"/>
                  <a:pt x="3756" y="6504"/>
                  <a:pt x="3757" y="6505"/>
                </a:cubicBezTo>
                <a:cubicBezTo>
                  <a:pt x="3761" y="6505"/>
                  <a:pt x="3764" y="6507"/>
                  <a:pt x="3768" y="6507"/>
                </a:cubicBezTo>
                <a:lnTo>
                  <a:pt x="3773" y="6507"/>
                </a:lnTo>
                <a:cubicBezTo>
                  <a:pt x="3779" y="6507"/>
                  <a:pt x="3783" y="6508"/>
                  <a:pt x="3788" y="6508"/>
                </a:cubicBezTo>
                <a:lnTo>
                  <a:pt x="3788" y="6508"/>
                </a:lnTo>
                <a:lnTo>
                  <a:pt x="3788" y="6508"/>
                </a:lnTo>
                <a:lnTo>
                  <a:pt x="3788" y="6508"/>
                </a:lnTo>
                <a:lnTo>
                  <a:pt x="3788" y="6508"/>
                </a:lnTo>
                <a:cubicBezTo>
                  <a:pt x="3793" y="6508"/>
                  <a:pt x="3799" y="6508"/>
                  <a:pt x="3803" y="6507"/>
                </a:cubicBezTo>
                <a:lnTo>
                  <a:pt x="3808" y="6507"/>
                </a:lnTo>
                <a:cubicBezTo>
                  <a:pt x="3812" y="6507"/>
                  <a:pt x="3816" y="6505"/>
                  <a:pt x="3819" y="6505"/>
                </a:cubicBezTo>
                <a:cubicBezTo>
                  <a:pt x="3820" y="6505"/>
                  <a:pt x="3823" y="6505"/>
                  <a:pt x="3824" y="6504"/>
                </a:cubicBezTo>
                <a:cubicBezTo>
                  <a:pt x="3829" y="6503"/>
                  <a:pt x="3835" y="6501"/>
                  <a:pt x="3839" y="6500"/>
                </a:cubicBezTo>
                <a:cubicBezTo>
                  <a:pt x="3840" y="6500"/>
                  <a:pt x="3840" y="6500"/>
                  <a:pt x="3841" y="6499"/>
                </a:cubicBezTo>
                <a:cubicBezTo>
                  <a:pt x="3845" y="6497"/>
                  <a:pt x="3851" y="6496"/>
                  <a:pt x="3855" y="6493"/>
                </a:cubicBezTo>
                <a:cubicBezTo>
                  <a:pt x="3856" y="6493"/>
                  <a:pt x="3856" y="6493"/>
                  <a:pt x="3857" y="6492"/>
                </a:cubicBezTo>
                <a:cubicBezTo>
                  <a:pt x="3859" y="6492"/>
                  <a:pt x="3859" y="6491"/>
                  <a:pt x="3860" y="6491"/>
                </a:cubicBezTo>
                <a:cubicBezTo>
                  <a:pt x="3864" y="6489"/>
                  <a:pt x="3868" y="6487"/>
                  <a:pt x="3872" y="6484"/>
                </a:cubicBezTo>
                <a:cubicBezTo>
                  <a:pt x="3873" y="6484"/>
                  <a:pt x="3873" y="6483"/>
                  <a:pt x="3875" y="6483"/>
                </a:cubicBezTo>
                <a:cubicBezTo>
                  <a:pt x="3879" y="6480"/>
                  <a:pt x="3884" y="6477"/>
                  <a:pt x="3888" y="6475"/>
                </a:cubicBezTo>
                <a:cubicBezTo>
                  <a:pt x="3889" y="6473"/>
                  <a:pt x="3891" y="6473"/>
                  <a:pt x="3892" y="6472"/>
                </a:cubicBezTo>
                <a:cubicBezTo>
                  <a:pt x="3895" y="6469"/>
                  <a:pt x="3899" y="6468"/>
                  <a:pt x="3901" y="6465"/>
                </a:cubicBezTo>
                <a:cubicBezTo>
                  <a:pt x="3903" y="6464"/>
                  <a:pt x="3904" y="6463"/>
                  <a:pt x="3905" y="6463"/>
                </a:cubicBezTo>
                <a:cubicBezTo>
                  <a:pt x="3909" y="6459"/>
                  <a:pt x="3913" y="6456"/>
                  <a:pt x="3916" y="6452"/>
                </a:cubicBezTo>
                <a:lnTo>
                  <a:pt x="3916" y="6452"/>
                </a:lnTo>
                <a:cubicBezTo>
                  <a:pt x="3920" y="6448"/>
                  <a:pt x="3923" y="6444"/>
                  <a:pt x="3927" y="6440"/>
                </a:cubicBezTo>
                <a:cubicBezTo>
                  <a:pt x="3928" y="6439"/>
                  <a:pt x="3928" y="6437"/>
                  <a:pt x="3929" y="6436"/>
                </a:cubicBezTo>
                <a:cubicBezTo>
                  <a:pt x="3932" y="6433"/>
                  <a:pt x="3935" y="6429"/>
                  <a:pt x="3936" y="6427"/>
                </a:cubicBezTo>
                <a:cubicBezTo>
                  <a:pt x="3937" y="6425"/>
                  <a:pt x="3937" y="6424"/>
                  <a:pt x="3939" y="6423"/>
                </a:cubicBezTo>
                <a:cubicBezTo>
                  <a:pt x="3941" y="6419"/>
                  <a:pt x="3943" y="6416"/>
                  <a:pt x="3945" y="6412"/>
                </a:cubicBezTo>
                <a:cubicBezTo>
                  <a:pt x="3945" y="6411"/>
                  <a:pt x="3947" y="6409"/>
                  <a:pt x="3947" y="6409"/>
                </a:cubicBezTo>
                <a:cubicBezTo>
                  <a:pt x="3949" y="6405"/>
                  <a:pt x="3951" y="6400"/>
                  <a:pt x="3953" y="6396"/>
                </a:cubicBezTo>
                <a:lnTo>
                  <a:pt x="6481" y="284"/>
                </a:lnTo>
                <a:cubicBezTo>
                  <a:pt x="6485" y="273"/>
                  <a:pt x="6489" y="261"/>
                  <a:pt x="6492" y="249"/>
                </a:cubicBezTo>
                <a:cubicBezTo>
                  <a:pt x="6493" y="245"/>
                  <a:pt x="6493" y="240"/>
                  <a:pt x="6493" y="236"/>
                </a:cubicBezTo>
                <a:lnTo>
                  <a:pt x="6493" y="232"/>
                </a:lnTo>
                <a:cubicBezTo>
                  <a:pt x="6493" y="227"/>
                  <a:pt x="6493" y="223"/>
                  <a:pt x="6495" y="217"/>
                </a:cubicBezTo>
                <a:lnTo>
                  <a:pt x="6495" y="215"/>
                </a:lnTo>
                <a:lnTo>
                  <a:pt x="6495" y="203"/>
                </a:lnTo>
                <a:close/>
                <a:moveTo>
                  <a:pt x="648" y="2727"/>
                </a:moveTo>
                <a:lnTo>
                  <a:pt x="5589" y="687"/>
                </a:lnTo>
                <a:lnTo>
                  <a:pt x="2685" y="3589"/>
                </a:lnTo>
                <a:lnTo>
                  <a:pt x="648" y="2727"/>
                </a:lnTo>
                <a:close/>
                <a:moveTo>
                  <a:pt x="3787" y="5865"/>
                </a:moveTo>
                <a:lnTo>
                  <a:pt x="2933" y="3851"/>
                </a:lnTo>
                <a:lnTo>
                  <a:pt x="5804" y="981"/>
                </a:lnTo>
                <a:lnTo>
                  <a:pt x="3787" y="5865"/>
                </a:ln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127" name="矩形: 圆角 126">
            <a:extLst>
              <a:ext uri="{FF2B5EF4-FFF2-40B4-BE49-F238E27FC236}">
                <a16:creationId xmlns:a16="http://schemas.microsoft.com/office/drawing/2014/main" id="{A998723D-16B0-4E79-B2B1-32DD5F153552}"/>
              </a:ext>
            </a:extLst>
          </p:cNvPr>
          <p:cNvSpPr/>
          <p:nvPr/>
        </p:nvSpPr>
        <p:spPr>
          <a:xfrm>
            <a:off x="9523996" y="1531410"/>
            <a:ext cx="2333042" cy="376049"/>
          </a:xfrm>
          <a:prstGeom prst="roundRect">
            <a:avLst>
              <a:gd name="adj" fmla="val 50000"/>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600" b="1" dirty="0">
                <a:latin typeface="思源黑体 CN Bold" panose="020B0800000000000000" pitchFamily="34" charset="-122"/>
                <a:ea typeface="思源黑体 CN Bold" panose="020B0800000000000000" pitchFamily="34" charset="-122"/>
              </a:rPr>
              <a:t>学术研究层面</a:t>
            </a:r>
          </a:p>
        </p:txBody>
      </p:sp>
      <p:sp>
        <p:nvSpPr>
          <p:cNvPr id="128" name="文本框 127">
            <a:extLst>
              <a:ext uri="{FF2B5EF4-FFF2-40B4-BE49-F238E27FC236}">
                <a16:creationId xmlns:a16="http://schemas.microsoft.com/office/drawing/2014/main" id="{2138DF13-B41A-4AB0-8CF9-9AF021C4B36D}"/>
              </a:ext>
            </a:extLst>
          </p:cNvPr>
          <p:cNvSpPr txBox="1"/>
          <p:nvPr/>
        </p:nvSpPr>
        <p:spPr>
          <a:xfrm>
            <a:off x="9595861" y="2294411"/>
            <a:ext cx="2189313" cy="1161985"/>
          </a:xfrm>
          <a:prstGeom prst="rect">
            <a:avLst/>
          </a:prstGeom>
          <a:noFill/>
        </p:spPr>
        <p:txBody>
          <a:bodyPr wrap="square" rtlCol="0">
            <a:spAutoFit/>
          </a:bodyPr>
          <a:lstStyle>
            <a:defPPr>
              <a:defRPr lang="zh-CN"/>
            </a:defPPr>
            <a:lvl1pPr marL="285750" indent="-285750">
              <a:lnSpc>
                <a:spcPct val="110000"/>
              </a:lnSpc>
              <a:buFont typeface="Wingdings" panose="05000000000000000000" pitchFamily="2" charset="2"/>
              <a:buChar char="u"/>
              <a:defRPr sz="1400">
                <a:latin typeface="思源黑体 CN Regular" panose="020B0500000000000000" pitchFamily="34" charset="-122"/>
                <a:ea typeface="思源黑体 CN Regular" panose="020B0500000000000000" pitchFamily="34" charset="-122"/>
              </a:defRPr>
            </a:lvl1pPr>
          </a:lstStyle>
          <a:p>
            <a:pPr marL="0" indent="0" algn="just">
              <a:buNone/>
            </a:pPr>
            <a:r>
              <a:rPr lang="zh-CN" altLang="en-US" sz="1600" dirty="0"/>
              <a:t>现有预测模型多聚焦单一病种，缺乏多慢性病共病风险耦合分析，泛化能力不足。</a:t>
            </a:r>
          </a:p>
        </p:txBody>
      </p:sp>
      <p:sp>
        <p:nvSpPr>
          <p:cNvPr id="129" name="文本框 128">
            <a:extLst>
              <a:ext uri="{FF2B5EF4-FFF2-40B4-BE49-F238E27FC236}">
                <a16:creationId xmlns:a16="http://schemas.microsoft.com/office/drawing/2014/main" id="{7E0A42F5-CA6C-4498-9B3B-BF50E68ABC98}"/>
              </a:ext>
            </a:extLst>
          </p:cNvPr>
          <p:cNvSpPr txBox="1"/>
          <p:nvPr/>
        </p:nvSpPr>
        <p:spPr>
          <a:xfrm>
            <a:off x="9595861" y="4207933"/>
            <a:ext cx="2189313" cy="1432828"/>
          </a:xfrm>
          <a:prstGeom prst="rect">
            <a:avLst/>
          </a:prstGeom>
          <a:noFill/>
        </p:spPr>
        <p:txBody>
          <a:bodyPr wrap="square" rtlCol="0">
            <a:spAutoFit/>
          </a:bodyPr>
          <a:lstStyle>
            <a:defPPr>
              <a:defRPr lang="zh-CN"/>
            </a:defPPr>
            <a:lvl1pPr marL="285750" indent="-285750">
              <a:lnSpc>
                <a:spcPct val="110000"/>
              </a:lnSpc>
              <a:buFont typeface="Wingdings" panose="05000000000000000000" pitchFamily="2" charset="2"/>
              <a:buChar char="u"/>
              <a:defRPr sz="1400">
                <a:latin typeface="思源黑体 CN Regular" panose="020B0500000000000000" pitchFamily="34" charset="-122"/>
                <a:ea typeface="思源黑体 CN Regular" panose="020B0500000000000000" pitchFamily="34" charset="-122"/>
              </a:defRPr>
            </a:lvl1pPr>
          </a:lstStyle>
          <a:p>
            <a:pPr marL="0" indent="0" algn="just">
              <a:buNone/>
            </a:pPr>
            <a:r>
              <a:rPr lang="zh-CN" altLang="en-US" sz="1600" dirty="0"/>
              <a:t>多模态数据融合（临床</a:t>
            </a:r>
            <a:r>
              <a:rPr lang="en-US" altLang="zh-CN" sz="1600" dirty="0"/>
              <a:t>+</a:t>
            </a:r>
            <a:r>
              <a:rPr lang="zh-CN" altLang="en-US" sz="1600" dirty="0"/>
              <a:t>行为数据）在慢病预测中的应用仍处探索期，技术体系待完善。</a:t>
            </a:r>
          </a:p>
        </p:txBody>
      </p:sp>
      <p:cxnSp>
        <p:nvCxnSpPr>
          <p:cNvPr id="130" name="直接连接符 129">
            <a:extLst>
              <a:ext uri="{FF2B5EF4-FFF2-40B4-BE49-F238E27FC236}">
                <a16:creationId xmlns:a16="http://schemas.microsoft.com/office/drawing/2014/main" id="{DDB08C49-0643-42C3-98B1-319693EB282B}"/>
              </a:ext>
            </a:extLst>
          </p:cNvPr>
          <p:cNvCxnSpPr>
            <a:cxnSpLocks/>
          </p:cNvCxnSpPr>
          <p:nvPr/>
        </p:nvCxnSpPr>
        <p:spPr>
          <a:xfrm>
            <a:off x="9665923" y="3916070"/>
            <a:ext cx="2049189" cy="0"/>
          </a:xfrm>
          <a:prstGeom prst="line">
            <a:avLst/>
          </a:prstGeom>
          <a:ln w="12700">
            <a:solidFill>
              <a:schemeClr val="accent1"/>
            </a:solidFill>
          </a:ln>
        </p:spPr>
        <p:style>
          <a:lnRef idx="1">
            <a:schemeClr val="accent1"/>
          </a:lnRef>
          <a:fillRef idx="0">
            <a:schemeClr val="accent1"/>
          </a:fillRef>
          <a:effectRef idx="0">
            <a:schemeClr val="accent1"/>
          </a:effectRef>
          <a:fontRef idx="minor">
            <a:schemeClr val="tx1"/>
          </a:fontRef>
        </p:style>
      </p:cxnSp>
      <p:sp>
        <p:nvSpPr>
          <p:cNvPr id="131" name="箭头: 右 130">
            <a:extLst>
              <a:ext uri="{FF2B5EF4-FFF2-40B4-BE49-F238E27FC236}">
                <a16:creationId xmlns:a16="http://schemas.microsoft.com/office/drawing/2014/main" id="{4DAB4348-2685-4830-9DE3-000C94394C60}"/>
              </a:ext>
            </a:extLst>
          </p:cNvPr>
          <p:cNvSpPr/>
          <p:nvPr/>
        </p:nvSpPr>
        <p:spPr>
          <a:xfrm flipH="1">
            <a:off x="9075753" y="3722070"/>
            <a:ext cx="350963" cy="388001"/>
          </a:xfrm>
          <a:prstGeom prst="rightArrow">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2" name="文本框 131">
            <a:extLst>
              <a:ext uri="{FF2B5EF4-FFF2-40B4-BE49-F238E27FC236}">
                <a16:creationId xmlns:a16="http://schemas.microsoft.com/office/drawing/2014/main" id="{B56C3179-4FA0-4A49-800A-1F172C8BF89C}"/>
              </a:ext>
            </a:extLst>
          </p:cNvPr>
          <p:cNvSpPr txBox="1"/>
          <p:nvPr/>
        </p:nvSpPr>
        <p:spPr>
          <a:xfrm>
            <a:off x="373082" y="5620123"/>
            <a:ext cx="1660612" cy="338554"/>
          </a:xfrm>
          <a:prstGeom prst="rect">
            <a:avLst/>
          </a:prstGeom>
          <a:noFill/>
        </p:spPr>
        <p:txBody>
          <a:bodyPr wrap="square" rtlCol="0">
            <a:spAutoFit/>
          </a:bodyPr>
          <a:lstStyle/>
          <a:p>
            <a:r>
              <a:rPr lang="zh-CN" altLang="en-US" sz="1600" dirty="0">
                <a:solidFill>
                  <a:schemeClr val="bg1"/>
                </a:solidFill>
                <a:latin typeface="思源黑体 CN Regular" panose="020B0500000000000000" pitchFamily="34" charset="-122"/>
                <a:ea typeface="思源黑体 CN Regular" panose="020B0500000000000000" pitchFamily="34" charset="-122"/>
              </a:rPr>
              <a:t>预期成果</a:t>
            </a:r>
          </a:p>
        </p:txBody>
      </p:sp>
      <p:sp>
        <p:nvSpPr>
          <p:cNvPr id="133" name="任意矩形：006">
            <a:extLst>
              <a:ext uri="{FF2B5EF4-FFF2-40B4-BE49-F238E27FC236}">
                <a16:creationId xmlns:a16="http://schemas.microsoft.com/office/drawing/2014/main" id="{A099A332-D759-4183-9B86-C8FF53331332}"/>
              </a:ext>
            </a:extLst>
          </p:cNvPr>
          <p:cNvSpPr/>
          <p:nvPr/>
        </p:nvSpPr>
        <p:spPr>
          <a:xfrm>
            <a:off x="125661" y="5689964"/>
            <a:ext cx="203662" cy="187126"/>
          </a:xfrm>
          <a:custGeom>
            <a:avLst/>
            <a:gdLst>
              <a:gd name="T0" fmla="*/ 11834 w 13933"/>
              <a:gd name="T1" fmla="*/ 1094 h 12800"/>
              <a:gd name="T2" fmla="*/ 10384 w 13933"/>
              <a:gd name="T3" fmla="*/ 1094 h 12800"/>
              <a:gd name="T4" fmla="*/ 10384 w 13933"/>
              <a:gd name="T5" fmla="*/ 315 h 12800"/>
              <a:gd name="T6" fmla="*/ 10069 w 13933"/>
              <a:gd name="T7" fmla="*/ 0 h 12800"/>
              <a:gd name="T8" fmla="*/ 9754 w 13933"/>
              <a:gd name="T9" fmla="*/ 315 h 12800"/>
              <a:gd name="T10" fmla="*/ 9754 w 13933"/>
              <a:gd name="T11" fmla="*/ 1094 h 12800"/>
              <a:gd name="T12" fmla="*/ 4056 w 13933"/>
              <a:gd name="T13" fmla="*/ 1094 h 12800"/>
              <a:gd name="T14" fmla="*/ 4056 w 13933"/>
              <a:gd name="T15" fmla="*/ 315 h 12800"/>
              <a:gd name="T16" fmla="*/ 3741 w 13933"/>
              <a:gd name="T17" fmla="*/ 0 h 12800"/>
              <a:gd name="T18" fmla="*/ 3426 w 13933"/>
              <a:gd name="T19" fmla="*/ 315 h 12800"/>
              <a:gd name="T20" fmla="*/ 3426 w 13933"/>
              <a:gd name="T21" fmla="*/ 1094 h 12800"/>
              <a:gd name="T22" fmla="*/ 2099 w 13933"/>
              <a:gd name="T23" fmla="*/ 1094 h 12800"/>
              <a:gd name="T24" fmla="*/ 0 w 13933"/>
              <a:gd name="T25" fmla="*/ 3193 h 12800"/>
              <a:gd name="T26" fmla="*/ 0 w 13933"/>
              <a:gd name="T27" fmla="*/ 10701 h 12800"/>
              <a:gd name="T28" fmla="*/ 2099 w 13933"/>
              <a:gd name="T29" fmla="*/ 12800 h 12800"/>
              <a:gd name="T30" fmla="*/ 11834 w 13933"/>
              <a:gd name="T31" fmla="*/ 12800 h 12800"/>
              <a:gd name="T32" fmla="*/ 13933 w 13933"/>
              <a:gd name="T33" fmla="*/ 10701 h 12800"/>
              <a:gd name="T34" fmla="*/ 13933 w 13933"/>
              <a:gd name="T35" fmla="*/ 3193 h 12800"/>
              <a:gd name="T36" fmla="*/ 11834 w 13933"/>
              <a:gd name="T37" fmla="*/ 1094 h 12800"/>
              <a:gd name="T38" fmla="*/ 2099 w 13933"/>
              <a:gd name="T39" fmla="*/ 1933 h 12800"/>
              <a:gd name="T40" fmla="*/ 3426 w 13933"/>
              <a:gd name="T41" fmla="*/ 1933 h 12800"/>
              <a:gd name="T42" fmla="*/ 3426 w 13933"/>
              <a:gd name="T43" fmla="*/ 2757 h 12800"/>
              <a:gd name="T44" fmla="*/ 3741 w 13933"/>
              <a:gd name="T45" fmla="*/ 3072 h 12800"/>
              <a:gd name="T46" fmla="*/ 4056 w 13933"/>
              <a:gd name="T47" fmla="*/ 2757 h 12800"/>
              <a:gd name="T48" fmla="*/ 4056 w 13933"/>
              <a:gd name="T49" fmla="*/ 1933 h 12800"/>
              <a:gd name="T50" fmla="*/ 9754 w 13933"/>
              <a:gd name="T51" fmla="*/ 1933 h 12800"/>
              <a:gd name="T52" fmla="*/ 9754 w 13933"/>
              <a:gd name="T53" fmla="*/ 2757 h 12800"/>
              <a:gd name="T54" fmla="*/ 10069 w 13933"/>
              <a:gd name="T55" fmla="*/ 3072 h 12800"/>
              <a:gd name="T56" fmla="*/ 10384 w 13933"/>
              <a:gd name="T57" fmla="*/ 2757 h 12800"/>
              <a:gd name="T58" fmla="*/ 10384 w 13933"/>
              <a:gd name="T59" fmla="*/ 1933 h 12800"/>
              <a:gd name="T60" fmla="*/ 11834 w 13933"/>
              <a:gd name="T61" fmla="*/ 1933 h 12800"/>
              <a:gd name="T62" fmla="*/ 13094 w 13933"/>
              <a:gd name="T63" fmla="*/ 3193 h 12800"/>
              <a:gd name="T64" fmla="*/ 13094 w 13933"/>
              <a:gd name="T65" fmla="*/ 4646 h 12800"/>
              <a:gd name="T66" fmla="*/ 840 w 13933"/>
              <a:gd name="T67" fmla="*/ 4646 h 12800"/>
              <a:gd name="T68" fmla="*/ 840 w 13933"/>
              <a:gd name="T69" fmla="*/ 3193 h 12800"/>
              <a:gd name="T70" fmla="*/ 2099 w 13933"/>
              <a:gd name="T71" fmla="*/ 1933 h 12800"/>
              <a:gd name="T72" fmla="*/ 11834 w 13933"/>
              <a:gd name="T73" fmla="*/ 11960 h 12800"/>
              <a:gd name="T74" fmla="*/ 2099 w 13933"/>
              <a:gd name="T75" fmla="*/ 11960 h 12800"/>
              <a:gd name="T76" fmla="*/ 840 w 13933"/>
              <a:gd name="T77" fmla="*/ 10701 h 12800"/>
              <a:gd name="T78" fmla="*/ 840 w 13933"/>
              <a:gd name="T79" fmla="*/ 5276 h 12800"/>
              <a:gd name="T80" fmla="*/ 13094 w 13933"/>
              <a:gd name="T81" fmla="*/ 5276 h 12800"/>
              <a:gd name="T82" fmla="*/ 13094 w 13933"/>
              <a:gd name="T83" fmla="*/ 10701 h 12800"/>
              <a:gd name="T84" fmla="*/ 11834 w 13933"/>
              <a:gd name="T85" fmla="*/ 11960 h 128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Lst>
            <a:rect l="0" t="0" r="r" b="b"/>
            <a:pathLst>
              <a:path w="13933" h="12800">
                <a:moveTo>
                  <a:pt x="11834" y="1094"/>
                </a:moveTo>
                <a:lnTo>
                  <a:pt x="10384" y="1094"/>
                </a:lnTo>
                <a:lnTo>
                  <a:pt x="10384" y="315"/>
                </a:lnTo>
                <a:cubicBezTo>
                  <a:pt x="10384" y="141"/>
                  <a:pt x="10243" y="0"/>
                  <a:pt x="10069" y="0"/>
                </a:cubicBezTo>
                <a:cubicBezTo>
                  <a:pt x="9895" y="0"/>
                  <a:pt x="9754" y="141"/>
                  <a:pt x="9754" y="315"/>
                </a:cubicBezTo>
                <a:lnTo>
                  <a:pt x="9754" y="1094"/>
                </a:lnTo>
                <a:lnTo>
                  <a:pt x="4056" y="1094"/>
                </a:lnTo>
                <a:lnTo>
                  <a:pt x="4056" y="315"/>
                </a:lnTo>
                <a:cubicBezTo>
                  <a:pt x="4056" y="141"/>
                  <a:pt x="3915" y="0"/>
                  <a:pt x="3741" y="0"/>
                </a:cubicBezTo>
                <a:cubicBezTo>
                  <a:pt x="3567" y="0"/>
                  <a:pt x="3426" y="141"/>
                  <a:pt x="3426" y="315"/>
                </a:cubicBezTo>
                <a:lnTo>
                  <a:pt x="3426" y="1094"/>
                </a:lnTo>
                <a:lnTo>
                  <a:pt x="2099" y="1094"/>
                </a:lnTo>
                <a:cubicBezTo>
                  <a:pt x="940" y="1095"/>
                  <a:pt x="1" y="2034"/>
                  <a:pt x="0" y="3193"/>
                </a:cubicBezTo>
                <a:lnTo>
                  <a:pt x="0" y="10701"/>
                </a:lnTo>
                <a:cubicBezTo>
                  <a:pt x="1" y="11860"/>
                  <a:pt x="940" y="12799"/>
                  <a:pt x="2099" y="12800"/>
                </a:cubicBezTo>
                <a:lnTo>
                  <a:pt x="11834" y="12800"/>
                </a:lnTo>
                <a:cubicBezTo>
                  <a:pt x="12993" y="12799"/>
                  <a:pt x="13932" y="11860"/>
                  <a:pt x="13933" y="10701"/>
                </a:cubicBezTo>
                <a:lnTo>
                  <a:pt x="13933" y="3193"/>
                </a:lnTo>
                <a:cubicBezTo>
                  <a:pt x="13932" y="2034"/>
                  <a:pt x="12993" y="1095"/>
                  <a:pt x="11834" y="1094"/>
                </a:cubicBezTo>
                <a:close/>
                <a:moveTo>
                  <a:pt x="2099" y="1933"/>
                </a:moveTo>
                <a:lnTo>
                  <a:pt x="3426" y="1933"/>
                </a:lnTo>
                <a:lnTo>
                  <a:pt x="3426" y="2757"/>
                </a:lnTo>
                <a:cubicBezTo>
                  <a:pt x="3426" y="2931"/>
                  <a:pt x="3567" y="3072"/>
                  <a:pt x="3741" y="3072"/>
                </a:cubicBezTo>
                <a:cubicBezTo>
                  <a:pt x="3915" y="3072"/>
                  <a:pt x="4056" y="2931"/>
                  <a:pt x="4056" y="2757"/>
                </a:cubicBezTo>
                <a:lnTo>
                  <a:pt x="4056" y="1933"/>
                </a:lnTo>
                <a:lnTo>
                  <a:pt x="9754" y="1933"/>
                </a:lnTo>
                <a:lnTo>
                  <a:pt x="9754" y="2757"/>
                </a:lnTo>
                <a:cubicBezTo>
                  <a:pt x="9754" y="2931"/>
                  <a:pt x="9895" y="3072"/>
                  <a:pt x="10069" y="3072"/>
                </a:cubicBezTo>
                <a:cubicBezTo>
                  <a:pt x="10243" y="3072"/>
                  <a:pt x="10384" y="2931"/>
                  <a:pt x="10384" y="2757"/>
                </a:cubicBezTo>
                <a:lnTo>
                  <a:pt x="10384" y="1933"/>
                </a:lnTo>
                <a:lnTo>
                  <a:pt x="11834" y="1933"/>
                </a:lnTo>
                <a:cubicBezTo>
                  <a:pt x="12529" y="1934"/>
                  <a:pt x="13093" y="2497"/>
                  <a:pt x="13094" y="3193"/>
                </a:cubicBezTo>
                <a:lnTo>
                  <a:pt x="13094" y="4646"/>
                </a:lnTo>
                <a:lnTo>
                  <a:pt x="840" y="4646"/>
                </a:lnTo>
                <a:lnTo>
                  <a:pt x="840" y="3193"/>
                </a:lnTo>
                <a:cubicBezTo>
                  <a:pt x="840" y="2497"/>
                  <a:pt x="1404" y="1934"/>
                  <a:pt x="2099" y="1933"/>
                </a:cubicBezTo>
                <a:close/>
                <a:moveTo>
                  <a:pt x="11834" y="11960"/>
                </a:moveTo>
                <a:lnTo>
                  <a:pt x="2099" y="11960"/>
                </a:lnTo>
                <a:cubicBezTo>
                  <a:pt x="1404" y="11960"/>
                  <a:pt x="840" y="11396"/>
                  <a:pt x="840" y="10701"/>
                </a:cubicBezTo>
                <a:lnTo>
                  <a:pt x="840" y="5276"/>
                </a:lnTo>
                <a:lnTo>
                  <a:pt x="13094" y="5276"/>
                </a:lnTo>
                <a:lnTo>
                  <a:pt x="13094" y="10701"/>
                </a:lnTo>
                <a:cubicBezTo>
                  <a:pt x="13093" y="11396"/>
                  <a:pt x="12529" y="11960"/>
                  <a:pt x="11834" y="1196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13763420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2" name="矩形 131">
            <a:extLst>
              <a:ext uri="{FF2B5EF4-FFF2-40B4-BE49-F238E27FC236}">
                <a16:creationId xmlns:a16="http://schemas.microsoft.com/office/drawing/2014/main" id="{2E926FB5-EF53-44E2-9EE4-615EEEDD8128}"/>
              </a:ext>
            </a:extLst>
          </p:cNvPr>
          <p:cNvSpPr/>
          <p:nvPr/>
        </p:nvSpPr>
        <p:spPr>
          <a:xfrm>
            <a:off x="0" y="2677841"/>
            <a:ext cx="2052320" cy="56374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43" name="矩形: 圆角 42">
            <a:extLst>
              <a:ext uri="{FF2B5EF4-FFF2-40B4-BE49-F238E27FC236}">
                <a16:creationId xmlns:a16="http://schemas.microsoft.com/office/drawing/2014/main" id="{C7BEF58F-2A83-4042-ABAD-BE236E92725C}"/>
              </a:ext>
            </a:extLst>
          </p:cNvPr>
          <p:cNvSpPr/>
          <p:nvPr/>
        </p:nvSpPr>
        <p:spPr>
          <a:xfrm>
            <a:off x="3570041" y="1215534"/>
            <a:ext cx="8286998" cy="929711"/>
          </a:xfrm>
          <a:prstGeom prst="roundRect">
            <a:avLst>
              <a:gd name="adj" fmla="val 11608"/>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 name="文本框 4">
            <a:extLst>
              <a:ext uri="{FF2B5EF4-FFF2-40B4-BE49-F238E27FC236}">
                <a16:creationId xmlns:a16="http://schemas.microsoft.com/office/drawing/2014/main" id="{FA50774F-B53F-49A1-A425-864A038AC9F2}"/>
              </a:ext>
            </a:extLst>
          </p:cNvPr>
          <p:cNvSpPr txBox="1"/>
          <p:nvPr/>
        </p:nvSpPr>
        <p:spPr>
          <a:xfrm>
            <a:off x="2294305" y="1480334"/>
            <a:ext cx="1210588" cy="400110"/>
          </a:xfrm>
          <a:prstGeom prst="rect">
            <a:avLst/>
          </a:prstGeom>
          <a:noFill/>
        </p:spPr>
        <p:txBody>
          <a:bodyPr wrap="none" rtlCol="0">
            <a:spAutoFit/>
          </a:bodyPr>
          <a:lstStyle/>
          <a:p>
            <a:r>
              <a:rPr lang="zh-CN" altLang="en-US" sz="2000" dirty="0">
                <a:latin typeface="思源黑体 CN Bold" panose="020B0800000000000000" pitchFamily="34" charset="-122"/>
                <a:ea typeface="思源黑体 CN Bold" panose="020B0800000000000000" pitchFamily="34" charset="-122"/>
              </a:rPr>
              <a:t>研究目标</a:t>
            </a:r>
          </a:p>
        </p:txBody>
      </p:sp>
      <p:sp>
        <p:nvSpPr>
          <p:cNvPr id="14" name="文本框 13">
            <a:extLst>
              <a:ext uri="{FF2B5EF4-FFF2-40B4-BE49-F238E27FC236}">
                <a16:creationId xmlns:a16="http://schemas.microsoft.com/office/drawing/2014/main" id="{F321879E-185E-47EC-92F3-C3352A3EA9D1}"/>
              </a:ext>
            </a:extLst>
          </p:cNvPr>
          <p:cNvSpPr txBox="1"/>
          <p:nvPr/>
        </p:nvSpPr>
        <p:spPr>
          <a:xfrm>
            <a:off x="3824844" y="1288775"/>
            <a:ext cx="7994181" cy="783228"/>
          </a:xfrm>
          <a:prstGeom prst="rect">
            <a:avLst/>
          </a:prstGeom>
          <a:noFill/>
        </p:spPr>
        <p:txBody>
          <a:bodyPr wrap="square" rtlCol="0">
            <a:spAutoFit/>
          </a:bodyPr>
          <a:lstStyle/>
          <a:p>
            <a:pPr>
              <a:lnSpc>
                <a:spcPct val="130000"/>
              </a:lnSpc>
            </a:pPr>
            <a:r>
              <a:rPr lang="zh-CN" altLang="en-US" dirty="0">
                <a:latin typeface="思源黑体 CN Regular" panose="020B0500000000000000" pitchFamily="34" charset="-122"/>
                <a:ea typeface="思源黑体 CN Regular" panose="020B0500000000000000" pitchFamily="34" charset="-122"/>
              </a:rPr>
              <a:t>聚焦基层慢病防控，构建多模态共病预测模型（准确率≥</a:t>
            </a:r>
            <a:r>
              <a:rPr lang="en-US" altLang="zh-CN" dirty="0">
                <a:latin typeface="思源黑体 CN Regular" panose="020B0500000000000000" pitchFamily="34" charset="-122"/>
                <a:ea typeface="思源黑体 CN Regular" panose="020B0500000000000000" pitchFamily="34" charset="-122"/>
              </a:rPr>
              <a:t>85%</a:t>
            </a:r>
            <a:r>
              <a:rPr lang="zh-CN" altLang="en-US" dirty="0">
                <a:latin typeface="思源黑体 CN Regular" panose="020B0500000000000000" pitchFamily="34" charset="-122"/>
                <a:ea typeface="思源黑体 CN Regular" panose="020B0500000000000000" pitchFamily="34" charset="-122"/>
              </a:rPr>
              <a:t>），适配基层场景，支撑医疗智能化升级。</a:t>
            </a:r>
          </a:p>
        </p:txBody>
      </p:sp>
      <p:sp>
        <p:nvSpPr>
          <p:cNvPr id="48" name="矩形: 圆角 47">
            <a:extLst>
              <a:ext uri="{FF2B5EF4-FFF2-40B4-BE49-F238E27FC236}">
                <a16:creationId xmlns:a16="http://schemas.microsoft.com/office/drawing/2014/main" id="{937B5271-3FEF-40F3-8D33-35A77A090AEA}"/>
              </a:ext>
            </a:extLst>
          </p:cNvPr>
          <p:cNvSpPr/>
          <p:nvPr/>
        </p:nvSpPr>
        <p:spPr>
          <a:xfrm>
            <a:off x="2393514" y="5805753"/>
            <a:ext cx="9463524" cy="796328"/>
          </a:xfrm>
          <a:prstGeom prst="roundRect">
            <a:avLst>
              <a:gd name="adj" fmla="val 11608"/>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p>
        </p:txBody>
      </p:sp>
      <p:sp>
        <p:nvSpPr>
          <p:cNvPr id="49" name="矩形: 圆角 48">
            <a:extLst>
              <a:ext uri="{FF2B5EF4-FFF2-40B4-BE49-F238E27FC236}">
                <a16:creationId xmlns:a16="http://schemas.microsoft.com/office/drawing/2014/main" id="{80FFF5DE-434F-4A5C-A85E-CA7FEC649378}"/>
              </a:ext>
            </a:extLst>
          </p:cNvPr>
          <p:cNvSpPr/>
          <p:nvPr/>
        </p:nvSpPr>
        <p:spPr>
          <a:xfrm>
            <a:off x="2452329" y="5861169"/>
            <a:ext cx="792339" cy="685497"/>
          </a:xfrm>
          <a:prstGeom prst="roundRect">
            <a:avLst>
              <a:gd name="adj" fmla="val 11608"/>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0" name="文本框 49">
            <a:extLst>
              <a:ext uri="{FF2B5EF4-FFF2-40B4-BE49-F238E27FC236}">
                <a16:creationId xmlns:a16="http://schemas.microsoft.com/office/drawing/2014/main" id="{0DF85F14-E757-4DF7-91D2-CD1AC615066B}"/>
              </a:ext>
            </a:extLst>
          </p:cNvPr>
          <p:cNvSpPr txBox="1"/>
          <p:nvPr/>
        </p:nvSpPr>
        <p:spPr>
          <a:xfrm>
            <a:off x="3249678" y="5992641"/>
            <a:ext cx="4126633" cy="422552"/>
          </a:xfrm>
          <a:prstGeom prst="rect">
            <a:avLst/>
          </a:prstGeom>
          <a:noFill/>
        </p:spPr>
        <p:txBody>
          <a:bodyPr wrap="square" rtlCol="0">
            <a:spAutoFit/>
          </a:bodyPr>
          <a:lstStyle/>
          <a:p>
            <a:pPr>
              <a:lnSpc>
                <a:spcPct val="130000"/>
              </a:lnSpc>
            </a:pPr>
            <a:r>
              <a:rPr lang="zh-CN" altLang="en-US" dirty="0">
                <a:solidFill>
                  <a:schemeClr val="accent1"/>
                </a:solidFill>
                <a:latin typeface="思源黑体 CN Bold" panose="020B0800000000000000" pitchFamily="34" charset="-122"/>
                <a:ea typeface="思源黑体 CN Bold" panose="020B0800000000000000" pitchFamily="34" charset="-122"/>
              </a:rPr>
              <a:t>解决慢病预测多模态数据融合学科难题？</a:t>
            </a:r>
          </a:p>
        </p:txBody>
      </p:sp>
      <p:sp>
        <p:nvSpPr>
          <p:cNvPr id="51" name="文本框 50">
            <a:extLst>
              <a:ext uri="{FF2B5EF4-FFF2-40B4-BE49-F238E27FC236}">
                <a16:creationId xmlns:a16="http://schemas.microsoft.com/office/drawing/2014/main" id="{BCE423C8-3EE7-4AB5-80EB-3E3AAFDFED1B}"/>
              </a:ext>
            </a:extLst>
          </p:cNvPr>
          <p:cNvSpPr txBox="1"/>
          <p:nvPr/>
        </p:nvSpPr>
        <p:spPr>
          <a:xfrm>
            <a:off x="2418892" y="5880752"/>
            <a:ext cx="859213" cy="646331"/>
          </a:xfrm>
          <a:prstGeom prst="rect">
            <a:avLst/>
          </a:prstGeom>
          <a:noFill/>
        </p:spPr>
        <p:txBody>
          <a:bodyPr wrap="square" rtlCol="0">
            <a:spAutoFit/>
          </a:bodyPr>
          <a:lstStyle/>
          <a:p>
            <a:pPr algn="ctr"/>
            <a:r>
              <a:rPr lang="zh-CN" altLang="en-US" dirty="0">
                <a:solidFill>
                  <a:schemeClr val="bg1"/>
                </a:solidFill>
                <a:latin typeface="思源黑体 CN Bold" panose="020B0800000000000000" pitchFamily="34" charset="-122"/>
                <a:ea typeface="思源黑体 CN Bold" panose="020B0800000000000000" pitchFamily="34" charset="-122"/>
              </a:rPr>
              <a:t>学科问题</a:t>
            </a:r>
          </a:p>
        </p:txBody>
      </p:sp>
      <p:sp>
        <p:nvSpPr>
          <p:cNvPr id="57" name="文本框 56">
            <a:extLst>
              <a:ext uri="{FF2B5EF4-FFF2-40B4-BE49-F238E27FC236}">
                <a16:creationId xmlns:a16="http://schemas.microsoft.com/office/drawing/2014/main" id="{F0F0BF2C-D024-471E-ADFD-239A7805A0E3}"/>
              </a:ext>
            </a:extLst>
          </p:cNvPr>
          <p:cNvSpPr txBox="1"/>
          <p:nvPr/>
        </p:nvSpPr>
        <p:spPr>
          <a:xfrm>
            <a:off x="7861256" y="5992641"/>
            <a:ext cx="3905178" cy="422552"/>
          </a:xfrm>
          <a:prstGeom prst="rect">
            <a:avLst/>
          </a:prstGeom>
          <a:noFill/>
        </p:spPr>
        <p:txBody>
          <a:bodyPr wrap="square" rtlCol="0">
            <a:spAutoFit/>
          </a:bodyPr>
          <a:lstStyle/>
          <a:p>
            <a:pPr>
              <a:lnSpc>
                <a:spcPct val="130000"/>
              </a:lnSpc>
            </a:pPr>
            <a:r>
              <a:rPr lang="zh-CN" altLang="en-US" dirty="0">
                <a:solidFill>
                  <a:schemeClr val="accent1"/>
                </a:solidFill>
                <a:latin typeface="思源黑体 CN Bold" panose="020B0800000000000000" pitchFamily="34" charset="-122"/>
                <a:ea typeface="思源黑体 CN Bold" panose="020B0800000000000000" pitchFamily="34" charset="-122"/>
              </a:rPr>
              <a:t>填补基层适配型预测模型的学科空白</a:t>
            </a:r>
            <a:r>
              <a:rPr lang="en-US" altLang="zh-CN" dirty="0">
                <a:solidFill>
                  <a:schemeClr val="accent1"/>
                </a:solidFill>
                <a:latin typeface="思源黑体 CN Bold" panose="020B0800000000000000" pitchFamily="34" charset="-122"/>
                <a:ea typeface="思源黑体 CN Bold" panose="020B0800000000000000" pitchFamily="34" charset="-122"/>
              </a:rPr>
              <a:t>?</a:t>
            </a:r>
            <a:endParaRPr lang="zh-CN" altLang="en-US" dirty="0">
              <a:solidFill>
                <a:schemeClr val="accent1"/>
              </a:solidFill>
              <a:latin typeface="思源黑体 CN Bold" panose="020B0800000000000000" pitchFamily="34" charset="-122"/>
              <a:ea typeface="思源黑体 CN Bold" panose="020B0800000000000000" pitchFamily="34" charset="-122"/>
            </a:endParaRPr>
          </a:p>
        </p:txBody>
      </p:sp>
      <p:sp>
        <p:nvSpPr>
          <p:cNvPr id="9" name="箭头: V 形 8">
            <a:extLst>
              <a:ext uri="{FF2B5EF4-FFF2-40B4-BE49-F238E27FC236}">
                <a16:creationId xmlns:a16="http://schemas.microsoft.com/office/drawing/2014/main" id="{E46ADBD0-65CA-479D-AED3-9C0F2610F190}"/>
              </a:ext>
            </a:extLst>
          </p:cNvPr>
          <p:cNvSpPr/>
          <p:nvPr/>
        </p:nvSpPr>
        <p:spPr>
          <a:xfrm>
            <a:off x="7235129" y="5800908"/>
            <a:ext cx="583990" cy="806018"/>
          </a:xfrm>
          <a:prstGeom prst="chevron">
            <a:avLst>
              <a:gd name="adj" fmla="val 92934"/>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33" name="文本框 32">
            <a:extLst>
              <a:ext uri="{FF2B5EF4-FFF2-40B4-BE49-F238E27FC236}">
                <a16:creationId xmlns:a16="http://schemas.microsoft.com/office/drawing/2014/main" id="{BC12DBEE-9AD2-4646-B218-49751FCF7846}"/>
              </a:ext>
            </a:extLst>
          </p:cNvPr>
          <p:cNvSpPr txBox="1"/>
          <p:nvPr/>
        </p:nvSpPr>
        <p:spPr>
          <a:xfrm>
            <a:off x="2294305" y="3777476"/>
            <a:ext cx="1210588" cy="400110"/>
          </a:xfrm>
          <a:prstGeom prst="rect">
            <a:avLst/>
          </a:prstGeom>
          <a:noFill/>
        </p:spPr>
        <p:txBody>
          <a:bodyPr wrap="none" rtlCol="0">
            <a:spAutoFit/>
          </a:bodyPr>
          <a:lstStyle/>
          <a:p>
            <a:r>
              <a:rPr lang="zh-CN" altLang="en-US" sz="2000" dirty="0">
                <a:latin typeface="思源黑体 CN Bold" panose="020B0800000000000000" pitchFamily="34" charset="-122"/>
                <a:ea typeface="思源黑体 CN Bold" panose="020B0800000000000000" pitchFamily="34" charset="-122"/>
              </a:rPr>
              <a:t>研究内容</a:t>
            </a:r>
          </a:p>
        </p:txBody>
      </p:sp>
      <p:sp>
        <p:nvSpPr>
          <p:cNvPr id="32" name="矩形: 圆角 31">
            <a:extLst>
              <a:ext uri="{FF2B5EF4-FFF2-40B4-BE49-F238E27FC236}">
                <a16:creationId xmlns:a16="http://schemas.microsoft.com/office/drawing/2014/main" id="{017FB000-F826-4D16-A24C-36C0A331C442}"/>
              </a:ext>
            </a:extLst>
          </p:cNvPr>
          <p:cNvSpPr/>
          <p:nvPr/>
        </p:nvSpPr>
        <p:spPr>
          <a:xfrm>
            <a:off x="3570041" y="2367204"/>
            <a:ext cx="2655017" cy="3220655"/>
          </a:xfrm>
          <a:prstGeom prst="roundRect">
            <a:avLst>
              <a:gd name="adj" fmla="val 5406"/>
            </a:avLst>
          </a:prstGeom>
          <a:solidFill>
            <a:schemeClr val="bg1"/>
          </a:solidFill>
          <a:ln w="15875">
            <a:solidFill>
              <a:schemeClr val="accent1"/>
            </a:solid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zh-CN" altLang="en-US"/>
          </a:p>
        </p:txBody>
      </p:sp>
      <p:sp>
        <p:nvSpPr>
          <p:cNvPr id="36" name="矩形: 圆顶角 35">
            <a:extLst>
              <a:ext uri="{FF2B5EF4-FFF2-40B4-BE49-F238E27FC236}">
                <a16:creationId xmlns:a16="http://schemas.microsoft.com/office/drawing/2014/main" id="{8487AA3B-2DBA-4B44-B88E-621EF3284E64}"/>
              </a:ext>
            </a:extLst>
          </p:cNvPr>
          <p:cNvSpPr/>
          <p:nvPr/>
        </p:nvSpPr>
        <p:spPr>
          <a:xfrm>
            <a:off x="4011518" y="2363140"/>
            <a:ext cx="1772062" cy="376049"/>
          </a:xfrm>
          <a:prstGeom prst="round2SameRect">
            <a:avLst>
              <a:gd name="adj1" fmla="val 0"/>
              <a:gd name="adj2" fmla="val 19256"/>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600" b="1" dirty="0">
                <a:latin typeface="思源黑体 CN Bold" panose="020B0800000000000000" pitchFamily="34" charset="-122"/>
                <a:ea typeface="思源黑体 CN Bold" panose="020B0800000000000000" pitchFamily="34" charset="-122"/>
              </a:rPr>
              <a:t>研究内容一</a:t>
            </a:r>
          </a:p>
        </p:txBody>
      </p:sp>
      <p:sp>
        <p:nvSpPr>
          <p:cNvPr id="54" name="文本框 53">
            <a:extLst>
              <a:ext uri="{FF2B5EF4-FFF2-40B4-BE49-F238E27FC236}">
                <a16:creationId xmlns:a16="http://schemas.microsoft.com/office/drawing/2014/main" id="{86F35717-8495-48AB-A5D9-B2A14D2F4AB6}"/>
              </a:ext>
            </a:extLst>
          </p:cNvPr>
          <p:cNvSpPr txBox="1"/>
          <p:nvPr/>
        </p:nvSpPr>
        <p:spPr>
          <a:xfrm>
            <a:off x="3660645" y="2851334"/>
            <a:ext cx="2473810" cy="436145"/>
          </a:xfrm>
          <a:prstGeom prst="rect">
            <a:avLst/>
          </a:prstGeom>
          <a:noFill/>
        </p:spPr>
        <p:txBody>
          <a:bodyPr wrap="square" rtlCol="0">
            <a:spAutoFit/>
          </a:bodyPr>
          <a:lstStyle/>
          <a:p>
            <a:pPr algn="ctr">
              <a:lnSpc>
                <a:spcPct val="120000"/>
              </a:lnSpc>
            </a:pPr>
            <a:r>
              <a:rPr lang="zh-CN" altLang="en-US" sz="2000" dirty="0">
                <a:latin typeface="思源黑体 CN Bold" panose="020B0800000000000000" pitchFamily="34" charset="-122"/>
                <a:ea typeface="思源黑体 CN Bold" panose="020B0800000000000000" pitchFamily="34" charset="-122"/>
              </a:rPr>
              <a:t>聚焦基层慢病防控</a:t>
            </a:r>
          </a:p>
        </p:txBody>
      </p:sp>
      <p:sp>
        <p:nvSpPr>
          <p:cNvPr id="55" name="矩形: 圆角 54">
            <a:extLst>
              <a:ext uri="{FF2B5EF4-FFF2-40B4-BE49-F238E27FC236}">
                <a16:creationId xmlns:a16="http://schemas.microsoft.com/office/drawing/2014/main" id="{CBEB3393-8E04-436F-BAFC-272C5143CFDA}"/>
              </a:ext>
            </a:extLst>
          </p:cNvPr>
          <p:cNvSpPr/>
          <p:nvPr/>
        </p:nvSpPr>
        <p:spPr>
          <a:xfrm>
            <a:off x="3660645" y="3395736"/>
            <a:ext cx="2473810" cy="2113524"/>
          </a:xfrm>
          <a:prstGeom prst="roundRect">
            <a:avLst>
              <a:gd name="adj" fmla="val 6239"/>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2" name="文本框 51">
            <a:extLst>
              <a:ext uri="{FF2B5EF4-FFF2-40B4-BE49-F238E27FC236}">
                <a16:creationId xmlns:a16="http://schemas.microsoft.com/office/drawing/2014/main" id="{DAAD2115-1914-4072-861B-DDFBB463BDE9}"/>
              </a:ext>
            </a:extLst>
          </p:cNvPr>
          <p:cNvSpPr txBox="1"/>
          <p:nvPr/>
        </p:nvSpPr>
        <p:spPr>
          <a:xfrm>
            <a:off x="3762211" y="3607896"/>
            <a:ext cx="2372243" cy="734753"/>
          </a:xfrm>
          <a:prstGeom prst="rect">
            <a:avLst/>
          </a:prstGeom>
          <a:noFill/>
        </p:spPr>
        <p:txBody>
          <a:bodyPr wrap="square" rtlCol="0">
            <a:spAutoFit/>
          </a:bodyPr>
          <a:lstStyle/>
          <a:p>
            <a:pPr marL="285750" indent="-285750">
              <a:lnSpc>
                <a:spcPct val="120000"/>
              </a:lnSpc>
              <a:buFont typeface="Wingdings" panose="05000000000000000000" pitchFamily="2" charset="2"/>
              <a:buChar char="ü"/>
            </a:pPr>
            <a:r>
              <a:rPr lang="zh-CN" altLang="en-US" dirty="0">
                <a:latin typeface="思源黑体 CN Regular" panose="020B0500000000000000" pitchFamily="34" charset="-122"/>
                <a:ea typeface="思源黑体 CN Regular" panose="020B0500000000000000" pitchFamily="34" charset="-122"/>
              </a:rPr>
              <a:t>梳理基层慢病临床与行为数据；</a:t>
            </a:r>
          </a:p>
        </p:txBody>
      </p:sp>
      <p:sp>
        <p:nvSpPr>
          <p:cNvPr id="53" name="文本框 52">
            <a:extLst>
              <a:ext uri="{FF2B5EF4-FFF2-40B4-BE49-F238E27FC236}">
                <a16:creationId xmlns:a16="http://schemas.microsoft.com/office/drawing/2014/main" id="{05F15F6D-33C8-49C0-A939-20FFEB32CFA1}"/>
              </a:ext>
            </a:extLst>
          </p:cNvPr>
          <p:cNvSpPr txBox="1"/>
          <p:nvPr/>
        </p:nvSpPr>
        <p:spPr>
          <a:xfrm>
            <a:off x="3762211" y="4472149"/>
            <a:ext cx="2372243" cy="734753"/>
          </a:xfrm>
          <a:prstGeom prst="rect">
            <a:avLst/>
          </a:prstGeom>
          <a:noFill/>
        </p:spPr>
        <p:txBody>
          <a:bodyPr wrap="square" rtlCol="0">
            <a:spAutoFit/>
          </a:bodyPr>
          <a:lstStyle/>
          <a:p>
            <a:pPr marL="285750" indent="-285750">
              <a:lnSpc>
                <a:spcPct val="120000"/>
              </a:lnSpc>
              <a:buFont typeface="Wingdings" panose="05000000000000000000" pitchFamily="2" charset="2"/>
              <a:buChar char="ü"/>
            </a:pPr>
            <a:r>
              <a:rPr lang="zh-CN" altLang="en-US" dirty="0">
                <a:latin typeface="思源黑体 CN Regular" panose="020B0500000000000000" pitchFamily="34" charset="-122"/>
                <a:ea typeface="思源黑体 CN Regular" panose="020B0500000000000000" pitchFamily="34" charset="-122"/>
              </a:rPr>
              <a:t>构建标准化多模态数据集。</a:t>
            </a:r>
          </a:p>
        </p:txBody>
      </p:sp>
      <p:sp>
        <p:nvSpPr>
          <p:cNvPr id="34" name="矩形: 圆角 33">
            <a:extLst>
              <a:ext uri="{FF2B5EF4-FFF2-40B4-BE49-F238E27FC236}">
                <a16:creationId xmlns:a16="http://schemas.microsoft.com/office/drawing/2014/main" id="{4F06A20E-30D4-4340-8A7B-63DAAB411F88}"/>
              </a:ext>
            </a:extLst>
          </p:cNvPr>
          <p:cNvSpPr/>
          <p:nvPr/>
        </p:nvSpPr>
        <p:spPr>
          <a:xfrm>
            <a:off x="6386031" y="2367204"/>
            <a:ext cx="2655017" cy="3220655"/>
          </a:xfrm>
          <a:prstGeom prst="roundRect">
            <a:avLst>
              <a:gd name="adj" fmla="val 5406"/>
            </a:avLst>
          </a:prstGeom>
          <a:solidFill>
            <a:schemeClr val="bg1"/>
          </a:solidFill>
          <a:ln w="15875">
            <a:solidFill>
              <a:schemeClr val="accent1"/>
            </a:solid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zh-CN" altLang="en-US"/>
          </a:p>
        </p:txBody>
      </p:sp>
      <p:sp>
        <p:nvSpPr>
          <p:cNvPr id="41" name="矩形: 圆顶角 40">
            <a:extLst>
              <a:ext uri="{FF2B5EF4-FFF2-40B4-BE49-F238E27FC236}">
                <a16:creationId xmlns:a16="http://schemas.microsoft.com/office/drawing/2014/main" id="{B74D0B9B-BE7F-45F0-A2D9-25CA83654A59}"/>
              </a:ext>
            </a:extLst>
          </p:cNvPr>
          <p:cNvSpPr/>
          <p:nvPr/>
        </p:nvSpPr>
        <p:spPr>
          <a:xfrm>
            <a:off x="6827509" y="2363140"/>
            <a:ext cx="1772062" cy="376049"/>
          </a:xfrm>
          <a:prstGeom prst="round2SameRect">
            <a:avLst>
              <a:gd name="adj1" fmla="val 0"/>
              <a:gd name="adj2" fmla="val 19256"/>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600" b="1" dirty="0">
                <a:latin typeface="思源黑体 CN Bold" panose="020B0800000000000000" pitchFamily="34" charset="-122"/>
                <a:ea typeface="思源黑体 CN Bold" panose="020B0800000000000000" pitchFamily="34" charset="-122"/>
              </a:rPr>
              <a:t>研究内容二</a:t>
            </a:r>
          </a:p>
        </p:txBody>
      </p:sp>
      <p:sp>
        <p:nvSpPr>
          <p:cNvPr id="61" name="文本框 60">
            <a:extLst>
              <a:ext uri="{FF2B5EF4-FFF2-40B4-BE49-F238E27FC236}">
                <a16:creationId xmlns:a16="http://schemas.microsoft.com/office/drawing/2014/main" id="{C9E5CF8C-785A-4CB5-9B43-6A603568F683}"/>
              </a:ext>
            </a:extLst>
          </p:cNvPr>
          <p:cNvSpPr txBox="1"/>
          <p:nvPr/>
        </p:nvSpPr>
        <p:spPr>
          <a:xfrm>
            <a:off x="6386033" y="2851334"/>
            <a:ext cx="2655015" cy="436145"/>
          </a:xfrm>
          <a:prstGeom prst="rect">
            <a:avLst/>
          </a:prstGeom>
          <a:noFill/>
        </p:spPr>
        <p:txBody>
          <a:bodyPr wrap="square" rtlCol="0">
            <a:spAutoFit/>
          </a:bodyPr>
          <a:lstStyle/>
          <a:p>
            <a:pPr algn="ctr">
              <a:lnSpc>
                <a:spcPct val="120000"/>
              </a:lnSpc>
            </a:pPr>
            <a:r>
              <a:rPr lang="zh-CN" altLang="en-US" sz="2000" dirty="0">
                <a:latin typeface="思源黑体 CN Bold" panose="020B0800000000000000" pitchFamily="34" charset="-122"/>
                <a:ea typeface="思源黑体 CN Bold" panose="020B0800000000000000" pitchFamily="34" charset="-122"/>
              </a:rPr>
              <a:t>构建共病预测模型</a:t>
            </a:r>
          </a:p>
        </p:txBody>
      </p:sp>
      <p:sp>
        <p:nvSpPr>
          <p:cNvPr id="62" name="矩形: 圆角 61">
            <a:extLst>
              <a:ext uri="{FF2B5EF4-FFF2-40B4-BE49-F238E27FC236}">
                <a16:creationId xmlns:a16="http://schemas.microsoft.com/office/drawing/2014/main" id="{8D2A121A-A102-4149-81F2-FB6392D3B3DB}"/>
              </a:ext>
            </a:extLst>
          </p:cNvPr>
          <p:cNvSpPr/>
          <p:nvPr/>
        </p:nvSpPr>
        <p:spPr>
          <a:xfrm>
            <a:off x="6476635" y="3395736"/>
            <a:ext cx="2473810" cy="2113524"/>
          </a:xfrm>
          <a:prstGeom prst="roundRect">
            <a:avLst>
              <a:gd name="adj" fmla="val 6239"/>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3" name="文本框 62">
            <a:extLst>
              <a:ext uri="{FF2B5EF4-FFF2-40B4-BE49-F238E27FC236}">
                <a16:creationId xmlns:a16="http://schemas.microsoft.com/office/drawing/2014/main" id="{73F1F282-C17C-423E-96D7-F3A3BDE7A5BA}"/>
              </a:ext>
            </a:extLst>
          </p:cNvPr>
          <p:cNvSpPr txBox="1"/>
          <p:nvPr/>
        </p:nvSpPr>
        <p:spPr>
          <a:xfrm>
            <a:off x="6578201" y="3607896"/>
            <a:ext cx="2372243" cy="734753"/>
          </a:xfrm>
          <a:prstGeom prst="rect">
            <a:avLst/>
          </a:prstGeom>
          <a:noFill/>
        </p:spPr>
        <p:txBody>
          <a:bodyPr wrap="square" rtlCol="0">
            <a:spAutoFit/>
          </a:bodyPr>
          <a:lstStyle/>
          <a:p>
            <a:pPr marL="285750" indent="-285750">
              <a:lnSpc>
                <a:spcPct val="120000"/>
              </a:lnSpc>
              <a:buFont typeface="Wingdings" panose="05000000000000000000" pitchFamily="2" charset="2"/>
              <a:buChar char="ü"/>
            </a:pPr>
            <a:r>
              <a:rPr lang="zh-CN" altLang="en-US" dirty="0">
                <a:latin typeface="思源黑体 CN Regular" panose="020B0500000000000000" pitchFamily="34" charset="-122"/>
                <a:ea typeface="思源黑体 CN Regular" panose="020B0500000000000000" pitchFamily="34" charset="-122"/>
              </a:rPr>
              <a:t>优化</a:t>
            </a:r>
            <a:r>
              <a:rPr lang="en-US" altLang="zh-CN" dirty="0">
                <a:latin typeface="思源黑体 CN Regular" panose="020B0500000000000000" pitchFamily="34" charset="-122"/>
                <a:ea typeface="思源黑体 CN Regular" panose="020B0500000000000000" pitchFamily="34" charset="-122"/>
              </a:rPr>
              <a:t>Transformer</a:t>
            </a:r>
            <a:r>
              <a:rPr lang="zh-CN" altLang="en-US" dirty="0">
                <a:latin typeface="思源黑体 CN Regular" panose="020B0500000000000000" pitchFamily="34" charset="-122"/>
                <a:ea typeface="思源黑体 CN Regular" panose="020B0500000000000000" pitchFamily="34" charset="-122"/>
              </a:rPr>
              <a:t>模型核心结构；</a:t>
            </a:r>
          </a:p>
        </p:txBody>
      </p:sp>
      <p:sp>
        <p:nvSpPr>
          <p:cNvPr id="64" name="文本框 63">
            <a:extLst>
              <a:ext uri="{FF2B5EF4-FFF2-40B4-BE49-F238E27FC236}">
                <a16:creationId xmlns:a16="http://schemas.microsoft.com/office/drawing/2014/main" id="{B1483621-3C66-4A75-AF22-2DB76CE3E876}"/>
              </a:ext>
            </a:extLst>
          </p:cNvPr>
          <p:cNvSpPr txBox="1"/>
          <p:nvPr/>
        </p:nvSpPr>
        <p:spPr>
          <a:xfrm>
            <a:off x="6578201" y="4472149"/>
            <a:ext cx="2372243" cy="734753"/>
          </a:xfrm>
          <a:prstGeom prst="rect">
            <a:avLst/>
          </a:prstGeom>
          <a:noFill/>
        </p:spPr>
        <p:txBody>
          <a:bodyPr wrap="square" rtlCol="0">
            <a:spAutoFit/>
          </a:bodyPr>
          <a:lstStyle/>
          <a:p>
            <a:pPr marL="285750" indent="-285750">
              <a:lnSpc>
                <a:spcPct val="120000"/>
              </a:lnSpc>
              <a:buFont typeface="Wingdings" panose="05000000000000000000" pitchFamily="2" charset="2"/>
              <a:buChar char="ü"/>
            </a:pPr>
            <a:r>
              <a:rPr lang="zh-CN" altLang="en-US" dirty="0">
                <a:latin typeface="思源黑体 CN Regular" panose="020B0500000000000000" pitchFamily="34" charset="-122"/>
                <a:ea typeface="思源黑体 CN Regular" panose="020B0500000000000000" pitchFamily="34" charset="-122"/>
              </a:rPr>
              <a:t>融入注意力机制提升精度。</a:t>
            </a:r>
          </a:p>
        </p:txBody>
      </p:sp>
      <p:sp>
        <p:nvSpPr>
          <p:cNvPr id="38" name="矩形: 圆角 37">
            <a:extLst>
              <a:ext uri="{FF2B5EF4-FFF2-40B4-BE49-F238E27FC236}">
                <a16:creationId xmlns:a16="http://schemas.microsoft.com/office/drawing/2014/main" id="{33B03D95-2A98-4D16-925B-4EE9BAD22EEA}"/>
              </a:ext>
            </a:extLst>
          </p:cNvPr>
          <p:cNvSpPr/>
          <p:nvPr/>
        </p:nvSpPr>
        <p:spPr>
          <a:xfrm>
            <a:off x="9202021" y="2367204"/>
            <a:ext cx="2655017" cy="3220655"/>
          </a:xfrm>
          <a:prstGeom prst="roundRect">
            <a:avLst>
              <a:gd name="adj" fmla="val 5406"/>
            </a:avLst>
          </a:prstGeom>
          <a:solidFill>
            <a:schemeClr val="bg1"/>
          </a:solidFill>
          <a:ln w="15875">
            <a:solidFill>
              <a:schemeClr val="accent1"/>
            </a:solid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zh-CN" altLang="en-US"/>
          </a:p>
        </p:txBody>
      </p:sp>
      <p:sp>
        <p:nvSpPr>
          <p:cNvPr id="47" name="矩形: 圆顶角 46">
            <a:extLst>
              <a:ext uri="{FF2B5EF4-FFF2-40B4-BE49-F238E27FC236}">
                <a16:creationId xmlns:a16="http://schemas.microsoft.com/office/drawing/2014/main" id="{19ECDA69-0BF0-416A-9BC2-5BEA4E1D4FDB}"/>
              </a:ext>
            </a:extLst>
          </p:cNvPr>
          <p:cNvSpPr/>
          <p:nvPr/>
        </p:nvSpPr>
        <p:spPr>
          <a:xfrm>
            <a:off x="9643499" y="2363140"/>
            <a:ext cx="1772062" cy="376049"/>
          </a:xfrm>
          <a:prstGeom prst="round2SameRect">
            <a:avLst>
              <a:gd name="adj1" fmla="val 0"/>
              <a:gd name="adj2" fmla="val 19256"/>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600" b="1" dirty="0">
                <a:latin typeface="思源黑体 CN Bold" panose="020B0800000000000000" pitchFamily="34" charset="-122"/>
                <a:ea typeface="思源黑体 CN Bold" panose="020B0800000000000000" pitchFamily="34" charset="-122"/>
              </a:rPr>
              <a:t>研究内容三</a:t>
            </a:r>
          </a:p>
        </p:txBody>
      </p:sp>
      <p:sp>
        <p:nvSpPr>
          <p:cNvPr id="66" name="文本框 65">
            <a:extLst>
              <a:ext uri="{FF2B5EF4-FFF2-40B4-BE49-F238E27FC236}">
                <a16:creationId xmlns:a16="http://schemas.microsoft.com/office/drawing/2014/main" id="{767BA80B-C9F6-4220-966E-C329631355B1}"/>
              </a:ext>
            </a:extLst>
          </p:cNvPr>
          <p:cNvSpPr txBox="1"/>
          <p:nvPr/>
        </p:nvSpPr>
        <p:spPr>
          <a:xfrm>
            <a:off x="9292625" y="2851334"/>
            <a:ext cx="2473810" cy="436145"/>
          </a:xfrm>
          <a:prstGeom prst="rect">
            <a:avLst/>
          </a:prstGeom>
          <a:noFill/>
        </p:spPr>
        <p:txBody>
          <a:bodyPr wrap="square" rtlCol="0">
            <a:spAutoFit/>
          </a:bodyPr>
          <a:lstStyle/>
          <a:p>
            <a:pPr algn="ctr">
              <a:lnSpc>
                <a:spcPct val="120000"/>
              </a:lnSpc>
            </a:pPr>
            <a:r>
              <a:rPr lang="zh-CN" altLang="en-US" sz="2000" dirty="0">
                <a:latin typeface="思源黑体 CN Bold" panose="020B0800000000000000" pitchFamily="34" charset="-122"/>
                <a:ea typeface="思源黑体 CN Bold" panose="020B0800000000000000" pitchFamily="34" charset="-122"/>
              </a:rPr>
              <a:t>医疗智能化升级</a:t>
            </a:r>
          </a:p>
        </p:txBody>
      </p:sp>
      <p:sp>
        <p:nvSpPr>
          <p:cNvPr id="67" name="矩形: 圆角 66">
            <a:extLst>
              <a:ext uri="{FF2B5EF4-FFF2-40B4-BE49-F238E27FC236}">
                <a16:creationId xmlns:a16="http://schemas.microsoft.com/office/drawing/2014/main" id="{556704B3-6138-4CA7-ABD2-43EFF528897A}"/>
              </a:ext>
            </a:extLst>
          </p:cNvPr>
          <p:cNvSpPr/>
          <p:nvPr/>
        </p:nvSpPr>
        <p:spPr>
          <a:xfrm>
            <a:off x="9292625" y="3395736"/>
            <a:ext cx="2473810" cy="2113524"/>
          </a:xfrm>
          <a:prstGeom prst="roundRect">
            <a:avLst>
              <a:gd name="adj" fmla="val 6239"/>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8" name="文本框 67">
            <a:extLst>
              <a:ext uri="{FF2B5EF4-FFF2-40B4-BE49-F238E27FC236}">
                <a16:creationId xmlns:a16="http://schemas.microsoft.com/office/drawing/2014/main" id="{40844ED9-BA33-449B-98E1-58D31B92E2CE}"/>
              </a:ext>
            </a:extLst>
          </p:cNvPr>
          <p:cNvSpPr txBox="1"/>
          <p:nvPr/>
        </p:nvSpPr>
        <p:spPr>
          <a:xfrm>
            <a:off x="9394191" y="3607896"/>
            <a:ext cx="2372243" cy="734753"/>
          </a:xfrm>
          <a:prstGeom prst="rect">
            <a:avLst/>
          </a:prstGeom>
          <a:noFill/>
        </p:spPr>
        <p:txBody>
          <a:bodyPr wrap="square" rtlCol="0">
            <a:spAutoFit/>
          </a:bodyPr>
          <a:lstStyle/>
          <a:p>
            <a:pPr marL="285750" indent="-285750">
              <a:lnSpc>
                <a:spcPct val="120000"/>
              </a:lnSpc>
              <a:buFont typeface="Wingdings" panose="05000000000000000000" pitchFamily="2" charset="2"/>
              <a:buChar char="ü"/>
            </a:pPr>
            <a:r>
              <a:rPr lang="zh-CN" altLang="en-US" dirty="0">
                <a:latin typeface="思源黑体 CN Regular" panose="020B0500000000000000" pitchFamily="34" charset="-122"/>
                <a:ea typeface="思源黑体 CN Regular" panose="020B0500000000000000" pitchFamily="34" charset="-122"/>
              </a:rPr>
              <a:t>验证基层医疗机构适配性；</a:t>
            </a:r>
          </a:p>
        </p:txBody>
      </p:sp>
      <p:sp>
        <p:nvSpPr>
          <p:cNvPr id="69" name="文本框 68">
            <a:extLst>
              <a:ext uri="{FF2B5EF4-FFF2-40B4-BE49-F238E27FC236}">
                <a16:creationId xmlns:a16="http://schemas.microsoft.com/office/drawing/2014/main" id="{D2A62BC0-C022-4654-BDD3-97EA66D76F12}"/>
              </a:ext>
            </a:extLst>
          </p:cNvPr>
          <p:cNvSpPr txBox="1"/>
          <p:nvPr/>
        </p:nvSpPr>
        <p:spPr>
          <a:xfrm>
            <a:off x="9394191" y="4472149"/>
            <a:ext cx="2372243" cy="734753"/>
          </a:xfrm>
          <a:prstGeom prst="rect">
            <a:avLst/>
          </a:prstGeom>
          <a:noFill/>
        </p:spPr>
        <p:txBody>
          <a:bodyPr wrap="square" rtlCol="0">
            <a:spAutoFit/>
          </a:bodyPr>
          <a:lstStyle/>
          <a:p>
            <a:pPr marL="285750" indent="-285750">
              <a:lnSpc>
                <a:spcPct val="120000"/>
              </a:lnSpc>
              <a:buFont typeface="Wingdings" panose="05000000000000000000" pitchFamily="2" charset="2"/>
              <a:buChar char="ü"/>
            </a:pPr>
            <a:r>
              <a:rPr lang="zh-CN" altLang="en-US" dirty="0">
                <a:latin typeface="思源黑体 CN Regular" panose="020B0500000000000000" pitchFamily="34" charset="-122"/>
                <a:ea typeface="思源黑体 CN Regular" panose="020B0500000000000000" pitchFamily="34" charset="-122"/>
              </a:rPr>
              <a:t>测试模型跨场景泛化能力。</a:t>
            </a:r>
          </a:p>
        </p:txBody>
      </p:sp>
      <p:sp>
        <p:nvSpPr>
          <p:cNvPr id="105" name="文本框 104">
            <a:extLst>
              <a:ext uri="{FF2B5EF4-FFF2-40B4-BE49-F238E27FC236}">
                <a16:creationId xmlns:a16="http://schemas.microsoft.com/office/drawing/2014/main" id="{651784C5-070F-4CF6-85CB-A106CD9E0E60}"/>
              </a:ext>
            </a:extLst>
          </p:cNvPr>
          <p:cNvSpPr txBox="1"/>
          <p:nvPr/>
        </p:nvSpPr>
        <p:spPr>
          <a:xfrm>
            <a:off x="2209656" y="248670"/>
            <a:ext cx="3486852" cy="461665"/>
          </a:xfrm>
          <a:prstGeom prst="rect">
            <a:avLst/>
          </a:prstGeom>
          <a:noFill/>
        </p:spPr>
        <p:txBody>
          <a:bodyPr wrap="none" rtlCol="0">
            <a:spAutoFit/>
          </a:bodyPr>
          <a:lstStyle/>
          <a:p>
            <a:r>
              <a:rPr lang="en-US" altLang="zh-CN" sz="2400" dirty="0">
                <a:solidFill>
                  <a:schemeClr val="accent1"/>
                </a:solidFill>
                <a:latin typeface="思源黑体 CN Bold" panose="020B0800000000000000" pitchFamily="34" charset="-122"/>
                <a:ea typeface="思源黑体 CN Bold" panose="020B0800000000000000" pitchFamily="34" charset="-122"/>
              </a:rPr>
              <a:t>2.1 </a:t>
            </a:r>
            <a:r>
              <a:rPr lang="zh-CN" altLang="en-US" sz="2400" dirty="0">
                <a:solidFill>
                  <a:schemeClr val="accent1"/>
                </a:solidFill>
                <a:latin typeface="思源黑体 CN Bold" panose="020B0800000000000000" pitchFamily="34" charset="-122"/>
                <a:ea typeface="思源黑体 CN Bold" panose="020B0800000000000000" pitchFamily="34" charset="-122"/>
              </a:rPr>
              <a:t>研究目标和研究内容</a:t>
            </a:r>
          </a:p>
        </p:txBody>
      </p:sp>
      <p:sp>
        <p:nvSpPr>
          <p:cNvPr id="107" name="文本框 106">
            <a:extLst>
              <a:ext uri="{FF2B5EF4-FFF2-40B4-BE49-F238E27FC236}">
                <a16:creationId xmlns:a16="http://schemas.microsoft.com/office/drawing/2014/main" id="{763C75AD-CE05-40A3-8DD7-FC25F12AD8AF}"/>
              </a:ext>
            </a:extLst>
          </p:cNvPr>
          <p:cNvSpPr txBox="1"/>
          <p:nvPr/>
        </p:nvSpPr>
        <p:spPr>
          <a:xfrm>
            <a:off x="373082" y="2098899"/>
            <a:ext cx="1660612" cy="338554"/>
          </a:xfrm>
          <a:prstGeom prst="rect">
            <a:avLst/>
          </a:prstGeom>
          <a:noFill/>
        </p:spPr>
        <p:txBody>
          <a:bodyPr wrap="square" rtlCol="0">
            <a:spAutoFit/>
          </a:bodyPr>
          <a:lstStyle/>
          <a:p>
            <a:r>
              <a:rPr lang="zh-CN" altLang="en-US" sz="1600" dirty="0">
                <a:solidFill>
                  <a:schemeClr val="bg1"/>
                </a:solidFill>
                <a:latin typeface="思源黑体 CN Regular" panose="020B0500000000000000" pitchFamily="34" charset="-122"/>
                <a:ea typeface="思源黑体 CN Regular" panose="020B0500000000000000" pitchFamily="34" charset="-122"/>
              </a:rPr>
              <a:t>研究背景及现状</a:t>
            </a:r>
          </a:p>
        </p:txBody>
      </p:sp>
      <p:sp>
        <p:nvSpPr>
          <p:cNvPr id="121" name="任意矩形：001">
            <a:extLst>
              <a:ext uri="{FF2B5EF4-FFF2-40B4-BE49-F238E27FC236}">
                <a16:creationId xmlns:a16="http://schemas.microsoft.com/office/drawing/2014/main" id="{15F8ACD2-E4AD-47DD-9FE9-FF8892117EDF}"/>
              </a:ext>
            </a:extLst>
          </p:cNvPr>
          <p:cNvSpPr/>
          <p:nvPr/>
        </p:nvSpPr>
        <p:spPr>
          <a:xfrm>
            <a:off x="131492" y="2145245"/>
            <a:ext cx="226722" cy="202893"/>
          </a:xfrm>
          <a:custGeom>
            <a:avLst/>
            <a:gdLst>
              <a:gd name="connsiteX0" fmla="*/ 79591 w 607005"/>
              <a:gd name="connsiteY0" fmla="*/ 373864 h 543210"/>
              <a:gd name="connsiteX1" fmla="*/ 33701 w 607005"/>
              <a:gd name="connsiteY1" fmla="*/ 461494 h 543210"/>
              <a:gd name="connsiteX2" fmla="*/ 79501 w 607005"/>
              <a:gd name="connsiteY2" fmla="*/ 507233 h 543210"/>
              <a:gd name="connsiteX3" fmla="*/ 125392 w 607005"/>
              <a:gd name="connsiteY3" fmla="*/ 461494 h 543210"/>
              <a:gd name="connsiteX4" fmla="*/ 79591 w 607005"/>
              <a:gd name="connsiteY4" fmla="*/ 373864 h 543210"/>
              <a:gd name="connsiteX5" fmla="*/ 79501 w 607005"/>
              <a:gd name="connsiteY5" fmla="*/ 328661 h 543210"/>
              <a:gd name="connsiteX6" fmla="*/ 92856 w 607005"/>
              <a:gd name="connsiteY6" fmla="*/ 335106 h 543210"/>
              <a:gd name="connsiteX7" fmla="*/ 158913 w 607005"/>
              <a:gd name="connsiteY7" fmla="*/ 461404 h 543210"/>
              <a:gd name="connsiteX8" fmla="*/ 79501 w 607005"/>
              <a:gd name="connsiteY8" fmla="*/ 540710 h 543210"/>
              <a:gd name="connsiteX9" fmla="*/ 0 w 607005"/>
              <a:gd name="connsiteY9" fmla="*/ 461404 h 543210"/>
              <a:gd name="connsiteX10" fmla="*/ 66236 w 607005"/>
              <a:gd name="connsiteY10" fmla="*/ 335195 h 543210"/>
              <a:gd name="connsiteX11" fmla="*/ 79501 w 607005"/>
              <a:gd name="connsiteY11" fmla="*/ 328661 h 543210"/>
              <a:gd name="connsiteX12" fmla="*/ 196548 w 607005"/>
              <a:gd name="connsiteY12" fmla="*/ 281688 h 543210"/>
              <a:gd name="connsiteX13" fmla="*/ 391755 w 607005"/>
              <a:gd name="connsiteY13" fmla="*/ 476431 h 543210"/>
              <a:gd name="connsiteX14" fmla="*/ 540265 w 607005"/>
              <a:gd name="connsiteY14" fmla="*/ 476431 h 543210"/>
              <a:gd name="connsiteX15" fmla="*/ 540265 w 607005"/>
              <a:gd name="connsiteY15" fmla="*/ 328047 h 543210"/>
              <a:gd name="connsiteX16" fmla="*/ 493749 w 607005"/>
              <a:gd name="connsiteY16" fmla="*/ 281688 h 543210"/>
              <a:gd name="connsiteX17" fmla="*/ 261707 w 607005"/>
              <a:gd name="connsiteY17" fmla="*/ 49894 h 543210"/>
              <a:gd name="connsiteX18" fmla="*/ 113017 w 607005"/>
              <a:gd name="connsiteY18" fmla="*/ 198278 h 543210"/>
              <a:gd name="connsiteX19" fmla="*/ 163028 w 607005"/>
              <a:gd name="connsiteY19" fmla="*/ 248127 h 543210"/>
              <a:gd name="connsiteX20" fmla="*/ 460229 w 607005"/>
              <a:gd name="connsiteY20" fmla="*/ 248127 h 543210"/>
              <a:gd name="connsiteX21" fmla="*/ 271073 w 607005"/>
              <a:gd name="connsiteY21" fmla="*/ 0 h 543210"/>
              <a:gd name="connsiteX22" fmla="*/ 282948 w 607005"/>
              <a:gd name="connsiteY22" fmla="*/ 4967 h 543210"/>
              <a:gd name="connsiteX23" fmla="*/ 285099 w 607005"/>
              <a:gd name="connsiteY23" fmla="*/ 25909 h 543210"/>
              <a:gd name="connsiteX24" fmla="*/ 563927 w 607005"/>
              <a:gd name="connsiteY24" fmla="*/ 304331 h 543210"/>
              <a:gd name="connsiteX25" fmla="*/ 563927 w 607005"/>
              <a:gd name="connsiteY25" fmla="*/ 500148 h 543210"/>
              <a:gd name="connsiteX26" fmla="*/ 367824 w 607005"/>
              <a:gd name="connsiteY26" fmla="*/ 500148 h 543210"/>
              <a:gd name="connsiteX27" fmla="*/ 88997 w 607005"/>
              <a:gd name="connsiteY27" fmla="*/ 221726 h 543210"/>
              <a:gd name="connsiteX28" fmla="*/ 68024 w 607005"/>
              <a:gd name="connsiteY28" fmla="*/ 219578 h 543210"/>
              <a:gd name="connsiteX29" fmla="*/ 68024 w 607005"/>
              <a:gd name="connsiteY29" fmla="*/ 195862 h 543210"/>
              <a:gd name="connsiteX30" fmla="*/ 259197 w 607005"/>
              <a:gd name="connsiteY30" fmla="*/ 4967 h 543210"/>
              <a:gd name="connsiteX31" fmla="*/ 271073 w 607005"/>
              <a:gd name="connsiteY31" fmla="*/ 0 h 5432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607005" h="543210">
                <a:moveTo>
                  <a:pt x="79591" y="373864"/>
                </a:moveTo>
                <a:cubicBezTo>
                  <a:pt x="57452" y="405192"/>
                  <a:pt x="33701" y="445024"/>
                  <a:pt x="33701" y="461494"/>
                </a:cubicBezTo>
                <a:cubicBezTo>
                  <a:pt x="33701" y="486646"/>
                  <a:pt x="54226" y="507233"/>
                  <a:pt x="79501" y="507233"/>
                </a:cubicBezTo>
                <a:cubicBezTo>
                  <a:pt x="104687" y="507233"/>
                  <a:pt x="125212" y="486646"/>
                  <a:pt x="125392" y="461494"/>
                </a:cubicBezTo>
                <a:cubicBezTo>
                  <a:pt x="125392" y="445024"/>
                  <a:pt x="101729" y="405282"/>
                  <a:pt x="79591" y="373864"/>
                </a:cubicBezTo>
                <a:close/>
                <a:moveTo>
                  <a:pt x="79501" y="328661"/>
                </a:moveTo>
                <a:cubicBezTo>
                  <a:pt x="84610" y="328661"/>
                  <a:pt x="89540" y="331078"/>
                  <a:pt x="92856" y="335106"/>
                </a:cubicBezTo>
                <a:cubicBezTo>
                  <a:pt x="103881" y="349517"/>
                  <a:pt x="158913" y="423094"/>
                  <a:pt x="158913" y="461404"/>
                </a:cubicBezTo>
                <a:cubicBezTo>
                  <a:pt x="158913" y="505175"/>
                  <a:pt x="123240" y="540710"/>
                  <a:pt x="79501" y="540710"/>
                </a:cubicBezTo>
                <a:cubicBezTo>
                  <a:pt x="35583" y="540710"/>
                  <a:pt x="0" y="505085"/>
                  <a:pt x="0" y="461404"/>
                </a:cubicBezTo>
                <a:cubicBezTo>
                  <a:pt x="0" y="423094"/>
                  <a:pt x="55122" y="349517"/>
                  <a:pt x="66236" y="335195"/>
                </a:cubicBezTo>
                <a:cubicBezTo>
                  <a:pt x="69284" y="331078"/>
                  <a:pt x="74213" y="328661"/>
                  <a:pt x="79501" y="328661"/>
                </a:cubicBezTo>
                <a:close/>
                <a:moveTo>
                  <a:pt x="196548" y="281688"/>
                </a:moveTo>
                <a:lnTo>
                  <a:pt x="391755" y="476431"/>
                </a:lnTo>
                <a:cubicBezTo>
                  <a:pt x="420525" y="505249"/>
                  <a:pt x="488999" y="527623"/>
                  <a:pt x="540265" y="476431"/>
                </a:cubicBezTo>
                <a:cubicBezTo>
                  <a:pt x="592249" y="424524"/>
                  <a:pt x="570290" y="358028"/>
                  <a:pt x="540265" y="328047"/>
                </a:cubicBezTo>
                <a:lnTo>
                  <a:pt x="493749" y="281688"/>
                </a:lnTo>
                <a:close/>
                <a:moveTo>
                  <a:pt x="261707" y="49894"/>
                </a:moveTo>
                <a:lnTo>
                  <a:pt x="113017" y="198278"/>
                </a:lnTo>
                <a:lnTo>
                  <a:pt x="163028" y="248127"/>
                </a:lnTo>
                <a:lnTo>
                  <a:pt x="460229" y="248127"/>
                </a:lnTo>
                <a:close/>
                <a:moveTo>
                  <a:pt x="271073" y="0"/>
                </a:moveTo>
                <a:cubicBezTo>
                  <a:pt x="275375" y="0"/>
                  <a:pt x="279677" y="1655"/>
                  <a:pt x="282948" y="4967"/>
                </a:cubicBezTo>
                <a:cubicBezTo>
                  <a:pt x="288595" y="10694"/>
                  <a:pt x="289312" y="19465"/>
                  <a:pt x="285099" y="25909"/>
                </a:cubicBezTo>
                <a:lnTo>
                  <a:pt x="563927" y="304331"/>
                </a:lnTo>
                <a:cubicBezTo>
                  <a:pt x="604528" y="344872"/>
                  <a:pt x="636076" y="428104"/>
                  <a:pt x="563927" y="500148"/>
                </a:cubicBezTo>
                <a:cubicBezTo>
                  <a:pt x="492495" y="571476"/>
                  <a:pt x="409501" y="541763"/>
                  <a:pt x="367824" y="500148"/>
                </a:cubicBezTo>
                <a:lnTo>
                  <a:pt x="88997" y="221726"/>
                </a:lnTo>
                <a:cubicBezTo>
                  <a:pt x="81468" y="226380"/>
                  <a:pt x="73850" y="225485"/>
                  <a:pt x="68024" y="219578"/>
                </a:cubicBezTo>
                <a:cubicBezTo>
                  <a:pt x="61392" y="213045"/>
                  <a:pt x="61392" y="202395"/>
                  <a:pt x="68024" y="195862"/>
                </a:cubicBezTo>
                <a:lnTo>
                  <a:pt x="259197" y="4967"/>
                </a:lnTo>
                <a:cubicBezTo>
                  <a:pt x="262469" y="1655"/>
                  <a:pt x="266771" y="0"/>
                  <a:pt x="271073"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2" name="任意矩形：002">
            <a:extLst>
              <a:ext uri="{FF2B5EF4-FFF2-40B4-BE49-F238E27FC236}">
                <a16:creationId xmlns:a16="http://schemas.microsoft.com/office/drawing/2014/main" id="{02270AC7-8AB4-40C8-95F8-7E15D047A502}"/>
              </a:ext>
            </a:extLst>
          </p:cNvPr>
          <p:cNvSpPr/>
          <p:nvPr/>
        </p:nvSpPr>
        <p:spPr>
          <a:xfrm>
            <a:off x="143798" y="2860995"/>
            <a:ext cx="202111" cy="201828"/>
          </a:xfrm>
          <a:custGeom>
            <a:avLst/>
            <a:gdLst>
              <a:gd name="connsiteX0" fmla="*/ 303643 w 607215"/>
              <a:gd name="connsiteY0" fmla="*/ 280873 h 606369"/>
              <a:gd name="connsiteX1" fmla="*/ 325219 w 607215"/>
              <a:gd name="connsiteY1" fmla="*/ 302335 h 606369"/>
              <a:gd name="connsiteX2" fmla="*/ 303643 w 607215"/>
              <a:gd name="connsiteY2" fmla="*/ 323873 h 606369"/>
              <a:gd name="connsiteX3" fmla="*/ 282068 w 607215"/>
              <a:gd name="connsiteY3" fmla="*/ 302335 h 606369"/>
              <a:gd name="connsiteX4" fmla="*/ 303643 w 607215"/>
              <a:gd name="connsiteY4" fmla="*/ 280873 h 606369"/>
              <a:gd name="connsiteX5" fmla="*/ 303678 w 607215"/>
              <a:gd name="connsiteY5" fmla="*/ 280357 h 606369"/>
              <a:gd name="connsiteX6" fmla="*/ 281626 w 607215"/>
              <a:gd name="connsiteY6" fmla="*/ 302374 h 606369"/>
              <a:gd name="connsiteX7" fmla="*/ 303678 w 607215"/>
              <a:gd name="connsiteY7" fmla="*/ 324391 h 606369"/>
              <a:gd name="connsiteX8" fmla="*/ 325730 w 607215"/>
              <a:gd name="connsiteY8" fmla="*/ 302374 h 606369"/>
              <a:gd name="connsiteX9" fmla="*/ 303678 w 607215"/>
              <a:gd name="connsiteY9" fmla="*/ 280357 h 606369"/>
              <a:gd name="connsiteX10" fmla="*/ 303643 w 607215"/>
              <a:gd name="connsiteY10" fmla="*/ 279792 h 606369"/>
              <a:gd name="connsiteX11" fmla="*/ 326224 w 607215"/>
              <a:gd name="connsiteY11" fmla="*/ 302335 h 606369"/>
              <a:gd name="connsiteX12" fmla="*/ 303643 w 607215"/>
              <a:gd name="connsiteY12" fmla="*/ 324954 h 606369"/>
              <a:gd name="connsiteX13" fmla="*/ 281062 w 607215"/>
              <a:gd name="connsiteY13" fmla="*/ 302335 h 606369"/>
              <a:gd name="connsiteX14" fmla="*/ 303643 w 607215"/>
              <a:gd name="connsiteY14" fmla="*/ 279792 h 606369"/>
              <a:gd name="connsiteX15" fmla="*/ 281043 w 607215"/>
              <a:gd name="connsiteY15" fmla="*/ 46068 h 606369"/>
              <a:gd name="connsiteX16" fmla="*/ 120855 w 607215"/>
              <a:gd name="connsiteY16" fmla="*/ 120687 h 606369"/>
              <a:gd name="connsiteX17" fmla="*/ 46132 w 607215"/>
              <a:gd name="connsiteY17" fmla="*/ 280652 h 606369"/>
              <a:gd name="connsiteX18" fmla="*/ 147128 w 607215"/>
              <a:gd name="connsiteY18" fmla="*/ 280652 h 606369"/>
              <a:gd name="connsiteX19" fmla="*/ 169770 w 607215"/>
              <a:gd name="connsiteY19" fmla="*/ 303185 h 606369"/>
              <a:gd name="connsiteX20" fmla="*/ 147128 w 607215"/>
              <a:gd name="connsiteY20" fmla="*/ 325717 h 606369"/>
              <a:gd name="connsiteX21" fmla="*/ 46132 w 607215"/>
              <a:gd name="connsiteY21" fmla="*/ 325717 h 606369"/>
              <a:gd name="connsiteX22" fmla="*/ 120855 w 607215"/>
              <a:gd name="connsiteY22" fmla="*/ 485682 h 606369"/>
              <a:gd name="connsiteX23" fmla="*/ 281043 w 607215"/>
              <a:gd name="connsiteY23" fmla="*/ 560301 h 606369"/>
              <a:gd name="connsiteX24" fmla="*/ 281043 w 607215"/>
              <a:gd name="connsiteY24" fmla="*/ 459446 h 606369"/>
              <a:gd name="connsiteX25" fmla="*/ 303608 w 607215"/>
              <a:gd name="connsiteY25" fmla="*/ 436913 h 606369"/>
              <a:gd name="connsiteX26" fmla="*/ 326172 w 607215"/>
              <a:gd name="connsiteY26" fmla="*/ 459446 h 606369"/>
              <a:gd name="connsiteX27" fmla="*/ 326172 w 607215"/>
              <a:gd name="connsiteY27" fmla="*/ 560301 h 606369"/>
              <a:gd name="connsiteX28" fmla="*/ 486360 w 607215"/>
              <a:gd name="connsiteY28" fmla="*/ 485682 h 606369"/>
              <a:gd name="connsiteX29" fmla="*/ 561083 w 607215"/>
              <a:gd name="connsiteY29" fmla="*/ 325717 h 606369"/>
              <a:gd name="connsiteX30" fmla="*/ 460087 w 607215"/>
              <a:gd name="connsiteY30" fmla="*/ 325717 h 606369"/>
              <a:gd name="connsiteX31" fmla="*/ 437523 w 607215"/>
              <a:gd name="connsiteY31" fmla="*/ 303185 h 606369"/>
              <a:gd name="connsiteX32" fmla="*/ 460087 w 607215"/>
              <a:gd name="connsiteY32" fmla="*/ 280652 h 606369"/>
              <a:gd name="connsiteX33" fmla="*/ 561083 w 607215"/>
              <a:gd name="connsiteY33" fmla="*/ 280652 h 606369"/>
              <a:gd name="connsiteX34" fmla="*/ 486360 w 607215"/>
              <a:gd name="connsiteY34" fmla="*/ 120687 h 606369"/>
              <a:gd name="connsiteX35" fmla="*/ 326172 w 607215"/>
              <a:gd name="connsiteY35" fmla="*/ 46068 h 606369"/>
              <a:gd name="connsiteX36" fmla="*/ 326172 w 607215"/>
              <a:gd name="connsiteY36" fmla="*/ 146923 h 606369"/>
              <a:gd name="connsiteX37" fmla="*/ 303608 w 607215"/>
              <a:gd name="connsiteY37" fmla="*/ 169533 h 606369"/>
              <a:gd name="connsiteX38" fmla="*/ 281043 w 607215"/>
              <a:gd name="connsiteY38" fmla="*/ 146923 h 606369"/>
              <a:gd name="connsiteX39" fmla="*/ 281617 w 607215"/>
              <a:gd name="connsiteY39" fmla="*/ 45548 h 606369"/>
              <a:gd name="connsiteX40" fmla="*/ 281617 w 607215"/>
              <a:gd name="connsiteY40" fmla="*/ 146935 h 606369"/>
              <a:gd name="connsiteX41" fmla="*/ 303640 w 607215"/>
              <a:gd name="connsiteY41" fmla="*/ 169002 h 606369"/>
              <a:gd name="connsiteX42" fmla="*/ 325741 w 607215"/>
              <a:gd name="connsiteY42" fmla="*/ 146935 h 606369"/>
              <a:gd name="connsiteX43" fmla="*/ 325741 w 607215"/>
              <a:gd name="connsiteY43" fmla="*/ 45548 h 606369"/>
              <a:gd name="connsiteX44" fmla="*/ 561663 w 607215"/>
              <a:gd name="connsiteY44" fmla="*/ 281192 h 606369"/>
              <a:gd name="connsiteX45" fmla="*/ 460123 w 607215"/>
              <a:gd name="connsiteY45" fmla="*/ 281192 h 606369"/>
              <a:gd name="connsiteX46" fmla="*/ 438022 w 607215"/>
              <a:gd name="connsiteY46" fmla="*/ 303182 h 606369"/>
              <a:gd name="connsiteX47" fmla="*/ 460123 w 607215"/>
              <a:gd name="connsiteY47" fmla="*/ 325250 h 606369"/>
              <a:gd name="connsiteX48" fmla="*/ 561663 w 607215"/>
              <a:gd name="connsiteY48" fmla="*/ 325250 h 606369"/>
              <a:gd name="connsiteX49" fmla="*/ 325741 w 607215"/>
              <a:gd name="connsiteY49" fmla="*/ 560815 h 606369"/>
              <a:gd name="connsiteX50" fmla="*/ 325741 w 607215"/>
              <a:gd name="connsiteY50" fmla="*/ 459429 h 606369"/>
              <a:gd name="connsiteX51" fmla="*/ 303640 w 607215"/>
              <a:gd name="connsiteY51" fmla="*/ 437361 h 606369"/>
              <a:gd name="connsiteX52" fmla="*/ 281617 w 607215"/>
              <a:gd name="connsiteY52" fmla="*/ 459429 h 606369"/>
              <a:gd name="connsiteX53" fmla="*/ 281617 w 607215"/>
              <a:gd name="connsiteY53" fmla="*/ 560815 h 606369"/>
              <a:gd name="connsiteX54" fmla="*/ 45616 w 607215"/>
              <a:gd name="connsiteY54" fmla="*/ 325250 h 606369"/>
              <a:gd name="connsiteX55" fmla="*/ 147157 w 607215"/>
              <a:gd name="connsiteY55" fmla="*/ 325250 h 606369"/>
              <a:gd name="connsiteX56" fmla="*/ 169257 w 607215"/>
              <a:gd name="connsiteY56" fmla="*/ 303182 h 606369"/>
              <a:gd name="connsiteX57" fmla="*/ 147157 w 607215"/>
              <a:gd name="connsiteY57" fmla="*/ 281192 h 606369"/>
              <a:gd name="connsiteX58" fmla="*/ 45616 w 607215"/>
              <a:gd name="connsiteY58" fmla="*/ 281192 h 606369"/>
              <a:gd name="connsiteX59" fmla="*/ 281617 w 607215"/>
              <a:gd name="connsiteY59" fmla="*/ 45548 h 606369"/>
              <a:gd name="connsiteX60" fmla="*/ 281508 w 607215"/>
              <a:gd name="connsiteY60" fmla="*/ 44987 h 606369"/>
              <a:gd name="connsiteX61" fmla="*/ 120160 w 607215"/>
              <a:gd name="connsiteY61" fmla="*/ 119993 h 606369"/>
              <a:gd name="connsiteX62" fmla="*/ 45050 w 607215"/>
              <a:gd name="connsiteY62" fmla="*/ 281115 h 606369"/>
              <a:gd name="connsiteX63" fmla="*/ 45050 w 607215"/>
              <a:gd name="connsiteY63" fmla="*/ 281655 h 606369"/>
              <a:gd name="connsiteX64" fmla="*/ 147128 w 607215"/>
              <a:gd name="connsiteY64" fmla="*/ 281655 h 606369"/>
              <a:gd name="connsiteX65" fmla="*/ 168688 w 607215"/>
              <a:gd name="connsiteY65" fmla="*/ 303185 h 606369"/>
              <a:gd name="connsiteX66" fmla="*/ 147128 w 607215"/>
              <a:gd name="connsiteY66" fmla="*/ 324714 h 606369"/>
              <a:gd name="connsiteX67" fmla="*/ 45050 w 607215"/>
              <a:gd name="connsiteY67" fmla="*/ 324714 h 606369"/>
              <a:gd name="connsiteX68" fmla="*/ 45050 w 607215"/>
              <a:gd name="connsiteY68" fmla="*/ 325254 h 606369"/>
              <a:gd name="connsiteX69" fmla="*/ 120160 w 607215"/>
              <a:gd name="connsiteY69" fmla="*/ 486454 h 606369"/>
              <a:gd name="connsiteX70" fmla="*/ 281508 w 607215"/>
              <a:gd name="connsiteY70" fmla="*/ 561382 h 606369"/>
              <a:gd name="connsiteX71" fmla="*/ 282048 w 607215"/>
              <a:gd name="connsiteY71" fmla="*/ 561459 h 606369"/>
              <a:gd name="connsiteX72" fmla="*/ 282048 w 607215"/>
              <a:gd name="connsiteY72" fmla="*/ 459446 h 606369"/>
              <a:gd name="connsiteX73" fmla="*/ 303608 w 607215"/>
              <a:gd name="connsiteY73" fmla="*/ 437916 h 606369"/>
              <a:gd name="connsiteX74" fmla="*/ 325167 w 607215"/>
              <a:gd name="connsiteY74" fmla="*/ 459446 h 606369"/>
              <a:gd name="connsiteX75" fmla="*/ 325167 w 607215"/>
              <a:gd name="connsiteY75" fmla="*/ 561459 h 606369"/>
              <a:gd name="connsiteX76" fmla="*/ 325708 w 607215"/>
              <a:gd name="connsiteY76" fmla="*/ 561382 h 606369"/>
              <a:gd name="connsiteX77" fmla="*/ 487132 w 607215"/>
              <a:gd name="connsiteY77" fmla="*/ 486454 h 606369"/>
              <a:gd name="connsiteX78" fmla="*/ 562165 w 607215"/>
              <a:gd name="connsiteY78" fmla="*/ 325254 h 606369"/>
              <a:gd name="connsiteX79" fmla="*/ 562242 w 607215"/>
              <a:gd name="connsiteY79" fmla="*/ 324714 h 606369"/>
              <a:gd name="connsiteX80" fmla="*/ 460087 w 607215"/>
              <a:gd name="connsiteY80" fmla="*/ 324714 h 606369"/>
              <a:gd name="connsiteX81" fmla="*/ 438527 w 607215"/>
              <a:gd name="connsiteY81" fmla="*/ 303185 h 606369"/>
              <a:gd name="connsiteX82" fmla="*/ 460087 w 607215"/>
              <a:gd name="connsiteY82" fmla="*/ 281655 h 606369"/>
              <a:gd name="connsiteX83" fmla="*/ 562242 w 607215"/>
              <a:gd name="connsiteY83" fmla="*/ 281655 h 606369"/>
              <a:gd name="connsiteX84" fmla="*/ 562165 w 607215"/>
              <a:gd name="connsiteY84" fmla="*/ 281115 h 606369"/>
              <a:gd name="connsiteX85" fmla="*/ 487132 w 607215"/>
              <a:gd name="connsiteY85" fmla="*/ 119993 h 606369"/>
              <a:gd name="connsiteX86" fmla="*/ 325708 w 607215"/>
              <a:gd name="connsiteY86" fmla="*/ 44987 h 606369"/>
              <a:gd name="connsiteX87" fmla="*/ 325167 w 607215"/>
              <a:gd name="connsiteY87" fmla="*/ 44987 h 606369"/>
              <a:gd name="connsiteX88" fmla="*/ 325167 w 607215"/>
              <a:gd name="connsiteY88" fmla="*/ 146923 h 606369"/>
              <a:gd name="connsiteX89" fmla="*/ 303608 w 607215"/>
              <a:gd name="connsiteY89" fmla="*/ 168453 h 606369"/>
              <a:gd name="connsiteX90" fmla="*/ 282048 w 607215"/>
              <a:gd name="connsiteY90" fmla="*/ 146923 h 606369"/>
              <a:gd name="connsiteX91" fmla="*/ 282048 w 607215"/>
              <a:gd name="connsiteY91" fmla="*/ 44987 h 606369"/>
              <a:gd name="connsiteX92" fmla="*/ 303608 w 607215"/>
              <a:gd name="connsiteY92" fmla="*/ 1003 h 606369"/>
              <a:gd name="connsiteX93" fmla="*/ 421450 w 607215"/>
              <a:gd name="connsiteY93" fmla="*/ 24770 h 606369"/>
              <a:gd name="connsiteX94" fmla="*/ 517578 w 607215"/>
              <a:gd name="connsiteY94" fmla="*/ 89512 h 606369"/>
              <a:gd name="connsiteX95" fmla="*/ 582410 w 607215"/>
              <a:gd name="connsiteY95" fmla="*/ 185584 h 606369"/>
              <a:gd name="connsiteX96" fmla="*/ 606211 w 607215"/>
              <a:gd name="connsiteY96" fmla="*/ 303185 h 606369"/>
              <a:gd name="connsiteX97" fmla="*/ 582410 w 607215"/>
              <a:gd name="connsiteY97" fmla="*/ 420863 h 606369"/>
              <a:gd name="connsiteX98" fmla="*/ 517578 w 607215"/>
              <a:gd name="connsiteY98" fmla="*/ 516857 h 606369"/>
              <a:gd name="connsiteX99" fmla="*/ 421450 w 607215"/>
              <a:gd name="connsiteY99" fmla="*/ 581599 h 606369"/>
              <a:gd name="connsiteX100" fmla="*/ 303608 w 607215"/>
              <a:gd name="connsiteY100" fmla="*/ 605366 h 606369"/>
              <a:gd name="connsiteX101" fmla="*/ 185842 w 607215"/>
              <a:gd name="connsiteY101" fmla="*/ 581599 h 606369"/>
              <a:gd name="connsiteX102" fmla="*/ 89637 w 607215"/>
              <a:gd name="connsiteY102" fmla="*/ 516857 h 606369"/>
              <a:gd name="connsiteX103" fmla="*/ 24805 w 607215"/>
              <a:gd name="connsiteY103" fmla="*/ 420863 h 606369"/>
              <a:gd name="connsiteX104" fmla="*/ 1004 w 607215"/>
              <a:gd name="connsiteY104" fmla="*/ 303185 h 606369"/>
              <a:gd name="connsiteX105" fmla="*/ 24805 w 607215"/>
              <a:gd name="connsiteY105" fmla="*/ 185584 h 606369"/>
              <a:gd name="connsiteX106" fmla="*/ 89637 w 607215"/>
              <a:gd name="connsiteY106" fmla="*/ 89512 h 606369"/>
              <a:gd name="connsiteX107" fmla="*/ 185842 w 607215"/>
              <a:gd name="connsiteY107" fmla="*/ 24770 h 606369"/>
              <a:gd name="connsiteX108" fmla="*/ 303608 w 607215"/>
              <a:gd name="connsiteY108" fmla="*/ 1003 h 606369"/>
              <a:gd name="connsiteX109" fmla="*/ 303640 w 607215"/>
              <a:gd name="connsiteY109" fmla="*/ 565 h 606369"/>
              <a:gd name="connsiteX110" fmla="*/ 185640 w 607215"/>
              <a:gd name="connsiteY110" fmla="*/ 24330 h 606369"/>
              <a:gd name="connsiteX111" fmla="*/ 89354 w 607215"/>
              <a:gd name="connsiteY111" fmla="*/ 89220 h 606369"/>
              <a:gd name="connsiteX112" fmla="*/ 24366 w 607215"/>
              <a:gd name="connsiteY112" fmla="*/ 185360 h 606369"/>
              <a:gd name="connsiteX113" fmla="*/ 565 w 607215"/>
              <a:gd name="connsiteY113" fmla="*/ 303182 h 606369"/>
              <a:gd name="connsiteX114" fmla="*/ 24366 w 607215"/>
              <a:gd name="connsiteY114" fmla="*/ 421004 h 606369"/>
              <a:gd name="connsiteX115" fmla="*/ 89354 w 607215"/>
              <a:gd name="connsiteY115" fmla="*/ 517221 h 606369"/>
              <a:gd name="connsiteX116" fmla="*/ 185640 w 607215"/>
              <a:gd name="connsiteY116" fmla="*/ 582034 h 606369"/>
              <a:gd name="connsiteX117" fmla="*/ 303640 w 607215"/>
              <a:gd name="connsiteY117" fmla="*/ 605876 h 606369"/>
              <a:gd name="connsiteX118" fmla="*/ 421640 w 607215"/>
              <a:gd name="connsiteY118" fmla="*/ 582034 h 606369"/>
              <a:gd name="connsiteX119" fmla="*/ 518003 w 607215"/>
              <a:gd name="connsiteY119" fmla="*/ 517221 h 606369"/>
              <a:gd name="connsiteX120" fmla="*/ 582914 w 607215"/>
              <a:gd name="connsiteY120" fmla="*/ 421004 h 606369"/>
              <a:gd name="connsiteX121" fmla="*/ 606792 w 607215"/>
              <a:gd name="connsiteY121" fmla="*/ 303182 h 606369"/>
              <a:gd name="connsiteX122" fmla="*/ 582914 w 607215"/>
              <a:gd name="connsiteY122" fmla="*/ 185360 h 606369"/>
              <a:gd name="connsiteX123" fmla="*/ 518003 w 607215"/>
              <a:gd name="connsiteY123" fmla="*/ 89220 h 606369"/>
              <a:gd name="connsiteX124" fmla="*/ 421640 w 607215"/>
              <a:gd name="connsiteY124" fmla="*/ 24330 h 606369"/>
              <a:gd name="connsiteX125" fmla="*/ 303640 w 607215"/>
              <a:gd name="connsiteY125" fmla="*/ 565 h 606369"/>
              <a:gd name="connsiteX126" fmla="*/ 303608 w 607215"/>
              <a:gd name="connsiteY126" fmla="*/ 0 h 606369"/>
              <a:gd name="connsiteX127" fmla="*/ 421836 w 607215"/>
              <a:gd name="connsiteY127" fmla="*/ 23844 h 606369"/>
              <a:gd name="connsiteX128" fmla="*/ 518351 w 607215"/>
              <a:gd name="connsiteY128" fmla="*/ 88818 h 606369"/>
              <a:gd name="connsiteX129" fmla="*/ 583338 w 607215"/>
              <a:gd name="connsiteY129" fmla="*/ 185198 h 606369"/>
              <a:gd name="connsiteX130" fmla="*/ 607215 w 607215"/>
              <a:gd name="connsiteY130" fmla="*/ 303185 h 606369"/>
              <a:gd name="connsiteX131" fmla="*/ 583338 w 607215"/>
              <a:gd name="connsiteY131" fmla="*/ 421248 h 606369"/>
              <a:gd name="connsiteX132" fmla="*/ 518351 w 607215"/>
              <a:gd name="connsiteY132" fmla="*/ 517629 h 606369"/>
              <a:gd name="connsiteX133" fmla="*/ 421836 w 607215"/>
              <a:gd name="connsiteY133" fmla="*/ 582525 h 606369"/>
              <a:gd name="connsiteX134" fmla="*/ 303608 w 607215"/>
              <a:gd name="connsiteY134" fmla="*/ 606369 h 606369"/>
              <a:gd name="connsiteX135" fmla="*/ 185456 w 607215"/>
              <a:gd name="connsiteY135" fmla="*/ 582525 h 606369"/>
              <a:gd name="connsiteX136" fmla="*/ 88942 w 607215"/>
              <a:gd name="connsiteY136" fmla="*/ 517629 h 606369"/>
              <a:gd name="connsiteX137" fmla="*/ 23877 w 607215"/>
              <a:gd name="connsiteY137" fmla="*/ 421248 h 606369"/>
              <a:gd name="connsiteX138" fmla="*/ 0 w 607215"/>
              <a:gd name="connsiteY138" fmla="*/ 303185 h 606369"/>
              <a:gd name="connsiteX139" fmla="*/ 23877 w 607215"/>
              <a:gd name="connsiteY139" fmla="*/ 185198 h 606369"/>
              <a:gd name="connsiteX140" fmla="*/ 88942 w 607215"/>
              <a:gd name="connsiteY140" fmla="*/ 88818 h 606369"/>
              <a:gd name="connsiteX141" fmla="*/ 185456 w 607215"/>
              <a:gd name="connsiteY141" fmla="*/ 23844 h 606369"/>
              <a:gd name="connsiteX142" fmla="*/ 303608 w 607215"/>
              <a:gd name="connsiteY142" fmla="*/ 0 h 6063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Lst>
            <a:rect l="l" t="t" r="r" b="b"/>
            <a:pathLst>
              <a:path w="607215" h="606369">
                <a:moveTo>
                  <a:pt x="303643" y="280873"/>
                </a:moveTo>
                <a:cubicBezTo>
                  <a:pt x="315552" y="280873"/>
                  <a:pt x="325219" y="290523"/>
                  <a:pt x="325219" y="302335"/>
                </a:cubicBezTo>
                <a:cubicBezTo>
                  <a:pt x="325219" y="314223"/>
                  <a:pt x="315552" y="323873"/>
                  <a:pt x="303643" y="323873"/>
                </a:cubicBezTo>
                <a:cubicBezTo>
                  <a:pt x="291734" y="323873"/>
                  <a:pt x="282068" y="314223"/>
                  <a:pt x="282068" y="302335"/>
                </a:cubicBezTo>
                <a:cubicBezTo>
                  <a:pt x="282068" y="290523"/>
                  <a:pt x="291734" y="280873"/>
                  <a:pt x="303643" y="280873"/>
                </a:cubicBezTo>
                <a:close/>
                <a:moveTo>
                  <a:pt x="303678" y="280357"/>
                </a:moveTo>
                <a:cubicBezTo>
                  <a:pt x="291499" y="280357"/>
                  <a:pt x="281626" y="290214"/>
                  <a:pt x="281626" y="302374"/>
                </a:cubicBezTo>
                <a:cubicBezTo>
                  <a:pt x="281626" y="314534"/>
                  <a:pt x="291499" y="324391"/>
                  <a:pt x="303678" y="324391"/>
                </a:cubicBezTo>
                <a:cubicBezTo>
                  <a:pt x="315857" y="324391"/>
                  <a:pt x="325730" y="314534"/>
                  <a:pt x="325730" y="302374"/>
                </a:cubicBezTo>
                <a:cubicBezTo>
                  <a:pt x="325730" y="290214"/>
                  <a:pt x="315857" y="280357"/>
                  <a:pt x="303678" y="280357"/>
                </a:cubicBezTo>
                <a:close/>
                <a:moveTo>
                  <a:pt x="303643" y="279792"/>
                </a:moveTo>
                <a:cubicBezTo>
                  <a:pt x="316094" y="279792"/>
                  <a:pt x="326224" y="289905"/>
                  <a:pt x="326224" y="302335"/>
                </a:cubicBezTo>
                <a:cubicBezTo>
                  <a:pt x="326224" y="314841"/>
                  <a:pt x="316094" y="324954"/>
                  <a:pt x="303643" y="324954"/>
                </a:cubicBezTo>
                <a:cubicBezTo>
                  <a:pt x="291193" y="324954"/>
                  <a:pt x="281062" y="314841"/>
                  <a:pt x="281062" y="302335"/>
                </a:cubicBezTo>
                <a:cubicBezTo>
                  <a:pt x="281062" y="289905"/>
                  <a:pt x="291193" y="279792"/>
                  <a:pt x="303643" y="279792"/>
                </a:cubicBezTo>
                <a:close/>
                <a:moveTo>
                  <a:pt x="281043" y="46068"/>
                </a:moveTo>
                <a:cubicBezTo>
                  <a:pt x="220693" y="51315"/>
                  <a:pt x="163820" y="77783"/>
                  <a:pt x="120855" y="120687"/>
                </a:cubicBezTo>
                <a:cubicBezTo>
                  <a:pt x="77891" y="163591"/>
                  <a:pt x="51387" y="220385"/>
                  <a:pt x="46132" y="280652"/>
                </a:cubicBezTo>
                <a:lnTo>
                  <a:pt x="147128" y="280652"/>
                </a:lnTo>
                <a:cubicBezTo>
                  <a:pt x="159647" y="280652"/>
                  <a:pt x="169770" y="290761"/>
                  <a:pt x="169770" y="303185"/>
                </a:cubicBezTo>
                <a:cubicBezTo>
                  <a:pt x="169770" y="315608"/>
                  <a:pt x="159647" y="325717"/>
                  <a:pt x="147128" y="325717"/>
                </a:cubicBezTo>
                <a:lnTo>
                  <a:pt x="46132" y="325717"/>
                </a:lnTo>
                <a:cubicBezTo>
                  <a:pt x="51387" y="385984"/>
                  <a:pt x="77891" y="442778"/>
                  <a:pt x="120855" y="485682"/>
                </a:cubicBezTo>
                <a:cubicBezTo>
                  <a:pt x="163820" y="528586"/>
                  <a:pt x="220693" y="555131"/>
                  <a:pt x="281043" y="560301"/>
                </a:cubicBezTo>
                <a:lnTo>
                  <a:pt x="281043" y="459446"/>
                </a:lnTo>
                <a:cubicBezTo>
                  <a:pt x="281043" y="447022"/>
                  <a:pt x="291167" y="436913"/>
                  <a:pt x="303608" y="436913"/>
                </a:cubicBezTo>
                <a:cubicBezTo>
                  <a:pt x="316049" y="436913"/>
                  <a:pt x="326172" y="447022"/>
                  <a:pt x="326172" y="459446"/>
                </a:cubicBezTo>
                <a:lnTo>
                  <a:pt x="326172" y="560301"/>
                </a:lnTo>
                <a:cubicBezTo>
                  <a:pt x="386522" y="555131"/>
                  <a:pt x="443395" y="528586"/>
                  <a:pt x="486360" y="485682"/>
                </a:cubicBezTo>
                <a:cubicBezTo>
                  <a:pt x="529324" y="442778"/>
                  <a:pt x="555906" y="385984"/>
                  <a:pt x="561083" y="325717"/>
                </a:cubicBezTo>
                <a:lnTo>
                  <a:pt x="460087" y="325717"/>
                </a:lnTo>
                <a:cubicBezTo>
                  <a:pt x="447645" y="325717"/>
                  <a:pt x="437523" y="315608"/>
                  <a:pt x="437523" y="303185"/>
                </a:cubicBezTo>
                <a:cubicBezTo>
                  <a:pt x="437523" y="290761"/>
                  <a:pt x="447645" y="280652"/>
                  <a:pt x="460087" y="280652"/>
                </a:cubicBezTo>
                <a:lnTo>
                  <a:pt x="561083" y="280652"/>
                </a:lnTo>
                <a:cubicBezTo>
                  <a:pt x="555906" y="220385"/>
                  <a:pt x="529324" y="163591"/>
                  <a:pt x="486360" y="120687"/>
                </a:cubicBezTo>
                <a:cubicBezTo>
                  <a:pt x="443395" y="77783"/>
                  <a:pt x="386522" y="51315"/>
                  <a:pt x="326172" y="46068"/>
                </a:cubicBezTo>
                <a:lnTo>
                  <a:pt x="326172" y="146923"/>
                </a:lnTo>
                <a:cubicBezTo>
                  <a:pt x="326172" y="159424"/>
                  <a:pt x="316049" y="169533"/>
                  <a:pt x="303608" y="169533"/>
                </a:cubicBezTo>
                <a:cubicBezTo>
                  <a:pt x="291167" y="169533"/>
                  <a:pt x="281043" y="159424"/>
                  <a:pt x="281043" y="146923"/>
                </a:cubicBezTo>
                <a:close/>
                <a:moveTo>
                  <a:pt x="281617" y="45548"/>
                </a:moveTo>
                <a:lnTo>
                  <a:pt x="281617" y="146935"/>
                </a:lnTo>
                <a:cubicBezTo>
                  <a:pt x="281617" y="159126"/>
                  <a:pt x="291431" y="169002"/>
                  <a:pt x="303640" y="169002"/>
                </a:cubicBezTo>
                <a:cubicBezTo>
                  <a:pt x="315850" y="169002"/>
                  <a:pt x="325741" y="159126"/>
                  <a:pt x="325741" y="146935"/>
                </a:cubicBezTo>
                <a:lnTo>
                  <a:pt x="325741" y="45548"/>
                </a:lnTo>
                <a:cubicBezTo>
                  <a:pt x="451159" y="56119"/>
                  <a:pt x="551077" y="155963"/>
                  <a:pt x="561663" y="281192"/>
                </a:cubicBezTo>
                <a:lnTo>
                  <a:pt x="460123" y="281192"/>
                </a:lnTo>
                <a:cubicBezTo>
                  <a:pt x="447914" y="281192"/>
                  <a:pt x="438022" y="290991"/>
                  <a:pt x="438022" y="303182"/>
                </a:cubicBezTo>
                <a:cubicBezTo>
                  <a:pt x="438022" y="315373"/>
                  <a:pt x="447914" y="325250"/>
                  <a:pt x="460123" y="325250"/>
                </a:cubicBezTo>
                <a:lnTo>
                  <a:pt x="561663" y="325250"/>
                </a:lnTo>
                <a:cubicBezTo>
                  <a:pt x="551077" y="450478"/>
                  <a:pt x="451159" y="550245"/>
                  <a:pt x="325741" y="560815"/>
                </a:cubicBezTo>
                <a:lnTo>
                  <a:pt x="325741" y="459429"/>
                </a:lnTo>
                <a:cubicBezTo>
                  <a:pt x="325741" y="447238"/>
                  <a:pt x="315850" y="437361"/>
                  <a:pt x="303640" y="437361"/>
                </a:cubicBezTo>
                <a:cubicBezTo>
                  <a:pt x="291431" y="437361"/>
                  <a:pt x="281617" y="447238"/>
                  <a:pt x="281617" y="459429"/>
                </a:cubicBezTo>
                <a:lnTo>
                  <a:pt x="281617" y="560815"/>
                </a:lnTo>
                <a:cubicBezTo>
                  <a:pt x="156198" y="550245"/>
                  <a:pt x="56203" y="450478"/>
                  <a:pt x="45616" y="325250"/>
                </a:cubicBezTo>
                <a:lnTo>
                  <a:pt x="147157" y="325250"/>
                </a:lnTo>
                <a:cubicBezTo>
                  <a:pt x="159366" y="325250"/>
                  <a:pt x="169257" y="315373"/>
                  <a:pt x="169257" y="303182"/>
                </a:cubicBezTo>
                <a:cubicBezTo>
                  <a:pt x="169257" y="290991"/>
                  <a:pt x="159366" y="281192"/>
                  <a:pt x="147157" y="281192"/>
                </a:cubicBezTo>
                <a:lnTo>
                  <a:pt x="45616" y="281192"/>
                </a:lnTo>
                <a:cubicBezTo>
                  <a:pt x="56203" y="155963"/>
                  <a:pt x="156198" y="56119"/>
                  <a:pt x="281617" y="45548"/>
                </a:cubicBezTo>
                <a:close/>
                <a:moveTo>
                  <a:pt x="281508" y="44987"/>
                </a:moveTo>
                <a:cubicBezTo>
                  <a:pt x="220693" y="50158"/>
                  <a:pt x="163433" y="76780"/>
                  <a:pt x="120160" y="119993"/>
                </a:cubicBezTo>
                <a:cubicBezTo>
                  <a:pt x="76887" y="163205"/>
                  <a:pt x="50228" y="220385"/>
                  <a:pt x="45050" y="281115"/>
                </a:cubicBezTo>
                <a:lnTo>
                  <a:pt x="45050" y="281655"/>
                </a:lnTo>
                <a:lnTo>
                  <a:pt x="147128" y="281655"/>
                </a:lnTo>
                <a:cubicBezTo>
                  <a:pt x="159029" y="281655"/>
                  <a:pt x="168688" y="291301"/>
                  <a:pt x="168688" y="303185"/>
                </a:cubicBezTo>
                <a:cubicBezTo>
                  <a:pt x="168688" y="315068"/>
                  <a:pt x="159029" y="324714"/>
                  <a:pt x="147128" y="324714"/>
                </a:cubicBezTo>
                <a:lnTo>
                  <a:pt x="45050" y="324714"/>
                </a:lnTo>
                <a:lnTo>
                  <a:pt x="45050" y="325254"/>
                </a:lnTo>
                <a:cubicBezTo>
                  <a:pt x="50228" y="385984"/>
                  <a:pt x="76887" y="443241"/>
                  <a:pt x="120160" y="486454"/>
                </a:cubicBezTo>
                <a:cubicBezTo>
                  <a:pt x="163433" y="529666"/>
                  <a:pt x="220693" y="556289"/>
                  <a:pt x="281508" y="561382"/>
                </a:cubicBezTo>
                <a:lnTo>
                  <a:pt x="282048" y="561459"/>
                </a:lnTo>
                <a:lnTo>
                  <a:pt x="282048" y="459446"/>
                </a:lnTo>
                <a:cubicBezTo>
                  <a:pt x="282048" y="447562"/>
                  <a:pt x="291708" y="437916"/>
                  <a:pt x="303608" y="437916"/>
                </a:cubicBezTo>
                <a:cubicBezTo>
                  <a:pt x="315508" y="437916"/>
                  <a:pt x="325167" y="447562"/>
                  <a:pt x="325167" y="459446"/>
                </a:cubicBezTo>
                <a:lnTo>
                  <a:pt x="325167" y="561459"/>
                </a:lnTo>
                <a:lnTo>
                  <a:pt x="325708" y="561382"/>
                </a:lnTo>
                <a:cubicBezTo>
                  <a:pt x="386522" y="556289"/>
                  <a:pt x="443859" y="529666"/>
                  <a:pt x="487132" y="486454"/>
                </a:cubicBezTo>
                <a:cubicBezTo>
                  <a:pt x="530405" y="443241"/>
                  <a:pt x="557065" y="385984"/>
                  <a:pt x="562165" y="325254"/>
                </a:cubicBezTo>
                <a:lnTo>
                  <a:pt x="562242" y="324714"/>
                </a:lnTo>
                <a:lnTo>
                  <a:pt x="460087" y="324714"/>
                </a:lnTo>
                <a:cubicBezTo>
                  <a:pt x="448186" y="324714"/>
                  <a:pt x="438527" y="315068"/>
                  <a:pt x="438527" y="303185"/>
                </a:cubicBezTo>
                <a:cubicBezTo>
                  <a:pt x="438527" y="291301"/>
                  <a:pt x="448186" y="281655"/>
                  <a:pt x="460087" y="281655"/>
                </a:cubicBezTo>
                <a:lnTo>
                  <a:pt x="562242" y="281655"/>
                </a:lnTo>
                <a:lnTo>
                  <a:pt x="562165" y="281115"/>
                </a:lnTo>
                <a:cubicBezTo>
                  <a:pt x="557065" y="220385"/>
                  <a:pt x="530405" y="163205"/>
                  <a:pt x="487132" y="119993"/>
                </a:cubicBezTo>
                <a:cubicBezTo>
                  <a:pt x="443859" y="76780"/>
                  <a:pt x="386522" y="50158"/>
                  <a:pt x="325708" y="44987"/>
                </a:cubicBezTo>
                <a:lnTo>
                  <a:pt x="325167" y="44987"/>
                </a:lnTo>
                <a:lnTo>
                  <a:pt x="325167" y="146923"/>
                </a:lnTo>
                <a:cubicBezTo>
                  <a:pt x="325167" y="158807"/>
                  <a:pt x="315508" y="168453"/>
                  <a:pt x="303608" y="168453"/>
                </a:cubicBezTo>
                <a:cubicBezTo>
                  <a:pt x="291708" y="168453"/>
                  <a:pt x="282048" y="158807"/>
                  <a:pt x="282048" y="146923"/>
                </a:cubicBezTo>
                <a:lnTo>
                  <a:pt x="282048" y="44987"/>
                </a:lnTo>
                <a:close/>
                <a:moveTo>
                  <a:pt x="303608" y="1003"/>
                </a:moveTo>
                <a:cubicBezTo>
                  <a:pt x="344485" y="1003"/>
                  <a:pt x="384049" y="9028"/>
                  <a:pt x="421450" y="24770"/>
                </a:cubicBezTo>
                <a:cubicBezTo>
                  <a:pt x="457459" y="40049"/>
                  <a:pt x="489837" y="61810"/>
                  <a:pt x="517578" y="89512"/>
                </a:cubicBezTo>
                <a:cubicBezTo>
                  <a:pt x="545396" y="117292"/>
                  <a:pt x="567188" y="149547"/>
                  <a:pt x="582410" y="185584"/>
                </a:cubicBezTo>
                <a:cubicBezTo>
                  <a:pt x="598174" y="222855"/>
                  <a:pt x="606211" y="262441"/>
                  <a:pt x="606211" y="303185"/>
                </a:cubicBezTo>
                <a:cubicBezTo>
                  <a:pt x="606211" y="344005"/>
                  <a:pt x="598174" y="383514"/>
                  <a:pt x="582410" y="420863"/>
                </a:cubicBezTo>
                <a:cubicBezTo>
                  <a:pt x="567188" y="456822"/>
                  <a:pt x="545396" y="489154"/>
                  <a:pt x="517578" y="516857"/>
                </a:cubicBezTo>
                <a:cubicBezTo>
                  <a:pt x="489837" y="544637"/>
                  <a:pt x="457459" y="566397"/>
                  <a:pt x="421450" y="581599"/>
                </a:cubicBezTo>
                <a:cubicBezTo>
                  <a:pt x="384049" y="597341"/>
                  <a:pt x="344485" y="605366"/>
                  <a:pt x="303608" y="605366"/>
                </a:cubicBezTo>
                <a:cubicBezTo>
                  <a:pt x="262807" y="605366"/>
                  <a:pt x="223166" y="597341"/>
                  <a:pt x="185842" y="581599"/>
                </a:cubicBezTo>
                <a:cubicBezTo>
                  <a:pt x="149756" y="566397"/>
                  <a:pt x="117455" y="544637"/>
                  <a:pt x="89637" y="516857"/>
                </a:cubicBezTo>
                <a:cubicBezTo>
                  <a:pt x="61896" y="489154"/>
                  <a:pt x="40105" y="456822"/>
                  <a:pt x="24805" y="420863"/>
                </a:cubicBezTo>
                <a:cubicBezTo>
                  <a:pt x="9041" y="383514"/>
                  <a:pt x="1004" y="344005"/>
                  <a:pt x="1004" y="303185"/>
                </a:cubicBezTo>
                <a:cubicBezTo>
                  <a:pt x="1004" y="262441"/>
                  <a:pt x="9041" y="222855"/>
                  <a:pt x="24805" y="185584"/>
                </a:cubicBezTo>
                <a:cubicBezTo>
                  <a:pt x="40105" y="149547"/>
                  <a:pt x="61896" y="117292"/>
                  <a:pt x="89637" y="89512"/>
                </a:cubicBezTo>
                <a:cubicBezTo>
                  <a:pt x="117455" y="61810"/>
                  <a:pt x="149756" y="40049"/>
                  <a:pt x="185842" y="24770"/>
                </a:cubicBezTo>
                <a:cubicBezTo>
                  <a:pt x="223166" y="9028"/>
                  <a:pt x="262807" y="1003"/>
                  <a:pt x="303608" y="1003"/>
                </a:cubicBezTo>
                <a:close/>
                <a:moveTo>
                  <a:pt x="303640" y="565"/>
                </a:moveTo>
                <a:cubicBezTo>
                  <a:pt x="262761" y="565"/>
                  <a:pt x="223041" y="8512"/>
                  <a:pt x="185640" y="24330"/>
                </a:cubicBezTo>
                <a:cubicBezTo>
                  <a:pt x="149552" y="39607"/>
                  <a:pt x="117174" y="61366"/>
                  <a:pt x="89354" y="89220"/>
                </a:cubicBezTo>
                <a:cubicBezTo>
                  <a:pt x="61458" y="116997"/>
                  <a:pt x="39666" y="149327"/>
                  <a:pt x="24366" y="185360"/>
                </a:cubicBezTo>
                <a:cubicBezTo>
                  <a:pt x="8524" y="222705"/>
                  <a:pt x="565" y="262365"/>
                  <a:pt x="565" y="303182"/>
                </a:cubicBezTo>
                <a:cubicBezTo>
                  <a:pt x="565" y="343999"/>
                  <a:pt x="8524" y="383659"/>
                  <a:pt x="24366" y="421004"/>
                </a:cubicBezTo>
                <a:cubicBezTo>
                  <a:pt x="39666" y="457037"/>
                  <a:pt x="61458" y="489444"/>
                  <a:pt x="89354" y="517221"/>
                </a:cubicBezTo>
                <a:cubicBezTo>
                  <a:pt x="117174" y="544998"/>
                  <a:pt x="149552" y="566834"/>
                  <a:pt x="185640" y="582034"/>
                </a:cubicBezTo>
                <a:cubicBezTo>
                  <a:pt x="223041" y="597852"/>
                  <a:pt x="262761" y="605876"/>
                  <a:pt x="303640" y="605876"/>
                </a:cubicBezTo>
                <a:cubicBezTo>
                  <a:pt x="344596" y="605876"/>
                  <a:pt x="384239" y="597852"/>
                  <a:pt x="421640" y="582034"/>
                </a:cubicBezTo>
                <a:cubicBezTo>
                  <a:pt x="457728" y="566834"/>
                  <a:pt x="490183" y="544998"/>
                  <a:pt x="518003" y="517221"/>
                </a:cubicBezTo>
                <a:cubicBezTo>
                  <a:pt x="545822" y="489444"/>
                  <a:pt x="567691" y="457037"/>
                  <a:pt x="582914" y="421004"/>
                </a:cubicBezTo>
                <a:cubicBezTo>
                  <a:pt x="598756" y="383659"/>
                  <a:pt x="606792" y="343999"/>
                  <a:pt x="606792" y="303182"/>
                </a:cubicBezTo>
                <a:cubicBezTo>
                  <a:pt x="606792" y="262365"/>
                  <a:pt x="598756" y="222705"/>
                  <a:pt x="582914" y="185360"/>
                </a:cubicBezTo>
                <a:cubicBezTo>
                  <a:pt x="567691" y="149327"/>
                  <a:pt x="545822" y="116997"/>
                  <a:pt x="518003" y="89220"/>
                </a:cubicBezTo>
                <a:cubicBezTo>
                  <a:pt x="490183" y="61366"/>
                  <a:pt x="457728" y="39607"/>
                  <a:pt x="421640" y="24330"/>
                </a:cubicBezTo>
                <a:cubicBezTo>
                  <a:pt x="384239" y="8512"/>
                  <a:pt x="344519" y="565"/>
                  <a:pt x="303640" y="565"/>
                </a:cubicBezTo>
                <a:close/>
                <a:moveTo>
                  <a:pt x="303608" y="0"/>
                </a:moveTo>
                <a:cubicBezTo>
                  <a:pt x="344563" y="0"/>
                  <a:pt x="384359" y="8025"/>
                  <a:pt x="421836" y="23844"/>
                </a:cubicBezTo>
                <a:cubicBezTo>
                  <a:pt x="458000" y="39123"/>
                  <a:pt x="490455" y="60961"/>
                  <a:pt x="518351" y="88818"/>
                </a:cubicBezTo>
                <a:cubicBezTo>
                  <a:pt x="546169" y="116674"/>
                  <a:pt x="568038" y="149084"/>
                  <a:pt x="583338" y="185198"/>
                </a:cubicBezTo>
                <a:cubicBezTo>
                  <a:pt x="599179" y="222546"/>
                  <a:pt x="607215" y="262286"/>
                  <a:pt x="607215" y="303185"/>
                </a:cubicBezTo>
                <a:cubicBezTo>
                  <a:pt x="607215" y="344083"/>
                  <a:pt x="599179" y="383823"/>
                  <a:pt x="583338" y="421248"/>
                </a:cubicBezTo>
                <a:cubicBezTo>
                  <a:pt x="568038" y="457362"/>
                  <a:pt x="546169" y="489772"/>
                  <a:pt x="518351" y="517629"/>
                </a:cubicBezTo>
                <a:cubicBezTo>
                  <a:pt x="490455" y="545408"/>
                  <a:pt x="458000" y="567246"/>
                  <a:pt x="421836" y="582525"/>
                </a:cubicBezTo>
                <a:cubicBezTo>
                  <a:pt x="384359" y="598344"/>
                  <a:pt x="344563" y="606369"/>
                  <a:pt x="303608" y="606369"/>
                </a:cubicBezTo>
                <a:cubicBezTo>
                  <a:pt x="262652" y="606369"/>
                  <a:pt x="222856" y="598344"/>
                  <a:pt x="185456" y="582525"/>
                </a:cubicBezTo>
                <a:cubicBezTo>
                  <a:pt x="149292" y="567246"/>
                  <a:pt x="116760" y="545408"/>
                  <a:pt x="88942" y="517629"/>
                </a:cubicBezTo>
                <a:cubicBezTo>
                  <a:pt x="61046" y="489772"/>
                  <a:pt x="39177" y="457362"/>
                  <a:pt x="23877" y="421248"/>
                </a:cubicBezTo>
                <a:cubicBezTo>
                  <a:pt x="8036" y="383823"/>
                  <a:pt x="0" y="344083"/>
                  <a:pt x="0" y="303185"/>
                </a:cubicBezTo>
                <a:cubicBezTo>
                  <a:pt x="0" y="262286"/>
                  <a:pt x="8036" y="222546"/>
                  <a:pt x="23877" y="185198"/>
                </a:cubicBezTo>
                <a:cubicBezTo>
                  <a:pt x="39177" y="149084"/>
                  <a:pt x="61046" y="116674"/>
                  <a:pt x="88942" y="88818"/>
                </a:cubicBezTo>
                <a:cubicBezTo>
                  <a:pt x="116760" y="60961"/>
                  <a:pt x="149292" y="39123"/>
                  <a:pt x="185456" y="23844"/>
                </a:cubicBezTo>
                <a:cubicBezTo>
                  <a:pt x="222856" y="8025"/>
                  <a:pt x="262652" y="0"/>
                  <a:pt x="303608" y="0"/>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dirty="0"/>
          </a:p>
        </p:txBody>
      </p:sp>
      <p:sp>
        <p:nvSpPr>
          <p:cNvPr id="123" name="文本框 122">
            <a:extLst>
              <a:ext uri="{FF2B5EF4-FFF2-40B4-BE49-F238E27FC236}">
                <a16:creationId xmlns:a16="http://schemas.microsoft.com/office/drawing/2014/main" id="{4764F9A5-2875-4DCF-B297-938F48D01E74}"/>
              </a:ext>
            </a:extLst>
          </p:cNvPr>
          <p:cNvSpPr txBox="1"/>
          <p:nvPr/>
        </p:nvSpPr>
        <p:spPr>
          <a:xfrm>
            <a:off x="373082" y="2808021"/>
            <a:ext cx="1660612" cy="338554"/>
          </a:xfrm>
          <a:prstGeom prst="rect">
            <a:avLst/>
          </a:prstGeom>
          <a:noFill/>
        </p:spPr>
        <p:txBody>
          <a:bodyPr wrap="square" rtlCol="0">
            <a:spAutoFit/>
          </a:bodyPr>
          <a:lstStyle/>
          <a:p>
            <a:r>
              <a:rPr lang="zh-CN" altLang="en-US" sz="1600" dirty="0">
                <a:solidFill>
                  <a:schemeClr val="accent1"/>
                </a:solidFill>
                <a:latin typeface="思源黑体 CN Regular" panose="020B0500000000000000" pitchFamily="34" charset="-122"/>
                <a:ea typeface="思源黑体 CN Regular" panose="020B0500000000000000" pitchFamily="34" charset="-122"/>
              </a:rPr>
              <a:t>研究目标和内容</a:t>
            </a:r>
          </a:p>
        </p:txBody>
      </p:sp>
      <p:sp>
        <p:nvSpPr>
          <p:cNvPr id="124" name="任意矩形：003">
            <a:extLst>
              <a:ext uri="{FF2B5EF4-FFF2-40B4-BE49-F238E27FC236}">
                <a16:creationId xmlns:a16="http://schemas.microsoft.com/office/drawing/2014/main" id="{0B41FCDA-D3A7-40A5-A3CF-961BF32B5223}"/>
              </a:ext>
            </a:extLst>
          </p:cNvPr>
          <p:cNvSpPr/>
          <p:nvPr/>
        </p:nvSpPr>
        <p:spPr>
          <a:xfrm rot="10800000" flipH="1" flipV="1">
            <a:off x="145020" y="3571293"/>
            <a:ext cx="199667" cy="199477"/>
          </a:xfrm>
          <a:custGeom>
            <a:avLst/>
            <a:gdLst>
              <a:gd name="connsiteX0" fmla="*/ 320200 w 604886"/>
              <a:gd name="connsiteY0" fmla="*/ 166778 h 604313"/>
              <a:gd name="connsiteX1" fmla="*/ 338200 w 604886"/>
              <a:gd name="connsiteY1" fmla="*/ 168153 h 604313"/>
              <a:gd name="connsiteX2" fmla="*/ 394904 w 604886"/>
              <a:gd name="connsiteY2" fmla="*/ 210003 h 604313"/>
              <a:gd name="connsiteX3" fmla="*/ 448997 w 604886"/>
              <a:gd name="connsiteY3" fmla="*/ 297466 h 604313"/>
              <a:gd name="connsiteX4" fmla="*/ 433479 w 604886"/>
              <a:gd name="connsiteY4" fmla="*/ 381599 h 604313"/>
              <a:gd name="connsiteX5" fmla="*/ 230304 w 604886"/>
              <a:gd name="connsiteY5" fmla="*/ 584474 h 604313"/>
              <a:gd name="connsiteX6" fmla="*/ 177952 w 604886"/>
              <a:gd name="connsiteY6" fmla="*/ 604313 h 604313"/>
              <a:gd name="connsiteX7" fmla="*/ 58454 w 604886"/>
              <a:gd name="connsiteY7" fmla="*/ 545956 h 604313"/>
              <a:gd name="connsiteX8" fmla="*/ 19733 w 604886"/>
              <a:gd name="connsiteY8" fmla="*/ 374359 h 604313"/>
              <a:gd name="connsiteX9" fmla="*/ 93549 w 604886"/>
              <a:gd name="connsiteY9" fmla="*/ 300652 h 604313"/>
              <a:gd name="connsiteX10" fmla="*/ 127049 w 604886"/>
              <a:gd name="connsiteY10" fmla="*/ 300652 h 604313"/>
              <a:gd name="connsiteX11" fmla="*/ 127049 w 604886"/>
              <a:gd name="connsiteY11" fmla="*/ 333958 h 604313"/>
              <a:gd name="connsiteX12" fmla="*/ 53233 w 604886"/>
              <a:gd name="connsiteY12" fmla="*/ 407665 h 604313"/>
              <a:gd name="connsiteX13" fmla="*/ 91809 w 604886"/>
              <a:gd name="connsiteY13" fmla="*/ 512650 h 604313"/>
              <a:gd name="connsiteX14" fmla="*/ 196950 w 604886"/>
              <a:gd name="connsiteY14" fmla="*/ 551169 h 604313"/>
              <a:gd name="connsiteX15" fmla="*/ 400124 w 604886"/>
              <a:gd name="connsiteY15" fmla="*/ 348294 h 604313"/>
              <a:gd name="connsiteX16" fmla="*/ 403460 w 604886"/>
              <a:gd name="connsiteY16" fmla="*/ 310065 h 604313"/>
              <a:gd name="connsiteX17" fmla="*/ 361549 w 604886"/>
              <a:gd name="connsiteY17" fmla="*/ 243308 h 604313"/>
              <a:gd name="connsiteX18" fmla="*/ 316737 w 604886"/>
              <a:gd name="connsiteY18" fmla="*/ 210147 h 604313"/>
              <a:gd name="connsiteX19" fmla="*/ 306441 w 604886"/>
              <a:gd name="connsiteY19" fmla="*/ 178435 h 604313"/>
              <a:gd name="connsiteX20" fmla="*/ 320200 w 604886"/>
              <a:gd name="connsiteY20" fmla="*/ 166778 h 604313"/>
              <a:gd name="connsiteX21" fmla="*/ 411085 w 604886"/>
              <a:gd name="connsiteY21" fmla="*/ 1388 h 604313"/>
              <a:gd name="connsiteX22" fmla="*/ 458862 w 604886"/>
              <a:gd name="connsiteY22" fmla="*/ 4683 h 604313"/>
              <a:gd name="connsiteX23" fmla="*/ 546442 w 604886"/>
              <a:gd name="connsiteY23" fmla="*/ 58698 h 604313"/>
              <a:gd name="connsiteX24" fmla="*/ 585156 w 604886"/>
              <a:gd name="connsiteY24" fmla="*/ 230302 h 604313"/>
              <a:gd name="connsiteX25" fmla="*/ 511352 w 604886"/>
              <a:gd name="connsiteY25" fmla="*/ 304012 h 604313"/>
              <a:gd name="connsiteX26" fmla="*/ 477857 w 604886"/>
              <a:gd name="connsiteY26" fmla="*/ 304012 h 604313"/>
              <a:gd name="connsiteX27" fmla="*/ 477857 w 604886"/>
              <a:gd name="connsiteY27" fmla="*/ 270705 h 604313"/>
              <a:gd name="connsiteX28" fmla="*/ 551662 w 604886"/>
              <a:gd name="connsiteY28" fmla="*/ 196995 h 604313"/>
              <a:gd name="connsiteX29" fmla="*/ 513092 w 604886"/>
              <a:gd name="connsiteY29" fmla="*/ 92005 h 604313"/>
              <a:gd name="connsiteX30" fmla="*/ 446247 w 604886"/>
              <a:gd name="connsiteY30" fmla="*/ 50154 h 604313"/>
              <a:gd name="connsiteX31" fmla="*/ 407968 w 604886"/>
              <a:gd name="connsiteY31" fmla="*/ 53485 h 604313"/>
              <a:gd name="connsiteX32" fmla="*/ 204825 w 604886"/>
              <a:gd name="connsiteY32" fmla="*/ 256368 h 604313"/>
              <a:gd name="connsiteX33" fmla="*/ 201490 w 604886"/>
              <a:gd name="connsiteY33" fmla="*/ 294599 h 604313"/>
              <a:gd name="connsiteX34" fmla="*/ 243394 w 604886"/>
              <a:gd name="connsiteY34" fmla="*/ 361358 h 604313"/>
              <a:gd name="connsiteX35" fmla="*/ 288199 w 604886"/>
              <a:gd name="connsiteY35" fmla="*/ 394520 h 604313"/>
              <a:gd name="connsiteX36" fmla="*/ 298494 w 604886"/>
              <a:gd name="connsiteY36" fmla="*/ 426234 h 604313"/>
              <a:gd name="connsiteX37" fmla="*/ 277469 w 604886"/>
              <a:gd name="connsiteY37" fmla="*/ 438978 h 604313"/>
              <a:gd name="connsiteX38" fmla="*/ 266739 w 604886"/>
              <a:gd name="connsiteY38" fmla="*/ 436516 h 604313"/>
              <a:gd name="connsiteX39" fmla="*/ 210044 w 604886"/>
              <a:gd name="connsiteY39" fmla="*/ 394665 h 604313"/>
              <a:gd name="connsiteX40" fmla="*/ 155960 w 604886"/>
              <a:gd name="connsiteY40" fmla="*/ 307198 h 604313"/>
              <a:gd name="connsiteX41" fmla="*/ 171330 w 604886"/>
              <a:gd name="connsiteY41" fmla="*/ 223061 h 604313"/>
              <a:gd name="connsiteX42" fmla="*/ 374618 w 604886"/>
              <a:gd name="connsiteY42" fmla="*/ 20033 h 604313"/>
              <a:gd name="connsiteX43" fmla="*/ 411085 w 604886"/>
              <a:gd name="connsiteY43" fmla="*/ 1388 h 6043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Lst>
            <a:rect l="l" t="t" r="r" b="b"/>
            <a:pathLst>
              <a:path w="604886" h="604313">
                <a:moveTo>
                  <a:pt x="320200" y="166778"/>
                </a:moveTo>
                <a:cubicBezTo>
                  <a:pt x="325946" y="164931"/>
                  <a:pt x="332399" y="165257"/>
                  <a:pt x="338200" y="168153"/>
                </a:cubicBezTo>
                <a:cubicBezTo>
                  <a:pt x="358068" y="178290"/>
                  <a:pt x="377646" y="192771"/>
                  <a:pt x="394904" y="210003"/>
                </a:cubicBezTo>
                <a:cubicBezTo>
                  <a:pt x="421443" y="236358"/>
                  <a:pt x="440585" y="267491"/>
                  <a:pt x="448997" y="297466"/>
                </a:cubicBezTo>
                <a:cubicBezTo>
                  <a:pt x="458568" y="332075"/>
                  <a:pt x="453202" y="362050"/>
                  <a:pt x="433479" y="381599"/>
                </a:cubicBezTo>
                <a:lnTo>
                  <a:pt x="230304" y="584474"/>
                </a:lnTo>
                <a:cubicBezTo>
                  <a:pt x="216962" y="597942"/>
                  <a:pt x="198690" y="604313"/>
                  <a:pt x="177952" y="604313"/>
                </a:cubicBezTo>
                <a:cubicBezTo>
                  <a:pt x="140971" y="604313"/>
                  <a:pt x="96305" y="583750"/>
                  <a:pt x="58454" y="545956"/>
                </a:cubicBezTo>
                <a:cubicBezTo>
                  <a:pt x="-570" y="487019"/>
                  <a:pt x="-17537" y="411575"/>
                  <a:pt x="19733" y="374359"/>
                </a:cubicBezTo>
                <a:lnTo>
                  <a:pt x="93549" y="300652"/>
                </a:lnTo>
                <a:cubicBezTo>
                  <a:pt x="102831" y="291384"/>
                  <a:pt x="117768" y="291384"/>
                  <a:pt x="127049" y="300652"/>
                </a:cubicBezTo>
                <a:cubicBezTo>
                  <a:pt x="136186" y="309775"/>
                  <a:pt x="136186" y="324690"/>
                  <a:pt x="127049" y="333958"/>
                </a:cubicBezTo>
                <a:lnTo>
                  <a:pt x="53233" y="407665"/>
                </a:lnTo>
                <a:cubicBezTo>
                  <a:pt x="37426" y="423304"/>
                  <a:pt x="50623" y="471525"/>
                  <a:pt x="91809" y="512650"/>
                </a:cubicBezTo>
                <a:cubicBezTo>
                  <a:pt x="132995" y="553631"/>
                  <a:pt x="181287" y="566808"/>
                  <a:pt x="196950" y="551169"/>
                </a:cubicBezTo>
                <a:lnTo>
                  <a:pt x="400124" y="348294"/>
                </a:lnTo>
                <a:cubicBezTo>
                  <a:pt x="407085" y="341343"/>
                  <a:pt x="408246" y="327441"/>
                  <a:pt x="403460" y="310065"/>
                </a:cubicBezTo>
                <a:cubicBezTo>
                  <a:pt x="397369" y="288199"/>
                  <a:pt x="381997" y="263871"/>
                  <a:pt x="361549" y="243308"/>
                </a:cubicBezTo>
                <a:cubicBezTo>
                  <a:pt x="347627" y="229552"/>
                  <a:pt x="332254" y="218112"/>
                  <a:pt x="316737" y="210147"/>
                </a:cubicBezTo>
                <a:cubicBezTo>
                  <a:pt x="305135" y="204355"/>
                  <a:pt x="300495" y="190019"/>
                  <a:pt x="306441" y="178435"/>
                </a:cubicBezTo>
                <a:cubicBezTo>
                  <a:pt x="309414" y="172642"/>
                  <a:pt x="314453" y="168624"/>
                  <a:pt x="320200" y="166778"/>
                </a:cubicBezTo>
                <a:close/>
                <a:moveTo>
                  <a:pt x="411085" y="1388"/>
                </a:moveTo>
                <a:cubicBezTo>
                  <a:pt x="425368" y="-1219"/>
                  <a:pt x="441535" y="-169"/>
                  <a:pt x="458862" y="4683"/>
                </a:cubicBezTo>
                <a:cubicBezTo>
                  <a:pt x="488877" y="13082"/>
                  <a:pt x="519907" y="32197"/>
                  <a:pt x="546442" y="58698"/>
                </a:cubicBezTo>
                <a:cubicBezTo>
                  <a:pt x="605456" y="117637"/>
                  <a:pt x="622421" y="192940"/>
                  <a:pt x="585156" y="230302"/>
                </a:cubicBezTo>
                <a:lnTo>
                  <a:pt x="511352" y="304012"/>
                </a:lnTo>
                <a:cubicBezTo>
                  <a:pt x="502072" y="313135"/>
                  <a:pt x="487137" y="313135"/>
                  <a:pt x="477857" y="304012"/>
                </a:cubicBezTo>
                <a:cubicBezTo>
                  <a:pt x="468722" y="294744"/>
                  <a:pt x="468722" y="279828"/>
                  <a:pt x="477857" y="270705"/>
                </a:cubicBezTo>
                <a:lnTo>
                  <a:pt x="551662" y="196995"/>
                </a:lnTo>
                <a:cubicBezTo>
                  <a:pt x="567321" y="181355"/>
                  <a:pt x="554127" y="133132"/>
                  <a:pt x="513092" y="92005"/>
                </a:cubicBezTo>
                <a:cubicBezTo>
                  <a:pt x="492502" y="71586"/>
                  <a:pt x="468142" y="56236"/>
                  <a:pt x="446247" y="50154"/>
                </a:cubicBezTo>
                <a:cubicBezTo>
                  <a:pt x="428848" y="45230"/>
                  <a:pt x="414928" y="46534"/>
                  <a:pt x="407968" y="53485"/>
                </a:cubicBezTo>
                <a:lnTo>
                  <a:pt x="204825" y="256368"/>
                </a:lnTo>
                <a:cubicBezTo>
                  <a:pt x="197865" y="263319"/>
                  <a:pt x="196560" y="277221"/>
                  <a:pt x="201490" y="294599"/>
                </a:cubicBezTo>
                <a:cubicBezTo>
                  <a:pt x="207579" y="316466"/>
                  <a:pt x="222949" y="340795"/>
                  <a:pt x="243394" y="361358"/>
                </a:cubicBezTo>
                <a:cubicBezTo>
                  <a:pt x="257169" y="375115"/>
                  <a:pt x="272684" y="386556"/>
                  <a:pt x="288199" y="394520"/>
                </a:cubicBezTo>
                <a:cubicBezTo>
                  <a:pt x="299799" y="400313"/>
                  <a:pt x="304439" y="414505"/>
                  <a:pt x="298494" y="426234"/>
                </a:cubicBezTo>
                <a:cubicBezTo>
                  <a:pt x="294289" y="434344"/>
                  <a:pt x="286024" y="438978"/>
                  <a:pt x="277469" y="438978"/>
                </a:cubicBezTo>
                <a:cubicBezTo>
                  <a:pt x="273844" y="438978"/>
                  <a:pt x="270219" y="438254"/>
                  <a:pt x="266739" y="436516"/>
                </a:cubicBezTo>
                <a:cubicBezTo>
                  <a:pt x="246874" y="426379"/>
                  <a:pt x="227299" y="411898"/>
                  <a:pt x="210044" y="394665"/>
                </a:cubicBezTo>
                <a:cubicBezTo>
                  <a:pt x="183510" y="368164"/>
                  <a:pt x="164370" y="337174"/>
                  <a:pt x="155960" y="307198"/>
                </a:cubicBezTo>
                <a:cubicBezTo>
                  <a:pt x="146245" y="272587"/>
                  <a:pt x="151755" y="242611"/>
                  <a:pt x="171330" y="223061"/>
                </a:cubicBezTo>
                <a:lnTo>
                  <a:pt x="374618" y="20033"/>
                </a:lnTo>
                <a:cubicBezTo>
                  <a:pt x="384406" y="10258"/>
                  <a:pt x="396803" y="3995"/>
                  <a:pt x="411085" y="1388"/>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125" name="文本框 124">
            <a:extLst>
              <a:ext uri="{FF2B5EF4-FFF2-40B4-BE49-F238E27FC236}">
                <a16:creationId xmlns:a16="http://schemas.microsoft.com/office/drawing/2014/main" id="{38069428-7805-412D-B2EB-67E944BEACFE}"/>
              </a:ext>
            </a:extLst>
          </p:cNvPr>
          <p:cNvSpPr txBox="1"/>
          <p:nvPr/>
        </p:nvSpPr>
        <p:spPr>
          <a:xfrm>
            <a:off x="373082" y="3517143"/>
            <a:ext cx="1660612" cy="338554"/>
          </a:xfrm>
          <a:prstGeom prst="rect">
            <a:avLst/>
          </a:prstGeom>
          <a:noFill/>
        </p:spPr>
        <p:txBody>
          <a:bodyPr wrap="square" rtlCol="0">
            <a:spAutoFit/>
          </a:bodyPr>
          <a:lstStyle/>
          <a:p>
            <a:r>
              <a:rPr lang="zh-CN" altLang="en-US" sz="1600" dirty="0">
                <a:solidFill>
                  <a:schemeClr val="bg1"/>
                </a:solidFill>
                <a:latin typeface="思源黑体 CN Regular" panose="020B0500000000000000" pitchFamily="34" charset="-122"/>
                <a:ea typeface="思源黑体 CN Regular" panose="020B0500000000000000" pitchFamily="34" charset="-122"/>
              </a:rPr>
              <a:t>研究方法与思路</a:t>
            </a:r>
          </a:p>
        </p:txBody>
      </p:sp>
      <p:sp>
        <p:nvSpPr>
          <p:cNvPr id="126" name="文本框 125">
            <a:extLst>
              <a:ext uri="{FF2B5EF4-FFF2-40B4-BE49-F238E27FC236}">
                <a16:creationId xmlns:a16="http://schemas.microsoft.com/office/drawing/2014/main" id="{11918BAB-DFD2-45AB-80FA-05A2DB5205A5}"/>
              </a:ext>
            </a:extLst>
          </p:cNvPr>
          <p:cNvSpPr txBox="1"/>
          <p:nvPr/>
        </p:nvSpPr>
        <p:spPr>
          <a:xfrm>
            <a:off x="373082" y="4226265"/>
            <a:ext cx="1660612" cy="338554"/>
          </a:xfrm>
          <a:prstGeom prst="rect">
            <a:avLst/>
          </a:prstGeom>
          <a:noFill/>
        </p:spPr>
        <p:txBody>
          <a:bodyPr wrap="square" rtlCol="0">
            <a:spAutoFit/>
          </a:bodyPr>
          <a:lstStyle/>
          <a:p>
            <a:r>
              <a:rPr lang="zh-CN" altLang="en-US" sz="1600" dirty="0">
                <a:solidFill>
                  <a:schemeClr val="bg1"/>
                </a:solidFill>
                <a:latin typeface="思源黑体 CN Regular" panose="020B0500000000000000" pitchFamily="34" charset="-122"/>
                <a:ea typeface="思源黑体 CN Regular" panose="020B0500000000000000" pitchFamily="34" charset="-122"/>
              </a:rPr>
              <a:t>关键技术与创新</a:t>
            </a:r>
          </a:p>
        </p:txBody>
      </p:sp>
      <p:sp>
        <p:nvSpPr>
          <p:cNvPr id="127" name="任意矩形：004">
            <a:extLst>
              <a:ext uri="{FF2B5EF4-FFF2-40B4-BE49-F238E27FC236}">
                <a16:creationId xmlns:a16="http://schemas.microsoft.com/office/drawing/2014/main" id="{986A0A8E-4B97-42F8-8E25-21A3C34B2AA7}"/>
              </a:ext>
            </a:extLst>
          </p:cNvPr>
          <p:cNvSpPr/>
          <p:nvPr/>
        </p:nvSpPr>
        <p:spPr>
          <a:xfrm rot="20700000">
            <a:off x="101744" y="4285500"/>
            <a:ext cx="251496" cy="189307"/>
          </a:xfrm>
          <a:custGeom>
            <a:avLst/>
            <a:gdLst>
              <a:gd name="T0" fmla="*/ 6845 w 7011"/>
              <a:gd name="T1" fmla="*/ 1345 h 5286"/>
              <a:gd name="T2" fmla="*/ 5180 w 7011"/>
              <a:gd name="T3" fmla="*/ 598 h 5286"/>
              <a:gd name="T4" fmla="*/ 5179 w 7011"/>
              <a:gd name="T5" fmla="*/ 598 h 5286"/>
              <a:gd name="T6" fmla="*/ 3505 w 7011"/>
              <a:gd name="T7" fmla="*/ 0 h 5286"/>
              <a:gd name="T8" fmla="*/ 907 w 7011"/>
              <a:gd name="T9" fmla="*/ 2166 h 5286"/>
              <a:gd name="T10" fmla="*/ 167 w 7011"/>
              <a:gd name="T11" fmla="*/ 3741 h 5286"/>
              <a:gd name="T12" fmla="*/ 1605 w 7011"/>
              <a:gd name="T13" fmla="*/ 4477 h 5286"/>
              <a:gd name="T14" fmla="*/ 3505 w 7011"/>
              <a:gd name="T15" fmla="*/ 5286 h 5286"/>
              <a:gd name="T16" fmla="*/ 6136 w 7011"/>
              <a:gd name="T17" fmla="*/ 2888 h 5286"/>
              <a:gd name="T18" fmla="*/ 6845 w 7011"/>
              <a:gd name="T19" fmla="*/ 1345 h 5286"/>
              <a:gd name="T20" fmla="*/ 521 w 7011"/>
              <a:gd name="T21" fmla="*/ 3613 h 5286"/>
              <a:gd name="T22" fmla="*/ 865 w 7011"/>
              <a:gd name="T23" fmla="*/ 2729 h 5286"/>
              <a:gd name="T24" fmla="*/ 1279 w 7011"/>
              <a:gd name="T25" fmla="*/ 4061 h 5286"/>
              <a:gd name="T26" fmla="*/ 521 w 7011"/>
              <a:gd name="T27" fmla="*/ 3613 h 5286"/>
              <a:gd name="T28" fmla="*/ 3507 w 7011"/>
              <a:gd name="T29" fmla="*/ 4909 h 5286"/>
              <a:gd name="T30" fmla="*/ 2171 w 7011"/>
              <a:gd name="T31" fmla="*/ 4472 h 5286"/>
              <a:gd name="T32" fmla="*/ 4051 w 7011"/>
              <a:gd name="T33" fmla="*/ 4060 h 5286"/>
              <a:gd name="T34" fmla="*/ 5695 w 7011"/>
              <a:gd name="T35" fmla="*/ 3233 h 5286"/>
              <a:gd name="T36" fmla="*/ 3507 w 7011"/>
              <a:gd name="T37" fmla="*/ 4909 h 5286"/>
              <a:gd name="T38" fmla="*/ 5772 w 7011"/>
              <a:gd name="T39" fmla="*/ 2705 h 5286"/>
              <a:gd name="T40" fmla="*/ 3924 w 7011"/>
              <a:gd name="T41" fmla="*/ 3706 h 5286"/>
              <a:gd name="T42" fmla="*/ 1779 w 7011"/>
              <a:gd name="T43" fmla="*/ 4108 h 5286"/>
              <a:gd name="T44" fmla="*/ 1240 w 7011"/>
              <a:gd name="T45" fmla="*/ 2642 h 5286"/>
              <a:gd name="T46" fmla="*/ 3507 w 7011"/>
              <a:gd name="T47" fmla="*/ 376 h 5286"/>
              <a:gd name="T48" fmla="*/ 5773 w 7011"/>
              <a:gd name="T49" fmla="*/ 2642 h 5286"/>
              <a:gd name="T50" fmla="*/ 5772 w 7011"/>
              <a:gd name="T51" fmla="*/ 2705 h 5286"/>
              <a:gd name="T52" fmla="*/ 6133 w 7011"/>
              <a:gd name="T53" fmla="*/ 2364 h 5286"/>
              <a:gd name="T54" fmla="*/ 5571 w 7011"/>
              <a:gd name="T55" fmla="*/ 996 h 5286"/>
              <a:gd name="T56" fmla="*/ 6491 w 7011"/>
              <a:gd name="T57" fmla="*/ 1472 h 5286"/>
              <a:gd name="T58" fmla="*/ 6133 w 7011"/>
              <a:gd name="T59" fmla="*/ 2364 h 528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7011" h="5286">
                <a:moveTo>
                  <a:pt x="6845" y="1345"/>
                </a:moveTo>
                <a:cubicBezTo>
                  <a:pt x="6672" y="864"/>
                  <a:pt x="6081" y="598"/>
                  <a:pt x="5180" y="598"/>
                </a:cubicBezTo>
                <a:lnTo>
                  <a:pt x="5179" y="598"/>
                </a:lnTo>
                <a:cubicBezTo>
                  <a:pt x="4723" y="225"/>
                  <a:pt x="4140" y="0"/>
                  <a:pt x="3505" y="0"/>
                </a:cubicBezTo>
                <a:cubicBezTo>
                  <a:pt x="2212" y="0"/>
                  <a:pt x="1132" y="936"/>
                  <a:pt x="907" y="2166"/>
                </a:cubicBezTo>
                <a:cubicBezTo>
                  <a:pt x="264" y="2720"/>
                  <a:pt x="0" y="3278"/>
                  <a:pt x="167" y="3741"/>
                </a:cubicBezTo>
                <a:cubicBezTo>
                  <a:pt x="325" y="4184"/>
                  <a:pt x="863" y="4433"/>
                  <a:pt x="1605" y="4477"/>
                </a:cubicBezTo>
                <a:cubicBezTo>
                  <a:pt x="2087" y="4976"/>
                  <a:pt x="2760" y="5286"/>
                  <a:pt x="3505" y="5286"/>
                </a:cubicBezTo>
                <a:cubicBezTo>
                  <a:pt x="4880" y="5286"/>
                  <a:pt x="6012" y="4232"/>
                  <a:pt x="6136" y="2888"/>
                </a:cubicBezTo>
                <a:cubicBezTo>
                  <a:pt x="6728" y="2364"/>
                  <a:pt x="7011" y="1804"/>
                  <a:pt x="6845" y="1345"/>
                </a:cubicBezTo>
                <a:close/>
                <a:moveTo>
                  <a:pt x="521" y="3613"/>
                </a:moveTo>
                <a:cubicBezTo>
                  <a:pt x="437" y="3380"/>
                  <a:pt x="565" y="3064"/>
                  <a:pt x="865" y="2729"/>
                </a:cubicBezTo>
                <a:cubicBezTo>
                  <a:pt x="881" y="3218"/>
                  <a:pt x="1031" y="3673"/>
                  <a:pt x="1279" y="4061"/>
                </a:cubicBezTo>
                <a:cubicBezTo>
                  <a:pt x="871" y="3988"/>
                  <a:pt x="599" y="3830"/>
                  <a:pt x="521" y="3613"/>
                </a:cubicBezTo>
                <a:close/>
                <a:moveTo>
                  <a:pt x="3507" y="4909"/>
                </a:moveTo>
                <a:cubicBezTo>
                  <a:pt x="3008" y="4909"/>
                  <a:pt x="2545" y="4746"/>
                  <a:pt x="2171" y="4472"/>
                </a:cubicBezTo>
                <a:cubicBezTo>
                  <a:pt x="2740" y="4434"/>
                  <a:pt x="3384" y="4300"/>
                  <a:pt x="4051" y="4060"/>
                </a:cubicBezTo>
                <a:cubicBezTo>
                  <a:pt x="4684" y="3833"/>
                  <a:pt x="5243" y="3546"/>
                  <a:pt x="5695" y="3233"/>
                </a:cubicBezTo>
                <a:cubicBezTo>
                  <a:pt x="5433" y="4197"/>
                  <a:pt x="4552" y="4909"/>
                  <a:pt x="3507" y="4909"/>
                </a:cubicBezTo>
                <a:close/>
                <a:moveTo>
                  <a:pt x="5772" y="2705"/>
                </a:moveTo>
                <a:cubicBezTo>
                  <a:pt x="5328" y="3068"/>
                  <a:pt x="4700" y="3428"/>
                  <a:pt x="3924" y="3706"/>
                </a:cubicBezTo>
                <a:cubicBezTo>
                  <a:pt x="3111" y="3998"/>
                  <a:pt x="2365" y="4117"/>
                  <a:pt x="1779" y="4108"/>
                </a:cubicBezTo>
                <a:cubicBezTo>
                  <a:pt x="1443" y="3712"/>
                  <a:pt x="1240" y="3201"/>
                  <a:pt x="1240" y="2642"/>
                </a:cubicBezTo>
                <a:cubicBezTo>
                  <a:pt x="1240" y="1393"/>
                  <a:pt x="2256" y="376"/>
                  <a:pt x="3507" y="376"/>
                </a:cubicBezTo>
                <a:cubicBezTo>
                  <a:pt x="4756" y="376"/>
                  <a:pt x="5773" y="1393"/>
                  <a:pt x="5773" y="2642"/>
                </a:cubicBezTo>
                <a:cubicBezTo>
                  <a:pt x="5773" y="2664"/>
                  <a:pt x="5772" y="2684"/>
                  <a:pt x="5772" y="2705"/>
                </a:cubicBezTo>
                <a:close/>
                <a:moveTo>
                  <a:pt x="6133" y="2364"/>
                </a:moveTo>
                <a:cubicBezTo>
                  <a:pt x="6079" y="1849"/>
                  <a:pt x="5877" y="1380"/>
                  <a:pt x="5571" y="996"/>
                </a:cubicBezTo>
                <a:cubicBezTo>
                  <a:pt x="6067" y="1053"/>
                  <a:pt x="6401" y="1221"/>
                  <a:pt x="6491" y="1472"/>
                </a:cubicBezTo>
                <a:cubicBezTo>
                  <a:pt x="6573" y="1704"/>
                  <a:pt x="6443" y="2024"/>
                  <a:pt x="6133" y="2364"/>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128" name="文本框 127">
            <a:extLst>
              <a:ext uri="{FF2B5EF4-FFF2-40B4-BE49-F238E27FC236}">
                <a16:creationId xmlns:a16="http://schemas.microsoft.com/office/drawing/2014/main" id="{624ED90A-576D-4402-B101-3CA323C740C0}"/>
              </a:ext>
            </a:extLst>
          </p:cNvPr>
          <p:cNvSpPr txBox="1"/>
          <p:nvPr/>
        </p:nvSpPr>
        <p:spPr>
          <a:xfrm>
            <a:off x="373082" y="4935387"/>
            <a:ext cx="1660612" cy="338554"/>
          </a:xfrm>
          <a:prstGeom prst="rect">
            <a:avLst/>
          </a:prstGeom>
          <a:noFill/>
        </p:spPr>
        <p:txBody>
          <a:bodyPr wrap="square" rtlCol="0">
            <a:spAutoFit/>
          </a:bodyPr>
          <a:lstStyle/>
          <a:p>
            <a:r>
              <a:rPr lang="zh-CN" altLang="en-US" sz="1600" dirty="0">
                <a:solidFill>
                  <a:schemeClr val="bg1"/>
                </a:solidFill>
                <a:latin typeface="思源黑体 CN Regular" panose="020B0500000000000000" pitchFamily="34" charset="-122"/>
                <a:ea typeface="思源黑体 CN Regular" panose="020B0500000000000000" pitchFamily="34" charset="-122"/>
              </a:rPr>
              <a:t>已开展工作</a:t>
            </a:r>
          </a:p>
        </p:txBody>
      </p:sp>
      <p:sp>
        <p:nvSpPr>
          <p:cNvPr id="129" name="任意矩形：005">
            <a:extLst>
              <a:ext uri="{FF2B5EF4-FFF2-40B4-BE49-F238E27FC236}">
                <a16:creationId xmlns:a16="http://schemas.microsoft.com/office/drawing/2014/main" id="{2D8449C2-F861-4D0F-9176-34861A41FCE1}"/>
              </a:ext>
            </a:extLst>
          </p:cNvPr>
          <p:cNvSpPr/>
          <p:nvPr/>
        </p:nvSpPr>
        <p:spPr>
          <a:xfrm>
            <a:off x="123946" y="4988361"/>
            <a:ext cx="201734" cy="201828"/>
          </a:xfrm>
          <a:custGeom>
            <a:avLst/>
            <a:gdLst>
              <a:gd name="T0" fmla="*/ 278945 h 440259"/>
              <a:gd name="T1" fmla="*/ 278945 h 440259"/>
              <a:gd name="T2" fmla="*/ 278945 h 440259"/>
              <a:gd name="T3" fmla="*/ 278945 h 440259"/>
              <a:gd name="T4" fmla="*/ 278945 h 440259"/>
              <a:gd name="T5" fmla="*/ 278945 h 440259"/>
              <a:gd name="T6" fmla="*/ 278945 h 440259"/>
              <a:gd name="T7" fmla="*/ 278945 h 440259"/>
              <a:gd name="T8" fmla="*/ 278945 h 440259"/>
              <a:gd name="T9" fmla="*/ 278945 h 440259"/>
              <a:gd name="T10" fmla="*/ 278945 h 440259"/>
              <a:gd name="T11" fmla="*/ 278945 h 440259"/>
              <a:gd name="T12" fmla="*/ 278945 h 440259"/>
              <a:gd name="T13" fmla="*/ 278945 h 440259"/>
              <a:gd name="T14" fmla="*/ 278945 h 440259"/>
              <a:gd name="T15" fmla="*/ 278945 h 440259"/>
              <a:gd name="T16" fmla="*/ 278945 h 440259"/>
              <a:gd name="T17" fmla="*/ 278945 h 440259"/>
              <a:gd name="T18" fmla="*/ 278945 h 440259"/>
              <a:gd name="T19" fmla="*/ 278945 h 440259"/>
              <a:gd name="T20" fmla="*/ 278945 h 440259"/>
              <a:gd name="T21" fmla="*/ 278945 h 440259"/>
              <a:gd name="T22" fmla="*/ 278945 h 440259"/>
              <a:gd name="T23" fmla="*/ 278945 h 440259"/>
              <a:gd name="T24" fmla="*/ 278945 h 440259"/>
              <a:gd name="T25" fmla="*/ 278945 h 440259"/>
              <a:gd name="T26" fmla="*/ 278945 h 440259"/>
              <a:gd name="T27" fmla="*/ 278945 h 440259"/>
              <a:gd name="T28" fmla="*/ 278945 h 440259"/>
              <a:gd name="T29" fmla="*/ 278945 h 440259"/>
              <a:gd name="T30" fmla="*/ 278945 h 440259"/>
              <a:gd name="T31" fmla="*/ 278945 h 440259"/>
              <a:gd name="T32" fmla="*/ 278945 h 440259"/>
              <a:gd name="T33" fmla="*/ 278945 h 440259"/>
              <a:gd name="T34" fmla="*/ 278945 h 440259"/>
              <a:gd name="T35" fmla="*/ 278945 h 440259"/>
              <a:gd name="T36" fmla="*/ 278945 h 440259"/>
              <a:gd name="T37" fmla="*/ 278945 h 440259"/>
              <a:gd name="T38" fmla="*/ 278945 h 440259"/>
              <a:gd name="T39" fmla="*/ 278945 h 440259"/>
              <a:gd name="T40" fmla="*/ 278945 h 440259"/>
              <a:gd name="T41" fmla="*/ 278945 h 440259"/>
              <a:gd name="T42" fmla="*/ 278945 h 440259"/>
              <a:gd name="T43" fmla="*/ 278945 h 440259"/>
              <a:gd name="T44" fmla="*/ 278945 h 440259"/>
              <a:gd name="T45" fmla="*/ 278945 h 440259"/>
              <a:gd name="T46" fmla="*/ 278945 h 440259"/>
              <a:gd name="T47" fmla="*/ 278945 h 440259"/>
              <a:gd name="T48" fmla="*/ 278945 h 440259"/>
              <a:gd name="T49" fmla="*/ 278945 h 440259"/>
              <a:gd name="T50" fmla="*/ 278945 h 440259"/>
              <a:gd name="T51" fmla="*/ 278945 h 440259"/>
              <a:gd name="T52" fmla="*/ 278945 h 440259"/>
              <a:gd name="T53" fmla="*/ 278945 h 440259"/>
              <a:gd name="T54" fmla="*/ 278945 h 440259"/>
              <a:gd name="T55" fmla="*/ 278945 h 440259"/>
              <a:gd name="T56" fmla="*/ 278945 h 440259"/>
              <a:gd name="T57" fmla="*/ 278945 h 440259"/>
              <a:gd name="T58" fmla="*/ 278945 h 440259"/>
              <a:gd name="T59" fmla="*/ 278945 h 440259"/>
              <a:gd name="T60" fmla="*/ 278945 h 440259"/>
              <a:gd name="T61" fmla="*/ 278945 h 440259"/>
              <a:gd name="T62" fmla="*/ 278945 h 440259"/>
              <a:gd name="T63" fmla="*/ 278945 h 440259"/>
              <a:gd name="T64" fmla="*/ 278945 h 440259"/>
              <a:gd name="T65" fmla="*/ 278945 h 440259"/>
              <a:gd name="T66" fmla="*/ 278945 h 440259"/>
              <a:gd name="T67" fmla="*/ 278945 h 440259"/>
              <a:gd name="T68" fmla="*/ 278945 h 440259"/>
              <a:gd name="T69" fmla="*/ 278945 h 440259"/>
              <a:gd name="T70" fmla="*/ 278945 h 440259"/>
              <a:gd name="T71" fmla="*/ 278945 h 440259"/>
              <a:gd name="T72" fmla="*/ 278945 h 440259"/>
              <a:gd name="T73" fmla="*/ 278945 h 440259"/>
              <a:gd name="T74" fmla="*/ 278945 h 440259"/>
              <a:gd name="T75" fmla="*/ 278945 h 440259"/>
              <a:gd name="T76" fmla="*/ 278945 h 440259"/>
              <a:gd name="T77" fmla="*/ 278945 h 440259"/>
              <a:gd name="T78" fmla="*/ 278945 h 440259"/>
              <a:gd name="T79" fmla="*/ 278945 h 440259"/>
              <a:gd name="T80" fmla="*/ 278945 h 440259"/>
              <a:gd name="T81" fmla="*/ 278945 h 440259"/>
              <a:gd name="T82" fmla="*/ 278945 h 440259"/>
              <a:gd name="T83" fmla="*/ 278945 h 440259"/>
              <a:gd name="T84" fmla="*/ 88862 h 440259"/>
              <a:gd name="T85" fmla="*/ 88862 h 440259"/>
              <a:gd name="T86" fmla="*/ 278945 h 440259"/>
              <a:gd name="T87" fmla="*/ 278945 h 44025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Lst>
            <a:rect l="0" t="0" r="r" b="b"/>
            <a:pathLst>
              <a:path w="6495" h="6508">
                <a:moveTo>
                  <a:pt x="6495" y="203"/>
                </a:moveTo>
                <a:lnTo>
                  <a:pt x="6495" y="197"/>
                </a:lnTo>
                <a:cubicBezTo>
                  <a:pt x="6495" y="193"/>
                  <a:pt x="6493" y="191"/>
                  <a:pt x="6493" y="187"/>
                </a:cubicBezTo>
                <a:cubicBezTo>
                  <a:pt x="6493" y="184"/>
                  <a:pt x="6493" y="181"/>
                  <a:pt x="6492" y="179"/>
                </a:cubicBezTo>
                <a:cubicBezTo>
                  <a:pt x="6492" y="176"/>
                  <a:pt x="6491" y="173"/>
                  <a:pt x="6491" y="172"/>
                </a:cubicBezTo>
                <a:cubicBezTo>
                  <a:pt x="6489" y="169"/>
                  <a:pt x="6489" y="165"/>
                  <a:pt x="6488" y="163"/>
                </a:cubicBezTo>
                <a:cubicBezTo>
                  <a:pt x="6488" y="161"/>
                  <a:pt x="6487" y="160"/>
                  <a:pt x="6487" y="157"/>
                </a:cubicBezTo>
                <a:lnTo>
                  <a:pt x="6483" y="145"/>
                </a:lnTo>
                <a:cubicBezTo>
                  <a:pt x="6483" y="144"/>
                  <a:pt x="6481" y="144"/>
                  <a:pt x="6481" y="143"/>
                </a:cubicBezTo>
                <a:cubicBezTo>
                  <a:pt x="6480" y="139"/>
                  <a:pt x="6477" y="133"/>
                  <a:pt x="6475" y="129"/>
                </a:cubicBezTo>
                <a:cubicBezTo>
                  <a:pt x="6475" y="128"/>
                  <a:pt x="6473" y="127"/>
                  <a:pt x="6473" y="127"/>
                </a:cubicBezTo>
                <a:cubicBezTo>
                  <a:pt x="6471" y="123"/>
                  <a:pt x="6469" y="119"/>
                  <a:pt x="6467" y="115"/>
                </a:cubicBezTo>
                <a:cubicBezTo>
                  <a:pt x="6457" y="101"/>
                  <a:pt x="6447" y="89"/>
                  <a:pt x="6435" y="79"/>
                </a:cubicBezTo>
                <a:cubicBezTo>
                  <a:pt x="6385" y="23"/>
                  <a:pt x="6304" y="0"/>
                  <a:pt x="6231" y="31"/>
                </a:cubicBezTo>
                <a:lnTo>
                  <a:pt x="112" y="2559"/>
                </a:lnTo>
                <a:cubicBezTo>
                  <a:pt x="111" y="2560"/>
                  <a:pt x="108" y="2560"/>
                  <a:pt x="107" y="2561"/>
                </a:cubicBezTo>
                <a:cubicBezTo>
                  <a:pt x="103" y="2563"/>
                  <a:pt x="100" y="2564"/>
                  <a:pt x="96" y="2567"/>
                </a:cubicBezTo>
                <a:lnTo>
                  <a:pt x="88" y="2571"/>
                </a:lnTo>
                <a:cubicBezTo>
                  <a:pt x="85" y="2572"/>
                  <a:pt x="83" y="2573"/>
                  <a:pt x="80" y="2576"/>
                </a:cubicBezTo>
                <a:cubicBezTo>
                  <a:pt x="77" y="2577"/>
                  <a:pt x="75" y="2580"/>
                  <a:pt x="72" y="2581"/>
                </a:cubicBezTo>
                <a:cubicBezTo>
                  <a:pt x="69" y="2583"/>
                  <a:pt x="68" y="2584"/>
                  <a:pt x="65" y="2587"/>
                </a:cubicBezTo>
                <a:cubicBezTo>
                  <a:pt x="63" y="2588"/>
                  <a:pt x="61" y="2591"/>
                  <a:pt x="59" y="2593"/>
                </a:cubicBezTo>
                <a:cubicBezTo>
                  <a:pt x="56" y="2595"/>
                  <a:pt x="55" y="2597"/>
                  <a:pt x="52" y="2599"/>
                </a:cubicBezTo>
                <a:lnTo>
                  <a:pt x="45" y="2605"/>
                </a:lnTo>
                <a:cubicBezTo>
                  <a:pt x="44" y="2608"/>
                  <a:pt x="41" y="2609"/>
                  <a:pt x="40" y="2612"/>
                </a:cubicBezTo>
                <a:cubicBezTo>
                  <a:pt x="39" y="2615"/>
                  <a:pt x="36" y="2617"/>
                  <a:pt x="35" y="2619"/>
                </a:cubicBezTo>
                <a:cubicBezTo>
                  <a:pt x="33" y="2621"/>
                  <a:pt x="31" y="2623"/>
                  <a:pt x="29" y="2625"/>
                </a:cubicBezTo>
                <a:cubicBezTo>
                  <a:pt x="28" y="2628"/>
                  <a:pt x="25" y="2631"/>
                  <a:pt x="24" y="2633"/>
                </a:cubicBezTo>
                <a:cubicBezTo>
                  <a:pt x="23" y="2636"/>
                  <a:pt x="21" y="2637"/>
                  <a:pt x="20" y="2640"/>
                </a:cubicBezTo>
                <a:cubicBezTo>
                  <a:pt x="17" y="2644"/>
                  <a:pt x="16" y="2648"/>
                  <a:pt x="15" y="2652"/>
                </a:cubicBezTo>
                <a:cubicBezTo>
                  <a:pt x="15" y="2653"/>
                  <a:pt x="13" y="2655"/>
                  <a:pt x="12" y="2656"/>
                </a:cubicBezTo>
                <a:lnTo>
                  <a:pt x="12" y="2656"/>
                </a:lnTo>
                <a:cubicBezTo>
                  <a:pt x="9" y="2661"/>
                  <a:pt x="8" y="2667"/>
                  <a:pt x="7" y="2672"/>
                </a:cubicBezTo>
                <a:lnTo>
                  <a:pt x="7" y="2673"/>
                </a:lnTo>
                <a:cubicBezTo>
                  <a:pt x="5" y="2679"/>
                  <a:pt x="4" y="2684"/>
                  <a:pt x="3" y="2691"/>
                </a:cubicBezTo>
                <a:cubicBezTo>
                  <a:pt x="3" y="2693"/>
                  <a:pt x="1" y="2696"/>
                  <a:pt x="1" y="2699"/>
                </a:cubicBezTo>
                <a:cubicBezTo>
                  <a:pt x="1" y="2701"/>
                  <a:pt x="0" y="2705"/>
                  <a:pt x="0" y="2708"/>
                </a:cubicBezTo>
                <a:lnTo>
                  <a:pt x="0" y="2716"/>
                </a:lnTo>
                <a:lnTo>
                  <a:pt x="0" y="2725"/>
                </a:lnTo>
                <a:lnTo>
                  <a:pt x="0" y="2733"/>
                </a:lnTo>
                <a:lnTo>
                  <a:pt x="0" y="2743"/>
                </a:lnTo>
                <a:cubicBezTo>
                  <a:pt x="0" y="2745"/>
                  <a:pt x="1" y="2748"/>
                  <a:pt x="1" y="2749"/>
                </a:cubicBezTo>
                <a:cubicBezTo>
                  <a:pt x="1" y="2753"/>
                  <a:pt x="3" y="2756"/>
                  <a:pt x="3" y="2760"/>
                </a:cubicBezTo>
                <a:cubicBezTo>
                  <a:pt x="4" y="2764"/>
                  <a:pt x="4" y="2768"/>
                  <a:pt x="5" y="2772"/>
                </a:cubicBezTo>
                <a:cubicBezTo>
                  <a:pt x="7" y="2775"/>
                  <a:pt x="7" y="2777"/>
                  <a:pt x="8" y="2780"/>
                </a:cubicBezTo>
                <a:cubicBezTo>
                  <a:pt x="9" y="2784"/>
                  <a:pt x="11" y="2789"/>
                  <a:pt x="13" y="2793"/>
                </a:cubicBezTo>
                <a:lnTo>
                  <a:pt x="13" y="2793"/>
                </a:lnTo>
                <a:cubicBezTo>
                  <a:pt x="15" y="2799"/>
                  <a:pt x="17" y="2803"/>
                  <a:pt x="20" y="2807"/>
                </a:cubicBezTo>
                <a:cubicBezTo>
                  <a:pt x="20" y="2808"/>
                  <a:pt x="21" y="2809"/>
                  <a:pt x="21" y="2809"/>
                </a:cubicBezTo>
                <a:cubicBezTo>
                  <a:pt x="23" y="2813"/>
                  <a:pt x="25" y="2816"/>
                  <a:pt x="28" y="2820"/>
                </a:cubicBezTo>
                <a:cubicBezTo>
                  <a:pt x="29" y="2821"/>
                  <a:pt x="29" y="2823"/>
                  <a:pt x="31" y="2824"/>
                </a:cubicBezTo>
                <a:cubicBezTo>
                  <a:pt x="33" y="2828"/>
                  <a:pt x="35" y="2831"/>
                  <a:pt x="37" y="2833"/>
                </a:cubicBezTo>
                <a:cubicBezTo>
                  <a:pt x="39" y="2835"/>
                  <a:pt x="39" y="2836"/>
                  <a:pt x="40" y="2836"/>
                </a:cubicBezTo>
                <a:cubicBezTo>
                  <a:pt x="44" y="2840"/>
                  <a:pt x="47" y="2844"/>
                  <a:pt x="51" y="2848"/>
                </a:cubicBezTo>
                <a:lnTo>
                  <a:pt x="51" y="2848"/>
                </a:lnTo>
                <a:cubicBezTo>
                  <a:pt x="55" y="2852"/>
                  <a:pt x="59" y="2855"/>
                  <a:pt x="63" y="2859"/>
                </a:cubicBezTo>
                <a:cubicBezTo>
                  <a:pt x="64" y="2860"/>
                  <a:pt x="65" y="2861"/>
                  <a:pt x="67" y="2861"/>
                </a:cubicBezTo>
                <a:cubicBezTo>
                  <a:pt x="69" y="2864"/>
                  <a:pt x="73" y="2867"/>
                  <a:pt x="76" y="2868"/>
                </a:cubicBezTo>
                <a:cubicBezTo>
                  <a:pt x="77" y="2869"/>
                  <a:pt x="79" y="2869"/>
                  <a:pt x="80" y="2871"/>
                </a:cubicBezTo>
                <a:cubicBezTo>
                  <a:pt x="84" y="2873"/>
                  <a:pt x="89" y="2876"/>
                  <a:pt x="93" y="2879"/>
                </a:cubicBezTo>
                <a:cubicBezTo>
                  <a:pt x="95" y="2879"/>
                  <a:pt x="95" y="2880"/>
                  <a:pt x="96" y="2880"/>
                </a:cubicBezTo>
                <a:cubicBezTo>
                  <a:pt x="100" y="2883"/>
                  <a:pt x="104" y="2884"/>
                  <a:pt x="109" y="2887"/>
                </a:cubicBezTo>
                <a:cubicBezTo>
                  <a:pt x="111" y="2887"/>
                  <a:pt x="111" y="2888"/>
                  <a:pt x="112" y="2888"/>
                </a:cubicBezTo>
                <a:lnTo>
                  <a:pt x="2579" y="3933"/>
                </a:lnTo>
                <a:lnTo>
                  <a:pt x="3624" y="6400"/>
                </a:lnTo>
                <a:cubicBezTo>
                  <a:pt x="3625" y="6405"/>
                  <a:pt x="3628" y="6409"/>
                  <a:pt x="3631" y="6413"/>
                </a:cubicBezTo>
                <a:cubicBezTo>
                  <a:pt x="3631" y="6415"/>
                  <a:pt x="3632" y="6416"/>
                  <a:pt x="3632" y="6416"/>
                </a:cubicBezTo>
                <a:cubicBezTo>
                  <a:pt x="3635" y="6420"/>
                  <a:pt x="3636" y="6423"/>
                  <a:pt x="3639" y="6427"/>
                </a:cubicBezTo>
                <a:cubicBezTo>
                  <a:pt x="3640" y="6428"/>
                  <a:pt x="3640" y="6429"/>
                  <a:pt x="3641" y="6431"/>
                </a:cubicBezTo>
                <a:cubicBezTo>
                  <a:pt x="3644" y="6435"/>
                  <a:pt x="3647" y="6437"/>
                  <a:pt x="3648" y="6440"/>
                </a:cubicBezTo>
                <a:cubicBezTo>
                  <a:pt x="3649" y="6441"/>
                  <a:pt x="3649" y="6443"/>
                  <a:pt x="3651" y="6443"/>
                </a:cubicBezTo>
                <a:cubicBezTo>
                  <a:pt x="3655" y="6447"/>
                  <a:pt x="3657" y="6451"/>
                  <a:pt x="3661" y="6455"/>
                </a:cubicBezTo>
                <a:lnTo>
                  <a:pt x="3663" y="6456"/>
                </a:lnTo>
                <a:cubicBezTo>
                  <a:pt x="3667" y="6459"/>
                  <a:pt x="3669" y="6463"/>
                  <a:pt x="3673" y="6465"/>
                </a:cubicBezTo>
                <a:cubicBezTo>
                  <a:pt x="3675" y="6467"/>
                  <a:pt x="3676" y="6468"/>
                  <a:pt x="3677" y="6468"/>
                </a:cubicBezTo>
                <a:cubicBezTo>
                  <a:pt x="3680" y="6471"/>
                  <a:pt x="3684" y="6473"/>
                  <a:pt x="3687" y="6475"/>
                </a:cubicBezTo>
                <a:cubicBezTo>
                  <a:pt x="3688" y="6476"/>
                  <a:pt x="3689" y="6476"/>
                  <a:pt x="3691" y="6477"/>
                </a:cubicBezTo>
                <a:cubicBezTo>
                  <a:pt x="3695" y="6480"/>
                  <a:pt x="3700" y="6483"/>
                  <a:pt x="3704" y="6485"/>
                </a:cubicBezTo>
                <a:cubicBezTo>
                  <a:pt x="3705" y="6485"/>
                  <a:pt x="3707" y="6487"/>
                  <a:pt x="3707" y="6487"/>
                </a:cubicBezTo>
                <a:cubicBezTo>
                  <a:pt x="3711" y="6489"/>
                  <a:pt x="3715" y="6491"/>
                  <a:pt x="3719" y="6492"/>
                </a:cubicBezTo>
                <a:cubicBezTo>
                  <a:pt x="3720" y="6492"/>
                  <a:pt x="3720" y="6493"/>
                  <a:pt x="3721" y="6493"/>
                </a:cubicBezTo>
                <a:cubicBezTo>
                  <a:pt x="3721" y="6493"/>
                  <a:pt x="3723" y="6493"/>
                  <a:pt x="3723" y="6495"/>
                </a:cubicBezTo>
                <a:cubicBezTo>
                  <a:pt x="3727" y="6496"/>
                  <a:pt x="3732" y="6499"/>
                  <a:pt x="3736" y="6500"/>
                </a:cubicBezTo>
                <a:lnTo>
                  <a:pt x="3737" y="6500"/>
                </a:lnTo>
                <a:cubicBezTo>
                  <a:pt x="3743" y="6501"/>
                  <a:pt x="3747" y="6503"/>
                  <a:pt x="3752" y="6504"/>
                </a:cubicBezTo>
                <a:cubicBezTo>
                  <a:pt x="3753" y="6504"/>
                  <a:pt x="3756" y="6504"/>
                  <a:pt x="3757" y="6505"/>
                </a:cubicBezTo>
                <a:cubicBezTo>
                  <a:pt x="3761" y="6505"/>
                  <a:pt x="3764" y="6507"/>
                  <a:pt x="3768" y="6507"/>
                </a:cubicBezTo>
                <a:lnTo>
                  <a:pt x="3773" y="6507"/>
                </a:lnTo>
                <a:cubicBezTo>
                  <a:pt x="3779" y="6507"/>
                  <a:pt x="3783" y="6508"/>
                  <a:pt x="3788" y="6508"/>
                </a:cubicBezTo>
                <a:lnTo>
                  <a:pt x="3788" y="6508"/>
                </a:lnTo>
                <a:lnTo>
                  <a:pt x="3788" y="6508"/>
                </a:lnTo>
                <a:lnTo>
                  <a:pt x="3788" y="6508"/>
                </a:lnTo>
                <a:lnTo>
                  <a:pt x="3788" y="6508"/>
                </a:lnTo>
                <a:cubicBezTo>
                  <a:pt x="3793" y="6508"/>
                  <a:pt x="3799" y="6508"/>
                  <a:pt x="3803" y="6507"/>
                </a:cubicBezTo>
                <a:lnTo>
                  <a:pt x="3808" y="6507"/>
                </a:lnTo>
                <a:cubicBezTo>
                  <a:pt x="3812" y="6507"/>
                  <a:pt x="3816" y="6505"/>
                  <a:pt x="3819" y="6505"/>
                </a:cubicBezTo>
                <a:cubicBezTo>
                  <a:pt x="3820" y="6505"/>
                  <a:pt x="3823" y="6505"/>
                  <a:pt x="3824" y="6504"/>
                </a:cubicBezTo>
                <a:cubicBezTo>
                  <a:pt x="3829" y="6503"/>
                  <a:pt x="3835" y="6501"/>
                  <a:pt x="3839" y="6500"/>
                </a:cubicBezTo>
                <a:cubicBezTo>
                  <a:pt x="3840" y="6500"/>
                  <a:pt x="3840" y="6500"/>
                  <a:pt x="3841" y="6499"/>
                </a:cubicBezTo>
                <a:cubicBezTo>
                  <a:pt x="3845" y="6497"/>
                  <a:pt x="3851" y="6496"/>
                  <a:pt x="3855" y="6493"/>
                </a:cubicBezTo>
                <a:cubicBezTo>
                  <a:pt x="3856" y="6493"/>
                  <a:pt x="3856" y="6493"/>
                  <a:pt x="3857" y="6492"/>
                </a:cubicBezTo>
                <a:cubicBezTo>
                  <a:pt x="3859" y="6492"/>
                  <a:pt x="3859" y="6491"/>
                  <a:pt x="3860" y="6491"/>
                </a:cubicBezTo>
                <a:cubicBezTo>
                  <a:pt x="3864" y="6489"/>
                  <a:pt x="3868" y="6487"/>
                  <a:pt x="3872" y="6484"/>
                </a:cubicBezTo>
                <a:cubicBezTo>
                  <a:pt x="3873" y="6484"/>
                  <a:pt x="3873" y="6483"/>
                  <a:pt x="3875" y="6483"/>
                </a:cubicBezTo>
                <a:cubicBezTo>
                  <a:pt x="3879" y="6480"/>
                  <a:pt x="3884" y="6477"/>
                  <a:pt x="3888" y="6475"/>
                </a:cubicBezTo>
                <a:cubicBezTo>
                  <a:pt x="3889" y="6473"/>
                  <a:pt x="3891" y="6473"/>
                  <a:pt x="3892" y="6472"/>
                </a:cubicBezTo>
                <a:cubicBezTo>
                  <a:pt x="3895" y="6469"/>
                  <a:pt x="3899" y="6468"/>
                  <a:pt x="3901" y="6465"/>
                </a:cubicBezTo>
                <a:cubicBezTo>
                  <a:pt x="3903" y="6464"/>
                  <a:pt x="3904" y="6463"/>
                  <a:pt x="3905" y="6463"/>
                </a:cubicBezTo>
                <a:cubicBezTo>
                  <a:pt x="3909" y="6459"/>
                  <a:pt x="3913" y="6456"/>
                  <a:pt x="3916" y="6452"/>
                </a:cubicBezTo>
                <a:lnTo>
                  <a:pt x="3916" y="6452"/>
                </a:lnTo>
                <a:cubicBezTo>
                  <a:pt x="3920" y="6448"/>
                  <a:pt x="3923" y="6444"/>
                  <a:pt x="3927" y="6440"/>
                </a:cubicBezTo>
                <a:cubicBezTo>
                  <a:pt x="3928" y="6439"/>
                  <a:pt x="3928" y="6437"/>
                  <a:pt x="3929" y="6436"/>
                </a:cubicBezTo>
                <a:cubicBezTo>
                  <a:pt x="3932" y="6433"/>
                  <a:pt x="3935" y="6429"/>
                  <a:pt x="3936" y="6427"/>
                </a:cubicBezTo>
                <a:cubicBezTo>
                  <a:pt x="3937" y="6425"/>
                  <a:pt x="3937" y="6424"/>
                  <a:pt x="3939" y="6423"/>
                </a:cubicBezTo>
                <a:cubicBezTo>
                  <a:pt x="3941" y="6419"/>
                  <a:pt x="3943" y="6416"/>
                  <a:pt x="3945" y="6412"/>
                </a:cubicBezTo>
                <a:cubicBezTo>
                  <a:pt x="3945" y="6411"/>
                  <a:pt x="3947" y="6409"/>
                  <a:pt x="3947" y="6409"/>
                </a:cubicBezTo>
                <a:cubicBezTo>
                  <a:pt x="3949" y="6405"/>
                  <a:pt x="3951" y="6400"/>
                  <a:pt x="3953" y="6396"/>
                </a:cubicBezTo>
                <a:lnTo>
                  <a:pt x="6481" y="284"/>
                </a:lnTo>
                <a:cubicBezTo>
                  <a:pt x="6485" y="273"/>
                  <a:pt x="6489" y="261"/>
                  <a:pt x="6492" y="249"/>
                </a:cubicBezTo>
                <a:cubicBezTo>
                  <a:pt x="6493" y="245"/>
                  <a:pt x="6493" y="240"/>
                  <a:pt x="6493" y="236"/>
                </a:cubicBezTo>
                <a:lnTo>
                  <a:pt x="6493" y="232"/>
                </a:lnTo>
                <a:cubicBezTo>
                  <a:pt x="6493" y="227"/>
                  <a:pt x="6493" y="223"/>
                  <a:pt x="6495" y="217"/>
                </a:cubicBezTo>
                <a:lnTo>
                  <a:pt x="6495" y="215"/>
                </a:lnTo>
                <a:lnTo>
                  <a:pt x="6495" y="203"/>
                </a:lnTo>
                <a:close/>
                <a:moveTo>
                  <a:pt x="648" y="2727"/>
                </a:moveTo>
                <a:lnTo>
                  <a:pt x="5589" y="687"/>
                </a:lnTo>
                <a:lnTo>
                  <a:pt x="2685" y="3589"/>
                </a:lnTo>
                <a:lnTo>
                  <a:pt x="648" y="2727"/>
                </a:lnTo>
                <a:close/>
                <a:moveTo>
                  <a:pt x="3787" y="5865"/>
                </a:moveTo>
                <a:lnTo>
                  <a:pt x="2933" y="3851"/>
                </a:lnTo>
                <a:lnTo>
                  <a:pt x="5804" y="981"/>
                </a:lnTo>
                <a:lnTo>
                  <a:pt x="3787" y="5865"/>
                </a:ln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133" name="文本框 132">
            <a:extLst>
              <a:ext uri="{FF2B5EF4-FFF2-40B4-BE49-F238E27FC236}">
                <a16:creationId xmlns:a16="http://schemas.microsoft.com/office/drawing/2014/main" id="{EDD7C4C3-1315-4AC2-8E4F-4C33003C6750}"/>
              </a:ext>
            </a:extLst>
          </p:cNvPr>
          <p:cNvSpPr txBox="1"/>
          <p:nvPr/>
        </p:nvSpPr>
        <p:spPr>
          <a:xfrm>
            <a:off x="373082" y="5620123"/>
            <a:ext cx="1660612" cy="338554"/>
          </a:xfrm>
          <a:prstGeom prst="rect">
            <a:avLst/>
          </a:prstGeom>
          <a:noFill/>
        </p:spPr>
        <p:txBody>
          <a:bodyPr wrap="square" rtlCol="0">
            <a:spAutoFit/>
          </a:bodyPr>
          <a:lstStyle/>
          <a:p>
            <a:r>
              <a:rPr lang="zh-CN" altLang="en-US" sz="1600" dirty="0">
                <a:solidFill>
                  <a:schemeClr val="bg1"/>
                </a:solidFill>
                <a:latin typeface="思源黑体 CN Regular" panose="020B0500000000000000" pitchFamily="34" charset="-122"/>
                <a:ea typeface="思源黑体 CN Regular" panose="020B0500000000000000" pitchFamily="34" charset="-122"/>
              </a:rPr>
              <a:t>预期成果</a:t>
            </a:r>
          </a:p>
        </p:txBody>
      </p:sp>
      <p:sp>
        <p:nvSpPr>
          <p:cNvPr id="134" name="任意矩形：006">
            <a:extLst>
              <a:ext uri="{FF2B5EF4-FFF2-40B4-BE49-F238E27FC236}">
                <a16:creationId xmlns:a16="http://schemas.microsoft.com/office/drawing/2014/main" id="{76EA553C-5D1C-44ED-A6CC-808C3F816DE4}"/>
              </a:ext>
            </a:extLst>
          </p:cNvPr>
          <p:cNvSpPr/>
          <p:nvPr/>
        </p:nvSpPr>
        <p:spPr>
          <a:xfrm>
            <a:off x="125661" y="5689964"/>
            <a:ext cx="203662" cy="187126"/>
          </a:xfrm>
          <a:custGeom>
            <a:avLst/>
            <a:gdLst>
              <a:gd name="T0" fmla="*/ 11834 w 13933"/>
              <a:gd name="T1" fmla="*/ 1094 h 12800"/>
              <a:gd name="T2" fmla="*/ 10384 w 13933"/>
              <a:gd name="T3" fmla="*/ 1094 h 12800"/>
              <a:gd name="T4" fmla="*/ 10384 w 13933"/>
              <a:gd name="T5" fmla="*/ 315 h 12800"/>
              <a:gd name="T6" fmla="*/ 10069 w 13933"/>
              <a:gd name="T7" fmla="*/ 0 h 12800"/>
              <a:gd name="T8" fmla="*/ 9754 w 13933"/>
              <a:gd name="T9" fmla="*/ 315 h 12800"/>
              <a:gd name="T10" fmla="*/ 9754 w 13933"/>
              <a:gd name="T11" fmla="*/ 1094 h 12800"/>
              <a:gd name="T12" fmla="*/ 4056 w 13933"/>
              <a:gd name="T13" fmla="*/ 1094 h 12800"/>
              <a:gd name="T14" fmla="*/ 4056 w 13933"/>
              <a:gd name="T15" fmla="*/ 315 h 12800"/>
              <a:gd name="T16" fmla="*/ 3741 w 13933"/>
              <a:gd name="T17" fmla="*/ 0 h 12800"/>
              <a:gd name="T18" fmla="*/ 3426 w 13933"/>
              <a:gd name="T19" fmla="*/ 315 h 12800"/>
              <a:gd name="T20" fmla="*/ 3426 w 13933"/>
              <a:gd name="T21" fmla="*/ 1094 h 12800"/>
              <a:gd name="T22" fmla="*/ 2099 w 13933"/>
              <a:gd name="T23" fmla="*/ 1094 h 12800"/>
              <a:gd name="T24" fmla="*/ 0 w 13933"/>
              <a:gd name="T25" fmla="*/ 3193 h 12800"/>
              <a:gd name="T26" fmla="*/ 0 w 13933"/>
              <a:gd name="T27" fmla="*/ 10701 h 12800"/>
              <a:gd name="T28" fmla="*/ 2099 w 13933"/>
              <a:gd name="T29" fmla="*/ 12800 h 12800"/>
              <a:gd name="T30" fmla="*/ 11834 w 13933"/>
              <a:gd name="T31" fmla="*/ 12800 h 12800"/>
              <a:gd name="T32" fmla="*/ 13933 w 13933"/>
              <a:gd name="T33" fmla="*/ 10701 h 12800"/>
              <a:gd name="T34" fmla="*/ 13933 w 13933"/>
              <a:gd name="T35" fmla="*/ 3193 h 12800"/>
              <a:gd name="T36" fmla="*/ 11834 w 13933"/>
              <a:gd name="T37" fmla="*/ 1094 h 12800"/>
              <a:gd name="T38" fmla="*/ 2099 w 13933"/>
              <a:gd name="T39" fmla="*/ 1933 h 12800"/>
              <a:gd name="T40" fmla="*/ 3426 w 13933"/>
              <a:gd name="T41" fmla="*/ 1933 h 12800"/>
              <a:gd name="T42" fmla="*/ 3426 w 13933"/>
              <a:gd name="T43" fmla="*/ 2757 h 12800"/>
              <a:gd name="T44" fmla="*/ 3741 w 13933"/>
              <a:gd name="T45" fmla="*/ 3072 h 12800"/>
              <a:gd name="T46" fmla="*/ 4056 w 13933"/>
              <a:gd name="T47" fmla="*/ 2757 h 12800"/>
              <a:gd name="T48" fmla="*/ 4056 w 13933"/>
              <a:gd name="T49" fmla="*/ 1933 h 12800"/>
              <a:gd name="T50" fmla="*/ 9754 w 13933"/>
              <a:gd name="T51" fmla="*/ 1933 h 12800"/>
              <a:gd name="T52" fmla="*/ 9754 w 13933"/>
              <a:gd name="T53" fmla="*/ 2757 h 12800"/>
              <a:gd name="T54" fmla="*/ 10069 w 13933"/>
              <a:gd name="T55" fmla="*/ 3072 h 12800"/>
              <a:gd name="T56" fmla="*/ 10384 w 13933"/>
              <a:gd name="T57" fmla="*/ 2757 h 12800"/>
              <a:gd name="T58" fmla="*/ 10384 w 13933"/>
              <a:gd name="T59" fmla="*/ 1933 h 12800"/>
              <a:gd name="T60" fmla="*/ 11834 w 13933"/>
              <a:gd name="T61" fmla="*/ 1933 h 12800"/>
              <a:gd name="T62" fmla="*/ 13094 w 13933"/>
              <a:gd name="T63" fmla="*/ 3193 h 12800"/>
              <a:gd name="T64" fmla="*/ 13094 w 13933"/>
              <a:gd name="T65" fmla="*/ 4646 h 12800"/>
              <a:gd name="T66" fmla="*/ 840 w 13933"/>
              <a:gd name="T67" fmla="*/ 4646 h 12800"/>
              <a:gd name="T68" fmla="*/ 840 w 13933"/>
              <a:gd name="T69" fmla="*/ 3193 h 12800"/>
              <a:gd name="T70" fmla="*/ 2099 w 13933"/>
              <a:gd name="T71" fmla="*/ 1933 h 12800"/>
              <a:gd name="T72" fmla="*/ 11834 w 13933"/>
              <a:gd name="T73" fmla="*/ 11960 h 12800"/>
              <a:gd name="T74" fmla="*/ 2099 w 13933"/>
              <a:gd name="T75" fmla="*/ 11960 h 12800"/>
              <a:gd name="T76" fmla="*/ 840 w 13933"/>
              <a:gd name="T77" fmla="*/ 10701 h 12800"/>
              <a:gd name="T78" fmla="*/ 840 w 13933"/>
              <a:gd name="T79" fmla="*/ 5276 h 12800"/>
              <a:gd name="T80" fmla="*/ 13094 w 13933"/>
              <a:gd name="T81" fmla="*/ 5276 h 12800"/>
              <a:gd name="T82" fmla="*/ 13094 w 13933"/>
              <a:gd name="T83" fmla="*/ 10701 h 12800"/>
              <a:gd name="T84" fmla="*/ 11834 w 13933"/>
              <a:gd name="T85" fmla="*/ 11960 h 128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Lst>
            <a:rect l="0" t="0" r="r" b="b"/>
            <a:pathLst>
              <a:path w="13933" h="12800">
                <a:moveTo>
                  <a:pt x="11834" y="1094"/>
                </a:moveTo>
                <a:lnTo>
                  <a:pt x="10384" y="1094"/>
                </a:lnTo>
                <a:lnTo>
                  <a:pt x="10384" y="315"/>
                </a:lnTo>
                <a:cubicBezTo>
                  <a:pt x="10384" y="141"/>
                  <a:pt x="10243" y="0"/>
                  <a:pt x="10069" y="0"/>
                </a:cubicBezTo>
                <a:cubicBezTo>
                  <a:pt x="9895" y="0"/>
                  <a:pt x="9754" y="141"/>
                  <a:pt x="9754" y="315"/>
                </a:cubicBezTo>
                <a:lnTo>
                  <a:pt x="9754" y="1094"/>
                </a:lnTo>
                <a:lnTo>
                  <a:pt x="4056" y="1094"/>
                </a:lnTo>
                <a:lnTo>
                  <a:pt x="4056" y="315"/>
                </a:lnTo>
                <a:cubicBezTo>
                  <a:pt x="4056" y="141"/>
                  <a:pt x="3915" y="0"/>
                  <a:pt x="3741" y="0"/>
                </a:cubicBezTo>
                <a:cubicBezTo>
                  <a:pt x="3567" y="0"/>
                  <a:pt x="3426" y="141"/>
                  <a:pt x="3426" y="315"/>
                </a:cubicBezTo>
                <a:lnTo>
                  <a:pt x="3426" y="1094"/>
                </a:lnTo>
                <a:lnTo>
                  <a:pt x="2099" y="1094"/>
                </a:lnTo>
                <a:cubicBezTo>
                  <a:pt x="940" y="1095"/>
                  <a:pt x="1" y="2034"/>
                  <a:pt x="0" y="3193"/>
                </a:cubicBezTo>
                <a:lnTo>
                  <a:pt x="0" y="10701"/>
                </a:lnTo>
                <a:cubicBezTo>
                  <a:pt x="1" y="11860"/>
                  <a:pt x="940" y="12799"/>
                  <a:pt x="2099" y="12800"/>
                </a:cubicBezTo>
                <a:lnTo>
                  <a:pt x="11834" y="12800"/>
                </a:lnTo>
                <a:cubicBezTo>
                  <a:pt x="12993" y="12799"/>
                  <a:pt x="13932" y="11860"/>
                  <a:pt x="13933" y="10701"/>
                </a:cubicBezTo>
                <a:lnTo>
                  <a:pt x="13933" y="3193"/>
                </a:lnTo>
                <a:cubicBezTo>
                  <a:pt x="13932" y="2034"/>
                  <a:pt x="12993" y="1095"/>
                  <a:pt x="11834" y="1094"/>
                </a:cubicBezTo>
                <a:close/>
                <a:moveTo>
                  <a:pt x="2099" y="1933"/>
                </a:moveTo>
                <a:lnTo>
                  <a:pt x="3426" y="1933"/>
                </a:lnTo>
                <a:lnTo>
                  <a:pt x="3426" y="2757"/>
                </a:lnTo>
                <a:cubicBezTo>
                  <a:pt x="3426" y="2931"/>
                  <a:pt x="3567" y="3072"/>
                  <a:pt x="3741" y="3072"/>
                </a:cubicBezTo>
                <a:cubicBezTo>
                  <a:pt x="3915" y="3072"/>
                  <a:pt x="4056" y="2931"/>
                  <a:pt x="4056" y="2757"/>
                </a:cubicBezTo>
                <a:lnTo>
                  <a:pt x="4056" y="1933"/>
                </a:lnTo>
                <a:lnTo>
                  <a:pt x="9754" y="1933"/>
                </a:lnTo>
                <a:lnTo>
                  <a:pt x="9754" y="2757"/>
                </a:lnTo>
                <a:cubicBezTo>
                  <a:pt x="9754" y="2931"/>
                  <a:pt x="9895" y="3072"/>
                  <a:pt x="10069" y="3072"/>
                </a:cubicBezTo>
                <a:cubicBezTo>
                  <a:pt x="10243" y="3072"/>
                  <a:pt x="10384" y="2931"/>
                  <a:pt x="10384" y="2757"/>
                </a:cubicBezTo>
                <a:lnTo>
                  <a:pt x="10384" y="1933"/>
                </a:lnTo>
                <a:lnTo>
                  <a:pt x="11834" y="1933"/>
                </a:lnTo>
                <a:cubicBezTo>
                  <a:pt x="12529" y="1934"/>
                  <a:pt x="13093" y="2497"/>
                  <a:pt x="13094" y="3193"/>
                </a:cubicBezTo>
                <a:lnTo>
                  <a:pt x="13094" y="4646"/>
                </a:lnTo>
                <a:lnTo>
                  <a:pt x="840" y="4646"/>
                </a:lnTo>
                <a:lnTo>
                  <a:pt x="840" y="3193"/>
                </a:lnTo>
                <a:cubicBezTo>
                  <a:pt x="840" y="2497"/>
                  <a:pt x="1404" y="1934"/>
                  <a:pt x="2099" y="1933"/>
                </a:cubicBezTo>
                <a:close/>
                <a:moveTo>
                  <a:pt x="11834" y="11960"/>
                </a:moveTo>
                <a:lnTo>
                  <a:pt x="2099" y="11960"/>
                </a:lnTo>
                <a:cubicBezTo>
                  <a:pt x="1404" y="11960"/>
                  <a:pt x="840" y="11396"/>
                  <a:pt x="840" y="10701"/>
                </a:cubicBezTo>
                <a:lnTo>
                  <a:pt x="840" y="5276"/>
                </a:lnTo>
                <a:lnTo>
                  <a:pt x="13094" y="5276"/>
                </a:lnTo>
                <a:lnTo>
                  <a:pt x="13094" y="10701"/>
                </a:lnTo>
                <a:cubicBezTo>
                  <a:pt x="13093" y="11396"/>
                  <a:pt x="12529" y="11960"/>
                  <a:pt x="11834" y="1196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37781422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 name="矩形: 圆角 50">
            <a:extLst>
              <a:ext uri="{FF2B5EF4-FFF2-40B4-BE49-F238E27FC236}">
                <a16:creationId xmlns:a16="http://schemas.microsoft.com/office/drawing/2014/main" id="{F063EB76-7873-4318-BCB2-AB65A44F2010}"/>
              </a:ext>
            </a:extLst>
          </p:cNvPr>
          <p:cNvSpPr/>
          <p:nvPr/>
        </p:nvSpPr>
        <p:spPr>
          <a:xfrm>
            <a:off x="9727662" y="1360481"/>
            <a:ext cx="2129376" cy="5106268"/>
          </a:xfrm>
          <a:prstGeom prst="roundRect">
            <a:avLst>
              <a:gd name="adj" fmla="val 6467"/>
            </a:avLst>
          </a:prstGeom>
          <a:solidFill>
            <a:schemeClr val="bg1"/>
          </a:solidFill>
          <a:ln w="15875">
            <a:solidFill>
              <a:schemeClr val="accent1"/>
            </a:solidFill>
            <a:prstDash val="solid"/>
          </a:ln>
          <a:effectLst>
            <a:outerShdw blurRad="101600" dist="50800" dir="5400000" algn="ctr" rotWithShape="0">
              <a:schemeClr val="accent1">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47" name="矩形: 圆角 46">
            <a:extLst>
              <a:ext uri="{FF2B5EF4-FFF2-40B4-BE49-F238E27FC236}">
                <a16:creationId xmlns:a16="http://schemas.microsoft.com/office/drawing/2014/main" id="{F6E18EE9-FFAE-448E-B87D-2DA83E78C063}"/>
              </a:ext>
            </a:extLst>
          </p:cNvPr>
          <p:cNvSpPr/>
          <p:nvPr/>
        </p:nvSpPr>
        <p:spPr>
          <a:xfrm>
            <a:off x="9834425" y="1989799"/>
            <a:ext cx="1915851" cy="990926"/>
          </a:xfrm>
          <a:prstGeom prst="roundRect">
            <a:avLst>
              <a:gd name="adj" fmla="val 9986"/>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altLang="zh-CN" sz="1600" dirty="0">
                <a:solidFill>
                  <a:schemeClr val="tx1"/>
                </a:solidFill>
                <a:latin typeface="思源黑体 CN Regular" panose="020B0500000000000000" pitchFamily="34" charset="-122"/>
                <a:ea typeface="思源黑体 CN Regular" panose="020B0500000000000000" pitchFamily="34" charset="-122"/>
              </a:rPr>
              <a:t>CRISPR-Cas9</a:t>
            </a:r>
            <a:r>
              <a:rPr lang="zh-CN" altLang="en-US" sz="1600" dirty="0">
                <a:solidFill>
                  <a:schemeClr val="tx1"/>
                </a:solidFill>
                <a:latin typeface="思源黑体 CN Regular" panose="020B0500000000000000" pitchFamily="34" charset="-122"/>
                <a:ea typeface="思源黑体 CN Regular" panose="020B0500000000000000" pitchFamily="34" charset="-122"/>
              </a:rPr>
              <a:t>编辑建</a:t>
            </a:r>
            <a:r>
              <a:rPr lang="en-US" altLang="zh-CN" sz="1600" dirty="0">
                <a:solidFill>
                  <a:schemeClr val="tx1"/>
                </a:solidFill>
                <a:latin typeface="思源黑体 CN Regular" panose="020B0500000000000000" pitchFamily="34" charset="-122"/>
                <a:ea typeface="思源黑体 CN Regular" panose="020B0500000000000000" pitchFamily="34" charset="-122"/>
              </a:rPr>
              <a:t>MYSM1</a:t>
            </a:r>
            <a:r>
              <a:rPr lang="zh-CN" altLang="en-US" sz="1600" dirty="0">
                <a:solidFill>
                  <a:schemeClr val="tx1"/>
                </a:solidFill>
                <a:latin typeface="思源黑体 CN Regular" panose="020B0500000000000000" pitchFamily="34" charset="-122"/>
                <a:ea typeface="思源黑体 CN Regular" panose="020B0500000000000000" pitchFamily="34" charset="-122"/>
              </a:rPr>
              <a:t>缺失模型，效率</a:t>
            </a:r>
            <a:r>
              <a:rPr lang="en-US" altLang="zh-CN" sz="1600" dirty="0">
                <a:solidFill>
                  <a:schemeClr val="tx1"/>
                </a:solidFill>
                <a:latin typeface="思源黑体 CN Regular" panose="020B0500000000000000" pitchFamily="34" charset="-122"/>
                <a:ea typeface="思源黑体 CN Regular" panose="020B0500000000000000" pitchFamily="34" charset="-122"/>
              </a:rPr>
              <a:t>&gt;90%</a:t>
            </a:r>
          </a:p>
        </p:txBody>
      </p:sp>
      <p:sp>
        <p:nvSpPr>
          <p:cNvPr id="52" name="矩形: 圆顶角 51">
            <a:extLst>
              <a:ext uri="{FF2B5EF4-FFF2-40B4-BE49-F238E27FC236}">
                <a16:creationId xmlns:a16="http://schemas.microsoft.com/office/drawing/2014/main" id="{FDFD134A-6AAC-4793-842C-0FD04D3E1934}"/>
              </a:ext>
            </a:extLst>
          </p:cNvPr>
          <p:cNvSpPr/>
          <p:nvPr/>
        </p:nvSpPr>
        <p:spPr>
          <a:xfrm>
            <a:off x="10112758" y="1354766"/>
            <a:ext cx="1359184" cy="376049"/>
          </a:xfrm>
          <a:prstGeom prst="round2SameRect">
            <a:avLst>
              <a:gd name="adj1" fmla="val 0"/>
              <a:gd name="adj2" fmla="val 19256"/>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600" b="1" dirty="0">
                <a:latin typeface="思源黑体 CN Bold" panose="020B0800000000000000" pitchFamily="34" charset="-122"/>
                <a:ea typeface="思源黑体 CN Bold" panose="020B0800000000000000" pitchFamily="34" charset="-122"/>
              </a:rPr>
              <a:t>研究结果</a:t>
            </a:r>
          </a:p>
        </p:txBody>
      </p:sp>
      <p:sp>
        <p:nvSpPr>
          <p:cNvPr id="56" name="矩形: 圆角 55">
            <a:extLst>
              <a:ext uri="{FF2B5EF4-FFF2-40B4-BE49-F238E27FC236}">
                <a16:creationId xmlns:a16="http://schemas.microsoft.com/office/drawing/2014/main" id="{7F383369-8B34-49CF-8D30-509028C4AA38}"/>
              </a:ext>
            </a:extLst>
          </p:cNvPr>
          <p:cNvSpPr/>
          <p:nvPr/>
        </p:nvSpPr>
        <p:spPr>
          <a:xfrm>
            <a:off x="9834425" y="3678676"/>
            <a:ext cx="1915851" cy="835606"/>
          </a:xfrm>
          <a:prstGeom prst="roundRect">
            <a:avLst>
              <a:gd name="adj" fmla="val 9986"/>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sz="1600" dirty="0">
                <a:solidFill>
                  <a:schemeClr val="tx1"/>
                </a:solidFill>
                <a:latin typeface="思源黑体 CN Regular" panose="020B0500000000000000" pitchFamily="34" charset="-122"/>
                <a:ea typeface="思源黑体 CN Regular" panose="020B0500000000000000" pitchFamily="34" charset="-122"/>
              </a:rPr>
              <a:t>用 </a:t>
            </a:r>
            <a:r>
              <a:rPr lang="en-US" altLang="zh-CN" sz="1600" dirty="0">
                <a:solidFill>
                  <a:schemeClr val="tx1"/>
                </a:solidFill>
                <a:latin typeface="思源黑体 CN Regular" panose="020B0500000000000000" pitchFamily="34" charset="-122"/>
                <a:ea typeface="思源黑体 CN Regular" panose="020B0500000000000000" pitchFamily="34" charset="-122"/>
              </a:rPr>
              <a:t>CD34+ </a:t>
            </a:r>
            <a:r>
              <a:rPr lang="zh-CN" altLang="en-US" sz="1600" dirty="0">
                <a:solidFill>
                  <a:schemeClr val="tx1"/>
                </a:solidFill>
                <a:latin typeface="思源黑体 CN Regular" panose="020B0500000000000000" pitchFamily="34" charset="-122"/>
                <a:ea typeface="思源黑体 CN Regular" panose="020B0500000000000000" pitchFamily="34" charset="-122"/>
              </a:rPr>
              <a:t>构建 </a:t>
            </a:r>
            <a:r>
              <a:rPr lang="en-US" altLang="zh-CN" sz="1600" dirty="0">
                <a:solidFill>
                  <a:schemeClr val="tx1"/>
                </a:solidFill>
                <a:latin typeface="思源黑体 CN Regular" panose="020B0500000000000000" pitchFamily="34" charset="-122"/>
                <a:ea typeface="思源黑体 CN Regular" panose="020B0500000000000000" pitchFamily="34" charset="-122"/>
              </a:rPr>
              <a:t>MYSM1 </a:t>
            </a:r>
            <a:r>
              <a:rPr lang="zh-CN" altLang="en-US" sz="1600" dirty="0">
                <a:solidFill>
                  <a:schemeClr val="tx1"/>
                </a:solidFill>
                <a:latin typeface="思源黑体 CN Regular" panose="020B0500000000000000" pitchFamily="34" charset="-122"/>
                <a:ea typeface="思源黑体 CN Regular" panose="020B0500000000000000" pitchFamily="34" charset="-122"/>
              </a:rPr>
              <a:t>缺失模型</a:t>
            </a:r>
          </a:p>
        </p:txBody>
      </p:sp>
      <p:sp>
        <p:nvSpPr>
          <p:cNvPr id="57" name="矩形: 圆角 56">
            <a:extLst>
              <a:ext uri="{FF2B5EF4-FFF2-40B4-BE49-F238E27FC236}">
                <a16:creationId xmlns:a16="http://schemas.microsoft.com/office/drawing/2014/main" id="{EEE17AF8-C06A-401C-A2CD-398B2CD17DC1}"/>
              </a:ext>
            </a:extLst>
          </p:cNvPr>
          <p:cNvSpPr/>
          <p:nvPr/>
        </p:nvSpPr>
        <p:spPr>
          <a:xfrm>
            <a:off x="9834425" y="5212233"/>
            <a:ext cx="1915851" cy="961723"/>
          </a:xfrm>
          <a:prstGeom prst="roundRect">
            <a:avLst>
              <a:gd name="adj" fmla="val 9986"/>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sz="1600" dirty="0">
                <a:solidFill>
                  <a:schemeClr val="tx1"/>
                </a:solidFill>
                <a:latin typeface="思源黑体 CN Regular" panose="020B0500000000000000" pitchFamily="34" charset="-122"/>
                <a:ea typeface="思源黑体 CN Regular" panose="020B0500000000000000" pitchFamily="34" charset="-122"/>
              </a:rPr>
              <a:t>单细胞 </a:t>
            </a:r>
            <a:r>
              <a:rPr lang="en-US" altLang="zh-CN" sz="1600" dirty="0">
                <a:solidFill>
                  <a:schemeClr val="tx1"/>
                </a:solidFill>
                <a:latin typeface="思源黑体 CN Regular" panose="020B0500000000000000" pitchFamily="34" charset="-122"/>
                <a:ea typeface="思源黑体 CN Regular" panose="020B0500000000000000" pitchFamily="34" charset="-122"/>
              </a:rPr>
              <a:t>RNA </a:t>
            </a:r>
            <a:r>
              <a:rPr lang="zh-CN" altLang="en-US" sz="1600" dirty="0">
                <a:solidFill>
                  <a:schemeClr val="tx1"/>
                </a:solidFill>
                <a:latin typeface="思源黑体 CN Regular" panose="020B0500000000000000" pitchFamily="34" charset="-122"/>
                <a:ea typeface="思源黑体 CN Regular" panose="020B0500000000000000" pitchFamily="34" charset="-122"/>
              </a:rPr>
              <a:t>测序证实 </a:t>
            </a:r>
            <a:r>
              <a:rPr lang="en-US" altLang="zh-CN" sz="1600" dirty="0">
                <a:solidFill>
                  <a:schemeClr val="tx1"/>
                </a:solidFill>
                <a:latin typeface="思源黑体 CN Regular" panose="020B0500000000000000" pitchFamily="34" charset="-122"/>
                <a:ea typeface="思源黑体 CN Regular" panose="020B0500000000000000" pitchFamily="34" charset="-122"/>
              </a:rPr>
              <a:t>HSC </a:t>
            </a:r>
            <a:r>
              <a:rPr lang="zh-CN" altLang="en-US" sz="1600" dirty="0">
                <a:solidFill>
                  <a:schemeClr val="tx1"/>
                </a:solidFill>
                <a:latin typeface="思源黑体 CN Regular" panose="020B0500000000000000" pitchFamily="34" charset="-122"/>
                <a:ea typeface="思源黑体 CN Regular" panose="020B0500000000000000" pitchFamily="34" charset="-122"/>
              </a:rPr>
              <a:t>分子特征细胞 </a:t>
            </a:r>
          </a:p>
        </p:txBody>
      </p:sp>
      <p:sp>
        <p:nvSpPr>
          <p:cNvPr id="8" name="箭头: 右 7">
            <a:extLst>
              <a:ext uri="{FF2B5EF4-FFF2-40B4-BE49-F238E27FC236}">
                <a16:creationId xmlns:a16="http://schemas.microsoft.com/office/drawing/2014/main" id="{8CBF2885-80E7-4340-A309-B5E20B4B42CB}"/>
              </a:ext>
            </a:extLst>
          </p:cNvPr>
          <p:cNvSpPr/>
          <p:nvPr/>
        </p:nvSpPr>
        <p:spPr>
          <a:xfrm rot="5400000">
            <a:off x="10599945" y="3120513"/>
            <a:ext cx="384810" cy="418374"/>
          </a:xfrm>
          <a:prstGeom prst="rightArrow">
            <a:avLst/>
          </a:prstGeom>
          <a:solidFill>
            <a:schemeClr val="bg1"/>
          </a:solidFill>
          <a:ln w="15875">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0" name="箭头: 右 59">
            <a:extLst>
              <a:ext uri="{FF2B5EF4-FFF2-40B4-BE49-F238E27FC236}">
                <a16:creationId xmlns:a16="http://schemas.microsoft.com/office/drawing/2014/main" id="{D6FAF250-6902-4F63-AFE8-C6BBFEC78BF7}"/>
              </a:ext>
            </a:extLst>
          </p:cNvPr>
          <p:cNvSpPr/>
          <p:nvPr/>
        </p:nvSpPr>
        <p:spPr>
          <a:xfrm rot="5400000">
            <a:off x="10599945" y="4654071"/>
            <a:ext cx="384810" cy="418374"/>
          </a:xfrm>
          <a:prstGeom prst="rightArrow">
            <a:avLst/>
          </a:prstGeom>
          <a:solidFill>
            <a:schemeClr val="bg1"/>
          </a:solidFill>
          <a:ln w="15875">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9" name="矩形: 圆角 28">
            <a:extLst>
              <a:ext uri="{FF2B5EF4-FFF2-40B4-BE49-F238E27FC236}">
                <a16:creationId xmlns:a16="http://schemas.microsoft.com/office/drawing/2014/main" id="{175C6E7B-ADA9-42C0-9F7A-50D900CAF9DE}"/>
              </a:ext>
            </a:extLst>
          </p:cNvPr>
          <p:cNvSpPr/>
          <p:nvPr/>
        </p:nvSpPr>
        <p:spPr>
          <a:xfrm>
            <a:off x="5899316" y="1354766"/>
            <a:ext cx="3410074" cy="5111983"/>
          </a:xfrm>
          <a:prstGeom prst="roundRect">
            <a:avLst>
              <a:gd name="adj" fmla="val 4721"/>
            </a:avLst>
          </a:prstGeom>
          <a:solidFill>
            <a:schemeClr val="bg1"/>
          </a:solidFill>
          <a:ln w="15875">
            <a:solidFill>
              <a:schemeClr val="accent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pic>
        <p:nvPicPr>
          <p:cNvPr id="10" name="图片 9">
            <a:extLst>
              <a:ext uri="{FF2B5EF4-FFF2-40B4-BE49-F238E27FC236}">
                <a16:creationId xmlns:a16="http://schemas.microsoft.com/office/drawing/2014/main" id="{968B6B7F-630D-4F01-A691-8774FD932294}"/>
              </a:ext>
            </a:extLst>
          </p:cNvPr>
          <p:cNvPicPr>
            <a:picLocks noChangeAspect="1"/>
          </p:cNvPicPr>
          <p:nvPr/>
        </p:nvPicPr>
        <p:blipFill rotWithShape="1">
          <a:blip r:embed="rId2"/>
          <a:srcRect l="2648" r="2652" b="488"/>
          <a:stretch/>
        </p:blipFill>
        <p:spPr>
          <a:xfrm>
            <a:off x="5989626" y="1889609"/>
            <a:ext cx="3229454" cy="4317508"/>
          </a:xfrm>
          <a:prstGeom prst="roundRect">
            <a:avLst>
              <a:gd name="adj" fmla="val 5969"/>
            </a:avLst>
          </a:prstGeom>
          <a:noFill/>
        </p:spPr>
      </p:pic>
      <p:sp>
        <p:nvSpPr>
          <p:cNvPr id="46" name="矩形: 圆顶角 45">
            <a:extLst>
              <a:ext uri="{FF2B5EF4-FFF2-40B4-BE49-F238E27FC236}">
                <a16:creationId xmlns:a16="http://schemas.microsoft.com/office/drawing/2014/main" id="{9C17C877-DCD7-4736-853C-B9A143EC9F5B}"/>
              </a:ext>
            </a:extLst>
          </p:cNvPr>
          <p:cNvSpPr/>
          <p:nvPr/>
        </p:nvSpPr>
        <p:spPr>
          <a:xfrm>
            <a:off x="6839305" y="1354766"/>
            <a:ext cx="1530094" cy="376049"/>
          </a:xfrm>
          <a:prstGeom prst="round2SameRect">
            <a:avLst>
              <a:gd name="adj1" fmla="val 0"/>
              <a:gd name="adj2" fmla="val 19256"/>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600" b="1" dirty="0">
                <a:latin typeface="思源黑体 CN Bold" panose="020B0800000000000000" pitchFamily="34" charset="-122"/>
                <a:ea typeface="思源黑体 CN Bold" panose="020B0800000000000000" pitchFamily="34" charset="-122"/>
              </a:rPr>
              <a:t>数据处理分析</a:t>
            </a:r>
          </a:p>
        </p:txBody>
      </p:sp>
      <p:sp>
        <p:nvSpPr>
          <p:cNvPr id="72" name="箭头: 右 71">
            <a:extLst>
              <a:ext uri="{FF2B5EF4-FFF2-40B4-BE49-F238E27FC236}">
                <a16:creationId xmlns:a16="http://schemas.microsoft.com/office/drawing/2014/main" id="{274B5535-BCB7-485E-8FF7-D7F11797836D}"/>
              </a:ext>
            </a:extLst>
          </p:cNvPr>
          <p:cNvSpPr/>
          <p:nvPr/>
        </p:nvSpPr>
        <p:spPr>
          <a:xfrm>
            <a:off x="5545846" y="2536085"/>
            <a:ext cx="288668" cy="100192"/>
          </a:xfrm>
          <a:prstGeom prst="rightArrow">
            <a:avLst>
              <a:gd name="adj1" fmla="val 21026"/>
              <a:gd name="adj2" fmla="val 87974"/>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3" name="箭头: 右 72">
            <a:extLst>
              <a:ext uri="{FF2B5EF4-FFF2-40B4-BE49-F238E27FC236}">
                <a16:creationId xmlns:a16="http://schemas.microsoft.com/office/drawing/2014/main" id="{A5C98D9B-B9C1-49B0-89A8-F55EBD2A8391}"/>
              </a:ext>
            </a:extLst>
          </p:cNvPr>
          <p:cNvSpPr/>
          <p:nvPr/>
        </p:nvSpPr>
        <p:spPr>
          <a:xfrm>
            <a:off x="5545846" y="5192857"/>
            <a:ext cx="288668" cy="100192"/>
          </a:xfrm>
          <a:prstGeom prst="rightArrow">
            <a:avLst>
              <a:gd name="adj1" fmla="val 21026"/>
              <a:gd name="adj2" fmla="val 87974"/>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5" name="矩形: 圆角 24">
            <a:extLst>
              <a:ext uri="{FF2B5EF4-FFF2-40B4-BE49-F238E27FC236}">
                <a16:creationId xmlns:a16="http://schemas.microsoft.com/office/drawing/2014/main" id="{D459F362-7BD7-427F-960D-4022BD02D3ED}"/>
              </a:ext>
            </a:extLst>
          </p:cNvPr>
          <p:cNvSpPr/>
          <p:nvPr/>
        </p:nvSpPr>
        <p:spPr>
          <a:xfrm>
            <a:off x="2389958" y="1354766"/>
            <a:ext cx="3091086" cy="2462831"/>
          </a:xfrm>
          <a:prstGeom prst="roundRect">
            <a:avLst>
              <a:gd name="adj" fmla="val 8451"/>
            </a:avLst>
          </a:prstGeom>
          <a:solidFill>
            <a:schemeClr val="bg1"/>
          </a:solidFill>
          <a:ln w="15875">
            <a:solidFill>
              <a:schemeClr val="accent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33" name="矩形: 圆角 32">
            <a:extLst>
              <a:ext uri="{FF2B5EF4-FFF2-40B4-BE49-F238E27FC236}">
                <a16:creationId xmlns:a16="http://schemas.microsoft.com/office/drawing/2014/main" id="{03185492-F7DE-4AB0-9133-888A01A33ED0}"/>
              </a:ext>
            </a:extLst>
          </p:cNvPr>
          <p:cNvSpPr/>
          <p:nvPr/>
        </p:nvSpPr>
        <p:spPr>
          <a:xfrm>
            <a:off x="2389958" y="4011538"/>
            <a:ext cx="3091086" cy="2462831"/>
          </a:xfrm>
          <a:prstGeom prst="roundRect">
            <a:avLst>
              <a:gd name="adj" fmla="val 8451"/>
            </a:avLst>
          </a:prstGeom>
          <a:solidFill>
            <a:schemeClr val="bg1"/>
          </a:solidFill>
          <a:ln w="15875">
            <a:solidFill>
              <a:schemeClr val="accent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27" name="文本框 26">
            <a:extLst>
              <a:ext uri="{FF2B5EF4-FFF2-40B4-BE49-F238E27FC236}">
                <a16:creationId xmlns:a16="http://schemas.microsoft.com/office/drawing/2014/main" id="{C23D7C35-BD5E-447A-9B03-6535D8900331}"/>
              </a:ext>
            </a:extLst>
          </p:cNvPr>
          <p:cNvSpPr txBox="1"/>
          <p:nvPr/>
        </p:nvSpPr>
        <p:spPr>
          <a:xfrm>
            <a:off x="2505218" y="1790287"/>
            <a:ext cx="2860564" cy="1028295"/>
          </a:xfrm>
          <a:prstGeom prst="rect">
            <a:avLst/>
          </a:prstGeom>
          <a:noFill/>
        </p:spPr>
        <p:txBody>
          <a:bodyPr wrap="square" rtlCol="0">
            <a:spAutoFit/>
          </a:bodyPr>
          <a:lstStyle>
            <a:defPPr>
              <a:defRPr lang="zh-CN"/>
            </a:defPPr>
            <a:lvl1pPr marL="285750" indent="-285750">
              <a:lnSpc>
                <a:spcPct val="110000"/>
              </a:lnSpc>
              <a:buFont typeface="Wingdings" panose="05000000000000000000" pitchFamily="2" charset="2"/>
              <a:buChar char="u"/>
              <a:defRPr sz="1400">
                <a:latin typeface="思源黑体 CN Regular" panose="020B0500000000000000" pitchFamily="34" charset="-122"/>
                <a:ea typeface="思源黑体 CN Regular" panose="020B0500000000000000" pitchFamily="34" charset="-122"/>
              </a:defRPr>
            </a:lvl1pPr>
          </a:lstStyle>
          <a:p>
            <a:pPr marL="0" indent="0">
              <a:buNone/>
            </a:pPr>
            <a:r>
              <a:rPr lang="en-US" altLang="zh-CN" dirty="0"/>
              <a:t>MYSM1 </a:t>
            </a:r>
            <a:r>
              <a:rPr lang="zh-CN" altLang="en-US" dirty="0"/>
              <a:t>缺失 </a:t>
            </a:r>
            <a:r>
              <a:rPr lang="en-US" altLang="zh-CN" dirty="0"/>
              <a:t>HSC </a:t>
            </a:r>
            <a:r>
              <a:rPr lang="zh-CN" altLang="en-US" dirty="0"/>
              <a:t>中，铁转运基因表达异常，</a:t>
            </a:r>
            <a:r>
              <a:rPr lang="en-US" altLang="zh-CN" dirty="0"/>
              <a:t>ROS</a:t>
            </a:r>
            <a:r>
              <a:rPr lang="zh-CN" altLang="en-US" dirty="0"/>
              <a:t>、脂质过氧化升高，</a:t>
            </a:r>
            <a:r>
              <a:rPr lang="en-US" altLang="zh-CN" dirty="0"/>
              <a:t>Fe²⁺</a:t>
            </a:r>
            <a:r>
              <a:rPr lang="zh-CN" altLang="en-US" dirty="0"/>
              <a:t>积累且 </a:t>
            </a:r>
            <a:r>
              <a:rPr lang="en-US" altLang="zh-CN" dirty="0"/>
              <a:t>GPX4 </a:t>
            </a:r>
            <a:r>
              <a:rPr lang="zh-CN" altLang="en-US" dirty="0"/>
              <a:t>活性降、血红素合成受抑。</a:t>
            </a:r>
          </a:p>
        </p:txBody>
      </p:sp>
      <p:pic>
        <p:nvPicPr>
          <p:cNvPr id="11276" name="Picture 12" descr="查看图片">
            <a:extLst>
              <a:ext uri="{FF2B5EF4-FFF2-40B4-BE49-F238E27FC236}">
                <a16:creationId xmlns:a16="http://schemas.microsoft.com/office/drawing/2014/main" id="{3020E8E3-4BEB-47D4-A804-0929E9862A44}"/>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1886" t="27044" r="4249" b="52207"/>
          <a:stretch/>
        </p:blipFill>
        <p:spPr bwMode="auto">
          <a:xfrm>
            <a:off x="2412800" y="3115355"/>
            <a:ext cx="3045402" cy="679940"/>
          </a:xfrm>
          <a:prstGeom prst="roundRect">
            <a:avLst>
              <a:gd name="adj" fmla="val 21530"/>
            </a:avLst>
          </a:prstGeom>
          <a:solidFill>
            <a:srgbClr val="911D22"/>
          </a:solidFill>
          <a:ln>
            <a:noFill/>
          </a:ln>
          <a:extLst/>
        </p:spPr>
      </p:pic>
      <p:sp>
        <p:nvSpPr>
          <p:cNvPr id="32" name="矩形: 圆顶角 31">
            <a:extLst>
              <a:ext uri="{FF2B5EF4-FFF2-40B4-BE49-F238E27FC236}">
                <a16:creationId xmlns:a16="http://schemas.microsoft.com/office/drawing/2014/main" id="{3217AD8B-C595-4F25-BAB9-26E69ECF2B0C}"/>
              </a:ext>
            </a:extLst>
          </p:cNvPr>
          <p:cNvSpPr/>
          <p:nvPr/>
        </p:nvSpPr>
        <p:spPr>
          <a:xfrm>
            <a:off x="3237736" y="1354766"/>
            <a:ext cx="1395528" cy="376049"/>
          </a:xfrm>
          <a:prstGeom prst="round2SameRect">
            <a:avLst>
              <a:gd name="adj1" fmla="val 0"/>
              <a:gd name="adj2" fmla="val 19256"/>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600" b="1" dirty="0">
                <a:latin typeface="思源黑体 CN Bold" panose="020B0800000000000000" pitchFamily="34" charset="-122"/>
                <a:ea typeface="思源黑体 CN Bold" panose="020B0800000000000000" pitchFamily="34" charset="-122"/>
              </a:rPr>
              <a:t>数据采集</a:t>
            </a:r>
          </a:p>
        </p:txBody>
      </p:sp>
      <p:sp>
        <p:nvSpPr>
          <p:cNvPr id="34" name="文本框 33">
            <a:extLst>
              <a:ext uri="{FF2B5EF4-FFF2-40B4-BE49-F238E27FC236}">
                <a16:creationId xmlns:a16="http://schemas.microsoft.com/office/drawing/2014/main" id="{24AAD6B2-B86A-4D9E-AABA-13D3E1ADD220}"/>
              </a:ext>
            </a:extLst>
          </p:cNvPr>
          <p:cNvSpPr txBox="1"/>
          <p:nvPr/>
        </p:nvSpPr>
        <p:spPr>
          <a:xfrm>
            <a:off x="2505218" y="4448292"/>
            <a:ext cx="2860564" cy="1028295"/>
          </a:xfrm>
          <a:prstGeom prst="rect">
            <a:avLst/>
          </a:prstGeom>
          <a:noFill/>
        </p:spPr>
        <p:txBody>
          <a:bodyPr wrap="square" rtlCol="0">
            <a:spAutoFit/>
          </a:bodyPr>
          <a:lstStyle>
            <a:defPPr>
              <a:defRPr lang="zh-CN"/>
            </a:defPPr>
            <a:lvl1pPr marL="285750" indent="-285750">
              <a:lnSpc>
                <a:spcPct val="110000"/>
              </a:lnSpc>
              <a:buFont typeface="Wingdings" panose="05000000000000000000" pitchFamily="2" charset="2"/>
              <a:buChar char="u"/>
              <a:defRPr sz="1400">
                <a:latin typeface="思源黑体 CN Regular" panose="020B0500000000000000" pitchFamily="34" charset="-122"/>
                <a:ea typeface="思源黑体 CN Regular" panose="020B0500000000000000" pitchFamily="34" charset="-122"/>
              </a:defRPr>
            </a:lvl1pPr>
          </a:lstStyle>
          <a:p>
            <a:pPr marL="0" indent="0">
              <a:buNone/>
            </a:pPr>
            <a:r>
              <a:rPr lang="en-US" altLang="zh-CN" dirty="0"/>
              <a:t>CRISPR-Cas9</a:t>
            </a:r>
            <a:r>
              <a:rPr lang="zh-CN" altLang="en-US" dirty="0"/>
              <a:t>构建</a:t>
            </a:r>
            <a:r>
              <a:rPr lang="en-US" altLang="zh-CN" dirty="0"/>
              <a:t>MYSM1 </a:t>
            </a:r>
            <a:r>
              <a:rPr lang="zh-CN" altLang="en-US" dirty="0"/>
              <a:t>缺失模型，效率 </a:t>
            </a:r>
            <a:r>
              <a:rPr lang="en-US" altLang="zh-CN" dirty="0"/>
              <a:t>90%+</a:t>
            </a:r>
            <a:r>
              <a:rPr lang="zh-CN" altLang="en-US" dirty="0"/>
              <a:t>，</a:t>
            </a:r>
            <a:r>
              <a:rPr lang="en-US" altLang="zh-CN" dirty="0"/>
              <a:t>HSC </a:t>
            </a:r>
            <a:r>
              <a:rPr lang="zh-CN" altLang="en-US" dirty="0"/>
              <a:t>亚群锐减且特征细胞</a:t>
            </a:r>
            <a:r>
              <a:rPr lang="en-US" altLang="zh-CN" dirty="0"/>
              <a:t>CD34+ HSPCs </a:t>
            </a:r>
            <a:r>
              <a:rPr lang="zh-CN" altLang="en-US" dirty="0"/>
              <a:t>经 </a:t>
            </a:r>
            <a:r>
              <a:rPr lang="en-US" altLang="zh-CN" dirty="0"/>
              <a:t>CRISP</a:t>
            </a:r>
            <a:r>
              <a:rPr lang="zh-CN" altLang="en-US" dirty="0"/>
              <a:t>辑致 </a:t>
            </a:r>
            <a:r>
              <a:rPr lang="en-US" altLang="zh-CN" dirty="0"/>
              <a:t>MYSM1 </a:t>
            </a:r>
            <a:r>
              <a:rPr lang="zh-CN" altLang="en-US" dirty="0"/>
              <a:t>缺失</a:t>
            </a:r>
          </a:p>
        </p:txBody>
      </p:sp>
      <p:sp>
        <p:nvSpPr>
          <p:cNvPr id="36" name="矩形: 圆顶角 35">
            <a:extLst>
              <a:ext uri="{FF2B5EF4-FFF2-40B4-BE49-F238E27FC236}">
                <a16:creationId xmlns:a16="http://schemas.microsoft.com/office/drawing/2014/main" id="{F7B2FE03-61B4-48E7-BB7A-CDCC457C69A4}"/>
              </a:ext>
            </a:extLst>
          </p:cNvPr>
          <p:cNvSpPr/>
          <p:nvPr/>
        </p:nvSpPr>
        <p:spPr>
          <a:xfrm>
            <a:off x="3237736" y="4011538"/>
            <a:ext cx="1395528" cy="376049"/>
          </a:xfrm>
          <a:prstGeom prst="round2SameRect">
            <a:avLst>
              <a:gd name="adj1" fmla="val 0"/>
              <a:gd name="adj2" fmla="val 19256"/>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600" b="1" dirty="0">
                <a:latin typeface="思源黑体 CN Bold" panose="020B0800000000000000" pitchFamily="34" charset="-122"/>
                <a:ea typeface="思源黑体 CN Bold" panose="020B0800000000000000" pitchFamily="34" charset="-122"/>
              </a:rPr>
              <a:t>数据采集</a:t>
            </a:r>
          </a:p>
        </p:txBody>
      </p:sp>
      <p:pic>
        <p:nvPicPr>
          <p:cNvPr id="68" name="Picture 12" descr="查看图片">
            <a:extLst>
              <a:ext uri="{FF2B5EF4-FFF2-40B4-BE49-F238E27FC236}">
                <a16:creationId xmlns:a16="http://schemas.microsoft.com/office/drawing/2014/main" id="{7EA1CA16-C0E4-48F0-83D6-4BB972F082A7}"/>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1886" r="4249" b="76593"/>
          <a:stretch/>
        </p:blipFill>
        <p:spPr bwMode="auto">
          <a:xfrm>
            <a:off x="2409210" y="5683192"/>
            <a:ext cx="3052583" cy="768875"/>
          </a:xfrm>
          <a:prstGeom prst="roundRect">
            <a:avLst>
              <a:gd name="adj" fmla="val 21530"/>
            </a:avLst>
          </a:prstGeom>
          <a:solidFill>
            <a:srgbClr val="911D22"/>
          </a:solidFill>
          <a:ln>
            <a:noFill/>
          </a:ln>
          <a:extLst/>
        </p:spPr>
      </p:pic>
      <p:sp>
        <p:nvSpPr>
          <p:cNvPr id="121" name="文本框 120">
            <a:extLst>
              <a:ext uri="{FF2B5EF4-FFF2-40B4-BE49-F238E27FC236}">
                <a16:creationId xmlns:a16="http://schemas.microsoft.com/office/drawing/2014/main" id="{73FC90F2-6CCC-4BE6-98E1-68D9C63E546D}"/>
              </a:ext>
            </a:extLst>
          </p:cNvPr>
          <p:cNvSpPr txBox="1"/>
          <p:nvPr/>
        </p:nvSpPr>
        <p:spPr>
          <a:xfrm>
            <a:off x="2209656" y="248670"/>
            <a:ext cx="6145272" cy="461665"/>
          </a:xfrm>
          <a:prstGeom prst="rect">
            <a:avLst/>
          </a:prstGeom>
          <a:noFill/>
        </p:spPr>
        <p:txBody>
          <a:bodyPr wrap="none" rtlCol="0">
            <a:spAutoFit/>
          </a:bodyPr>
          <a:lstStyle/>
          <a:p>
            <a:r>
              <a:rPr lang="en-US" altLang="zh-CN" sz="2400" dirty="0">
                <a:solidFill>
                  <a:schemeClr val="accent1"/>
                </a:solidFill>
                <a:latin typeface="思源黑体 CN Bold" panose="020B0800000000000000" pitchFamily="34" charset="-122"/>
                <a:ea typeface="思源黑体 CN Bold" panose="020B0800000000000000" pitchFamily="34" charset="-122"/>
              </a:rPr>
              <a:t>2.2 </a:t>
            </a:r>
            <a:r>
              <a:rPr lang="zh-CN" altLang="en-US" sz="2400" dirty="0">
                <a:solidFill>
                  <a:schemeClr val="accent1"/>
                </a:solidFill>
                <a:latin typeface="思源黑体 CN Bold" panose="020B0800000000000000" pitchFamily="34" charset="-122"/>
                <a:ea typeface="思源黑体 CN Bold" panose="020B0800000000000000" pitchFamily="34" charset="-122"/>
              </a:rPr>
              <a:t>研究内容一：</a:t>
            </a:r>
            <a:r>
              <a:rPr lang="en-US" altLang="zh-CN" sz="2400" dirty="0">
                <a:solidFill>
                  <a:schemeClr val="accent1"/>
                </a:solidFill>
                <a:latin typeface="思源黑体 CN Bold" panose="020B0800000000000000" pitchFamily="34" charset="-122"/>
                <a:ea typeface="思源黑体 CN Bold" panose="020B0800000000000000" pitchFamily="34" charset="-122"/>
              </a:rPr>
              <a:t>MYSM1 KO </a:t>
            </a:r>
            <a:r>
              <a:rPr lang="zh-CN" altLang="en-US" sz="2400" dirty="0">
                <a:solidFill>
                  <a:schemeClr val="accent1"/>
                </a:solidFill>
                <a:latin typeface="思源黑体 CN Bold" panose="020B0800000000000000" pitchFamily="34" charset="-122"/>
                <a:ea typeface="思源黑体 CN Bold" panose="020B0800000000000000" pitchFamily="34" charset="-122"/>
              </a:rPr>
              <a:t>体外减少 </a:t>
            </a:r>
            <a:r>
              <a:rPr lang="en-US" altLang="zh-CN" sz="2400" dirty="0">
                <a:solidFill>
                  <a:schemeClr val="accent1"/>
                </a:solidFill>
                <a:latin typeface="思源黑体 CN Bold" panose="020B0800000000000000" pitchFamily="34" charset="-122"/>
                <a:ea typeface="思源黑体 CN Bold" panose="020B0800000000000000" pitchFamily="34" charset="-122"/>
              </a:rPr>
              <a:t>HSC</a:t>
            </a:r>
          </a:p>
        </p:txBody>
      </p:sp>
      <p:sp>
        <p:nvSpPr>
          <p:cNvPr id="136" name="箭头: 右 135">
            <a:extLst>
              <a:ext uri="{FF2B5EF4-FFF2-40B4-BE49-F238E27FC236}">
                <a16:creationId xmlns:a16="http://schemas.microsoft.com/office/drawing/2014/main" id="{A9889658-600D-4E8A-BAC8-4D6A507842D1}"/>
              </a:ext>
            </a:extLst>
          </p:cNvPr>
          <p:cNvSpPr/>
          <p:nvPr/>
        </p:nvSpPr>
        <p:spPr>
          <a:xfrm>
            <a:off x="9374192" y="2536085"/>
            <a:ext cx="288668" cy="100192"/>
          </a:xfrm>
          <a:prstGeom prst="rightArrow">
            <a:avLst>
              <a:gd name="adj1" fmla="val 21026"/>
              <a:gd name="adj2" fmla="val 87974"/>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7" name="箭头: 右 136">
            <a:extLst>
              <a:ext uri="{FF2B5EF4-FFF2-40B4-BE49-F238E27FC236}">
                <a16:creationId xmlns:a16="http://schemas.microsoft.com/office/drawing/2014/main" id="{D8C1390D-10ED-49C3-B86F-CF85892F861B}"/>
              </a:ext>
            </a:extLst>
          </p:cNvPr>
          <p:cNvSpPr/>
          <p:nvPr/>
        </p:nvSpPr>
        <p:spPr>
          <a:xfrm>
            <a:off x="9374192" y="5192857"/>
            <a:ext cx="288668" cy="100192"/>
          </a:xfrm>
          <a:prstGeom prst="rightArrow">
            <a:avLst>
              <a:gd name="adj1" fmla="val 21026"/>
              <a:gd name="adj2" fmla="val 87974"/>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8" name="矩形 137">
            <a:extLst>
              <a:ext uri="{FF2B5EF4-FFF2-40B4-BE49-F238E27FC236}">
                <a16:creationId xmlns:a16="http://schemas.microsoft.com/office/drawing/2014/main" id="{8DB4FF0C-CC18-442C-82AE-B90F0548F6A7}"/>
              </a:ext>
            </a:extLst>
          </p:cNvPr>
          <p:cNvSpPr/>
          <p:nvPr/>
        </p:nvSpPr>
        <p:spPr>
          <a:xfrm>
            <a:off x="0" y="2677841"/>
            <a:ext cx="2052320" cy="56374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39" name="文本框 138">
            <a:extLst>
              <a:ext uri="{FF2B5EF4-FFF2-40B4-BE49-F238E27FC236}">
                <a16:creationId xmlns:a16="http://schemas.microsoft.com/office/drawing/2014/main" id="{3C632B28-6C6E-4A05-806A-2CCC1D13AD58}"/>
              </a:ext>
            </a:extLst>
          </p:cNvPr>
          <p:cNvSpPr txBox="1"/>
          <p:nvPr/>
        </p:nvSpPr>
        <p:spPr>
          <a:xfrm>
            <a:off x="373082" y="2098899"/>
            <a:ext cx="1660612" cy="338554"/>
          </a:xfrm>
          <a:prstGeom prst="rect">
            <a:avLst/>
          </a:prstGeom>
          <a:noFill/>
        </p:spPr>
        <p:txBody>
          <a:bodyPr wrap="square" rtlCol="0">
            <a:spAutoFit/>
          </a:bodyPr>
          <a:lstStyle/>
          <a:p>
            <a:r>
              <a:rPr lang="zh-CN" altLang="en-US" sz="1600" dirty="0">
                <a:solidFill>
                  <a:schemeClr val="bg1"/>
                </a:solidFill>
                <a:latin typeface="思源黑体 CN Regular" panose="020B0500000000000000" pitchFamily="34" charset="-122"/>
                <a:ea typeface="思源黑体 CN Regular" panose="020B0500000000000000" pitchFamily="34" charset="-122"/>
              </a:rPr>
              <a:t>研究背景及现状</a:t>
            </a:r>
          </a:p>
        </p:txBody>
      </p:sp>
      <p:sp>
        <p:nvSpPr>
          <p:cNvPr id="140" name="任意矩形：001">
            <a:extLst>
              <a:ext uri="{FF2B5EF4-FFF2-40B4-BE49-F238E27FC236}">
                <a16:creationId xmlns:a16="http://schemas.microsoft.com/office/drawing/2014/main" id="{429C0C51-A537-45D0-A34F-1AFAD1E17579}"/>
              </a:ext>
            </a:extLst>
          </p:cNvPr>
          <p:cNvSpPr/>
          <p:nvPr/>
        </p:nvSpPr>
        <p:spPr>
          <a:xfrm>
            <a:off x="131492" y="2145245"/>
            <a:ext cx="226722" cy="202893"/>
          </a:xfrm>
          <a:custGeom>
            <a:avLst/>
            <a:gdLst>
              <a:gd name="connsiteX0" fmla="*/ 79591 w 607005"/>
              <a:gd name="connsiteY0" fmla="*/ 373864 h 543210"/>
              <a:gd name="connsiteX1" fmla="*/ 33701 w 607005"/>
              <a:gd name="connsiteY1" fmla="*/ 461494 h 543210"/>
              <a:gd name="connsiteX2" fmla="*/ 79501 w 607005"/>
              <a:gd name="connsiteY2" fmla="*/ 507233 h 543210"/>
              <a:gd name="connsiteX3" fmla="*/ 125392 w 607005"/>
              <a:gd name="connsiteY3" fmla="*/ 461494 h 543210"/>
              <a:gd name="connsiteX4" fmla="*/ 79591 w 607005"/>
              <a:gd name="connsiteY4" fmla="*/ 373864 h 543210"/>
              <a:gd name="connsiteX5" fmla="*/ 79501 w 607005"/>
              <a:gd name="connsiteY5" fmla="*/ 328661 h 543210"/>
              <a:gd name="connsiteX6" fmla="*/ 92856 w 607005"/>
              <a:gd name="connsiteY6" fmla="*/ 335106 h 543210"/>
              <a:gd name="connsiteX7" fmla="*/ 158913 w 607005"/>
              <a:gd name="connsiteY7" fmla="*/ 461404 h 543210"/>
              <a:gd name="connsiteX8" fmla="*/ 79501 w 607005"/>
              <a:gd name="connsiteY8" fmla="*/ 540710 h 543210"/>
              <a:gd name="connsiteX9" fmla="*/ 0 w 607005"/>
              <a:gd name="connsiteY9" fmla="*/ 461404 h 543210"/>
              <a:gd name="connsiteX10" fmla="*/ 66236 w 607005"/>
              <a:gd name="connsiteY10" fmla="*/ 335195 h 543210"/>
              <a:gd name="connsiteX11" fmla="*/ 79501 w 607005"/>
              <a:gd name="connsiteY11" fmla="*/ 328661 h 543210"/>
              <a:gd name="connsiteX12" fmla="*/ 196548 w 607005"/>
              <a:gd name="connsiteY12" fmla="*/ 281688 h 543210"/>
              <a:gd name="connsiteX13" fmla="*/ 391755 w 607005"/>
              <a:gd name="connsiteY13" fmla="*/ 476431 h 543210"/>
              <a:gd name="connsiteX14" fmla="*/ 540265 w 607005"/>
              <a:gd name="connsiteY14" fmla="*/ 476431 h 543210"/>
              <a:gd name="connsiteX15" fmla="*/ 540265 w 607005"/>
              <a:gd name="connsiteY15" fmla="*/ 328047 h 543210"/>
              <a:gd name="connsiteX16" fmla="*/ 493749 w 607005"/>
              <a:gd name="connsiteY16" fmla="*/ 281688 h 543210"/>
              <a:gd name="connsiteX17" fmla="*/ 261707 w 607005"/>
              <a:gd name="connsiteY17" fmla="*/ 49894 h 543210"/>
              <a:gd name="connsiteX18" fmla="*/ 113017 w 607005"/>
              <a:gd name="connsiteY18" fmla="*/ 198278 h 543210"/>
              <a:gd name="connsiteX19" fmla="*/ 163028 w 607005"/>
              <a:gd name="connsiteY19" fmla="*/ 248127 h 543210"/>
              <a:gd name="connsiteX20" fmla="*/ 460229 w 607005"/>
              <a:gd name="connsiteY20" fmla="*/ 248127 h 543210"/>
              <a:gd name="connsiteX21" fmla="*/ 271073 w 607005"/>
              <a:gd name="connsiteY21" fmla="*/ 0 h 543210"/>
              <a:gd name="connsiteX22" fmla="*/ 282948 w 607005"/>
              <a:gd name="connsiteY22" fmla="*/ 4967 h 543210"/>
              <a:gd name="connsiteX23" fmla="*/ 285099 w 607005"/>
              <a:gd name="connsiteY23" fmla="*/ 25909 h 543210"/>
              <a:gd name="connsiteX24" fmla="*/ 563927 w 607005"/>
              <a:gd name="connsiteY24" fmla="*/ 304331 h 543210"/>
              <a:gd name="connsiteX25" fmla="*/ 563927 w 607005"/>
              <a:gd name="connsiteY25" fmla="*/ 500148 h 543210"/>
              <a:gd name="connsiteX26" fmla="*/ 367824 w 607005"/>
              <a:gd name="connsiteY26" fmla="*/ 500148 h 543210"/>
              <a:gd name="connsiteX27" fmla="*/ 88997 w 607005"/>
              <a:gd name="connsiteY27" fmla="*/ 221726 h 543210"/>
              <a:gd name="connsiteX28" fmla="*/ 68024 w 607005"/>
              <a:gd name="connsiteY28" fmla="*/ 219578 h 543210"/>
              <a:gd name="connsiteX29" fmla="*/ 68024 w 607005"/>
              <a:gd name="connsiteY29" fmla="*/ 195862 h 543210"/>
              <a:gd name="connsiteX30" fmla="*/ 259197 w 607005"/>
              <a:gd name="connsiteY30" fmla="*/ 4967 h 543210"/>
              <a:gd name="connsiteX31" fmla="*/ 271073 w 607005"/>
              <a:gd name="connsiteY31" fmla="*/ 0 h 5432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607005" h="543210">
                <a:moveTo>
                  <a:pt x="79591" y="373864"/>
                </a:moveTo>
                <a:cubicBezTo>
                  <a:pt x="57452" y="405192"/>
                  <a:pt x="33701" y="445024"/>
                  <a:pt x="33701" y="461494"/>
                </a:cubicBezTo>
                <a:cubicBezTo>
                  <a:pt x="33701" y="486646"/>
                  <a:pt x="54226" y="507233"/>
                  <a:pt x="79501" y="507233"/>
                </a:cubicBezTo>
                <a:cubicBezTo>
                  <a:pt x="104687" y="507233"/>
                  <a:pt x="125212" y="486646"/>
                  <a:pt x="125392" y="461494"/>
                </a:cubicBezTo>
                <a:cubicBezTo>
                  <a:pt x="125392" y="445024"/>
                  <a:pt x="101729" y="405282"/>
                  <a:pt x="79591" y="373864"/>
                </a:cubicBezTo>
                <a:close/>
                <a:moveTo>
                  <a:pt x="79501" y="328661"/>
                </a:moveTo>
                <a:cubicBezTo>
                  <a:pt x="84610" y="328661"/>
                  <a:pt x="89540" y="331078"/>
                  <a:pt x="92856" y="335106"/>
                </a:cubicBezTo>
                <a:cubicBezTo>
                  <a:pt x="103881" y="349517"/>
                  <a:pt x="158913" y="423094"/>
                  <a:pt x="158913" y="461404"/>
                </a:cubicBezTo>
                <a:cubicBezTo>
                  <a:pt x="158913" y="505175"/>
                  <a:pt x="123240" y="540710"/>
                  <a:pt x="79501" y="540710"/>
                </a:cubicBezTo>
                <a:cubicBezTo>
                  <a:pt x="35583" y="540710"/>
                  <a:pt x="0" y="505085"/>
                  <a:pt x="0" y="461404"/>
                </a:cubicBezTo>
                <a:cubicBezTo>
                  <a:pt x="0" y="423094"/>
                  <a:pt x="55122" y="349517"/>
                  <a:pt x="66236" y="335195"/>
                </a:cubicBezTo>
                <a:cubicBezTo>
                  <a:pt x="69284" y="331078"/>
                  <a:pt x="74213" y="328661"/>
                  <a:pt x="79501" y="328661"/>
                </a:cubicBezTo>
                <a:close/>
                <a:moveTo>
                  <a:pt x="196548" y="281688"/>
                </a:moveTo>
                <a:lnTo>
                  <a:pt x="391755" y="476431"/>
                </a:lnTo>
                <a:cubicBezTo>
                  <a:pt x="420525" y="505249"/>
                  <a:pt x="488999" y="527623"/>
                  <a:pt x="540265" y="476431"/>
                </a:cubicBezTo>
                <a:cubicBezTo>
                  <a:pt x="592249" y="424524"/>
                  <a:pt x="570290" y="358028"/>
                  <a:pt x="540265" y="328047"/>
                </a:cubicBezTo>
                <a:lnTo>
                  <a:pt x="493749" y="281688"/>
                </a:lnTo>
                <a:close/>
                <a:moveTo>
                  <a:pt x="261707" y="49894"/>
                </a:moveTo>
                <a:lnTo>
                  <a:pt x="113017" y="198278"/>
                </a:lnTo>
                <a:lnTo>
                  <a:pt x="163028" y="248127"/>
                </a:lnTo>
                <a:lnTo>
                  <a:pt x="460229" y="248127"/>
                </a:lnTo>
                <a:close/>
                <a:moveTo>
                  <a:pt x="271073" y="0"/>
                </a:moveTo>
                <a:cubicBezTo>
                  <a:pt x="275375" y="0"/>
                  <a:pt x="279677" y="1655"/>
                  <a:pt x="282948" y="4967"/>
                </a:cubicBezTo>
                <a:cubicBezTo>
                  <a:pt x="288595" y="10694"/>
                  <a:pt x="289312" y="19465"/>
                  <a:pt x="285099" y="25909"/>
                </a:cubicBezTo>
                <a:lnTo>
                  <a:pt x="563927" y="304331"/>
                </a:lnTo>
                <a:cubicBezTo>
                  <a:pt x="604528" y="344872"/>
                  <a:pt x="636076" y="428104"/>
                  <a:pt x="563927" y="500148"/>
                </a:cubicBezTo>
                <a:cubicBezTo>
                  <a:pt x="492495" y="571476"/>
                  <a:pt x="409501" y="541763"/>
                  <a:pt x="367824" y="500148"/>
                </a:cubicBezTo>
                <a:lnTo>
                  <a:pt x="88997" y="221726"/>
                </a:lnTo>
                <a:cubicBezTo>
                  <a:pt x="81468" y="226380"/>
                  <a:pt x="73850" y="225485"/>
                  <a:pt x="68024" y="219578"/>
                </a:cubicBezTo>
                <a:cubicBezTo>
                  <a:pt x="61392" y="213045"/>
                  <a:pt x="61392" y="202395"/>
                  <a:pt x="68024" y="195862"/>
                </a:cubicBezTo>
                <a:lnTo>
                  <a:pt x="259197" y="4967"/>
                </a:lnTo>
                <a:cubicBezTo>
                  <a:pt x="262469" y="1655"/>
                  <a:pt x="266771" y="0"/>
                  <a:pt x="271073"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1" name="任意矩形：002">
            <a:extLst>
              <a:ext uri="{FF2B5EF4-FFF2-40B4-BE49-F238E27FC236}">
                <a16:creationId xmlns:a16="http://schemas.microsoft.com/office/drawing/2014/main" id="{D6B65068-792C-4609-9952-5E74EFF10808}"/>
              </a:ext>
            </a:extLst>
          </p:cNvPr>
          <p:cNvSpPr/>
          <p:nvPr/>
        </p:nvSpPr>
        <p:spPr>
          <a:xfrm>
            <a:off x="143798" y="2860995"/>
            <a:ext cx="202111" cy="201828"/>
          </a:xfrm>
          <a:custGeom>
            <a:avLst/>
            <a:gdLst>
              <a:gd name="connsiteX0" fmla="*/ 303643 w 607215"/>
              <a:gd name="connsiteY0" fmla="*/ 280873 h 606369"/>
              <a:gd name="connsiteX1" fmla="*/ 325219 w 607215"/>
              <a:gd name="connsiteY1" fmla="*/ 302335 h 606369"/>
              <a:gd name="connsiteX2" fmla="*/ 303643 w 607215"/>
              <a:gd name="connsiteY2" fmla="*/ 323873 h 606369"/>
              <a:gd name="connsiteX3" fmla="*/ 282068 w 607215"/>
              <a:gd name="connsiteY3" fmla="*/ 302335 h 606369"/>
              <a:gd name="connsiteX4" fmla="*/ 303643 w 607215"/>
              <a:gd name="connsiteY4" fmla="*/ 280873 h 606369"/>
              <a:gd name="connsiteX5" fmla="*/ 303678 w 607215"/>
              <a:gd name="connsiteY5" fmla="*/ 280357 h 606369"/>
              <a:gd name="connsiteX6" fmla="*/ 281626 w 607215"/>
              <a:gd name="connsiteY6" fmla="*/ 302374 h 606369"/>
              <a:gd name="connsiteX7" fmla="*/ 303678 w 607215"/>
              <a:gd name="connsiteY7" fmla="*/ 324391 h 606369"/>
              <a:gd name="connsiteX8" fmla="*/ 325730 w 607215"/>
              <a:gd name="connsiteY8" fmla="*/ 302374 h 606369"/>
              <a:gd name="connsiteX9" fmla="*/ 303678 w 607215"/>
              <a:gd name="connsiteY9" fmla="*/ 280357 h 606369"/>
              <a:gd name="connsiteX10" fmla="*/ 303643 w 607215"/>
              <a:gd name="connsiteY10" fmla="*/ 279792 h 606369"/>
              <a:gd name="connsiteX11" fmla="*/ 326224 w 607215"/>
              <a:gd name="connsiteY11" fmla="*/ 302335 h 606369"/>
              <a:gd name="connsiteX12" fmla="*/ 303643 w 607215"/>
              <a:gd name="connsiteY12" fmla="*/ 324954 h 606369"/>
              <a:gd name="connsiteX13" fmla="*/ 281062 w 607215"/>
              <a:gd name="connsiteY13" fmla="*/ 302335 h 606369"/>
              <a:gd name="connsiteX14" fmla="*/ 303643 w 607215"/>
              <a:gd name="connsiteY14" fmla="*/ 279792 h 606369"/>
              <a:gd name="connsiteX15" fmla="*/ 281043 w 607215"/>
              <a:gd name="connsiteY15" fmla="*/ 46068 h 606369"/>
              <a:gd name="connsiteX16" fmla="*/ 120855 w 607215"/>
              <a:gd name="connsiteY16" fmla="*/ 120687 h 606369"/>
              <a:gd name="connsiteX17" fmla="*/ 46132 w 607215"/>
              <a:gd name="connsiteY17" fmla="*/ 280652 h 606369"/>
              <a:gd name="connsiteX18" fmla="*/ 147128 w 607215"/>
              <a:gd name="connsiteY18" fmla="*/ 280652 h 606369"/>
              <a:gd name="connsiteX19" fmla="*/ 169770 w 607215"/>
              <a:gd name="connsiteY19" fmla="*/ 303185 h 606369"/>
              <a:gd name="connsiteX20" fmla="*/ 147128 w 607215"/>
              <a:gd name="connsiteY20" fmla="*/ 325717 h 606369"/>
              <a:gd name="connsiteX21" fmla="*/ 46132 w 607215"/>
              <a:gd name="connsiteY21" fmla="*/ 325717 h 606369"/>
              <a:gd name="connsiteX22" fmla="*/ 120855 w 607215"/>
              <a:gd name="connsiteY22" fmla="*/ 485682 h 606369"/>
              <a:gd name="connsiteX23" fmla="*/ 281043 w 607215"/>
              <a:gd name="connsiteY23" fmla="*/ 560301 h 606369"/>
              <a:gd name="connsiteX24" fmla="*/ 281043 w 607215"/>
              <a:gd name="connsiteY24" fmla="*/ 459446 h 606369"/>
              <a:gd name="connsiteX25" fmla="*/ 303608 w 607215"/>
              <a:gd name="connsiteY25" fmla="*/ 436913 h 606369"/>
              <a:gd name="connsiteX26" fmla="*/ 326172 w 607215"/>
              <a:gd name="connsiteY26" fmla="*/ 459446 h 606369"/>
              <a:gd name="connsiteX27" fmla="*/ 326172 w 607215"/>
              <a:gd name="connsiteY27" fmla="*/ 560301 h 606369"/>
              <a:gd name="connsiteX28" fmla="*/ 486360 w 607215"/>
              <a:gd name="connsiteY28" fmla="*/ 485682 h 606369"/>
              <a:gd name="connsiteX29" fmla="*/ 561083 w 607215"/>
              <a:gd name="connsiteY29" fmla="*/ 325717 h 606369"/>
              <a:gd name="connsiteX30" fmla="*/ 460087 w 607215"/>
              <a:gd name="connsiteY30" fmla="*/ 325717 h 606369"/>
              <a:gd name="connsiteX31" fmla="*/ 437523 w 607215"/>
              <a:gd name="connsiteY31" fmla="*/ 303185 h 606369"/>
              <a:gd name="connsiteX32" fmla="*/ 460087 w 607215"/>
              <a:gd name="connsiteY32" fmla="*/ 280652 h 606369"/>
              <a:gd name="connsiteX33" fmla="*/ 561083 w 607215"/>
              <a:gd name="connsiteY33" fmla="*/ 280652 h 606369"/>
              <a:gd name="connsiteX34" fmla="*/ 486360 w 607215"/>
              <a:gd name="connsiteY34" fmla="*/ 120687 h 606369"/>
              <a:gd name="connsiteX35" fmla="*/ 326172 w 607215"/>
              <a:gd name="connsiteY35" fmla="*/ 46068 h 606369"/>
              <a:gd name="connsiteX36" fmla="*/ 326172 w 607215"/>
              <a:gd name="connsiteY36" fmla="*/ 146923 h 606369"/>
              <a:gd name="connsiteX37" fmla="*/ 303608 w 607215"/>
              <a:gd name="connsiteY37" fmla="*/ 169533 h 606369"/>
              <a:gd name="connsiteX38" fmla="*/ 281043 w 607215"/>
              <a:gd name="connsiteY38" fmla="*/ 146923 h 606369"/>
              <a:gd name="connsiteX39" fmla="*/ 281617 w 607215"/>
              <a:gd name="connsiteY39" fmla="*/ 45548 h 606369"/>
              <a:gd name="connsiteX40" fmla="*/ 281617 w 607215"/>
              <a:gd name="connsiteY40" fmla="*/ 146935 h 606369"/>
              <a:gd name="connsiteX41" fmla="*/ 303640 w 607215"/>
              <a:gd name="connsiteY41" fmla="*/ 169002 h 606369"/>
              <a:gd name="connsiteX42" fmla="*/ 325741 w 607215"/>
              <a:gd name="connsiteY42" fmla="*/ 146935 h 606369"/>
              <a:gd name="connsiteX43" fmla="*/ 325741 w 607215"/>
              <a:gd name="connsiteY43" fmla="*/ 45548 h 606369"/>
              <a:gd name="connsiteX44" fmla="*/ 561663 w 607215"/>
              <a:gd name="connsiteY44" fmla="*/ 281192 h 606369"/>
              <a:gd name="connsiteX45" fmla="*/ 460123 w 607215"/>
              <a:gd name="connsiteY45" fmla="*/ 281192 h 606369"/>
              <a:gd name="connsiteX46" fmla="*/ 438022 w 607215"/>
              <a:gd name="connsiteY46" fmla="*/ 303182 h 606369"/>
              <a:gd name="connsiteX47" fmla="*/ 460123 w 607215"/>
              <a:gd name="connsiteY47" fmla="*/ 325250 h 606369"/>
              <a:gd name="connsiteX48" fmla="*/ 561663 w 607215"/>
              <a:gd name="connsiteY48" fmla="*/ 325250 h 606369"/>
              <a:gd name="connsiteX49" fmla="*/ 325741 w 607215"/>
              <a:gd name="connsiteY49" fmla="*/ 560815 h 606369"/>
              <a:gd name="connsiteX50" fmla="*/ 325741 w 607215"/>
              <a:gd name="connsiteY50" fmla="*/ 459429 h 606369"/>
              <a:gd name="connsiteX51" fmla="*/ 303640 w 607215"/>
              <a:gd name="connsiteY51" fmla="*/ 437361 h 606369"/>
              <a:gd name="connsiteX52" fmla="*/ 281617 w 607215"/>
              <a:gd name="connsiteY52" fmla="*/ 459429 h 606369"/>
              <a:gd name="connsiteX53" fmla="*/ 281617 w 607215"/>
              <a:gd name="connsiteY53" fmla="*/ 560815 h 606369"/>
              <a:gd name="connsiteX54" fmla="*/ 45616 w 607215"/>
              <a:gd name="connsiteY54" fmla="*/ 325250 h 606369"/>
              <a:gd name="connsiteX55" fmla="*/ 147157 w 607215"/>
              <a:gd name="connsiteY55" fmla="*/ 325250 h 606369"/>
              <a:gd name="connsiteX56" fmla="*/ 169257 w 607215"/>
              <a:gd name="connsiteY56" fmla="*/ 303182 h 606369"/>
              <a:gd name="connsiteX57" fmla="*/ 147157 w 607215"/>
              <a:gd name="connsiteY57" fmla="*/ 281192 h 606369"/>
              <a:gd name="connsiteX58" fmla="*/ 45616 w 607215"/>
              <a:gd name="connsiteY58" fmla="*/ 281192 h 606369"/>
              <a:gd name="connsiteX59" fmla="*/ 281617 w 607215"/>
              <a:gd name="connsiteY59" fmla="*/ 45548 h 606369"/>
              <a:gd name="connsiteX60" fmla="*/ 281508 w 607215"/>
              <a:gd name="connsiteY60" fmla="*/ 44987 h 606369"/>
              <a:gd name="connsiteX61" fmla="*/ 120160 w 607215"/>
              <a:gd name="connsiteY61" fmla="*/ 119993 h 606369"/>
              <a:gd name="connsiteX62" fmla="*/ 45050 w 607215"/>
              <a:gd name="connsiteY62" fmla="*/ 281115 h 606369"/>
              <a:gd name="connsiteX63" fmla="*/ 45050 w 607215"/>
              <a:gd name="connsiteY63" fmla="*/ 281655 h 606369"/>
              <a:gd name="connsiteX64" fmla="*/ 147128 w 607215"/>
              <a:gd name="connsiteY64" fmla="*/ 281655 h 606369"/>
              <a:gd name="connsiteX65" fmla="*/ 168688 w 607215"/>
              <a:gd name="connsiteY65" fmla="*/ 303185 h 606369"/>
              <a:gd name="connsiteX66" fmla="*/ 147128 w 607215"/>
              <a:gd name="connsiteY66" fmla="*/ 324714 h 606369"/>
              <a:gd name="connsiteX67" fmla="*/ 45050 w 607215"/>
              <a:gd name="connsiteY67" fmla="*/ 324714 h 606369"/>
              <a:gd name="connsiteX68" fmla="*/ 45050 w 607215"/>
              <a:gd name="connsiteY68" fmla="*/ 325254 h 606369"/>
              <a:gd name="connsiteX69" fmla="*/ 120160 w 607215"/>
              <a:gd name="connsiteY69" fmla="*/ 486454 h 606369"/>
              <a:gd name="connsiteX70" fmla="*/ 281508 w 607215"/>
              <a:gd name="connsiteY70" fmla="*/ 561382 h 606369"/>
              <a:gd name="connsiteX71" fmla="*/ 282048 w 607215"/>
              <a:gd name="connsiteY71" fmla="*/ 561459 h 606369"/>
              <a:gd name="connsiteX72" fmla="*/ 282048 w 607215"/>
              <a:gd name="connsiteY72" fmla="*/ 459446 h 606369"/>
              <a:gd name="connsiteX73" fmla="*/ 303608 w 607215"/>
              <a:gd name="connsiteY73" fmla="*/ 437916 h 606369"/>
              <a:gd name="connsiteX74" fmla="*/ 325167 w 607215"/>
              <a:gd name="connsiteY74" fmla="*/ 459446 h 606369"/>
              <a:gd name="connsiteX75" fmla="*/ 325167 w 607215"/>
              <a:gd name="connsiteY75" fmla="*/ 561459 h 606369"/>
              <a:gd name="connsiteX76" fmla="*/ 325708 w 607215"/>
              <a:gd name="connsiteY76" fmla="*/ 561382 h 606369"/>
              <a:gd name="connsiteX77" fmla="*/ 487132 w 607215"/>
              <a:gd name="connsiteY77" fmla="*/ 486454 h 606369"/>
              <a:gd name="connsiteX78" fmla="*/ 562165 w 607215"/>
              <a:gd name="connsiteY78" fmla="*/ 325254 h 606369"/>
              <a:gd name="connsiteX79" fmla="*/ 562242 w 607215"/>
              <a:gd name="connsiteY79" fmla="*/ 324714 h 606369"/>
              <a:gd name="connsiteX80" fmla="*/ 460087 w 607215"/>
              <a:gd name="connsiteY80" fmla="*/ 324714 h 606369"/>
              <a:gd name="connsiteX81" fmla="*/ 438527 w 607215"/>
              <a:gd name="connsiteY81" fmla="*/ 303185 h 606369"/>
              <a:gd name="connsiteX82" fmla="*/ 460087 w 607215"/>
              <a:gd name="connsiteY82" fmla="*/ 281655 h 606369"/>
              <a:gd name="connsiteX83" fmla="*/ 562242 w 607215"/>
              <a:gd name="connsiteY83" fmla="*/ 281655 h 606369"/>
              <a:gd name="connsiteX84" fmla="*/ 562165 w 607215"/>
              <a:gd name="connsiteY84" fmla="*/ 281115 h 606369"/>
              <a:gd name="connsiteX85" fmla="*/ 487132 w 607215"/>
              <a:gd name="connsiteY85" fmla="*/ 119993 h 606369"/>
              <a:gd name="connsiteX86" fmla="*/ 325708 w 607215"/>
              <a:gd name="connsiteY86" fmla="*/ 44987 h 606369"/>
              <a:gd name="connsiteX87" fmla="*/ 325167 w 607215"/>
              <a:gd name="connsiteY87" fmla="*/ 44987 h 606369"/>
              <a:gd name="connsiteX88" fmla="*/ 325167 w 607215"/>
              <a:gd name="connsiteY88" fmla="*/ 146923 h 606369"/>
              <a:gd name="connsiteX89" fmla="*/ 303608 w 607215"/>
              <a:gd name="connsiteY89" fmla="*/ 168453 h 606369"/>
              <a:gd name="connsiteX90" fmla="*/ 282048 w 607215"/>
              <a:gd name="connsiteY90" fmla="*/ 146923 h 606369"/>
              <a:gd name="connsiteX91" fmla="*/ 282048 w 607215"/>
              <a:gd name="connsiteY91" fmla="*/ 44987 h 606369"/>
              <a:gd name="connsiteX92" fmla="*/ 303608 w 607215"/>
              <a:gd name="connsiteY92" fmla="*/ 1003 h 606369"/>
              <a:gd name="connsiteX93" fmla="*/ 421450 w 607215"/>
              <a:gd name="connsiteY93" fmla="*/ 24770 h 606369"/>
              <a:gd name="connsiteX94" fmla="*/ 517578 w 607215"/>
              <a:gd name="connsiteY94" fmla="*/ 89512 h 606369"/>
              <a:gd name="connsiteX95" fmla="*/ 582410 w 607215"/>
              <a:gd name="connsiteY95" fmla="*/ 185584 h 606369"/>
              <a:gd name="connsiteX96" fmla="*/ 606211 w 607215"/>
              <a:gd name="connsiteY96" fmla="*/ 303185 h 606369"/>
              <a:gd name="connsiteX97" fmla="*/ 582410 w 607215"/>
              <a:gd name="connsiteY97" fmla="*/ 420863 h 606369"/>
              <a:gd name="connsiteX98" fmla="*/ 517578 w 607215"/>
              <a:gd name="connsiteY98" fmla="*/ 516857 h 606369"/>
              <a:gd name="connsiteX99" fmla="*/ 421450 w 607215"/>
              <a:gd name="connsiteY99" fmla="*/ 581599 h 606369"/>
              <a:gd name="connsiteX100" fmla="*/ 303608 w 607215"/>
              <a:gd name="connsiteY100" fmla="*/ 605366 h 606369"/>
              <a:gd name="connsiteX101" fmla="*/ 185842 w 607215"/>
              <a:gd name="connsiteY101" fmla="*/ 581599 h 606369"/>
              <a:gd name="connsiteX102" fmla="*/ 89637 w 607215"/>
              <a:gd name="connsiteY102" fmla="*/ 516857 h 606369"/>
              <a:gd name="connsiteX103" fmla="*/ 24805 w 607215"/>
              <a:gd name="connsiteY103" fmla="*/ 420863 h 606369"/>
              <a:gd name="connsiteX104" fmla="*/ 1004 w 607215"/>
              <a:gd name="connsiteY104" fmla="*/ 303185 h 606369"/>
              <a:gd name="connsiteX105" fmla="*/ 24805 w 607215"/>
              <a:gd name="connsiteY105" fmla="*/ 185584 h 606369"/>
              <a:gd name="connsiteX106" fmla="*/ 89637 w 607215"/>
              <a:gd name="connsiteY106" fmla="*/ 89512 h 606369"/>
              <a:gd name="connsiteX107" fmla="*/ 185842 w 607215"/>
              <a:gd name="connsiteY107" fmla="*/ 24770 h 606369"/>
              <a:gd name="connsiteX108" fmla="*/ 303608 w 607215"/>
              <a:gd name="connsiteY108" fmla="*/ 1003 h 606369"/>
              <a:gd name="connsiteX109" fmla="*/ 303640 w 607215"/>
              <a:gd name="connsiteY109" fmla="*/ 565 h 606369"/>
              <a:gd name="connsiteX110" fmla="*/ 185640 w 607215"/>
              <a:gd name="connsiteY110" fmla="*/ 24330 h 606369"/>
              <a:gd name="connsiteX111" fmla="*/ 89354 w 607215"/>
              <a:gd name="connsiteY111" fmla="*/ 89220 h 606369"/>
              <a:gd name="connsiteX112" fmla="*/ 24366 w 607215"/>
              <a:gd name="connsiteY112" fmla="*/ 185360 h 606369"/>
              <a:gd name="connsiteX113" fmla="*/ 565 w 607215"/>
              <a:gd name="connsiteY113" fmla="*/ 303182 h 606369"/>
              <a:gd name="connsiteX114" fmla="*/ 24366 w 607215"/>
              <a:gd name="connsiteY114" fmla="*/ 421004 h 606369"/>
              <a:gd name="connsiteX115" fmla="*/ 89354 w 607215"/>
              <a:gd name="connsiteY115" fmla="*/ 517221 h 606369"/>
              <a:gd name="connsiteX116" fmla="*/ 185640 w 607215"/>
              <a:gd name="connsiteY116" fmla="*/ 582034 h 606369"/>
              <a:gd name="connsiteX117" fmla="*/ 303640 w 607215"/>
              <a:gd name="connsiteY117" fmla="*/ 605876 h 606369"/>
              <a:gd name="connsiteX118" fmla="*/ 421640 w 607215"/>
              <a:gd name="connsiteY118" fmla="*/ 582034 h 606369"/>
              <a:gd name="connsiteX119" fmla="*/ 518003 w 607215"/>
              <a:gd name="connsiteY119" fmla="*/ 517221 h 606369"/>
              <a:gd name="connsiteX120" fmla="*/ 582914 w 607215"/>
              <a:gd name="connsiteY120" fmla="*/ 421004 h 606369"/>
              <a:gd name="connsiteX121" fmla="*/ 606792 w 607215"/>
              <a:gd name="connsiteY121" fmla="*/ 303182 h 606369"/>
              <a:gd name="connsiteX122" fmla="*/ 582914 w 607215"/>
              <a:gd name="connsiteY122" fmla="*/ 185360 h 606369"/>
              <a:gd name="connsiteX123" fmla="*/ 518003 w 607215"/>
              <a:gd name="connsiteY123" fmla="*/ 89220 h 606369"/>
              <a:gd name="connsiteX124" fmla="*/ 421640 w 607215"/>
              <a:gd name="connsiteY124" fmla="*/ 24330 h 606369"/>
              <a:gd name="connsiteX125" fmla="*/ 303640 w 607215"/>
              <a:gd name="connsiteY125" fmla="*/ 565 h 606369"/>
              <a:gd name="connsiteX126" fmla="*/ 303608 w 607215"/>
              <a:gd name="connsiteY126" fmla="*/ 0 h 606369"/>
              <a:gd name="connsiteX127" fmla="*/ 421836 w 607215"/>
              <a:gd name="connsiteY127" fmla="*/ 23844 h 606369"/>
              <a:gd name="connsiteX128" fmla="*/ 518351 w 607215"/>
              <a:gd name="connsiteY128" fmla="*/ 88818 h 606369"/>
              <a:gd name="connsiteX129" fmla="*/ 583338 w 607215"/>
              <a:gd name="connsiteY129" fmla="*/ 185198 h 606369"/>
              <a:gd name="connsiteX130" fmla="*/ 607215 w 607215"/>
              <a:gd name="connsiteY130" fmla="*/ 303185 h 606369"/>
              <a:gd name="connsiteX131" fmla="*/ 583338 w 607215"/>
              <a:gd name="connsiteY131" fmla="*/ 421248 h 606369"/>
              <a:gd name="connsiteX132" fmla="*/ 518351 w 607215"/>
              <a:gd name="connsiteY132" fmla="*/ 517629 h 606369"/>
              <a:gd name="connsiteX133" fmla="*/ 421836 w 607215"/>
              <a:gd name="connsiteY133" fmla="*/ 582525 h 606369"/>
              <a:gd name="connsiteX134" fmla="*/ 303608 w 607215"/>
              <a:gd name="connsiteY134" fmla="*/ 606369 h 606369"/>
              <a:gd name="connsiteX135" fmla="*/ 185456 w 607215"/>
              <a:gd name="connsiteY135" fmla="*/ 582525 h 606369"/>
              <a:gd name="connsiteX136" fmla="*/ 88942 w 607215"/>
              <a:gd name="connsiteY136" fmla="*/ 517629 h 606369"/>
              <a:gd name="connsiteX137" fmla="*/ 23877 w 607215"/>
              <a:gd name="connsiteY137" fmla="*/ 421248 h 606369"/>
              <a:gd name="connsiteX138" fmla="*/ 0 w 607215"/>
              <a:gd name="connsiteY138" fmla="*/ 303185 h 606369"/>
              <a:gd name="connsiteX139" fmla="*/ 23877 w 607215"/>
              <a:gd name="connsiteY139" fmla="*/ 185198 h 606369"/>
              <a:gd name="connsiteX140" fmla="*/ 88942 w 607215"/>
              <a:gd name="connsiteY140" fmla="*/ 88818 h 606369"/>
              <a:gd name="connsiteX141" fmla="*/ 185456 w 607215"/>
              <a:gd name="connsiteY141" fmla="*/ 23844 h 606369"/>
              <a:gd name="connsiteX142" fmla="*/ 303608 w 607215"/>
              <a:gd name="connsiteY142" fmla="*/ 0 h 6063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Lst>
            <a:rect l="l" t="t" r="r" b="b"/>
            <a:pathLst>
              <a:path w="607215" h="606369">
                <a:moveTo>
                  <a:pt x="303643" y="280873"/>
                </a:moveTo>
                <a:cubicBezTo>
                  <a:pt x="315552" y="280873"/>
                  <a:pt x="325219" y="290523"/>
                  <a:pt x="325219" y="302335"/>
                </a:cubicBezTo>
                <a:cubicBezTo>
                  <a:pt x="325219" y="314223"/>
                  <a:pt x="315552" y="323873"/>
                  <a:pt x="303643" y="323873"/>
                </a:cubicBezTo>
                <a:cubicBezTo>
                  <a:pt x="291734" y="323873"/>
                  <a:pt x="282068" y="314223"/>
                  <a:pt x="282068" y="302335"/>
                </a:cubicBezTo>
                <a:cubicBezTo>
                  <a:pt x="282068" y="290523"/>
                  <a:pt x="291734" y="280873"/>
                  <a:pt x="303643" y="280873"/>
                </a:cubicBezTo>
                <a:close/>
                <a:moveTo>
                  <a:pt x="303678" y="280357"/>
                </a:moveTo>
                <a:cubicBezTo>
                  <a:pt x="291499" y="280357"/>
                  <a:pt x="281626" y="290214"/>
                  <a:pt x="281626" y="302374"/>
                </a:cubicBezTo>
                <a:cubicBezTo>
                  <a:pt x="281626" y="314534"/>
                  <a:pt x="291499" y="324391"/>
                  <a:pt x="303678" y="324391"/>
                </a:cubicBezTo>
                <a:cubicBezTo>
                  <a:pt x="315857" y="324391"/>
                  <a:pt x="325730" y="314534"/>
                  <a:pt x="325730" y="302374"/>
                </a:cubicBezTo>
                <a:cubicBezTo>
                  <a:pt x="325730" y="290214"/>
                  <a:pt x="315857" y="280357"/>
                  <a:pt x="303678" y="280357"/>
                </a:cubicBezTo>
                <a:close/>
                <a:moveTo>
                  <a:pt x="303643" y="279792"/>
                </a:moveTo>
                <a:cubicBezTo>
                  <a:pt x="316094" y="279792"/>
                  <a:pt x="326224" y="289905"/>
                  <a:pt x="326224" y="302335"/>
                </a:cubicBezTo>
                <a:cubicBezTo>
                  <a:pt x="326224" y="314841"/>
                  <a:pt x="316094" y="324954"/>
                  <a:pt x="303643" y="324954"/>
                </a:cubicBezTo>
                <a:cubicBezTo>
                  <a:pt x="291193" y="324954"/>
                  <a:pt x="281062" y="314841"/>
                  <a:pt x="281062" y="302335"/>
                </a:cubicBezTo>
                <a:cubicBezTo>
                  <a:pt x="281062" y="289905"/>
                  <a:pt x="291193" y="279792"/>
                  <a:pt x="303643" y="279792"/>
                </a:cubicBezTo>
                <a:close/>
                <a:moveTo>
                  <a:pt x="281043" y="46068"/>
                </a:moveTo>
                <a:cubicBezTo>
                  <a:pt x="220693" y="51315"/>
                  <a:pt x="163820" y="77783"/>
                  <a:pt x="120855" y="120687"/>
                </a:cubicBezTo>
                <a:cubicBezTo>
                  <a:pt x="77891" y="163591"/>
                  <a:pt x="51387" y="220385"/>
                  <a:pt x="46132" y="280652"/>
                </a:cubicBezTo>
                <a:lnTo>
                  <a:pt x="147128" y="280652"/>
                </a:lnTo>
                <a:cubicBezTo>
                  <a:pt x="159647" y="280652"/>
                  <a:pt x="169770" y="290761"/>
                  <a:pt x="169770" y="303185"/>
                </a:cubicBezTo>
                <a:cubicBezTo>
                  <a:pt x="169770" y="315608"/>
                  <a:pt x="159647" y="325717"/>
                  <a:pt x="147128" y="325717"/>
                </a:cubicBezTo>
                <a:lnTo>
                  <a:pt x="46132" y="325717"/>
                </a:lnTo>
                <a:cubicBezTo>
                  <a:pt x="51387" y="385984"/>
                  <a:pt x="77891" y="442778"/>
                  <a:pt x="120855" y="485682"/>
                </a:cubicBezTo>
                <a:cubicBezTo>
                  <a:pt x="163820" y="528586"/>
                  <a:pt x="220693" y="555131"/>
                  <a:pt x="281043" y="560301"/>
                </a:cubicBezTo>
                <a:lnTo>
                  <a:pt x="281043" y="459446"/>
                </a:lnTo>
                <a:cubicBezTo>
                  <a:pt x="281043" y="447022"/>
                  <a:pt x="291167" y="436913"/>
                  <a:pt x="303608" y="436913"/>
                </a:cubicBezTo>
                <a:cubicBezTo>
                  <a:pt x="316049" y="436913"/>
                  <a:pt x="326172" y="447022"/>
                  <a:pt x="326172" y="459446"/>
                </a:cubicBezTo>
                <a:lnTo>
                  <a:pt x="326172" y="560301"/>
                </a:lnTo>
                <a:cubicBezTo>
                  <a:pt x="386522" y="555131"/>
                  <a:pt x="443395" y="528586"/>
                  <a:pt x="486360" y="485682"/>
                </a:cubicBezTo>
                <a:cubicBezTo>
                  <a:pt x="529324" y="442778"/>
                  <a:pt x="555906" y="385984"/>
                  <a:pt x="561083" y="325717"/>
                </a:cubicBezTo>
                <a:lnTo>
                  <a:pt x="460087" y="325717"/>
                </a:lnTo>
                <a:cubicBezTo>
                  <a:pt x="447645" y="325717"/>
                  <a:pt x="437523" y="315608"/>
                  <a:pt x="437523" y="303185"/>
                </a:cubicBezTo>
                <a:cubicBezTo>
                  <a:pt x="437523" y="290761"/>
                  <a:pt x="447645" y="280652"/>
                  <a:pt x="460087" y="280652"/>
                </a:cubicBezTo>
                <a:lnTo>
                  <a:pt x="561083" y="280652"/>
                </a:lnTo>
                <a:cubicBezTo>
                  <a:pt x="555906" y="220385"/>
                  <a:pt x="529324" y="163591"/>
                  <a:pt x="486360" y="120687"/>
                </a:cubicBezTo>
                <a:cubicBezTo>
                  <a:pt x="443395" y="77783"/>
                  <a:pt x="386522" y="51315"/>
                  <a:pt x="326172" y="46068"/>
                </a:cubicBezTo>
                <a:lnTo>
                  <a:pt x="326172" y="146923"/>
                </a:lnTo>
                <a:cubicBezTo>
                  <a:pt x="326172" y="159424"/>
                  <a:pt x="316049" y="169533"/>
                  <a:pt x="303608" y="169533"/>
                </a:cubicBezTo>
                <a:cubicBezTo>
                  <a:pt x="291167" y="169533"/>
                  <a:pt x="281043" y="159424"/>
                  <a:pt x="281043" y="146923"/>
                </a:cubicBezTo>
                <a:close/>
                <a:moveTo>
                  <a:pt x="281617" y="45548"/>
                </a:moveTo>
                <a:lnTo>
                  <a:pt x="281617" y="146935"/>
                </a:lnTo>
                <a:cubicBezTo>
                  <a:pt x="281617" y="159126"/>
                  <a:pt x="291431" y="169002"/>
                  <a:pt x="303640" y="169002"/>
                </a:cubicBezTo>
                <a:cubicBezTo>
                  <a:pt x="315850" y="169002"/>
                  <a:pt x="325741" y="159126"/>
                  <a:pt x="325741" y="146935"/>
                </a:cubicBezTo>
                <a:lnTo>
                  <a:pt x="325741" y="45548"/>
                </a:lnTo>
                <a:cubicBezTo>
                  <a:pt x="451159" y="56119"/>
                  <a:pt x="551077" y="155963"/>
                  <a:pt x="561663" y="281192"/>
                </a:cubicBezTo>
                <a:lnTo>
                  <a:pt x="460123" y="281192"/>
                </a:lnTo>
                <a:cubicBezTo>
                  <a:pt x="447914" y="281192"/>
                  <a:pt x="438022" y="290991"/>
                  <a:pt x="438022" y="303182"/>
                </a:cubicBezTo>
                <a:cubicBezTo>
                  <a:pt x="438022" y="315373"/>
                  <a:pt x="447914" y="325250"/>
                  <a:pt x="460123" y="325250"/>
                </a:cubicBezTo>
                <a:lnTo>
                  <a:pt x="561663" y="325250"/>
                </a:lnTo>
                <a:cubicBezTo>
                  <a:pt x="551077" y="450478"/>
                  <a:pt x="451159" y="550245"/>
                  <a:pt x="325741" y="560815"/>
                </a:cubicBezTo>
                <a:lnTo>
                  <a:pt x="325741" y="459429"/>
                </a:lnTo>
                <a:cubicBezTo>
                  <a:pt x="325741" y="447238"/>
                  <a:pt x="315850" y="437361"/>
                  <a:pt x="303640" y="437361"/>
                </a:cubicBezTo>
                <a:cubicBezTo>
                  <a:pt x="291431" y="437361"/>
                  <a:pt x="281617" y="447238"/>
                  <a:pt x="281617" y="459429"/>
                </a:cubicBezTo>
                <a:lnTo>
                  <a:pt x="281617" y="560815"/>
                </a:lnTo>
                <a:cubicBezTo>
                  <a:pt x="156198" y="550245"/>
                  <a:pt x="56203" y="450478"/>
                  <a:pt x="45616" y="325250"/>
                </a:cubicBezTo>
                <a:lnTo>
                  <a:pt x="147157" y="325250"/>
                </a:lnTo>
                <a:cubicBezTo>
                  <a:pt x="159366" y="325250"/>
                  <a:pt x="169257" y="315373"/>
                  <a:pt x="169257" y="303182"/>
                </a:cubicBezTo>
                <a:cubicBezTo>
                  <a:pt x="169257" y="290991"/>
                  <a:pt x="159366" y="281192"/>
                  <a:pt x="147157" y="281192"/>
                </a:cubicBezTo>
                <a:lnTo>
                  <a:pt x="45616" y="281192"/>
                </a:lnTo>
                <a:cubicBezTo>
                  <a:pt x="56203" y="155963"/>
                  <a:pt x="156198" y="56119"/>
                  <a:pt x="281617" y="45548"/>
                </a:cubicBezTo>
                <a:close/>
                <a:moveTo>
                  <a:pt x="281508" y="44987"/>
                </a:moveTo>
                <a:cubicBezTo>
                  <a:pt x="220693" y="50158"/>
                  <a:pt x="163433" y="76780"/>
                  <a:pt x="120160" y="119993"/>
                </a:cubicBezTo>
                <a:cubicBezTo>
                  <a:pt x="76887" y="163205"/>
                  <a:pt x="50228" y="220385"/>
                  <a:pt x="45050" y="281115"/>
                </a:cubicBezTo>
                <a:lnTo>
                  <a:pt x="45050" y="281655"/>
                </a:lnTo>
                <a:lnTo>
                  <a:pt x="147128" y="281655"/>
                </a:lnTo>
                <a:cubicBezTo>
                  <a:pt x="159029" y="281655"/>
                  <a:pt x="168688" y="291301"/>
                  <a:pt x="168688" y="303185"/>
                </a:cubicBezTo>
                <a:cubicBezTo>
                  <a:pt x="168688" y="315068"/>
                  <a:pt x="159029" y="324714"/>
                  <a:pt x="147128" y="324714"/>
                </a:cubicBezTo>
                <a:lnTo>
                  <a:pt x="45050" y="324714"/>
                </a:lnTo>
                <a:lnTo>
                  <a:pt x="45050" y="325254"/>
                </a:lnTo>
                <a:cubicBezTo>
                  <a:pt x="50228" y="385984"/>
                  <a:pt x="76887" y="443241"/>
                  <a:pt x="120160" y="486454"/>
                </a:cubicBezTo>
                <a:cubicBezTo>
                  <a:pt x="163433" y="529666"/>
                  <a:pt x="220693" y="556289"/>
                  <a:pt x="281508" y="561382"/>
                </a:cubicBezTo>
                <a:lnTo>
                  <a:pt x="282048" y="561459"/>
                </a:lnTo>
                <a:lnTo>
                  <a:pt x="282048" y="459446"/>
                </a:lnTo>
                <a:cubicBezTo>
                  <a:pt x="282048" y="447562"/>
                  <a:pt x="291708" y="437916"/>
                  <a:pt x="303608" y="437916"/>
                </a:cubicBezTo>
                <a:cubicBezTo>
                  <a:pt x="315508" y="437916"/>
                  <a:pt x="325167" y="447562"/>
                  <a:pt x="325167" y="459446"/>
                </a:cubicBezTo>
                <a:lnTo>
                  <a:pt x="325167" y="561459"/>
                </a:lnTo>
                <a:lnTo>
                  <a:pt x="325708" y="561382"/>
                </a:lnTo>
                <a:cubicBezTo>
                  <a:pt x="386522" y="556289"/>
                  <a:pt x="443859" y="529666"/>
                  <a:pt x="487132" y="486454"/>
                </a:cubicBezTo>
                <a:cubicBezTo>
                  <a:pt x="530405" y="443241"/>
                  <a:pt x="557065" y="385984"/>
                  <a:pt x="562165" y="325254"/>
                </a:cubicBezTo>
                <a:lnTo>
                  <a:pt x="562242" y="324714"/>
                </a:lnTo>
                <a:lnTo>
                  <a:pt x="460087" y="324714"/>
                </a:lnTo>
                <a:cubicBezTo>
                  <a:pt x="448186" y="324714"/>
                  <a:pt x="438527" y="315068"/>
                  <a:pt x="438527" y="303185"/>
                </a:cubicBezTo>
                <a:cubicBezTo>
                  <a:pt x="438527" y="291301"/>
                  <a:pt x="448186" y="281655"/>
                  <a:pt x="460087" y="281655"/>
                </a:cubicBezTo>
                <a:lnTo>
                  <a:pt x="562242" y="281655"/>
                </a:lnTo>
                <a:lnTo>
                  <a:pt x="562165" y="281115"/>
                </a:lnTo>
                <a:cubicBezTo>
                  <a:pt x="557065" y="220385"/>
                  <a:pt x="530405" y="163205"/>
                  <a:pt x="487132" y="119993"/>
                </a:cubicBezTo>
                <a:cubicBezTo>
                  <a:pt x="443859" y="76780"/>
                  <a:pt x="386522" y="50158"/>
                  <a:pt x="325708" y="44987"/>
                </a:cubicBezTo>
                <a:lnTo>
                  <a:pt x="325167" y="44987"/>
                </a:lnTo>
                <a:lnTo>
                  <a:pt x="325167" y="146923"/>
                </a:lnTo>
                <a:cubicBezTo>
                  <a:pt x="325167" y="158807"/>
                  <a:pt x="315508" y="168453"/>
                  <a:pt x="303608" y="168453"/>
                </a:cubicBezTo>
                <a:cubicBezTo>
                  <a:pt x="291708" y="168453"/>
                  <a:pt x="282048" y="158807"/>
                  <a:pt x="282048" y="146923"/>
                </a:cubicBezTo>
                <a:lnTo>
                  <a:pt x="282048" y="44987"/>
                </a:lnTo>
                <a:close/>
                <a:moveTo>
                  <a:pt x="303608" y="1003"/>
                </a:moveTo>
                <a:cubicBezTo>
                  <a:pt x="344485" y="1003"/>
                  <a:pt x="384049" y="9028"/>
                  <a:pt x="421450" y="24770"/>
                </a:cubicBezTo>
                <a:cubicBezTo>
                  <a:pt x="457459" y="40049"/>
                  <a:pt x="489837" y="61810"/>
                  <a:pt x="517578" y="89512"/>
                </a:cubicBezTo>
                <a:cubicBezTo>
                  <a:pt x="545396" y="117292"/>
                  <a:pt x="567188" y="149547"/>
                  <a:pt x="582410" y="185584"/>
                </a:cubicBezTo>
                <a:cubicBezTo>
                  <a:pt x="598174" y="222855"/>
                  <a:pt x="606211" y="262441"/>
                  <a:pt x="606211" y="303185"/>
                </a:cubicBezTo>
                <a:cubicBezTo>
                  <a:pt x="606211" y="344005"/>
                  <a:pt x="598174" y="383514"/>
                  <a:pt x="582410" y="420863"/>
                </a:cubicBezTo>
                <a:cubicBezTo>
                  <a:pt x="567188" y="456822"/>
                  <a:pt x="545396" y="489154"/>
                  <a:pt x="517578" y="516857"/>
                </a:cubicBezTo>
                <a:cubicBezTo>
                  <a:pt x="489837" y="544637"/>
                  <a:pt x="457459" y="566397"/>
                  <a:pt x="421450" y="581599"/>
                </a:cubicBezTo>
                <a:cubicBezTo>
                  <a:pt x="384049" y="597341"/>
                  <a:pt x="344485" y="605366"/>
                  <a:pt x="303608" y="605366"/>
                </a:cubicBezTo>
                <a:cubicBezTo>
                  <a:pt x="262807" y="605366"/>
                  <a:pt x="223166" y="597341"/>
                  <a:pt x="185842" y="581599"/>
                </a:cubicBezTo>
                <a:cubicBezTo>
                  <a:pt x="149756" y="566397"/>
                  <a:pt x="117455" y="544637"/>
                  <a:pt x="89637" y="516857"/>
                </a:cubicBezTo>
                <a:cubicBezTo>
                  <a:pt x="61896" y="489154"/>
                  <a:pt x="40105" y="456822"/>
                  <a:pt x="24805" y="420863"/>
                </a:cubicBezTo>
                <a:cubicBezTo>
                  <a:pt x="9041" y="383514"/>
                  <a:pt x="1004" y="344005"/>
                  <a:pt x="1004" y="303185"/>
                </a:cubicBezTo>
                <a:cubicBezTo>
                  <a:pt x="1004" y="262441"/>
                  <a:pt x="9041" y="222855"/>
                  <a:pt x="24805" y="185584"/>
                </a:cubicBezTo>
                <a:cubicBezTo>
                  <a:pt x="40105" y="149547"/>
                  <a:pt x="61896" y="117292"/>
                  <a:pt x="89637" y="89512"/>
                </a:cubicBezTo>
                <a:cubicBezTo>
                  <a:pt x="117455" y="61810"/>
                  <a:pt x="149756" y="40049"/>
                  <a:pt x="185842" y="24770"/>
                </a:cubicBezTo>
                <a:cubicBezTo>
                  <a:pt x="223166" y="9028"/>
                  <a:pt x="262807" y="1003"/>
                  <a:pt x="303608" y="1003"/>
                </a:cubicBezTo>
                <a:close/>
                <a:moveTo>
                  <a:pt x="303640" y="565"/>
                </a:moveTo>
                <a:cubicBezTo>
                  <a:pt x="262761" y="565"/>
                  <a:pt x="223041" y="8512"/>
                  <a:pt x="185640" y="24330"/>
                </a:cubicBezTo>
                <a:cubicBezTo>
                  <a:pt x="149552" y="39607"/>
                  <a:pt x="117174" y="61366"/>
                  <a:pt x="89354" y="89220"/>
                </a:cubicBezTo>
                <a:cubicBezTo>
                  <a:pt x="61458" y="116997"/>
                  <a:pt x="39666" y="149327"/>
                  <a:pt x="24366" y="185360"/>
                </a:cubicBezTo>
                <a:cubicBezTo>
                  <a:pt x="8524" y="222705"/>
                  <a:pt x="565" y="262365"/>
                  <a:pt x="565" y="303182"/>
                </a:cubicBezTo>
                <a:cubicBezTo>
                  <a:pt x="565" y="343999"/>
                  <a:pt x="8524" y="383659"/>
                  <a:pt x="24366" y="421004"/>
                </a:cubicBezTo>
                <a:cubicBezTo>
                  <a:pt x="39666" y="457037"/>
                  <a:pt x="61458" y="489444"/>
                  <a:pt x="89354" y="517221"/>
                </a:cubicBezTo>
                <a:cubicBezTo>
                  <a:pt x="117174" y="544998"/>
                  <a:pt x="149552" y="566834"/>
                  <a:pt x="185640" y="582034"/>
                </a:cubicBezTo>
                <a:cubicBezTo>
                  <a:pt x="223041" y="597852"/>
                  <a:pt x="262761" y="605876"/>
                  <a:pt x="303640" y="605876"/>
                </a:cubicBezTo>
                <a:cubicBezTo>
                  <a:pt x="344596" y="605876"/>
                  <a:pt x="384239" y="597852"/>
                  <a:pt x="421640" y="582034"/>
                </a:cubicBezTo>
                <a:cubicBezTo>
                  <a:pt x="457728" y="566834"/>
                  <a:pt x="490183" y="544998"/>
                  <a:pt x="518003" y="517221"/>
                </a:cubicBezTo>
                <a:cubicBezTo>
                  <a:pt x="545822" y="489444"/>
                  <a:pt x="567691" y="457037"/>
                  <a:pt x="582914" y="421004"/>
                </a:cubicBezTo>
                <a:cubicBezTo>
                  <a:pt x="598756" y="383659"/>
                  <a:pt x="606792" y="343999"/>
                  <a:pt x="606792" y="303182"/>
                </a:cubicBezTo>
                <a:cubicBezTo>
                  <a:pt x="606792" y="262365"/>
                  <a:pt x="598756" y="222705"/>
                  <a:pt x="582914" y="185360"/>
                </a:cubicBezTo>
                <a:cubicBezTo>
                  <a:pt x="567691" y="149327"/>
                  <a:pt x="545822" y="116997"/>
                  <a:pt x="518003" y="89220"/>
                </a:cubicBezTo>
                <a:cubicBezTo>
                  <a:pt x="490183" y="61366"/>
                  <a:pt x="457728" y="39607"/>
                  <a:pt x="421640" y="24330"/>
                </a:cubicBezTo>
                <a:cubicBezTo>
                  <a:pt x="384239" y="8512"/>
                  <a:pt x="344519" y="565"/>
                  <a:pt x="303640" y="565"/>
                </a:cubicBezTo>
                <a:close/>
                <a:moveTo>
                  <a:pt x="303608" y="0"/>
                </a:moveTo>
                <a:cubicBezTo>
                  <a:pt x="344563" y="0"/>
                  <a:pt x="384359" y="8025"/>
                  <a:pt x="421836" y="23844"/>
                </a:cubicBezTo>
                <a:cubicBezTo>
                  <a:pt x="458000" y="39123"/>
                  <a:pt x="490455" y="60961"/>
                  <a:pt x="518351" y="88818"/>
                </a:cubicBezTo>
                <a:cubicBezTo>
                  <a:pt x="546169" y="116674"/>
                  <a:pt x="568038" y="149084"/>
                  <a:pt x="583338" y="185198"/>
                </a:cubicBezTo>
                <a:cubicBezTo>
                  <a:pt x="599179" y="222546"/>
                  <a:pt x="607215" y="262286"/>
                  <a:pt x="607215" y="303185"/>
                </a:cubicBezTo>
                <a:cubicBezTo>
                  <a:pt x="607215" y="344083"/>
                  <a:pt x="599179" y="383823"/>
                  <a:pt x="583338" y="421248"/>
                </a:cubicBezTo>
                <a:cubicBezTo>
                  <a:pt x="568038" y="457362"/>
                  <a:pt x="546169" y="489772"/>
                  <a:pt x="518351" y="517629"/>
                </a:cubicBezTo>
                <a:cubicBezTo>
                  <a:pt x="490455" y="545408"/>
                  <a:pt x="458000" y="567246"/>
                  <a:pt x="421836" y="582525"/>
                </a:cubicBezTo>
                <a:cubicBezTo>
                  <a:pt x="384359" y="598344"/>
                  <a:pt x="344563" y="606369"/>
                  <a:pt x="303608" y="606369"/>
                </a:cubicBezTo>
                <a:cubicBezTo>
                  <a:pt x="262652" y="606369"/>
                  <a:pt x="222856" y="598344"/>
                  <a:pt x="185456" y="582525"/>
                </a:cubicBezTo>
                <a:cubicBezTo>
                  <a:pt x="149292" y="567246"/>
                  <a:pt x="116760" y="545408"/>
                  <a:pt x="88942" y="517629"/>
                </a:cubicBezTo>
                <a:cubicBezTo>
                  <a:pt x="61046" y="489772"/>
                  <a:pt x="39177" y="457362"/>
                  <a:pt x="23877" y="421248"/>
                </a:cubicBezTo>
                <a:cubicBezTo>
                  <a:pt x="8036" y="383823"/>
                  <a:pt x="0" y="344083"/>
                  <a:pt x="0" y="303185"/>
                </a:cubicBezTo>
                <a:cubicBezTo>
                  <a:pt x="0" y="262286"/>
                  <a:pt x="8036" y="222546"/>
                  <a:pt x="23877" y="185198"/>
                </a:cubicBezTo>
                <a:cubicBezTo>
                  <a:pt x="39177" y="149084"/>
                  <a:pt x="61046" y="116674"/>
                  <a:pt x="88942" y="88818"/>
                </a:cubicBezTo>
                <a:cubicBezTo>
                  <a:pt x="116760" y="60961"/>
                  <a:pt x="149292" y="39123"/>
                  <a:pt x="185456" y="23844"/>
                </a:cubicBezTo>
                <a:cubicBezTo>
                  <a:pt x="222856" y="8025"/>
                  <a:pt x="262652" y="0"/>
                  <a:pt x="303608" y="0"/>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dirty="0"/>
          </a:p>
        </p:txBody>
      </p:sp>
      <p:sp>
        <p:nvSpPr>
          <p:cNvPr id="142" name="文本框 141">
            <a:extLst>
              <a:ext uri="{FF2B5EF4-FFF2-40B4-BE49-F238E27FC236}">
                <a16:creationId xmlns:a16="http://schemas.microsoft.com/office/drawing/2014/main" id="{540188EA-6A35-48E4-AFA3-856CE8CFB472}"/>
              </a:ext>
            </a:extLst>
          </p:cNvPr>
          <p:cNvSpPr txBox="1"/>
          <p:nvPr/>
        </p:nvSpPr>
        <p:spPr>
          <a:xfrm>
            <a:off x="373082" y="2808021"/>
            <a:ext cx="1660612" cy="338554"/>
          </a:xfrm>
          <a:prstGeom prst="rect">
            <a:avLst/>
          </a:prstGeom>
          <a:noFill/>
        </p:spPr>
        <p:txBody>
          <a:bodyPr wrap="square" rtlCol="0">
            <a:spAutoFit/>
          </a:bodyPr>
          <a:lstStyle/>
          <a:p>
            <a:r>
              <a:rPr lang="zh-CN" altLang="en-US" sz="1600" dirty="0">
                <a:solidFill>
                  <a:schemeClr val="accent1"/>
                </a:solidFill>
                <a:latin typeface="思源黑体 CN Regular" panose="020B0500000000000000" pitchFamily="34" charset="-122"/>
                <a:ea typeface="思源黑体 CN Regular" panose="020B0500000000000000" pitchFamily="34" charset="-122"/>
              </a:rPr>
              <a:t>研究目标和内容</a:t>
            </a:r>
          </a:p>
        </p:txBody>
      </p:sp>
      <p:sp>
        <p:nvSpPr>
          <p:cNvPr id="143" name="任意矩形：003">
            <a:extLst>
              <a:ext uri="{FF2B5EF4-FFF2-40B4-BE49-F238E27FC236}">
                <a16:creationId xmlns:a16="http://schemas.microsoft.com/office/drawing/2014/main" id="{A9C1700D-FECD-444E-968E-006EEADBAE88}"/>
              </a:ext>
            </a:extLst>
          </p:cNvPr>
          <p:cNvSpPr/>
          <p:nvPr/>
        </p:nvSpPr>
        <p:spPr>
          <a:xfrm rot="10800000" flipH="1" flipV="1">
            <a:off x="145020" y="3571293"/>
            <a:ext cx="199667" cy="199477"/>
          </a:xfrm>
          <a:custGeom>
            <a:avLst/>
            <a:gdLst>
              <a:gd name="connsiteX0" fmla="*/ 320200 w 604886"/>
              <a:gd name="connsiteY0" fmla="*/ 166778 h 604313"/>
              <a:gd name="connsiteX1" fmla="*/ 338200 w 604886"/>
              <a:gd name="connsiteY1" fmla="*/ 168153 h 604313"/>
              <a:gd name="connsiteX2" fmla="*/ 394904 w 604886"/>
              <a:gd name="connsiteY2" fmla="*/ 210003 h 604313"/>
              <a:gd name="connsiteX3" fmla="*/ 448997 w 604886"/>
              <a:gd name="connsiteY3" fmla="*/ 297466 h 604313"/>
              <a:gd name="connsiteX4" fmla="*/ 433479 w 604886"/>
              <a:gd name="connsiteY4" fmla="*/ 381599 h 604313"/>
              <a:gd name="connsiteX5" fmla="*/ 230304 w 604886"/>
              <a:gd name="connsiteY5" fmla="*/ 584474 h 604313"/>
              <a:gd name="connsiteX6" fmla="*/ 177952 w 604886"/>
              <a:gd name="connsiteY6" fmla="*/ 604313 h 604313"/>
              <a:gd name="connsiteX7" fmla="*/ 58454 w 604886"/>
              <a:gd name="connsiteY7" fmla="*/ 545956 h 604313"/>
              <a:gd name="connsiteX8" fmla="*/ 19733 w 604886"/>
              <a:gd name="connsiteY8" fmla="*/ 374359 h 604313"/>
              <a:gd name="connsiteX9" fmla="*/ 93549 w 604886"/>
              <a:gd name="connsiteY9" fmla="*/ 300652 h 604313"/>
              <a:gd name="connsiteX10" fmla="*/ 127049 w 604886"/>
              <a:gd name="connsiteY10" fmla="*/ 300652 h 604313"/>
              <a:gd name="connsiteX11" fmla="*/ 127049 w 604886"/>
              <a:gd name="connsiteY11" fmla="*/ 333958 h 604313"/>
              <a:gd name="connsiteX12" fmla="*/ 53233 w 604886"/>
              <a:gd name="connsiteY12" fmla="*/ 407665 h 604313"/>
              <a:gd name="connsiteX13" fmla="*/ 91809 w 604886"/>
              <a:gd name="connsiteY13" fmla="*/ 512650 h 604313"/>
              <a:gd name="connsiteX14" fmla="*/ 196950 w 604886"/>
              <a:gd name="connsiteY14" fmla="*/ 551169 h 604313"/>
              <a:gd name="connsiteX15" fmla="*/ 400124 w 604886"/>
              <a:gd name="connsiteY15" fmla="*/ 348294 h 604313"/>
              <a:gd name="connsiteX16" fmla="*/ 403460 w 604886"/>
              <a:gd name="connsiteY16" fmla="*/ 310065 h 604313"/>
              <a:gd name="connsiteX17" fmla="*/ 361549 w 604886"/>
              <a:gd name="connsiteY17" fmla="*/ 243308 h 604313"/>
              <a:gd name="connsiteX18" fmla="*/ 316737 w 604886"/>
              <a:gd name="connsiteY18" fmla="*/ 210147 h 604313"/>
              <a:gd name="connsiteX19" fmla="*/ 306441 w 604886"/>
              <a:gd name="connsiteY19" fmla="*/ 178435 h 604313"/>
              <a:gd name="connsiteX20" fmla="*/ 320200 w 604886"/>
              <a:gd name="connsiteY20" fmla="*/ 166778 h 604313"/>
              <a:gd name="connsiteX21" fmla="*/ 411085 w 604886"/>
              <a:gd name="connsiteY21" fmla="*/ 1388 h 604313"/>
              <a:gd name="connsiteX22" fmla="*/ 458862 w 604886"/>
              <a:gd name="connsiteY22" fmla="*/ 4683 h 604313"/>
              <a:gd name="connsiteX23" fmla="*/ 546442 w 604886"/>
              <a:gd name="connsiteY23" fmla="*/ 58698 h 604313"/>
              <a:gd name="connsiteX24" fmla="*/ 585156 w 604886"/>
              <a:gd name="connsiteY24" fmla="*/ 230302 h 604313"/>
              <a:gd name="connsiteX25" fmla="*/ 511352 w 604886"/>
              <a:gd name="connsiteY25" fmla="*/ 304012 h 604313"/>
              <a:gd name="connsiteX26" fmla="*/ 477857 w 604886"/>
              <a:gd name="connsiteY26" fmla="*/ 304012 h 604313"/>
              <a:gd name="connsiteX27" fmla="*/ 477857 w 604886"/>
              <a:gd name="connsiteY27" fmla="*/ 270705 h 604313"/>
              <a:gd name="connsiteX28" fmla="*/ 551662 w 604886"/>
              <a:gd name="connsiteY28" fmla="*/ 196995 h 604313"/>
              <a:gd name="connsiteX29" fmla="*/ 513092 w 604886"/>
              <a:gd name="connsiteY29" fmla="*/ 92005 h 604313"/>
              <a:gd name="connsiteX30" fmla="*/ 446247 w 604886"/>
              <a:gd name="connsiteY30" fmla="*/ 50154 h 604313"/>
              <a:gd name="connsiteX31" fmla="*/ 407968 w 604886"/>
              <a:gd name="connsiteY31" fmla="*/ 53485 h 604313"/>
              <a:gd name="connsiteX32" fmla="*/ 204825 w 604886"/>
              <a:gd name="connsiteY32" fmla="*/ 256368 h 604313"/>
              <a:gd name="connsiteX33" fmla="*/ 201490 w 604886"/>
              <a:gd name="connsiteY33" fmla="*/ 294599 h 604313"/>
              <a:gd name="connsiteX34" fmla="*/ 243394 w 604886"/>
              <a:gd name="connsiteY34" fmla="*/ 361358 h 604313"/>
              <a:gd name="connsiteX35" fmla="*/ 288199 w 604886"/>
              <a:gd name="connsiteY35" fmla="*/ 394520 h 604313"/>
              <a:gd name="connsiteX36" fmla="*/ 298494 w 604886"/>
              <a:gd name="connsiteY36" fmla="*/ 426234 h 604313"/>
              <a:gd name="connsiteX37" fmla="*/ 277469 w 604886"/>
              <a:gd name="connsiteY37" fmla="*/ 438978 h 604313"/>
              <a:gd name="connsiteX38" fmla="*/ 266739 w 604886"/>
              <a:gd name="connsiteY38" fmla="*/ 436516 h 604313"/>
              <a:gd name="connsiteX39" fmla="*/ 210044 w 604886"/>
              <a:gd name="connsiteY39" fmla="*/ 394665 h 604313"/>
              <a:gd name="connsiteX40" fmla="*/ 155960 w 604886"/>
              <a:gd name="connsiteY40" fmla="*/ 307198 h 604313"/>
              <a:gd name="connsiteX41" fmla="*/ 171330 w 604886"/>
              <a:gd name="connsiteY41" fmla="*/ 223061 h 604313"/>
              <a:gd name="connsiteX42" fmla="*/ 374618 w 604886"/>
              <a:gd name="connsiteY42" fmla="*/ 20033 h 604313"/>
              <a:gd name="connsiteX43" fmla="*/ 411085 w 604886"/>
              <a:gd name="connsiteY43" fmla="*/ 1388 h 6043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Lst>
            <a:rect l="l" t="t" r="r" b="b"/>
            <a:pathLst>
              <a:path w="604886" h="604313">
                <a:moveTo>
                  <a:pt x="320200" y="166778"/>
                </a:moveTo>
                <a:cubicBezTo>
                  <a:pt x="325946" y="164931"/>
                  <a:pt x="332399" y="165257"/>
                  <a:pt x="338200" y="168153"/>
                </a:cubicBezTo>
                <a:cubicBezTo>
                  <a:pt x="358068" y="178290"/>
                  <a:pt x="377646" y="192771"/>
                  <a:pt x="394904" y="210003"/>
                </a:cubicBezTo>
                <a:cubicBezTo>
                  <a:pt x="421443" y="236358"/>
                  <a:pt x="440585" y="267491"/>
                  <a:pt x="448997" y="297466"/>
                </a:cubicBezTo>
                <a:cubicBezTo>
                  <a:pt x="458568" y="332075"/>
                  <a:pt x="453202" y="362050"/>
                  <a:pt x="433479" y="381599"/>
                </a:cubicBezTo>
                <a:lnTo>
                  <a:pt x="230304" y="584474"/>
                </a:lnTo>
                <a:cubicBezTo>
                  <a:pt x="216962" y="597942"/>
                  <a:pt x="198690" y="604313"/>
                  <a:pt x="177952" y="604313"/>
                </a:cubicBezTo>
                <a:cubicBezTo>
                  <a:pt x="140971" y="604313"/>
                  <a:pt x="96305" y="583750"/>
                  <a:pt x="58454" y="545956"/>
                </a:cubicBezTo>
                <a:cubicBezTo>
                  <a:pt x="-570" y="487019"/>
                  <a:pt x="-17537" y="411575"/>
                  <a:pt x="19733" y="374359"/>
                </a:cubicBezTo>
                <a:lnTo>
                  <a:pt x="93549" y="300652"/>
                </a:lnTo>
                <a:cubicBezTo>
                  <a:pt x="102831" y="291384"/>
                  <a:pt x="117768" y="291384"/>
                  <a:pt x="127049" y="300652"/>
                </a:cubicBezTo>
                <a:cubicBezTo>
                  <a:pt x="136186" y="309775"/>
                  <a:pt x="136186" y="324690"/>
                  <a:pt x="127049" y="333958"/>
                </a:cubicBezTo>
                <a:lnTo>
                  <a:pt x="53233" y="407665"/>
                </a:lnTo>
                <a:cubicBezTo>
                  <a:pt x="37426" y="423304"/>
                  <a:pt x="50623" y="471525"/>
                  <a:pt x="91809" y="512650"/>
                </a:cubicBezTo>
                <a:cubicBezTo>
                  <a:pt x="132995" y="553631"/>
                  <a:pt x="181287" y="566808"/>
                  <a:pt x="196950" y="551169"/>
                </a:cubicBezTo>
                <a:lnTo>
                  <a:pt x="400124" y="348294"/>
                </a:lnTo>
                <a:cubicBezTo>
                  <a:pt x="407085" y="341343"/>
                  <a:pt x="408246" y="327441"/>
                  <a:pt x="403460" y="310065"/>
                </a:cubicBezTo>
                <a:cubicBezTo>
                  <a:pt x="397369" y="288199"/>
                  <a:pt x="381997" y="263871"/>
                  <a:pt x="361549" y="243308"/>
                </a:cubicBezTo>
                <a:cubicBezTo>
                  <a:pt x="347627" y="229552"/>
                  <a:pt x="332254" y="218112"/>
                  <a:pt x="316737" y="210147"/>
                </a:cubicBezTo>
                <a:cubicBezTo>
                  <a:pt x="305135" y="204355"/>
                  <a:pt x="300495" y="190019"/>
                  <a:pt x="306441" y="178435"/>
                </a:cubicBezTo>
                <a:cubicBezTo>
                  <a:pt x="309414" y="172642"/>
                  <a:pt x="314453" y="168624"/>
                  <a:pt x="320200" y="166778"/>
                </a:cubicBezTo>
                <a:close/>
                <a:moveTo>
                  <a:pt x="411085" y="1388"/>
                </a:moveTo>
                <a:cubicBezTo>
                  <a:pt x="425368" y="-1219"/>
                  <a:pt x="441535" y="-169"/>
                  <a:pt x="458862" y="4683"/>
                </a:cubicBezTo>
                <a:cubicBezTo>
                  <a:pt x="488877" y="13082"/>
                  <a:pt x="519907" y="32197"/>
                  <a:pt x="546442" y="58698"/>
                </a:cubicBezTo>
                <a:cubicBezTo>
                  <a:pt x="605456" y="117637"/>
                  <a:pt x="622421" y="192940"/>
                  <a:pt x="585156" y="230302"/>
                </a:cubicBezTo>
                <a:lnTo>
                  <a:pt x="511352" y="304012"/>
                </a:lnTo>
                <a:cubicBezTo>
                  <a:pt x="502072" y="313135"/>
                  <a:pt x="487137" y="313135"/>
                  <a:pt x="477857" y="304012"/>
                </a:cubicBezTo>
                <a:cubicBezTo>
                  <a:pt x="468722" y="294744"/>
                  <a:pt x="468722" y="279828"/>
                  <a:pt x="477857" y="270705"/>
                </a:cubicBezTo>
                <a:lnTo>
                  <a:pt x="551662" y="196995"/>
                </a:lnTo>
                <a:cubicBezTo>
                  <a:pt x="567321" y="181355"/>
                  <a:pt x="554127" y="133132"/>
                  <a:pt x="513092" y="92005"/>
                </a:cubicBezTo>
                <a:cubicBezTo>
                  <a:pt x="492502" y="71586"/>
                  <a:pt x="468142" y="56236"/>
                  <a:pt x="446247" y="50154"/>
                </a:cubicBezTo>
                <a:cubicBezTo>
                  <a:pt x="428848" y="45230"/>
                  <a:pt x="414928" y="46534"/>
                  <a:pt x="407968" y="53485"/>
                </a:cubicBezTo>
                <a:lnTo>
                  <a:pt x="204825" y="256368"/>
                </a:lnTo>
                <a:cubicBezTo>
                  <a:pt x="197865" y="263319"/>
                  <a:pt x="196560" y="277221"/>
                  <a:pt x="201490" y="294599"/>
                </a:cubicBezTo>
                <a:cubicBezTo>
                  <a:pt x="207579" y="316466"/>
                  <a:pt x="222949" y="340795"/>
                  <a:pt x="243394" y="361358"/>
                </a:cubicBezTo>
                <a:cubicBezTo>
                  <a:pt x="257169" y="375115"/>
                  <a:pt x="272684" y="386556"/>
                  <a:pt x="288199" y="394520"/>
                </a:cubicBezTo>
                <a:cubicBezTo>
                  <a:pt x="299799" y="400313"/>
                  <a:pt x="304439" y="414505"/>
                  <a:pt x="298494" y="426234"/>
                </a:cubicBezTo>
                <a:cubicBezTo>
                  <a:pt x="294289" y="434344"/>
                  <a:pt x="286024" y="438978"/>
                  <a:pt x="277469" y="438978"/>
                </a:cubicBezTo>
                <a:cubicBezTo>
                  <a:pt x="273844" y="438978"/>
                  <a:pt x="270219" y="438254"/>
                  <a:pt x="266739" y="436516"/>
                </a:cubicBezTo>
                <a:cubicBezTo>
                  <a:pt x="246874" y="426379"/>
                  <a:pt x="227299" y="411898"/>
                  <a:pt x="210044" y="394665"/>
                </a:cubicBezTo>
                <a:cubicBezTo>
                  <a:pt x="183510" y="368164"/>
                  <a:pt x="164370" y="337174"/>
                  <a:pt x="155960" y="307198"/>
                </a:cubicBezTo>
                <a:cubicBezTo>
                  <a:pt x="146245" y="272587"/>
                  <a:pt x="151755" y="242611"/>
                  <a:pt x="171330" y="223061"/>
                </a:cubicBezTo>
                <a:lnTo>
                  <a:pt x="374618" y="20033"/>
                </a:lnTo>
                <a:cubicBezTo>
                  <a:pt x="384406" y="10258"/>
                  <a:pt x="396803" y="3995"/>
                  <a:pt x="411085" y="1388"/>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144" name="文本框 143">
            <a:extLst>
              <a:ext uri="{FF2B5EF4-FFF2-40B4-BE49-F238E27FC236}">
                <a16:creationId xmlns:a16="http://schemas.microsoft.com/office/drawing/2014/main" id="{934737D5-7885-4D13-8564-F64D74EB955F}"/>
              </a:ext>
            </a:extLst>
          </p:cNvPr>
          <p:cNvSpPr txBox="1"/>
          <p:nvPr/>
        </p:nvSpPr>
        <p:spPr>
          <a:xfrm>
            <a:off x="373082" y="3517143"/>
            <a:ext cx="1660612" cy="338554"/>
          </a:xfrm>
          <a:prstGeom prst="rect">
            <a:avLst/>
          </a:prstGeom>
          <a:noFill/>
        </p:spPr>
        <p:txBody>
          <a:bodyPr wrap="square" rtlCol="0">
            <a:spAutoFit/>
          </a:bodyPr>
          <a:lstStyle/>
          <a:p>
            <a:r>
              <a:rPr lang="zh-CN" altLang="en-US" sz="1600" dirty="0">
                <a:solidFill>
                  <a:schemeClr val="bg1"/>
                </a:solidFill>
                <a:latin typeface="思源黑体 CN Regular" panose="020B0500000000000000" pitchFamily="34" charset="-122"/>
                <a:ea typeface="思源黑体 CN Regular" panose="020B0500000000000000" pitchFamily="34" charset="-122"/>
              </a:rPr>
              <a:t>研究方法与思路</a:t>
            </a:r>
          </a:p>
        </p:txBody>
      </p:sp>
      <p:sp>
        <p:nvSpPr>
          <p:cNvPr id="145" name="文本框 144">
            <a:extLst>
              <a:ext uri="{FF2B5EF4-FFF2-40B4-BE49-F238E27FC236}">
                <a16:creationId xmlns:a16="http://schemas.microsoft.com/office/drawing/2014/main" id="{C6965285-429E-4481-BD65-BD7F2C46F546}"/>
              </a:ext>
            </a:extLst>
          </p:cNvPr>
          <p:cNvSpPr txBox="1"/>
          <p:nvPr/>
        </p:nvSpPr>
        <p:spPr>
          <a:xfrm>
            <a:off x="373082" y="4226265"/>
            <a:ext cx="1660612" cy="338554"/>
          </a:xfrm>
          <a:prstGeom prst="rect">
            <a:avLst/>
          </a:prstGeom>
          <a:noFill/>
        </p:spPr>
        <p:txBody>
          <a:bodyPr wrap="square" rtlCol="0">
            <a:spAutoFit/>
          </a:bodyPr>
          <a:lstStyle/>
          <a:p>
            <a:r>
              <a:rPr lang="zh-CN" altLang="en-US" sz="1600" dirty="0">
                <a:solidFill>
                  <a:schemeClr val="bg1"/>
                </a:solidFill>
                <a:latin typeface="思源黑体 CN Regular" panose="020B0500000000000000" pitchFamily="34" charset="-122"/>
                <a:ea typeface="思源黑体 CN Regular" panose="020B0500000000000000" pitchFamily="34" charset="-122"/>
              </a:rPr>
              <a:t>关键技术与创新</a:t>
            </a:r>
          </a:p>
        </p:txBody>
      </p:sp>
      <p:sp>
        <p:nvSpPr>
          <p:cNvPr id="146" name="任意矩形：004">
            <a:extLst>
              <a:ext uri="{FF2B5EF4-FFF2-40B4-BE49-F238E27FC236}">
                <a16:creationId xmlns:a16="http://schemas.microsoft.com/office/drawing/2014/main" id="{53D78DFD-F2E8-476E-A0B1-4EB12AD6752C}"/>
              </a:ext>
            </a:extLst>
          </p:cNvPr>
          <p:cNvSpPr/>
          <p:nvPr/>
        </p:nvSpPr>
        <p:spPr>
          <a:xfrm rot="20700000">
            <a:off x="101744" y="4285500"/>
            <a:ext cx="251496" cy="189307"/>
          </a:xfrm>
          <a:custGeom>
            <a:avLst/>
            <a:gdLst>
              <a:gd name="T0" fmla="*/ 6845 w 7011"/>
              <a:gd name="T1" fmla="*/ 1345 h 5286"/>
              <a:gd name="T2" fmla="*/ 5180 w 7011"/>
              <a:gd name="T3" fmla="*/ 598 h 5286"/>
              <a:gd name="T4" fmla="*/ 5179 w 7011"/>
              <a:gd name="T5" fmla="*/ 598 h 5286"/>
              <a:gd name="T6" fmla="*/ 3505 w 7011"/>
              <a:gd name="T7" fmla="*/ 0 h 5286"/>
              <a:gd name="T8" fmla="*/ 907 w 7011"/>
              <a:gd name="T9" fmla="*/ 2166 h 5286"/>
              <a:gd name="T10" fmla="*/ 167 w 7011"/>
              <a:gd name="T11" fmla="*/ 3741 h 5286"/>
              <a:gd name="T12" fmla="*/ 1605 w 7011"/>
              <a:gd name="T13" fmla="*/ 4477 h 5286"/>
              <a:gd name="T14" fmla="*/ 3505 w 7011"/>
              <a:gd name="T15" fmla="*/ 5286 h 5286"/>
              <a:gd name="T16" fmla="*/ 6136 w 7011"/>
              <a:gd name="T17" fmla="*/ 2888 h 5286"/>
              <a:gd name="T18" fmla="*/ 6845 w 7011"/>
              <a:gd name="T19" fmla="*/ 1345 h 5286"/>
              <a:gd name="T20" fmla="*/ 521 w 7011"/>
              <a:gd name="T21" fmla="*/ 3613 h 5286"/>
              <a:gd name="T22" fmla="*/ 865 w 7011"/>
              <a:gd name="T23" fmla="*/ 2729 h 5286"/>
              <a:gd name="T24" fmla="*/ 1279 w 7011"/>
              <a:gd name="T25" fmla="*/ 4061 h 5286"/>
              <a:gd name="T26" fmla="*/ 521 w 7011"/>
              <a:gd name="T27" fmla="*/ 3613 h 5286"/>
              <a:gd name="T28" fmla="*/ 3507 w 7011"/>
              <a:gd name="T29" fmla="*/ 4909 h 5286"/>
              <a:gd name="T30" fmla="*/ 2171 w 7011"/>
              <a:gd name="T31" fmla="*/ 4472 h 5286"/>
              <a:gd name="T32" fmla="*/ 4051 w 7011"/>
              <a:gd name="T33" fmla="*/ 4060 h 5286"/>
              <a:gd name="T34" fmla="*/ 5695 w 7011"/>
              <a:gd name="T35" fmla="*/ 3233 h 5286"/>
              <a:gd name="T36" fmla="*/ 3507 w 7011"/>
              <a:gd name="T37" fmla="*/ 4909 h 5286"/>
              <a:gd name="T38" fmla="*/ 5772 w 7011"/>
              <a:gd name="T39" fmla="*/ 2705 h 5286"/>
              <a:gd name="T40" fmla="*/ 3924 w 7011"/>
              <a:gd name="T41" fmla="*/ 3706 h 5286"/>
              <a:gd name="T42" fmla="*/ 1779 w 7011"/>
              <a:gd name="T43" fmla="*/ 4108 h 5286"/>
              <a:gd name="T44" fmla="*/ 1240 w 7011"/>
              <a:gd name="T45" fmla="*/ 2642 h 5286"/>
              <a:gd name="T46" fmla="*/ 3507 w 7011"/>
              <a:gd name="T47" fmla="*/ 376 h 5286"/>
              <a:gd name="T48" fmla="*/ 5773 w 7011"/>
              <a:gd name="T49" fmla="*/ 2642 h 5286"/>
              <a:gd name="T50" fmla="*/ 5772 w 7011"/>
              <a:gd name="T51" fmla="*/ 2705 h 5286"/>
              <a:gd name="T52" fmla="*/ 6133 w 7011"/>
              <a:gd name="T53" fmla="*/ 2364 h 5286"/>
              <a:gd name="T54" fmla="*/ 5571 w 7011"/>
              <a:gd name="T55" fmla="*/ 996 h 5286"/>
              <a:gd name="T56" fmla="*/ 6491 w 7011"/>
              <a:gd name="T57" fmla="*/ 1472 h 5286"/>
              <a:gd name="T58" fmla="*/ 6133 w 7011"/>
              <a:gd name="T59" fmla="*/ 2364 h 528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7011" h="5286">
                <a:moveTo>
                  <a:pt x="6845" y="1345"/>
                </a:moveTo>
                <a:cubicBezTo>
                  <a:pt x="6672" y="864"/>
                  <a:pt x="6081" y="598"/>
                  <a:pt x="5180" y="598"/>
                </a:cubicBezTo>
                <a:lnTo>
                  <a:pt x="5179" y="598"/>
                </a:lnTo>
                <a:cubicBezTo>
                  <a:pt x="4723" y="225"/>
                  <a:pt x="4140" y="0"/>
                  <a:pt x="3505" y="0"/>
                </a:cubicBezTo>
                <a:cubicBezTo>
                  <a:pt x="2212" y="0"/>
                  <a:pt x="1132" y="936"/>
                  <a:pt x="907" y="2166"/>
                </a:cubicBezTo>
                <a:cubicBezTo>
                  <a:pt x="264" y="2720"/>
                  <a:pt x="0" y="3278"/>
                  <a:pt x="167" y="3741"/>
                </a:cubicBezTo>
                <a:cubicBezTo>
                  <a:pt x="325" y="4184"/>
                  <a:pt x="863" y="4433"/>
                  <a:pt x="1605" y="4477"/>
                </a:cubicBezTo>
                <a:cubicBezTo>
                  <a:pt x="2087" y="4976"/>
                  <a:pt x="2760" y="5286"/>
                  <a:pt x="3505" y="5286"/>
                </a:cubicBezTo>
                <a:cubicBezTo>
                  <a:pt x="4880" y="5286"/>
                  <a:pt x="6012" y="4232"/>
                  <a:pt x="6136" y="2888"/>
                </a:cubicBezTo>
                <a:cubicBezTo>
                  <a:pt x="6728" y="2364"/>
                  <a:pt x="7011" y="1804"/>
                  <a:pt x="6845" y="1345"/>
                </a:cubicBezTo>
                <a:close/>
                <a:moveTo>
                  <a:pt x="521" y="3613"/>
                </a:moveTo>
                <a:cubicBezTo>
                  <a:pt x="437" y="3380"/>
                  <a:pt x="565" y="3064"/>
                  <a:pt x="865" y="2729"/>
                </a:cubicBezTo>
                <a:cubicBezTo>
                  <a:pt x="881" y="3218"/>
                  <a:pt x="1031" y="3673"/>
                  <a:pt x="1279" y="4061"/>
                </a:cubicBezTo>
                <a:cubicBezTo>
                  <a:pt x="871" y="3988"/>
                  <a:pt x="599" y="3830"/>
                  <a:pt x="521" y="3613"/>
                </a:cubicBezTo>
                <a:close/>
                <a:moveTo>
                  <a:pt x="3507" y="4909"/>
                </a:moveTo>
                <a:cubicBezTo>
                  <a:pt x="3008" y="4909"/>
                  <a:pt x="2545" y="4746"/>
                  <a:pt x="2171" y="4472"/>
                </a:cubicBezTo>
                <a:cubicBezTo>
                  <a:pt x="2740" y="4434"/>
                  <a:pt x="3384" y="4300"/>
                  <a:pt x="4051" y="4060"/>
                </a:cubicBezTo>
                <a:cubicBezTo>
                  <a:pt x="4684" y="3833"/>
                  <a:pt x="5243" y="3546"/>
                  <a:pt x="5695" y="3233"/>
                </a:cubicBezTo>
                <a:cubicBezTo>
                  <a:pt x="5433" y="4197"/>
                  <a:pt x="4552" y="4909"/>
                  <a:pt x="3507" y="4909"/>
                </a:cubicBezTo>
                <a:close/>
                <a:moveTo>
                  <a:pt x="5772" y="2705"/>
                </a:moveTo>
                <a:cubicBezTo>
                  <a:pt x="5328" y="3068"/>
                  <a:pt x="4700" y="3428"/>
                  <a:pt x="3924" y="3706"/>
                </a:cubicBezTo>
                <a:cubicBezTo>
                  <a:pt x="3111" y="3998"/>
                  <a:pt x="2365" y="4117"/>
                  <a:pt x="1779" y="4108"/>
                </a:cubicBezTo>
                <a:cubicBezTo>
                  <a:pt x="1443" y="3712"/>
                  <a:pt x="1240" y="3201"/>
                  <a:pt x="1240" y="2642"/>
                </a:cubicBezTo>
                <a:cubicBezTo>
                  <a:pt x="1240" y="1393"/>
                  <a:pt x="2256" y="376"/>
                  <a:pt x="3507" y="376"/>
                </a:cubicBezTo>
                <a:cubicBezTo>
                  <a:pt x="4756" y="376"/>
                  <a:pt x="5773" y="1393"/>
                  <a:pt x="5773" y="2642"/>
                </a:cubicBezTo>
                <a:cubicBezTo>
                  <a:pt x="5773" y="2664"/>
                  <a:pt x="5772" y="2684"/>
                  <a:pt x="5772" y="2705"/>
                </a:cubicBezTo>
                <a:close/>
                <a:moveTo>
                  <a:pt x="6133" y="2364"/>
                </a:moveTo>
                <a:cubicBezTo>
                  <a:pt x="6079" y="1849"/>
                  <a:pt x="5877" y="1380"/>
                  <a:pt x="5571" y="996"/>
                </a:cubicBezTo>
                <a:cubicBezTo>
                  <a:pt x="6067" y="1053"/>
                  <a:pt x="6401" y="1221"/>
                  <a:pt x="6491" y="1472"/>
                </a:cubicBezTo>
                <a:cubicBezTo>
                  <a:pt x="6573" y="1704"/>
                  <a:pt x="6443" y="2024"/>
                  <a:pt x="6133" y="2364"/>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147" name="文本框 146">
            <a:extLst>
              <a:ext uri="{FF2B5EF4-FFF2-40B4-BE49-F238E27FC236}">
                <a16:creationId xmlns:a16="http://schemas.microsoft.com/office/drawing/2014/main" id="{7C038CEB-531E-47A1-B845-F3E0DC85F593}"/>
              </a:ext>
            </a:extLst>
          </p:cNvPr>
          <p:cNvSpPr txBox="1"/>
          <p:nvPr/>
        </p:nvSpPr>
        <p:spPr>
          <a:xfrm>
            <a:off x="373082" y="4935387"/>
            <a:ext cx="1660612" cy="338554"/>
          </a:xfrm>
          <a:prstGeom prst="rect">
            <a:avLst/>
          </a:prstGeom>
          <a:noFill/>
        </p:spPr>
        <p:txBody>
          <a:bodyPr wrap="square" rtlCol="0">
            <a:spAutoFit/>
          </a:bodyPr>
          <a:lstStyle/>
          <a:p>
            <a:r>
              <a:rPr lang="zh-CN" altLang="en-US" sz="1600" dirty="0">
                <a:solidFill>
                  <a:schemeClr val="bg1"/>
                </a:solidFill>
                <a:latin typeface="思源黑体 CN Regular" panose="020B0500000000000000" pitchFamily="34" charset="-122"/>
                <a:ea typeface="思源黑体 CN Regular" panose="020B0500000000000000" pitchFamily="34" charset="-122"/>
              </a:rPr>
              <a:t>已开展工作</a:t>
            </a:r>
          </a:p>
        </p:txBody>
      </p:sp>
      <p:sp>
        <p:nvSpPr>
          <p:cNvPr id="148" name="任意矩形：005">
            <a:extLst>
              <a:ext uri="{FF2B5EF4-FFF2-40B4-BE49-F238E27FC236}">
                <a16:creationId xmlns:a16="http://schemas.microsoft.com/office/drawing/2014/main" id="{99252D93-410D-4C94-81F6-44AF28898A3F}"/>
              </a:ext>
            </a:extLst>
          </p:cNvPr>
          <p:cNvSpPr/>
          <p:nvPr/>
        </p:nvSpPr>
        <p:spPr>
          <a:xfrm>
            <a:off x="123946" y="4988361"/>
            <a:ext cx="201734" cy="201828"/>
          </a:xfrm>
          <a:custGeom>
            <a:avLst/>
            <a:gdLst>
              <a:gd name="T0" fmla="*/ 278945 h 440259"/>
              <a:gd name="T1" fmla="*/ 278945 h 440259"/>
              <a:gd name="T2" fmla="*/ 278945 h 440259"/>
              <a:gd name="T3" fmla="*/ 278945 h 440259"/>
              <a:gd name="T4" fmla="*/ 278945 h 440259"/>
              <a:gd name="T5" fmla="*/ 278945 h 440259"/>
              <a:gd name="T6" fmla="*/ 278945 h 440259"/>
              <a:gd name="T7" fmla="*/ 278945 h 440259"/>
              <a:gd name="T8" fmla="*/ 278945 h 440259"/>
              <a:gd name="T9" fmla="*/ 278945 h 440259"/>
              <a:gd name="T10" fmla="*/ 278945 h 440259"/>
              <a:gd name="T11" fmla="*/ 278945 h 440259"/>
              <a:gd name="T12" fmla="*/ 278945 h 440259"/>
              <a:gd name="T13" fmla="*/ 278945 h 440259"/>
              <a:gd name="T14" fmla="*/ 278945 h 440259"/>
              <a:gd name="T15" fmla="*/ 278945 h 440259"/>
              <a:gd name="T16" fmla="*/ 278945 h 440259"/>
              <a:gd name="T17" fmla="*/ 278945 h 440259"/>
              <a:gd name="T18" fmla="*/ 278945 h 440259"/>
              <a:gd name="T19" fmla="*/ 278945 h 440259"/>
              <a:gd name="T20" fmla="*/ 278945 h 440259"/>
              <a:gd name="T21" fmla="*/ 278945 h 440259"/>
              <a:gd name="T22" fmla="*/ 278945 h 440259"/>
              <a:gd name="T23" fmla="*/ 278945 h 440259"/>
              <a:gd name="T24" fmla="*/ 278945 h 440259"/>
              <a:gd name="T25" fmla="*/ 278945 h 440259"/>
              <a:gd name="T26" fmla="*/ 278945 h 440259"/>
              <a:gd name="T27" fmla="*/ 278945 h 440259"/>
              <a:gd name="T28" fmla="*/ 278945 h 440259"/>
              <a:gd name="T29" fmla="*/ 278945 h 440259"/>
              <a:gd name="T30" fmla="*/ 278945 h 440259"/>
              <a:gd name="T31" fmla="*/ 278945 h 440259"/>
              <a:gd name="T32" fmla="*/ 278945 h 440259"/>
              <a:gd name="T33" fmla="*/ 278945 h 440259"/>
              <a:gd name="T34" fmla="*/ 278945 h 440259"/>
              <a:gd name="T35" fmla="*/ 278945 h 440259"/>
              <a:gd name="T36" fmla="*/ 278945 h 440259"/>
              <a:gd name="T37" fmla="*/ 278945 h 440259"/>
              <a:gd name="T38" fmla="*/ 278945 h 440259"/>
              <a:gd name="T39" fmla="*/ 278945 h 440259"/>
              <a:gd name="T40" fmla="*/ 278945 h 440259"/>
              <a:gd name="T41" fmla="*/ 278945 h 440259"/>
              <a:gd name="T42" fmla="*/ 278945 h 440259"/>
              <a:gd name="T43" fmla="*/ 278945 h 440259"/>
              <a:gd name="T44" fmla="*/ 278945 h 440259"/>
              <a:gd name="T45" fmla="*/ 278945 h 440259"/>
              <a:gd name="T46" fmla="*/ 278945 h 440259"/>
              <a:gd name="T47" fmla="*/ 278945 h 440259"/>
              <a:gd name="T48" fmla="*/ 278945 h 440259"/>
              <a:gd name="T49" fmla="*/ 278945 h 440259"/>
              <a:gd name="T50" fmla="*/ 278945 h 440259"/>
              <a:gd name="T51" fmla="*/ 278945 h 440259"/>
              <a:gd name="T52" fmla="*/ 278945 h 440259"/>
              <a:gd name="T53" fmla="*/ 278945 h 440259"/>
              <a:gd name="T54" fmla="*/ 278945 h 440259"/>
              <a:gd name="T55" fmla="*/ 278945 h 440259"/>
              <a:gd name="T56" fmla="*/ 278945 h 440259"/>
              <a:gd name="T57" fmla="*/ 278945 h 440259"/>
              <a:gd name="T58" fmla="*/ 278945 h 440259"/>
              <a:gd name="T59" fmla="*/ 278945 h 440259"/>
              <a:gd name="T60" fmla="*/ 278945 h 440259"/>
              <a:gd name="T61" fmla="*/ 278945 h 440259"/>
              <a:gd name="T62" fmla="*/ 278945 h 440259"/>
              <a:gd name="T63" fmla="*/ 278945 h 440259"/>
              <a:gd name="T64" fmla="*/ 278945 h 440259"/>
              <a:gd name="T65" fmla="*/ 278945 h 440259"/>
              <a:gd name="T66" fmla="*/ 278945 h 440259"/>
              <a:gd name="T67" fmla="*/ 278945 h 440259"/>
              <a:gd name="T68" fmla="*/ 278945 h 440259"/>
              <a:gd name="T69" fmla="*/ 278945 h 440259"/>
              <a:gd name="T70" fmla="*/ 278945 h 440259"/>
              <a:gd name="T71" fmla="*/ 278945 h 440259"/>
              <a:gd name="T72" fmla="*/ 278945 h 440259"/>
              <a:gd name="T73" fmla="*/ 278945 h 440259"/>
              <a:gd name="T74" fmla="*/ 278945 h 440259"/>
              <a:gd name="T75" fmla="*/ 278945 h 440259"/>
              <a:gd name="T76" fmla="*/ 278945 h 440259"/>
              <a:gd name="T77" fmla="*/ 278945 h 440259"/>
              <a:gd name="T78" fmla="*/ 278945 h 440259"/>
              <a:gd name="T79" fmla="*/ 278945 h 440259"/>
              <a:gd name="T80" fmla="*/ 278945 h 440259"/>
              <a:gd name="T81" fmla="*/ 278945 h 440259"/>
              <a:gd name="T82" fmla="*/ 278945 h 440259"/>
              <a:gd name="T83" fmla="*/ 278945 h 440259"/>
              <a:gd name="T84" fmla="*/ 88862 h 440259"/>
              <a:gd name="T85" fmla="*/ 88862 h 440259"/>
              <a:gd name="T86" fmla="*/ 278945 h 440259"/>
              <a:gd name="T87" fmla="*/ 278945 h 44025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Lst>
            <a:rect l="0" t="0" r="r" b="b"/>
            <a:pathLst>
              <a:path w="6495" h="6508">
                <a:moveTo>
                  <a:pt x="6495" y="203"/>
                </a:moveTo>
                <a:lnTo>
                  <a:pt x="6495" y="197"/>
                </a:lnTo>
                <a:cubicBezTo>
                  <a:pt x="6495" y="193"/>
                  <a:pt x="6493" y="191"/>
                  <a:pt x="6493" y="187"/>
                </a:cubicBezTo>
                <a:cubicBezTo>
                  <a:pt x="6493" y="184"/>
                  <a:pt x="6493" y="181"/>
                  <a:pt x="6492" y="179"/>
                </a:cubicBezTo>
                <a:cubicBezTo>
                  <a:pt x="6492" y="176"/>
                  <a:pt x="6491" y="173"/>
                  <a:pt x="6491" y="172"/>
                </a:cubicBezTo>
                <a:cubicBezTo>
                  <a:pt x="6489" y="169"/>
                  <a:pt x="6489" y="165"/>
                  <a:pt x="6488" y="163"/>
                </a:cubicBezTo>
                <a:cubicBezTo>
                  <a:pt x="6488" y="161"/>
                  <a:pt x="6487" y="160"/>
                  <a:pt x="6487" y="157"/>
                </a:cubicBezTo>
                <a:lnTo>
                  <a:pt x="6483" y="145"/>
                </a:lnTo>
                <a:cubicBezTo>
                  <a:pt x="6483" y="144"/>
                  <a:pt x="6481" y="144"/>
                  <a:pt x="6481" y="143"/>
                </a:cubicBezTo>
                <a:cubicBezTo>
                  <a:pt x="6480" y="139"/>
                  <a:pt x="6477" y="133"/>
                  <a:pt x="6475" y="129"/>
                </a:cubicBezTo>
                <a:cubicBezTo>
                  <a:pt x="6475" y="128"/>
                  <a:pt x="6473" y="127"/>
                  <a:pt x="6473" y="127"/>
                </a:cubicBezTo>
                <a:cubicBezTo>
                  <a:pt x="6471" y="123"/>
                  <a:pt x="6469" y="119"/>
                  <a:pt x="6467" y="115"/>
                </a:cubicBezTo>
                <a:cubicBezTo>
                  <a:pt x="6457" y="101"/>
                  <a:pt x="6447" y="89"/>
                  <a:pt x="6435" y="79"/>
                </a:cubicBezTo>
                <a:cubicBezTo>
                  <a:pt x="6385" y="23"/>
                  <a:pt x="6304" y="0"/>
                  <a:pt x="6231" y="31"/>
                </a:cubicBezTo>
                <a:lnTo>
                  <a:pt x="112" y="2559"/>
                </a:lnTo>
                <a:cubicBezTo>
                  <a:pt x="111" y="2560"/>
                  <a:pt x="108" y="2560"/>
                  <a:pt x="107" y="2561"/>
                </a:cubicBezTo>
                <a:cubicBezTo>
                  <a:pt x="103" y="2563"/>
                  <a:pt x="100" y="2564"/>
                  <a:pt x="96" y="2567"/>
                </a:cubicBezTo>
                <a:lnTo>
                  <a:pt x="88" y="2571"/>
                </a:lnTo>
                <a:cubicBezTo>
                  <a:pt x="85" y="2572"/>
                  <a:pt x="83" y="2573"/>
                  <a:pt x="80" y="2576"/>
                </a:cubicBezTo>
                <a:cubicBezTo>
                  <a:pt x="77" y="2577"/>
                  <a:pt x="75" y="2580"/>
                  <a:pt x="72" y="2581"/>
                </a:cubicBezTo>
                <a:cubicBezTo>
                  <a:pt x="69" y="2583"/>
                  <a:pt x="68" y="2584"/>
                  <a:pt x="65" y="2587"/>
                </a:cubicBezTo>
                <a:cubicBezTo>
                  <a:pt x="63" y="2588"/>
                  <a:pt x="61" y="2591"/>
                  <a:pt x="59" y="2593"/>
                </a:cubicBezTo>
                <a:cubicBezTo>
                  <a:pt x="56" y="2595"/>
                  <a:pt x="55" y="2597"/>
                  <a:pt x="52" y="2599"/>
                </a:cubicBezTo>
                <a:lnTo>
                  <a:pt x="45" y="2605"/>
                </a:lnTo>
                <a:cubicBezTo>
                  <a:pt x="44" y="2608"/>
                  <a:pt x="41" y="2609"/>
                  <a:pt x="40" y="2612"/>
                </a:cubicBezTo>
                <a:cubicBezTo>
                  <a:pt x="39" y="2615"/>
                  <a:pt x="36" y="2617"/>
                  <a:pt x="35" y="2619"/>
                </a:cubicBezTo>
                <a:cubicBezTo>
                  <a:pt x="33" y="2621"/>
                  <a:pt x="31" y="2623"/>
                  <a:pt x="29" y="2625"/>
                </a:cubicBezTo>
                <a:cubicBezTo>
                  <a:pt x="28" y="2628"/>
                  <a:pt x="25" y="2631"/>
                  <a:pt x="24" y="2633"/>
                </a:cubicBezTo>
                <a:cubicBezTo>
                  <a:pt x="23" y="2636"/>
                  <a:pt x="21" y="2637"/>
                  <a:pt x="20" y="2640"/>
                </a:cubicBezTo>
                <a:cubicBezTo>
                  <a:pt x="17" y="2644"/>
                  <a:pt x="16" y="2648"/>
                  <a:pt x="15" y="2652"/>
                </a:cubicBezTo>
                <a:cubicBezTo>
                  <a:pt x="15" y="2653"/>
                  <a:pt x="13" y="2655"/>
                  <a:pt x="12" y="2656"/>
                </a:cubicBezTo>
                <a:lnTo>
                  <a:pt x="12" y="2656"/>
                </a:lnTo>
                <a:cubicBezTo>
                  <a:pt x="9" y="2661"/>
                  <a:pt x="8" y="2667"/>
                  <a:pt x="7" y="2672"/>
                </a:cubicBezTo>
                <a:lnTo>
                  <a:pt x="7" y="2673"/>
                </a:lnTo>
                <a:cubicBezTo>
                  <a:pt x="5" y="2679"/>
                  <a:pt x="4" y="2684"/>
                  <a:pt x="3" y="2691"/>
                </a:cubicBezTo>
                <a:cubicBezTo>
                  <a:pt x="3" y="2693"/>
                  <a:pt x="1" y="2696"/>
                  <a:pt x="1" y="2699"/>
                </a:cubicBezTo>
                <a:cubicBezTo>
                  <a:pt x="1" y="2701"/>
                  <a:pt x="0" y="2705"/>
                  <a:pt x="0" y="2708"/>
                </a:cubicBezTo>
                <a:lnTo>
                  <a:pt x="0" y="2716"/>
                </a:lnTo>
                <a:lnTo>
                  <a:pt x="0" y="2725"/>
                </a:lnTo>
                <a:lnTo>
                  <a:pt x="0" y="2733"/>
                </a:lnTo>
                <a:lnTo>
                  <a:pt x="0" y="2743"/>
                </a:lnTo>
                <a:cubicBezTo>
                  <a:pt x="0" y="2745"/>
                  <a:pt x="1" y="2748"/>
                  <a:pt x="1" y="2749"/>
                </a:cubicBezTo>
                <a:cubicBezTo>
                  <a:pt x="1" y="2753"/>
                  <a:pt x="3" y="2756"/>
                  <a:pt x="3" y="2760"/>
                </a:cubicBezTo>
                <a:cubicBezTo>
                  <a:pt x="4" y="2764"/>
                  <a:pt x="4" y="2768"/>
                  <a:pt x="5" y="2772"/>
                </a:cubicBezTo>
                <a:cubicBezTo>
                  <a:pt x="7" y="2775"/>
                  <a:pt x="7" y="2777"/>
                  <a:pt x="8" y="2780"/>
                </a:cubicBezTo>
                <a:cubicBezTo>
                  <a:pt x="9" y="2784"/>
                  <a:pt x="11" y="2789"/>
                  <a:pt x="13" y="2793"/>
                </a:cubicBezTo>
                <a:lnTo>
                  <a:pt x="13" y="2793"/>
                </a:lnTo>
                <a:cubicBezTo>
                  <a:pt x="15" y="2799"/>
                  <a:pt x="17" y="2803"/>
                  <a:pt x="20" y="2807"/>
                </a:cubicBezTo>
                <a:cubicBezTo>
                  <a:pt x="20" y="2808"/>
                  <a:pt x="21" y="2809"/>
                  <a:pt x="21" y="2809"/>
                </a:cubicBezTo>
                <a:cubicBezTo>
                  <a:pt x="23" y="2813"/>
                  <a:pt x="25" y="2816"/>
                  <a:pt x="28" y="2820"/>
                </a:cubicBezTo>
                <a:cubicBezTo>
                  <a:pt x="29" y="2821"/>
                  <a:pt x="29" y="2823"/>
                  <a:pt x="31" y="2824"/>
                </a:cubicBezTo>
                <a:cubicBezTo>
                  <a:pt x="33" y="2828"/>
                  <a:pt x="35" y="2831"/>
                  <a:pt x="37" y="2833"/>
                </a:cubicBezTo>
                <a:cubicBezTo>
                  <a:pt x="39" y="2835"/>
                  <a:pt x="39" y="2836"/>
                  <a:pt x="40" y="2836"/>
                </a:cubicBezTo>
                <a:cubicBezTo>
                  <a:pt x="44" y="2840"/>
                  <a:pt x="47" y="2844"/>
                  <a:pt x="51" y="2848"/>
                </a:cubicBezTo>
                <a:lnTo>
                  <a:pt x="51" y="2848"/>
                </a:lnTo>
                <a:cubicBezTo>
                  <a:pt x="55" y="2852"/>
                  <a:pt x="59" y="2855"/>
                  <a:pt x="63" y="2859"/>
                </a:cubicBezTo>
                <a:cubicBezTo>
                  <a:pt x="64" y="2860"/>
                  <a:pt x="65" y="2861"/>
                  <a:pt x="67" y="2861"/>
                </a:cubicBezTo>
                <a:cubicBezTo>
                  <a:pt x="69" y="2864"/>
                  <a:pt x="73" y="2867"/>
                  <a:pt x="76" y="2868"/>
                </a:cubicBezTo>
                <a:cubicBezTo>
                  <a:pt x="77" y="2869"/>
                  <a:pt x="79" y="2869"/>
                  <a:pt x="80" y="2871"/>
                </a:cubicBezTo>
                <a:cubicBezTo>
                  <a:pt x="84" y="2873"/>
                  <a:pt x="89" y="2876"/>
                  <a:pt x="93" y="2879"/>
                </a:cubicBezTo>
                <a:cubicBezTo>
                  <a:pt x="95" y="2879"/>
                  <a:pt x="95" y="2880"/>
                  <a:pt x="96" y="2880"/>
                </a:cubicBezTo>
                <a:cubicBezTo>
                  <a:pt x="100" y="2883"/>
                  <a:pt x="104" y="2884"/>
                  <a:pt x="109" y="2887"/>
                </a:cubicBezTo>
                <a:cubicBezTo>
                  <a:pt x="111" y="2887"/>
                  <a:pt x="111" y="2888"/>
                  <a:pt x="112" y="2888"/>
                </a:cubicBezTo>
                <a:lnTo>
                  <a:pt x="2579" y="3933"/>
                </a:lnTo>
                <a:lnTo>
                  <a:pt x="3624" y="6400"/>
                </a:lnTo>
                <a:cubicBezTo>
                  <a:pt x="3625" y="6405"/>
                  <a:pt x="3628" y="6409"/>
                  <a:pt x="3631" y="6413"/>
                </a:cubicBezTo>
                <a:cubicBezTo>
                  <a:pt x="3631" y="6415"/>
                  <a:pt x="3632" y="6416"/>
                  <a:pt x="3632" y="6416"/>
                </a:cubicBezTo>
                <a:cubicBezTo>
                  <a:pt x="3635" y="6420"/>
                  <a:pt x="3636" y="6423"/>
                  <a:pt x="3639" y="6427"/>
                </a:cubicBezTo>
                <a:cubicBezTo>
                  <a:pt x="3640" y="6428"/>
                  <a:pt x="3640" y="6429"/>
                  <a:pt x="3641" y="6431"/>
                </a:cubicBezTo>
                <a:cubicBezTo>
                  <a:pt x="3644" y="6435"/>
                  <a:pt x="3647" y="6437"/>
                  <a:pt x="3648" y="6440"/>
                </a:cubicBezTo>
                <a:cubicBezTo>
                  <a:pt x="3649" y="6441"/>
                  <a:pt x="3649" y="6443"/>
                  <a:pt x="3651" y="6443"/>
                </a:cubicBezTo>
                <a:cubicBezTo>
                  <a:pt x="3655" y="6447"/>
                  <a:pt x="3657" y="6451"/>
                  <a:pt x="3661" y="6455"/>
                </a:cubicBezTo>
                <a:lnTo>
                  <a:pt x="3663" y="6456"/>
                </a:lnTo>
                <a:cubicBezTo>
                  <a:pt x="3667" y="6459"/>
                  <a:pt x="3669" y="6463"/>
                  <a:pt x="3673" y="6465"/>
                </a:cubicBezTo>
                <a:cubicBezTo>
                  <a:pt x="3675" y="6467"/>
                  <a:pt x="3676" y="6468"/>
                  <a:pt x="3677" y="6468"/>
                </a:cubicBezTo>
                <a:cubicBezTo>
                  <a:pt x="3680" y="6471"/>
                  <a:pt x="3684" y="6473"/>
                  <a:pt x="3687" y="6475"/>
                </a:cubicBezTo>
                <a:cubicBezTo>
                  <a:pt x="3688" y="6476"/>
                  <a:pt x="3689" y="6476"/>
                  <a:pt x="3691" y="6477"/>
                </a:cubicBezTo>
                <a:cubicBezTo>
                  <a:pt x="3695" y="6480"/>
                  <a:pt x="3700" y="6483"/>
                  <a:pt x="3704" y="6485"/>
                </a:cubicBezTo>
                <a:cubicBezTo>
                  <a:pt x="3705" y="6485"/>
                  <a:pt x="3707" y="6487"/>
                  <a:pt x="3707" y="6487"/>
                </a:cubicBezTo>
                <a:cubicBezTo>
                  <a:pt x="3711" y="6489"/>
                  <a:pt x="3715" y="6491"/>
                  <a:pt x="3719" y="6492"/>
                </a:cubicBezTo>
                <a:cubicBezTo>
                  <a:pt x="3720" y="6492"/>
                  <a:pt x="3720" y="6493"/>
                  <a:pt x="3721" y="6493"/>
                </a:cubicBezTo>
                <a:cubicBezTo>
                  <a:pt x="3721" y="6493"/>
                  <a:pt x="3723" y="6493"/>
                  <a:pt x="3723" y="6495"/>
                </a:cubicBezTo>
                <a:cubicBezTo>
                  <a:pt x="3727" y="6496"/>
                  <a:pt x="3732" y="6499"/>
                  <a:pt x="3736" y="6500"/>
                </a:cubicBezTo>
                <a:lnTo>
                  <a:pt x="3737" y="6500"/>
                </a:lnTo>
                <a:cubicBezTo>
                  <a:pt x="3743" y="6501"/>
                  <a:pt x="3747" y="6503"/>
                  <a:pt x="3752" y="6504"/>
                </a:cubicBezTo>
                <a:cubicBezTo>
                  <a:pt x="3753" y="6504"/>
                  <a:pt x="3756" y="6504"/>
                  <a:pt x="3757" y="6505"/>
                </a:cubicBezTo>
                <a:cubicBezTo>
                  <a:pt x="3761" y="6505"/>
                  <a:pt x="3764" y="6507"/>
                  <a:pt x="3768" y="6507"/>
                </a:cubicBezTo>
                <a:lnTo>
                  <a:pt x="3773" y="6507"/>
                </a:lnTo>
                <a:cubicBezTo>
                  <a:pt x="3779" y="6507"/>
                  <a:pt x="3783" y="6508"/>
                  <a:pt x="3788" y="6508"/>
                </a:cubicBezTo>
                <a:lnTo>
                  <a:pt x="3788" y="6508"/>
                </a:lnTo>
                <a:lnTo>
                  <a:pt x="3788" y="6508"/>
                </a:lnTo>
                <a:lnTo>
                  <a:pt x="3788" y="6508"/>
                </a:lnTo>
                <a:lnTo>
                  <a:pt x="3788" y="6508"/>
                </a:lnTo>
                <a:cubicBezTo>
                  <a:pt x="3793" y="6508"/>
                  <a:pt x="3799" y="6508"/>
                  <a:pt x="3803" y="6507"/>
                </a:cubicBezTo>
                <a:lnTo>
                  <a:pt x="3808" y="6507"/>
                </a:lnTo>
                <a:cubicBezTo>
                  <a:pt x="3812" y="6507"/>
                  <a:pt x="3816" y="6505"/>
                  <a:pt x="3819" y="6505"/>
                </a:cubicBezTo>
                <a:cubicBezTo>
                  <a:pt x="3820" y="6505"/>
                  <a:pt x="3823" y="6505"/>
                  <a:pt x="3824" y="6504"/>
                </a:cubicBezTo>
                <a:cubicBezTo>
                  <a:pt x="3829" y="6503"/>
                  <a:pt x="3835" y="6501"/>
                  <a:pt x="3839" y="6500"/>
                </a:cubicBezTo>
                <a:cubicBezTo>
                  <a:pt x="3840" y="6500"/>
                  <a:pt x="3840" y="6500"/>
                  <a:pt x="3841" y="6499"/>
                </a:cubicBezTo>
                <a:cubicBezTo>
                  <a:pt x="3845" y="6497"/>
                  <a:pt x="3851" y="6496"/>
                  <a:pt x="3855" y="6493"/>
                </a:cubicBezTo>
                <a:cubicBezTo>
                  <a:pt x="3856" y="6493"/>
                  <a:pt x="3856" y="6493"/>
                  <a:pt x="3857" y="6492"/>
                </a:cubicBezTo>
                <a:cubicBezTo>
                  <a:pt x="3859" y="6492"/>
                  <a:pt x="3859" y="6491"/>
                  <a:pt x="3860" y="6491"/>
                </a:cubicBezTo>
                <a:cubicBezTo>
                  <a:pt x="3864" y="6489"/>
                  <a:pt x="3868" y="6487"/>
                  <a:pt x="3872" y="6484"/>
                </a:cubicBezTo>
                <a:cubicBezTo>
                  <a:pt x="3873" y="6484"/>
                  <a:pt x="3873" y="6483"/>
                  <a:pt x="3875" y="6483"/>
                </a:cubicBezTo>
                <a:cubicBezTo>
                  <a:pt x="3879" y="6480"/>
                  <a:pt x="3884" y="6477"/>
                  <a:pt x="3888" y="6475"/>
                </a:cubicBezTo>
                <a:cubicBezTo>
                  <a:pt x="3889" y="6473"/>
                  <a:pt x="3891" y="6473"/>
                  <a:pt x="3892" y="6472"/>
                </a:cubicBezTo>
                <a:cubicBezTo>
                  <a:pt x="3895" y="6469"/>
                  <a:pt x="3899" y="6468"/>
                  <a:pt x="3901" y="6465"/>
                </a:cubicBezTo>
                <a:cubicBezTo>
                  <a:pt x="3903" y="6464"/>
                  <a:pt x="3904" y="6463"/>
                  <a:pt x="3905" y="6463"/>
                </a:cubicBezTo>
                <a:cubicBezTo>
                  <a:pt x="3909" y="6459"/>
                  <a:pt x="3913" y="6456"/>
                  <a:pt x="3916" y="6452"/>
                </a:cubicBezTo>
                <a:lnTo>
                  <a:pt x="3916" y="6452"/>
                </a:lnTo>
                <a:cubicBezTo>
                  <a:pt x="3920" y="6448"/>
                  <a:pt x="3923" y="6444"/>
                  <a:pt x="3927" y="6440"/>
                </a:cubicBezTo>
                <a:cubicBezTo>
                  <a:pt x="3928" y="6439"/>
                  <a:pt x="3928" y="6437"/>
                  <a:pt x="3929" y="6436"/>
                </a:cubicBezTo>
                <a:cubicBezTo>
                  <a:pt x="3932" y="6433"/>
                  <a:pt x="3935" y="6429"/>
                  <a:pt x="3936" y="6427"/>
                </a:cubicBezTo>
                <a:cubicBezTo>
                  <a:pt x="3937" y="6425"/>
                  <a:pt x="3937" y="6424"/>
                  <a:pt x="3939" y="6423"/>
                </a:cubicBezTo>
                <a:cubicBezTo>
                  <a:pt x="3941" y="6419"/>
                  <a:pt x="3943" y="6416"/>
                  <a:pt x="3945" y="6412"/>
                </a:cubicBezTo>
                <a:cubicBezTo>
                  <a:pt x="3945" y="6411"/>
                  <a:pt x="3947" y="6409"/>
                  <a:pt x="3947" y="6409"/>
                </a:cubicBezTo>
                <a:cubicBezTo>
                  <a:pt x="3949" y="6405"/>
                  <a:pt x="3951" y="6400"/>
                  <a:pt x="3953" y="6396"/>
                </a:cubicBezTo>
                <a:lnTo>
                  <a:pt x="6481" y="284"/>
                </a:lnTo>
                <a:cubicBezTo>
                  <a:pt x="6485" y="273"/>
                  <a:pt x="6489" y="261"/>
                  <a:pt x="6492" y="249"/>
                </a:cubicBezTo>
                <a:cubicBezTo>
                  <a:pt x="6493" y="245"/>
                  <a:pt x="6493" y="240"/>
                  <a:pt x="6493" y="236"/>
                </a:cubicBezTo>
                <a:lnTo>
                  <a:pt x="6493" y="232"/>
                </a:lnTo>
                <a:cubicBezTo>
                  <a:pt x="6493" y="227"/>
                  <a:pt x="6493" y="223"/>
                  <a:pt x="6495" y="217"/>
                </a:cubicBezTo>
                <a:lnTo>
                  <a:pt x="6495" y="215"/>
                </a:lnTo>
                <a:lnTo>
                  <a:pt x="6495" y="203"/>
                </a:lnTo>
                <a:close/>
                <a:moveTo>
                  <a:pt x="648" y="2727"/>
                </a:moveTo>
                <a:lnTo>
                  <a:pt x="5589" y="687"/>
                </a:lnTo>
                <a:lnTo>
                  <a:pt x="2685" y="3589"/>
                </a:lnTo>
                <a:lnTo>
                  <a:pt x="648" y="2727"/>
                </a:lnTo>
                <a:close/>
                <a:moveTo>
                  <a:pt x="3787" y="5865"/>
                </a:moveTo>
                <a:lnTo>
                  <a:pt x="2933" y="3851"/>
                </a:lnTo>
                <a:lnTo>
                  <a:pt x="5804" y="981"/>
                </a:lnTo>
                <a:lnTo>
                  <a:pt x="3787" y="5865"/>
                </a:ln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151" name="文本框 150">
            <a:extLst>
              <a:ext uri="{FF2B5EF4-FFF2-40B4-BE49-F238E27FC236}">
                <a16:creationId xmlns:a16="http://schemas.microsoft.com/office/drawing/2014/main" id="{E1128E9D-9C28-464D-93D4-4DD07F9754CD}"/>
              </a:ext>
            </a:extLst>
          </p:cNvPr>
          <p:cNvSpPr txBox="1"/>
          <p:nvPr/>
        </p:nvSpPr>
        <p:spPr>
          <a:xfrm>
            <a:off x="373082" y="5620123"/>
            <a:ext cx="1660612" cy="338554"/>
          </a:xfrm>
          <a:prstGeom prst="rect">
            <a:avLst/>
          </a:prstGeom>
          <a:noFill/>
        </p:spPr>
        <p:txBody>
          <a:bodyPr wrap="square" rtlCol="0">
            <a:spAutoFit/>
          </a:bodyPr>
          <a:lstStyle/>
          <a:p>
            <a:r>
              <a:rPr lang="zh-CN" altLang="en-US" sz="1600" dirty="0">
                <a:solidFill>
                  <a:schemeClr val="bg1"/>
                </a:solidFill>
                <a:latin typeface="思源黑体 CN Regular" panose="020B0500000000000000" pitchFamily="34" charset="-122"/>
                <a:ea typeface="思源黑体 CN Regular" panose="020B0500000000000000" pitchFamily="34" charset="-122"/>
              </a:rPr>
              <a:t>预期成果</a:t>
            </a:r>
          </a:p>
        </p:txBody>
      </p:sp>
      <p:sp>
        <p:nvSpPr>
          <p:cNvPr id="152" name="任意矩形：006">
            <a:extLst>
              <a:ext uri="{FF2B5EF4-FFF2-40B4-BE49-F238E27FC236}">
                <a16:creationId xmlns:a16="http://schemas.microsoft.com/office/drawing/2014/main" id="{88873725-57EC-44F8-84A1-D8E580CF92C5}"/>
              </a:ext>
            </a:extLst>
          </p:cNvPr>
          <p:cNvSpPr/>
          <p:nvPr/>
        </p:nvSpPr>
        <p:spPr>
          <a:xfrm>
            <a:off x="125661" y="5689964"/>
            <a:ext cx="203662" cy="187126"/>
          </a:xfrm>
          <a:custGeom>
            <a:avLst/>
            <a:gdLst>
              <a:gd name="T0" fmla="*/ 11834 w 13933"/>
              <a:gd name="T1" fmla="*/ 1094 h 12800"/>
              <a:gd name="T2" fmla="*/ 10384 w 13933"/>
              <a:gd name="T3" fmla="*/ 1094 h 12800"/>
              <a:gd name="T4" fmla="*/ 10384 w 13933"/>
              <a:gd name="T5" fmla="*/ 315 h 12800"/>
              <a:gd name="T6" fmla="*/ 10069 w 13933"/>
              <a:gd name="T7" fmla="*/ 0 h 12800"/>
              <a:gd name="T8" fmla="*/ 9754 w 13933"/>
              <a:gd name="T9" fmla="*/ 315 h 12800"/>
              <a:gd name="T10" fmla="*/ 9754 w 13933"/>
              <a:gd name="T11" fmla="*/ 1094 h 12800"/>
              <a:gd name="T12" fmla="*/ 4056 w 13933"/>
              <a:gd name="T13" fmla="*/ 1094 h 12800"/>
              <a:gd name="T14" fmla="*/ 4056 w 13933"/>
              <a:gd name="T15" fmla="*/ 315 h 12800"/>
              <a:gd name="T16" fmla="*/ 3741 w 13933"/>
              <a:gd name="T17" fmla="*/ 0 h 12800"/>
              <a:gd name="T18" fmla="*/ 3426 w 13933"/>
              <a:gd name="T19" fmla="*/ 315 h 12800"/>
              <a:gd name="T20" fmla="*/ 3426 w 13933"/>
              <a:gd name="T21" fmla="*/ 1094 h 12800"/>
              <a:gd name="T22" fmla="*/ 2099 w 13933"/>
              <a:gd name="T23" fmla="*/ 1094 h 12800"/>
              <a:gd name="T24" fmla="*/ 0 w 13933"/>
              <a:gd name="T25" fmla="*/ 3193 h 12800"/>
              <a:gd name="T26" fmla="*/ 0 w 13933"/>
              <a:gd name="T27" fmla="*/ 10701 h 12800"/>
              <a:gd name="T28" fmla="*/ 2099 w 13933"/>
              <a:gd name="T29" fmla="*/ 12800 h 12800"/>
              <a:gd name="T30" fmla="*/ 11834 w 13933"/>
              <a:gd name="T31" fmla="*/ 12800 h 12800"/>
              <a:gd name="T32" fmla="*/ 13933 w 13933"/>
              <a:gd name="T33" fmla="*/ 10701 h 12800"/>
              <a:gd name="T34" fmla="*/ 13933 w 13933"/>
              <a:gd name="T35" fmla="*/ 3193 h 12800"/>
              <a:gd name="T36" fmla="*/ 11834 w 13933"/>
              <a:gd name="T37" fmla="*/ 1094 h 12800"/>
              <a:gd name="T38" fmla="*/ 2099 w 13933"/>
              <a:gd name="T39" fmla="*/ 1933 h 12800"/>
              <a:gd name="T40" fmla="*/ 3426 w 13933"/>
              <a:gd name="T41" fmla="*/ 1933 h 12800"/>
              <a:gd name="T42" fmla="*/ 3426 w 13933"/>
              <a:gd name="T43" fmla="*/ 2757 h 12800"/>
              <a:gd name="T44" fmla="*/ 3741 w 13933"/>
              <a:gd name="T45" fmla="*/ 3072 h 12800"/>
              <a:gd name="T46" fmla="*/ 4056 w 13933"/>
              <a:gd name="T47" fmla="*/ 2757 h 12800"/>
              <a:gd name="T48" fmla="*/ 4056 w 13933"/>
              <a:gd name="T49" fmla="*/ 1933 h 12800"/>
              <a:gd name="T50" fmla="*/ 9754 w 13933"/>
              <a:gd name="T51" fmla="*/ 1933 h 12800"/>
              <a:gd name="T52" fmla="*/ 9754 w 13933"/>
              <a:gd name="T53" fmla="*/ 2757 h 12800"/>
              <a:gd name="T54" fmla="*/ 10069 w 13933"/>
              <a:gd name="T55" fmla="*/ 3072 h 12800"/>
              <a:gd name="T56" fmla="*/ 10384 w 13933"/>
              <a:gd name="T57" fmla="*/ 2757 h 12800"/>
              <a:gd name="T58" fmla="*/ 10384 w 13933"/>
              <a:gd name="T59" fmla="*/ 1933 h 12800"/>
              <a:gd name="T60" fmla="*/ 11834 w 13933"/>
              <a:gd name="T61" fmla="*/ 1933 h 12800"/>
              <a:gd name="T62" fmla="*/ 13094 w 13933"/>
              <a:gd name="T63" fmla="*/ 3193 h 12800"/>
              <a:gd name="T64" fmla="*/ 13094 w 13933"/>
              <a:gd name="T65" fmla="*/ 4646 h 12800"/>
              <a:gd name="T66" fmla="*/ 840 w 13933"/>
              <a:gd name="T67" fmla="*/ 4646 h 12800"/>
              <a:gd name="T68" fmla="*/ 840 w 13933"/>
              <a:gd name="T69" fmla="*/ 3193 h 12800"/>
              <a:gd name="T70" fmla="*/ 2099 w 13933"/>
              <a:gd name="T71" fmla="*/ 1933 h 12800"/>
              <a:gd name="T72" fmla="*/ 11834 w 13933"/>
              <a:gd name="T73" fmla="*/ 11960 h 12800"/>
              <a:gd name="T74" fmla="*/ 2099 w 13933"/>
              <a:gd name="T75" fmla="*/ 11960 h 12800"/>
              <a:gd name="T76" fmla="*/ 840 w 13933"/>
              <a:gd name="T77" fmla="*/ 10701 h 12800"/>
              <a:gd name="T78" fmla="*/ 840 w 13933"/>
              <a:gd name="T79" fmla="*/ 5276 h 12800"/>
              <a:gd name="T80" fmla="*/ 13094 w 13933"/>
              <a:gd name="T81" fmla="*/ 5276 h 12800"/>
              <a:gd name="T82" fmla="*/ 13094 w 13933"/>
              <a:gd name="T83" fmla="*/ 10701 h 12800"/>
              <a:gd name="T84" fmla="*/ 11834 w 13933"/>
              <a:gd name="T85" fmla="*/ 11960 h 128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Lst>
            <a:rect l="0" t="0" r="r" b="b"/>
            <a:pathLst>
              <a:path w="13933" h="12800">
                <a:moveTo>
                  <a:pt x="11834" y="1094"/>
                </a:moveTo>
                <a:lnTo>
                  <a:pt x="10384" y="1094"/>
                </a:lnTo>
                <a:lnTo>
                  <a:pt x="10384" y="315"/>
                </a:lnTo>
                <a:cubicBezTo>
                  <a:pt x="10384" y="141"/>
                  <a:pt x="10243" y="0"/>
                  <a:pt x="10069" y="0"/>
                </a:cubicBezTo>
                <a:cubicBezTo>
                  <a:pt x="9895" y="0"/>
                  <a:pt x="9754" y="141"/>
                  <a:pt x="9754" y="315"/>
                </a:cubicBezTo>
                <a:lnTo>
                  <a:pt x="9754" y="1094"/>
                </a:lnTo>
                <a:lnTo>
                  <a:pt x="4056" y="1094"/>
                </a:lnTo>
                <a:lnTo>
                  <a:pt x="4056" y="315"/>
                </a:lnTo>
                <a:cubicBezTo>
                  <a:pt x="4056" y="141"/>
                  <a:pt x="3915" y="0"/>
                  <a:pt x="3741" y="0"/>
                </a:cubicBezTo>
                <a:cubicBezTo>
                  <a:pt x="3567" y="0"/>
                  <a:pt x="3426" y="141"/>
                  <a:pt x="3426" y="315"/>
                </a:cubicBezTo>
                <a:lnTo>
                  <a:pt x="3426" y="1094"/>
                </a:lnTo>
                <a:lnTo>
                  <a:pt x="2099" y="1094"/>
                </a:lnTo>
                <a:cubicBezTo>
                  <a:pt x="940" y="1095"/>
                  <a:pt x="1" y="2034"/>
                  <a:pt x="0" y="3193"/>
                </a:cubicBezTo>
                <a:lnTo>
                  <a:pt x="0" y="10701"/>
                </a:lnTo>
                <a:cubicBezTo>
                  <a:pt x="1" y="11860"/>
                  <a:pt x="940" y="12799"/>
                  <a:pt x="2099" y="12800"/>
                </a:cubicBezTo>
                <a:lnTo>
                  <a:pt x="11834" y="12800"/>
                </a:lnTo>
                <a:cubicBezTo>
                  <a:pt x="12993" y="12799"/>
                  <a:pt x="13932" y="11860"/>
                  <a:pt x="13933" y="10701"/>
                </a:cubicBezTo>
                <a:lnTo>
                  <a:pt x="13933" y="3193"/>
                </a:lnTo>
                <a:cubicBezTo>
                  <a:pt x="13932" y="2034"/>
                  <a:pt x="12993" y="1095"/>
                  <a:pt x="11834" y="1094"/>
                </a:cubicBezTo>
                <a:close/>
                <a:moveTo>
                  <a:pt x="2099" y="1933"/>
                </a:moveTo>
                <a:lnTo>
                  <a:pt x="3426" y="1933"/>
                </a:lnTo>
                <a:lnTo>
                  <a:pt x="3426" y="2757"/>
                </a:lnTo>
                <a:cubicBezTo>
                  <a:pt x="3426" y="2931"/>
                  <a:pt x="3567" y="3072"/>
                  <a:pt x="3741" y="3072"/>
                </a:cubicBezTo>
                <a:cubicBezTo>
                  <a:pt x="3915" y="3072"/>
                  <a:pt x="4056" y="2931"/>
                  <a:pt x="4056" y="2757"/>
                </a:cubicBezTo>
                <a:lnTo>
                  <a:pt x="4056" y="1933"/>
                </a:lnTo>
                <a:lnTo>
                  <a:pt x="9754" y="1933"/>
                </a:lnTo>
                <a:lnTo>
                  <a:pt x="9754" y="2757"/>
                </a:lnTo>
                <a:cubicBezTo>
                  <a:pt x="9754" y="2931"/>
                  <a:pt x="9895" y="3072"/>
                  <a:pt x="10069" y="3072"/>
                </a:cubicBezTo>
                <a:cubicBezTo>
                  <a:pt x="10243" y="3072"/>
                  <a:pt x="10384" y="2931"/>
                  <a:pt x="10384" y="2757"/>
                </a:cubicBezTo>
                <a:lnTo>
                  <a:pt x="10384" y="1933"/>
                </a:lnTo>
                <a:lnTo>
                  <a:pt x="11834" y="1933"/>
                </a:lnTo>
                <a:cubicBezTo>
                  <a:pt x="12529" y="1934"/>
                  <a:pt x="13093" y="2497"/>
                  <a:pt x="13094" y="3193"/>
                </a:cubicBezTo>
                <a:lnTo>
                  <a:pt x="13094" y="4646"/>
                </a:lnTo>
                <a:lnTo>
                  <a:pt x="840" y="4646"/>
                </a:lnTo>
                <a:lnTo>
                  <a:pt x="840" y="3193"/>
                </a:lnTo>
                <a:cubicBezTo>
                  <a:pt x="840" y="2497"/>
                  <a:pt x="1404" y="1934"/>
                  <a:pt x="2099" y="1933"/>
                </a:cubicBezTo>
                <a:close/>
                <a:moveTo>
                  <a:pt x="11834" y="11960"/>
                </a:moveTo>
                <a:lnTo>
                  <a:pt x="2099" y="11960"/>
                </a:lnTo>
                <a:cubicBezTo>
                  <a:pt x="1404" y="11960"/>
                  <a:pt x="840" y="11396"/>
                  <a:pt x="840" y="10701"/>
                </a:cubicBezTo>
                <a:lnTo>
                  <a:pt x="840" y="5276"/>
                </a:lnTo>
                <a:lnTo>
                  <a:pt x="13094" y="5276"/>
                </a:lnTo>
                <a:lnTo>
                  <a:pt x="13094" y="10701"/>
                </a:lnTo>
                <a:cubicBezTo>
                  <a:pt x="13093" y="11396"/>
                  <a:pt x="12529" y="11960"/>
                  <a:pt x="11834" y="1196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6780477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矩形: 圆角 10">
            <a:extLst>
              <a:ext uri="{FF2B5EF4-FFF2-40B4-BE49-F238E27FC236}">
                <a16:creationId xmlns:a16="http://schemas.microsoft.com/office/drawing/2014/main" id="{8BE4F5B9-0A7A-4D0C-81A2-093ACA468498}"/>
              </a:ext>
            </a:extLst>
          </p:cNvPr>
          <p:cNvSpPr/>
          <p:nvPr/>
        </p:nvSpPr>
        <p:spPr>
          <a:xfrm>
            <a:off x="2387600" y="1583472"/>
            <a:ext cx="3317760" cy="1630141"/>
          </a:xfrm>
          <a:prstGeom prst="roundRect">
            <a:avLst>
              <a:gd name="adj" fmla="val 4721"/>
            </a:avLst>
          </a:prstGeom>
          <a:solidFill>
            <a:schemeClr val="bg1"/>
          </a:solidFill>
          <a:ln w="15875">
            <a:solidFill>
              <a:schemeClr val="accent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36" name="矩形: 圆角 35">
            <a:extLst>
              <a:ext uri="{FF2B5EF4-FFF2-40B4-BE49-F238E27FC236}">
                <a16:creationId xmlns:a16="http://schemas.microsoft.com/office/drawing/2014/main" id="{D816AC51-88C8-4CB5-A267-882C3864109B}"/>
              </a:ext>
            </a:extLst>
          </p:cNvPr>
          <p:cNvSpPr/>
          <p:nvPr/>
        </p:nvSpPr>
        <p:spPr>
          <a:xfrm>
            <a:off x="5991630" y="1583472"/>
            <a:ext cx="3317760" cy="1630141"/>
          </a:xfrm>
          <a:prstGeom prst="roundRect">
            <a:avLst>
              <a:gd name="adj" fmla="val 4721"/>
            </a:avLst>
          </a:prstGeom>
          <a:solidFill>
            <a:schemeClr val="bg1"/>
          </a:solidFill>
          <a:ln w="15875">
            <a:solidFill>
              <a:schemeClr val="accent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20" name="矩形: 圆角 19">
            <a:extLst>
              <a:ext uri="{FF2B5EF4-FFF2-40B4-BE49-F238E27FC236}">
                <a16:creationId xmlns:a16="http://schemas.microsoft.com/office/drawing/2014/main" id="{555C93AF-07A7-4AC8-8081-CC514C969919}"/>
              </a:ext>
            </a:extLst>
          </p:cNvPr>
          <p:cNvSpPr/>
          <p:nvPr/>
        </p:nvSpPr>
        <p:spPr>
          <a:xfrm>
            <a:off x="2387600" y="3644387"/>
            <a:ext cx="6921790" cy="2822361"/>
          </a:xfrm>
          <a:prstGeom prst="roundRect">
            <a:avLst>
              <a:gd name="adj" fmla="val 4721"/>
            </a:avLst>
          </a:prstGeom>
          <a:solidFill>
            <a:schemeClr val="bg1"/>
          </a:solidFill>
          <a:ln w="15875">
            <a:solidFill>
              <a:schemeClr val="accent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31" name="文本框 30">
            <a:extLst>
              <a:ext uri="{FF2B5EF4-FFF2-40B4-BE49-F238E27FC236}">
                <a16:creationId xmlns:a16="http://schemas.microsoft.com/office/drawing/2014/main" id="{4E27DACB-2D00-49C3-8EBF-A9252215721A}"/>
              </a:ext>
            </a:extLst>
          </p:cNvPr>
          <p:cNvSpPr txBox="1"/>
          <p:nvPr/>
        </p:nvSpPr>
        <p:spPr>
          <a:xfrm>
            <a:off x="2501930" y="1830190"/>
            <a:ext cx="3089100" cy="1026563"/>
          </a:xfrm>
          <a:prstGeom prst="rect">
            <a:avLst/>
          </a:prstGeom>
          <a:noFill/>
        </p:spPr>
        <p:txBody>
          <a:bodyPr wrap="square" rtlCol="0">
            <a:spAutoFit/>
          </a:bodyPr>
          <a:lstStyle>
            <a:defPPr>
              <a:defRPr lang="zh-CN"/>
            </a:defPPr>
            <a:lvl1pPr marL="285750" indent="-285750">
              <a:lnSpc>
                <a:spcPct val="110000"/>
              </a:lnSpc>
              <a:buFont typeface="Wingdings" panose="05000000000000000000" pitchFamily="2" charset="2"/>
              <a:buChar char="u"/>
              <a:defRPr sz="1400">
                <a:latin typeface="思源黑体 CN Regular" panose="020B0500000000000000" pitchFamily="34" charset="-122"/>
                <a:ea typeface="思源黑体 CN Regular" panose="020B0500000000000000" pitchFamily="34" charset="-122"/>
              </a:defRPr>
            </a:lvl1pPr>
          </a:lstStyle>
          <a:p>
            <a:pPr marL="0" indent="0" algn="just">
              <a:lnSpc>
                <a:spcPct val="130000"/>
              </a:lnSpc>
              <a:buNone/>
            </a:pPr>
            <a:r>
              <a:rPr lang="zh-CN" altLang="en-US" sz="1600" dirty="0"/>
              <a:t>以小鼠骨髓来源巨噬细胞为对象，用</a:t>
            </a:r>
            <a:r>
              <a:rPr lang="en-US" altLang="zh-CN" sz="1600" dirty="0"/>
              <a:t>CRISPR/Cas9</a:t>
            </a:r>
            <a:r>
              <a:rPr lang="zh-CN" altLang="en-US" sz="1600" dirty="0"/>
              <a:t>靶向编辑</a:t>
            </a:r>
            <a:r>
              <a:rPr lang="en-US" altLang="zh-CN" sz="1600" dirty="0"/>
              <a:t>MYSM1</a:t>
            </a:r>
            <a:r>
              <a:rPr lang="zh-CN" altLang="en-US" sz="1600" dirty="0"/>
              <a:t>基因，经测序及</a:t>
            </a:r>
            <a:r>
              <a:rPr lang="en-US" altLang="zh-CN" sz="1600" dirty="0"/>
              <a:t>Western blot</a:t>
            </a:r>
            <a:r>
              <a:rPr lang="zh-CN" altLang="en-US" sz="1600" dirty="0"/>
              <a:t>验证敲除效率</a:t>
            </a:r>
          </a:p>
        </p:txBody>
      </p:sp>
      <p:sp>
        <p:nvSpPr>
          <p:cNvPr id="47" name="矩形: 圆角 46">
            <a:extLst>
              <a:ext uri="{FF2B5EF4-FFF2-40B4-BE49-F238E27FC236}">
                <a16:creationId xmlns:a16="http://schemas.microsoft.com/office/drawing/2014/main" id="{9B354758-55E9-4234-ACD6-5F97E06E2119}"/>
              </a:ext>
            </a:extLst>
          </p:cNvPr>
          <p:cNvSpPr/>
          <p:nvPr/>
        </p:nvSpPr>
        <p:spPr>
          <a:xfrm>
            <a:off x="5989122" y="1354766"/>
            <a:ext cx="3327889" cy="376049"/>
          </a:xfrm>
          <a:prstGeom prst="roundRect">
            <a:avLst/>
          </a:prstGeom>
          <a:solidFill>
            <a:schemeClr val="accent1"/>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600" b="1" dirty="0">
                <a:latin typeface="思源黑体 CN Bold" panose="020B0800000000000000" pitchFamily="34" charset="-122"/>
                <a:ea typeface="思源黑体 CN Bold" panose="020B0800000000000000" pitchFamily="34" charset="-122"/>
              </a:rPr>
              <a:t>敲除模型的初步功能检测</a:t>
            </a:r>
          </a:p>
        </p:txBody>
      </p:sp>
      <p:sp>
        <p:nvSpPr>
          <p:cNvPr id="48" name="文本框 47">
            <a:extLst>
              <a:ext uri="{FF2B5EF4-FFF2-40B4-BE49-F238E27FC236}">
                <a16:creationId xmlns:a16="http://schemas.microsoft.com/office/drawing/2014/main" id="{E21E325F-7B4A-4761-8ABA-791F68B70247}"/>
              </a:ext>
            </a:extLst>
          </p:cNvPr>
          <p:cNvSpPr txBox="1"/>
          <p:nvPr/>
        </p:nvSpPr>
        <p:spPr>
          <a:xfrm>
            <a:off x="6105960" y="1830190"/>
            <a:ext cx="3089100" cy="1026563"/>
          </a:xfrm>
          <a:prstGeom prst="rect">
            <a:avLst/>
          </a:prstGeom>
          <a:noFill/>
        </p:spPr>
        <p:txBody>
          <a:bodyPr wrap="square" rtlCol="0">
            <a:spAutoFit/>
          </a:bodyPr>
          <a:lstStyle>
            <a:defPPr>
              <a:defRPr lang="zh-CN"/>
            </a:defPPr>
            <a:lvl1pPr marL="285750" indent="-285750">
              <a:lnSpc>
                <a:spcPct val="110000"/>
              </a:lnSpc>
              <a:buFont typeface="Wingdings" panose="05000000000000000000" pitchFamily="2" charset="2"/>
              <a:buChar char="u"/>
              <a:defRPr sz="1400">
                <a:latin typeface="思源黑体 CN Regular" panose="020B0500000000000000" pitchFamily="34" charset="-122"/>
                <a:ea typeface="思源黑体 CN Regular" panose="020B0500000000000000" pitchFamily="34" charset="-122"/>
              </a:defRPr>
            </a:lvl1pPr>
          </a:lstStyle>
          <a:p>
            <a:pPr marL="0" indent="0" algn="just">
              <a:lnSpc>
                <a:spcPct val="130000"/>
              </a:lnSpc>
              <a:buNone/>
            </a:pPr>
            <a:r>
              <a:rPr lang="zh-CN" altLang="en-US" sz="1600" dirty="0"/>
              <a:t>检测敲除</a:t>
            </a:r>
            <a:r>
              <a:rPr lang="en-US" altLang="zh-CN" sz="1600" dirty="0"/>
              <a:t>MYSM1</a:t>
            </a:r>
            <a:r>
              <a:rPr lang="zh-CN" altLang="en-US" sz="1600" dirty="0"/>
              <a:t>后巨噬细胞的增殖活性及</a:t>
            </a:r>
            <a:r>
              <a:rPr lang="en-US" altLang="zh-CN" sz="1600" dirty="0"/>
              <a:t>IL-6</a:t>
            </a:r>
            <a:r>
              <a:rPr lang="zh-CN" altLang="en-US" sz="1600" dirty="0"/>
              <a:t>、</a:t>
            </a:r>
            <a:r>
              <a:rPr lang="en-US" altLang="zh-CN" sz="1600" dirty="0"/>
              <a:t>TNF-α</a:t>
            </a:r>
            <a:r>
              <a:rPr lang="zh-CN" altLang="en-US" sz="1600" dirty="0"/>
              <a:t>等炎症因子的分泌水平，分析其免疫功能变化</a:t>
            </a:r>
          </a:p>
        </p:txBody>
      </p:sp>
      <p:pic>
        <p:nvPicPr>
          <p:cNvPr id="49" name="Picture 2" descr="查看图片">
            <a:extLst>
              <a:ext uri="{FF2B5EF4-FFF2-40B4-BE49-F238E27FC236}">
                <a16:creationId xmlns:a16="http://schemas.microsoft.com/office/drawing/2014/main" id="{DD5E739E-22A4-42C8-ABE8-3F397A3D090B}"/>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36220" t="43754" r="28750" b="33595"/>
          <a:stretch/>
        </p:blipFill>
        <p:spPr bwMode="auto">
          <a:xfrm>
            <a:off x="2619778" y="3839705"/>
            <a:ext cx="3361724" cy="2520933"/>
          </a:xfrm>
          <a:prstGeom prst="rect">
            <a:avLst/>
          </a:prstGeom>
          <a:noFill/>
          <a:extLst>
            <a:ext uri="{909E8E84-426E-40DD-AFC4-6F175D3DCCD1}">
              <a14:hiddenFill xmlns:a14="http://schemas.microsoft.com/office/drawing/2010/main">
                <a:solidFill>
                  <a:srgbClr val="FFFFFF"/>
                </a:solidFill>
              </a14:hiddenFill>
            </a:ext>
          </a:extLst>
        </p:spPr>
      </p:pic>
      <p:pic>
        <p:nvPicPr>
          <p:cNvPr id="50" name="Picture 2" descr="查看图片">
            <a:extLst>
              <a:ext uri="{FF2B5EF4-FFF2-40B4-BE49-F238E27FC236}">
                <a16:creationId xmlns:a16="http://schemas.microsoft.com/office/drawing/2014/main" id="{9091CF52-5809-48AB-9453-918F19C0FF59}"/>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71055" t="43754" r="-999" b="33595"/>
          <a:stretch/>
        </p:blipFill>
        <p:spPr bwMode="auto">
          <a:xfrm>
            <a:off x="6213680" y="3839705"/>
            <a:ext cx="2873659" cy="2520933"/>
          </a:xfrm>
          <a:prstGeom prst="rect">
            <a:avLst/>
          </a:prstGeom>
          <a:noFill/>
          <a:extLst>
            <a:ext uri="{909E8E84-426E-40DD-AFC4-6F175D3DCCD1}">
              <a14:hiddenFill xmlns:a14="http://schemas.microsoft.com/office/drawing/2010/main">
                <a:solidFill>
                  <a:srgbClr val="FFFFFF"/>
                </a:solidFill>
              </a14:hiddenFill>
            </a:ext>
          </a:extLst>
        </p:spPr>
      </p:pic>
      <p:sp>
        <p:nvSpPr>
          <p:cNvPr id="119" name="文本框 118">
            <a:extLst>
              <a:ext uri="{FF2B5EF4-FFF2-40B4-BE49-F238E27FC236}">
                <a16:creationId xmlns:a16="http://schemas.microsoft.com/office/drawing/2014/main" id="{A3550BBF-89CB-4D1E-8360-2EFFD6B218E3}"/>
              </a:ext>
            </a:extLst>
          </p:cNvPr>
          <p:cNvSpPr txBox="1"/>
          <p:nvPr/>
        </p:nvSpPr>
        <p:spPr>
          <a:xfrm>
            <a:off x="2209656" y="248670"/>
            <a:ext cx="6814622" cy="461665"/>
          </a:xfrm>
          <a:prstGeom prst="rect">
            <a:avLst/>
          </a:prstGeom>
          <a:noFill/>
        </p:spPr>
        <p:txBody>
          <a:bodyPr wrap="none" rtlCol="0">
            <a:spAutoFit/>
          </a:bodyPr>
          <a:lstStyle/>
          <a:p>
            <a:r>
              <a:rPr lang="en-US" altLang="zh-CN" sz="2400" dirty="0">
                <a:solidFill>
                  <a:schemeClr val="accent1"/>
                </a:solidFill>
                <a:latin typeface="思源黑体 CN Bold" panose="020B0800000000000000" pitchFamily="34" charset="-122"/>
                <a:ea typeface="思源黑体 CN Bold" panose="020B0800000000000000" pitchFamily="34" charset="-122"/>
              </a:rPr>
              <a:t>2.3 </a:t>
            </a:r>
            <a:r>
              <a:rPr lang="zh-CN" altLang="en-US" sz="2400" dirty="0">
                <a:solidFill>
                  <a:schemeClr val="accent1"/>
                </a:solidFill>
                <a:latin typeface="思源黑体 CN Bold" panose="020B0800000000000000" pitchFamily="34" charset="-122"/>
                <a:ea typeface="思源黑体 CN Bold" panose="020B0800000000000000" pitchFamily="34" charset="-122"/>
              </a:rPr>
              <a:t>研究内容二：</a:t>
            </a:r>
            <a:r>
              <a:rPr lang="en-US" altLang="zh-CN" sz="2400" dirty="0">
                <a:solidFill>
                  <a:schemeClr val="accent1"/>
                </a:solidFill>
                <a:latin typeface="思源黑体 CN Bold" panose="020B0800000000000000" pitchFamily="34" charset="-122"/>
                <a:ea typeface="思源黑体 CN Bold" panose="020B0800000000000000" pitchFamily="34" charset="-122"/>
              </a:rPr>
              <a:t>CRISPR </a:t>
            </a:r>
            <a:r>
              <a:rPr lang="zh-CN" altLang="en-US" sz="2400" dirty="0">
                <a:solidFill>
                  <a:schemeClr val="accent1"/>
                </a:solidFill>
                <a:latin typeface="思源黑体 CN Bold" panose="020B0800000000000000" pitchFamily="34" charset="-122"/>
                <a:ea typeface="思源黑体 CN Bold" panose="020B0800000000000000" pitchFamily="34" charset="-122"/>
              </a:rPr>
              <a:t>构建 </a:t>
            </a:r>
            <a:r>
              <a:rPr lang="en-US" altLang="zh-CN" sz="2400" dirty="0">
                <a:solidFill>
                  <a:schemeClr val="accent1"/>
                </a:solidFill>
                <a:latin typeface="思源黑体 CN Bold" panose="020B0800000000000000" pitchFamily="34" charset="-122"/>
                <a:ea typeface="思源黑体 CN Bold" panose="020B0800000000000000" pitchFamily="34" charset="-122"/>
              </a:rPr>
              <a:t>MYSM1 </a:t>
            </a:r>
            <a:r>
              <a:rPr lang="zh-CN" altLang="en-US" sz="2400" dirty="0">
                <a:solidFill>
                  <a:schemeClr val="accent1"/>
                </a:solidFill>
                <a:latin typeface="思源黑体 CN Bold" panose="020B0800000000000000" pitchFamily="34" charset="-122"/>
                <a:ea typeface="思源黑体 CN Bold" panose="020B0800000000000000" pitchFamily="34" charset="-122"/>
              </a:rPr>
              <a:t>敲除模型</a:t>
            </a:r>
          </a:p>
        </p:txBody>
      </p:sp>
      <p:sp>
        <p:nvSpPr>
          <p:cNvPr id="120" name="矩形 119">
            <a:extLst>
              <a:ext uri="{FF2B5EF4-FFF2-40B4-BE49-F238E27FC236}">
                <a16:creationId xmlns:a16="http://schemas.microsoft.com/office/drawing/2014/main" id="{D1E9A0F0-48DC-409B-8919-08A36851A432}"/>
              </a:ext>
            </a:extLst>
          </p:cNvPr>
          <p:cNvSpPr/>
          <p:nvPr/>
        </p:nvSpPr>
        <p:spPr>
          <a:xfrm>
            <a:off x="0" y="2677841"/>
            <a:ext cx="2052320" cy="56374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21" name="文本框 120">
            <a:extLst>
              <a:ext uri="{FF2B5EF4-FFF2-40B4-BE49-F238E27FC236}">
                <a16:creationId xmlns:a16="http://schemas.microsoft.com/office/drawing/2014/main" id="{61A0A034-AB6E-4E8C-BFAC-6CD7EC467AD5}"/>
              </a:ext>
            </a:extLst>
          </p:cNvPr>
          <p:cNvSpPr txBox="1"/>
          <p:nvPr/>
        </p:nvSpPr>
        <p:spPr>
          <a:xfrm>
            <a:off x="373082" y="2098899"/>
            <a:ext cx="1660612" cy="338554"/>
          </a:xfrm>
          <a:prstGeom prst="rect">
            <a:avLst/>
          </a:prstGeom>
          <a:noFill/>
        </p:spPr>
        <p:txBody>
          <a:bodyPr wrap="square" rtlCol="0">
            <a:spAutoFit/>
          </a:bodyPr>
          <a:lstStyle/>
          <a:p>
            <a:r>
              <a:rPr lang="zh-CN" altLang="en-US" sz="1600" dirty="0">
                <a:solidFill>
                  <a:schemeClr val="bg1"/>
                </a:solidFill>
                <a:latin typeface="思源黑体 CN Regular" panose="020B0500000000000000" pitchFamily="34" charset="-122"/>
                <a:ea typeface="思源黑体 CN Regular" panose="020B0500000000000000" pitchFamily="34" charset="-122"/>
              </a:rPr>
              <a:t>研究背景及现状</a:t>
            </a:r>
          </a:p>
        </p:txBody>
      </p:sp>
      <p:sp>
        <p:nvSpPr>
          <p:cNvPr id="122" name="任意矩形：001">
            <a:extLst>
              <a:ext uri="{FF2B5EF4-FFF2-40B4-BE49-F238E27FC236}">
                <a16:creationId xmlns:a16="http://schemas.microsoft.com/office/drawing/2014/main" id="{10A1DCE0-399C-4EAE-B706-F4B1F9B01CF1}"/>
              </a:ext>
            </a:extLst>
          </p:cNvPr>
          <p:cNvSpPr/>
          <p:nvPr/>
        </p:nvSpPr>
        <p:spPr>
          <a:xfrm>
            <a:off x="131492" y="2145245"/>
            <a:ext cx="226722" cy="202893"/>
          </a:xfrm>
          <a:custGeom>
            <a:avLst/>
            <a:gdLst>
              <a:gd name="connsiteX0" fmla="*/ 79591 w 607005"/>
              <a:gd name="connsiteY0" fmla="*/ 373864 h 543210"/>
              <a:gd name="connsiteX1" fmla="*/ 33701 w 607005"/>
              <a:gd name="connsiteY1" fmla="*/ 461494 h 543210"/>
              <a:gd name="connsiteX2" fmla="*/ 79501 w 607005"/>
              <a:gd name="connsiteY2" fmla="*/ 507233 h 543210"/>
              <a:gd name="connsiteX3" fmla="*/ 125392 w 607005"/>
              <a:gd name="connsiteY3" fmla="*/ 461494 h 543210"/>
              <a:gd name="connsiteX4" fmla="*/ 79591 w 607005"/>
              <a:gd name="connsiteY4" fmla="*/ 373864 h 543210"/>
              <a:gd name="connsiteX5" fmla="*/ 79501 w 607005"/>
              <a:gd name="connsiteY5" fmla="*/ 328661 h 543210"/>
              <a:gd name="connsiteX6" fmla="*/ 92856 w 607005"/>
              <a:gd name="connsiteY6" fmla="*/ 335106 h 543210"/>
              <a:gd name="connsiteX7" fmla="*/ 158913 w 607005"/>
              <a:gd name="connsiteY7" fmla="*/ 461404 h 543210"/>
              <a:gd name="connsiteX8" fmla="*/ 79501 w 607005"/>
              <a:gd name="connsiteY8" fmla="*/ 540710 h 543210"/>
              <a:gd name="connsiteX9" fmla="*/ 0 w 607005"/>
              <a:gd name="connsiteY9" fmla="*/ 461404 h 543210"/>
              <a:gd name="connsiteX10" fmla="*/ 66236 w 607005"/>
              <a:gd name="connsiteY10" fmla="*/ 335195 h 543210"/>
              <a:gd name="connsiteX11" fmla="*/ 79501 w 607005"/>
              <a:gd name="connsiteY11" fmla="*/ 328661 h 543210"/>
              <a:gd name="connsiteX12" fmla="*/ 196548 w 607005"/>
              <a:gd name="connsiteY12" fmla="*/ 281688 h 543210"/>
              <a:gd name="connsiteX13" fmla="*/ 391755 w 607005"/>
              <a:gd name="connsiteY13" fmla="*/ 476431 h 543210"/>
              <a:gd name="connsiteX14" fmla="*/ 540265 w 607005"/>
              <a:gd name="connsiteY14" fmla="*/ 476431 h 543210"/>
              <a:gd name="connsiteX15" fmla="*/ 540265 w 607005"/>
              <a:gd name="connsiteY15" fmla="*/ 328047 h 543210"/>
              <a:gd name="connsiteX16" fmla="*/ 493749 w 607005"/>
              <a:gd name="connsiteY16" fmla="*/ 281688 h 543210"/>
              <a:gd name="connsiteX17" fmla="*/ 261707 w 607005"/>
              <a:gd name="connsiteY17" fmla="*/ 49894 h 543210"/>
              <a:gd name="connsiteX18" fmla="*/ 113017 w 607005"/>
              <a:gd name="connsiteY18" fmla="*/ 198278 h 543210"/>
              <a:gd name="connsiteX19" fmla="*/ 163028 w 607005"/>
              <a:gd name="connsiteY19" fmla="*/ 248127 h 543210"/>
              <a:gd name="connsiteX20" fmla="*/ 460229 w 607005"/>
              <a:gd name="connsiteY20" fmla="*/ 248127 h 543210"/>
              <a:gd name="connsiteX21" fmla="*/ 271073 w 607005"/>
              <a:gd name="connsiteY21" fmla="*/ 0 h 543210"/>
              <a:gd name="connsiteX22" fmla="*/ 282948 w 607005"/>
              <a:gd name="connsiteY22" fmla="*/ 4967 h 543210"/>
              <a:gd name="connsiteX23" fmla="*/ 285099 w 607005"/>
              <a:gd name="connsiteY23" fmla="*/ 25909 h 543210"/>
              <a:gd name="connsiteX24" fmla="*/ 563927 w 607005"/>
              <a:gd name="connsiteY24" fmla="*/ 304331 h 543210"/>
              <a:gd name="connsiteX25" fmla="*/ 563927 w 607005"/>
              <a:gd name="connsiteY25" fmla="*/ 500148 h 543210"/>
              <a:gd name="connsiteX26" fmla="*/ 367824 w 607005"/>
              <a:gd name="connsiteY26" fmla="*/ 500148 h 543210"/>
              <a:gd name="connsiteX27" fmla="*/ 88997 w 607005"/>
              <a:gd name="connsiteY27" fmla="*/ 221726 h 543210"/>
              <a:gd name="connsiteX28" fmla="*/ 68024 w 607005"/>
              <a:gd name="connsiteY28" fmla="*/ 219578 h 543210"/>
              <a:gd name="connsiteX29" fmla="*/ 68024 w 607005"/>
              <a:gd name="connsiteY29" fmla="*/ 195862 h 543210"/>
              <a:gd name="connsiteX30" fmla="*/ 259197 w 607005"/>
              <a:gd name="connsiteY30" fmla="*/ 4967 h 543210"/>
              <a:gd name="connsiteX31" fmla="*/ 271073 w 607005"/>
              <a:gd name="connsiteY31" fmla="*/ 0 h 5432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607005" h="543210">
                <a:moveTo>
                  <a:pt x="79591" y="373864"/>
                </a:moveTo>
                <a:cubicBezTo>
                  <a:pt x="57452" y="405192"/>
                  <a:pt x="33701" y="445024"/>
                  <a:pt x="33701" y="461494"/>
                </a:cubicBezTo>
                <a:cubicBezTo>
                  <a:pt x="33701" y="486646"/>
                  <a:pt x="54226" y="507233"/>
                  <a:pt x="79501" y="507233"/>
                </a:cubicBezTo>
                <a:cubicBezTo>
                  <a:pt x="104687" y="507233"/>
                  <a:pt x="125212" y="486646"/>
                  <a:pt x="125392" y="461494"/>
                </a:cubicBezTo>
                <a:cubicBezTo>
                  <a:pt x="125392" y="445024"/>
                  <a:pt x="101729" y="405282"/>
                  <a:pt x="79591" y="373864"/>
                </a:cubicBezTo>
                <a:close/>
                <a:moveTo>
                  <a:pt x="79501" y="328661"/>
                </a:moveTo>
                <a:cubicBezTo>
                  <a:pt x="84610" y="328661"/>
                  <a:pt x="89540" y="331078"/>
                  <a:pt x="92856" y="335106"/>
                </a:cubicBezTo>
                <a:cubicBezTo>
                  <a:pt x="103881" y="349517"/>
                  <a:pt x="158913" y="423094"/>
                  <a:pt x="158913" y="461404"/>
                </a:cubicBezTo>
                <a:cubicBezTo>
                  <a:pt x="158913" y="505175"/>
                  <a:pt x="123240" y="540710"/>
                  <a:pt x="79501" y="540710"/>
                </a:cubicBezTo>
                <a:cubicBezTo>
                  <a:pt x="35583" y="540710"/>
                  <a:pt x="0" y="505085"/>
                  <a:pt x="0" y="461404"/>
                </a:cubicBezTo>
                <a:cubicBezTo>
                  <a:pt x="0" y="423094"/>
                  <a:pt x="55122" y="349517"/>
                  <a:pt x="66236" y="335195"/>
                </a:cubicBezTo>
                <a:cubicBezTo>
                  <a:pt x="69284" y="331078"/>
                  <a:pt x="74213" y="328661"/>
                  <a:pt x="79501" y="328661"/>
                </a:cubicBezTo>
                <a:close/>
                <a:moveTo>
                  <a:pt x="196548" y="281688"/>
                </a:moveTo>
                <a:lnTo>
                  <a:pt x="391755" y="476431"/>
                </a:lnTo>
                <a:cubicBezTo>
                  <a:pt x="420525" y="505249"/>
                  <a:pt x="488999" y="527623"/>
                  <a:pt x="540265" y="476431"/>
                </a:cubicBezTo>
                <a:cubicBezTo>
                  <a:pt x="592249" y="424524"/>
                  <a:pt x="570290" y="358028"/>
                  <a:pt x="540265" y="328047"/>
                </a:cubicBezTo>
                <a:lnTo>
                  <a:pt x="493749" y="281688"/>
                </a:lnTo>
                <a:close/>
                <a:moveTo>
                  <a:pt x="261707" y="49894"/>
                </a:moveTo>
                <a:lnTo>
                  <a:pt x="113017" y="198278"/>
                </a:lnTo>
                <a:lnTo>
                  <a:pt x="163028" y="248127"/>
                </a:lnTo>
                <a:lnTo>
                  <a:pt x="460229" y="248127"/>
                </a:lnTo>
                <a:close/>
                <a:moveTo>
                  <a:pt x="271073" y="0"/>
                </a:moveTo>
                <a:cubicBezTo>
                  <a:pt x="275375" y="0"/>
                  <a:pt x="279677" y="1655"/>
                  <a:pt x="282948" y="4967"/>
                </a:cubicBezTo>
                <a:cubicBezTo>
                  <a:pt x="288595" y="10694"/>
                  <a:pt x="289312" y="19465"/>
                  <a:pt x="285099" y="25909"/>
                </a:cubicBezTo>
                <a:lnTo>
                  <a:pt x="563927" y="304331"/>
                </a:lnTo>
                <a:cubicBezTo>
                  <a:pt x="604528" y="344872"/>
                  <a:pt x="636076" y="428104"/>
                  <a:pt x="563927" y="500148"/>
                </a:cubicBezTo>
                <a:cubicBezTo>
                  <a:pt x="492495" y="571476"/>
                  <a:pt x="409501" y="541763"/>
                  <a:pt x="367824" y="500148"/>
                </a:cubicBezTo>
                <a:lnTo>
                  <a:pt x="88997" y="221726"/>
                </a:lnTo>
                <a:cubicBezTo>
                  <a:pt x="81468" y="226380"/>
                  <a:pt x="73850" y="225485"/>
                  <a:pt x="68024" y="219578"/>
                </a:cubicBezTo>
                <a:cubicBezTo>
                  <a:pt x="61392" y="213045"/>
                  <a:pt x="61392" y="202395"/>
                  <a:pt x="68024" y="195862"/>
                </a:cubicBezTo>
                <a:lnTo>
                  <a:pt x="259197" y="4967"/>
                </a:lnTo>
                <a:cubicBezTo>
                  <a:pt x="262469" y="1655"/>
                  <a:pt x="266771" y="0"/>
                  <a:pt x="271073"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3" name="任意矩形：002">
            <a:extLst>
              <a:ext uri="{FF2B5EF4-FFF2-40B4-BE49-F238E27FC236}">
                <a16:creationId xmlns:a16="http://schemas.microsoft.com/office/drawing/2014/main" id="{97AE29B7-D3AB-4C9E-8C71-B577FC424669}"/>
              </a:ext>
            </a:extLst>
          </p:cNvPr>
          <p:cNvSpPr/>
          <p:nvPr/>
        </p:nvSpPr>
        <p:spPr>
          <a:xfrm>
            <a:off x="143798" y="2860995"/>
            <a:ext cx="202111" cy="201828"/>
          </a:xfrm>
          <a:custGeom>
            <a:avLst/>
            <a:gdLst>
              <a:gd name="connsiteX0" fmla="*/ 303643 w 607215"/>
              <a:gd name="connsiteY0" fmla="*/ 280873 h 606369"/>
              <a:gd name="connsiteX1" fmla="*/ 325219 w 607215"/>
              <a:gd name="connsiteY1" fmla="*/ 302335 h 606369"/>
              <a:gd name="connsiteX2" fmla="*/ 303643 w 607215"/>
              <a:gd name="connsiteY2" fmla="*/ 323873 h 606369"/>
              <a:gd name="connsiteX3" fmla="*/ 282068 w 607215"/>
              <a:gd name="connsiteY3" fmla="*/ 302335 h 606369"/>
              <a:gd name="connsiteX4" fmla="*/ 303643 w 607215"/>
              <a:gd name="connsiteY4" fmla="*/ 280873 h 606369"/>
              <a:gd name="connsiteX5" fmla="*/ 303678 w 607215"/>
              <a:gd name="connsiteY5" fmla="*/ 280357 h 606369"/>
              <a:gd name="connsiteX6" fmla="*/ 281626 w 607215"/>
              <a:gd name="connsiteY6" fmla="*/ 302374 h 606369"/>
              <a:gd name="connsiteX7" fmla="*/ 303678 w 607215"/>
              <a:gd name="connsiteY7" fmla="*/ 324391 h 606369"/>
              <a:gd name="connsiteX8" fmla="*/ 325730 w 607215"/>
              <a:gd name="connsiteY8" fmla="*/ 302374 h 606369"/>
              <a:gd name="connsiteX9" fmla="*/ 303678 w 607215"/>
              <a:gd name="connsiteY9" fmla="*/ 280357 h 606369"/>
              <a:gd name="connsiteX10" fmla="*/ 303643 w 607215"/>
              <a:gd name="connsiteY10" fmla="*/ 279792 h 606369"/>
              <a:gd name="connsiteX11" fmla="*/ 326224 w 607215"/>
              <a:gd name="connsiteY11" fmla="*/ 302335 h 606369"/>
              <a:gd name="connsiteX12" fmla="*/ 303643 w 607215"/>
              <a:gd name="connsiteY12" fmla="*/ 324954 h 606369"/>
              <a:gd name="connsiteX13" fmla="*/ 281062 w 607215"/>
              <a:gd name="connsiteY13" fmla="*/ 302335 h 606369"/>
              <a:gd name="connsiteX14" fmla="*/ 303643 w 607215"/>
              <a:gd name="connsiteY14" fmla="*/ 279792 h 606369"/>
              <a:gd name="connsiteX15" fmla="*/ 281043 w 607215"/>
              <a:gd name="connsiteY15" fmla="*/ 46068 h 606369"/>
              <a:gd name="connsiteX16" fmla="*/ 120855 w 607215"/>
              <a:gd name="connsiteY16" fmla="*/ 120687 h 606369"/>
              <a:gd name="connsiteX17" fmla="*/ 46132 w 607215"/>
              <a:gd name="connsiteY17" fmla="*/ 280652 h 606369"/>
              <a:gd name="connsiteX18" fmla="*/ 147128 w 607215"/>
              <a:gd name="connsiteY18" fmla="*/ 280652 h 606369"/>
              <a:gd name="connsiteX19" fmla="*/ 169770 w 607215"/>
              <a:gd name="connsiteY19" fmla="*/ 303185 h 606369"/>
              <a:gd name="connsiteX20" fmla="*/ 147128 w 607215"/>
              <a:gd name="connsiteY20" fmla="*/ 325717 h 606369"/>
              <a:gd name="connsiteX21" fmla="*/ 46132 w 607215"/>
              <a:gd name="connsiteY21" fmla="*/ 325717 h 606369"/>
              <a:gd name="connsiteX22" fmla="*/ 120855 w 607215"/>
              <a:gd name="connsiteY22" fmla="*/ 485682 h 606369"/>
              <a:gd name="connsiteX23" fmla="*/ 281043 w 607215"/>
              <a:gd name="connsiteY23" fmla="*/ 560301 h 606369"/>
              <a:gd name="connsiteX24" fmla="*/ 281043 w 607215"/>
              <a:gd name="connsiteY24" fmla="*/ 459446 h 606369"/>
              <a:gd name="connsiteX25" fmla="*/ 303608 w 607215"/>
              <a:gd name="connsiteY25" fmla="*/ 436913 h 606369"/>
              <a:gd name="connsiteX26" fmla="*/ 326172 w 607215"/>
              <a:gd name="connsiteY26" fmla="*/ 459446 h 606369"/>
              <a:gd name="connsiteX27" fmla="*/ 326172 w 607215"/>
              <a:gd name="connsiteY27" fmla="*/ 560301 h 606369"/>
              <a:gd name="connsiteX28" fmla="*/ 486360 w 607215"/>
              <a:gd name="connsiteY28" fmla="*/ 485682 h 606369"/>
              <a:gd name="connsiteX29" fmla="*/ 561083 w 607215"/>
              <a:gd name="connsiteY29" fmla="*/ 325717 h 606369"/>
              <a:gd name="connsiteX30" fmla="*/ 460087 w 607215"/>
              <a:gd name="connsiteY30" fmla="*/ 325717 h 606369"/>
              <a:gd name="connsiteX31" fmla="*/ 437523 w 607215"/>
              <a:gd name="connsiteY31" fmla="*/ 303185 h 606369"/>
              <a:gd name="connsiteX32" fmla="*/ 460087 w 607215"/>
              <a:gd name="connsiteY32" fmla="*/ 280652 h 606369"/>
              <a:gd name="connsiteX33" fmla="*/ 561083 w 607215"/>
              <a:gd name="connsiteY33" fmla="*/ 280652 h 606369"/>
              <a:gd name="connsiteX34" fmla="*/ 486360 w 607215"/>
              <a:gd name="connsiteY34" fmla="*/ 120687 h 606369"/>
              <a:gd name="connsiteX35" fmla="*/ 326172 w 607215"/>
              <a:gd name="connsiteY35" fmla="*/ 46068 h 606369"/>
              <a:gd name="connsiteX36" fmla="*/ 326172 w 607215"/>
              <a:gd name="connsiteY36" fmla="*/ 146923 h 606369"/>
              <a:gd name="connsiteX37" fmla="*/ 303608 w 607215"/>
              <a:gd name="connsiteY37" fmla="*/ 169533 h 606369"/>
              <a:gd name="connsiteX38" fmla="*/ 281043 w 607215"/>
              <a:gd name="connsiteY38" fmla="*/ 146923 h 606369"/>
              <a:gd name="connsiteX39" fmla="*/ 281617 w 607215"/>
              <a:gd name="connsiteY39" fmla="*/ 45548 h 606369"/>
              <a:gd name="connsiteX40" fmla="*/ 281617 w 607215"/>
              <a:gd name="connsiteY40" fmla="*/ 146935 h 606369"/>
              <a:gd name="connsiteX41" fmla="*/ 303640 w 607215"/>
              <a:gd name="connsiteY41" fmla="*/ 169002 h 606369"/>
              <a:gd name="connsiteX42" fmla="*/ 325741 w 607215"/>
              <a:gd name="connsiteY42" fmla="*/ 146935 h 606369"/>
              <a:gd name="connsiteX43" fmla="*/ 325741 w 607215"/>
              <a:gd name="connsiteY43" fmla="*/ 45548 h 606369"/>
              <a:gd name="connsiteX44" fmla="*/ 561663 w 607215"/>
              <a:gd name="connsiteY44" fmla="*/ 281192 h 606369"/>
              <a:gd name="connsiteX45" fmla="*/ 460123 w 607215"/>
              <a:gd name="connsiteY45" fmla="*/ 281192 h 606369"/>
              <a:gd name="connsiteX46" fmla="*/ 438022 w 607215"/>
              <a:gd name="connsiteY46" fmla="*/ 303182 h 606369"/>
              <a:gd name="connsiteX47" fmla="*/ 460123 w 607215"/>
              <a:gd name="connsiteY47" fmla="*/ 325250 h 606369"/>
              <a:gd name="connsiteX48" fmla="*/ 561663 w 607215"/>
              <a:gd name="connsiteY48" fmla="*/ 325250 h 606369"/>
              <a:gd name="connsiteX49" fmla="*/ 325741 w 607215"/>
              <a:gd name="connsiteY49" fmla="*/ 560815 h 606369"/>
              <a:gd name="connsiteX50" fmla="*/ 325741 w 607215"/>
              <a:gd name="connsiteY50" fmla="*/ 459429 h 606369"/>
              <a:gd name="connsiteX51" fmla="*/ 303640 w 607215"/>
              <a:gd name="connsiteY51" fmla="*/ 437361 h 606369"/>
              <a:gd name="connsiteX52" fmla="*/ 281617 w 607215"/>
              <a:gd name="connsiteY52" fmla="*/ 459429 h 606369"/>
              <a:gd name="connsiteX53" fmla="*/ 281617 w 607215"/>
              <a:gd name="connsiteY53" fmla="*/ 560815 h 606369"/>
              <a:gd name="connsiteX54" fmla="*/ 45616 w 607215"/>
              <a:gd name="connsiteY54" fmla="*/ 325250 h 606369"/>
              <a:gd name="connsiteX55" fmla="*/ 147157 w 607215"/>
              <a:gd name="connsiteY55" fmla="*/ 325250 h 606369"/>
              <a:gd name="connsiteX56" fmla="*/ 169257 w 607215"/>
              <a:gd name="connsiteY56" fmla="*/ 303182 h 606369"/>
              <a:gd name="connsiteX57" fmla="*/ 147157 w 607215"/>
              <a:gd name="connsiteY57" fmla="*/ 281192 h 606369"/>
              <a:gd name="connsiteX58" fmla="*/ 45616 w 607215"/>
              <a:gd name="connsiteY58" fmla="*/ 281192 h 606369"/>
              <a:gd name="connsiteX59" fmla="*/ 281617 w 607215"/>
              <a:gd name="connsiteY59" fmla="*/ 45548 h 606369"/>
              <a:gd name="connsiteX60" fmla="*/ 281508 w 607215"/>
              <a:gd name="connsiteY60" fmla="*/ 44987 h 606369"/>
              <a:gd name="connsiteX61" fmla="*/ 120160 w 607215"/>
              <a:gd name="connsiteY61" fmla="*/ 119993 h 606369"/>
              <a:gd name="connsiteX62" fmla="*/ 45050 w 607215"/>
              <a:gd name="connsiteY62" fmla="*/ 281115 h 606369"/>
              <a:gd name="connsiteX63" fmla="*/ 45050 w 607215"/>
              <a:gd name="connsiteY63" fmla="*/ 281655 h 606369"/>
              <a:gd name="connsiteX64" fmla="*/ 147128 w 607215"/>
              <a:gd name="connsiteY64" fmla="*/ 281655 h 606369"/>
              <a:gd name="connsiteX65" fmla="*/ 168688 w 607215"/>
              <a:gd name="connsiteY65" fmla="*/ 303185 h 606369"/>
              <a:gd name="connsiteX66" fmla="*/ 147128 w 607215"/>
              <a:gd name="connsiteY66" fmla="*/ 324714 h 606369"/>
              <a:gd name="connsiteX67" fmla="*/ 45050 w 607215"/>
              <a:gd name="connsiteY67" fmla="*/ 324714 h 606369"/>
              <a:gd name="connsiteX68" fmla="*/ 45050 w 607215"/>
              <a:gd name="connsiteY68" fmla="*/ 325254 h 606369"/>
              <a:gd name="connsiteX69" fmla="*/ 120160 w 607215"/>
              <a:gd name="connsiteY69" fmla="*/ 486454 h 606369"/>
              <a:gd name="connsiteX70" fmla="*/ 281508 w 607215"/>
              <a:gd name="connsiteY70" fmla="*/ 561382 h 606369"/>
              <a:gd name="connsiteX71" fmla="*/ 282048 w 607215"/>
              <a:gd name="connsiteY71" fmla="*/ 561459 h 606369"/>
              <a:gd name="connsiteX72" fmla="*/ 282048 w 607215"/>
              <a:gd name="connsiteY72" fmla="*/ 459446 h 606369"/>
              <a:gd name="connsiteX73" fmla="*/ 303608 w 607215"/>
              <a:gd name="connsiteY73" fmla="*/ 437916 h 606369"/>
              <a:gd name="connsiteX74" fmla="*/ 325167 w 607215"/>
              <a:gd name="connsiteY74" fmla="*/ 459446 h 606369"/>
              <a:gd name="connsiteX75" fmla="*/ 325167 w 607215"/>
              <a:gd name="connsiteY75" fmla="*/ 561459 h 606369"/>
              <a:gd name="connsiteX76" fmla="*/ 325708 w 607215"/>
              <a:gd name="connsiteY76" fmla="*/ 561382 h 606369"/>
              <a:gd name="connsiteX77" fmla="*/ 487132 w 607215"/>
              <a:gd name="connsiteY77" fmla="*/ 486454 h 606369"/>
              <a:gd name="connsiteX78" fmla="*/ 562165 w 607215"/>
              <a:gd name="connsiteY78" fmla="*/ 325254 h 606369"/>
              <a:gd name="connsiteX79" fmla="*/ 562242 w 607215"/>
              <a:gd name="connsiteY79" fmla="*/ 324714 h 606369"/>
              <a:gd name="connsiteX80" fmla="*/ 460087 w 607215"/>
              <a:gd name="connsiteY80" fmla="*/ 324714 h 606369"/>
              <a:gd name="connsiteX81" fmla="*/ 438527 w 607215"/>
              <a:gd name="connsiteY81" fmla="*/ 303185 h 606369"/>
              <a:gd name="connsiteX82" fmla="*/ 460087 w 607215"/>
              <a:gd name="connsiteY82" fmla="*/ 281655 h 606369"/>
              <a:gd name="connsiteX83" fmla="*/ 562242 w 607215"/>
              <a:gd name="connsiteY83" fmla="*/ 281655 h 606369"/>
              <a:gd name="connsiteX84" fmla="*/ 562165 w 607215"/>
              <a:gd name="connsiteY84" fmla="*/ 281115 h 606369"/>
              <a:gd name="connsiteX85" fmla="*/ 487132 w 607215"/>
              <a:gd name="connsiteY85" fmla="*/ 119993 h 606369"/>
              <a:gd name="connsiteX86" fmla="*/ 325708 w 607215"/>
              <a:gd name="connsiteY86" fmla="*/ 44987 h 606369"/>
              <a:gd name="connsiteX87" fmla="*/ 325167 w 607215"/>
              <a:gd name="connsiteY87" fmla="*/ 44987 h 606369"/>
              <a:gd name="connsiteX88" fmla="*/ 325167 w 607215"/>
              <a:gd name="connsiteY88" fmla="*/ 146923 h 606369"/>
              <a:gd name="connsiteX89" fmla="*/ 303608 w 607215"/>
              <a:gd name="connsiteY89" fmla="*/ 168453 h 606369"/>
              <a:gd name="connsiteX90" fmla="*/ 282048 w 607215"/>
              <a:gd name="connsiteY90" fmla="*/ 146923 h 606369"/>
              <a:gd name="connsiteX91" fmla="*/ 282048 w 607215"/>
              <a:gd name="connsiteY91" fmla="*/ 44987 h 606369"/>
              <a:gd name="connsiteX92" fmla="*/ 303608 w 607215"/>
              <a:gd name="connsiteY92" fmla="*/ 1003 h 606369"/>
              <a:gd name="connsiteX93" fmla="*/ 421450 w 607215"/>
              <a:gd name="connsiteY93" fmla="*/ 24770 h 606369"/>
              <a:gd name="connsiteX94" fmla="*/ 517578 w 607215"/>
              <a:gd name="connsiteY94" fmla="*/ 89512 h 606369"/>
              <a:gd name="connsiteX95" fmla="*/ 582410 w 607215"/>
              <a:gd name="connsiteY95" fmla="*/ 185584 h 606369"/>
              <a:gd name="connsiteX96" fmla="*/ 606211 w 607215"/>
              <a:gd name="connsiteY96" fmla="*/ 303185 h 606369"/>
              <a:gd name="connsiteX97" fmla="*/ 582410 w 607215"/>
              <a:gd name="connsiteY97" fmla="*/ 420863 h 606369"/>
              <a:gd name="connsiteX98" fmla="*/ 517578 w 607215"/>
              <a:gd name="connsiteY98" fmla="*/ 516857 h 606369"/>
              <a:gd name="connsiteX99" fmla="*/ 421450 w 607215"/>
              <a:gd name="connsiteY99" fmla="*/ 581599 h 606369"/>
              <a:gd name="connsiteX100" fmla="*/ 303608 w 607215"/>
              <a:gd name="connsiteY100" fmla="*/ 605366 h 606369"/>
              <a:gd name="connsiteX101" fmla="*/ 185842 w 607215"/>
              <a:gd name="connsiteY101" fmla="*/ 581599 h 606369"/>
              <a:gd name="connsiteX102" fmla="*/ 89637 w 607215"/>
              <a:gd name="connsiteY102" fmla="*/ 516857 h 606369"/>
              <a:gd name="connsiteX103" fmla="*/ 24805 w 607215"/>
              <a:gd name="connsiteY103" fmla="*/ 420863 h 606369"/>
              <a:gd name="connsiteX104" fmla="*/ 1004 w 607215"/>
              <a:gd name="connsiteY104" fmla="*/ 303185 h 606369"/>
              <a:gd name="connsiteX105" fmla="*/ 24805 w 607215"/>
              <a:gd name="connsiteY105" fmla="*/ 185584 h 606369"/>
              <a:gd name="connsiteX106" fmla="*/ 89637 w 607215"/>
              <a:gd name="connsiteY106" fmla="*/ 89512 h 606369"/>
              <a:gd name="connsiteX107" fmla="*/ 185842 w 607215"/>
              <a:gd name="connsiteY107" fmla="*/ 24770 h 606369"/>
              <a:gd name="connsiteX108" fmla="*/ 303608 w 607215"/>
              <a:gd name="connsiteY108" fmla="*/ 1003 h 606369"/>
              <a:gd name="connsiteX109" fmla="*/ 303640 w 607215"/>
              <a:gd name="connsiteY109" fmla="*/ 565 h 606369"/>
              <a:gd name="connsiteX110" fmla="*/ 185640 w 607215"/>
              <a:gd name="connsiteY110" fmla="*/ 24330 h 606369"/>
              <a:gd name="connsiteX111" fmla="*/ 89354 w 607215"/>
              <a:gd name="connsiteY111" fmla="*/ 89220 h 606369"/>
              <a:gd name="connsiteX112" fmla="*/ 24366 w 607215"/>
              <a:gd name="connsiteY112" fmla="*/ 185360 h 606369"/>
              <a:gd name="connsiteX113" fmla="*/ 565 w 607215"/>
              <a:gd name="connsiteY113" fmla="*/ 303182 h 606369"/>
              <a:gd name="connsiteX114" fmla="*/ 24366 w 607215"/>
              <a:gd name="connsiteY114" fmla="*/ 421004 h 606369"/>
              <a:gd name="connsiteX115" fmla="*/ 89354 w 607215"/>
              <a:gd name="connsiteY115" fmla="*/ 517221 h 606369"/>
              <a:gd name="connsiteX116" fmla="*/ 185640 w 607215"/>
              <a:gd name="connsiteY116" fmla="*/ 582034 h 606369"/>
              <a:gd name="connsiteX117" fmla="*/ 303640 w 607215"/>
              <a:gd name="connsiteY117" fmla="*/ 605876 h 606369"/>
              <a:gd name="connsiteX118" fmla="*/ 421640 w 607215"/>
              <a:gd name="connsiteY118" fmla="*/ 582034 h 606369"/>
              <a:gd name="connsiteX119" fmla="*/ 518003 w 607215"/>
              <a:gd name="connsiteY119" fmla="*/ 517221 h 606369"/>
              <a:gd name="connsiteX120" fmla="*/ 582914 w 607215"/>
              <a:gd name="connsiteY120" fmla="*/ 421004 h 606369"/>
              <a:gd name="connsiteX121" fmla="*/ 606792 w 607215"/>
              <a:gd name="connsiteY121" fmla="*/ 303182 h 606369"/>
              <a:gd name="connsiteX122" fmla="*/ 582914 w 607215"/>
              <a:gd name="connsiteY122" fmla="*/ 185360 h 606369"/>
              <a:gd name="connsiteX123" fmla="*/ 518003 w 607215"/>
              <a:gd name="connsiteY123" fmla="*/ 89220 h 606369"/>
              <a:gd name="connsiteX124" fmla="*/ 421640 w 607215"/>
              <a:gd name="connsiteY124" fmla="*/ 24330 h 606369"/>
              <a:gd name="connsiteX125" fmla="*/ 303640 w 607215"/>
              <a:gd name="connsiteY125" fmla="*/ 565 h 606369"/>
              <a:gd name="connsiteX126" fmla="*/ 303608 w 607215"/>
              <a:gd name="connsiteY126" fmla="*/ 0 h 606369"/>
              <a:gd name="connsiteX127" fmla="*/ 421836 w 607215"/>
              <a:gd name="connsiteY127" fmla="*/ 23844 h 606369"/>
              <a:gd name="connsiteX128" fmla="*/ 518351 w 607215"/>
              <a:gd name="connsiteY128" fmla="*/ 88818 h 606369"/>
              <a:gd name="connsiteX129" fmla="*/ 583338 w 607215"/>
              <a:gd name="connsiteY129" fmla="*/ 185198 h 606369"/>
              <a:gd name="connsiteX130" fmla="*/ 607215 w 607215"/>
              <a:gd name="connsiteY130" fmla="*/ 303185 h 606369"/>
              <a:gd name="connsiteX131" fmla="*/ 583338 w 607215"/>
              <a:gd name="connsiteY131" fmla="*/ 421248 h 606369"/>
              <a:gd name="connsiteX132" fmla="*/ 518351 w 607215"/>
              <a:gd name="connsiteY132" fmla="*/ 517629 h 606369"/>
              <a:gd name="connsiteX133" fmla="*/ 421836 w 607215"/>
              <a:gd name="connsiteY133" fmla="*/ 582525 h 606369"/>
              <a:gd name="connsiteX134" fmla="*/ 303608 w 607215"/>
              <a:gd name="connsiteY134" fmla="*/ 606369 h 606369"/>
              <a:gd name="connsiteX135" fmla="*/ 185456 w 607215"/>
              <a:gd name="connsiteY135" fmla="*/ 582525 h 606369"/>
              <a:gd name="connsiteX136" fmla="*/ 88942 w 607215"/>
              <a:gd name="connsiteY136" fmla="*/ 517629 h 606369"/>
              <a:gd name="connsiteX137" fmla="*/ 23877 w 607215"/>
              <a:gd name="connsiteY137" fmla="*/ 421248 h 606369"/>
              <a:gd name="connsiteX138" fmla="*/ 0 w 607215"/>
              <a:gd name="connsiteY138" fmla="*/ 303185 h 606369"/>
              <a:gd name="connsiteX139" fmla="*/ 23877 w 607215"/>
              <a:gd name="connsiteY139" fmla="*/ 185198 h 606369"/>
              <a:gd name="connsiteX140" fmla="*/ 88942 w 607215"/>
              <a:gd name="connsiteY140" fmla="*/ 88818 h 606369"/>
              <a:gd name="connsiteX141" fmla="*/ 185456 w 607215"/>
              <a:gd name="connsiteY141" fmla="*/ 23844 h 606369"/>
              <a:gd name="connsiteX142" fmla="*/ 303608 w 607215"/>
              <a:gd name="connsiteY142" fmla="*/ 0 h 6063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Lst>
            <a:rect l="l" t="t" r="r" b="b"/>
            <a:pathLst>
              <a:path w="607215" h="606369">
                <a:moveTo>
                  <a:pt x="303643" y="280873"/>
                </a:moveTo>
                <a:cubicBezTo>
                  <a:pt x="315552" y="280873"/>
                  <a:pt x="325219" y="290523"/>
                  <a:pt x="325219" y="302335"/>
                </a:cubicBezTo>
                <a:cubicBezTo>
                  <a:pt x="325219" y="314223"/>
                  <a:pt x="315552" y="323873"/>
                  <a:pt x="303643" y="323873"/>
                </a:cubicBezTo>
                <a:cubicBezTo>
                  <a:pt x="291734" y="323873"/>
                  <a:pt x="282068" y="314223"/>
                  <a:pt x="282068" y="302335"/>
                </a:cubicBezTo>
                <a:cubicBezTo>
                  <a:pt x="282068" y="290523"/>
                  <a:pt x="291734" y="280873"/>
                  <a:pt x="303643" y="280873"/>
                </a:cubicBezTo>
                <a:close/>
                <a:moveTo>
                  <a:pt x="303678" y="280357"/>
                </a:moveTo>
                <a:cubicBezTo>
                  <a:pt x="291499" y="280357"/>
                  <a:pt x="281626" y="290214"/>
                  <a:pt x="281626" y="302374"/>
                </a:cubicBezTo>
                <a:cubicBezTo>
                  <a:pt x="281626" y="314534"/>
                  <a:pt x="291499" y="324391"/>
                  <a:pt x="303678" y="324391"/>
                </a:cubicBezTo>
                <a:cubicBezTo>
                  <a:pt x="315857" y="324391"/>
                  <a:pt x="325730" y="314534"/>
                  <a:pt x="325730" y="302374"/>
                </a:cubicBezTo>
                <a:cubicBezTo>
                  <a:pt x="325730" y="290214"/>
                  <a:pt x="315857" y="280357"/>
                  <a:pt x="303678" y="280357"/>
                </a:cubicBezTo>
                <a:close/>
                <a:moveTo>
                  <a:pt x="303643" y="279792"/>
                </a:moveTo>
                <a:cubicBezTo>
                  <a:pt x="316094" y="279792"/>
                  <a:pt x="326224" y="289905"/>
                  <a:pt x="326224" y="302335"/>
                </a:cubicBezTo>
                <a:cubicBezTo>
                  <a:pt x="326224" y="314841"/>
                  <a:pt x="316094" y="324954"/>
                  <a:pt x="303643" y="324954"/>
                </a:cubicBezTo>
                <a:cubicBezTo>
                  <a:pt x="291193" y="324954"/>
                  <a:pt x="281062" y="314841"/>
                  <a:pt x="281062" y="302335"/>
                </a:cubicBezTo>
                <a:cubicBezTo>
                  <a:pt x="281062" y="289905"/>
                  <a:pt x="291193" y="279792"/>
                  <a:pt x="303643" y="279792"/>
                </a:cubicBezTo>
                <a:close/>
                <a:moveTo>
                  <a:pt x="281043" y="46068"/>
                </a:moveTo>
                <a:cubicBezTo>
                  <a:pt x="220693" y="51315"/>
                  <a:pt x="163820" y="77783"/>
                  <a:pt x="120855" y="120687"/>
                </a:cubicBezTo>
                <a:cubicBezTo>
                  <a:pt x="77891" y="163591"/>
                  <a:pt x="51387" y="220385"/>
                  <a:pt x="46132" y="280652"/>
                </a:cubicBezTo>
                <a:lnTo>
                  <a:pt x="147128" y="280652"/>
                </a:lnTo>
                <a:cubicBezTo>
                  <a:pt x="159647" y="280652"/>
                  <a:pt x="169770" y="290761"/>
                  <a:pt x="169770" y="303185"/>
                </a:cubicBezTo>
                <a:cubicBezTo>
                  <a:pt x="169770" y="315608"/>
                  <a:pt x="159647" y="325717"/>
                  <a:pt x="147128" y="325717"/>
                </a:cubicBezTo>
                <a:lnTo>
                  <a:pt x="46132" y="325717"/>
                </a:lnTo>
                <a:cubicBezTo>
                  <a:pt x="51387" y="385984"/>
                  <a:pt x="77891" y="442778"/>
                  <a:pt x="120855" y="485682"/>
                </a:cubicBezTo>
                <a:cubicBezTo>
                  <a:pt x="163820" y="528586"/>
                  <a:pt x="220693" y="555131"/>
                  <a:pt x="281043" y="560301"/>
                </a:cubicBezTo>
                <a:lnTo>
                  <a:pt x="281043" y="459446"/>
                </a:lnTo>
                <a:cubicBezTo>
                  <a:pt x="281043" y="447022"/>
                  <a:pt x="291167" y="436913"/>
                  <a:pt x="303608" y="436913"/>
                </a:cubicBezTo>
                <a:cubicBezTo>
                  <a:pt x="316049" y="436913"/>
                  <a:pt x="326172" y="447022"/>
                  <a:pt x="326172" y="459446"/>
                </a:cubicBezTo>
                <a:lnTo>
                  <a:pt x="326172" y="560301"/>
                </a:lnTo>
                <a:cubicBezTo>
                  <a:pt x="386522" y="555131"/>
                  <a:pt x="443395" y="528586"/>
                  <a:pt x="486360" y="485682"/>
                </a:cubicBezTo>
                <a:cubicBezTo>
                  <a:pt x="529324" y="442778"/>
                  <a:pt x="555906" y="385984"/>
                  <a:pt x="561083" y="325717"/>
                </a:cubicBezTo>
                <a:lnTo>
                  <a:pt x="460087" y="325717"/>
                </a:lnTo>
                <a:cubicBezTo>
                  <a:pt x="447645" y="325717"/>
                  <a:pt x="437523" y="315608"/>
                  <a:pt x="437523" y="303185"/>
                </a:cubicBezTo>
                <a:cubicBezTo>
                  <a:pt x="437523" y="290761"/>
                  <a:pt x="447645" y="280652"/>
                  <a:pt x="460087" y="280652"/>
                </a:cubicBezTo>
                <a:lnTo>
                  <a:pt x="561083" y="280652"/>
                </a:lnTo>
                <a:cubicBezTo>
                  <a:pt x="555906" y="220385"/>
                  <a:pt x="529324" y="163591"/>
                  <a:pt x="486360" y="120687"/>
                </a:cubicBezTo>
                <a:cubicBezTo>
                  <a:pt x="443395" y="77783"/>
                  <a:pt x="386522" y="51315"/>
                  <a:pt x="326172" y="46068"/>
                </a:cubicBezTo>
                <a:lnTo>
                  <a:pt x="326172" y="146923"/>
                </a:lnTo>
                <a:cubicBezTo>
                  <a:pt x="326172" y="159424"/>
                  <a:pt x="316049" y="169533"/>
                  <a:pt x="303608" y="169533"/>
                </a:cubicBezTo>
                <a:cubicBezTo>
                  <a:pt x="291167" y="169533"/>
                  <a:pt x="281043" y="159424"/>
                  <a:pt x="281043" y="146923"/>
                </a:cubicBezTo>
                <a:close/>
                <a:moveTo>
                  <a:pt x="281617" y="45548"/>
                </a:moveTo>
                <a:lnTo>
                  <a:pt x="281617" y="146935"/>
                </a:lnTo>
                <a:cubicBezTo>
                  <a:pt x="281617" y="159126"/>
                  <a:pt x="291431" y="169002"/>
                  <a:pt x="303640" y="169002"/>
                </a:cubicBezTo>
                <a:cubicBezTo>
                  <a:pt x="315850" y="169002"/>
                  <a:pt x="325741" y="159126"/>
                  <a:pt x="325741" y="146935"/>
                </a:cubicBezTo>
                <a:lnTo>
                  <a:pt x="325741" y="45548"/>
                </a:lnTo>
                <a:cubicBezTo>
                  <a:pt x="451159" y="56119"/>
                  <a:pt x="551077" y="155963"/>
                  <a:pt x="561663" y="281192"/>
                </a:cubicBezTo>
                <a:lnTo>
                  <a:pt x="460123" y="281192"/>
                </a:lnTo>
                <a:cubicBezTo>
                  <a:pt x="447914" y="281192"/>
                  <a:pt x="438022" y="290991"/>
                  <a:pt x="438022" y="303182"/>
                </a:cubicBezTo>
                <a:cubicBezTo>
                  <a:pt x="438022" y="315373"/>
                  <a:pt x="447914" y="325250"/>
                  <a:pt x="460123" y="325250"/>
                </a:cubicBezTo>
                <a:lnTo>
                  <a:pt x="561663" y="325250"/>
                </a:lnTo>
                <a:cubicBezTo>
                  <a:pt x="551077" y="450478"/>
                  <a:pt x="451159" y="550245"/>
                  <a:pt x="325741" y="560815"/>
                </a:cubicBezTo>
                <a:lnTo>
                  <a:pt x="325741" y="459429"/>
                </a:lnTo>
                <a:cubicBezTo>
                  <a:pt x="325741" y="447238"/>
                  <a:pt x="315850" y="437361"/>
                  <a:pt x="303640" y="437361"/>
                </a:cubicBezTo>
                <a:cubicBezTo>
                  <a:pt x="291431" y="437361"/>
                  <a:pt x="281617" y="447238"/>
                  <a:pt x="281617" y="459429"/>
                </a:cubicBezTo>
                <a:lnTo>
                  <a:pt x="281617" y="560815"/>
                </a:lnTo>
                <a:cubicBezTo>
                  <a:pt x="156198" y="550245"/>
                  <a:pt x="56203" y="450478"/>
                  <a:pt x="45616" y="325250"/>
                </a:cubicBezTo>
                <a:lnTo>
                  <a:pt x="147157" y="325250"/>
                </a:lnTo>
                <a:cubicBezTo>
                  <a:pt x="159366" y="325250"/>
                  <a:pt x="169257" y="315373"/>
                  <a:pt x="169257" y="303182"/>
                </a:cubicBezTo>
                <a:cubicBezTo>
                  <a:pt x="169257" y="290991"/>
                  <a:pt x="159366" y="281192"/>
                  <a:pt x="147157" y="281192"/>
                </a:cubicBezTo>
                <a:lnTo>
                  <a:pt x="45616" y="281192"/>
                </a:lnTo>
                <a:cubicBezTo>
                  <a:pt x="56203" y="155963"/>
                  <a:pt x="156198" y="56119"/>
                  <a:pt x="281617" y="45548"/>
                </a:cubicBezTo>
                <a:close/>
                <a:moveTo>
                  <a:pt x="281508" y="44987"/>
                </a:moveTo>
                <a:cubicBezTo>
                  <a:pt x="220693" y="50158"/>
                  <a:pt x="163433" y="76780"/>
                  <a:pt x="120160" y="119993"/>
                </a:cubicBezTo>
                <a:cubicBezTo>
                  <a:pt x="76887" y="163205"/>
                  <a:pt x="50228" y="220385"/>
                  <a:pt x="45050" y="281115"/>
                </a:cubicBezTo>
                <a:lnTo>
                  <a:pt x="45050" y="281655"/>
                </a:lnTo>
                <a:lnTo>
                  <a:pt x="147128" y="281655"/>
                </a:lnTo>
                <a:cubicBezTo>
                  <a:pt x="159029" y="281655"/>
                  <a:pt x="168688" y="291301"/>
                  <a:pt x="168688" y="303185"/>
                </a:cubicBezTo>
                <a:cubicBezTo>
                  <a:pt x="168688" y="315068"/>
                  <a:pt x="159029" y="324714"/>
                  <a:pt x="147128" y="324714"/>
                </a:cubicBezTo>
                <a:lnTo>
                  <a:pt x="45050" y="324714"/>
                </a:lnTo>
                <a:lnTo>
                  <a:pt x="45050" y="325254"/>
                </a:lnTo>
                <a:cubicBezTo>
                  <a:pt x="50228" y="385984"/>
                  <a:pt x="76887" y="443241"/>
                  <a:pt x="120160" y="486454"/>
                </a:cubicBezTo>
                <a:cubicBezTo>
                  <a:pt x="163433" y="529666"/>
                  <a:pt x="220693" y="556289"/>
                  <a:pt x="281508" y="561382"/>
                </a:cubicBezTo>
                <a:lnTo>
                  <a:pt x="282048" y="561459"/>
                </a:lnTo>
                <a:lnTo>
                  <a:pt x="282048" y="459446"/>
                </a:lnTo>
                <a:cubicBezTo>
                  <a:pt x="282048" y="447562"/>
                  <a:pt x="291708" y="437916"/>
                  <a:pt x="303608" y="437916"/>
                </a:cubicBezTo>
                <a:cubicBezTo>
                  <a:pt x="315508" y="437916"/>
                  <a:pt x="325167" y="447562"/>
                  <a:pt x="325167" y="459446"/>
                </a:cubicBezTo>
                <a:lnTo>
                  <a:pt x="325167" y="561459"/>
                </a:lnTo>
                <a:lnTo>
                  <a:pt x="325708" y="561382"/>
                </a:lnTo>
                <a:cubicBezTo>
                  <a:pt x="386522" y="556289"/>
                  <a:pt x="443859" y="529666"/>
                  <a:pt x="487132" y="486454"/>
                </a:cubicBezTo>
                <a:cubicBezTo>
                  <a:pt x="530405" y="443241"/>
                  <a:pt x="557065" y="385984"/>
                  <a:pt x="562165" y="325254"/>
                </a:cubicBezTo>
                <a:lnTo>
                  <a:pt x="562242" y="324714"/>
                </a:lnTo>
                <a:lnTo>
                  <a:pt x="460087" y="324714"/>
                </a:lnTo>
                <a:cubicBezTo>
                  <a:pt x="448186" y="324714"/>
                  <a:pt x="438527" y="315068"/>
                  <a:pt x="438527" y="303185"/>
                </a:cubicBezTo>
                <a:cubicBezTo>
                  <a:pt x="438527" y="291301"/>
                  <a:pt x="448186" y="281655"/>
                  <a:pt x="460087" y="281655"/>
                </a:cubicBezTo>
                <a:lnTo>
                  <a:pt x="562242" y="281655"/>
                </a:lnTo>
                <a:lnTo>
                  <a:pt x="562165" y="281115"/>
                </a:lnTo>
                <a:cubicBezTo>
                  <a:pt x="557065" y="220385"/>
                  <a:pt x="530405" y="163205"/>
                  <a:pt x="487132" y="119993"/>
                </a:cubicBezTo>
                <a:cubicBezTo>
                  <a:pt x="443859" y="76780"/>
                  <a:pt x="386522" y="50158"/>
                  <a:pt x="325708" y="44987"/>
                </a:cubicBezTo>
                <a:lnTo>
                  <a:pt x="325167" y="44987"/>
                </a:lnTo>
                <a:lnTo>
                  <a:pt x="325167" y="146923"/>
                </a:lnTo>
                <a:cubicBezTo>
                  <a:pt x="325167" y="158807"/>
                  <a:pt x="315508" y="168453"/>
                  <a:pt x="303608" y="168453"/>
                </a:cubicBezTo>
                <a:cubicBezTo>
                  <a:pt x="291708" y="168453"/>
                  <a:pt x="282048" y="158807"/>
                  <a:pt x="282048" y="146923"/>
                </a:cubicBezTo>
                <a:lnTo>
                  <a:pt x="282048" y="44987"/>
                </a:lnTo>
                <a:close/>
                <a:moveTo>
                  <a:pt x="303608" y="1003"/>
                </a:moveTo>
                <a:cubicBezTo>
                  <a:pt x="344485" y="1003"/>
                  <a:pt x="384049" y="9028"/>
                  <a:pt x="421450" y="24770"/>
                </a:cubicBezTo>
                <a:cubicBezTo>
                  <a:pt x="457459" y="40049"/>
                  <a:pt x="489837" y="61810"/>
                  <a:pt x="517578" y="89512"/>
                </a:cubicBezTo>
                <a:cubicBezTo>
                  <a:pt x="545396" y="117292"/>
                  <a:pt x="567188" y="149547"/>
                  <a:pt x="582410" y="185584"/>
                </a:cubicBezTo>
                <a:cubicBezTo>
                  <a:pt x="598174" y="222855"/>
                  <a:pt x="606211" y="262441"/>
                  <a:pt x="606211" y="303185"/>
                </a:cubicBezTo>
                <a:cubicBezTo>
                  <a:pt x="606211" y="344005"/>
                  <a:pt x="598174" y="383514"/>
                  <a:pt x="582410" y="420863"/>
                </a:cubicBezTo>
                <a:cubicBezTo>
                  <a:pt x="567188" y="456822"/>
                  <a:pt x="545396" y="489154"/>
                  <a:pt x="517578" y="516857"/>
                </a:cubicBezTo>
                <a:cubicBezTo>
                  <a:pt x="489837" y="544637"/>
                  <a:pt x="457459" y="566397"/>
                  <a:pt x="421450" y="581599"/>
                </a:cubicBezTo>
                <a:cubicBezTo>
                  <a:pt x="384049" y="597341"/>
                  <a:pt x="344485" y="605366"/>
                  <a:pt x="303608" y="605366"/>
                </a:cubicBezTo>
                <a:cubicBezTo>
                  <a:pt x="262807" y="605366"/>
                  <a:pt x="223166" y="597341"/>
                  <a:pt x="185842" y="581599"/>
                </a:cubicBezTo>
                <a:cubicBezTo>
                  <a:pt x="149756" y="566397"/>
                  <a:pt x="117455" y="544637"/>
                  <a:pt x="89637" y="516857"/>
                </a:cubicBezTo>
                <a:cubicBezTo>
                  <a:pt x="61896" y="489154"/>
                  <a:pt x="40105" y="456822"/>
                  <a:pt x="24805" y="420863"/>
                </a:cubicBezTo>
                <a:cubicBezTo>
                  <a:pt x="9041" y="383514"/>
                  <a:pt x="1004" y="344005"/>
                  <a:pt x="1004" y="303185"/>
                </a:cubicBezTo>
                <a:cubicBezTo>
                  <a:pt x="1004" y="262441"/>
                  <a:pt x="9041" y="222855"/>
                  <a:pt x="24805" y="185584"/>
                </a:cubicBezTo>
                <a:cubicBezTo>
                  <a:pt x="40105" y="149547"/>
                  <a:pt x="61896" y="117292"/>
                  <a:pt x="89637" y="89512"/>
                </a:cubicBezTo>
                <a:cubicBezTo>
                  <a:pt x="117455" y="61810"/>
                  <a:pt x="149756" y="40049"/>
                  <a:pt x="185842" y="24770"/>
                </a:cubicBezTo>
                <a:cubicBezTo>
                  <a:pt x="223166" y="9028"/>
                  <a:pt x="262807" y="1003"/>
                  <a:pt x="303608" y="1003"/>
                </a:cubicBezTo>
                <a:close/>
                <a:moveTo>
                  <a:pt x="303640" y="565"/>
                </a:moveTo>
                <a:cubicBezTo>
                  <a:pt x="262761" y="565"/>
                  <a:pt x="223041" y="8512"/>
                  <a:pt x="185640" y="24330"/>
                </a:cubicBezTo>
                <a:cubicBezTo>
                  <a:pt x="149552" y="39607"/>
                  <a:pt x="117174" y="61366"/>
                  <a:pt x="89354" y="89220"/>
                </a:cubicBezTo>
                <a:cubicBezTo>
                  <a:pt x="61458" y="116997"/>
                  <a:pt x="39666" y="149327"/>
                  <a:pt x="24366" y="185360"/>
                </a:cubicBezTo>
                <a:cubicBezTo>
                  <a:pt x="8524" y="222705"/>
                  <a:pt x="565" y="262365"/>
                  <a:pt x="565" y="303182"/>
                </a:cubicBezTo>
                <a:cubicBezTo>
                  <a:pt x="565" y="343999"/>
                  <a:pt x="8524" y="383659"/>
                  <a:pt x="24366" y="421004"/>
                </a:cubicBezTo>
                <a:cubicBezTo>
                  <a:pt x="39666" y="457037"/>
                  <a:pt x="61458" y="489444"/>
                  <a:pt x="89354" y="517221"/>
                </a:cubicBezTo>
                <a:cubicBezTo>
                  <a:pt x="117174" y="544998"/>
                  <a:pt x="149552" y="566834"/>
                  <a:pt x="185640" y="582034"/>
                </a:cubicBezTo>
                <a:cubicBezTo>
                  <a:pt x="223041" y="597852"/>
                  <a:pt x="262761" y="605876"/>
                  <a:pt x="303640" y="605876"/>
                </a:cubicBezTo>
                <a:cubicBezTo>
                  <a:pt x="344596" y="605876"/>
                  <a:pt x="384239" y="597852"/>
                  <a:pt x="421640" y="582034"/>
                </a:cubicBezTo>
                <a:cubicBezTo>
                  <a:pt x="457728" y="566834"/>
                  <a:pt x="490183" y="544998"/>
                  <a:pt x="518003" y="517221"/>
                </a:cubicBezTo>
                <a:cubicBezTo>
                  <a:pt x="545822" y="489444"/>
                  <a:pt x="567691" y="457037"/>
                  <a:pt x="582914" y="421004"/>
                </a:cubicBezTo>
                <a:cubicBezTo>
                  <a:pt x="598756" y="383659"/>
                  <a:pt x="606792" y="343999"/>
                  <a:pt x="606792" y="303182"/>
                </a:cubicBezTo>
                <a:cubicBezTo>
                  <a:pt x="606792" y="262365"/>
                  <a:pt x="598756" y="222705"/>
                  <a:pt x="582914" y="185360"/>
                </a:cubicBezTo>
                <a:cubicBezTo>
                  <a:pt x="567691" y="149327"/>
                  <a:pt x="545822" y="116997"/>
                  <a:pt x="518003" y="89220"/>
                </a:cubicBezTo>
                <a:cubicBezTo>
                  <a:pt x="490183" y="61366"/>
                  <a:pt x="457728" y="39607"/>
                  <a:pt x="421640" y="24330"/>
                </a:cubicBezTo>
                <a:cubicBezTo>
                  <a:pt x="384239" y="8512"/>
                  <a:pt x="344519" y="565"/>
                  <a:pt x="303640" y="565"/>
                </a:cubicBezTo>
                <a:close/>
                <a:moveTo>
                  <a:pt x="303608" y="0"/>
                </a:moveTo>
                <a:cubicBezTo>
                  <a:pt x="344563" y="0"/>
                  <a:pt x="384359" y="8025"/>
                  <a:pt x="421836" y="23844"/>
                </a:cubicBezTo>
                <a:cubicBezTo>
                  <a:pt x="458000" y="39123"/>
                  <a:pt x="490455" y="60961"/>
                  <a:pt x="518351" y="88818"/>
                </a:cubicBezTo>
                <a:cubicBezTo>
                  <a:pt x="546169" y="116674"/>
                  <a:pt x="568038" y="149084"/>
                  <a:pt x="583338" y="185198"/>
                </a:cubicBezTo>
                <a:cubicBezTo>
                  <a:pt x="599179" y="222546"/>
                  <a:pt x="607215" y="262286"/>
                  <a:pt x="607215" y="303185"/>
                </a:cubicBezTo>
                <a:cubicBezTo>
                  <a:pt x="607215" y="344083"/>
                  <a:pt x="599179" y="383823"/>
                  <a:pt x="583338" y="421248"/>
                </a:cubicBezTo>
                <a:cubicBezTo>
                  <a:pt x="568038" y="457362"/>
                  <a:pt x="546169" y="489772"/>
                  <a:pt x="518351" y="517629"/>
                </a:cubicBezTo>
                <a:cubicBezTo>
                  <a:pt x="490455" y="545408"/>
                  <a:pt x="458000" y="567246"/>
                  <a:pt x="421836" y="582525"/>
                </a:cubicBezTo>
                <a:cubicBezTo>
                  <a:pt x="384359" y="598344"/>
                  <a:pt x="344563" y="606369"/>
                  <a:pt x="303608" y="606369"/>
                </a:cubicBezTo>
                <a:cubicBezTo>
                  <a:pt x="262652" y="606369"/>
                  <a:pt x="222856" y="598344"/>
                  <a:pt x="185456" y="582525"/>
                </a:cubicBezTo>
                <a:cubicBezTo>
                  <a:pt x="149292" y="567246"/>
                  <a:pt x="116760" y="545408"/>
                  <a:pt x="88942" y="517629"/>
                </a:cubicBezTo>
                <a:cubicBezTo>
                  <a:pt x="61046" y="489772"/>
                  <a:pt x="39177" y="457362"/>
                  <a:pt x="23877" y="421248"/>
                </a:cubicBezTo>
                <a:cubicBezTo>
                  <a:pt x="8036" y="383823"/>
                  <a:pt x="0" y="344083"/>
                  <a:pt x="0" y="303185"/>
                </a:cubicBezTo>
                <a:cubicBezTo>
                  <a:pt x="0" y="262286"/>
                  <a:pt x="8036" y="222546"/>
                  <a:pt x="23877" y="185198"/>
                </a:cubicBezTo>
                <a:cubicBezTo>
                  <a:pt x="39177" y="149084"/>
                  <a:pt x="61046" y="116674"/>
                  <a:pt x="88942" y="88818"/>
                </a:cubicBezTo>
                <a:cubicBezTo>
                  <a:pt x="116760" y="60961"/>
                  <a:pt x="149292" y="39123"/>
                  <a:pt x="185456" y="23844"/>
                </a:cubicBezTo>
                <a:cubicBezTo>
                  <a:pt x="222856" y="8025"/>
                  <a:pt x="262652" y="0"/>
                  <a:pt x="303608" y="0"/>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dirty="0"/>
          </a:p>
        </p:txBody>
      </p:sp>
      <p:sp>
        <p:nvSpPr>
          <p:cNvPr id="124" name="文本框 123">
            <a:extLst>
              <a:ext uri="{FF2B5EF4-FFF2-40B4-BE49-F238E27FC236}">
                <a16:creationId xmlns:a16="http://schemas.microsoft.com/office/drawing/2014/main" id="{87EE1F9B-8BA4-4860-91C5-323E2FC7D01E}"/>
              </a:ext>
            </a:extLst>
          </p:cNvPr>
          <p:cNvSpPr txBox="1"/>
          <p:nvPr/>
        </p:nvSpPr>
        <p:spPr>
          <a:xfrm>
            <a:off x="373082" y="2808021"/>
            <a:ext cx="1660612" cy="338554"/>
          </a:xfrm>
          <a:prstGeom prst="rect">
            <a:avLst/>
          </a:prstGeom>
          <a:noFill/>
        </p:spPr>
        <p:txBody>
          <a:bodyPr wrap="square" rtlCol="0">
            <a:spAutoFit/>
          </a:bodyPr>
          <a:lstStyle/>
          <a:p>
            <a:r>
              <a:rPr lang="zh-CN" altLang="en-US" sz="1600" dirty="0">
                <a:solidFill>
                  <a:schemeClr val="accent1"/>
                </a:solidFill>
                <a:latin typeface="思源黑体 CN Regular" panose="020B0500000000000000" pitchFamily="34" charset="-122"/>
                <a:ea typeface="思源黑体 CN Regular" panose="020B0500000000000000" pitchFamily="34" charset="-122"/>
              </a:rPr>
              <a:t>研究目标和内容</a:t>
            </a:r>
          </a:p>
        </p:txBody>
      </p:sp>
      <p:sp>
        <p:nvSpPr>
          <p:cNvPr id="125" name="任意矩形：003">
            <a:extLst>
              <a:ext uri="{FF2B5EF4-FFF2-40B4-BE49-F238E27FC236}">
                <a16:creationId xmlns:a16="http://schemas.microsoft.com/office/drawing/2014/main" id="{D713D3D0-B450-4F0F-B4F4-934F72527AB7}"/>
              </a:ext>
            </a:extLst>
          </p:cNvPr>
          <p:cNvSpPr/>
          <p:nvPr/>
        </p:nvSpPr>
        <p:spPr>
          <a:xfrm rot="10800000" flipH="1" flipV="1">
            <a:off x="145020" y="3571293"/>
            <a:ext cx="199667" cy="199477"/>
          </a:xfrm>
          <a:custGeom>
            <a:avLst/>
            <a:gdLst>
              <a:gd name="connsiteX0" fmla="*/ 320200 w 604886"/>
              <a:gd name="connsiteY0" fmla="*/ 166778 h 604313"/>
              <a:gd name="connsiteX1" fmla="*/ 338200 w 604886"/>
              <a:gd name="connsiteY1" fmla="*/ 168153 h 604313"/>
              <a:gd name="connsiteX2" fmla="*/ 394904 w 604886"/>
              <a:gd name="connsiteY2" fmla="*/ 210003 h 604313"/>
              <a:gd name="connsiteX3" fmla="*/ 448997 w 604886"/>
              <a:gd name="connsiteY3" fmla="*/ 297466 h 604313"/>
              <a:gd name="connsiteX4" fmla="*/ 433479 w 604886"/>
              <a:gd name="connsiteY4" fmla="*/ 381599 h 604313"/>
              <a:gd name="connsiteX5" fmla="*/ 230304 w 604886"/>
              <a:gd name="connsiteY5" fmla="*/ 584474 h 604313"/>
              <a:gd name="connsiteX6" fmla="*/ 177952 w 604886"/>
              <a:gd name="connsiteY6" fmla="*/ 604313 h 604313"/>
              <a:gd name="connsiteX7" fmla="*/ 58454 w 604886"/>
              <a:gd name="connsiteY7" fmla="*/ 545956 h 604313"/>
              <a:gd name="connsiteX8" fmla="*/ 19733 w 604886"/>
              <a:gd name="connsiteY8" fmla="*/ 374359 h 604313"/>
              <a:gd name="connsiteX9" fmla="*/ 93549 w 604886"/>
              <a:gd name="connsiteY9" fmla="*/ 300652 h 604313"/>
              <a:gd name="connsiteX10" fmla="*/ 127049 w 604886"/>
              <a:gd name="connsiteY10" fmla="*/ 300652 h 604313"/>
              <a:gd name="connsiteX11" fmla="*/ 127049 w 604886"/>
              <a:gd name="connsiteY11" fmla="*/ 333958 h 604313"/>
              <a:gd name="connsiteX12" fmla="*/ 53233 w 604886"/>
              <a:gd name="connsiteY12" fmla="*/ 407665 h 604313"/>
              <a:gd name="connsiteX13" fmla="*/ 91809 w 604886"/>
              <a:gd name="connsiteY13" fmla="*/ 512650 h 604313"/>
              <a:gd name="connsiteX14" fmla="*/ 196950 w 604886"/>
              <a:gd name="connsiteY14" fmla="*/ 551169 h 604313"/>
              <a:gd name="connsiteX15" fmla="*/ 400124 w 604886"/>
              <a:gd name="connsiteY15" fmla="*/ 348294 h 604313"/>
              <a:gd name="connsiteX16" fmla="*/ 403460 w 604886"/>
              <a:gd name="connsiteY16" fmla="*/ 310065 h 604313"/>
              <a:gd name="connsiteX17" fmla="*/ 361549 w 604886"/>
              <a:gd name="connsiteY17" fmla="*/ 243308 h 604313"/>
              <a:gd name="connsiteX18" fmla="*/ 316737 w 604886"/>
              <a:gd name="connsiteY18" fmla="*/ 210147 h 604313"/>
              <a:gd name="connsiteX19" fmla="*/ 306441 w 604886"/>
              <a:gd name="connsiteY19" fmla="*/ 178435 h 604313"/>
              <a:gd name="connsiteX20" fmla="*/ 320200 w 604886"/>
              <a:gd name="connsiteY20" fmla="*/ 166778 h 604313"/>
              <a:gd name="connsiteX21" fmla="*/ 411085 w 604886"/>
              <a:gd name="connsiteY21" fmla="*/ 1388 h 604313"/>
              <a:gd name="connsiteX22" fmla="*/ 458862 w 604886"/>
              <a:gd name="connsiteY22" fmla="*/ 4683 h 604313"/>
              <a:gd name="connsiteX23" fmla="*/ 546442 w 604886"/>
              <a:gd name="connsiteY23" fmla="*/ 58698 h 604313"/>
              <a:gd name="connsiteX24" fmla="*/ 585156 w 604886"/>
              <a:gd name="connsiteY24" fmla="*/ 230302 h 604313"/>
              <a:gd name="connsiteX25" fmla="*/ 511352 w 604886"/>
              <a:gd name="connsiteY25" fmla="*/ 304012 h 604313"/>
              <a:gd name="connsiteX26" fmla="*/ 477857 w 604886"/>
              <a:gd name="connsiteY26" fmla="*/ 304012 h 604313"/>
              <a:gd name="connsiteX27" fmla="*/ 477857 w 604886"/>
              <a:gd name="connsiteY27" fmla="*/ 270705 h 604313"/>
              <a:gd name="connsiteX28" fmla="*/ 551662 w 604886"/>
              <a:gd name="connsiteY28" fmla="*/ 196995 h 604313"/>
              <a:gd name="connsiteX29" fmla="*/ 513092 w 604886"/>
              <a:gd name="connsiteY29" fmla="*/ 92005 h 604313"/>
              <a:gd name="connsiteX30" fmla="*/ 446247 w 604886"/>
              <a:gd name="connsiteY30" fmla="*/ 50154 h 604313"/>
              <a:gd name="connsiteX31" fmla="*/ 407968 w 604886"/>
              <a:gd name="connsiteY31" fmla="*/ 53485 h 604313"/>
              <a:gd name="connsiteX32" fmla="*/ 204825 w 604886"/>
              <a:gd name="connsiteY32" fmla="*/ 256368 h 604313"/>
              <a:gd name="connsiteX33" fmla="*/ 201490 w 604886"/>
              <a:gd name="connsiteY33" fmla="*/ 294599 h 604313"/>
              <a:gd name="connsiteX34" fmla="*/ 243394 w 604886"/>
              <a:gd name="connsiteY34" fmla="*/ 361358 h 604313"/>
              <a:gd name="connsiteX35" fmla="*/ 288199 w 604886"/>
              <a:gd name="connsiteY35" fmla="*/ 394520 h 604313"/>
              <a:gd name="connsiteX36" fmla="*/ 298494 w 604886"/>
              <a:gd name="connsiteY36" fmla="*/ 426234 h 604313"/>
              <a:gd name="connsiteX37" fmla="*/ 277469 w 604886"/>
              <a:gd name="connsiteY37" fmla="*/ 438978 h 604313"/>
              <a:gd name="connsiteX38" fmla="*/ 266739 w 604886"/>
              <a:gd name="connsiteY38" fmla="*/ 436516 h 604313"/>
              <a:gd name="connsiteX39" fmla="*/ 210044 w 604886"/>
              <a:gd name="connsiteY39" fmla="*/ 394665 h 604313"/>
              <a:gd name="connsiteX40" fmla="*/ 155960 w 604886"/>
              <a:gd name="connsiteY40" fmla="*/ 307198 h 604313"/>
              <a:gd name="connsiteX41" fmla="*/ 171330 w 604886"/>
              <a:gd name="connsiteY41" fmla="*/ 223061 h 604313"/>
              <a:gd name="connsiteX42" fmla="*/ 374618 w 604886"/>
              <a:gd name="connsiteY42" fmla="*/ 20033 h 604313"/>
              <a:gd name="connsiteX43" fmla="*/ 411085 w 604886"/>
              <a:gd name="connsiteY43" fmla="*/ 1388 h 6043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Lst>
            <a:rect l="l" t="t" r="r" b="b"/>
            <a:pathLst>
              <a:path w="604886" h="604313">
                <a:moveTo>
                  <a:pt x="320200" y="166778"/>
                </a:moveTo>
                <a:cubicBezTo>
                  <a:pt x="325946" y="164931"/>
                  <a:pt x="332399" y="165257"/>
                  <a:pt x="338200" y="168153"/>
                </a:cubicBezTo>
                <a:cubicBezTo>
                  <a:pt x="358068" y="178290"/>
                  <a:pt x="377646" y="192771"/>
                  <a:pt x="394904" y="210003"/>
                </a:cubicBezTo>
                <a:cubicBezTo>
                  <a:pt x="421443" y="236358"/>
                  <a:pt x="440585" y="267491"/>
                  <a:pt x="448997" y="297466"/>
                </a:cubicBezTo>
                <a:cubicBezTo>
                  <a:pt x="458568" y="332075"/>
                  <a:pt x="453202" y="362050"/>
                  <a:pt x="433479" y="381599"/>
                </a:cubicBezTo>
                <a:lnTo>
                  <a:pt x="230304" y="584474"/>
                </a:lnTo>
                <a:cubicBezTo>
                  <a:pt x="216962" y="597942"/>
                  <a:pt x="198690" y="604313"/>
                  <a:pt x="177952" y="604313"/>
                </a:cubicBezTo>
                <a:cubicBezTo>
                  <a:pt x="140971" y="604313"/>
                  <a:pt x="96305" y="583750"/>
                  <a:pt x="58454" y="545956"/>
                </a:cubicBezTo>
                <a:cubicBezTo>
                  <a:pt x="-570" y="487019"/>
                  <a:pt x="-17537" y="411575"/>
                  <a:pt x="19733" y="374359"/>
                </a:cubicBezTo>
                <a:lnTo>
                  <a:pt x="93549" y="300652"/>
                </a:lnTo>
                <a:cubicBezTo>
                  <a:pt x="102831" y="291384"/>
                  <a:pt x="117768" y="291384"/>
                  <a:pt x="127049" y="300652"/>
                </a:cubicBezTo>
                <a:cubicBezTo>
                  <a:pt x="136186" y="309775"/>
                  <a:pt x="136186" y="324690"/>
                  <a:pt x="127049" y="333958"/>
                </a:cubicBezTo>
                <a:lnTo>
                  <a:pt x="53233" y="407665"/>
                </a:lnTo>
                <a:cubicBezTo>
                  <a:pt x="37426" y="423304"/>
                  <a:pt x="50623" y="471525"/>
                  <a:pt x="91809" y="512650"/>
                </a:cubicBezTo>
                <a:cubicBezTo>
                  <a:pt x="132995" y="553631"/>
                  <a:pt x="181287" y="566808"/>
                  <a:pt x="196950" y="551169"/>
                </a:cubicBezTo>
                <a:lnTo>
                  <a:pt x="400124" y="348294"/>
                </a:lnTo>
                <a:cubicBezTo>
                  <a:pt x="407085" y="341343"/>
                  <a:pt x="408246" y="327441"/>
                  <a:pt x="403460" y="310065"/>
                </a:cubicBezTo>
                <a:cubicBezTo>
                  <a:pt x="397369" y="288199"/>
                  <a:pt x="381997" y="263871"/>
                  <a:pt x="361549" y="243308"/>
                </a:cubicBezTo>
                <a:cubicBezTo>
                  <a:pt x="347627" y="229552"/>
                  <a:pt x="332254" y="218112"/>
                  <a:pt x="316737" y="210147"/>
                </a:cubicBezTo>
                <a:cubicBezTo>
                  <a:pt x="305135" y="204355"/>
                  <a:pt x="300495" y="190019"/>
                  <a:pt x="306441" y="178435"/>
                </a:cubicBezTo>
                <a:cubicBezTo>
                  <a:pt x="309414" y="172642"/>
                  <a:pt x="314453" y="168624"/>
                  <a:pt x="320200" y="166778"/>
                </a:cubicBezTo>
                <a:close/>
                <a:moveTo>
                  <a:pt x="411085" y="1388"/>
                </a:moveTo>
                <a:cubicBezTo>
                  <a:pt x="425368" y="-1219"/>
                  <a:pt x="441535" y="-169"/>
                  <a:pt x="458862" y="4683"/>
                </a:cubicBezTo>
                <a:cubicBezTo>
                  <a:pt x="488877" y="13082"/>
                  <a:pt x="519907" y="32197"/>
                  <a:pt x="546442" y="58698"/>
                </a:cubicBezTo>
                <a:cubicBezTo>
                  <a:pt x="605456" y="117637"/>
                  <a:pt x="622421" y="192940"/>
                  <a:pt x="585156" y="230302"/>
                </a:cubicBezTo>
                <a:lnTo>
                  <a:pt x="511352" y="304012"/>
                </a:lnTo>
                <a:cubicBezTo>
                  <a:pt x="502072" y="313135"/>
                  <a:pt x="487137" y="313135"/>
                  <a:pt x="477857" y="304012"/>
                </a:cubicBezTo>
                <a:cubicBezTo>
                  <a:pt x="468722" y="294744"/>
                  <a:pt x="468722" y="279828"/>
                  <a:pt x="477857" y="270705"/>
                </a:cubicBezTo>
                <a:lnTo>
                  <a:pt x="551662" y="196995"/>
                </a:lnTo>
                <a:cubicBezTo>
                  <a:pt x="567321" y="181355"/>
                  <a:pt x="554127" y="133132"/>
                  <a:pt x="513092" y="92005"/>
                </a:cubicBezTo>
                <a:cubicBezTo>
                  <a:pt x="492502" y="71586"/>
                  <a:pt x="468142" y="56236"/>
                  <a:pt x="446247" y="50154"/>
                </a:cubicBezTo>
                <a:cubicBezTo>
                  <a:pt x="428848" y="45230"/>
                  <a:pt x="414928" y="46534"/>
                  <a:pt x="407968" y="53485"/>
                </a:cubicBezTo>
                <a:lnTo>
                  <a:pt x="204825" y="256368"/>
                </a:lnTo>
                <a:cubicBezTo>
                  <a:pt x="197865" y="263319"/>
                  <a:pt x="196560" y="277221"/>
                  <a:pt x="201490" y="294599"/>
                </a:cubicBezTo>
                <a:cubicBezTo>
                  <a:pt x="207579" y="316466"/>
                  <a:pt x="222949" y="340795"/>
                  <a:pt x="243394" y="361358"/>
                </a:cubicBezTo>
                <a:cubicBezTo>
                  <a:pt x="257169" y="375115"/>
                  <a:pt x="272684" y="386556"/>
                  <a:pt x="288199" y="394520"/>
                </a:cubicBezTo>
                <a:cubicBezTo>
                  <a:pt x="299799" y="400313"/>
                  <a:pt x="304439" y="414505"/>
                  <a:pt x="298494" y="426234"/>
                </a:cubicBezTo>
                <a:cubicBezTo>
                  <a:pt x="294289" y="434344"/>
                  <a:pt x="286024" y="438978"/>
                  <a:pt x="277469" y="438978"/>
                </a:cubicBezTo>
                <a:cubicBezTo>
                  <a:pt x="273844" y="438978"/>
                  <a:pt x="270219" y="438254"/>
                  <a:pt x="266739" y="436516"/>
                </a:cubicBezTo>
                <a:cubicBezTo>
                  <a:pt x="246874" y="426379"/>
                  <a:pt x="227299" y="411898"/>
                  <a:pt x="210044" y="394665"/>
                </a:cubicBezTo>
                <a:cubicBezTo>
                  <a:pt x="183510" y="368164"/>
                  <a:pt x="164370" y="337174"/>
                  <a:pt x="155960" y="307198"/>
                </a:cubicBezTo>
                <a:cubicBezTo>
                  <a:pt x="146245" y="272587"/>
                  <a:pt x="151755" y="242611"/>
                  <a:pt x="171330" y="223061"/>
                </a:cubicBezTo>
                <a:lnTo>
                  <a:pt x="374618" y="20033"/>
                </a:lnTo>
                <a:cubicBezTo>
                  <a:pt x="384406" y="10258"/>
                  <a:pt x="396803" y="3995"/>
                  <a:pt x="411085" y="1388"/>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126" name="文本框 125">
            <a:extLst>
              <a:ext uri="{FF2B5EF4-FFF2-40B4-BE49-F238E27FC236}">
                <a16:creationId xmlns:a16="http://schemas.microsoft.com/office/drawing/2014/main" id="{08FA3FD3-39A2-41B3-B560-8F40079B0F7D}"/>
              </a:ext>
            </a:extLst>
          </p:cNvPr>
          <p:cNvSpPr txBox="1"/>
          <p:nvPr/>
        </p:nvSpPr>
        <p:spPr>
          <a:xfrm>
            <a:off x="373082" y="3517143"/>
            <a:ext cx="1660612" cy="338554"/>
          </a:xfrm>
          <a:prstGeom prst="rect">
            <a:avLst/>
          </a:prstGeom>
          <a:noFill/>
        </p:spPr>
        <p:txBody>
          <a:bodyPr wrap="square" rtlCol="0">
            <a:spAutoFit/>
          </a:bodyPr>
          <a:lstStyle/>
          <a:p>
            <a:r>
              <a:rPr lang="zh-CN" altLang="en-US" sz="1600" dirty="0">
                <a:solidFill>
                  <a:schemeClr val="bg1"/>
                </a:solidFill>
                <a:latin typeface="思源黑体 CN Regular" panose="020B0500000000000000" pitchFamily="34" charset="-122"/>
                <a:ea typeface="思源黑体 CN Regular" panose="020B0500000000000000" pitchFamily="34" charset="-122"/>
              </a:rPr>
              <a:t>研究方法与思路</a:t>
            </a:r>
          </a:p>
        </p:txBody>
      </p:sp>
      <p:sp>
        <p:nvSpPr>
          <p:cNvPr id="127" name="文本框 126">
            <a:extLst>
              <a:ext uri="{FF2B5EF4-FFF2-40B4-BE49-F238E27FC236}">
                <a16:creationId xmlns:a16="http://schemas.microsoft.com/office/drawing/2014/main" id="{3581E3E2-8796-48D5-85A6-776D3D37D9C9}"/>
              </a:ext>
            </a:extLst>
          </p:cNvPr>
          <p:cNvSpPr txBox="1"/>
          <p:nvPr/>
        </p:nvSpPr>
        <p:spPr>
          <a:xfrm>
            <a:off x="373082" y="4226265"/>
            <a:ext cx="1660612" cy="338554"/>
          </a:xfrm>
          <a:prstGeom prst="rect">
            <a:avLst/>
          </a:prstGeom>
          <a:noFill/>
        </p:spPr>
        <p:txBody>
          <a:bodyPr wrap="square" rtlCol="0">
            <a:spAutoFit/>
          </a:bodyPr>
          <a:lstStyle/>
          <a:p>
            <a:r>
              <a:rPr lang="zh-CN" altLang="en-US" sz="1600" dirty="0">
                <a:solidFill>
                  <a:schemeClr val="bg1"/>
                </a:solidFill>
                <a:latin typeface="思源黑体 CN Regular" panose="020B0500000000000000" pitchFamily="34" charset="-122"/>
                <a:ea typeface="思源黑体 CN Regular" panose="020B0500000000000000" pitchFamily="34" charset="-122"/>
              </a:rPr>
              <a:t>关键技术与创新</a:t>
            </a:r>
          </a:p>
        </p:txBody>
      </p:sp>
      <p:sp>
        <p:nvSpPr>
          <p:cNvPr id="128" name="任意矩形：004">
            <a:extLst>
              <a:ext uri="{FF2B5EF4-FFF2-40B4-BE49-F238E27FC236}">
                <a16:creationId xmlns:a16="http://schemas.microsoft.com/office/drawing/2014/main" id="{78C3DA15-80BC-4D6F-A655-2E2D357D6954}"/>
              </a:ext>
            </a:extLst>
          </p:cNvPr>
          <p:cNvSpPr/>
          <p:nvPr/>
        </p:nvSpPr>
        <p:spPr>
          <a:xfrm rot="20700000">
            <a:off x="101744" y="4285500"/>
            <a:ext cx="251496" cy="189307"/>
          </a:xfrm>
          <a:custGeom>
            <a:avLst/>
            <a:gdLst>
              <a:gd name="T0" fmla="*/ 6845 w 7011"/>
              <a:gd name="T1" fmla="*/ 1345 h 5286"/>
              <a:gd name="T2" fmla="*/ 5180 w 7011"/>
              <a:gd name="T3" fmla="*/ 598 h 5286"/>
              <a:gd name="T4" fmla="*/ 5179 w 7011"/>
              <a:gd name="T5" fmla="*/ 598 h 5286"/>
              <a:gd name="T6" fmla="*/ 3505 w 7011"/>
              <a:gd name="T7" fmla="*/ 0 h 5286"/>
              <a:gd name="T8" fmla="*/ 907 w 7011"/>
              <a:gd name="T9" fmla="*/ 2166 h 5286"/>
              <a:gd name="T10" fmla="*/ 167 w 7011"/>
              <a:gd name="T11" fmla="*/ 3741 h 5286"/>
              <a:gd name="T12" fmla="*/ 1605 w 7011"/>
              <a:gd name="T13" fmla="*/ 4477 h 5286"/>
              <a:gd name="T14" fmla="*/ 3505 w 7011"/>
              <a:gd name="T15" fmla="*/ 5286 h 5286"/>
              <a:gd name="T16" fmla="*/ 6136 w 7011"/>
              <a:gd name="T17" fmla="*/ 2888 h 5286"/>
              <a:gd name="T18" fmla="*/ 6845 w 7011"/>
              <a:gd name="T19" fmla="*/ 1345 h 5286"/>
              <a:gd name="T20" fmla="*/ 521 w 7011"/>
              <a:gd name="T21" fmla="*/ 3613 h 5286"/>
              <a:gd name="T22" fmla="*/ 865 w 7011"/>
              <a:gd name="T23" fmla="*/ 2729 h 5286"/>
              <a:gd name="T24" fmla="*/ 1279 w 7011"/>
              <a:gd name="T25" fmla="*/ 4061 h 5286"/>
              <a:gd name="T26" fmla="*/ 521 w 7011"/>
              <a:gd name="T27" fmla="*/ 3613 h 5286"/>
              <a:gd name="T28" fmla="*/ 3507 w 7011"/>
              <a:gd name="T29" fmla="*/ 4909 h 5286"/>
              <a:gd name="T30" fmla="*/ 2171 w 7011"/>
              <a:gd name="T31" fmla="*/ 4472 h 5286"/>
              <a:gd name="T32" fmla="*/ 4051 w 7011"/>
              <a:gd name="T33" fmla="*/ 4060 h 5286"/>
              <a:gd name="T34" fmla="*/ 5695 w 7011"/>
              <a:gd name="T35" fmla="*/ 3233 h 5286"/>
              <a:gd name="T36" fmla="*/ 3507 w 7011"/>
              <a:gd name="T37" fmla="*/ 4909 h 5286"/>
              <a:gd name="T38" fmla="*/ 5772 w 7011"/>
              <a:gd name="T39" fmla="*/ 2705 h 5286"/>
              <a:gd name="T40" fmla="*/ 3924 w 7011"/>
              <a:gd name="T41" fmla="*/ 3706 h 5286"/>
              <a:gd name="T42" fmla="*/ 1779 w 7011"/>
              <a:gd name="T43" fmla="*/ 4108 h 5286"/>
              <a:gd name="T44" fmla="*/ 1240 w 7011"/>
              <a:gd name="T45" fmla="*/ 2642 h 5286"/>
              <a:gd name="T46" fmla="*/ 3507 w 7011"/>
              <a:gd name="T47" fmla="*/ 376 h 5286"/>
              <a:gd name="T48" fmla="*/ 5773 w 7011"/>
              <a:gd name="T49" fmla="*/ 2642 h 5286"/>
              <a:gd name="T50" fmla="*/ 5772 w 7011"/>
              <a:gd name="T51" fmla="*/ 2705 h 5286"/>
              <a:gd name="T52" fmla="*/ 6133 w 7011"/>
              <a:gd name="T53" fmla="*/ 2364 h 5286"/>
              <a:gd name="T54" fmla="*/ 5571 w 7011"/>
              <a:gd name="T55" fmla="*/ 996 h 5286"/>
              <a:gd name="T56" fmla="*/ 6491 w 7011"/>
              <a:gd name="T57" fmla="*/ 1472 h 5286"/>
              <a:gd name="T58" fmla="*/ 6133 w 7011"/>
              <a:gd name="T59" fmla="*/ 2364 h 528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7011" h="5286">
                <a:moveTo>
                  <a:pt x="6845" y="1345"/>
                </a:moveTo>
                <a:cubicBezTo>
                  <a:pt x="6672" y="864"/>
                  <a:pt x="6081" y="598"/>
                  <a:pt x="5180" y="598"/>
                </a:cubicBezTo>
                <a:lnTo>
                  <a:pt x="5179" y="598"/>
                </a:lnTo>
                <a:cubicBezTo>
                  <a:pt x="4723" y="225"/>
                  <a:pt x="4140" y="0"/>
                  <a:pt x="3505" y="0"/>
                </a:cubicBezTo>
                <a:cubicBezTo>
                  <a:pt x="2212" y="0"/>
                  <a:pt x="1132" y="936"/>
                  <a:pt x="907" y="2166"/>
                </a:cubicBezTo>
                <a:cubicBezTo>
                  <a:pt x="264" y="2720"/>
                  <a:pt x="0" y="3278"/>
                  <a:pt x="167" y="3741"/>
                </a:cubicBezTo>
                <a:cubicBezTo>
                  <a:pt x="325" y="4184"/>
                  <a:pt x="863" y="4433"/>
                  <a:pt x="1605" y="4477"/>
                </a:cubicBezTo>
                <a:cubicBezTo>
                  <a:pt x="2087" y="4976"/>
                  <a:pt x="2760" y="5286"/>
                  <a:pt x="3505" y="5286"/>
                </a:cubicBezTo>
                <a:cubicBezTo>
                  <a:pt x="4880" y="5286"/>
                  <a:pt x="6012" y="4232"/>
                  <a:pt x="6136" y="2888"/>
                </a:cubicBezTo>
                <a:cubicBezTo>
                  <a:pt x="6728" y="2364"/>
                  <a:pt x="7011" y="1804"/>
                  <a:pt x="6845" y="1345"/>
                </a:cubicBezTo>
                <a:close/>
                <a:moveTo>
                  <a:pt x="521" y="3613"/>
                </a:moveTo>
                <a:cubicBezTo>
                  <a:pt x="437" y="3380"/>
                  <a:pt x="565" y="3064"/>
                  <a:pt x="865" y="2729"/>
                </a:cubicBezTo>
                <a:cubicBezTo>
                  <a:pt x="881" y="3218"/>
                  <a:pt x="1031" y="3673"/>
                  <a:pt x="1279" y="4061"/>
                </a:cubicBezTo>
                <a:cubicBezTo>
                  <a:pt x="871" y="3988"/>
                  <a:pt x="599" y="3830"/>
                  <a:pt x="521" y="3613"/>
                </a:cubicBezTo>
                <a:close/>
                <a:moveTo>
                  <a:pt x="3507" y="4909"/>
                </a:moveTo>
                <a:cubicBezTo>
                  <a:pt x="3008" y="4909"/>
                  <a:pt x="2545" y="4746"/>
                  <a:pt x="2171" y="4472"/>
                </a:cubicBezTo>
                <a:cubicBezTo>
                  <a:pt x="2740" y="4434"/>
                  <a:pt x="3384" y="4300"/>
                  <a:pt x="4051" y="4060"/>
                </a:cubicBezTo>
                <a:cubicBezTo>
                  <a:pt x="4684" y="3833"/>
                  <a:pt x="5243" y="3546"/>
                  <a:pt x="5695" y="3233"/>
                </a:cubicBezTo>
                <a:cubicBezTo>
                  <a:pt x="5433" y="4197"/>
                  <a:pt x="4552" y="4909"/>
                  <a:pt x="3507" y="4909"/>
                </a:cubicBezTo>
                <a:close/>
                <a:moveTo>
                  <a:pt x="5772" y="2705"/>
                </a:moveTo>
                <a:cubicBezTo>
                  <a:pt x="5328" y="3068"/>
                  <a:pt x="4700" y="3428"/>
                  <a:pt x="3924" y="3706"/>
                </a:cubicBezTo>
                <a:cubicBezTo>
                  <a:pt x="3111" y="3998"/>
                  <a:pt x="2365" y="4117"/>
                  <a:pt x="1779" y="4108"/>
                </a:cubicBezTo>
                <a:cubicBezTo>
                  <a:pt x="1443" y="3712"/>
                  <a:pt x="1240" y="3201"/>
                  <a:pt x="1240" y="2642"/>
                </a:cubicBezTo>
                <a:cubicBezTo>
                  <a:pt x="1240" y="1393"/>
                  <a:pt x="2256" y="376"/>
                  <a:pt x="3507" y="376"/>
                </a:cubicBezTo>
                <a:cubicBezTo>
                  <a:pt x="4756" y="376"/>
                  <a:pt x="5773" y="1393"/>
                  <a:pt x="5773" y="2642"/>
                </a:cubicBezTo>
                <a:cubicBezTo>
                  <a:pt x="5773" y="2664"/>
                  <a:pt x="5772" y="2684"/>
                  <a:pt x="5772" y="2705"/>
                </a:cubicBezTo>
                <a:close/>
                <a:moveTo>
                  <a:pt x="6133" y="2364"/>
                </a:moveTo>
                <a:cubicBezTo>
                  <a:pt x="6079" y="1849"/>
                  <a:pt x="5877" y="1380"/>
                  <a:pt x="5571" y="996"/>
                </a:cubicBezTo>
                <a:cubicBezTo>
                  <a:pt x="6067" y="1053"/>
                  <a:pt x="6401" y="1221"/>
                  <a:pt x="6491" y="1472"/>
                </a:cubicBezTo>
                <a:cubicBezTo>
                  <a:pt x="6573" y="1704"/>
                  <a:pt x="6443" y="2024"/>
                  <a:pt x="6133" y="2364"/>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129" name="文本框 128">
            <a:extLst>
              <a:ext uri="{FF2B5EF4-FFF2-40B4-BE49-F238E27FC236}">
                <a16:creationId xmlns:a16="http://schemas.microsoft.com/office/drawing/2014/main" id="{0AB5F0E0-F611-4B55-9E67-FD550BBAA36C}"/>
              </a:ext>
            </a:extLst>
          </p:cNvPr>
          <p:cNvSpPr txBox="1"/>
          <p:nvPr/>
        </p:nvSpPr>
        <p:spPr>
          <a:xfrm>
            <a:off x="373082" y="4935387"/>
            <a:ext cx="1660612" cy="338554"/>
          </a:xfrm>
          <a:prstGeom prst="rect">
            <a:avLst/>
          </a:prstGeom>
          <a:noFill/>
        </p:spPr>
        <p:txBody>
          <a:bodyPr wrap="square" rtlCol="0">
            <a:spAutoFit/>
          </a:bodyPr>
          <a:lstStyle/>
          <a:p>
            <a:r>
              <a:rPr lang="zh-CN" altLang="en-US" sz="1600" dirty="0">
                <a:solidFill>
                  <a:schemeClr val="bg1"/>
                </a:solidFill>
                <a:latin typeface="思源黑体 CN Regular" panose="020B0500000000000000" pitchFamily="34" charset="-122"/>
                <a:ea typeface="思源黑体 CN Regular" panose="020B0500000000000000" pitchFamily="34" charset="-122"/>
              </a:rPr>
              <a:t>已开展工作</a:t>
            </a:r>
          </a:p>
        </p:txBody>
      </p:sp>
      <p:sp>
        <p:nvSpPr>
          <p:cNvPr id="130" name="任意矩形：005">
            <a:extLst>
              <a:ext uri="{FF2B5EF4-FFF2-40B4-BE49-F238E27FC236}">
                <a16:creationId xmlns:a16="http://schemas.microsoft.com/office/drawing/2014/main" id="{4A7CEE4B-B791-475E-9D3A-CA30F5B4532D}"/>
              </a:ext>
            </a:extLst>
          </p:cNvPr>
          <p:cNvSpPr/>
          <p:nvPr/>
        </p:nvSpPr>
        <p:spPr>
          <a:xfrm>
            <a:off x="123946" y="4988361"/>
            <a:ext cx="201734" cy="201828"/>
          </a:xfrm>
          <a:custGeom>
            <a:avLst/>
            <a:gdLst>
              <a:gd name="T0" fmla="*/ 278945 h 440259"/>
              <a:gd name="T1" fmla="*/ 278945 h 440259"/>
              <a:gd name="T2" fmla="*/ 278945 h 440259"/>
              <a:gd name="T3" fmla="*/ 278945 h 440259"/>
              <a:gd name="T4" fmla="*/ 278945 h 440259"/>
              <a:gd name="T5" fmla="*/ 278945 h 440259"/>
              <a:gd name="T6" fmla="*/ 278945 h 440259"/>
              <a:gd name="T7" fmla="*/ 278945 h 440259"/>
              <a:gd name="T8" fmla="*/ 278945 h 440259"/>
              <a:gd name="T9" fmla="*/ 278945 h 440259"/>
              <a:gd name="T10" fmla="*/ 278945 h 440259"/>
              <a:gd name="T11" fmla="*/ 278945 h 440259"/>
              <a:gd name="T12" fmla="*/ 278945 h 440259"/>
              <a:gd name="T13" fmla="*/ 278945 h 440259"/>
              <a:gd name="T14" fmla="*/ 278945 h 440259"/>
              <a:gd name="T15" fmla="*/ 278945 h 440259"/>
              <a:gd name="T16" fmla="*/ 278945 h 440259"/>
              <a:gd name="T17" fmla="*/ 278945 h 440259"/>
              <a:gd name="T18" fmla="*/ 278945 h 440259"/>
              <a:gd name="T19" fmla="*/ 278945 h 440259"/>
              <a:gd name="T20" fmla="*/ 278945 h 440259"/>
              <a:gd name="T21" fmla="*/ 278945 h 440259"/>
              <a:gd name="T22" fmla="*/ 278945 h 440259"/>
              <a:gd name="T23" fmla="*/ 278945 h 440259"/>
              <a:gd name="T24" fmla="*/ 278945 h 440259"/>
              <a:gd name="T25" fmla="*/ 278945 h 440259"/>
              <a:gd name="T26" fmla="*/ 278945 h 440259"/>
              <a:gd name="T27" fmla="*/ 278945 h 440259"/>
              <a:gd name="T28" fmla="*/ 278945 h 440259"/>
              <a:gd name="T29" fmla="*/ 278945 h 440259"/>
              <a:gd name="T30" fmla="*/ 278945 h 440259"/>
              <a:gd name="T31" fmla="*/ 278945 h 440259"/>
              <a:gd name="T32" fmla="*/ 278945 h 440259"/>
              <a:gd name="T33" fmla="*/ 278945 h 440259"/>
              <a:gd name="T34" fmla="*/ 278945 h 440259"/>
              <a:gd name="T35" fmla="*/ 278945 h 440259"/>
              <a:gd name="T36" fmla="*/ 278945 h 440259"/>
              <a:gd name="T37" fmla="*/ 278945 h 440259"/>
              <a:gd name="T38" fmla="*/ 278945 h 440259"/>
              <a:gd name="T39" fmla="*/ 278945 h 440259"/>
              <a:gd name="T40" fmla="*/ 278945 h 440259"/>
              <a:gd name="T41" fmla="*/ 278945 h 440259"/>
              <a:gd name="T42" fmla="*/ 278945 h 440259"/>
              <a:gd name="T43" fmla="*/ 278945 h 440259"/>
              <a:gd name="T44" fmla="*/ 278945 h 440259"/>
              <a:gd name="T45" fmla="*/ 278945 h 440259"/>
              <a:gd name="T46" fmla="*/ 278945 h 440259"/>
              <a:gd name="T47" fmla="*/ 278945 h 440259"/>
              <a:gd name="T48" fmla="*/ 278945 h 440259"/>
              <a:gd name="T49" fmla="*/ 278945 h 440259"/>
              <a:gd name="T50" fmla="*/ 278945 h 440259"/>
              <a:gd name="T51" fmla="*/ 278945 h 440259"/>
              <a:gd name="T52" fmla="*/ 278945 h 440259"/>
              <a:gd name="T53" fmla="*/ 278945 h 440259"/>
              <a:gd name="T54" fmla="*/ 278945 h 440259"/>
              <a:gd name="T55" fmla="*/ 278945 h 440259"/>
              <a:gd name="T56" fmla="*/ 278945 h 440259"/>
              <a:gd name="T57" fmla="*/ 278945 h 440259"/>
              <a:gd name="T58" fmla="*/ 278945 h 440259"/>
              <a:gd name="T59" fmla="*/ 278945 h 440259"/>
              <a:gd name="T60" fmla="*/ 278945 h 440259"/>
              <a:gd name="T61" fmla="*/ 278945 h 440259"/>
              <a:gd name="T62" fmla="*/ 278945 h 440259"/>
              <a:gd name="T63" fmla="*/ 278945 h 440259"/>
              <a:gd name="T64" fmla="*/ 278945 h 440259"/>
              <a:gd name="T65" fmla="*/ 278945 h 440259"/>
              <a:gd name="T66" fmla="*/ 278945 h 440259"/>
              <a:gd name="T67" fmla="*/ 278945 h 440259"/>
              <a:gd name="T68" fmla="*/ 278945 h 440259"/>
              <a:gd name="T69" fmla="*/ 278945 h 440259"/>
              <a:gd name="T70" fmla="*/ 278945 h 440259"/>
              <a:gd name="T71" fmla="*/ 278945 h 440259"/>
              <a:gd name="T72" fmla="*/ 278945 h 440259"/>
              <a:gd name="T73" fmla="*/ 278945 h 440259"/>
              <a:gd name="T74" fmla="*/ 278945 h 440259"/>
              <a:gd name="T75" fmla="*/ 278945 h 440259"/>
              <a:gd name="T76" fmla="*/ 278945 h 440259"/>
              <a:gd name="T77" fmla="*/ 278945 h 440259"/>
              <a:gd name="T78" fmla="*/ 278945 h 440259"/>
              <a:gd name="T79" fmla="*/ 278945 h 440259"/>
              <a:gd name="T80" fmla="*/ 278945 h 440259"/>
              <a:gd name="T81" fmla="*/ 278945 h 440259"/>
              <a:gd name="T82" fmla="*/ 278945 h 440259"/>
              <a:gd name="T83" fmla="*/ 278945 h 440259"/>
              <a:gd name="T84" fmla="*/ 88862 h 440259"/>
              <a:gd name="T85" fmla="*/ 88862 h 440259"/>
              <a:gd name="T86" fmla="*/ 278945 h 440259"/>
              <a:gd name="T87" fmla="*/ 278945 h 44025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Lst>
            <a:rect l="0" t="0" r="r" b="b"/>
            <a:pathLst>
              <a:path w="6495" h="6508">
                <a:moveTo>
                  <a:pt x="6495" y="203"/>
                </a:moveTo>
                <a:lnTo>
                  <a:pt x="6495" y="197"/>
                </a:lnTo>
                <a:cubicBezTo>
                  <a:pt x="6495" y="193"/>
                  <a:pt x="6493" y="191"/>
                  <a:pt x="6493" y="187"/>
                </a:cubicBezTo>
                <a:cubicBezTo>
                  <a:pt x="6493" y="184"/>
                  <a:pt x="6493" y="181"/>
                  <a:pt x="6492" y="179"/>
                </a:cubicBezTo>
                <a:cubicBezTo>
                  <a:pt x="6492" y="176"/>
                  <a:pt x="6491" y="173"/>
                  <a:pt x="6491" y="172"/>
                </a:cubicBezTo>
                <a:cubicBezTo>
                  <a:pt x="6489" y="169"/>
                  <a:pt x="6489" y="165"/>
                  <a:pt x="6488" y="163"/>
                </a:cubicBezTo>
                <a:cubicBezTo>
                  <a:pt x="6488" y="161"/>
                  <a:pt x="6487" y="160"/>
                  <a:pt x="6487" y="157"/>
                </a:cubicBezTo>
                <a:lnTo>
                  <a:pt x="6483" y="145"/>
                </a:lnTo>
                <a:cubicBezTo>
                  <a:pt x="6483" y="144"/>
                  <a:pt x="6481" y="144"/>
                  <a:pt x="6481" y="143"/>
                </a:cubicBezTo>
                <a:cubicBezTo>
                  <a:pt x="6480" y="139"/>
                  <a:pt x="6477" y="133"/>
                  <a:pt x="6475" y="129"/>
                </a:cubicBezTo>
                <a:cubicBezTo>
                  <a:pt x="6475" y="128"/>
                  <a:pt x="6473" y="127"/>
                  <a:pt x="6473" y="127"/>
                </a:cubicBezTo>
                <a:cubicBezTo>
                  <a:pt x="6471" y="123"/>
                  <a:pt x="6469" y="119"/>
                  <a:pt x="6467" y="115"/>
                </a:cubicBezTo>
                <a:cubicBezTo>
                  <a:pt x="6457" y="101"/>
                  <a:pt x="6447" y="89"/>
                  <a:pt x="6435" y="79"/>
                </a:cubicBezTo>
                <a:cubicBezTo>
                  <a:pt x="6385" y="23"/>
                  <a:pt x="6304" y="0"/>
                  <a:pt x="6231" y="31"/>
                </a:cubicBezTo>
                <a:lnTo>
                  <a:pt x="112" y="2559"/>
                </a:lnTo>
                <a:cubicBezTo>
                  <a:pt x="111" y="2560"/>
                  <a:pt x="108" y="2560"/>
                  <a:pt x="107" y="2561"/>
                </a:cubicBezTo>
                <a:cubicBezTo>
                  <a:pt x="103" y="2563"/>
                  <a:pt x="100" y="2564"/>
                  <a:pt x="96" y="2567"/>
                </a:cubicBezTo>
                <a:lnTo>
                  <a:pt x="88" y="2571"/>
                </a:lnTo>
                <a:cubicBezTo>
                  <a:pt x="85" y="2572"/>
                  <a:pt x="83" y="2573"/>
                  <a:pt x="80" y="2576"/>
                </a:cubicBezTo>
                <a:cubicBezTo>
                  <a:pt x="77" y="2577"/>
                  <a:pt x="75" y="2580"/>
                  <a:pt x="72" y="2581"/>
                </a:cubicBezTo>
                <a:cubicBezTo>
                  <a:pt x="69" y="2583"/>
                  <a:pt x="68" y="2584"/>
                  <a:pt x="65" y="2587"/>
                </a:cubicBezTo>
                <a:cubicBezTo>
                  <a:pt x="63" y="2588"/>
                  <a:pt x="61" y="2591"/>
                  <a:pt x="59" y="2593"/>
                </a:cubicBezTo>
                <a:cubicBezTo>
                  <a:pt x="56" y="2595"/>
                  <a:pt x="55" y="2597"/>
                  <a:pt x="52" y="2599"/>
                </a:cubicBezTo>
                <a:lnTo>
                  <a:pt x="45" y="2605"/>
                </a:lnTo>
                <a:cubicBezTo>
                  <a:pt x="44" y="2608"/>
                  <a:pt x="41" y="2609"/>
                  <a:pt x="40" y="2612"/>
                </a:cubicBezTo>
                <a:cubicBezTo>
                  <a:pt x="39" y="2615"/>
                  <a:pt x="36" y="2617"/>
                  <a:pt x="35" y="2619"/>
                </a:cubicBezTo>
                <a:cubicBezTo>
                  <a:pt x="33" y="2621"/>
                  <a:pt x="31" y="2623"/>
                  <a:pt x="29" y="2625"/>
                </a:cubicBezTo>
                <a:cubicBezTo>
                  <a:pt x="28" y="2628"/>
                  <a:pt x="25" y="2631"/>
                  <a:pt x="24" y="2633"/>
                </a:cubicBezTo>
                <a:cubicBezTo>
                  <a:pt x="23" y="2636"/>
                  <a:pt x="21" y="2637"/>
                  <a:pt x="20" y="2640"/>
                </a:cubicBezTo>
                <a:cubicBezTo>
                  <a:pt x="17" y="2644"/>
                  <a:pt x="16" y="2648"/>
                  <a:pt x="15" y="2652"/>
                </a:cubicBezTo>
                <a:cubicBezTo>
                  <a:pt x="15" y="2653"/>
                  <a:pt x="13" y="2655"/>
                  <a:pt x="12" y="2656"/>
                </a:cubicBezTo>
                <a:lnTo>
                  <a:pt x="12" y="2656"/>
                </a:lnTo>
                <a:cubicBezTo>
                  <a:pt x="9" y="2661"/>
                  <a:pt x="8" y="2667"/>
                  <a:pt x="7" y="2672"/>
                </a:cubicBezTo>
                <a:lnTo>
                  <a:pt x="7" y="2673"/>
                </a:lnTo>
                <a:cubicBezTo>
                  <a:pt x="5" y="2679"/>
                  <a:pt x="4" y="2684"/>
                  <a:pt x="3" y="2691"/>
                </a:cubicBezTo>
                <a:cubicBezTo>
                  <a:pt x="3" y="2693"/>
                  <a:pt x="1" y="2696"/>
                  <a:pt x="1" y="2699"/>
                </a:cubicBezTo>
                <a:cubicBezTo>
                  <a:pt x="1" y="2701"/>
                  <a:pt x="0" y="2705"/>
                  <a:pt x="0" y="2708"/>
                </a:cubicBezTo>
                <a:lnTo>
                  <a:pt x="0" y="2716"/>
                </a:lnTo>
                <a:lnTo>
                  <a:pt x="0" y="2725"/>
                </a:lnTo>
                <a:lnTo>
                  <a:pt x="0" y="2733"/>
                </a:lnTo>
                <a:lnTo>
                  <a:pt x="0" y="2743"/>
                </a:lnTo>
                <a:cubicBezTo>
                  <a:pt x="0" y="2745"/>
                  <a:pt x="1" y="2748"/>
                  <a:pt x="1" y="2749"/>
                </a:cubicBezTo>
                <a:cubicBezTo>
                  <a:pt x="1" y="2753"/>
                  <a:pt x="3" y="2756"/>
                  <a:pt x="3" y="2760"/>
                </a:cubicBezTo>
                <a:cubicBezTo>
                  <a:pt x="4" y="2764"/>
                  <a:pt x="4" y="2768"/>
                  <a:pt x="5" y="2772"/>
                </a:cubicBezTo>
                <a:cubicBezTo>
                  <a:pt x="7" y="2775"/>
                  <a:pt x="7" y="2777"/>
                  <a:pt x="8" y="2780"/>
                </a:cubicBezTo>
                <a:cubicBezTo>
                  <a:pt x="9" y="2784"/>
                  <a:pt x="11" y="2789"/>
                  <a:pt x="13" y="2793"/>
                </a:cubicBezTo>
                <a:lnTo>
                  <a:pt x="13" y="2793"/>
                </a:lnTo>
                <a:cubicBezTo>
                  <a:pt x="15" y="2799"/>
                  <a:pt x="17" y="2803"/>
                  <a:pt x="20" y="2807"/>
                </a:cubicBezTo>
                <a:cubicBezTo>
                  <a:pt x="20" y="2808"/>
                  <a:pt x="21" y="2809"/>
                  <a:pt x="21" y="2809"/>
                </a:cubicBezTo>
                <a:cubicBezTo>
                  <a:pt x="23" y="2813"/>
                  <a:pt x="25" y="2816"/>
                  <a:pt x="28" y="2820"/>
                </a:cubicBezTo>
                <a:cubicBezTo>
                  <a:pt x="29" y="2821"/>
                  <a:pt x="29" y="2823"/>
                  <a:pt x="31" y="2824"/>
                </a:cubicBezTo>
                <a:cubicBezTo>
                  <a:pt x="33" y="2828"/>
                  <a:pt x="35" y="2831"/>
                  <a:pt x="37" y="2833"/>
                </a:cubicBezTo>
                <a:cubicBezTo>
                  <a:pt x="39" y="2835"/>
                  <a:pt x="39" y="2836"/>
                  <a:pt x="40" y="2836"/>
                </a:cubicBezTo>
                <a:cubicBezTo>
                  <a:pt x="44" y="2840"/>
                  <a:pt x="47" y="2844"/>
                  <a:pt x="51" y="2848"/>
                </a:cubicBezTo>
                <a:lnTo>
                  <a:pt x="51" y="2848"/>
                </a:lnTo>
                <a:cubicBezTo>
                  <a:pt x="55" y="2852"/>
                  <a:pt x="59" y="2855"/>
                  <a:pt x="63" y="2859"/>
                </a:cubicBezTo>
                <a:cubicBezTo>
                  <a:pt x="64" y="2860"/>
                  <a:pt x="65" y="2861"/>
                  <a:pt x="67" y="2861"/>
                </a:cubicBezTo>
                <a:cubicBezTo>
                  <a:pt x="69" y="2864"/>
                  <a:pt x="73" y="2867"/>
                  <a:pt x="76" y="2868"/>
                </a:cubicBezTo>
                <a:cubicBezTo>
                  <a:pt x="77" y="2869"/>
                  <a:pt x="79" y="2869"/>
                  <a:pt x="80" y="2871"/>
                </a:cubicBezTo>
                <a:cubicBezTo>
                  <a:pt x="84" y="2873"/>
                  <a:pt x="89" y="2876"/>
                  <a:pt x="93" y="2879"/>
                </a:cubicBezTo>
                <a:cubicBezTo>
                  <a:pt x="95" y="2879"/>
                  <a:pt x="95" y="2880"/>
                  <a:pt x="96" y="2880"/>
                </a:cubicBezTo>
                <a:cubicBezTo>
                  <a:pt x="100" y="2883"/>
                  <a:pt x="104" y="2884"/>
                  <a:pt x="109" y="2887"/>
                </a:cubicBezTo>
                <a:cubicBezTo>
                  <a:pt x="111" y="2887"/>
                  <a:pt x="111" y="2888"/>
                  <a:pt x="112" y="2888"/>
                </a:cubicBezTo>
                <a:lnTo>
                  <a:pt x="2579" y="3933"/>
                </a:lnTo>
                <a:lnTo>
                  <a:pt x="3624" y="6400"/>
                </a:lnTo>
                <a:cubicBezTo>
                  <a:pt x="3625" y="6405"/>
                  <a:pt x="3628" y="6409"/>
                  <a:pt x="3631" y="6413"/>
                </a:cubicBezTo>
                <a:cubicBezTo>
                  <a:pt x="3631" y="6415"/>
                  <a:pt x="3632" y="6416"/>
                  <a:pt x="3632" y="6416"/>
                </a:cubicBezTo>
                <a:cubicBezTo>
                  <a:pt x="3635" y="6420"/>
                  <a:pt x="3636" y="6423"/>
                  <a:pt x="3639" y="6427"/>
                </a:cubicBezTo>
                <a:cubicBezTo>
                  <a:pt x="3640" y="6428"/>
                  <a:pt x="3640" y="6429"/>
                  <a:pt x="3641" y="6431"/>
                </a:cubicBezTo>
                <a:cubicBezTo>
                  <a:pt x="3644" y="6435"/>
                  <a:pt x="3647" y="6437"/>
                  <a:pt x="3648" y="6440"/>
                </a:cubicBezTo>
                <a:cubicBezTo>
                  <a:pt x="3649" y="6441"/>
                  <a:pt x="3649" y="6443"/>
                  <a:pt x="3651" y="6443"/>
                </a:cubicBezTo>
                <a:cubicBezTo>
                  <a:pt x="3655" y="6447"/>
                  <a:pt x="3657" y="6451"/>
                  <a:pt x="3661" y="6455"/>
                </a:cubicBezTo>
                <a:lnTo>
                  <a:pt x="3663" y="6456"/>
                </a:lnTo>
                <a:cubicBezTo>
                  <a:pt x="3667" y="6459"/>
                  <a:pt x="3669" y="6463"/>
                  <a:pt x="3673" y="6465"/>
                </a:cubicBezTo>
                <a:cubicBezTo>
                  <a:pt x="3675" y="6467"/>
                  <a:pt x="3676" y="6468"/>
                  <a:pt x="3677" y="6468"/>
                </a:cubicBezTo>
                <a:cubicBezTo>
                  <a:pt x="3680" y="6471"/>
                  <a:pt x="3684" y="6473"/>
                  <a:pt x="3687" y="6475"/>
                </a:cubicBezTo>
                <a:cubicBezTo>
                  <a:pt x="3688" y="6476"/>
                  <a:pt x="3689" y="6476"/>
                  <a:pt x="3691" y="6477"/>
                </a:cubicBezTo>
                <a:cubicBezTo>
                  <a:pt x="3695" y="6480"/>
                  <a:pt x="3700" y="6483"/>
                  <a:pt x="3704" y="6485"/>
                </a:cubicBezTo>
                <a:cubicBezTo>
                  <a:pt x="3705" y="6485"/>
                  <a:pt x="3707" y="6487"/>
                  <a:pt x="3707" y="6487"/>
                </a:cubicBezTo>
                <a:cubicBezTo>
                  <a:pt x="3711" y="6489"/>
                  <a:pt x="3715" y="6491"/>
                  <a:pt x="3719" y="6492"/>
                </a:cubicBezTo>
                <a:cubicBezTo>
                  <a:pt x="3720" y="6492"/>
                  <a:pt x="3720" y="6493"/>
                  <a:pt x="3721" y="6493"/>
                </a:cubicBezTo>
                <a:cubicBezTo>
                  <a:pt x="3721" y="6493"/>
                  <a:pt x="3723" y="6493"/>
                  <a:pt x="3723" y="6495"/>
                </a:cubicBezTo>
                <a:cubicBezTo>
                  <a:pt x="3727" y="6496"/>
                  <a:pt x="3732" y="6499"/>
                  <a:pt x="3736" y="6500"/>
                </a:cubicBezTo>
                <a:lnTo>
                  <a:pt x="3737" y="6500"/>
                </a:lnTo>
                <a:cubicBezTo>
                  <a:pt x="3743" y="6501"/>
                  <a:pt x="3747" y="6503"/>
                  <a:pt x="3752" y="6504"/>
                </a:cubicBezTo>
                <a:cubicBezTo>
                  <a:pt x="3753" y="6504"/>
                  <a:pt x="3756" y="6504"/>
                  <a:pt x="3757" y="6505"/>
                </a:cubicBezTo>
                <a:cubicBezTo>
                  <a:pt x="3761" y="6505"/>
                  <a:pt x="3764" y="6507"/>
                  <a:pt x="3768" y="6507"/>
                </a:cubicBezTo>
                <a:lnTo>
                  <a:pt x="3773" y="6507"/>
                </a:lnTo>
                <a:cubicBezTo>
                  <a:pt x="3779" y="6507"/>
                  <a:pt x="3783" y="6508"/>
                  <a:pt x="3788" y="6508"/>
                </a:cubicBezTo>
                <a:lnTo>
                  <a:pt x="3788" y="6508"/>
                </a:lnTo>
                <a:lnTo>
                  <a:pt x="3788" y="6508"/>
                </a:lnTo>
                <a:lnTo>
                  <a:pt x="3788" y="6508"/>
                </a:lnTo>
                <a:lnTo>
                  <a:pt x="3788" y="6508"/>
                </a:lnTo>
                <a:cubicBezTo>
                  <a:pt x="3793" y="6508"/>
                  <a:pt x="3799" y="6508"/>
                  <a:pt x="3803" y="6507"/>
                </a:cubicBezTo>
                <a:lnTo>
                  <a:pt x="3808" y="6507"/>
                </a:lnTo>
                <a:cubicBezTo>
                  <a:pt x="3812" y="6507"/>
                  <a:pt x="3816" y="6505"/>
                  <a:pt x="3819" y="6505"/>
                </a:cubicBezTo>
                <a:cubicBezTo>
                  <a:pt x="3820" y="6505"/>
                  <a:pt x="3823" y="6505"/>
                  <a:pt x="3824" y="6504"/>
                </a:cubicBezTo>
                <a:cubicBezTo>
                  <a:pt x="3829" y="6503"/>
                  <a:pt x="3835" y="6501"/>
                  <a:pt x="3839" y="6500"/>
                </a:cubicBezTo>
                <a:cubicBezTo>
                  <a:pt x="3840" y="6500"/>
                  <a:pt x="3840" y="6500"/>
                  <a:pt x="3841" y="6499"/>
                </a:cubicBezTo>
                <a:cubicBezTo>
                  <a:pt x="3845" y="6497"/>
                  <a:pt x="3851" y="6496"/>
                  <a:pt x="3855" y="6493"/>
                </a:cubicBezTo>
                <a:cubicBezTo>
                  <a:pt x="3856" y="6493"/>
                  <a:pt x="3856" y="6493"/>
                  <a:pt x="3857" y="6492"/>
                </a:cubicBezTo>
                <a:cubicBezTo>
                  <a:pt x="3859" y="6492"/>
                  <a:pt x="3859" y="6491"/>
                  <a:pt x="3860" y="6491"/>
                </a:cubicBezTo>
                <a:cubicBezTo>
                  <a:pt x="3864" y="6489"/>
                  <a:pt x="3868" y="6487"/>
                  <a:pt x="3872" y="6484"/>
                </a:cubicBezTo>
                <a:cubicBezTo>
                  <a:pt x="3873" y="6484"/>
                  <a:pt x="3873" y="6483"/>
                  <a:pt x="3875" y="6483"/>
                </a:cubicBezTo>
                <a:cubicBezTo>
                  <a:pt x="3879" y="6480"/>
                  <a:pt x="3884" y="6477"/>
                  <a:pt x="3888" y="6475"/>
                </a:cubicBezTo>
                <a:cubicBezTo>
                  <a:pt x="3889" y="6473"/>
                  <a:pt x="3891" y="6473"/>
                  <a:pt x="3892" y="6472"/>
                </a:cubicBezTo>
                <a:cubicBezTo>
                  <a:pt x="3895" y="6469"/>
                  <a:pt x="3899" y="6468"/>
                  <a:pt x="3901" y="6465"/>
                </a:cubicBezTo>
                <a:cubicBezTo>
                  <a:pt x="3903" y="6464"/>
                  <a:pt x="3904" y="6463"/>
                  <a:pt x="3905" y="6463"/>
                </a:cubicBezTo>
                <a:cubicBezTo>
                  <a:pt x="3909" y="6459"/>
                  <a:pt x="3913" y="6456"/>
                  <a:pt x="3916" y="6452"/>
                </a:cubicBezTo>
                <a:lnTo>
                  <a:pt x="3916" y="6452"/>
                </a:lnTo>
                <a:cubicBezTo>
                  <a:pt x="3920" y="6448"/>
                  <a:pt x="3923" y="6444"/>
                  <a:pt x="3927" y="6440"/>
                </a:cubicBezTo>
                <a:cubicBezTo>
                  <a:pt x="3928" y="6439"/>
                  <a:pt x="3928" y="6437"/>
                  <a:pt x="3929" y="6436"/>
                </a:cubicBezTo>
                <a:cubicBezTo>
                  <a:pt x="3932" y="6433"/>
                  <a:pt x="3935" y="6429"/>
                  <a:pt x="3936" y="6427"/>
                </a:cubicBezTo>
                <a:cubicBezTo>
                  <a:pt x="3937" y="6425"/>
                  <a:pt x="3937" y="6424"/>
                  <a:pt x="3939" y="6423"/>
                </a:cubicBezTo>
                <a:cubicBezTo>
                  <a:pt x="3941" y="6419"/>
                  <a:pt x="3943" y="6416"/>
                  <a:pt x="3945" y="6412"/>
                </a:cubicBezTo>
                <a:cubicBezTo>
                  <a:pt x="3945" y="6411"/>
                  <a:pt x="3947" y="6409"/>
                  <a:pt x="3947" y="6409"/>
                </a:cubicBezTo>
                <a:cubicBezTo>
                  <a:pt x="3949" y="6405"/>
                  <a:pt x="3951" y="6400"/>
                  <a:pt x="3953" y="6396"/>
                </a:cubicBezTo>
                <a:lnTo>
                  <a:pt x="6481" y="284"/>
                </a:lnTo>
                <a:cubicBezTo>
                  <a:pt x="6485" y="273"/>
                  <a:pt x="6489" y="261"/>
                  <a:pt x="6492" y="249"/>
                </a:cubicBezTo>
                <a:cubicBezTo>
                  <a:pt x="6493" y="245"/>
                  <a:pt x="6493" y="240"/>
                  <a:pt x="6493" y="236"/>
                </a:cubicBezTo>
                <a:lnTo>
                  <a:pt x="6493" y="232"/>
                </a:lnTo>
                <a:cubicBezTo>
                  <a:pt x="6493" y="227"/>
                  <a:pt x="6493" y="223"/>
                  <a:pt x="6495" y="217"/>
                </a:cubicBezTo>
                <a:lnTo>
                  <a:pt x="6495" y="215"/>
                </a:lnTo>
                <a:lnTo>
                  <a:pt x="6495" y="203"/>
                </a:lnTo>
                <a:close/>
                <a:moveTo>
                  <a:pt x="648" y="2727"/>
                </a:moveTo>
                <a:lnTo>
                  <a:pt x="5589" y="687"/>
                </a:lnTo>
                <a:lnTo>
                  <a:pt x="2685" y="3589"/>
                </a:lnTo>
                <a:lnTo>
                  <a:pt x="648" y="2727"/>
                </a:lnTo>
                <a:close/>
                <a:moveTo>
                  <a:pt x="3787" y="5865"/>
                </a:moveTo>
                <a:lnTo>
                  <a:pt x="2933" y="3851"/>
                </a:lnTo>
                <a:lnTo>
                  <a:pt x="5804" y="981"/>
                </a:lnTo>
                <a:lnTo>
                  <a:pt x="3787" y="5865"/>
                </a:ln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133" name="矩形: 圆角 132">
            <a:extLst>
              <a:ext uri="{FF2B5EF4-FFF2-40B4-BE49-F238E27FC236}">
                <a16:creationId xmlns:a16="http://schemas.microsoft.com/office/drawing/2014/main" id="{6D00C9F2-1FB2-4672-BD08-3375C015C517}"/>
              </a:ext>
            </a:extLst>
          </p:cNvPr>
          <p:cNvSpPr/>
          <p:nvPr/>
        </p:nvSpPr>
        <p:spPr>
          <a:xfrm>
            <a:off x="9727662" y="1360481"/>
            <a:ext cx="2129376" cy="5106268"/>
          </a:xfrm>
          <a:prstGeom prst="roundRect">
            <a:avLst>
              <a:gd name="adj" fmla="val 6467"/>
            </a:avLst>
          </a:prstGeom>
          <a:solidFill>
            <a:schemeClr val="bg1"/>
          </a:solidFill>
          <a:ln w="15875">
            <a:solidFill>
              <a:schemeClr val="accent1"/>
            </a:solidFill>
            <a:prstDash val="solid"/>
          </a:ln>
          <a:effectLst>
            <a:outerShdw blurRad="101600" dist="50800" dir="5400000" algn="ctr" rotWithShape="0">
              <a:schemeClr val="accent1">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34" name="矩形: 圆角 133">
            <a:extLst>
              <a:ext uri="{FF2B5EF4-FFF2-40B4-BE49-F238E27FC236}">
                <a16:creationId xmlns:a16="http://schemas.microsoft.com/office/drawing/2014/main" id="{2754E430-0EF9-494F-A808-B7EC293C83CB}"/>
              </a:ext>
            </a:extLst>
          </p:cNvPr>
          <p:cNvSpPr/>
          <p:nvPr/>
        </p:nvSpPr>
        <p:spPr>
          <a:xfrm>
            <a:off x="9834425" y="1830190"/>
            <a:ext cx="1915851" cy="1155122"/>
          </a:xfrm>
          <a:prstGeom prst="roundRect">
            <a:avLst>
              <a:gd name="adj" fmla="val 9986"/>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sz="1600" dirty="0">
                <a:solidFill>
                  <a:schemeClr val="tx1"/>
                </a:solidFill>
                <a:latin typeface="思源黑体 CN Regular" panose="020B0500000000000000" pitchFamily="34" charset="-122"/>
                <a:ea typeface="思源黑体 CN Regular" panose="020B0500000000000000" pitchFamily="34" charset="-122"/>
              </a:rPr>
              <a:t>成功构建</a:t>
            </a:r>
            <a:r>
              <a:rPr lang="en-US" altLang="zh-CN" sz="1600" dirty="0">
                <a:solidFill>
                  <a:schemeClr val="tx1"/>
                </a:solidFill>
                <a:latin typeface="思源黑体 CN Regular" panose="020B0500000000000000" pitchFamily="34" charset="-122"/>
                <a:ea typeface="思源黑体 CN Regular" panose="020B0500000000000000" pitchFamily="34" charset="-122"/>
              </a:rPr>
              <a:t>MYSM1</a:t>
            </a:r>
            <a:r>
              <a:rPr lang="zh-CN" altLang="en-US" sz="1600" dirty="0">
                <a:solidFill>
                  <a:schemeClr val="tx1"/>
                </a:solidFill>
                <a:latin typeface="思源黑体 CN Regular" panose="020B0500000000000000" pitchFamily="34" charset="-122"/>
                <a:ea typeface="思源黑体 CN Regular" panose="020B0500000000000000" pitchFamily="34" charset="-122"/>
              </a:rPr>
              <a:t>基因敲除巨噬细胞模型，敲除效率达</a:t>
            </a:r>
            <a:r>
              <a:rPr lang="en-US" altLang="zh-CN" sz="1600" dirty="0">
                <a:solidFill>
                  <a:schemeClr val="tx1"/>
                </a:solidFill>
                <a:latin typeface="思源黑体 CN Regular" panose="020B0500000000000000" pitchFamily="34" charset="-122"/>
                <a:ea typeface="思源黑体 CN Regular" panose="020B0500000000000000" pitchFamily="34" charset="-122"/>
              </a:rPr>
              <a:t>85%</a:t>
            </a:r>
            <a:r>
              <a:rPr lang="zh-CN" altLang="en-US" sz="1600" dirty="0">
                <a:solidFill>
                  <a:schemeClr val="tx1"/>
                </a:solidFill>
                <a:latin typeface="思源黑体 CN Regular" panose="020B0500000000000000" pitchFamily="34" charset="-122"/>
                <a:ea typeface="思源黑体 CN Regular" panose="020B0500000000000000" pitchFamily="34" charset="-122"/>
              </a:rPr>
              <a:t>以上</a:t>
            </a:r>
          </a:p>
        </p:txBody>
      </p:sp>
      <p:sp>
        <p:nvSpPr>
          <p:cNvPr id="135" name="矩形: 圆顶角 134">
            <a:extLst>
              <a:ext uri="{FF2B5EF4-FFF2-40B4-BE49-F238E27FC236}">
                <a16:creationId xmlns:a16="http://schemas.microsoft.com/office/drawing/2014/main" id="{B3DCB162-E5C6-46EC-9DB6-1E09EA72ADD5}"/>
              </a:ext>
            </a:extLst>
          </p:cNvPr>
          <p:cNvSpPr/>
          <p:nvPr/>
        </p:nvSpPr>
        <p:spPr>
          <a:xfrm>
            <a:off x="10112758" y="1354766"/>
            <a:ext cx="1359184" cy="376049"/>
          </a:xfrm>
          <a:prstGeom prst="round2SameRect">
            <a:avLst>
              <a:gd name="adj1" fmla="val 0"/>
              <a:gd name="adj2" fmla="val 19256"/>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600" b="1" dirty="0">
                <a:latin typeface="思源黑体 CN Bold" panose="020B0800000000000000" pitchFamily="34" charset="-122"/>
                <a:ea typeface="思源黑体 CN Bold" panose="020B0800000000000000" pitchFamily="34" charset="-122"/>
              </a:rPr>
              <a:t>研究结果</a:t>
            </a:r>
          </a:p>
        </p:txBody>
      </p:sp>
      <p:sp>
        <p:nvSpPr>
          <p:cNvPr id="136" name="矩形: 圆角 135">
            <a:extLst>
              <a:ext uri="{FF2B5EF4-FFF2-40B4-BE49-F238E27FC236}">
                <a16:creationId xmlns:a16="http://schemas.microsoft.com/office/drawing/2014/main" id="{F380EC28-C521-4679-BAA6-124B3ABBBD5E}"/>
              </a:ext>
            </a:extLst>
          </p:cNvPr>
          <p:cNvSpPr/>
          <p:nvPr/>
        </p:nvSpPr>
        <p:spPr>
          <a:xfrm>
            <a:off x="9834425" y="3563518"/>
            <a:ext cx="1915851" cy="1093416"/>
          </a:xfrm>
          <a:prstGeom prst="roundRect">
            <a:avLst>
              <a:gd name="adj" fmla="val 9986"/>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altLang="zh-CN" sz="1600" dirty="0">
                <a:solidFill>
                  <a:schemeClr val="tx1"/>
                </a:solidFill>
                <a:latin typeface="思源黑体 CN Regular" panose="020B0500000000000000" pitchFamily="34" charset="-122"/>
                <a:ea typeface="思源黑体 CN Regular" panose="020B0500000000000000" pitchFamily="34" charset="-122"/>
              </a:rPr>
              <a:t>MYSM1</a:t>
            </a:r>
            <a:r>
              <a:rPr lang="zh-CN" altLang="en-US" sz="1600" dirty="0">
                <a:solidFill>
                  <a:schemeClr val="tx1"/>
                </a:solidFill>
                <a:latin typeface="思源黑体 CN Regular" panose="020B0500000000000000" pitchFamily="34" charset="-122"/>
                <a:ea typeface="思源黑体 CN Regular" panose="020B0500000000000000" pitchFamily="34" charset="-122"/>
              </a:rPr>
              <a:t>缺失显著影响巨噬细胞炎症因子分泌，提示其调控免疫应答</a:t>
            </a:r>
          </a:p>
        </p:txBody>
      </p:sp>
      <p:sp>
        <p:nvSpPr>
          <p:cNvPr id="137" name="矩形: 圆角 136">
            <a:extLst>
              <a:ext uri="{FF2B5EF4-FFF2-40B4-BE49-F238E27FC236}">
                <a16:creationId xmlns:a16="http://schemas.microsoft.com/office/drawing/2014/main" id="{4700FF88-1CE4-4366-B799-9CCBCB211AA8}"/>
              </a:ext>
            </a:extLst>
          </p:cNvPr>
          <p:cNvSpPr/>
          <p:nvPr/>
        </p:nvSpPr>
        <p:spPr>
          <a:xfrm>
            <a:off x="9834425" y="5235139"/>
            <a:ext cx="1915851" cy="1121082"/>
          </a:xfrm>
          <a:prstGeom prst="roundRect">
            <a:avLst>
              <a:gd name="adj" fmla="val 9986"/>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sz="1600" dirty="0">
                <a:solidFill>
                  <a:schemeClr val="tx1"/>
                </a:solidFill>
                <a:latin typeface="思源黑体 CN Regular" panose="020B0500000000000000" pitchFamily="34" charset="-122"/>
                <a:ea typeface="思源黑体 CN Regular" panose="020B0500000000000000" pitchFamily="34" charset="-122"/>
              </a:rPr>
              <a:t>为后续探究</a:t>
            </a:r>
            <a:r>
              <a:rPr lang="en-US" altLang="zh-CN" sz="1600" dirty="0">
                <a:solidFill>
                  <a:schemeClr val="tx1"/>
                </a:solidFill>
                <a:latin typeface="思源黑体 CN Regular" panose="020B0500000000000000" pitchFamily="34" charset="-122"/>
                <a:ea typeface="思源黑体 CN Regular" panose="020B0500000000000000" pitchFamily="34" charset="-122"/>
              </a:rPr>
              <a:t>MYSM1</a:t>
            </a:r>
            <a:r>
              <a:rPr lang="zh-CN" altLang="en-US" sz="1600" dirty="0">
                <a:solidFill>
                  <a:schemeClr val="tx1"/>
                </a:solidFill>
                <a:latin typeface="思源黑体 CN Regular" panose="020B0500000000000000" pitchFamily="34" charset="-122"/>
                <a:ea typeface="思源黑体 CN Regular" panose="020B0500000000000000" pitchFamily="34" charset="-122"/>
              </a:rPr>
              <a:t>在肿瘤免疫中的作用提供可靠实验模型</a:t>
            </a:r>
          </a:p>
        </p:txBody>
      </p:sp>
      <p:sp>
        <p:nvSpPr>
          <p:cNvPr id="138" name="箭头: 右 137">
            <a:extLst>
              <a:ext uri="{FF2B5EF4-FFF2-40B4-BE49-F238E27FC236}">
                <a16:creationId xmlns:a16="http://schemas.microsoft.com/office/drawing/2014/main" id="{0FFF7061-C850-451B-BE6D-03E63D5ADB1B}"/>
              </a:ext>
            </a:extLst>
          </p:cNvPr>
          <p:cNvSpPr/>
          <p:nvPr/>
        </p:nvSpPr>
        <p:spPr>
          <a:xfrm rot="5400000">
            <a:off x="10599945" y="3065228"/>
            <a:ext cx="384810" cy="418374"/>
          </a:xfrm>
          <a:prstGeom prst="rightArrow">
            <a:avLst/>
          </a:prstGeom>
          <a:solidFill>
            <a:schemeClr val="bg1"/>
          </a:solidFill>
          <a:ln w="15875">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9" name="箭头: 右 138">
            <a:extLst>
              <a:ext uri="{FF2B5EF4-FFF2-40B4-BE49-F238E27FC236}">
                <a16:creationId xmlns:a16="http://schemas.microsoft.com/office/drawing/2014/main" id="{F46A9FA8-9C60-4000-8D8C-6641A73EE939}"/>
              </a:ext>
            </a:extLst>
          </p:cNvPr>
          <p:cNvSpPr/>
          <p:nvPr/>
        </p:nvSpPr>
        <p:spPr>
          <a:xfrm rot="5400000">
            <a:off x="10599945" y="4736850"/>
            <a:ext cx="384810" cy="418374"/>
          </a:xfrm>
          <a:prstGeom prst="rightArrow">
            <a:avLst/>
          </a:prstGeom>
          <a:solidFill>
            <a:schemeClr val="bg1"/>
          </a:solidFill>
          <a:ln w="15875">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1" name="箭头: 右 140">
            <a:extLst>
              <a:ext uri="{FF2B5EF4-FFF2-40B4-BE49-F238E27FC236}">
                <a16:creationId xmlns:a16="http://schemas.microsoft.com/office/drawing/2014/main" id="{176EE192-8758-40B5-ADB5-77276D4BEA18}"/>
              </a:ext>
            </a:extLst>
          </p:cNvPr>
          <p:cNvSpPr/>
          <p:nvPr/>
        </p:nvSpPr>
        <p:spPr>
          <a:xfrm>
            <a:off x="9374192" y="5033608"/>
            <a:ext cx="288668" cy="100192"/>
          </a:xfrm>
          <a:prstGeom prst="rightArrow">
            <a:avLst>
              <a:gd name="adj1" fmla="val 21026"/>
              <a:gd name="adj2" fmla="val 87974"/>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5" name="组合 4">
            <a:extLst>
              <a:ext uri="{FF2B5EF4-FFF2-40B4-BE49-F238E27FC236}">
                <a16:creationId xmlns:a16="http://schemas.microsoft.com/office/drawing/2014/main" id="{90E82BE2-9687-4C44-B37F-2B7398107C7A}"/>
              </a:ext>
            </a:extLst>
          </p:cNvPr>
          <p:cNvGrpSpPr/>
          <p:nvPr/>
        </p:nvGrpSpPr>
        <p:grpSpPr>
          <a:xfrm>
            <a:off x="3996384" y="3284667"/>
            <a:ext cx="3704222" cy="288668"/>
            <a:chOff x="3996384" y="3284795"/>
            <a:chExt cx="3704222" cy="288668"/>
          </a:xfrm>
        </p:grpSpPr>
        <p:sp>
          <p:nvSpPr>
            <p:cNvPr id="142" name="箭头: 右 141">
              <a:extLst>
                <a:ext uri="{FF2B5EF4-FFF2-40B4-BE49-F238E27FC236}">
                  <a16:creationId xmlns:a16="http://schemas.microsoft.com/office/drawing/2014/main" id="{A0D04613-5CFE-45FB-8FED-506DEFEBE138}"/>
                </a:ext>
              </a:extLst>
            </p:cNvPr>
            <p:cNvSpPr/>
            <p:nvPr/>
          </p:nvSpPr>
          <p:spPr>
            <a:xfrm rot="5400000">
              <a:off x="3902146" y="3379033"/>
              <a:ext cx="288668" cy="100192"/>
            </a:xfrm>
            <a:prstGeom prst="rightArrow">
              <a:avLst>
                <a:gd name="adj1" fmla="val 21026"/>
                <a:gd name="adj2" fmla="val 87974"/>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3" name="箭头: 右 142">
              <a:extLst>
                <a:ext uri="{FF2B5EF4-FFF2-40B4-BE49-F238E27FC236}">
                  <a16:creationId xmlns:a16="http://schemas.microsoft.com/office/drawing/2014/main" id="{0FA5B9EF-D9CE-4183-9FE3-E252DB93A897}"/>
                </a:ext>
              </a:extLst>
            </p:cNvPr>
            <p:cNvSpPr/>
            <p:nvPr/>
          </p:nvSpPr>
          <p:spPr>
            <a:xfrm rot="5400000">
              <a:off x="7506176" y="3379033"/>
              <a:ext cx="288668" cy="100192"/>
            </a:xfrm>
            <a:prstGeom prst="rightArrow">
              <a:avLst>
                <a:gd name="adj1" fmla="val 21026"/>
                <a:gd name="adj2" fmla="val 87974"/>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144" name="矩形: 圆角 143">
            <a:extLst>
              <a:ext uri="{FF2B5EF4-FFF2-40B4-BE49-F238E27FC236}">
                <a16:creationId xmlns:a16="http://schemas.microsoft.com/office/drawing/2014/main" id="{BCB4A5EB-E904-424F-879C-69489D1D1340}"/>
              </a:ext>
            </a:extLst>
          </p:cNvPr>
          <p:cNvSpPr/>
          <p:nvPr/>
        </p:nvSpPr>
        <p:spPr>
          <a:xfrm>
            <a:off x="2385993" y="1354766"/>
            <a:ext cx="3327889" cy="376049"/>
          </a:xfrm>
          <a:prstGeom prst="roundRect">
            <a:avLst/>
          </a:prstGeom>
          <a:solidFill>
            <a:schemeClr val="accent1"/>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600" b="1" dirty="0">
                <a:latin typeface="思源黑体 CN Bold" panose="020B0800000000000000" pitchFamily="34" charset="-122"/>
                <a:ea typeface="思源黑体 CN Bold" panose="020B0800000000000000" pitchFamily="34" charset="-122"/>
              </a:rPr>
              <a:t>MYSM1</a:t>
            </a:r>
            <a:r>
              <a:rPr lang="zh-CN" altLang="en-US" sz="1600" b="1" dirty="0">
                <a:latin typeface="思源黑体 CN Bold" panose="020B0800000000000000" pitchFamily="34" charset="-122"/>
                <a:ea typeface="思源黑体 CN Bold" panose="020B0800000000000000" pitchFamily="34" charset="-122"/>
              </a:rPr>
              <a:t>基因敲除模型构建与鉴定</a:t>
            </a:r>
          </a:p>
        </p:txBody>
      </p:sp>
      <p:sp>
        <p:nvSpPr>
          <p:cNvPr id="145" name="文本框 144">
            <a:extLst>
              <a:ext uri="{FF2B5EF4-FFF2-40B4-BE49-F238E27FC236}">
                <a16:creationId xmlns:a16="http://schemas.microsoft.com/office/drawing/2014/main" id="{60C76007-5C01-4B9B-BBBB-C6C7623150A2}"/>
              </a:ext>
            </a:extLst>
          </p:cNvPr>
          <p:cNvSpPr txBox="1"/>
          <p:nvPr/>
        </p:nvSpPr>
        <p:spPr>
          <a:xfrm>
            <a:off x="373082" y="5620123"/>
            <a:ext cx="1660612" cy="338554"/>
          </a:xfrm>
          <a:prstGeom prst="rect">
            <a:avLst/>
          </a:prstGeom>
          <a:noFill/>
        </p:spPr>
        <p:txBody>
          <a:bodyPr wrap="square" rtlCol="0">
            <a:spAutoFit/>
          </a:bodyPr>
          <a:lstStyle/>
          <a:p>
            <a:r>
              <a:rPr lang="zh-CN" altLang="en-US" sz="1600" dirty="0">
                <a:solidFill>
                  <a:schemeClr val="bg1"/>
                </a:solidFill>
                <a:latin typeface="思源黑体 CN Regular" panose="020B0500000000000000" pitchFamily="34" charset="-122"/>
                <a:ea typeface="思源黑体 CN Regular" panose="020B0500000000000000" pitchFamily="34" charset="-122"/>
              </a:rPr>
              <a:t>预期成果</a:t>
            </a:r>
          </a:p>
        </p:txBody>
      </p:sp>
      <p:sp>
        <p:nvSpPr>
          <p:cNvPr id="146" name="任意矩形：006">
            <a:extLst>
              <a:ext uri="{FF2B5EF4-FFF2-40B4-BE49-F238E27FC236}">
                <a16:creationId xmlns:a16="http://schemas.microsoft.com/office/drawing/2014/main" id="{4CD3BBFD-B7DA-4D8B-AAAA-DFB17DCC5051}"/>
              </a:ext>
            </a:extLst>
          </p:cNvPr>
          <p:cNvSpPr/>
          <p:nvPr/>
        </p:nvSpPr>
        <p:spPr>
          <a:xfrm>
            <a:off x="125661" y="5689964"/>
            <a:ext cx="203662" cy="187126"/>
          </a:xfrm>
          <a:custGeom>
            <a:avLst/>
            <a:gdLst>
              <a:gd name="T0" fmla="*/ 11834 w 13933"/>
              <a:gd name="T1" fmla="*/ 1094 h 12800"/>
              <a:gd name="T2" fmla="*/ 10384 w 13933"/>
              <a:gd name="T3" fmla="*/ 1094 h 12800"/>
              <a:gd name="T4" fmla="*/ 10384 w 13933"/>
              <a:gd name="T5" fmla="*/ 315 h 12800"/>
              <a:gd name="T6" fmla="*/ 10069 w 13933"/>
              <a:gd name="T7" fmla="*/ 0 h 12800"/>
              <a:gd name="T8" fmla="*/ 9754 w 13933"/>
              <a:gd name="T9" fmla="*/ 315 h 12800"/>
              <a:gd name="T10" fmla="*/ 9754 w 13933"/>
              <a:gd name="T11" fmla="*/ 1094 h 12800"/>
              <a:gd name="T12" fmla="*/ 4056 w 13933"/>
              <a:gd name="T13" fmla="*/ 1094 h 12800"/>
              <a:gd name="T14" fmla="*/ 4056 w 13933"/>
              <a:gd name="T15" fmla="*/ 315 h 12800"/>
              <a:gd name="T16" fmla="*/ 3741 w 13933"/>
              <a:gd name="T17" fmla="*/ 0 h 12800"/>
              <a:gd name="T18" fmla="*/ 3426 w 13933"/>
              <a:gd name="T19" fmla="*/ 315 h 12800"/>
              <a:gd name="T20" fmla="*/ 3426 w 13933"/>
              <a:gd name="T21" fmla="*/ 1094 h 12800"/>
              <a:gd name="T22" fmla="*/ 2099 w 13933"/>
              <a:gd name="T23" fmla="*/ 1094 h 12800"/>
              <a:gd name="T24" fmla="*/ 0 w 13933"/>
              <a:gd name="T25" fmla="*/ 3193 h 12800"/>
              <a:gd name="T26" fmla="*/ 0 w 13933"/>
              <a:gd name="T27" fmla="*/ 10701 h 12800"/>
              <a:gd name="T28" fmla="*/ 2099 w 13933"/>
              <a:gd name="T29" fmla="*/ 12800 h 12800"/>
              <a:gd name="T30" fmla="*/ 11834 w 13933"/>
              <a:gd name="T31" fmla="*/ 12800 h 12800"/>
              <a:gd name="T32" fmla="*/ 13933 w 13933"/>
              <a:gd name="T33" fmla="*/ 10701 h 12800"/>
              <a:gd name="T34" fmla="*/ 13933 w 13933"/>
              <a:gd name="T35" fmla="*/ 3193 h 12800"/>
              <a:gd name="T36" fmla="*/ 11834 w 13933"/>
              <a:gd name="T37" fmla="*/ 1094 h 12800"/>
              <a:gd name="T38" fmla="*/ 2099 w 13933"/>
              <a:gd name="T39" fmla="*/ 1933 h 12800"/>
              <a:gd name="T40" fmla="*/ 3426 w 13933"/>
              <a:gd name="T41" fmla="*/ 1933 h 12800"/>
              <a:gd name="T42" fmla="*/ 3426 w 13933"/>
              <a:gd name="T43" fmla="*/ 2757 h 12800"/>
              <a:gd name="T44" fmla="*/ 3741 w 13933"/>
              <a:gd name="T45" fmla="*/ 3072 h 12800"/>
              <a:gd name="T46" fmla="*/ 4056 w 13933"/>
              <a:gd name="T47" fmla="*/ 2757 h 12800"/>
              <a:gd name="T48" fmla="*/ 4056 w 13933"/>
              <a:gd name="T49" fmla="*/ 1933 h 12800"/>
              <a:gd name="T50" fmla="*/ 9754 w 13933"/>
              <a:gd name="T51" fmla="*/ 1933 h 12800"/>
              <a:gd name="T52" fmla="*/ 9754 w 13933"/>
              <a:gd name="T53" fmla="*/ 2757 h 12800"/>
              <a:gd name="T54" fmla="*/ 10069 w 13933"/>
              <a:gd name="T55" fmla="*/ 3072 h 12800"/>
              <a:gd name="T56" fmla="*/ 10384 w 13933"/>
              <a:gd name="T57" fmla="*/ 2757 h 12800"/>
              <a:gd name="T58" fmla="*/ 10384 w 13933"/>
              <a:gd name="T59" fmla="*/ 1933 h 12800"/>
              <a:gd name="T60" fmla="*/ 11834 w 13933"/>
              <a:gd name="T61" fmla="*/ 1933 h 12800"/>
              <a:gd name="T62" fmla="*/ 13094 w 13933"/>
              <a:gd name="T63" fmla="*/ 3193 h 12800"/>
              <a:gd name="T64" fmla="*/ 13094 w 13933"/>
              <a:gd name="T65" fmla="*/ 4646 h 12800"/>
              <a:gd name="T66" fmla="*/ 840 w 13933"/>
              <a:gd name="T67" fmla="*/ 4646 h 12800"/>
              <a:gd name="T68" fmla="*/ 840 w 13933"/>
              <a:gd name="T69" fmla="*/ 3193 h 12800"/>
              <a:gd name="T70" fmla="*/ 2099 w 13933"/>
              <a:gd name="T71" fmla="*/ 1933 h 12800"/>
              <a:gd name="T72" fmla="*/ 11834 w 13933"/>
              <a:gd name="T73" fmla="*/ 11960 h 12800"/>
              <a:gd name="T74" fmla="*/ 2099 w 13933"/>
              <a:gd name="T75" fmla="*/ 11960 h 12800"/>
              <a:gd name="T76" fmla="*/ 840 w 13933"/>
              <a:gd name="T77" fmla="*/ 10701 h 12800"/>
              <a:gd name="T78" fmla="*/ 840 w 13933"/>
              <a:gd name="T79" fmla="*/ 5276 h 12800"/>
              <a:gd name="T80" fmla="*/ 13094 w 13933"/>
              <a:gd name="T81" fmla="*/ 5276 h 12800"/>
              <a:gd name="T82" fmla="*/ 13094 w 13933"/>
              <a:gd name="T83" fmla="*/ 10701 h 12800"/>
              <a:gd name="T84" fmla="*/ 11834 w 13933"/>
              <a:gd name="T85" fmla="*/ 11960 h 128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Lst>
            <a:rect l="0" t="0" r="r" b="b"/>
            <a:pathLst>
              <a:path w="13933" h="12800">
                <a:moveTo>
                  <a:pt x="11834" y="1094"/>
                </a:moveTo>
                <a:lnTo>
                  <a:pt x="10384" y="1094"/>
                </a:lnTo>
                <a:lnTo>
                  <a:pt x="10384" y="315"/>
                </a:lnTo>
                <a:cubicBezTo>
                  <a:pt x="10384" y="141"/>
                  <a:pt x="10243" y="0"/>
                  <a:pt x="10069" y="0"/>
                </a:cubicBezTo>
                <a:cubicBezTo>
                  <a:pt x="9895" y="0"/>
                  <a:pt x="9754" y="141"/>
                  <a:pt x="9754" y="315"/>
                </a:cubicBezTo>
                <a:lnTo>
                  <a:pt x="9754" y="1094"/>
                </a:lnTo>
                <a:lnTo>
                  <a:pt x="4056" y="1094"/>
                </a:lnTo>
                <a:lnTo>
                  <a:pt x="4056" y="315"/>
                </a:lnTo>
                <a:cubicBezTo>
                  <a:pt x="4056" y="141"/>
                  <a:pt x="3915" y="0"/>
                  <a:pt x="3741" y="0"/>
                </a:cubicBezTo>
                <a:cubicBezTo>
                  <a:pt x="3567" y="0"/>
                  <a:pt x="3426" y="141"/>
                  <a:pt x="3426" y="315"/>
                </a:cubicBezTo>
                <a:lnTo>
                  <a:pt x="3426" y="1094"/>
                </a:lnTo>
                <a:lnTo>
                  <a:pt x="2099" y="1094"/>
                </a:lnTo>
                <a:cubicBezTo>
                  <a:pt x="940" y="1095"/>
                  <a:pt x="1" y="2034"/>
                  <a:pt x="0" y="3193"/>
                </a:cubicBezTo>
                <a:lnTo>
                  <a:pt x="0" y="10701"/>
                </a:lnTo>
                <a:cubicBezTo>
                  <a:pt x="1" y="11860"/>
                  <a:pt x="940" y="12799"/>
                  <a:pt x="2099" y="12800"/>
                </a:cubicBezTo>
                <a:lnTo>
                  <a:pt x="11834" y="12800"/>
                </a:lnTo>
                <a:cubicBezTo>
                  <a:pt x="12993" y="12799"/>
                  <a:pt x="13932" y="11860"/>
                  <a:pt x="13933" y="10701"/>
                </a:cubicBezTo>
                <a:lnTo>
                  <a:pt x="13933" y="3193"/>
                </a:lnTo>
                <a:cubicBezTo>
                  <a:pt x="13932" y="2034"/>
                  <a:pt x="12993" y="1095"/>
                  <a:pt x="11834" y="1094"/>
                </a:cubicBezTo>
                <a:close/>
                <a:moveTo>
                  <a:pt x="2099" y="1933"/>
                </a:moveTo>
                <a:lnTo>
                  <a:pt x="3426" y="1933"/>
                </a:lnTo>
                <a:lnTo>
                  <a:pt x="3426" y="2757"/>
                </a:lnTo>
                <a:cubicBezTo>
                  <a:pt x="3426" y="2931"/>
                  <a:pt x="3567" y="3072"/>
                  <a:pt x="3741" y="3072"/>
                </a:cubicBezTo>
                <a:cubicBezTo>
                  <a:pt x="3915" y="3072"/>
                  <a:pt x="4056" y="2931"/>
                  <a:pt x="4056" y="2757"/>
                </a:cubicBezTo>
                <a:lnTo>
                  <a:pt x="4056" y="1933"/>
                </a:lnTo>
                <a:lnTo>
                  <a:pt x="9754" y="1933"/>
                </a:lnTo>
                <a:lnTo>
                  <a:pt x="9754" y="2757"/>
                </a:lnTo>
                <a:cubicBezTo>
                  <a:pt x="9754" y="2931"/>
                  <a:pt x="9895" y="3072"/>
                  <a:pt x="10069" y="3072"/>
                </a:cubicBezTo>
                <a:cubicBezTo>
                  <a:pt x="10243" y="3072"/>
                  <a:pt x="10384" y="2931"/>
                  <a:pt x="10384" y="2757"/>
                </a:cubicBezTo>
                <a:lnTo>
                  <a:pt x="10384" y="1933"/>
                </a:lnTo>
                <a:lnTo>
                  <a:pt x="11834" y="1933"/>
                </a:lnTo>
                <a:cubicBezTo>
                  <a:pt x="12529" y="1934"/>
                  <a:pt x="13093" y="2497"/>
                  <a:pt x="13094" y="3193"/>
                </a:cubicBezTo>
                <a:lnTo>
                  <a:pt x="13094" y="4646"/>
                </a:lnTo>
                <a:lnTo>
                  <a:pt x="840" y="4646"/>
                </a:lnTo>
                <a:lnTo>
                  <a:pt x="840" y="3193"/>
                </a:lnTo>
                <a:cubicBezTo>
                  <a:pt x="840" y="2497"/>
                  <a:pt x="1404" y="1934"/>
                  <a:pt x="2099" y="1933"/>
                </a:cubicBezTo>
                <a:close/>
                <a:moveTo>
                  <a:pt x="11834" y="11960"/>
                </a:moveTo>
                <a:lnTo>
                  <a:pt x="2099" y="11960"/>
                </a:lnTo>
                <a:cubicBezTo>
                  <a:pt x="1404" y="11960"/>
                  <a:pt x="840" y="11396"/>
                  <a:pt x="840" y="10701"/>
                </a:cubicBezTo>
                <a:lnTo>
                  <a:pt x="840" y="5276"/>
                </a:lnTo>
                <a:lnTo>
                  <a:pt x="13094" y="5276"/>
                </a:lnTo>
                <a:lnTo>
                  <a:pt x="13094" y="10701"/>
                </a:lnTo>
                <a:cubicBezTo>
                  <a:pt x="13093" y="11396"/>
                  <a:pt x="12529" y="11960"/>
                  <a:pt x="11834" y="1196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16148498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矩形: 圆角 10">
            <a:extLst>
              <a:ext uri="{FF2B5EF4-FFF2-40B4-BE49-F238E27FC236}">
                <a16:creationId xmlns:a16="http://schemas.microsoft.com/office/drawing/2014/main" id="{8BE4F5B9-0A7A-4D0C-81A2-093ACA468498}"/>
              </a:ext>
            </a:extLst>
          </p:cNvPr>
          <p:cNvSpPr/>
          <p:nvPr/>
        </p:nvSpPr>
        <p:spPr>
          <a:xfrm>
            <a:off x="2394923" y="1362386"/>
            <a:ext cx="2489591" cy="5104363"/>
          </a:xfrm>
          <a:prstGeom prst="roundRect">
            <a:avLst>
              <a:gd name="adj" fmla="val 4721"/>
            </a:avLst>
          </a:prstGeom>
          <a:solidFill>
            <a:schemeClr val="bg1"/>
          </a:solidFill>
          <a:ln w="15875">
            <a:solidFill>
              <a:schemeClr val="accent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4" name="矩形: 圆角 13">
            <a:extLst>
              <a:ext uri="{FF2B5EF4-FFF2-40B4-BE49-F238E27FC236}">
                <a16:creationId xmlns:a16="http://schemas.microsoft.com/office/drawing/2014/main" id="{D8DDBBFE-275A-41A7-ABF4-E39F33F6F230}"/>
              </a:ext>
            </a:extLst>
          </p:cNvPr>
          <p:cNvSpPr/>
          <p:nvPr/>
        </p:nvSpPr>
        <p:spPr>
          <a:xfrm>
            <a:off x="5056819" y="1362386"/>
            <a:ext cx="4252572" cy="5104363"/>
          </a:xfrm>
          <a:prstGeom prst="roundRect">
            <a:avLst>
              <a:gd name="adj" fmla="val 3646"/>
            </a:avLst>
          </a:prstGeom>
          <a:solidFill>
            <a:schemeClr val="bg1"/>
          </a:solidFill>
          <a:ln w="15875">
            <a:solidFill>
              <a:schemeClr val="accent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8" name="矩形: 圆顶角 17">
            <a:extLst>
              <a:ext uri="{FF2B5EF4-FFF2-40B4-BE49-F238E27FC236}">
                <a16:creationId xmlns:a16="http://schemas.microsoft.com/office/drawing/2014/main" id="{A5E3953C-8D54-4517-B4AE-FC8808B07825}"/>
              </a:ext>
            </a:extLst>
          </p:cNvPr>
          <p:cNvSpPr/>
          <p:nvPr/>
        </p:nvSpPr>
        <p:spPr>
          <a:xfrm>
            <a:off x="2610900" y="1354766"/>
            <a:ext cx="2057636" cy="376049"/>
          </a:xfrm>
          <a:prstGeom prst="round2SameRect">
            <a:avLst>
              <a:gd name="adj1" fmla="val 0"/>
              <a:gd name="adj2" fmla="val 19256"/>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600" b="1" dirty="0">
                <a:latin typeface="思源黑体 CN Bold" panose="020B0800000000000000" pitchFamily="34" charset="-122"/>
                <a:ea typeface="思源黑体 CN Bold" panose="020B0800000000000000" pitchFamily="34" charset="-122"/>
              </a:rPr>
              <a:t>核心研究内容</a:t>
            </a:r>
          </a:p>
        </p:txBody>
      </p:sp>
      <p:sp>
        <p:nvSpPr>
          <p:cNvPr id="28" name="矩形: 圆顶角 27">
            <a:extLst>
              <a:ext uri="{FF2B5EF4-FFF2-40B4-BE49-F238E27FC236}">
                <a16:creationId xmlns:a16="http://schemas.microsoft.com/office/drawing/2014/main" id="{C4B156B9-A301-488B-9DB2-AFEB960F6724}"/>
              </a:ext>
            </a:extLst>
          </p:cNvPr>
          <p:cNvSpPr/>
          <p:nvPr/>
        </p:nvSpPr>
        <p:spPr>
          <a:xfrm>
            <a:off x="6189478" y="1354766"/>
            <a:ext cx="2057636" cy="376049"/>
          </a:xfrm>
          <a:prstGeom prst="round2SameRect">
            <a:avLst>
              <a:gd name="adj1" fmla="val 0"/>
              <a:gd name="adj2" fmla="val 19256"/>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600" b="1" dirty="0">
                <a:latin typeface="思源黑体 CN Bold" panose="020B0800000000000000" pitchFamily="34" charset="-122"/>
                <a:ea typeface="思源黑体 CN Bold" panose="020B0800000000000000" pitchFamily="34" charset="-122"/>
              </a:rPr>
              <a:t>核心研究数据</a:t>
            </a:r>
          </a:p>
        </p:txBody>
      </p:sp>
      <p:grpSp>
        <p:nvGrpSpPr>
          <p:cNvPr id="13" name="组合 12">
            <a:extLst>
              <a:ext uri="{FF2B5EF4-FFF2-40B4-BE49-F238E27FC236}">
                <a16:creationId xmlns:a16="http://schemas.microsoft.com/office/drawing/2014/main" id="{7EF6407D-242F-4333-98BB-949ADEF08079}"/>
              </a:ext>
            </a:extLst>
          </p:cNvPr>
          <p:cNvGrpSpPr/>
          <p:nvPr/>
        </p:nvGrpSpPr>
        <p:grpSpPr>
          <a:xfrm>
            <a:off x="2459856" y="1932927"/>
            <a:ext cx="2359724" cy="1341488"/>
            <a:chOff x="2459856" y="1932927"/>
            <a:chExt cx="2359724" cy="1341488"/>
          </a:xfrm>
        </p:grpSpPr>
        <p:sp>
          <p:nvSpPr>
            <p:cNvPr id="26" name="文本框 25">
              <a:extLst>
                <a:ext uri="{FF2B5EF4-FFF2-40B4-BE49-F238E27FC236}">
                  <a16:creationId xmlns:a16="http://schemas.microsoft.com/office/drawing/2014/main" id="{AA6B332E-9FAE-4A5C-B6C8-7C0CE3FB3915}"/>
                </a:ext>
              </a:extLst>
            </p:cNvPr>
            <p:cNvSpPr txBox="1"/>
            <p:nvPr/>
          </p:nvSpPr>
          <p:spPr>
            <a:xfrm>
              <a:off x="2459856" y="1932927"/>
              <a:ext cx="2208680" cy="386388"/>
            </a:xfrm>
            <a:prstGeom prst="rect">
              <a:avLst/>
            </a:prstGeom>
            <a:noFill/>
          </p:spPr>
          <p:txBody>
            <a:bodyPr wrap="square" rtlCol="0">
              <a:spAutoFit/>
            </a:bodyPr>
            <a:lstStyle>
              <a:defPPr>
                <a:defRPr lang="zh-CN"/>
              </a:defPPr>
              <a:lvl1pPr marL="285750" indent="-285750">
                <a:lnSpc>
                  <a:spcPct val="110000"/>
                </a:lnSpc>
                <a:buFont typeface="Wingdings" panose="05000000000000000000" pitchFamily="2" charset="2"/>
                <a:buChar char="u"/>
                <a:defRPr sz="1400">
                  <a:latin typeface="思源黑体 CN Regular" panose="020B0500000000000000" pitchFamily="34" charset="-122"/>
                  <a:ea typeface="思源黑体 CN Regular" panose="020B0500000000000000" pitchFamily="34" charset="-122"/>
                </a:defRPr>
              </a:lvl1pPr>
            </a:lstStyle>
            <a:p>
              <a:pPr algn="ctr">
                <a:lnSpc>
                  <a:spcPct val="130000"/>
                </a:lnSpc>
                <a:buFont typeface="Wingdings" panose="05000000000000000000" pitchFamily="2" charset="2"/>
                <a:buChar char="ü"/>
              </a:pPr>
              <a:r>
                <a:rPr lang="zh-CN" altLang="en-US" sz="1600" dirty="0">
                  <a:latin typeface="思源黑体 CN Bold" panose="020B0800000000000000" pitchFamily="34" charset="-122"/>
                  <a:ea typeface="思源黑体 CN Bold" panose="020B0800000000000000" pitchFamily="34" charset="-122"/>
                </a:rPr>
                <a:t>策略框架搭建</a:t>
              </a:r>
            </a:p>
          </p:txBody>
        </p:sp>
        <p:sp>
          <p:nvSpPr>
            <p:cNvPr id="27" name="文本框 26">
              <a:extLst>
                <a:ext uri="{FF2B5EF4-FFF2-40B4-BE49-F238E27FC236}">
                  <a16:creationId xmlns:a16="http://schemas.microsoft.com/office/drawing/2014/main" id="{924DAFE5-8358-467B-ABA2-EBED95927629}"/>
                </a:ext>
              </a:extLst>
            </p:cNvPr>
            <p:cNvSpPr txBox="1"/>
            <p:nvPr/>
          </p:nvSpPr>
          <p:spPr>
            <a:xfrm>
              <a:off x="2459856" y="2247852"/>
              <a:ext cx="2359724" cy="1026563"/>
            </a:xfrm>
            <a:prstGeom prst="rect">
              <a:avLst/>
            </a:prstGeom>
            <a:noFill/>
          </p:spPr>
          <p:txBody>
            <a:bodyPr wrap="square" rtlCol="0">
              <a:spAutoFit/>
            </a:bodyPr>
            <a:lstStyle>
              <a:defPPr>
                <a:defRPr lang="zh-CN"/>
              </a:defPPr>
              <a:lvl1pPr marL="285750" indent="-285750">
                <a:lnSpc>
                  <a:spcPct val="110000"/>
                </a:lnSpc>
                <a:buFont typeface="Wingdings" panose="05000000000000000000" pitchFamily="2" charset="2"/>
                <a:buChar char="u"/>
                <a:defRPr sz="1400">
                  <a:latin typeface="思源黑体 CN Regular" panose="020B0500000000000000" pitchFamily="34" charset="-122"/>
                  <a:ea typeface="思源黑体 CN Regular" panose="020B0500000000000000" pitchFamily="34" charset="-122"/>
                </a:defRPr>
              </a:lvl1pPr>
            </a:lstStyle>
            <a:p>
              <a:pPr marL="0" indent="0" algn="ctr">
                <a:lnSpc>
                  <a:spcPct val="130000"/>
                </a:lnSpc>
                <a:buNone/>
              </a:pPr>
              <a:r>
                <a:rPr lang="zh-CN" altLang="en-US" sz="1600" dirty="0"/>
                <a:t>构建</a:t>
              </a:r>
              <a:r>
                <a:rPr lang="en-US" altLang="zh-CN" sz="1600" dirty="0"/>
                <a:t>DXSVDFB</a:t>
              </a:r>
              <a:r>
                <a:rPr lang="zh-CN" altLang="en-US" sz="1600" dirty="0"/>
                <a:t>三层调度框架，适配</a:t>
              </a:r>
              <a:r>
                <a:rPr lang="en-US" altLang="zh-CN" sz="1600" dirty="0"/>
                <a:t>5G</a:t>
              </a:r>
              <a:r>
                <a:rPr lang="zh-CN" altLang="en-US" sz="1600" dirty="0"/>
                <a:t>多业务场景需求；</a:t>
              </a:r>
            </a:p>
          </p:txBody>
        </p:sp>
      </p:grpSp>
      <p:grpSp>
        <p:nvGrpSpPr>
          <p:cNvPr id="12" name="组合 11">
            <a:extLst>
              <a:ext uri="{FF2B5EF4-FFF2-40B4-BE49-F238E27FC236}">
                <a16:creationId xmlns:a16="http://schemas.microsoft.com/office/drawing/2014/main" id="{0769A6A1-A07E-4CC9-AB93-4A152B68D715}"/>
              </a:ext>
            </a:extLst>
          </p:cNvPr>
          <p:cNvGrpSpPr/>
          <p:nvPr/>
        </p:nvGrpSpPr>
        <p:grpSpPr>
          <a:xfrm>
            <a:off x="2425195" y="3639634"/>
            <a:ext cx="2429046" cy="1021400"/>
            <a:chOff x="2425195" y="3601645"/>
            <a:chExt cx="2429046" cy="1021400"/>
          </a:xfrm>
        </p:grpSpPr>
        <p:sp>
          <p:nvSpPr>
            <p:cNvPr id="29" name="文本框 28">
              <a:extLst>
                <a:ext uri="{FF2B5EF4-FFF2-40B4-BE49-F238E27FC236}">
                  <a16:creationId xmlns:a16="http://schemas.microsoft.com/office/drawing/2014/main" id="{22F1FEE2-8339-41B5-8D7B-B7FBFE708087}"/>
                </a:ext>
              </a:extLst>
            </p:cNvPr>
            <p:cNvSpPr txBox="1"/>
            <p:nvPr/>
          </p:nvSpPr>
          <p:spPr>
            <a:xfrm>
              <a:off x="2459856" y="3601645"/>
              <a:ext cx="2208680" cy="386388"/>
            </a:xfrm>
            <a:prstGeom prst="rect">
              <a:avLst/>
            </a:prstGeom>
            <a:noFill/>
          </p:spPr>
          <p:txBody>
            <a:bodyPr wrap="square" rtlCol="0">
              <a:spAutoFit/>
            </a:bodyPr>
            <a:lstStyle>
              <a:defPPr>
                <a:defRPr lang="zh-CN"/>
              </a:defPPr>
              <a:lvl1pPr marL="285750" indent="-285750">
                <a:lnSpc>
                  <a:spcPct val="110000"/>
                </a:lnSpc>
                <a:buFont typeface="Wingdings" panose="05000000000000000000" pitchFamily="2" charset="2"/>
                <a:buChar char="u"/>
                <a:defRPr sz="1400">
                  <a:latin typeface="思源黑体 CN Regular" panose="020B0500000000000000" pitchFamily="34" charset="-122"/>
                  <a:ea typeface="思源黑体 CN Regular" panose="020B0500000000000000" pitchFamily="34" charset="-122"/>
                </a:defRPr>
              </a:lvl1pPr>
            </a:lstStyle>
            <a:p>
              <a:pPr algn="ctr">
                <a:lnSpc>
                  <a:spcPct val="130000"/>
                </a:lnSpc>
                <a:buFont typeface="Wingdings" panose="05000000000000000000" pitchFamily="2" charset="2"/>
                <a:buChar char="ü"/>
              </a:pPr>
              <a:r>
                <a:rPr lang="zh-CN" altLang="en-US" sz="1600" dirty="0">
                  <a:latin typeface="思源黑体 CN Bold" panose="020B0800000000000000" pitchFamily="34" charset="-122"/>
                  <a:ea typeface="思源黑体 CN Bold" panose="020B0800000000000000" pitchFamily="34" charset="-122"/>
                </a:rPr>
                <a:t>关键算法设计</a:t>
              </a:r>
            </a:p>
          </p:txBody>
        </p:sp>
        <p:sp>
          <p:nvSpPr>
            <p:cNvPr id="30" name="文本框 29">
              <a:extLst>
                <a:ext uri="{FF2B5EF4-FFF2-40B4-BE49-F238E27FC236}">
                  <a16:creationId xmlns:a16="http://schemas.microsoft.com/office/drawing/2014/main" id="{7E3233C9-0041-4EB7-BD00-FBC5627F3348}"/>
                </a:ext>
              </a:extLst>
            </p:cNvPr>
            <p:cNvSpPr txBox="1"/>
            <p:nvPr/>
          </p:nvSpPr>
          <p:spPr>
            <a:xfrm>
              <a:off x="2425195" y="3916570"/>
              <a:ext cx="2429046" cy="706475"/>
            </a:xfrm>
            <a:prstGeom prst="rect">
              <a:avLst/>
            </a:prstGeom>
            <a:noFill/>
          </p:spPr>
          <p:txBody>
            <a:bodyPr wrap="square" rtlCol="0">
              <a:spAutoFit/>
            </a:bodyPr>
            <a:lstStyle>
              <a:defPPr>
                <a:defRPr lang="zh-CN"/>
              </a:defPPr>
              <a:lvl1pPr marL="285750" indent="-285750">
                <a:lnSpc>
                  <a:spcPct val="110000"/>
                </a:lnSpc>
                <a:buFont typeface="Wingdings" panose="05000000000000000000" pitchFamily="2" charset="2"/>
                <a:buChar char="u"/>
                <a:defRPr sz="1400">
                  <a:latin typeface="思源黑体 CN Regular" panose="020B0500000000000000" pitchFamily="34" charset="-122"/>
                  <a:ea typeface="思源黑体 CN Regular" panose="020B0500000000000000" pitchFamily="34" charset="-122"/>
                </a:defRPr>
              </a:lvl1pPr>
            </a:lstStyle>
            <a:p>
              <a:pPr marL="0" indent="0" algn="ctr">
                <a:lnSpc>
                  <a:spcPct val="130000"/>
                </a:lnSpc>
                <a:buNone/>
              </a:pPr>
              <a:r>
                <a:rPr lang="zh-CN" altLang="en-US" sz="1600" dirty="0"/>
                <a:t>设计自适应权重算法，优化策略资源分配实时性；</a:t>
              </a:r>
            </a:p>
          </p:txBody>
        </p:sp>
      </p:grpSp>
      <p:grpSp>
        <p:nvGrpSpPr>
          <p:cNvPr id="10" name="组合 9">
            <a:extLst>
              <a:ext uri="{FF2B5EF4-FFF2-40B4-BE49-F238E27FC236}">
                <a16:creationId xmlns:a16="http://schemas.microsoft.com/office/drawing/2014/main" id="{1521A6E8-F12F-4657-A394-9ECB173A8F42}"/>
              </a:ext>
            </a:extLst>
          </p:cNvPr>
          <p:cNvGrpSpPr/>
          <p:nvPr/>
        </p:nvGrpSpPr>
        <p:grpSpPr>
          <a:xfrm>
            <a:off x="2455468" y="5026252"/>
            <a:ext cx="2474816" cy="1021400"/>
            <a:chOff x="2455468" y="4950276"/>
            <a:chExt cx="2474816" cy="1021400"/>
          </a:xfrm>
        </p:grpSpPr>
        <p:sp>
          <p:nvSpPr>
            <p:cNvPr id="31" name="文本框 30">
              <a:extLst>
                <a:ext uri="{FF2B5EF4-FFF2-40B4-BE49-F238E27FC236}">
                  <a16:creationId xmlns:a16="http://schemas.microsoft.com/office/drawing/2014/main" id="{EF1A664E-D4FF-483C-8A71-C621F4F70795}"/>
                </a:ext>
              </a:extLst>
            </p:cNvPr>
            <p:cNvSpPr txBox="1"/>
            <p:nvPr/>
          </p:nvSpPr>
          <p:spPr>
            <a:xfrm>
              <a:off x="2459856" y="4950276"/>
              <a:ext cx="2208680" cy="386388"/>
            </a:xfrm>
            <a:prstGeom prst="rect">
              <a:avLst/>
            </a:prstGeom>
            <a:noFill/>
          </p:spPr>
          <p:txBody>
            <a:bodyPr wrap="square" rtlCol="0">
              <a:spAutoFit/>
            </a:bodyPr>
            <a:lstStyle>
              <a:defPPr>
                <a:defRPr lang="zh-CN"/>
              </a:defPPr>
              <a:lvl1pPr marL="285750" indent="-285750">
                <a:lnSpc>
                  <a:spcPct val="110000"/>
                </a:lnSpc>
                <a:buFont typeface="Wingdings" panose="05000000000000000000" pitchFamily="2" charset="2"/>
                <a:buChar char="u"/>
                <a:defRPr sz="1400">
                  <a:latin typeface="思源黑体 CN Regular" panose="020B0500000000000000" pitchFamily="34" charset="-122"/>
                  <a:ea typeface="思源黑体 CN Regular" panose="020B0500000000000000" pitchFamily="34" charset="-122"/>
                </a:defRPr>
              </a:lvl1pPr>
            </a:lstStyle>
            <a:p>
              <a:pPr algn="ctr">
                <a:lnSpc>
                  <a:spcPct val="130000"/>
                </a:lnSpc>
                <a:buFont typeface="Wingdings" panose="05000000000000000000" pitchFamily="2" charset="2"/>
                <a:buChar char="ü"/>
              </a:pPr>
              <a:r>
                <a:rPr lang="zh-CN" altLang="en-US" sz="1600" dirty="0">
                  <a:latin typeface="思源黑体 CN Bold" panose="020B0800000000000000" pitchFamily="34" charset="-122"/>
                  <a:ea typeface="思源黑体 CN Bold" panose="020B0800000000000000" pitchFamily="34" charset="-122"/>
                </a:rPr>
                <a:t>仿真验证方案</a:t>
              </a:r>
            </a:p>
          </p:txBody>
        </p:sp>
        <p:sp>
          <p:nvSpPr>
            <p:cNvPr id="32" name="文本框 31">
              <a:extLst>
                <a:ext uri="{FF2B5EF4-FFF2-40B4-BE49-F238E27FC236}">
                  <a16:creationId xmlns:a16="http://schemas.microsoft.com/office/drawing/2014/main" id="{CC0B2D48-1273-43C6-8460-5070EE73F740}"/>
                </a:ext>
              </a:extLst>
            </p:cNvPr>
            <p:cNvSpPr txBox="1"/>
            <p:nvPr/>
          </p:nvSpPr>
          <p:spPr>
            <a:xfrm>
              <a:off x="2455468" y="5265201"/>
              <a:ext cx="2474816" cy="706475"/>
            </a:xfrm>
            <a:prstGeom prst="rect">
              <a:avLst/>
            </a:prstGeom>
            <a:noFill/>
          </p:spPr>
          <p:txBody>
            <a:bodyPr wrap="square" rtlCol="0">
              <a:spAutoFit/>
            </a:bodyPr>
            <a:lstStyle>
              <a:defPPr>
                <a:defRPr lang="zh-CN"/>
              </a:defPPr>
              <a:lvl1pPr marL="285750" indent="-285750">
                <a:lnSpc>
                  <a:spcPct val="110000"/>
                </a:lnSpc>
                <a:buFont typeface="Wingdings" panose="05000000000000000000" pitchFamily="2" charset="2"/>
                <a:buChar char="u"/>
                <a:defRPr sz="1400">
                  <a:latin typeface="思源黑体 CN Regular" panose="020B0500000000000000" pitchFamily="34" charset="-122"/>
                  <a:ea typeface="思源黑体 CN Regular" panose="020B0500000000000000" pitchFamily="34" charset="-122"/>
                </a:defRPr>
              </a:lvl1pPr>
            </a:lstStyle>
            <a:p>
              <a:pPr marL="0" indent="0" algn="ctr">
                <a:lnSpc>
                  <a:spcPct val="130000"/>
                </a:lnSpc>
                <a:buNone/>
              </a:pPr>
              <a:r>
                <a:rPr lang="zh-CN" altLang="en-US" sz="1600" dirty="0"/>
                <a:t>基于</a:t>
              </a:r>
              <a:r>
                <a:rPr lang="en-US" altLang="zh-CN" sz="1600" dirty="0"/>
                <a:t>NS-3</a:t>
              </a:r>
              <a:r>
                <a:rPr lang="zh-CN" altLang="en-US" sz="1600" dirty="0"/>
                <a:t>搭建仿真平台，验证策略性能优势。</a:t>
              </a:r>
            </a:p>
          </p:txBody>
        </p:sp>
      </p:grpSp>
      <p:grpSp>
        <p:nvGrpSpPr>
          <p:cNvPr id="5" name="组合 4">
            <a:extLst>
              <a:ext uri="{FF2B5EF4-FFF2-40B4-BE49-F238E27FC236}">
                <a16:creationId xmlns:a16="http://schemas.microsoft.com/office/drawing/2014/main" id="{D299C9BE-AA6A-43B2-B64A-403CAEC85578}"/>
              </a:ext>
            </a:extLst>
          </p:cNvPr>
          <p:cNvGrpSpPr/>
          <p:nvPr/>
        </p:nvGrpSpPr>
        <p:grpSpPr>
          <a:xfrm>
            <a:off x="5247006" y="2020549"/>
            <a:ext cx="3977531" cy="1929525"/>
            <a:chOff x="4027743" y="2427031"/>
            <a:chExt cx="2603458" cy="1262954"/>
          </a:xfrm>
        </p:grpSpPr>
        <p:pic>
          <p:nvPicPr>
            <p:cNvPr id="2054" name="Picture 6" descr="查看图片">
              <a:extLst>
                <a:ext uri="{FF2B5EF4-FFF2-40B4-BE49-F238E27FC236}">
                  <a16:creationId xmlns:a16="http://schemas.microsoft.com/office/drawing/2014/main" id="{7527E9A6-C912-4E90-A4F8-A7E722A93571}"/>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2416" r="72994" b="81584"/>
            <a:stretch/>
          </p:blipFill>
          <p:spPr bwMode="auto">
            <a:xfrm>
              <a:off x="4027743" y="2427031"/>
              <a:ext cx="1254642" cy="1262954"/>
            </a:xfrm>
            <a:prstGeom prst="rect">
              <a:avLst/>
            </a:prstGeom>
            <a:noFill/>
            <a:extLst>
              <a:ext uri="{909E8E84-426E-40DD-AFC4-6F175D3DCCD1}">
                <a14:hiddenFill xmlns:a14="http://schemas.microsoft.com/office/drawing/2010/main">
                  <a:solidFill>
                    <a:srgbClr val="FFFFFF"/>
                  </a:solidFill>
                </a14:hiddenFill>
              </a:ext>
            </a:extLst>
          </p:spPr>
        </p:pic>
        <p:pic>
          <p:nvPicPr>
            <p:cNvPr id="39" name="Picture 6" descr="查看图片">
              <a:extLst>
                <a:ext uri="{FF2B5EF4-FFF2-40B4-BE49-F238E27FC236}">
                  <a16:creationId xmlns:a16="http://schemas.microsoft.com/office/drawing/2014/main" id="{7BB94F86-68AE-467A-9157-3F3926809FF2}"/>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t="18298" r="74645" b="70009"/>
            <a:stretch/>
          </p:blipFill>
          <p:spPr bwMode="auto">
            <a:xfrm>
              <a:off x="5337545" y="2888048"/>
              <a:ext cx="1293656" cy="801936"/>
            </a:xfrm>
            <a:prstGeom prst="rect">
              <a:avLst/>
            </a:prstGeom>
            <a:noFill/>
            <a:extLst>
              <a:ext uri="{909E8E84-426E-40DD-AFC4-6F175D3DCCD1}">
                <a14:hiddenFill xmlns:a14="http://schemas.microsoft.com/office/drawing/2010/main">
                  <a:solidFill>
                    <a:srgbClr val="FFFFFF"/>
                  </a:solidFill>
                </a14:hiddenFill>
              </a:ext>
            </a:extLst>
          </p:spPr>
        </p:pic>
      </p:grpSp>
      <p:pic>
        <p:nvPicPr>
          <p:cNvPr id="50" name="Picture 6" descr="查看图片">
            <a:extLst>
              <a:ext uri="{FF2B5EF4-FFF2-40B4-BE49-F238E27FC236}">
                <a16:creationId xmlns:a16="http://schemas.microsoft.com/office/drawing/2014/main" id="{42EDB0B0-568E-4176-8F4A-360C52BFF064}"/>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2705" t="30475" r="48653" b="53102"/>
          <a:stretch/>
        </p:blipFill>
        <p:spPr bwMode="auto">
          <a:xfrm>
            <a:off x="5163581" y="4227234"/>
            <a:ext cx="4103849" cy="1862296"/>
          </a:xfrm>
          <a:prstGeom prst="rect">
            <a:avLst/>
          </a:prstGeom>
          <a:noFill/>
          <a:extLst>
            <a:ext uri="{909E8E84-426E-40DD-AFC4-6F175D3DCCD1}">
              <a14:hiddenFill xmlns:a14="http://schemas.microsoft.com/office/drawing/2010/main">
                <a:solidFill>
                  <a:srgbClr val="FFFFFF"/>
                </a:solidFill>
              </a14:hiddenFill>
            </a:ext>
          </a:extLst>
        </p:spPr>
      </p:pic>
      <p:sp>
        <p:nvSpPr>
          <p:cNvPr id="121" name="文本框 120">
            <a:extLst>
              <a:ext uri="{FF2B5EF4-FFF2-40B4-BE49-F238E27FC236}">
                <a16:creationId xmlns:a16="http://schemas.microsoft.com/office/drawing/2014/main" id="{397D2973-2893-4DDE-BBAB-ED163194A9FB}"/>
              </a:ext>
            </a:extLst>
          </p:cNvPr>
          <p:cNvSpPr txBox="1"/>
          <p:nvPr/>
        </p:nvSpPr>
        <p:spPr>
          <a:xfrm>
            <a:off x="2209656" y="248670"/>
            <a:ext cx="6332183" cy="461665"/>
          </a:xfrm>
          <a:prstGeom prst="rect">
            <a:avLst/>
          </a:prstGeom>
          <a:noFill/>
        </p:spPr>
        <p:txBody>
          <a:bodyPr wrap="none" rtlCol="0">
            <a:spAutoFit/>
          </a:bodyPr>
          <a:lstStyle/>
          <a:p>
            <a:r>
              <a:rPr lang="en-US" altLang="zh-CN" sz="2400" dirty="0">
                <a:solidFill>
                  <a:schemeClr val="accent1"/>
                </a:solidFill>
                <a:latin typeface="思源黑体 CN Bold" panose="020B0800000000000000" pitchFamily="34" charset="-122"/>
                <a:ea typeface="思源黑体 CN Bold" panose="020B0800000000000000" pitchFamily="34" charset="-122"/>
              </a:rPr>
              <a:t>2.4 </a:t>
            </a:r>
            <a:r>
              <a:rPr lang="zh-CN" altLang="en-US" sz="2400" dirty="0">
                <a:solidFill>
                  <a:schemeClr val="accent1"/>
                </a:solidFill>
                <a:latin typeface="思源黑体 CN Bold" panose="020B0800000000000000" pitchFamily="34" charset="-122"/>
                <a:ea typeface="思源黑体 CN Bold" panose="020B0800000000000000" pitchFamily="34" charset="-122"/>
              </a:rPr>
              <a:t>研究内容三：</a:t>
            </a:r>
            <a:r>
              <a:rPr lang="en-US" altLang="zh-CN" sz="2400" dirty="0">
                <a:solidFill>
                  <a:schemeClr val="accent1"/>
                </a:solidFill>
                <a:latin typeface="思源黑体 CN Bold" panose="020B0800000000000000" pitchFamily="34" charset="-122"/>
                <a:ea typeface="思源黑体 CN Bold" panose="020B0800000000000000" pitchFamily="34" charset="-122"/>
              </a:rPr>
              <a:t>DXSVDFB</a:t>
            </a:r>
            <a:r>
              <a:rPr lang="zh-CN" altLang="en-US" sz="2400" dirty="0">
                <a:solidFill>
                  <a:schemeClr val="accent1"/>
                </a:solidFill>
                <a:latin typeface="思源黑体 CN Bold" panose="020B0800000000000000" pitchFamily="34" charset="-122"/>
                <a:ea typeface="思源黑体 CN Bold" panose="020B0800000000000000" pitchFamily="34" charset="-122"/>
              </a:rPr>
              <a:t>策略构建与验证</a:t>
            </a:r>
          </a:p>
        </p:txBody>
      </p:sp>
      <p:sp>
        <p:nvSpPr>
          <p:cNvPr id="122" name="矩形 121">
            <a:extLst>
              <a:ext uri="{FF2B5EF4-FFF2-40B4-BE49-F238E27FC236}">
                <a16:creationId xmlns:a16="http://schemas.microsoft.com/office/drawing/2014/main" id="{FD90BDA2-03ED-4577-9653-11F51C36FDB4}"/>
              </a:ext>
            </a:extLst>
          </p:cNvPr>
          <p:cNvSpPr/>
          <p:nvPr/>
        </p:nvSpPr>
        <p:spPr>
          <a:xfrm>
            <a:off x="0" y="2677841"/>
            <a:ext cx="2052320" cy="56374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23" name="文本框 122">
            <a:extLst>
              <a:ext uri="{FF2B5EF4-FFF2-40B4-BE49-F238E27FC236}">
                <a16:creationId xmlns:a16="http://schemas.microsoft.com/office/drawing/2014/main" id="{697F834A-E36A-4989-887D-9C6732E66AC9}"/>
              </a:ext>
            </a:extLst>
          </p:cNvPr>
          <p:cNvSpPr txBox="1"/>
          <p:nvPr/>
        </p:nvSpPr>
        <p:spPr>
          <a:xfrm>
            <a:off x="373082" y="2098899"/>
            <a:ext cx="1660612" cy="338554"/>
          </a:xfrm>
          <a:prstGeom prst="rect">
            <a:avLst/>
          </a:prstGeom>
          <a:noFill/>
        </p:spPr>
        <p:txBody>
          <a:bodyPr wrap="square" rtlCol="0">
            <a:spAutoFit/>
          </a:bodyPr>
          <a:lstStyle/>
          <a:p>
            <a:r>
              <a:rPr lang="zh-CN" altLang="en-US" sz="1600" dirty="0">
                <a:solidFill>
                  <a:schemeClr val="bg1"/>
                </a:solidFill>
                <a:latin typeface="思源黑体 CN Regular" panose="020B0500000000000000" pitchFamily="34" charset="-122"/>
                <a:ea typeface="思源黑体 CN Regular" panose="020B0500000000000000" pitchFamily="34" charset="-122"/>
              </a:rPr>
              <a:t>研究背景及现状</a:t>
            </a:r>
          </a:p>
        </p:txBody>
      </p:sp>
      <p:sp>
        <p:nvSpPr>
          <p:cNvPr id="124" name="任意矩形：001">
            <a:extLst>
              <a:ext uri="{FF2B5EF4-FFF2-40B4-BE49-F238E27FC236}">
                <a16:creationId xmlns:a16="http://schemas.microsoft.com/office/drawing/2014/main" id="{34DA294B-113A-4CF5-B87E-87522597CD92}"/>
              </a:ext>
            </a:extLst>
          </p:cNvPr>
          <p:cNvSpPr/>
          <p:nvPr/>
        </p:nvSpPr>
        <p:spPr>
          <a:xfrm>
            <a:off x="131492" y="2145245"/>
            <a:ext cx="226722" cy="202893"/>
          </a:xfrm>
          <a:custGeom>
            <a:avLst/>
            <a:gdLst>
              <a:gd name="connsiteX0" fmla="*/ 79591 w 607005"/>
              <a:gd name="connsiteY0" fmla="*/ 373864 h 543210"/>
              <a:gd name="connsiteX1" fmla="*/ 33701 w 607005"/>
              <a:gd name="connsiteY1" fmla="*/ 461494 h 543210"/>
              <a:gd name="connsiteX2" fmla="*/ 79501 w 607005"/>
              <a:gd name="connsiteY2" fmla="*/ 507233 h 543210"/>
              <a:gd name="connsiteX3" fmla="*/ 125392 w 607005"/>
              <a:gd name="connsiteY3" fmla="*/ 461494 h 543210"/>
              <a:gd name="connsiteX4" fmla="*/ 79591 w 607005"/>
              <a:gd name="connsiteY4" fmla="*/ 373864 h 543210"/>
              <a:gd name="connsiteX5" fmla="*/ 79501 w 607005"/>
              <a:gd name="connsiteY5" fmla="*/ 328661 h 543210"/>
              <a:gd name="connsiteX6" fmla="*/ 92856 w 607005"/>
              <a:gd name="connsiteY6" fmla="*/ 335106 h 543210"/>
              <a:gd name="connsiteX7" fmla="*/ 158913 w 607005"/>
              <a:gd name="connsiteY7" fmla="*/ 461404 h 543210"/>
              <a:gd name="connsiteX8" fmla="*/ 79501 w 607005"/>
              <a:gd name="connsiteY8" fmla="*/ 540710 h 543210"/>
              <a:gd name="connsiteX9" fmla="*/ 0 w 607005"/>
              <a:gd name="connsiteY9" fmla="*/ 461404 h 543210"/>
              <a:gd name="connsiteX10" fmla="*/ 66236 w 607005"/>
              <a:gd name="connsiteY10" fmla="*/ 335195 h 543210"/>
              <a:gd name="connsiteX11" fmla="*/ 79501 w 607005"/>
              <a:gd name="connsiteY11" fmla="*/ 328661 h 543210"/>
              <a:gd name="connsiteX12" fmla="*/ 196548 w 607005"/>
              <a:gd name="connsiteY12" fmla="*/ 281688 h 543210"/>
              <a:gd name="connsiteX13" fmla="*/ 391755 w 607005"/>
              <a:gd name="connsiteY13" fmla="*/ 476431 h 543210"/>
              <a:gd name="connsiteX14" fmla="*/ 540265 w 607005"/>
              <a:gd name="connsiteY14" fmla="*/ 476431 h 543210"/>
              <a:gd name="connsiteX15" fmla="*/ 540265 w 607005"/>
              <a:gd name="connsiteY15" fmla="*/ 328047 h 543210"/>
              <a:gd name="connsiteX16" fmla="*/ 493749 w 607005"/>
              <a:gd name="connsiteY16" fmla="*/ 281688 h 543210"/>
              <a:gd name="connsiteX17" fmla="*/ 261707 w 607005"/>
              <a:gd name="connsiteY17" fmla="*/ 49894 h 543210"/>
              <a:gd name="connsiteX18" fmla="*/ 113017 w 607005"/>
              <a:gd name="connsiteY18" fmla="*/ 198278 h 543210"/>
              <a:gd name="connsiteX19" fmla="*/ 163028 w 607005"/>
              <a:gd name="connsiteY19" fmla="*/ 248127 h 543210"/>
              <a:gd name="connsiteX20" fmla="*/ 460229 w 607005"/>
              <a:gd name="connsiteY20" fmla="*/ 248127 h 543210"/>
              <a:gd name="connsiteX21" fmla="*/ 271073 w 607005"/>
              <a:gd name="connsiteY21" fmla="*/ 0 h 543210"/>
              <a:gd name="connsiteX22" fmla="*/ 282948 w 607005"/>
              <a:gd name="connsiteY22" fmla="*/ 4967 h 543210"/>
              <a:gd name="connsiteX23" fmla="*/ 285099 w 607005"/>
              <a:gd name="connsiteY23" fmla="*/ 25909 h 543210"/>
              <a:gd name="connsiteX24" fmla="*/ 563927 w 607005"/>
              <a:gd name="connsiteY24" fmla="*/ 304331 h 543210"/>
              <a:gd name="connsiteX25" fmla="*/ 563927 w 607005"/>
              <a:gd name="connsiteY25" fmla="*/ 500148 h 543210"/>
              <a:gd name="connsiteX26" fmla="*/ 367824 w 607005"/>
              <a:gd name="connsiteY26" fmla="*/ 500148 h 543210"/>
              <a:gd name="connsiteX27" fmla="*/ 88997 w 607005"/>
              <a:gd name="connsiteY27" fmla="*/ 221726 h 543210"/>
              <a:gd name="connsiteX28" fmla="*/ 68024 w 607005"/>
              <a:gd name="connsiteY28" fmla="*/ 219578 h 543210"/>
              <a:gd name="connsiteX29" fmla="*/ 68024 w 607005"/>
              <a:gd name="connsiteY29" fmla="*/ 195862 h 543210"/>
              <a:gd name="connsiteX30" fmla="*/ 259197 w 607005"/>
              <a:gd name="connsiteY30" fmla="*/ 4967 h 543210"/>
              <a:gd name="connsiteX31" fmla="*/ 271073 w 607005"/>
              <a:gd name="connsiteY31" fmla="*/ 0 h 5432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607005" h="543210">
                <a:moveTo>
                  <a:pt x="79591" y="373864"/>
                </a:moveTo>
                <a:cubicBezTo>
                  <a:pt x="57452" y="405192"/>
                  <a:pt x="33701" y="445024"/>
                  <a:pt x="33701" y="461494"/>
                </a:cubicBezTo>
                <a:cubicBezTo>
                  <a:pt x="33701" y="486646"/>
                  <a:pt x="54226" y="507233"/>
                  <a:pt x="79501" y="507233"/>
                </a:cubicBezTo>
                <a:cubicBezTo>
                  <a:pt x="104687" y="507233"/>
                  <a:pt x="125212" y="486646"/>
                  <a:pt x="125392" y="461494"/>
                </a:cubicBezTo>
                <a:cubicBezTo>
                  <a:pt x="125392" y="445024"/>
                  <a:pt x="101729" y="405282"/>
                  <a:pt x="79591" y="373864"/>
                </a:cubicBezTo>
                <a:close/>
                <a:moveTo>
                  <a:pt x="79501" y="328661"/>
                </a:moveTo>
                <a:cubicBezTo>
                  <a:pt x="84610" y="328661"/>
                  <a:pt x="89540" y="331078"/>
                  <a:pt x="92856" y="335106"/>
                </a:cubicBezTo>
                <a:cubicBezTo>
                  <a:pt x="103881" y="349517"/>
                  <a:pt x="158913" y="423094"/>
                  <a:pt x="158913" y="461404"/>
                </a:cubicBezTo>
                <a:cubicBezTo>
                  <a:pt x="158913" y="505175"/>
                  <a:pt x="123240" y="540710"/>
                  <a:pt x="79501" y="540710"/>
                </a:cubicBezTo>
                <a:cubicBezTo>
                  <a:pt x="35583" y="540710"/>
                  <a:pt x="0" y="505085"/>
                  <a:pt x="0" y="461404"/>
                </a:cubicBezTo>
                <a:cubicBezTo>
                  <a:pt x="0" y="423094"/>
                  <a:pt x="55122" y="349517"/>
                  <a:pt x="66236" y="335195"/>
                </a:cubicBezTo>
                <a:cubicBezTo>
                  <a:pt x="69284" y="331078"/>
                  <a:pt x="74213" y="328661"/>
                  <a:pt x="79501" y="328661"/>
                </a:cubicBezTo>
                <a:close/>
                <a:moveTo>
                  <a:pt x="196548" y="281688"/>
                </a:moveTo>
                <a:lnTo>
                  <a:pt x="391755" y="476431"/>
                </a:lnTo>
                <a:cubicBezTo>
                  <a:pt x="420525" y="505249"/>
                  <a:pt x="488999" y="527623"/>
                  <a:pt x="540265" y="476431"/>
                </a:cubicBezTo>
                <a:cubicBezTo>
                  <a:pt x="592249" y="424524"/>
                  <a:pt x="570290" y="358028"/>
                  <a:pt x="540265" y="328047"/>
                </a:cubicBezTo>
                <a:lnTo>
                  <a:pt x="493749" y="281688"/>
                </a:lnTo>
                <a:close/>
                <a:moveTo>
                  <a:pt x="261707" y="49894"/>
                </a:moveTo>
                <a:lnTo>
                  <a:pt x="113017" y="198278"/>
                </a:lnTo>
                <a:lnTo>
                  <a:pt x="163028" y="248127"/>
                </a:lnTo>
                <a:lnTo>
                  <a:pt x="460229" y="248127"/>
                </a:lnTo>
                <a:close/>
                <a:moveTo>
                  <a:pt x="271073" y="0"/>
                </a:moveTo>
                <a:cubicBezTo>
                  <a:pt x="275375" y="0"/>
                  <a:pt x="279677" y="1655"/>
                  <a:pt x="282948" y="4967"/>
                </a:cubicBezTo>
                <a:cubicBezTo>
                  <a:pt x="288595" y="10694"/>
                  <a:pt x="289312" y="19465"/>
                  <a:pt x="285099" y="25909"/>
                </a:cubicBezTo>
                <a:lnTo>
                  <a:pt x="563927" y="304331"/>
                </a:lnTo>
                <a:cubicBezTo>
                  <a:pt x="604528" y="344872"/>
                  <a:pt x="636076" y="428104"/>
                  <a:pt x="563927" y="500148"/>
                </a:cubicBezTo>
                <a:cubicBezTo>
                  <a:pt x="492495" y="571476"/>
                  <a:pt x="409501" y="541763"/>
                  <a:pt x="367824" y="500148"/>
                </a:cubicBezTo>
                <a:lnTo>
                  <a:pt x="88997" y="221726"/>
                </a:lnTo>
                <a:cubicBezTo>
                  <a:pt x="81468" y="226380"/>
                  <a:pt x="73850" y="225485"/>
                  <a:pt x="68024" y="219578"/>
                </a:cubicBezTo>
                <a:cubicBezTo>
                  <a:pt x="61392" y="213045"/>
                  <a:pt x="61392" y="202395"/>
                  <a:pt x="68024" y="195862"/>
                </a:cubicBezTo>
                <a:lnTo>
                  <a:pt x="259197" y="4967"/>
                </a:lnTo>
                <a:cubicBezTo>
                  <a:pt x="262469" y="1655"/>
                  <a:pt x="266771" y="0"/>
                  <a:pt x="271073"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5" name="任意矩形：002">
            <a:extLst>
              <a:ext uri="{FF2B5EF4-FFF2-40B4-BE49-F238E27FC236}">
                <a16:creationId xmlns:a16="http://schemas.microsoft.com/office/drawing/2014/main" id="{BC9E81FD-21AA-417D-8A3A-B9903A44A970}"/>
              </a:ext>
            </a:extLst>
          </p:cNvPr>
          <p:cNvSpPr/>
          <p:nvPr/>
        </p:nvSpPr>
        <p:spPr>
          <a:xfrm>
            <a:off x="143798" y="2860995"/>
            <a:ext cx="202111" cy="201828"/>
          </a:xfrm>
          <a:custGeom>
            <a:avLst/>
            <a:gdLst>
              <a:gd name="connsiteX0" fmla="*/ 303643 w 607215"/>
              <a:gd name="connsiteY0" fmla="*/ 280873 h 606369"/>
              <a:gd name="connsiteX1" fmla="*/ 325219 w 607215"/>
              <a:gd name="connsiteY1" fmla="*/ 302335 h 606369"/>
              <a:gd name="connsiteX2" fmla="*/ 303643 w 607215"/>
              <a:gd name="connsiteY2" fmla="*/ 323873 h 606369"/>
              <a:gd name="connsiteX3" fmla="*/ 282068 w 607215"/>
              <a:gd name="connsiteY3" fmla="*/ 302335 h 606369"/>
              <a:gd name="connsiteX4" fmla="*/ 303643 w 607215"/>
              <a:gd name="connsiteY4" fmla="*/ 280873 h 606369"/>
              <a:gd name="connsiteX5" fmla="*/ 303678 w 607215"/>
              <a:gd name="connsiteY5" fmla="*/ 280357 h 606369"/>
              <a:gd name="connsiteX6" fmla="*/ 281626 w 607215"/>
              <a:gd name="connsiteY6" fmla="*/ 302374 h 606369"/>
              <a:gd name="connsiteX7" fmla="*/ 303678 w 607215"/>
              <a:gd name="connsiteY7" fmla="*/ 324391 h 606369"/>
              <a:gd name="connsiteX8" fmla="*/ 325730 w 607215"/>
              <a:gd name="connsiteY8" fmla="*/ 302374 h 606369"/>
              <a:gd name="connsiteX9" fmla="*/ 303678 w 607215"/>
              <a:gd name="connsiteY9" fmla="*/ 280357 h 606369"/>
              <a:gd name="connsiteX10" fmla="*/ 303643 w 607215"/>
              <a:gd name="connsiteY10" fmla="*/ 279792 h 606369"/>
              <a:gd name="connsiteX11" fmla="*/ 326224 w 607215"/>
              <a:gd name="connsiteY11" fmla="*/ 302335 h 606369"/>
              <a:gd name="connsiteX12" fmla="*/ 303643 w 607215"/>
              <a:gd name="connsiteY12" fmla="*/ 324954 h 606369"/>
              <a:gd name="connsiteX13" fmla="*/ 281062 w 607215"/>
              <a:gd name="connsiteY13" fmla="*/ 302335 h 606369"/>
              <a:gd name="connsiteX14" fmla="*/ 303643 w 607215"/>
              <a:gd name="connsiteY14" fmla="*/ 279792 h 606369"/>
              <a:gd name="connsiteX15" fmla="*/ 281043 w 607215"/>
              <a:gd name="connsiteY15" fmla="*/ 46068 h 606369"/>
              <a:gd name="connsiteX16" fmla="*/ 120855 w 607215"/>
              <a:gd name="connsiteY16" fmla="*/ 120687 h 606369"/>
              <a:gd name="connsiteX17" fmla="*/ 46132 w 607215"/>
              <a:gd name="connsiteY17" fmla="*/ 280652 h 606369"/>
              <a:gd name="connsiteX18" fmla="*/ 147128 w 607215"/>
              <a:gd name="connsiteY18" fmla="*/ 280652 h 606369"/>
              <a:gd name="connsiteX19" fmla="*/ 169770 w 607215"/>
              <a:gd name="connsiteY19" fmla="*/ 303185 h 606369"/>
              <a:gd name="connsiteX20" fmla="*/ 147128 w 607215"/>
              <a:gd name="connsiteY20" fmla="*/ 325717 h 606369"/>
              <a:gd name="connsiteX21" fmla="*/ 46132 w 607215"/>
              <a:gd name="connsiteY21" fmla="*/ 325717 h 606369"/>
              <a:gd name="connsiteX22" fmla="*/ 120855 w 607215"/>
              <a:gd name="connsiteY22" fmla="*/ 485682 h 606369"/>
              <a:gd name="connsiteX23" fmla="*/ 281043 w 607215"/>
              <a:gd name="connsiteY23" fmla="*/ 560301 h 606369"/>
              <a:gd name="connsiteX24" fmla="*/ 281043 w 607215"/>
              <a:gd name="connsiteY24" fmla="*/ 459446 h 606369"/>
              <a:gd name="connsiteX25" fmla="*/ 303608 w 607215"/>
              <a:gd name="connsiteY25" fmla="*/ 436913 h 606369"/>
              <a:gd name="connsiteX26" fmla="*/ 326172 w 607215"/>
              <a:gd name="connsiteY26" fmla="*/ 459446 h 606369"/>
              <a:gd name="connsiteX27" fmla="*/ 326172 w 607215"/>
              <a:gd name="connsiteY27" fmla="*/ 560301 h 606369"/>
              <a:gd name="connsiteX28" fmla="*/ 486360 w 607215"/>
              <a:gd name="connsiteY28" fmla="*/ 485682 h 606369"/>
              <a:gd name="connsiteX29" fmla="*/ 561083 w 607215"/>
              <a:gd name="connsiteY29" fmla="*/ 325717 h 606369"/>
              <a:gd name="connsiteX30" fmla="*/ 460087 w 607215"/>
              <a:gd name="connsiteY30" fmla="*/ 325717 h 606369"/>
              <a:gd name="connsiteX31" fmla="*/ 437523 w 607215"/>
              <a:gd name="connsiteY31" fmla="*/ 303185 h 606369"/>
              <a:gd name="connsiteX32" fmla="*/ 460087 w 607215"/>
              <a:gd name="connsiteY32" fmla="*/ 280652 h 606369"/>
              <a:gd name="connsiteX33" fmla="*/ 561083 w 607215"/>
              <a:gd name="connsiteY33" fmla="*/ 280652 h 606369"/>
              <a:gd name="connsiteX34" fmla="*/ 486360 w 607215"/>
              <a:gd name="connsiteY34" fmla="*/ 120687 h 606369"/>
              <a:gd name="connsiteX35" fmla="*/ 326172 w 607215"/>
              <a:gd name="connsiteY35" fmla="*/ 46068 h 606369"/>
              <a:gd name="connsiteX36" fmla="*/ 326172 w 607215"/>
              <a:gd name="connsiteY36" fmla="*/ 146923 h 606369"/>
              <a:gd name="connsiteX37" fmla="*/ 303608 w 607215"/>
              <a:gd name="connsiteY37" fmla="*/ 169533 h 606369"/>
              <a:gd name="connsiteX38" fmla="*/ 281043 w 607215"/>
              <a:gd name="connsiteY38" fmla="*/ 146923 h 606369"/>
              <a:gd name="connsiteX39" fmla="*/ 281617 w 607215"/>
              <a:gd name="connsiteY39" fmla="*/ 45548 h 606369"/>
              <a:gd name="connsiteX40" fmla="*/ 281617 w 607215"/>
              <a:gd name="connsiteY40" fmla="*/ 146935 h 606369"/>
              <a:gd name="connsiteX41" fmla="*/ 303640 w 607215"/>
              <a:gd name="connsiteY41" fmla="*/ 169002 h 606369"/>
              <a:gd name="connsiteX42" fmla="*/ 325741 w 607215"/>
              <a:gd name="connsiteY42" fmla="*/ 146935 h 606369"/>
              <a:gd name="connsiteX43" fmla="*/ 325741 w 607215"/>
              <a:gd name="connsiteY43" fmla="*/ 45548 h 606369"/>
              <a:gd name="connsiteX44" fmla="*/ 561663 w 607215"/>
              <a:gd name="connsiteY44" fmla="*/ 281192 h 606369"/>
              <a:gd name="connsiteX45" fmla="*/ 460123 w 607215"/>
              <a:gd name="connsiteY45" fmla="*/ 281192 h 606369"/>
              <a:gd name="connsiteX46" fmla="*/ 438022 w 607215"/>
              <a:gd name="connsiteY46" fmla="*/ 303182 h 606369"/>
              <a:gd name="connsiteX47" fmla="*/ 460123 w 607215"/>
              <a:gd name="connsiteY47" fmla="*/ 325250 h 606369"/>
              <a:gd name="connsiteX48" fmla="*/ 561663 w 607215"/>
              <a:gd name="connsiteY48" fmla="*/ 325250 h 606369"/>
              <a:gd name="connsiteX49" fmla="*/ 325741 w 607215"/>
              <a:gd name="connsiteY49" fmla="*/ 560815 h 606369"/>
              <a:gd name="connsiteX50" fmla="*/ 325741 w 607215"/>
              <a:gd name="connsiteY50" fmla="*/ 459429 h 606369"/>
              <a:gd name="connsiteX51" fmla="*/ 303640 w 607215"/>
              <a:gd name="connsiteY51" fmla="*/ 437361 h 606369"/>
              <a:gd name="connsiteX52" fmla="*/ 281617 w 607215"/>
              <a:gd name="connsiteY52" fmla="*/ 459429 h 606369"/>
              <a:gd name="connsiteX53" fmla="*/ 281617 w 607215"/>
              <a:gd name="connsiteY53" fmla="*/ 560815 h 606369"/>
              <a:gd name="connsiteX54" fmla="*/ 45616 w 607215"/>
              <a:gd name="connsiteY54" fmla="*/ 325250 h 606369"/>
              <a:gd name="connsiteX55" fmla="*/ 147157 w 607215"/>
              <a:gd name="connsiteY55" fmla="*/ 325250 h 606369"/>
              <a:gd name="connsiteX56" fmla="*/ 169257 w 607215"/>
              <a:gd name="connsiteY56" fmla="*/ 303182 h 606369"/>
              <a:gd name="connsiteX57" fmla="*/ 147157 w 607215"/>
              <a:gd name="connsiteY57" fmla="*/ 281192 h 606369"/>
              <a:gd name="connsiteX58" fmla="*/ 45616 w 607215"/>
              <a:gd name="connsiteY58" fmla="*/ 281192 h 606369"/>
              <a:gd name="connsiteX59" fmla="*/ 281617 w 607215"/>
              <a:gd name="connsiteY59" fmla="*/ 45548 h 606369"/>
              <a:gd name="connsiteX60" fmla="*/ 281508 w 607215"/>
              <a:gd name="connsiteY60" fmla="*/ 44987 h 606369"/>
              <a:gd name="connsiteX61" fmla="*/ 120160 w 607215"/>
              <a:gd name="connsiteY61" fmla="*/ 119993 h 606369"/>
              <a:gd name="connsiteX62" fmla="*/ 45050 w 607215"/>
              <a:gd name="connsiteY62" fmla="*/ 281115 h 606369"/>
              <a:gd name="connsiteX63" fmla="*/ 45050 w 607215"/>
              <a:gd name="connsiteY63" fmla="*/ 281655 h 606369"/>
              <a:gd name="connsiteX64" fmla="*/ 147128 w 607215"/>
              <a:gd name="connsiteY64" fmla="*/ 281655 h 606369"/>
              <a:gd name="connsiteX65" fmla="*/ 168688 w 607215"/>
              <a:gd name="connsiteY65" fmla="*/ 303185 h 606369"/>
              <a:gd name="connsiteX66" fmla="*/ 147128 w 607215"/>
              <a:gd name="connsiteY66" fmla="*/ 324714 h 606369"/>
              <a:gd name="connsiteX67" fmla="*/ 45050 w 607215"/>
              <a:gd name="connsiteY67" fmla="*/ 324714 h 606369"/>
              <a:gd name="connsiteX68" fmla="*/ 45050 w 607215"/>
              <a:gd name="connsiteY68" fmla="*/ 325254 h 606369"/>
              <a:gd name="connsiteX69" fmla="*/ 120160 w 607215"/>
              <a:gd name="connsiteY69" fmla="*/ 486454 h 606369"/>
              <a:gd name="connsiteX70" fmla="*/ 281508 w 607215"/>
              <a:gd name="connsiteY70" fmla="*/ 561382 h 606369"/>
              <a:gd name="connsiteX71" fmla="*/ 282048 w 607215"/>
              <a:gd name="connsiteY71" fmla="*/ 561459 h 606369"/>
              <a:gd name="connsiteX72" fmla="*/ 282048 w 607215"/>
              <a:gd name="connsiteY72" fmla="*/ 459446 h 606369"/>
              <a:gd name="connsiteX73" fmla="*/ 303608 w 607215"/>
              <a:gd name="connsiteY73" fmla="*/ 437916 h 606369"/>
              <a:gd name="connsiteX74" fmla="*/ 325167 w 607215"/>
              <a:gd name="connsiteY74" fmla="*/ 459446 h 606369"/>
              <a:gd name="connsiteX75" fmla="*/ 325167 w 607215"/>
              <a:gd name="connsiteY75" fmla="*/ 561459 h 606369"/>
              <a:gd name="connsiteX76" fmla="*/ 325708 w 607215"/>
              <a:gd name="connsiteY76" fmla="*/ 561382 h 606369"/>
              <a:gd name="connsiteX77" fmla="*/ 487132 w 607215"/>
              <a:gd name="connsiteY77" fmla="*/ 486454 h 606369"/>
              <a:gd name="connsiteX78" fmla="*/ 562165 w 607215"/>
              <a:gd name="connsiteY78" fmla="*/ 325254 h 606369"/>
              <a:gd name="connsiteX79" fmla="*/ 562242 w 607215"/>
              <a:gd name="connsiteY79" fmla="*/ 324714 h 606369"/>
              <a:gd name="connsiteX80" fmla="*/ 460087 w 607215"/>
              <a:gd name="connsiteY80" fmla="*/ 324714 h 606369"/>
              <a:gd name="connsiteX81" fmla="*/ 438527 w 607215"/>
              <a:gd name="connsiteY81" fmla="*/ 303185 h 606369"/>
              <a:gd name="connsiteX82" fmla="*/ 460087 w 607215"/>
              <a:gd name="connsiteY82" fmla="*/ 281655 h 606369"/>
              <a:gd name="connsiteX83" fmla="*/ 562242 w 607215"/>
              <a:gd name="connsiteY83" fmla="*/ 281655 h 606369"/>
              <a:gd name="connsiteX84" fmla="*/ 562165 w 607215"/>
              <a:gd name="connsiteY84" fmla="*/ 281115 h 606369"/>
              <a:gd name="connsiteX85" fmla="*/ 487132 w 607215"/>
              <a:gd name="connsiteY85" fmla="*/ 119993 h 606369"/>
              <a:gd name="connsiteX86" fmla="*/ 325708 w 607215"/>
              <a:gd name="connsiteY86" fmla="*/ 44987 h 606369"/>
              <a:gd name="connsiteX87" fmla="*/ 325167 w 607215"/>
              <a:gd name="connsiteY87" fmla="*/ 44987 h 606369"/>
              <a:gd name="connsiteX88" fmla="*/ 325167 w 607215"/>
              <a:gd name="connsiteY88" fmla="*/ 146923 h 606369"/>
              <a:gd name="connsiteX89" fmla="*/ 303608 w 607215"/>
              <a:gd name="connsiteY89" fmla="*/ 168453 h 606369"/>
              <a:gd name="connsiteX90" fmla="*/ 282048 w 607215"/>
              <a:gd name="connsiteY90" fmla="*/ 146923 h 606369"/>
              <a:gd name="connsiteX91" fmla="*/ 282048 w 607215"/>
              <a:gd name="connsiteY91" fmla="*/ 44987 h 606369"/>
              <a:gd name="connsiteX92" fmla="*/ 303608 w 607215"/>
              <a:gd name="connsiteY92" fmla="*/ 1003 h 606369"/>
              <a:gd name="connsiteX93" fmla="*/ 421450 w 607215"/>
              <a:gd name="connsiteY93" fmla="*/ 24770 h 606369"/>
              <a:gd name="connsiteX94" fmla="*/ 517578 w 607215"/>
              <a:gd name="connsiteY94" fmla="*/ 89512 h 606369"/>
              <a:gd name="connsiteX95" fmla="*/ 582410 w 607215"/>
              <a:gd name="connsiteY95" fmla="*/ 185584 h 606369"/>
              <a:gd name="connsiteX96" fmla="*/ 606211 w 607215"/>
              <a:gd name="connsiteY96" fmla="*/ 303185 h 606369"/>
              <a:gd name="connsiteX97" fmla="*/ 582410 w 607215"/>
              <a:gd name="connsiteY97" fmla="*/ 420863 h 606369"/>
              <a:gd name="connsiteX98" fmla="*/ 517578 w 607215"/>
              <a:gd name="connsiteY98" fmla="*/ 516857 h 606369"/>
              <a:gd name="connsiteX99" fmla="*/ 421450 w 607215"/>
              <a:gd name="connsiteY99" fmla="*/ 581599 h 606369"/>
              <a:gd name="connsiteX100" fmla="*/ 303608 w 607215"/>
              <a:gd name="connsiteY100" fmla="*/ 605366 h 606369"/>
              <a:gd name="connsiteX101" fmla="*/ 185842 w 607215"/>
              <a:gd name="connsiteY101" fmla="*/ 581599 h 606369"/>
              <a:gd name="connsiteX102" fmla="*/ 89637 w 607215"/>
              <a:gd name="connsiteY102" fmla="*/ 516857 h 606369"/>
              <a:gd name="connsiteX103" fmla="*/ 24805 w 607215"/>
              <a:gd name="connsiteY103" fmla="*/ 420863 h 606369"/>
              <a:gd name="connsiteX104" fmla="*/ 1004 w 607215"/>
              <a:gd name="connsiteY104" fmla="*/ 303185 h 606369"/>
              <a:gd name="connsiteX105" fmla="*/ 24805 w 607215"/>
              <a:gd name="connsiteY105" fmla="*/ 185584 h 606369"/>
              <a:gd name="connsiteX106" fmla="*/ 89637 w 607215"/>
              <a:gd name="connsiteY106" fmla="*/ 89512 h 606369"/>
              <a:gd name="connsiteX107" fmla="*/ 185842 w 607215"/>
              <a:gd name="connsiteY107" fmla="*/ 24770 h 606369"/>
              <a:gd name="connsiteX108" fmla="*/ 303608 w 607215"/>
              <a:gd name="connsiteY108" fmla="*/ 1003 h 606369"/>
              <a:gd name="connsiteX109" fmla="*/ 303640 w 607215"/>
              <a:gd name="connsiteY109" fmla="*/ 565 h 606369"/>
              <a:gd name="connsiteX110" fmla="*/ 185640 w 607215"/>
              <a:gd name="connsiteY110" fmla="*/ 24330 h 606369"/>
              <a:gd name="connsiteX111" fmla="*/ 89354 w 607215"/>
              <a:gd name="connsiteY111" fmla="*/ 89220 h 606369"/>
              <a:gd name="connsiteX112" fmla="*/ 24366 w 607215"/>
              <a:gd name="connsiteY112" fmla="*/ 185360 h 606369"/>
              <a:gd name="connsiteX113" fmla="*/ 565 w 607215"/>
              <a:gd name="connsiteY113" fmla="*/ 303182 h 606369"/>
              <a:gd name="connsiteX114" fmla="*/ 24366 w 607215"/>
              <a:gd name="connsiteY114" fmla="*/ 421004 h 606369"/>
              <a:gd name="connsiteX115" fmla="*/ 89354 w 607215"/>
              <a:gd name="connsiteY115" fmla="*/ 517221 h 606369"/>
              <a:gd name="connsiteX116" fmla="*/ 185640 w 607215"/>
              <a:gd name="connsiteY116" fmla="*/ 582034 h 606369"/>
              <a:gd name="connsiteX117" fmla="*/ 303640 w 607215"/>
              <a:gd name="connsiteY117" fmla="*/ 605876 h 606369"/>
              <a:gd name="connsiteX118" fmla="*/ 421640 w 607215"/>
              <a:gd name="connsiteY118" fmla="*/ 582034 h 606369"/>
              <a:gd name="connsiteX119" fmla="*/ 518003 w 607215"/>
              <a:gd name="connsiteY119" fmla="*/ 517221 h 606369"/>
              <a:gd name="connsiteX120" fmla="*/ 582914 w 607215"/>
              <a:gd name="connsiteY120" fmla="*/ 421004 h 606369"/>
              <a:gd name="connsiteX121" fmla="*/ 606792 w 607215"/>
              <a:gd name="connsiteY121" fmla="*/ 303182 h 606369"/>
              <a:gd name="connsiteX122" fmla="*/ 582914 w 607215"/>
              <a:gd name="connsiteY122" fmla="*/ 185360 h 606369"/>
              <a:gd name="connsiteX123" fmla="*/ 518003 w 607215"/>
              <a:gd name="connsiteY123" fmla="*/ 89220 h 606369"/>
              <a:gd name="connsiteX124" fmla="*/ 421640 w 607215"/>
              <a:gd name="connsiteY124" fmla="*/ 24330 h 606369"/>
              <a:gd name="connsiteX125" fmla="*/ 303640 w 607215"/>
              <a:gd name="connsiteY125" fmla="*/ 565 h 606369"/>
              <a:gd name="connsiteX126" fmla="*/ 303608 w 607215"/>
              <a:gd name="connsiteY126" fmla="*/ 0 h 606369"/>
              <a:gd name="connsiteX127" fmla="*/ 421836 w 607215"/>
              <a:gd name="connsiteY127" fmla="*/ 23844 h 606369"/>
              <a:gd name="connsiteX128" fmla="*/ 518351 w 607215"/>
              <a:gd name="connsiteY128" fmla="*/ 88818 h 606369"/>
              <a:gd name="connsiteX129" fmla="*/ 583338 w 607215"/>
              <a:gd name="connsiteY129" fmla="*/ 185198 h 606369"/>
              <a:gd name="connsiteX130" fmla="*/ 607215 w 607215"/>
              <a:gd name="connsiteY130" fmla="*/ 303185 h 606369"/>
              <a:gd name="connsiteX131" fmla="*/ 583338 w 607215"/>
              <a:gd name="connsiteY131" fmla="*/ 421248 h 606369"/>
              <a:gd name="connsiteX132" fmla="*/ 518351 w 607215"/>
              <a:gd name="connsiteY132" fmla="*/ 517629 h 606369"/>
              <a:gd name="connsiteX133" fmla="*/ 421836 w 607215"/>
              <a:gd name="connsiteY133" fmla="*/ 582525 h 606369"/>
              <a:gd name="connsiteX134" fmla="*/ 303608 w 607215"/>
              <a:gd name="connsiteY134" fmla="*/ 606369 h 606369"/>
              <a:gd name="connsiteX135" fmla="*/ 185456 w 607215"/>
              <a:gd name="connsiteY135" fmla="*/ 582525 h 606369"/>
              <a:gd name="connsiteX136" fmla="*/ 88942 w 607215"/>
              <a:gd name="connsiteY136" fmla="*/ 517629 h 606369"/>
              <a:gd name="connsiteX137" fmla="*/ 23877 w 607215"/>
              <a:gd name="connsiteY137" fmla="*/ 421248 h 606369"/>
              <a:gd name="connsiteX138" fmla="*/ 0 w 607215"/>
              <a:gd name="connsiteY138" fmla="*/ 303185 h 606369"/>
              <a:gd name="connsiteX139" fmla="*/ 23877 w 607215"/>
              <a:gd name="connsiteY139" fmla="*/ 185198 h 606369"/>
              <a:gd name="connsiteX140" fmla="*/ 88942 w 607215"/>
              <a:gd name="connsiteY140" fmla="*/ 88818 h 606369"/>
              <a:gd name="connsiteX141" fmla="*/ 185456 w 607215"/>
              <a:gd name="connsiteY141" fmla="*/ 23844 h 606369"/>
              <a:gd name="connsiteX142" fmla="*/ 303608 w 607215"/>
              <a:gd name="connsiteY142" fmla="*/ 0 h 6063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Lst>
            <a:rect l="l" t="t" r="r" b="b"/>
            <a:pathLst>
              <a:path w="607215" h="606369">
                <a:moveTo>
                  <a:pt x="303643" y="280873"/>
                </a:moveTo>
                <a:cubicBezTo>
                  <a:pt x="315552" y="280873"/>
                  <a:pt x="325219" y="290523"/>
                  <a:pt x="325219" y="302335"/>
                </a:cubicBezTo>
                <a:cubicBezTo>
                  <a:pt x="325219" y="314223"/>
                  <a:pt x="315552" y="323873"/>
                  <a:pt x="303643" y="323873"/>
                </a:cubicBezTo>
                <a:cubicBezTo>
                  <a:pt x="291734" y="323873"/>
                  <a:pt x="282068" y="314223"/>
                  <a:pt x="282068" y="302335"/>
                </a:cubicBezTo>
                <a:cubicBezTo>
                  <a:pt x="282068" y="290523"/>
                  <a:pt x="291734" y="280873"/>
                  <a:pt x="303643" y="280873"/>
                </a:cubicBezTo>
                <a:close/>
                <a:moveTo>
                  <a:pt x="303678" y="280357"/>
                </a:moveTo>
                <a:cubicBezTo>
                  <a:pt x="291499" y="280357"/>
                  <a:pt x="281626" y="290214"/>
                  <a:pt x="281626" y="302374"/>
                </a:cubicBezTo>
                <a:cubicBezTo>
                  <a:pt x="281626" y="314534"/>
                  <a:pt x="291499" y="324391"/>
                  <a:pt x="303678" y="324391"/>
                </a:cubicBezTo>
                <a:cubicBezTo>
                  <a:pt x="315857" y="324391"/>
                  <a:pt x="325730" y="314534"/>
                  <a:pt x="325730" y="302374"/>
                </a:cubicBezTo>
                <a:cubicBezTo>
                  <a:pt x="325730" y="290214"/>
                  <a:pt x="315857" y="280357"/>
                  <a:pt x="303678" y="280357"/>
                </a:cubicBezTo>
                <a:close/>
                <a:moveTo>
                  <a:pt x="303643" y="279792"/>
                </a:moveTo>
                <a:cubicBezTo>
                  <a:pt x="316094" y="279792"/>
                  <a:pt x="326224" y="289905"/>
                  <a:pt x="326224" y="302335"/>
                </a:cubicBezTo>
                <a:cubicBezTo>
                  <a:pt x="326224" y="314841"/>
                  <a:pt x="316094" y="324954"/>
                  <a:pt x="303643" y="324954"/>
                </a:cubicBezTo>
                <a:cubicBezTo>
                  <a:pt x="291193" y="324954"/>
                  <a:pt x="281062" y="314841"/>
                  <a:pt x="281062" y="302335"/>
                </a:cubicBezTo>
                <a:cubicBezTo>
                  <a:pt x="281062" y="289905"/>
                  <a:pt x="291193" y="279792"/>
                  <a:pt x="303643" y="279792"/>
                </a:cubicBezTo>
                <a:close/>
                <a:moveTo>
                  <a:pt x="281043" y="46068"/>
                </a:moveTo>
                <a:cubicBezTo>
                  <a:pt x="220693" y="51315"/>
                  <a:pt x="163820" y="77783"/>
                  <a:pt x="120855" y="120687"/>
                </a:cubicBezTo>
                <a:cubicBezTo>
                  <a:pt x="77891" y="163591"/>
                  <a:pt x="51387" y="220385"/>
                  <a:pt x="46132" y="280652"/>
                </a:cubicBezTo>
                <a:lnTo>
                  <a:pt x="147128" y="280652"/>
                </a:lnTo>
                <a:cubicBezTo>
                  <a:pt x="159647" y="280652"/>
                  <a:pt x="169770" y="290761"/>
                  <a:pt x="169770" y="303185"/>
                </a:cubicBezTo>
                <a:cubicBezTo>
                  <a:pt x="169770" y="315608"/>
                  <a:pt x="159647" y="325717"/>
                  <a:pt x="147128" y="325717"/>
                </a:cubicBezTo>
                <a:lnTo>
                  <a:pt x="46132" y="325717"/>
                </a:lnTo>
                <a:cubicBezTo>
                  <a:pt x="51387" y="385984"/>
                  <a:pt x="77891" y="442778"/>
                  <a:pt x="120855" y="485682"/>
                </a:cubicBezTo>
                <a:cubicBezTo>
                  <a:pt x="163820" y="528586"/>
                  <a:pt x="220693" y="555131"/>
                  <a:pt x="281043" y="560301"/>
                </a:cubicBezTo>
                <a:lnTo>
                  <a:pt x="281043" y="459446"/>
                </a:lnTo>
                <a:cubicBezTo>
                  <a:pt x="281043" y="447022"/>
                  <a:pt x="291167" y="436913"/>
                  <a:pt x="303608" y="436913"/>
                </a:cubicBezTo>
                <a:cubicBezTo>
                  <a:pt x="316049" y="436913"/>
                  <a:pt x="326172" y="447022"/>
                  <a:pt x="326172" y="459446"/>
                </a:cubicBezTo>
                <a:lnTo>
                  <a:pt x="326172" y="560301"/>
                </a:lnTo>
                <a:cubicBezTo>
                  <a:pt x="386522" y="555131"/>
                  <a:pt x="443395" y="528586"/>
                  <a:pt x="486360" y="485682"/>
                </a:cubicBezTo>
                <a:cubicBezTo>
                  <a:pt x="529324" y="442778"/>
                  <a:pt x="555906" y="385984"/>
                  <a:pt x="561083" y="325717"/>
                </a:cubicBezTo>
                <a:lnTo>
                  <a:pt x="460087" y="325717"/>
                </a:lnTo>
                <a:cubicBezTo>
                  <a:pt x="447645" y="325717"/>
                  <a:pt x="437523" y="315608"/>
                  <a:pt x="437523" y="303185"/>
                </a:cubicBezTo>
                <a:cubicBezTo>
                  <a:pt x="437523" y="290761"/>
                  <a:pt x="447645" y="280652"/>
                  <a:pt x="460087" y="280652"/>
                </a:cubicBezTo>
                <a:lnTo>
                  <a:pt x="561083" y="280652"/>
                </a:lnTo>
                <a:cubicBezTo>
                  <a:pt x="555906" y="220385"/>
                  <a:pt x="529324" y="163591"/>
                  <a:pt x="486360" y="120687"/>
                </a:cubicBezTo>
                <a:cubicBezTo>
                  <a:pt x="443395" y="77783"/>
                  <a:pt x="386522" y="51315"/>
                  <a:pt x="326172" y="46068"/>
                </a:cubicBezTo>
                <a:lnTo>
                  <a:pt x="326172" y="146923"/>
                </a:lnTo>
                <a:cubicBezTo>
                  <a:pt x="326172" y="159424"/>
                  <a:pt x="316049" y="169533"/>
                  <a:pt x="303608" y="169533"/>
                </a:cubicBezTo>
                <a:cubicBezTo>
                  <a:pt x="291167" y="169533"/>
                  <a:pt x="281043" y="159424"/>
                  <a:pt x="281043" y="146923"/>
                </a:cubicBezTo>
                <a:close/>
                <a:moveTo>
                  <a:pt x="281617" y="45548"/>
                </a:moveTo>
                <a:lnTo>
                  <a:pt x="281617" y="146935"/>
                </a:lnTo>
                <a:cubicBezTo>
                  <a:pt x="281617" y="159126"/>
                  <a:pt x="291431" y="169002"/>
                  <a:pt x="303640" y="169002"/>
                </a:cubicBezTo>
                <a:cubicBezTo>
                  <a:pt x="315850" y="169002"/>
                  <a:pt x="325741" y="159126"/>
                  <a:pt x="325741" y="146935"/>
                </a:cubicBezTo>
                <a:lnTo>
                  <a:pt x="325741" y="45548"/>
                </a:lnTo>
                <a:cubicBezTo>
                  <a:pt x="451159" y="56119"/>
                  <a:pt x="551077" y="155963"/>
                  <a:pt x="561663" y="281192"/>
                </a:cubicBezTo>
                <a:lnTo>
                  <a:pt x="460123" y="281192"/>
                </a:lnTo>
                <a:cubicBezTo>
                  <a:pt x="447914" y="281192"/>
                  <a:pt x="438022" y="290991"/>
                  <a:pt x="438022" y="303182"/>
                </a:cubicBezTo>
                <a:cubicBezTo>
                  <a:pt x="438022" y="315373"/>
                  <a:pt x="447914" y="325250"/>
                  <a:pt x="460123" y="325250"/>
                </a:cubicBezTo>
                <a:lnTo>
                  <a:pt x="561663" y="325250"/>
                </a:lnTo>
                <a:cubicBezTo>
                  <a:pt x="551077" y="450478"/>
                  <a:pt x="451159" y="550245"/>
                  <a:pt x="325741" y="560815"/>
                </a:cubicBezTo>
                <a:lnTo>
                  <a:pt x="325741" y="459429"/>
                </a:lnTo>
                <a:cubicBezTo>
                  <a:pt x="325741" y="447238"/>
                  <a:pt x="315850" y="437361"/>
                  <a:pt x="303640" y="437361"/>
                </a:cubicBezTo>
                <a:cubicBezTo>
                  <a:pt x="291431" y="437361"/>
                  <a:pt x="281617" y="447238"/>
                  <a:pt x="281617" y="459429"/>
                </a:cubicBezTo>
                <a:lnTo>
                  <a:pt x="281617" y="560815"/>
                </a:lnTo>
                <a:cubicBezTo>
                  <a:pt x="156198" y="550245"/>
                  <a:pt x="56203" y="450478"/>
                  <a:pt x="45616" y="325250"/>
                </a:cubicBezTo>
                <a:lnTo>
                  <a:pt x="147157" y="325250"/>
                </a:lnTo>
                <a:cubicBezTo>
                  <a:pt x="159366" y="325250"/>
                  <a:pt x="169257" y="315373"/>
                  <a:pt x="169257" y="303182"/>
                </a:cubicBezTo>
                <a:cubicBezTo>
                  <a:pt x="169257" y="290991"/>
                  <a:pt x="159366" y="281192"/>
                  <a:pt x="147157" y="281192"/>
                </a:cubicBezTo>
                <a:lnTo>
                  <a:pt x="45616" y="281192"/>
                </a:lnTo>
                <a:cubicBezTo>
                  <a:pt x="56203" y="155963"/>
                  <a:pt x="156198" y="56119"/>
                  <a:pt x="281617" y="45548"/>
                </a:cubicBezTo>
                <a:close/>
                <a:moveTo>
                  <a:pt x="281508" y="44987"/>
                </a:moveTo>
                <a:cubicBezTo>
                  <a:pt x="220693" y="50158"/>
                  <a:pt x="163433" y="76780"/>
                  <a:pt x="120160" y="119993"/>
                </a:cubicBezTo>
                <a:cubicBezTo>
                  <a:pt x="76887" y="163205"/>
                  <a:pt x="50228" y="220385"/>
                  <a:pt x="45050" y="281115"/>
                </a:cubicBezTo>
                <a:lnTo>
                  <a:pt x="45050" y="281655"/>
                </a:lnTo>
                <a:lnTo>
                  <a:pt x="147128" y="281655"/>
                </a:lnTo>
                <a:cubicBezTo>
                  <a:pt x="159029" y="281655"/>
                  <a:pt x="168688" y="291301"/>
                  <a:pt x="168688" y="303185"/>
                </a:cubicBezTo>
                <a:cubicBezTo>
                  <a:pt x="168688" y="315068"/>
                  <a:pt x="159029" y="324714"/>
                  <a:pt x="147128" y="324714"/>
                </a:cubicBezTo>
                <a:lnTo>
                  <a:pt x="45050" y="324714"/>
                </a:lnTo>
                <a:lnTo>
                  <a:pt x="45050" y="325254"/>
                </a:lnTo>
                <a:cubicBezTo>
                  <a:pt x="50228" y="385984"/>
                  <a:pt x="76887" y="443241"/>
                  <a:pt x="120160" y="486454"/>
                </a:cubicBezTo>
                <a:cubicBezTo>
                  <a:pt x="163433" y="529666"/>
                  <a:pt x="220693" y="556289"/>
                  <a:pt x="281508" y="561382"/>
                </a:cubicBezTo>
                <a:lnTo>
                  <a:pt x="282048" y="561459"/>
                </a:lnTo>
                <a:lnTo>
                  <a:pt x="282048" y="459446"/>
                </a:lnTo>
                <a:cubicBezTo>
                  <a:pt x="282048" y="447562"/>
                  <a:pt x="291708" y="437916"/>
                  <a:pt x="303608" y="437916"/>
                </a:cubicBezTo>
                <a:cubicBezTo>
                  <a:pt x="315508" y="437916"/>
                  <a:pt x="325167" y="447562"/>
                  <a:pt x="325167" y="459446"/>
                </a:cubicBezTo>
                <a:lnTo>
                  <a:pt x="325167" y="561459"/>
                </a:lnTo>
                <a:lnTo>
                  <a:pt x="325708" y="561382"/>
                </a:lnTo>
                <a:cubicBezTo>
                  <a:pt x="386522" y="556289"/>
                  <a:pt x="443859" y="529666"/>
                  <a:pt x="487132" y="486454"/>
                </a:cubicBezTo>
                <a:cubicBezTo>
                  <a:pt x="530405" y="443241"/>
                  <a:pt x="557065" y="385984"/>
                  <a:pt x="562165" y="325254"/>
                </a:cubicBezTo>
                <a:lnTo>
                  <a:pt x="562242" y="324714"/>
                </a:lnTo>
                <a:lnTo>
                  <a:pt x="460087" y="324714"/>
                </a:lnTo>
                <a:cubicBezTo>
                  <a:pt x="448186" y="324714"/>
                  <a:pt x="438527" y="315068"/>
                  <a:pt x="438527" y="303185"/>
                </a:cubicBezTo>
                <a:cubicBezTo>
                  <a:pt x="438527" y="291301"/>
                  <a:pt x="448186" y="281655"/>
                  <a:pt x="460087" y="281655"/>
                </a:cubicBezTo>
                <a:lnTo>
                  <a:pt x="562242" y="281655"/>
                </a:lnTo>
                <a:lnTo>
                  <a:pt x="562165" y="281115"/>
                </a:lnTo>
                <a:cubicBezTo>
                  <a:pt x="557065" y="220385"/>
                  <a:pt x="530405" y="163205"/>
                  <a:pt x="487132" y="119993"/>
                </a:cubicBezTo>
                <a:cubicBezTo>
                  <a:pt x="443859" y="76780"/>
                  <a:pt x="386522" y="50158"/>
                  <a:pt x="325708" y="44987"/>
                </a:cubicBezTo>
                <a:lnTo>
                  <a:pt x="325167" y="44987"/>
                </a:lnTo>
                <a:lnTo>
                  <a:pt x="325167" y="146923"/>
                </a:lnTo>
                <a:cubicBezTo>
                  <a:pt x="325167" y="158807"/>
                  <a:pt x="315508" y="168453"/>
                  <a:pt x="303608" y="168453"/>
                </a:cubicBezTo>
                <a:cubicBezTo>
                  <a:pt x="291708" y="168453"/>
                  <a:pt x="282048" y="158807"/>
                  <a:pt x="282048" y="146923"/>
                </a:cubicBezTo>
                <a:lnTo>
                  <a:pt x="282048" y="44987"/>
                </a:lnTo>
                <a:close/>
                <a:moveTo>
                  <a:pt x="303608" y="1003"/>
                </a:moveTo>
                <a:cubicBezTo>
                  <a:pt x="344485" y="1003"/>
                  <a:pt x="384049" y="9028"/>
                  <a:pt x="421450" y="24770"/>
                </a:cubicBezTo>
                <a:cubicBezTo>
                  <a:pt x="457459" y="40049"/>
                  <a:pt x="489837" y="61810"/>
                  <a:pt x="517578" y="89512"/>
                </a:cubicBezTo>
                <a:cubicBezTo>
                  <a:pt x="545396" y="117292"/>
                  <a:pt x="567188" y="149547"/>
                  <a:pt x="582410" y="185584"/>
                </a:cubicBezTo>
                <a:cubicBezTo>
                  <a:pt x="598174" y="222855"/>
                  <a:pt x="606211" y="262441"/>
                  <a:pt x="606211" y="303185"/>
                </a:cubicBezTo>
                <a:cubicBezTo>
                  <a:pt x="606211" y="344005"/>
                  <a:pt x="598174" y="383514"/>
                  <a:pt x="582410" y="420863"/>
                </a:cubicBezTo>
                <a:cubicBezTo>
                  <a:pt x="567188" y="456822"/>
                  <a:pt x="545396" y="489154"/>
                  <a:pt x="517578" y="516857"/>
                </a:cubicBezTo>
                <a:cubicBezTo>
                  <a:pt x="489837" y="544637"/>
                  <a:pt x="457459" y="566397"/>
                  <a:pt x="421450" y="581599"/>
                </a:cubicBezTo>
                <a:cubicBezTo>
                  <a:pt x="384049" y="597341"/>
                  <a:pt x="344485" y="605366"/>
                  <a:pt x="303608" y="605366"/>
                </a:cubicBezTo>
                <a:cubicBezTo>
                  <a:pt x="262807" y="605366"/>
                  <a:pt x="223166" y="597341"/>
                  <a:pt x="185842" y="581599"/>
                </a:cubicBezTo>
                <a:cubicBezTo>
                  <a:pt x="149756" y="566397"/>
                  <a:pt x="117455" y="544637"/>
                  <a:pt x="89637" y="516857"/>
                </a:cubicBezTo>
                <a:cubicBezTo>
                  <a:pt x="61896" y="489154"/>
                  <a:pt x="40105" y="456822"/>
                  <a:pt x="24805" y="420863"/>
                </a:cubicBezTo>
                <a:cubicBezTo>
                  <a:pt x="9041" y="383514"/>
                  <a:pt x="1004" y="344005"/>
                  <a:pt x="1004" y="303185"/>
                </a:cubicBezTo>
                <a:cubicBezTo>
                  <a:pt x="1004" y="262441"/>
                  <a:pt x="9041" y="222855"/>
                  <a:pt x="24805" y="185584"/>
                </a:cubicBezTo>
                <a:cubicBezTo>
                  <a:pt x="40105" y="149547"/>
                  <a:pt x="61896" y="117292"/>
                  <a:pt x="89637" y="89512"/>
                </a:cubicBezTo>
                <a:cubicBezTo>
                  <a:pt x="117455" y="61810"/>
                  <a:pt x="149756" y="40049"/>
                  <a:pt x="185842" y="24770"/>
                </a:cubicBezTo>
                <a:cubicBezTo>
                  <a:pt x="223166" y="9028"/>
                  <a:pt x="262807" y="1003"/>
                  <a:pt x="303608" y="1003"/>
                </a:cubicBezTo>
                <a:close/>
                <a:moveTo>
                  <a:pt x="303640" y="565"/>
                </a:moveTo>
                <a:cubicBezTo>
                  <a:pt x="262761" y="565"/>
                  <a:pt x="223041" y="8512"/>
                  <a:pt x="185640" y="24330"/>
                </a:cubicBezTo>
                <a:cubicBezTo>
                  <a:pt x="149552" y="39607"/>
                  <a:pt x="117174" y="61366"/>
                  <a:pt x="89354" y="89220"/>
                </a:cubicBezTo>
                <a:cubicBezTo>
                  <a:pt x="61458" y="116997"/>
                  <a:pt x="39666" y="149327"/>
                  <a:pt x="24366" y="185360"/>
                </a:cubicBezTo>
                <a:cubicBezTo>
                  <a:pt x="8524" y="222705"/>
                  <a:pt x="565" y="262365"/>
                  <a:pt x="565" y="303182"/>
                </a:cubicBezTo>
                <a:cubicBezTo>
                  <a:pt x="565" y="343999"/>
                  <a:pt x="8524" y="383659"/>
                  <a:pt x="24366" y="421004"/>
                </a:cubicBezTo>
                <a:cubicBezTo>
                  <a:pt x="39666" y="457037"/>
                  <a:pt x="61458" y="489444"/>
                  <a:pt x="89354" y="517221"/>
                </a:cubicBezTo>
                <a:cubicBezTo>
                  <a:pt x="117174" y="544998"/>
                  <a:pt x="149552" y="566834"/>
                  <a:pt x="185640" y="582034"/>
                </a:cubicBezTo>
                <a:cubicBezTo>
                  <a:pt x="223041" y="597852"/>
                  <a:pt x="262761" y="605876"/>
                  <a:pt x="303640" y="605876"/>
                </a:cubicBezTo>
                <a:cubicBezTo>
                  <a:pt x="344596" y="605876"/>
                  <a:pt x="384239" y="597852"/>
                  <a:pt x="421640" y="582034"/>
                </a:cubicBezTo>
                <a:cubicBezTo>
                  <a:pt x="457728" y="566834"/>
                  <a:pt x="490183" y="544998"/>
                  <a:pt x="518003" y="517221"/>
                </a:cubicBezTo>
                <a:cubicBezTo>
                  <a:pt x="545822" y="489444"/>
                  <a:pt x="567691" y="457037"/>
                  <a:pt x="582914" y="421004"/>
                </a:cubicBezTo>
                <a:cubicBezTo>
                  <a:pt x="598756" y="383659"/>
                  <a:pt x="606792" y="343999"/>
                  <a:pt x="606792" y="303182"/>
                </a:cubicBezTo>
                <a:cubicBezTo>
                  <a:pt x="606792" y="262365"/>
                  <a:pt x="598756" y="222705"/>
                  <a:pt x="582914" y="185360"/>
                </a:cubicBezTo>
                <a:cubicBezTo>
                  <a:pt x="567691" y="149327"/>
                  <a:pt x="545822" y="116997"/>
                  <a:pt x="518003" y="89220"/>
                </a:cubicBezTo>
                <a:cubicBezTo>
                  <a:pt x="490183" y="61366"/>
                  <a:pt x="457728" y="39607"/>
                  <a:pt x="421640" y="24330"/>
                </a:cubicBezTo>
                <a:cubicBezTo>
                  <a:pt x="384239" y="8512"/>
                  <a:pt x="344519" y="565"/>
                  <a:pt x="303640" y="565"/>
                </a:cubicBezTo>
                <a:close/>
                <a:moveTo>
                  <a:pt x="303608" y="0"/>
                </a:moveTo>
                <a:cubicBezTo>
                  <a:pt x="344563" y="0"/>
                  <a:pt x="384359" y="8025"/>
                  <a:pt x="421836" y="23844"/>
                </a:cubicBezTo>
                <a:cubicBezTo>
                  <a:pt x="458000" y="39123"/>
                  <a:pt x="490455" y="60961"/>
                  <a:pt x="518351" y="88818"/>
                </a:cubicBezTo>
                <a:cubicBezTo>
                  <a:pt x="546169" y="116674"/>
                  <a:pt x="568038" y="149084"/>
                  <a:pt x="583338" y="185198"/>
                </a:cubicBezTo>
                <a:cubicBezTo>
                  <a:pt x="599179" y="222546"/>
                  <a:pt x="607215" y="262286"/>
                  <a:pt x="607215" y="303185"/>
                </a:cubicBezTo>
                <a:cubicBezTo>
                  <a:pt x="607215" y="344083"/>
                  <a:pt x="599179" y="383823"/>
                  <a:pt x="583338" y="421248"/>
                </a:cubicBezTo>
                <a:cubicBezTo>
                  <a:pt x="568038" y="457362"/>
                  <a:pt x="546169" y="489772"/>
                  <a:pt x="518351" y="517629"/>
                </a:cubicBezTo>
                <a:cubicBezTo>
                  <a:pt x="490455" y="545408"/>
                  <a:pt x="458000" y="567246"/>
                  <a:pt x="421836" y="582525"/>
                </a:cubicBezTo>
                <a:cubicBezTo>
                  <a:pt x="384359" y="598344"/>
                  <a:pt x="344563" y="606369"/>
                  <a:pt x="303608" y="606369"/>
                </a:cubicBezTo>
                <a:cubicBezTo>
                  <a:pt x="262652" y="606369"/>
                  <a:pt x="222856" y="598344"/>
                  <a:pt x="185456" y="582525"/>
                </a:cubicBezTo>
                <a:cubicBezTo>
                  <a:pt x="149292" y="567246"/>
                  <a:pt x="116760" y="545408"/>
                  <a:pt x="88942" y="517629"/>
                </a:cubicBezTo>
                <a:cubicBezTo>
                  <a:pt x="61046" y="489772"/>
                  <a:pt x="39177" y="457362"/>
                  <a:pt x="23877" y="421248"/>
                </a:cubicBezTo>
                <a:cubicBezTo>
                  <a:pt x="8036" y="383823"/>
                  <a:pt x="0" y="344083"/>
                  <a:pt x="0" y="303185"/>
                </a:cubicBezTo>
                <a:cubicBezTo>
                  <a:pt x="0" y="262286"/>
                  <a:pt x="8036" y="222546"/>
                  <a:pt x="23877" y="185198"/>
                </a:cubicBezTo>
                <a:cubicBezTo>
                  <a:pt x="39177" y="149084"/>
                  <a:pt x="61046" y="116674"/>
                  <a:pt x="88942" y="88818"/>
                </a:cubicBezTo>
                <a:cubicBezTo>
                  <a:pt x="116760" y="60961"/>
                  <a:pt x="149292" y="39123"/>
                  <a:pt x="185456" y="23844"/>
                </a:cubicBezTo>
                <a:cubicBezTo>
                  <a:pt x="222856" y="8025"/>
                  <a:pt x="262652" y="0"/>
                  <a:pt x="303608" y="0"/>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dirty="0"/>
          </a:p>
        </p:txBody>
      </p:sp>
      <p:sp>
        <p:nvSpPr>
          <p:cNvPr id="126" name="文本框 125">
            <a:extLst>
              <a:ext uri="{FF2B5EF4-FFF2-40B4-BE49-F238E27FC236}">
                <a16:creationId xmlns:a16="http://schemas.microsoft.com/office/drawing/2014/main" id="{71368E05-8BB9-4577-8EEE-F1BBF6E8D71C}"/>
              </a:ext>
            </a:extLst>
          </p:cNvPr>
          <p:cNvSpPr txBox="1"/>
          <p:nvPr/>
        </p:nvSpPr>
        <p:spPr>
          <a:xfrm>
            <a:off x="373082" y="2808021"/>
            <a:ext cx="1660612" cy="338554"/>
          </a:xfrm>
          <a:prstGeom prst="rect">
            <a:avLst/>
          </a:prstGeom>
          <a:noFill/>
        </p:spPr>
        <p:txBody>
          <a:bodyPr wrap="square" rtlCol="0">
            <a:spAutoFit/>
          </a:bodyPr>
          <a:lstStyle/>
          <a:p>
            <a:r>
              <a:rPr lang="zh-CN" altLang="en-US" sz="1600" dirty="0">
                <a:solidFill>
                  <a:schemeClr val="accent1"/>
                </a:solidFill>
                <a:latin typeface="思源黑体 CN Regular" panose="020B0500000000000000" pitchFamily="34" charset="-122"/>
                <a:ea typeface="思源黑体 CN Regular" panose="020B0500000000000000" pitchFamily="34" charset="-122"/>
              </a:rPr>
              <a:t>研究目标和内容</a:t>
            </a:r>
          </a:p>
        </p:txBody>
      </p:sp>
      <p:sp>
        <p:nvSpPr>
          <p:cNvPr id="127" name="任意矩形：003">
            <a:extLst>
              <a:ext uri="{FF2B5EF4-FFF2-40B4-BE49-F238E27FC236}">
                <a16:creationId xmlns:a16="http://schemas.microsoft.com/office/drawing/2014/main" id="{054AF0B1-69C2-44BF-BE1C-4ED4CA965849}"/>
              </a:ext>
            </a:extLst>
          </p:cNvPr>
          <p:cNvSpPr/>
          <p:nvPr/>
        </p:nvSpPr>
        <p:spPr>
          <a:xfrm rot="10800000" flipH="1" flipV="1">
            <a:off x="145020" y="3571293"/>
            <a:ext cx="199667" cy="199477"/>
          </a:xfrm>
          <a:custGeom>
            <a:avLst/>
            <a:gdLst>
              <a:gd name="connsiteX0" fmla="*/ 320200 w 604886"/>
              <a:gd name="connsiteY0" fmla="*/ 166778 h 604313"/>
              <a:gd name="connsiteX1" fmla="*/ 338200 w 604886"/>
              <a:gd name="connsiteY1" fmla="*/ 168153 h 604313"/>
              <a:gd name="connsiteX2" fmla="*/ 394904 w 604886"/>
              <a:gd name="connsiteY2" fmla="*/ 210003 h 604313"/>
              <a:gd name="connsiteX3" fmla="*/ 448997 w 604886"/>
              <a:gd name="connsiteY3" fmla="*/ 297466 h 604313"/>
              <a:gd name="connsiteX4" fmla="*/ 433479 w 604886"/>
              <a:gd name="connsiteY4" fmla="*/ 381599 h 604313"/>
              <a:gd name="connsiteX5" fmla="*/ 230304 w 604886"/>
              <a:gd name="connsiteY5" fmla="*/ 584474 h 604313"/>
              <a:gd name="connsiteX6" fmla="*/ 177952 w 604886"/>
              <a:gd name="connsiteY6" fmla="*/ 604313 h 604313"/>
              <a:gd name="connsiteX7" fmla="*/ 58454 w 604886"/>
              <a:gd name="connsiteY7" fmla="*/ 545956 h 604313"/>
              <a:gd name="connsiteX8" fmla="*/ 19733 w 604886"/>
              <a:gd name="connsiteY8" fmla="*/ 374359 h 604313"/>
              <a:gd name="connsiteX9" fmla="*/ 93549 w 604886"/>
              <a:gd name="connsiteY9" fmla="*/ 300652 h 604313"/>
              <a:gd name="connsiteX10" fmla="*/ 127049 w 604886"/>
              <a:gd name="connsiteY10" fmla="*/ 300652 h 604313"/>
              <a:gd name="connsiteX11" fmla="*/ 127049 w 604886"/>
              <a:gd name="connsiteY11" fmla="*/ 333958 h 604313"/>
              <a:gd name="connsiteX12" fmla="*/ 53233 w 604886"/>
              <a:gd name="connsiteY12" fmla="*/ 407665 h 604313"/>
              <a:gd name="connsiteX13" fmla="*/ 91809 w 604886"/>
              <a:gd name="connsiteY13" fmla="*/ 512650 h 604313"/>
              <a:gd name="connsiteX14" fmla="*/ 196950 w 604886"/>
              <a:gd name="connsiteY14" fmla="*/ 551169 h 604313"/>
              <a:gd name="connsiteX15" fmla="*/ 400124 w 604886"/>
              <a:gd name="connsiteY15" fmla="*/ 348294 h 604313"/>
              <a:gd name="connsiteX16" fmla="*/ 403460 w 604886"/>
              <a:gd name="connsiteY16" fmla="*/ 310065 h 604313"/>
              <a:gd name="connsiteX17" fmla="*/ 361549 w 604886"/>
              <a:gd name="connsiteY17" fmla="*/ 243308 h 604313"/>
              <a:gd name="connsiteX18" fmla="*/ 316737 w 604886"/>
              <a:gd name="connsiteY18" fmla="*/ 210147 h 604313"/>
              <a:gd name="connsiteX19" fmla="*/ 306441 w 604886"/>
              <a:gd name="connsiteY19" fmla="*/ 178435 h 604313"/>
              <a:gd name="connsiteX20" fmla="*/ 320200 w 604886"/>
              <a:gd name="connsiteY20" fmla="*/ 166778 h 604313"/>
              <a:gd name="connsiteX21" fmla="*/ 411085 w 604886"/>
              <a:gd name="connsiteY21" fmla="*/ 1388 h 604313"/>
              <a:gd name="connsiteX22" fmla="*/ 458862 w 604886"/>
              <a:gd name="connsiteY22" fmla="*/ 4683 h 604313"/>
              <a:gd name="connsiteX23" fmla="*/ 546442 w 604886"/>
              <a:gd name="connsiteY23" fmla="*/ 58698 h 604313"/>
              <a:gd name="connsiteX24" fmla="*/ 585156 w 604886"/>
              <a:gd name="connsiteY24" fmla="*/ 230302 h 604313"/>
              <a:gd name="connsiteX25" fmla="*/ 511352 w 604886"/>
              <a:gd name="connsiteY25" fmla="*/ 304012 h 604313"/>
              <a:gd name="connsiteX26" fmla="*/ 477857 w 604886"/>
              <a:gd name="connsiteY26" fmla="*/ 304012 h 604313"/>
              <a:gd name="connsiteX27" fmla="*/ 477857 w 604886"/>
              <a:gd name="connsiteY27" fmla="*/ 270705 h 604313"/>
              <a:gd name="connsiteX28" fmla="*/ 551662 w 604886"/>
              <a:gd name="connsiteY28" fmla="*/ 196995 h 604313"/>
              <a:gd name="connsiteX29" fmla="*/ 513092 w 604886"/>
              <a:gd name="connsiteY29" fmla="*/ 92005 h 604313"/>
              <a:gd name="connsiteX30" fmla="*/ 446247 w 604886"/>
              <a:gd name="connsiteY30" fmla="*/ 50154 h 604313"/>
              <a:gd name="connsiteX31" fmla="*/ 407968 w 604886"/>
              <a:gd name="connsiteY31" fmla="*/ 53485 h 604313"/>
              <a:gd name="connsiteX32" fmla="*/ 204825 w 604886"/>
              <a:gd name="connsiteY32" fmla="*/ 256368 h 604313"/>
              <a:gd name="connsiteX33" fmla="*/ 201490 w 604886"/>
              <a:gd name="connsiteY33" fmla="*/ 294599 h 604313"/>
              <a:gd name="connsiteX34" fmla="*/ 243394 w 604886"/>
              <a:gd name="connsiteY34" fmla="*/ 361358 h 604313"/>
              <a:gd name="connsiteX35" fmla="*/ 288199 w 604886"/>
              <a:gd name="connsiteY35" fmla="*/ 394520 h 604313"/>
              <a:gd name="connsiteX36" fmla="*/ 298494 w 604886"/>
              <a:gd name="connsiteY36" fmla="*/ 426234 h 604313"/>
              <a:gd name="connsiteX37" fmla="*/ 277469 w 604886"/>
              <a:gd name="connsiteY37" fmla="*/ 438978 h 604313"/>
              <a:gd name="connsiteX38" fmla="*/ 266739 w 604886"/>
              <a:gd name="connsiteY38" fmla="*/ 436516 h 604313"/>
              <a:gd name="connsiteX39" fmla="*/ 210044 w 604886"/>
              <a:gd name="connsiteY39" fmla="*/ 394665 h 604313"/>
              <a:gd name="connsiteX40" fmla="*/ 155960 w 604886"/>
              <a:gd name="connsiteY40" fmla="*/ 307198 h 604313"/>
              <a:gd name="connsiteX41" fmla="*/ 171330 w 604886"/>
              <a:gd name="connsiteY41" fmla="*/ 223061 h 604313"/>
              <a:gd name="connsiteX42" fmla="*/ 374618 w 604886"/>
              <a:gd name="connsiteY42" fmla="*/ 20033 h 604313"/>
              <a:gd name="connsiteX43" fmla="*/ 411085 w 604886"/>
              <a:gd name="connsiteY43" fmla="*/ 1388 h 6043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Lst>
            <a:rect l="l" t="t" r="r" b="b"/>
            <a:pathLst>
              <a:path w="604886" h="604313">
                <a:moveTo>
                  <a:pt x="320200" y="166778"/>
                </a:moveTo>
                <a:cubicBezTo>
                  <a:pt x="325946" y="164931"/>
                  <a:pt x="332399" y="165257"/>
                  <a:pt x="338200" y="168153"/>
                </a:cubicBezTo>
                <a:cubicBezTo>
                  <a:pt x="358068" y="178290"/>
                  <a:pt x="377646" y="192771"/>
                  <a:pt x="394904" y="210003"/>
                </a:cubicBezTo>
                <a:cubicBezTo>
                  <a:pt x="421443" y="236358"/>
                  <a:pt x="440585" y="267491"/>
                  <a:pt x="448997" y="297466"/>
                </a:cubicBezTo>
                <a:cubicBezTo>
                  <a:pt x="458568" y="332075"/>
                  <a:pt x="453202" y="362050"/>
                  <a:pt x="433479" y="381599"/>
                </a:cubicBezTo>
                <a:lnTo>
                  <a:pt x="230304" y="584474"/>
                </a:lnTo>
                <a:cubicBezTo>
                  <a:pt x="216962" y="597942"/>
                  <a:pt x="198690" y="604313"/>
                  <a:pt x="177952" y="604313"/>
                </a:cubicBezTo>
                <a:cubicBezTo>
                  <a:pt x="140971" y="604313"/>
                  <a:pt x="96305" y="583750"/>
                  <a:pt x="58454" y="545956"/>
                </a:cubicBezTo>
                <a:cubicBezTo>
                  <a:pt x="-570" y="487019"/>
                  <a:pt x="-17537" y="411575"/>
                  <a:pt x="19733" y="374359"/>
                </a:cubicBezTo>
                <a:lnTo>
                  <a:pt x="93549" y="300652"/>
                </a:lnTo>
                <a:cubicBezTo>
                  <a:pt x="102831" y="291384"/>
                  <a:pt x="117768" y="291384"/>
                  <a:pt x="127049" y="300652"/>
                </a:cubicBezTo>
                <a:cubicBezTo>
                  <a:pt x="136186" y="309775"/>
                  <a:pt x="136186" y="324690"/>
                  <a:pt x="127049" y="333958"/>
                </a:cubicBezTo>
                <a:lnTo>
                  <a:pt x="53233" y="407665"/>
                </a:lnTo>
                <a:cubicBezTo>
                  <a:pt x="37426" y="423304"/>
                  <a:pt x="50623" y="471525"/>
                  <a:pt x="91809" y="512650"/>
                </a:cubicBezTo>
                <a:cubicBezTo>
                  <a:pt x="132995" y="553631"/>
                  <a:pt x="181287" y="566808"/>
                  <a:pt x="196950" y="551169"/>
                </a:cubicBezTo>
                <a:lnTo>
                  <a:pt x="400124" y="348294"/>
                </a:lnTo>
                <a:cubicBezTo>
                  <a:pt x="407085" y="341343"/>
                  <a:pt x="408246" y="327441"/>
                  <a:pt x="403460" y="310065"/>
                </a:cubicBezTo>
                <a:cubicBezTo>
                  <a:pt x="397369" y="288199"/>
                  <a:pt x="381997" y="263871"/>
                  <a:pt x="361549" y="243308"/>
                </a:cubicBezTo>
                <a:cubicBezTo>
                  <a:pt x="347627" y="229552"/>
                  <a:pt x="332254" y="218112"/>
                  <a:pt x="316737" y="210147"/>
                </a:cubicBezTo>
                <a:cubicBezTo>
                  <a:pt x="305135" y="204355"/>
                  <a:pt x="300495" y="190019"/>
                  <a:pt x="306441" y="178435"/>
                </a:cubicBezTo>
                <a:cubicBezTo>
                  <a:pt x="309414" y="172642"/>
                  <a:pt x="314453" y="168624"/>
                  <a:pt x="320200" y="166778"/>
                </a:cubicBezTo>
                <a:close/>
                <a:moveTo>
                  <a:pt x="411085" y="1388"/>
                </a:moveTo>
                <a:cubicBezTo>
                  <a:pt x="425368" y="-1219"/>
                  <a:pt x="441535" y="-169"/>
                  <a:pt x="458862" y="4683"/>
                </a:cubicBezTo>
                <a:cubicBezTo>
                  <a:pt x="488877" y="13082"/>
                  <a:pt x="519907" y="32197"/>
                  <a:pt x="546442" y="58698"/>
                </a:cubicBezTo>
                <a:cubicBezTo>
                  <a:pt x="605456" y="117637"/>
                  <a:pt x="622421" y="192940"/>
                  <a:pt x="585156" y="230302"/>
                </a:cubicBezTo>
                <a:lnTo>
                  <a:pt x="511352" y="304012"/>
                </a:lnTo>
                <a:cubicBezTo>
                  <a:pt x="502072" y="313135"/>
                  <a:pt x="487137" y="313135"/>
                  <a:pt x="477857" y="304012"/>
                </a:cubicBezTo>
                <a:cubicBezTo>
                  <a:pt x="468722" y="294744"/>
                  <a:pt x="468722" y="279828"/>
                  <a:pt x="477857" y="270705"/>
                </a:cubicBezTo>
                <a:lnTo>
                  <a:pt x="551662" y="196995"/>
                </a:lnTo>
                <a:cubicBezTo>
                  <a:pt x="567321" y="181355"/>
                  <a:pt x="554127" y="133132"/>
                  <a:pt x="513092" y="92005"/>
                </a:cubicBezTo>
                <a:cubicBezTo>
                  <a:pt x="492502" y="71586"/>
                  <a:pt x="468142" y="56236"/>
                  <a:pt x="446247" y="50154"/>
                </a:cubicBezTo>
                <a:cubicBezTo>
                  <a:pt x="428848" y="45230"/>
                  <a:pt x="414928" y="46534"/>
                  <a:pt x="407968" y="53485"/>
                </a:cubicBezTo>
                <a:lnTo>
                  <a:pt x="204825" y="256368"/>
                </a:lnTo>
                <a:cubicBezTo>
                  <a:pt x="197865" y="263319"/>
                  <a:pt x="196560" y="277221"/>
                  <a:pt x="201490" y="294599"/>
                </a:cubicBezTo>
                <a:cubicBezTo>
                  <a:pt x="207579" y="316466"/>
                  <a:pt x="222949" y="340795"/>
                  <a:pt x="243394" y="361358"/>
                </a:cubicBezTo>
                <a:cubicBezTo>
                  <a:pt x="257169" y="375115"/>
                  <a:pt x="272684" y="386556"/>
                  <a:pt x="288199" y="394520"/>
                </a:cubicBezTo>
                <a:cubicBezTo>
                  <a:pt x="299799" y="400313"/>
                  <a:pt x="304439" y="414505"/>
                  <a:pt x="298494" y="426234"/>
                </a:cubicBezTo>
                <a:cubicBezTo>
                  <a:pt x="294289" y="434344"/>
                  <a:pt x="286024" y="438978"/>
                  <a:pt x="277469" y="438978"/>
                </a:cubicBezTo>
                <a:cubicBezTo>
                  <a:pt x="273844" y="438978"/>
                  <a:pt x="270219" y="438254"/>
                  <a:pt x="266739" y="436516"/>
                </a:cubicBezTo>
                <a:cubicBezTo>
                  <a:pt x="246874" y="426379"/>
                  <a:pt x="227299" y="411898"/>
                  <a:pt x="210044" y="394665"/>
                </a:cubicBezTo>
                <a:cubicBezTo>
                  <a:pt x="183510" y="368164"/>
                  <a:pt x="164370" y="337174"/>
                  <a:pt x="155960" y="307198"/>
                </a:cubicBezTo>
                <a:cubicBezTo>
                  <a:pt x="146245" y="272587"/>
                  <a:pt x="151755" y="242611"/>
                  <a:pt x="171330" y="223061"/>
                </a:cubicBezTo>
                <a:lnTo>
                  <a:pt x="374618" y="20033"/>
                </a:lnTo>
                <a:cubicBezTo>
                  <a:pt x="384406" y="10258"/>
                  <a:pt x="396803" y="3995"/>
                  <a:pt x="411085" y="1388"/>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128" name="文本框 127">
            <a:extLst>
              <a:ext uri="{FF2B5EF4-FFF2-40B4-BE49-F238E27FC236}">
                <a16:creationId xmlns:a16="http://schemas.microsoft.com/office/drawing/2014/main" id="{FAA6C295-DC7B-4234-83BE-8D60B77043BE}"/>
              </a:ext>
            </a:extLst>
          </p:cNvPr>
          <p:cNvSpPr txBox="1"/>
          <p:nvPr/>
        </p:nvSpPr>
        <p:spPr>
          <a:xfrm>
            <a:off x="373082" y="3517143"/>
            <a:ext cx="1660612" cy="338554"/>
          </a:xfrm>
          <a:prstGeom prst="rect">
            <a:avLst/>
          </a:prstGeom>
          <a:noFill/>
        </p:spPr>
        <p:txBody>
          <a:bodyPr wrap="square" rtlCol="0">
            <a:spAutoFit/>
          </a:bodyPr>
          <a:lstStyle/>
          <a:p>
            <a:r>
              <a:rPr lang="zh-CN" altLang="en-US" sz="1600" dirty="0">
                <a:solidFill>
                  <a:schemeClr val="bg1"/>
                </a:solidFill>
                <a:latin typeface="思源黑体 CN Regular" panose="020B0500000000000000" pitchFamily="34" charset="-122"/>
                <a:ea typeface="思源黑体 CN Regular" panose="020B0500000000000000" pitchFamily="34" charset="-122"/>
              </a:rPr>
              <a:t>研究方法与思路</a:t>
            </a:r>
          </a:p>
        </p:txBody>
      </p:sp>
      <p:sp>
        <p:nvSpPr>
          <p:cNvPr id="129" name="文本框 128">
            <a:extLst>
              <a:ext uri="{FF2B5EF4-FFF2-40B4-BE49-F238E27FC236}">
                <a16:creationId xmlns:a16="http://schemas.microsoft.com/office/drawing/2014/main" id="{01393E1A-B472-4C5D-80A3-3510155A6097}"/>
              </a:ext>
            </a:extLst>
          </p:cNvPr>
          <p:cNvSpPr txBox="1"/>
          <p:nvPr/>
        </p:nvSpPr>
        <p:spPr>
          <a:xfrm>
            <a:off x="373082" y="4226265"/>
            <a:ext cx="1660612" cy="338554"/>
          </a:xfrm>
          <a:prstGeom prst="rect">
            <a:avLst/>
          </a:prstGeom>
          <a:noFill/>
        </p:spPr>
        <p:txBody>
          <a:bodyPr wrap="square" rtlCol="0">
            <a:spAutoFit/>
          </a:bodyPr>
          <a:lstStyle/>
          <a:p>
            <a:r>
              <a:rPr lang="zh-CN" altLang="en-US" sz="1600" dirty="0">
                <a:solidFill>
                  <a:schemeClr val="bg1"/>
                </a:solidFill>
                <a:latin typeface="思源黑体 CN Regular" panose="020B0500000000000000" pitchFamily="34" charset="-122"/>
                <a:ea typeface="思源黑体 CN Regular" panose="020B0500000000000000" pitchFamily="34" charset="-122"/>
              </a:rPr>
              <a:t>关键技术与创新</a:t>
            </a:r>
          </a:p>
        </p:txBody>
      </p:sp>
      <p:sp>
        <p:nvSpPr>
          <p:cNvPr id="130" name="任意矩形：004">
            <a:extLst>
              <a:ext uri="{FF2B5EF4-FFF2-40B4-BE49-F238E27FC236}">
                <a16:creationId xmlns:a16="http://schemas.microsoft.com/office/drawing/2014/main" id="{CED4B0F6-290A-464D-82CE-DD57E5A0FF2C}"/>
              </a:ext>
            </a:extLst>
          </p:cNvPr>
          <p:cNvSpPr/>
          <p:nvPr/>
        </p:nvSpPr>
        <p:spPr>
          <a:xfrm rot="20700000">
            <a:off x="101744" y="4285500"/>
            <a:ext cx="251496" cy="189307"/>
          </a:xfrm>
          <a:custGeom>
            <a:avLst/>
            <a:gdLst>
              <a:gd name="T0" fmla="*/ 6845 w 7011"/>
              <a:gd name="T1" fmla="*/ 1345 h 5286"/>
              <a:gd name="T2" fmla="*/ 5180 w 7011"/>
              <a:gd name="T3" fmla="*/ 598 h 5286"/>
              <a:gd name="T4" fmla="*/ 5179 w 7011"/>
              <a:gd name="T5" fmla="*/ 598 h 5286"/>
              <a:gd name="T6" fmla="*/ 3505 w 7011"/>
              <a:gd name="T7" fmla="*/ 0 h 5286"/>
              <a:gd name="T8" fmla="*/ 907 w 7011"/>
              <a:gd name="T9" fmla="*/ 2166 h 5286"/>
              <a:gd name="T10" fmla="*/ 167 w 7011"/>
              <a:gd name="T11" fmla="*/ 3741 h 5286"/>
              <a:gd name="T12" fmla="*/ 1605 w 7011"/>
              <a:gd name="T13" fmla="*/ 4477 h 5286"/>
              <a:gd name="T14" fmla="*/ 3505 w 7011"/>
              <a:gd name="T15" fmla="*/ 5286 h 5286"/>
              <a:gd name="T16" fmla="*/ 6136 w 7011"/>
              <a:gd name="T17" fmla="*/ 2888 h 5286"/>
              <a:gd name="T18" fmla="*/ 6845 w 7011"/>
              <a:gd name="T19" fmla="*/ 1345 h 5286"/>
              <a:gd name="T20" fmla="*/ 521 w 7011"/>
              <a:gd name="T21" fmla="*/ 3613 h 5286"/>
              <a:gd name="T22" fmla="*/ 865 w 7011"/>
              <a:gd name="T23" fmla="*/ 2729 h 5286"/>
              <a:gd name="T24" fmla="*/ 1279 w 7011"/>
              <a:gd name="T25" fmla="*/ 4061 h 5286"/>
              <a:gd name="T26" fmla="*/ 521 w 7011"/>
              <a:gd name="T27" fmla="*/ 3613 h 5286"/>
              <a:gd name="T28" fmla="*/ 3507 w 7011"/>
              <a:gd name="T29" fmla="*/ 4909 h 5286"/>
              <a:gd name="T30" fmla="*/ 2171 w 7011"/>
              <a:gd name="T31" fmla="*/ 4472 h 5286"/>
              <a:gd name="T32" fmla="*/ 4051 w 7011"/>
              <a:gd name="T33" fmla="*/ 4060 h 5286"/>
              <a:gd name="T34" fmla="*/ 5695 w 7011"/>
              <a:gd name="T35" fmla="*/ 3233 h 5286"/>
              <a:gd name="T36" fmla="*/ 3507 w 7011"/>
              <a:gd name="T37" fmla="*/ 4909 h 5286"/>
              <a:gd name="T38" fmla="*/ 5772 w 7011"/>
              <a:gd name="T39" fmla="*/ 2705 h 5286"/>
              <a:gd name="T40" fmla="*/ 3924 w 7011"/>
              <a:gd name="T41" fmla="*/ 3706 h 5286"/>
              <a:gd name="T42" fmla="*/ 1779 w 7011"/>
              <a:gd name="T43" fmla="*/ 4108 h 5286"/>
              <a:gd name="T44" fmla="*/ 1240 w 7011"/>
              <a:gd name="T45" fmla="*/ 2642 h 5286"/>
              <a:gd name="T46" fmla="*/ 3507 w 7011"/>
              <a:gd name="T47" fmla="*/ 376 h 5286"/>
              <a:gd name="T48" fmla="*/ 5773 w 7011"/>
              <a:gd name="T49" fmla="*/ 2642 h 5286"/>
              <a:gd name="T50" fmla="*/ 5772 w 7011"/>
              <a:gd name="T51" fmla="*/ 2705 h 5286"/>
              <a:gd name="T52" fmla="*/ 6133 w 7011"/>
              <a:gd name="T53" fmla="*/ 2364 h 5286"/>
              <a:gd name="T54" fmla="*/ 5571 w 7011"/>
              <a:gd name="T55" fmla="*/ 996 h 5286"/>
              <a:gd name="T56" fmla="*/ 6491 w 7011"/>
              <a:gd name="T57" fmla="*/ 1472 h 5286"/>
              <a:gd name="T58" fmla="*/ 6133 w 7011"/>
              <a:gd name="T59" fmla="*/ 2364 h 528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7011" h="5286">
                <a:moveTo>
                  <a:pt x="6845" y="1345"/>
                </a:moveTo>
                <a:cubicBezTo>
                  <a:pt x="6672" y="864"/>
                  <a:pt x="6081" y="598"/>
                  <a:pt x="5180" y="598"/>
                </a:cubicBezTo>
                <a:lnTo>
                  <a:pt x="5179" y="598"/>
                </a:lnTo>
                <a:cubicBezTo>
                  <a:pt x="4723" y="225"/>
                  <a:pt x="4140" y="0"/>
                  <a:pt x="3505" y="0"/>
                </a:cubicBezTo>
                <a:cubicBezTo>
                  <a:pt x="2212" y="0"/>
                  <a:pt x="1132" y="936"/>
                  <a:pt x="907" y="2166"/>
                </a:cubicBezTo>
                <a:cubicBezTo>
                  <a:pt x="264" y="2720"/>
                  <a:pt x="0" y="3278"/>
                  <a:pt x="167" y="3741"/>
                </a:cubicBezTo>
                <a:cubicBezTo>
                  <a:pt x="325" y="4184"/>
                  <a:pt x="863" y="4433"/>
                  <a:pt x="1605" y="4477"/>
                </a:cubicBezTo>
                <a:cubicBezTo>
                  <a:pt x="2087" y="4976"/>
                  <a:pt x="2760" y="5286"/>
                  <a:pt x="3505" y="5286"/>
                </a:cubicBezTo>
                <a:cubicBezTo>
                  <a:pt x="4880" y="5286"/>
                  <a:pt x="6012" y="4232"/>
                  <a:pt x="6136" y="2888"/>
                </a:cubicBezTo>
                <a:cubicBezTo>
                  <a:pt x="6728" y="2364"/>
                  <a:pt x="7011" y="1804"/>
                  <a:pt x="6845" y="1345"/>
                </a:cubicBezTo>
                <a:close/>
                <a:moveTo>
                  <a:pt x="521" y="3613"/>
                </a:moveTo>
                <a:cubicBezTo>
                  <a:pt x="437" y="3380"/>
                  <a:pt x="565" y="3064"/>
                  <a:pt x="865" y="2729"/>
                </a:cubicBezTo>
                <a:cubicBezTo>
                  <a:pt x="881" y="3218"/>
                  <a:pt x="1031" y="3673"/>
                  <a:pt x="1279" y="4061"/>
                </a:cubicBezTo>
                <a:cubicBezTo>
                  <a:pt x="871" y="3988"/>
                  <a:pt x="599" y="3830"/>
                  <a:pt x="521" y="3613"/>
                </a:cubicBezTo>
                <a:close/>
                <a:moveTo>
                  <a:pt x="3507" y="4909"/>
                </a:moveTo>
                <a:cubicBezTo>
                  <a:pt x="3008" y="4909"/>
                  <a:pt x="2545" y="4746"/>
                  <a:pt x="2171" y="4472"/>
                </a:cubicBezTo>
                <a:cubicBezTo>
                  <a:pt x="2740" y="4434"/>
                  <a:pt x="3384" y="4300"/>
                  <a:pt x="4051" y="4060"/>
                </a:cubicBezTo>
                <a:cubicBezTo>
                  <a:pt x="4684" y="3833"/>
                  <a:pt x="5243" y="3546"/>
                  <a:pt x="5695" y="3233"/>
                </a:cubicBezTo>
                <a:cubicBezTo>
                  <a:pt x="5433" y="4197"/>
                  <a:pt x="4552" y="4909"/>
                  <a:pt x="3507" y="4909"/>
                </a:cubicBezTo>
                <a:close/>
                <a:moveTo>
                  <a:pt x="5772" y="2705"/>
                </a:moveTo>
                <a:cubicBezTo>
                  <a:pt x="5328" y="3068"/>
                  <a:pt x="4700" y="3428"/>
                  <a:pt x="3924" y="3706"/>
                </a:cubicBezTo>
                <a:cubicBezTo>
                  <a:pt x="3111" y="3998"/>
                  <a:pt x="2365" y="4117"/>
                  <a:pt x="1779" y="4108"/>
                </a:cubicBezTo>
                <a:cubicBezTo>
                  <a:pt x="1443" y="3712"/>
                  <a:pt x="1240" y="3201"/>
                  <a:pt x="1240" y="2642"/>
                </a:cubicBezTo>
                <a:cubicBezTo>
                  <a:pt x="1240" y="1393"/>
                  <a:pt x="2256" y="376"/>
                  <a:pt x="3507" y="376"/>
                </a:cubicBezTo>
                <a:cubicBezTo>
                  <a:pt x="4756" y="376"/>
                  <a:pt x="5773" y="1393"/>
                  <a:pt x="5773" y="2642"/>
                </a:cubicBezTo>
                <a:cubicBezTo>
                  <a:pt x="5773" y="2664"/>
                  <a:pt x="5772" y="2684"/>
                  <a:pt x="5772" y="2705"/>
                </a:cubicBezTo>
                <a:close/>
                <a:moveTo>
                  <a:pt x="6133" y="2364"/>
                </a:moveTo>
                <a:cubicBezTo>
                  <a:pt x="6079" y="1849"/>
                  <a:pt x="5877" y="1380"/>
                  <a:pt x="5571" y="996"/>
                </a:cubicBezTo>
                <a:cubicBezTo>
                  <a:pt x="6067" y="1053"/>
                  <a:pt x="6401" y="1221"/>
                  <a:pt x="6491" y="1472"/>
                </a:cubicBezTo>
                <a:cubicBezTo>
                  <a:pt x="6573" y="1704"/>
                  <a:pt x="6443" y="2024"/>
                  <a:pt x="6133" y="2364"/>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131" name="文本框 130">
            <a:extLst>
              <a:ext uri="{FF2B5EF4-FFF2-40B4-BE49-F238E27FC236}">
                <a16:creationId xmlns:a16="http://schemas.microsoft.com/office/drawing/2014/main" id="{38B53B61-0566-4889-89B1-3A8EC60DC728}"/>
              </a:ext>
            </a:extLst>
          </p:cNvPr>
          <p:cNvSpPr txBox="1"/>
          <p:nvPr/>
        </p:nvSpPr>
        <p:spPr>
          <a:xfrm>
            <a:off x="373082" y="4935387"/>
            <a:ext cx="1660612" cy="338554"/>
          </a:xfrm>
          <a:prstGeom prst="rect">
            <a:avLst/>
          </a:prstGeom>
          <a:noFill/>
        </p:spPr>
        <p:txBody>
          <a:bodyPr wrap="square" rtlCol="0">
            <a:spAutoFit/>
          </a:bodyPr>
          <a:lstStyle/>
          <a:p>
            <a:r>
              <a:rPr lang="zh-CN" altLang="en-US" sz="1600" dirty="0">
                <a:solidFill>
                  <a:schemeClr val="bg1"/>
                </a:solidFill>
                <a:latin typeface="思源黑体 CN Regular" panose="020B0500000000000000" pitchFamily="34" charset="-122"/>
                <a:ea typeface="思源黑体 CN Regular" panose="020B0500000000000000" pitchFamily="34" charset="-122"/>
              </a:rPr>
              <a:t>已开展工作</a:t>
            </a:r>
          </a:p>
        </p:txBody>
      </p:sp>
      <p:sp>
        <p:nvSpPr>
          <p:cNvPr id="132" name="任意矩形：005">
            <a:extLst>
              <a:ext uri="{FF2B5EF4-FFF2-40B4-BE49-F238E27FC236}">
                <a16:creationId xmlns:a16="http://schemas.microsoft.com/office/drawing/2014/main" id="{3128317C-5D66-4DB7-8380-D03C5D51903D}"/>
              </a:ext>
            </a:extLst>
          </p:cNvPr>
          <p:cNvSpPr/>
          <p:nvPr/>
        </p:nvSpPr>
        <p:spPr>
          <a:xfrm>
            <a:off x="123946" y="4988361"/>
            <a:ext cx="201734" cy="201828"/>
          </a:xfrm>
          <a:custGeom>
            <a:avLst/>
            <a:gdLst>
              <a:gd name="T0" fmla="*/ 278945 h 440259"/>
              <a:gd name="T1" fmla="*/ 278945 h 440259"/>
              <a:gd name="T2" fmla="*/ 278945 h 440259"/>
              <a:gd name="T3" fmla="*/ 278945 h 440259"/>
              <a:gd name="T4" fmla="*/ 278945 h 440259"/>
              <a:gd name="T5" fmla="*/ 278945 h 440259"/>
              <a:gd name="T6" fmla="*/ 278945 h 440259"/>
              <a:gd name="T7" fmla="*/ 278945 h 440259"/>
              <a:gd name="T8" fmla="*/ 278945 h 440259"/>
              <a:gd name="T9" fmla="*/ 278945 h 440259"/>
              <a:gd name="T10" fmla="*/ 278945 h 440259"/>
              <a:gd name="T11" fmla="*/ 278945 h 440259"/>
              <a:gd name="T12" fmla="*/ 278945 h 440259"/>
              <a:gd name="T13" fmla="*/ 278945 h 440259"/>
              <a:gd name="T14" fmla="*/ 278945 h 440259"/>
              <a:gd name="T15" fmla="*/ 278945 h 440259"/>
              <a:gd name="T16" fmla="*/ 278945 h 440259"/>
              <a:gd name="T17" fmla="*/ 278945 h 440259"/>
              <a:gd name="T18" fmla="*/ 278945 h 440259"/>
              <a:gd name="T19" fmla="*/ 278945 h 440259"/>
              <a:gd name="T20" fmla="*/ 278945 h 440259"/>
              <a:gd name="T21" fmla="*/ 278945 h 440259"/>
              <a:gd name="T22" fmla="*/ 278945 h 440259"/>
              <a:gd name="T23" fmla="*/ 278945 h 440259"/>
              <a:gd name="T24" fmla="*/ 278945 h 440259"/>
              <a:gd name="T25" fmla="*/ 278945 h 440259"/>
              <a:gd name="T26" fmla="*/ 278945 h 440259"/>
              <a:gd name="T27" fmla="*/ 278945 h 440259"/>
              <a:gd name="T28" fmla="*/ 278945 h 440259"/>
              <a:gd name="T29" fmla="*/ 278945 h 440259"/>
              <a:gd name="T30" fmla="*/ 278945 h 440259"/>
              <a:gd name="T31" fmla="*/ 278945 h 440259"/>
              <a:gd name="T32" fmla="*/ 278945 h 440259"/>
              <a:gd name="T33" fmla="*/ 278945 h 440259"/>
              <a:gd name="T34" fmla="*/ 278945 h 440259"/>
              <a:gd name="T35" fmla="*/ 278945 h 440259"/>
              <a:gd name="T36" fmla="*/ 278945 h 440259"/>
              <a:gd name="T37" fmla="*/ 278945 h 440259"/>
              <a:gd name="T38" fmla="*/ 278945 h 440259"/>
              <a:gd name="T39" fmla="*/ 278945 h 440259"/>
              <a:gd name="T40" fmla="*/ 278945 h 440259"/>
              <a:gd name="T41" fmla="*/ 278945 h 440259"/>
              <a:gd name="T42" fmla="*/ 278945 h 440259"/>
              <a:gd name="T43" fmla="*/ 278945 h 440259"/>
              <a:gd name="T44" fmla="*/ 278945 h 440259"/>
              <a:gd name="T45" fmla="*/ 278945 h 440259"/>
              <a:gd name="T46" fmla="*/ 278945 h 440259"/>
              <a:gd name="T47" fmla="*/ 278945 h 440259"/>
              <a:gd name="T48" fmla="*/ 278945 h 440259"/>
              <a:gd name="T49" fmla="*/ 278945 h 440259"/>
              <a:gd name="T50" fmla="*/ 278945 h 440259"/>
              <a:gd name="T51" fmla="*/ 278945 h 440259"/>
              <a:gd name="T52" fmla="*/ 278945 h 440259"/>
              <a:gd name="T53" fmla="*/ 278945 h 440259"/>
              <a:gd name="T54" fmla="*/ 278945 h 440259"/>
              <a:gd name="T55" fmla="*/ 278945 h 440259"/>
              <a:gd name="T56" fmla="*/ 278945 h 440259"/>
              <a:gd name="T57" fmla="*/ 278945 h 440259"/>
              <a:gd name="T58" fmla="*/ 278945 h 440259"/>
              <a:gd name="T59" fmla="*/ 278945 h 440259"/>
              <a:gd name="T60" fmla="*/ 278945 h 440259"/>
              <a:gd name="T61" fmla="*/ 278945 h 440259"/>
              <a:gd name="T62" fmla="*/ 278945 h 440259"/>
              <a:gd name="T63" fmla="*/ 278945 h 440259"/>
              <a:gd name="T64" fmla="*/ 278945 h 440259"/>
              <a:gd name="T65" fmla="*/ 278945 h 440259"/>
              <a:gd name="T66" fmla="*/ 278945 h 440259"/>
              <a:gd name="T67" fmla="*/ 278945 h 440259"/>
              <a:gd name="T68" fmla="*/ 278945 h 440259"/>
              <a:gd name="T69" fmla="*/ 278945 h 440259"/>
              <a:gd name="T70" fmla="*/ 278945 h 440259"/>
              <a:gd name="T71" fmla="*/ 278945 h 440259"/>
              <a:gd name="T72" fmla="*/ 278945 h 440259"/>
              <a:gd name="T73" fmla="*/ 278945 h 440259"/>
              <a:gd name="T74" fmla="*/ 278945 h 440259"/>
              <a:gd name="T75" fmla="*/ 278945 h 440259"/>
              <a:gd name="T76" fmla="*/ 278945 h 440259"/>
              <a:gd name="T77" fmla="*/ 278945 h 440259"/>
              <a:gd name="T78" fmla="*/ 278945 h 440259"/>
              <a:gd name="T79" fmla="*/ 278945 h 440259"/>
              <a:gd name="T80" fmla="*/ 278945 h 440259"/>
              <a:gd name="T81" fmla="*/ 278945 h 440259"/>
              <a:gd name="T82" fmla="*/ 278945 h 440259"/>
              <a:gd name="T83" fmla="*/ 278945 h 440259"/>
              <a:gd name="T84" fmla="*/ 88862 h 440259"/>
              <a:gd name="T85" fmla="*/ 88862 h 440259"/>
              <a:gd name="T86" fmla="*/ 278945 h 440259"/>
              <a:gd name="T87" fmla="*/ 278945 h 44025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Lst>
            <a:rect l="0" t="0" r="r" b="b"/>
            <a:pathLst>
              <a:path w="6495" h="6508">
                <a:moveTo>
                  <a:pt x="6495" y="203"/>
                </a:moveTo>
                <a:lnTo>
                  <a:pt x="6495" y="197"/>
                </a:lnTo>
                <a:cubicBezTo>
                  <a:pt x="6495" y="193"/>
                  <a:pt x="6493" y="191"/>
                  <a:pt x="6493" y="187"/>
                </a:cubicBezTo>
                <a:cubicBezTo>
                  <a:pt x="6493" y="184"/>
                  <a:pt x="6493" y="181"/>
                  <a:pt x="6492" y="179"/>
                </a:cubicBezTo>
                <a:cubicBezTo>
                  <a:pt x="6492" y="176"/>
                  <a:pt x="6491" y="173"/>
                  <a:pt x="6491" y="172"/>
                </a:cubicBezTo>
                <a:cubicBezTo>
                  <a:pt x="6489" y="169"/>
                  <a:pt x="6489" y="165"/>
                  <a:pt x="6488" y="163"/>
                </a:cubicBezTo>
                <a:cubicBezTo>
                  <a:pt x="6488" y="161"/>
                  <a:pt x="6487" y="160"/>
                  <a:pt x="6487" y="157"/>
                </a:cubicBezTo>
                <a:lnTo>
                  <a:pt x="6483" y="145"/>
                </a:lnTo>
                <a:cubicBezTo>
                  <a:pt x="6483" y="144"/>
                  <a:pt x="6481" y="144"/>
                  <a:pt x="6481" y="143"/>
                </a:cubicBezTo>
                <a:cubicBezTo>
                  <a:pt x="6480" y="139"/>
                  <a:pt x="6477" y="133"/>
                  <a:pt x="6475" y="129"/>
                </a:cubicBezTo>
                <a:cubicBezTo>
                  <a:pt x="6475" y="128"/>
                  <a:pt x="6473" y="127"/>
                  <a:pt x="6473" y="127"/>
                </a:cubicBezTo>
                <a:cubicBezTo>
                  <a:pt x="6471" y="123"/>
                  <a:pt x="6469" y="119"/>
                  <a:pt x="6467" y="115"/>
                </a:cubicBezTo>
                <a:cubicBezTo>
                  <a:pt x="6457" y="101"/>
                  <a:pt x="6447" y="89"/>
                  <a:pt x="6435" y="79"/>
                </a:cubicBezTo>
                <a:cubicBezTo>
                  <a:pt x="6385" y="23"/>
                  <a:pt x="6304" y="0"/>
                  <a:pt x="6231" y="31"/>
                </a:cubicBezTo>
                <a:lnTo>
                  <a:pt x="112" y="2559"/>
                </a:lnTo>
                <a:cubicBezTo>
                  <a:pt x="111" y="2560"/>
                  <a:pt x="108" y="2560"/>
                  <a:pt x="107" y="2561"/>
                </a:cubicBezTo>
                <a:cubicBezTo>
                  <a:pt x="103" y="2563"/>
                  <a:pt x="100" y="2564"/>
                  <a:pt x="96" y="2567"/>
                </a:cubicBezTo>
                <a:lnTo>
                  <a:pt x="88" y="2571"/>
                </a:lnTo>
                <a:cubicBezTo>
                  <a:pt x="85" y="2572"/>
                  <a:pt x="83" y="2573"/>
                  <a:pt x="80" y="2576"/>
                </a:cubicBezTo>
                <a:cubicBezTo>
                  <a:pt x="77" y="2577"/>
                  <a:pt x="75" y="2580"/>
                  <a:pt x="72" y="2581"/>
                </a:cubicBezTo>
                <a:cubicBezTo>
                  <a:pt x="69" y="2583"/>
                  <a:pt x="68" y="2584"/>
                  <a:pt x="65" y="2587"/>
                </a:cubicBezTo>
                <a:cubicBezTo>
                  <a:pt x="63" y="2588"/>
                  <a:pt x="61" y="2591"/>
                  <a:pt x="59" y="2593"/>
                </a:cubicBezTo>
                <a:cubicBezTo>
                  <a:pt x="56" y="2595"/>
                  <a:pt x="55" y="2597"/>
                  <a:pt x="52" y="2599"/>
                </a:cubicBezTo>
                <a:lnTo>
                  <a:pt x="45" y="2605"/>
                </a:lnTo>
                <a:cubicBezTo>
                  <a:pt x="44" y="2608"/>
                  <a:pt x="41" y="2609"/>
                  <a:pt x="40" y="2612"/>
                </a:cubicBezTo>
                <a:cubicBezTo>
                  <a:pt x="39" y="2615"/>
                  <a:pt x="36" y="2617"/>
                  <a:pt x="35" y="2619"/>
                </a:cubicBezTo>
                <a:cubicBezTo>
                  <a:pt x="33" y="2621"/>
                  <a:pt x="31" y="2623"/>
                  <a:pt x="29" y="2625"/>
                </a:cubicBezTo>
                <a:cubicBezTo>
                  <a:pt x="28" y="2628"/>
                  <a:pt x="25" y="2631"/>
                  <a:pt x="24" y="2633"/>
                </a:cubicBezTo>
                <a:cubicBezTo>
                  <a:pt x="23" y="2636"/>
                  <a:pt x="21" y="2637"/>
                  <a:pt x="20" y="2640"/>
                </a:cubicBezTo>
                <a:cubicBezTo>
                  <a:pt x="17" y="2644"/>
                  <a:pt x="16" y="2648"/>
                  <a:pt x="15" y="2652"/>
                </a:cubicBezTo>
                <a:cubicBezTo>
                  <a:pt x="15" y="2653"/>
                  <a:pt x="13" y="2655"/>
                  <a:pt x="12" y="2656"/>
                </a:cubicBezTo>
                <a:lnTo>
                  <a:pt x="12" y="2656"/>
                </a:lnTo>
                <a:cubicBezTo>
                  <a:pt x="9" y="2661"/>
                  <a:pt x="8" y="2667"/>
                  <a:pt x="7" y="2672"/>
                </a:cubicBezTo>
                <a:lnTo>
                  <a:pt x="7" y="2673"/>
                </a:lnTo>
                <a:cubicBezTo>
                  <a:pt x="5" y="2679"/>
                  <a:pt x="4" y="2684"/>
                  <a:pt x="3" y="2691"/>
                </a:cubicBezTo>
                <a:cubicBezTo>
                  <a:pt x="3" y="2693"/>
                  <a:pt x="1" y="2696"/>
                  <a:pt x="1" y="2699"/>
                </a:cubicBezTo>
                <a:cubicBezTo>
                  <a:pt x="1" y="2701"/>
                  <a:pt x="0" y="2705"/>
                  <a:pt x="0" y="2708"/>
                </a:cubicBezTo>
                <a:lnTo>
                  <a:pt x="0" y="2716"/>
                </a:lnTo>
                <a:lnTo>
                  <a:pt x="0" y="2725"/>
                </a:lnTo>
                <a:lnTo>
                  <a:pt x="0" y="2733"/>
                </a:lnTo>
                <a:lnTo>
                  <a:pt x="0" y="2743"/>
                </a:lnTo>
                <a:cubicBezTo>
                  <a:pt x="0" y="2745"/>
                  <a:pt x="1" y="2748"/>
                  <a:pt x="1" y="2749"/>
                </a:cubicBezTo>
                <a:cubicBezTo>
                  <a:pt x="1" y="2753"/>
                  <a:pt x="3" y="2756"/>
                  <a:pt x="3" y="2760"/>
                </a:cubicBezTo>
                <a:cubicBezTo>
                  <a:pt x="4" y="2764"/>
                  <a:pt x="4" y="2768"/>
                  <a:pt x="5" y="2772"/>
                </a:cubicBezTo>
                <a:cubicBezTo>
                  <a:pt x="7" y="2775"/>
                  <a:pt x="7" y="2777"/>
                  <a:pt x="8" y="2780"/>
                </a:cubicBezTo>
                <a:cubicBezTo>
                  <a:pt x="9" y="2784"/>
                  <a:pt x="11" y="2789"/>
                  <a:pt x="13" y="2793"/>
                </a:cubicBezTo>
                <a:lnTo>
                  <a:pt x="13" y="2793"/>
                </a:lnTo>
                <a:cubicBezTo>
                  <a:pt x="15" y="2799"/>
                  <a:pt x="17" y="2803"/>
                  <a:pt x="20" y="2807"/>
                </a:cubicBezTo>
                <a:cubicBezTo>
                  <a:pt x="20" y="2808"/>
                  <a:pt x="21" y="2809"/>
                  <a:pt x="21" y="2809"/>
                </a:cubicBezTo>
                <a:cubicBezTo>
                  <a:pt x="23" y="2813"/>
                  <a:pt x="25" y="2816"/>
                  <a:pt x="28" y="2820"/>
                </a:cubicBezTo>
                <a:cubicBezTo>
                  <a:pt x="29" y="2821"/>
                  <a:pt x="29" y="2823"/>
                  <a:pt x="31" y="2824"/>
                </a:cubicBezTo>
                <a:cubicBezTo>
                  <a:pt x="33" y="2828"/>
                  <a:pt x="35" y="2831"/>
                  <a:pt x="37" y="2833"/>
                </a:cubicBezTo>
                <a:cubicBezTo>
                  <a:pt x="39" y="2835"/>
                  <a:pt x="39" y="2836"/>
                  <a:pt x="40" y="2836"/>
                </a:cubicBezTo>
                <a:cubicBezTo>
                  <a:pt x="44" y="2840"/>
                  <a:pt x="47" y="2844"/>
                  <a:pt x="51" y="2848"/>
                </a:cubicBezTo>
                <a:lnTo>
                  <a:pt x="51" y="2848"/>
                </a:lnTo>
                <a:cubicBezTo>
                  <a:pt x="55" y="2852"/>
                  <a:pt x="59" y="2855"/>
                  <a:pt x="63" y="2859"/>
                </a:cubicBezTo>
                <a:cubicBezTo>
                  <a:pt x="64" y="2860"/>
                  <a:pt x="65" y="2861"/>
                  <a:pt x="67" y="2861"/>
                </a:cubicBezTo>
                <a:cubicBezTo>
                  <a:pt x="69" y="2864"/>
                  <a:pt x="73" y="2867"/>
                  <a:pt x="76" y="2868"/>
                </a:cubicBezTo>
                <a:cubicBezTo>
                  <a:pt x="77" y="2869"/>
                  <a:pt x="79" y="2869"/>
                  <a:pt x="80" y="2871"/>
                </a:cubicBezTo>
                <a:cubicBezTo>
                  <a:pt x="84" y="2873"/>
                  <a:pt x="89" y="2876"/>
                  <a:pt x="93" y="2879"/>
                </a:cubicBezTo>
                <a:cubicBezTo>
                  <a:pt x="95" y="2879"/>
                  <a:pt x="95" y="2880"/>
                  <a:pt x="96" y="2880"/>
                </a:cubicBezTo>
                <a:cubicBezTo>
                  <a:pt x="100" y="2883"/>
                  <a:pt x="104" y="2884"/>
                  <a:pt x="109" y="2887"/>
                </a:cubicBezTo>
                <a:cubicBezTo>
                  <a:pt x="111" y="2887"/>
                  <a:pt x="111" y="2888"/>
                  <a:pt x="112" y="2888"/>
                </a:cubicBezTo>
                <a:lnTo>
                  <a:pt x="2579" y="3933"/>
                </a:lnTo>
                <a:lnTo>
                  <a:pt x="3624" y="6400"/>
                </a:lnTo>
                <a:cubicBezTo>
                  <a:pt x="3625" y="6405"/>
                  <a:pt x="3628" y="6409"/>
                  <a:pt x="3631" y="6413"/>
                </a:cubicBezTo>
                <a:cubicBezTo>
                  <a:pt x="3631" y="6415"/>
                  <a:pt x="3632" y="6416"/>
                  <a:pt x="3632" y="6416"/>
                </a:cubicBezTo>
                <a:cubicBezTo>
                  <a:pt x="3635" y="6420"/>
                  <a:pt x="3636" y="6423"/>
                  <a:pt x="3639" y="6427"/>
                </a:cubicBezTo>
                <a:cubicBezTo>
                  <a:pt x="3640" y="6428"/>
                  <a:pt x="3640" y="6429"/>
                  <a:pt x="3641" y="6431"/>
                </a:cubicBezTo>
                <a:cubicBezTo>
                  <a:pt x="3644" y="6435"/>
                  <a:pt x="3647" y="6437"/>
                  <a:pt x="3648" y="6440"/>
                </a:cubicBezTo>
                <a:cubicBezTo>
                  <a:pt x="3649" y="6441"/>
                  <a:pt x="3649" y="6443"/>
                  <a:pt x="3651" y="6443"/>
                </a:cubicBezTo>
                <a:cubicBezTo>
                  <a:pt x="3655" y="6447"/>
                  <a:pt x="3657" y="6451"/>
                  <a:pt x="3661" y="6455"/>
                </a:cubicBezTo>
                <a:lnTo>
                  <a:pt x="3663" y="6456"/>
                </a:lnTo>
                <a:cubicBezTo>
                  <a:pt x="3667" y="6459"/>
                  <a:pt x="3669" y="6463"/>
                  <a:pt x="3673" y="6465"/>
                </a:cubicBezTo>
                <a:cubicBezTo>
                  <a:pt x="3675" y="6467"/>
                  <a:pt x="3676" y="6468"/>
                  <a:pt x="3677" y="6468"/>
                </a:cubicBezTo>
                <a:cubicBezTo>
                  <a:pt x="3680" y="6471"/>
                  <a:pt x="3684" y="6473"/>
                  <a:pt x="3687" y="6475"/>
                </a:cubicBezTo>
                <a:cubicBezTo>
                  <a:pt x="3688" y="6476"/>
                  <a:pt x="3689" y="6476"/>
                  <a:pt x="3691" y="6477"/>
                </a:cubicBezTo>
                <a:cubicBezTo>
                  <a:pt x="3695" y="6480"/>
                  <a:pt x="3700" y="6483"/>
                  <a:pt x="3704" y="6485"/>
                </a:cubicBezTo>
                <a:cubicBezTo>
                  <a:pt x="3705" y="6485"/>
                  <a:pt x="3707" y="6487"/>
                  <a:pt x="3707" y="6487"/>
                </a:cubicBezTo>
                <a:cubicBezTo>
                  <a:pt x="3711" y="6489"/>
                  <a:pt x="3715" y="6491"/>
                  <a:pt x="3719" y="6492"/>
                </a:cubicBezTo>
                <a:cubicBezTo>
                  <a:pt x="3720" y="6492"/>
                  <a:pt x="3720" y="6493"/>
                  <a:pt x="3721" y="6493"/>
                </a:cubicBezTo>
                <a:cubicBezTo>
                  <a:pt x="3721" y="6493"/>
                  <a:pt x="3723" y="6493"/>
                  <a:pt x="3723" y="6495"/>
                </a:cubicBezTo>
                <a:cubicBezTo>
                  <a:pt x="3727" y="6496"/>
                  <a:pt x="3732" y="6499"/>
                  <a:pt x="3736" y="6500"/>
                </a:cubicBezTo>
                <a:lnTo>
                  <a:pt x="3737" y="6500"/>
                </a:lnTo>
                <a:cubicBezTo>
                  <a:pt x="3743" y="6501"/>
                  <a:pt x="3747" y="6503"/>
                  <a:pt x="3752" y="6504"/>
                </a:cubicBezTo>
                <a:cubicBezTo>
                  <a:pt x="3753" y="6504"/>
                  <a:pt x="3756" y="6504"/>
                  <a:pt x="3757" y="6505"/>
                </a:cubicBezTo>
                <a:cubicBezTo>
                  <a:pt x="3761" y="6505"/>
                  <a:pt x="3764" y="6507"/>
                  <a:pt x="3768" y="6507"/>
                </a:cubicBezTo>
                <a:lnTo>
                  <a:pt x="3773" y="6507"/>
                </a:lnTo>
                <a:cubicBezTo>
                  <a:pt x="3779" y="6507"/>
                  <a:pt x="3783" y="6508"/>
                  <a:pt x="3788" y="6508"/>
                </a:cubicBezTo>
                <a:lnTo>
                  <a:pt x="3788" y="6508"/>
                </a:lnTo>
                <a:lnTo>
                  <a:pt x="3788" y="6508"/>
                </a:lnTo>
                <a:lnTo>
                  <a:pt x="3788" y="6508"/>
                </a:lnTo>
                <a:lnTo>
                  <a:pt x="3788" y="6508"/>
                </a:lnTo>
                <a:cubicBezTo>
                  <a:pt x="3793" y="6508"/>
                  <a:pt x="3799" y="6508"/>
                  <a:pt x="3803" y="6507"/>
                </a:cubicBezTo>
                <a:lnTo>
                  <a:pt x="3808" y="6507"/>
                </a:lnTo>
                <a:cubicBezTo>
                  <a:pt x="3812" y="6507"/>
                  <a:pt x="3816" y="6505"/>
                  <a:pt x="3819" y="6505"/>
                </a:cubicBezTo>
                <a:cubicBezTo>
                  <a:pt x="3820" y="6505"/>
                  <a:pt x="3823" y="6505"/>
                  <a:pt x="3824" y="6504"/>
                </a:cubicBezTo>
                <a:cubicBezTo>
                  <a:pt x="3829" y="6503"/>
                  <a:pt x="3835" y="6501"/>
                  <a:pt x="3839" y="6500"/>
                </a:cubicBezTo>
                <a:cubicBezTo>
                  <a:pt x="3840" y="6500"/>
                  <a:pt x="3840" y="6500"/>
                  <a:pt x="3841" y="6499"/>
                </a:cubicBezTo>
                <a:cubicBezTo>
                  <a:pt x="3845" y="6497"/>
                  <a:pt x="3851" y="6496"/>
                  <a:pt x="3855" y="6493"/>
                </a:cubicBezTo>
                <a:cubicBezTo>
                  <a:pt x="3856" y="6493"/>
                  <a:pt x="3856" y="6493"/>
                  <a:pt x="3857" y="6492"/>
                </a:cubicBezTo>
                <a:cubicBezTo>
                  <a:pt x="3859" y="6492"/>
                  <a:pt x="3859" y="6491"/>
                  <a:pt x="3860" y="6491"/>
                </a:cubicBezTo>
                <a:cubicBezTo>
                  <a:pt x="3864" y="6489"/>
                  <a:pt x="3868" y="6487"/>
                  <a:pt x="3872" y="6484"/>
                </a:cubicBezTo>
                <a:cubicBezTo>
                  <a:pt x="3873" y="6484"/>
                  <a:pt x="3873" y="6483"/>
                  <a:pt x="3875" y="6483"/>
                </a:cubicBezTo>
                <a:cubicBezTo>
                  <a:pt x="3879" y="6480"/>
                  <a:pt x="3884" y="6477"/>
                  <a:pt x="3888" y="6475"/>
                </a:cubicBezTo>
                <a:cubicBezTo>
                  <a:pt x="3889" y="6473"/>
                  <a:pt x="3891" y="6473"/>
                  <a:pt x="3892" y="6472"/>
                </a:cubicBezTo>
                <a:cubicBezTo>
                  <a:pt x="3895" y="6469"/>
                  <a:pt x="3899" y="6468"/>
                  <a:pt x="3901" y="6465"/>
                </a:cubicBezTo>
                <a:cubicBezTo>
                  <a:pt x="3903" y="6464"/>
                  <a:pt x="3904" y="6463"/>
                  <a:pt x="3905" y="6463"/>
                </a:cubicBezTo>
                <a:cubicBezTo>
                  <a:pt x="3909" y="6459"/>
                  <a:pt x="3913" y="6456"/>
                  <a:pt x="3916" y="6452"/>
                </a:cubicBezTo>
                <a:lnTo>
                  <a:pt x="3916" y="6452"/>
                </a:lnTo>
                <a:cubicBezTo>
                  <a:pt x="3920" y="6448"/>
                  <a:pt x="3923" y="6444"/>
                  <a:pt x="3927" y="6440"/>
                </a:cubicBezTo>
                <a:cubicBezTo>
                  <a:pt x="3928" y="6439"/>
                  <a:pt x="3928" y="6437"/>
                  <a:pt x="3929" y="6436"/>
                </a:cubicBezTo>
                <a:cubicBezTo>
                  <a:pt x="3932" y="6433"/>
                  <a:pt x="3935" y="6429"/>
                  <a:pt x="3936" y="6427"/>
                </a:cubicBezTo>
                <a:cubicBezTo>
                  <a:pt x="3937" y="6425"/>
                  <a:pt x="3937" y="6424"/>
                  <a:pt x="3939" y="6423"/>
                </a:cubicBezTo>
                <a:cubicBezTo>
                  <a:pt x="3941" y="6419"/>
                  <a:pt x="3943" y="6416"/>
                  <a:pt x="3945" y="6412"/>
                </a:cubicBezTo>
                <a:cubicBezTo>
                  <a:pt x="3945" y="6411"/>
                  <a:pt x="3947" y="6409"/>
                  <a:pt x="3947" y="6409"/>
                </a:cubicBezTo>
                <a:cubicBezTo>
                  <a:pt x="3949" y="6405"/>
                  <a:pt x="3951" y="6400"/>
                  <a:pt x="3953" y="6396"/>
                </a:cubicBezTo>
                <a:lnTo>
                  <a:pt x="6481" y="284"/>
                </a:lnTo>
                <a:cubicBezTo>
                  <a:pt x="6485" y="273"/>
                  <a:pt x="6489" y="261"/>
                  <a:pt x="6492" y="249"/>
                </a:cubicBezTo>
                <a:cubicBezTo>
                  <a:pt x="6493" y="245"/>
                  <a:pt x="6493" y="240"/>
                  <a:pt x="6493" y="236"/>
                </a:cubicBezTo>
                <a:lnTo>
                  <a:pt x="6493" y="232"/>
                </a:lnTo>
                <a:cubicBezTo>
                  <a:pt x="6493" y="227"/>
                  <a:pt x="6493" y="223"/>
                  <a:pt x="6495" y="217"/>
                </a:cubicBezTo>
                <a:lnTo>
                  <a:pt x="6495" y="215"/>
                </a:lnTo>
                <a:lnTo>
                  <a:pt x="6495" y="203"/>
                </a:lnTo>
                <a:close/>
                <a:moveTo>
                  <a:pt x="648" y="2727"/>
                </a:moveTo>
                <a:lnTo>
                  <a:pt x="5589" y="687"/>
                </a:lnTo>
                <a:lnTo>
                  <a:pt x="2685" y="3589"/>
                </a:lnTo>
                <a:lnTo>
                  <a:pt x="648" y="2727"/>
                </a:lnTo>
                <a:close/>
                <a:moveTo>
                  <a:pt x="3787" y="5865"/>
                </a:moveTo>
                <a:lnTo>
                  <a:pt x="2933" y="3851"/>
                </a:lnTo>
                <a:lnTo>
                  <a:pt x="5804" y="981"/>
                </a:lnTo>
                <a:lnTo>
                  <a:pt x="3787" y="5865"/>
                </a:ln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135" name="矩形: 圆角 134">
            <a:extLst>
              <a:ext uri="{FF2B5EF4-FFF2-40B4-BE49-F238E27FC236}">
                <a16:creationId xmlns:a16="http://schemas.microsoft.com/office/drawing/2014/main" id="{58364AF4-F5FE-4137-833C-E40099CC14A3}"/>
              </a:ext>
            </a:extLst>
          </p:cNvPr>
          <p:cNvSpPr/>
          <p:nvPr/>
        </p:nvSpPr>
        <p:spPr>
          <a:xfrm>
            <a:off x="9727662" y="1360481"/>
            <a:ext cx="2129376" cy="5106268"/>
          </a:xfrm>
          <a:prstGeom prst="roundRect">
            <a:avLst>
              <a:gd name="adj" fmla="val 6467"/>
            </a:avLst>
          </a:prstGeom>
          <a:solidFill>
            <a:schemeClr val="bg1"/>
          </a:solidFill>
          <a:ln w="15875">
            <a:solidFill>
              <a:schemeClr val="accent1"/>
            </a:solidFill>
            <a:prstDash val="solid"/>
          </a:ln>
          <a:effectLst>
            <a:outerShdw blurRad="101600" dist="50800" dir="5400000" algn="ctr" rotWithShape="0">
              <a:schemeClr val="accent1">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36" name="矩形: 圆角 135">
            <a:extLst>
              <a:ext uri="{FF2B5EF4-FFF2-40B4-BE49-F238E27FC236}">
                <a16:creationId xmlns:a16="http://schemas.microsoft.com/office/drawing/2014/main" id="{1FE1EB60-5B59-45ED-9925-52FB339BE1CF}"/>
              </a:ext>
            </a:extLst>
          </p:cNvPr>
          <p:cNvSpPr/>
          <p:nvPr/>
        </p:nvSpPr>
        <p:spPr>
          <a:xfrm>
            <a:off x="9834425" y="1830190"/>
            <a:ext cx="1915851" cy="1155122"/>
          </a:xfrm>
          <a:prstGeom prst="roundRect">
            <a:avLst>
              <a:gd name="adj" fmla="val 9986"/>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sz="1600" dirty="0">
                <a:solidFill>
                  <a:schemeClr val="tx1"/>
                </a:solidFill>
                <a:latin typeface="思源黑体 CN Regular" panose="020B0500000000000000" pitchFamily="34" charset="-122"/>
                <a:ea typeface="思源黑体 CN Regular" panose="020B0500000000000000" pitchFamily="34" charset="-122"/>
              </a:rPr>
              <a:t>成功构建</a:t>
            </a:r>
            <a:r>
              <a:rPr lang="en-US" altLang="zh-CN" sz="1600" dirty="0">
                <a:solidFill>
                  <a:schemeClr val="tx1"/>
                </a:solidFill>
                <a:latin typeface="思源黑体 CN Regular" panose="020B0500000000000000" pitchFamily="34" charset="-122"/>
                <a:ea typeface="思源黑体 CN Regular" panose="020B0500000000000000" pitchFamily="34" charset="-122"/>
              </a:rPr>
              <a:t>MYSM1</a:t>
            </a:r>
            <a:r>
              <a:rPr lang="zh-CN" altLang="en-US" sz="1600" dirty="0">
                <a:solidFill>
                  <a:schemeClr val="tx1"/>
                </a:solidFill>
                <a:latin typeface="思源黑体 CN Regular" panose="020B0500000000000000" pitchFamily="34" charset="-122"/>
                <a:ea typeface="思源黑体 CN Regular" panose="020B0500000000000000" pitchFamily="34" charset="-122"/>
              </a:rPr>
              <a:t>基因敲除巨噬细胞模型，敲除效率达</a:t>
            </a:r>
            <a:r>
              <a:rPr lang="en-US" altLang="zh-CN" sz="1600" dirty="0">
                <a:solidFill>
                  <a:schemeClr val="tx1"/>
                </a:solidFill>
                <a:latin typeface="思源黑体 CN Regular" panose="020B0500000000000000" pitchFamily="34" charset="-122"/>
                <a:ea typeface="思源黑体 CN Regular" panose="020B0500000000000000" pitchFamily="34" charset="-122"/>
              </a:rPr>
              <a:t>85%</a:t>
            </a:r>
            <a:r>
              <a:rPr lang="zh-CN" altLang="en-US" sz="1600" dirty="0">
                <a:solidFill>
                  <a:schemeClr val="tx1"/>
                </a:solidFill>
                <a:latin typeface="思源黑体 CN Regular" panose="020B0500000000000000" pitchFamily="34" charset="-122"/>
                <a:ea typeface="思源黑体 CN Regular" panose="020B0500000000000000" pitchFamily="34" charset="-122"/>
              </a:rPr>
              <a:t>以上</a:t>
            </a:r>
          </a:p>
        </p:txBody>
      </p:sp>
      <p:sp>
        <p:nvSpPr>
          <p:cNvPr id="137" name="矩形: 圆顶角 136">
            <a:extLst>
              <a:ext uri="{FF2B5EF4-FFF2-40B4-BE49-F238E27FC236}">
                <a16:creationId xmlns:a16="http://schemas.microsoft.com/office/drawing/2014/main" id="{1AB143C8-6401-4839-9F56-B4FA07FEA8A3}"/>
              </a:ext>
            </a:extLst>
          </p:cNvPr>
          <p:cNvSpPr/>
          <p:nvPr/>
        </p:nvSpPr>
        <p:spPr>
          <a:xfrm>
            <a:off x="10112758" y="1354766"/>
            <a:ext cx="1359184" cy="376049"/>
          </a:xfrm>
          <a:prstGeom prst="round2SameRect">
            <a:avLst>
              <a:gd name="adj1" fmla="val 0"/>
              <a:gd name="adj2" fmla="val 19256"/>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600" b="1" dirty="0">
                <a:latin typeface="思源黑体 CN Bold" panose="020B0800000000000000" pitchFamily="34" charset="-122"/>
                <a:ea typeface="思源黑体 CN Bold" panose="020B0800000000000000" pitchFamily="34" charset="-122"/>
              </a:rPr>
              <a:t>研究结果</a:t>
            </a:r>
          </a:p>
        </p:txBody>
      </p:sp>
      <p:sp>
        <p:nvSpPr>
          <p:cNvPr id="138" name="矩形: 圆角 137">
            <a:extLst>
              <a:ext uri="{FF2B5EF4-FFF2-40B4-BE49-F238E27FC236}">
                <a16:creationId xmlns:a16="http://schemas.microsoft.com/office/drawing/2014/main" id="{6887E3D6-5F04-4CD6-9105-99F04F63EA0C}"/>
              </a:ext>
            </a:extLst>
          </p:cNvPr>
          <p:cNvSpPr/>
          <p:nvPr/>
        </p:nvSpPr>
        <p:spPr>
          <a:xfrm>
            <a:off x="9834425" y="3563518"/>
            <a:ext cx="1915851" cy="1093416"/>
          </a:xfrm>
          <a:prstGeom prst="roundRect">
            <a:avLst>
              <a:gd name="adj" fmla="val 9986"/>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altLang="zh-CN" sz="1600" dirty="0">
                <a:solidFill>
                  <a:schemeClr val="tx1"/>
                </a:solidFill>
                <a:latin typeface="思源黑体 CN Regular" panose="020B0500000000000000" pitchFamily="34" charset="-122"/>
                <a:ea typeface="思源黑体 CN Regular" panose="020B0500000000000000" pitchFamily="34" charset="-122"/>
              </a:rPr>
              <a:t>MYSM1</a:t>
            </a:r>
            <a:r>
              <a:rPr lang="zh-CN" altLang="en-US" sz="1600" dirty="0">
                <a:solidFill>
                  <a:schemeClr val="tx1"/>
                </a:solidFill>
                <a:latin typeface="思源黑体 CN Regular" panose="020B0500000000000000" pitchFamily="34" charset="-122"/>
                <a:ea typeface="思源黑体 CN Regular" panose="020B0500000000000000" pitchFamily="34" charset="-122"/>
              </a:rPr>
              <a:t>缺失显著影响巨噬细胞炎症因子分泌，提示其调控免疫应答</a:t>
            </a:r>
          </a:p>
        </p:txBody>
      </p:sp>
      <p:sp>
        <p:nvSpPr>
          <p:cNvPr id="139" name="矩形: 圆角 138">
            <a:extLst>
              <a:ext uri="{FF2B5EF4-FFF2-40B4-BE49-F238E27FC236}">
                <a16:creationId xmlns:a16="http://schemas.microsoft.com/office/drawing/2014/main" id="{75CF7401-57D5-4AA7-95C6-05BB3153AF35}"/>
              </a:ext>
            </a:extLst>
          </p:cNvPr>
          <p:cNvSpPr/>
          <p:nvPr/>
        </p:nvSpPr>
        <p:spPr>
          <a:xfrm>
            <a:off x="9834425" y="5235139"/>
            <a:ext cx="1915851" cy="1121082"/>
          </a:xfrm>
          <a:prstGeom prst="roundRect">
            <a:avLst>
              <a:gd name="adj" fmla="val 9986"/>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sz="1600" dirty="0">
                <a:solidFill>
                  <a:schemeClr val="tx1"/>
                </a:solidFill>
                <a:latin typeface="思源黑体 CN Regular" panose="020B0500000000000000" pitchFamily="34" charset="-122"/>
                <a:ea typeface="思源黑体 CN Regular" panose="020B0500000000000000" pitchFamily="34" charset="-122"/>
              </a:rPr>
              <a:t>为后续探究</a:t>
            </a:r>
            <a:r>
              <a:rPr lang="en-US" altLang="zh-CN" sz="1600" dirty="0">
                <a:solidFill>
                  <a:schemeClr val="tx1"/>
                </a:solidFill>
                <a:latin typeface="思源黑体 CN Regular" panose="020B0500000000000000" pitchFamily="34" charset="-122"/>
                <a:ea typeface="思源黑体 CN Regular" panose="020B0500000000000000" pitchFamily="34" charset="-122"/>
              </a:rPr>
              <a:t>MYSM1</a:t>
            </a:r>
            <a:r>
              <a:rPr lang="zh-CN" altLang="en-US" sz="1600" dirty="0">
                <a:solidFill>
                  <a:schemeClr val="tx1"/>
                </a:solidFill>
                <a:latin typeface="思源黑体 CN Regular" panose="020B0500000000000000" pitchFamily="34" charset="-122"/>
                <a:ea typeface="思源黑体 CN Regular" panose="020B0500000000000000" pitchFamily="34" charset="-122"/>
              </a:rPr>
              <a:t>在肿瘤免疫中的作用提供可靠实验模型</a:t>
            </a:r>
          </a:p>
        </p:txBody>
      </p:sp>
      <p:sp>
        <p:nvSpPr>
          <p:cNvPr id="140" name="箭头: 右 139">
            <a:extLst>
              <a:ext uri="{FF2B5EF4-FFF2-40B4-BE49-F238E27FC236}">
                <a16:creationId xmlns:a16="http://schemas.microsoft.com/office/drawing/2014/main" id="{1D02A628-C32A-436F-BF52-5F19E3D00663}"/>
              </a:ext>
            </a:extLst>
          </p:cNvPr>
          <p:cNvSpPr/>
          <p:nvPr/>
        </p:nvSpPr>
        <p:spPr>
          <a:xfrm rot="5400000">
            <a:off x="10599945" y="3065228"/>
            <a:ext cx="384810" cy="418374"/>
          </a:xfrm>
          <a:prstGeom prst="rightArrow">
            <a:avLst/>
          </a:prstGeom>
          <a:solidFill>
            <a:schemeClr val="bg1"/>
          </a:solidFill>
          <a:ln w="15875">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1" name="箭头: 右 140">
            <a:extLst>
              <a:ext uri="{FF2B5EF4-FFF2-40B4-BE49-F238E27FC236}">
                <a16:creationId xmlns:a16="http://schemas.microsoft.com/office/drawing/2014/main" id="{7C207E5A-6F4B-4747-B068-A2DF7D09C322}"/>
              </a:ext>
            </a:extLst>
          </p:cNvPr>
          <p:cNvSpPr/>
          <p:nvPr/>
        </p:nvSpPr>
        <p:spPr>
          <a:xfrm rot="5400000">
            <a:off x="10599945" y="4736850"/>
            <a:ext cx="384810" cy="418374"/>
          </a:xfrm>
          <a:prstGeom prst="rightArrow">
            <a:avLst/>
          </a:prstGeom>
          <a:solidFill>
            <a:schemeClr val="bg1"/>
          </a:solidFill>
          <a:ln w="15875">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15" name="组合 14">
            <a:extLst>
              <a:ext uri="{FF2B5EF4-FFF2-40B4-BE49-F238E27FC236}">
                <a16:creationId xmlns:a16="http://schemas.microsoft.com/office/drawing/2014/main" id="{4608C9A9-3B97-4552-AA00-D603A6497FE0}"/>
              </a:ext>
            </a:extLst>
          </p:cNvPr>
          <p:cNvGrpSpPr/>
          <p:nvPr/>
        </p:nvGrpSpPr>
        <p:grpSpPr>
          <a:xfrm>
            <a:off x="9374192" y="2565442"/>
            <a:ext cx="288668" cy="2696347"/>
            <a:chOff x="9374192" y="2437453"/>
            <a:chExt cx="288668" cy="2696347"/>
          </a:xfrm>
        </p:grpSpPr>
        <p:sp>
          <p:nvSpPr>
            <p:cNvPr id="142" name="箭头: 右 141">
              <a:extLst>
                <a:ext uri="{FF2B5EF4-FFF2-40B4-BE49-F238E27FC236}">
                  <a16:creationId xmlns:a16="http://schemas.microsoft.com/office/drawing/2014/main" id="{968BC4B3-1952-4204-8037-F2B8FF5E2443}"/>
                </a:ext>
              </a:extLst>
            </p:cNvPr>
            <p:cNvSpPr/>
            <p:nvPr/>
          </p:nvSpPr>
          <p:spPr>
            <a:xfrm>
              <a:off x="9374192" y="5033608"/>
              <a:ext cx="288668" cy="100192"/>
            </a:xfrm>
            <a:prstGeom prst="rightArrow">
              <a:avLst>
                <a:gd name="adj1" fmla="val 21026"/>
                <a:gd name="adj2" fmla="val 87974"/>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3" name="箭头: 右 142">
              <a:extLst>
                <a:ext uri="{FF2B5EF4-FFF2-40B4-BE49-F238E27FC236}">
                  <a16:creationId xmlns:a16="http://schemas.microsoft.com/office/drawing/2014/main" id="{351B9E64-66F7-44E1-91B6-77FB19025183}"/>
                </a:ext>
              </a:extLst>
            </p:cNvPr>
            <p:cNvSpPr/>
            <p:nvPr/>
          </p:nvSpPr>
          <p:spPr>
            <a:xfrm>
              <a:off x="9374192" y="2437453"/>
              <a:ext cx="288668" cy="100192"/>
            </a:xfrm>
            <a:prstGeom prst="rightArrow">
              <a:avLst>
                <a:gd name="adj1" fmla="val 21026"/>
                <a:gd name="adj2" fmla="val 87974"/>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144" name="文本框 143">
            <a:extLst>
              <a:ext uri="{FF2B5EF4-FFF2-40B4-BE49-F238E27FC236}">
                <a16:creationId xmlns:a16="http://schemas.microsoft.com/office/drawing/2014/main" id="{3476CD46-BB92-478C-95A8-CF7CD9AF95B1}"/>
              </a:ext>
            </a:extLst>
          </p:cNvPr>
          <p:cNvSpPr txBox="1"/>
          <p:nvPr/>
        </p:nvSpPr>
        <p:spPr>
          <a:xfrm>
            <a:off x="373082" y="5620123"/>
            <a:ext cx="1660612" cy="338554"/>
          </a:xfrm>
          <a:prstGeom prst="rect">
            <a:avLst/>
          </a:prstGeom>
          <a:noFill/>
        </p:spPr>
        <p:txBody>
          <a:bodyPr wrap="square" rtlCol="0">
            <a:spAutoFit/>
          </a:bodyPr>
          <a:lstStyle/>
          <a:p>
            <a:r>
              <a:rPr lang="zh-CN" altLang="en-US" sz="1600" dirty="0">
                <a:solidFill>
                  <a:schemeClr val="bg1"/>
                </a:solidFill>
                <a:latin typeface="思源黑体 CN Regular" panose="020B0500000000000000" pitchFamily="34" charset="-122"/>
                <a:ea typeface="思源黑体 CN Regular" panose="020B0500000000000000" pitchFamily="34" charset="-122"/>
              </a:rPr>
              <a:t>预期成果</a:t>
            </a:r>
          </a:p>
        </p:txBody>
      </p:sp>
      <p:sp>
        <p:nvSpPr>
          <p:cNvPr id="145" name="任意矩形：006">
            <a:extLst>
              <a:ext uri="{FF2B5EF4-FFF2-40B4-BE49-F238E27FC236}">
                <a16:creationId xmlns:a16="http://schemas.microsoft.com/office/drawing/2014/main" id="{AE3D6E5C-4B40-45DE-80A0-B22C983D5D8D}"/>
              </a:ext>
            </a:extLst>
          </p:cNvPr>
          <p:cNvSpPr/>
          <p:nvPr/>
        </p:nvSpPr>
        <p:spPr>
          <a:xfrm>
            <a:off x="125661" y="5689964"/>
            <a:ext cx="203662" cy="187126"/>
          </a:xfrm>
          <a:custGeom>
            <a:avLst/>
            <a:gdLst>
              <a:gd name="T0" fmla="*/ 11834 w 13933"/>
              <a:gd name="T1" fmla="*/ 1094 h 12800"/>
              <a:gd name="T2" fmla="*/ 10384 w 13933"/>
              <a:gd name="T3" fmla="*/ 1094 h 12800"/>
              <a:gd name="T4" fmla="*/ 10384 w 13933"/>
              <a:gd name="T5" fmla="*/ 315 h 12800"/>
              <a:gd name="T6" fmla="*/ 10069 w 13933"/>
              <a:gd name="T7" fmla="*/ 0 h 12800"/>
              <a:gd name="T8" fmla="*/ 9754 w 13933"/>
              <a:gd name="T9" fmla="*/ 315 h 12800"/>
              <a:gd name="T10" fmla="*/ 9754 w 13933"/>
              <a:gd name="T11" fmla="*/ 1094 h 12800"/>
              <a:gd name="T12" fmla="*/ 4056 w 13933"/>
              <a:gd name="T13" fmla="*/ 1094 h 12800"/>
              <a:gd name="T14" fmla="*/ 4056 w 13933"/>
              <a:gd name="T15" fmla="*/ 315 h 12800"/>
              <a:gd name="T16" fmla="*/ 3741 w 13933"/>
              <a:gd name="T17" fmla="*/ 0 h 12800"/>
              <a:gd name="T18" fmla="*/ 3426 w 13933"/>
              <a:gd name="T19" fmla="*/ 315 h 12800"/>
              <a:gd name="T20" fmla="*/ 3426 w 13933"/>
              <a:gd name="T21" fmla="*/ 1094 h 12800"/>
              <a:gd name="T22" fmla="*/ 2099 w 13933"/>
              <a:gd name="T23" fmla="*/ 1094 h 12800"/>
              <a:gd name="T24" fmla="*/ 0 w 13933"/>
              <a:gd name="T25" fmla="*/ 3193 h 12800"/>
              <a:gd name="T26" fmla="*/ 0 w 13933"/>
              <a:gd name="T27" fmla="*/ 10701 h 12800"/>
              <a:gd name="T28" fmla="*/ 2099 w 13933"/>
              <a:gd name="T29" fmla="*/ 12800 h 12800"/>
              <a:gd name="T30" fmla="*/ 11834 w 13933"/>
              <a:gd name="T31" fmla="*/ 12800 h 12800"/>
              <a:gd name="T32" fmla="*/ 13933 w 13933"/>
              <a:gd name="T33" fmla="*/ 10701 h 12800"/>
              <a:gd name="T34" fmla="*/ 13933 w 13933"/>
              <a:gd name="T35" fmla="*/ 3193 h 12800"/>
              <a:gd name="T36" fmla="*/ 11834 w 13933"/>
              <a:gd name="T37" fmla="*/ 1094 h 12800"/>
              <a:gd name="T38" fmla="*/ 2099 w 13933"/>
              <a:gd name="T39" fmla="*/ 1933 h 12800"/>
              <a:gd name="T40" fmla="*/ 3426 w 13933"/>
              <a:gd name="T41" fmla="*/ 1933 h 12800"/>
              <a:gd name="T42" fmla="*/ 3426 w 13933"/>
              <a:gd name="T43" fmla="*/ 2757 h 12800"/>
              <a:gd name="T44" fmla="*/ 3741 w 13933"/>
              <a:gd name="T45" fmla="*/ 3072 h 12800"/>
              <a:gd name="T46" fmla="*/ 4056 w 13933"/>
              <a:gd name="T47" fmla="*/ 2757 h 12800"/>
              <a:gd name="T48" fmla="*/ 4056 w 13933"/>
              <a:gd name="T49" fmla="*/ 1933 h 12800"/>
              <a:gd name="T50" fmla="*/ 9754 w 13933"/>
              <a:gd name="T51" fmla="*/ 1933 h 12800"/>
              <a:gd name="T52" fmla="*/ 9754 w 13933"/>
              <a:gd name="T53" fmla="*/ 2757 h 12800"/>
              <a:gd name="T54" fmla="*/ 10069 w 13933"/>
              <a:gd name="T55" fmla="*/ 3072 h 12800"/>
              <a:gd name="T56" fmla="*/ 10384 w 13933"/>
              <a:gd name="T57" fmla="*/ 2757 h 12800"/>
              <a:gd name="T58" fmla="*/ 10384 w 13933"/>
              <a:gd name="T59" fmla="*/ 1933 h 12800"/>
              <a:gd name="T60" fmla="*/ 11834 w 13933"/>
              <a:gd name="T61" fmla="*/ 1933 h 12800"/>
              <a:gd name="T62" fmla="*/ 13094 w 13933"/>
              <a:gd name="T63" fmla="*/ 3193 h 12800"/>
              <a:gd name="T64" fmla="*/ 13094 w 13933"/>
              <a:gd name="T65" fmla="*/ 4646 h 12800"/>
              <a:gd name="T66" fmla="*/ 840 w 13933"/>
              <a:gd name="T67" fmla="*/ 4646 h 12800"/>
              <a:gd name="T68" fmla="*/ 840 w 13933"/>
              <a:gd name="T69" fmla="*/ 3193 h 12800"/>
              <a:gd name="T70" fmla="*/ 2099 w 13933"/>
              <a:gd name="T71" fmla="*/ 1933 h 12800"/>
              <a:gd name="T72" fmla="*/ 11834 w 13933"/>
              <a:gd name="T73" fmla="*/ 11960 h 12800"/>
              <a:gd name="T74" fmla="*/ 2099 w 13933"/>
              <a:gd name="T75" fmla="*/ 11960 h 12800"/>
              <a:gd name="T76" fmla="*/ 840 w 13933"/>
              <a:gd name="T77" fmla="*/ 10701 h 12800"/>
              <a:gd name="T78" fmla="*/ 840 w 13933"/>
              <a:gd name="T79" fmla="*/ 5276 h 12800"/>
              <a:gd name="T80" fmla="*/ 13094 w 13933"/>
              <a:gd name="T81" fmla="*/ 5276 h 12800"/>
              <a:gd name="T82" fmla="*/ 13094 w 13933"/>
              <a:gd name="T83" fmla="*/ 10701 h 12800"/>
              <a:gd name="T84" fmla="*/ 11834 w 13933"/>
              <a:gd name="T85" fmla="*/ 11960 h 128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Lst>
            <a:rect l="0" t="0" r="r" b="b"/>
            <a:pathLst>
              <a:path w="13933" h="12800">
                <a:moveTo>
                  <a:pt x="11834" y="1094"/>
                </a:moveTo>
                <a:lnTo>
                  <a:pt x="10384" y="1094"/>
                </a:lnTo>
                <a:lnTo>
                  <a:pt x="10384" y="315"/>
                </a:lnTo>
                <a:cubicBezTo>
                  <a:pt x="10384" y="141"/>
                  <a:pt x="10243" y="0"/>
                  <a:pt x="10069" y="0"/>
                </a:cubicBezTo>
                <a:cubicBezTo>
                  <a:pt x="9895" y="0"/>
                  <a:pt x="9754" y="141"/>
                  <a:pt x="9754" y="315"/>
                </a:cubicBezTo>
                <a:lnTo>
                  <a:pt x="9754" y="1094"/>
                </a:lnTo>
                <a:lnTo>
                  <a:pt x="4056" y="1094"/>
                </a:lnTo>
                <a:lnTo>
                  <a:pt x="4056" y="315"/>
                </a:lnTo>
                <a:cubicBezTo>
                  <a:pt x="4056" y="141"/>
                  <a:pt x="3915" y="0"/>
                  <a:pt x="3741" y="0"/>
                </a:cubicBezTo>
                <a:cubicBezTo>
                  <a:pt x="3567" y="0"/>
                  <a:pt x="3426" y="141"/>
                  <a:pt x="3426" y="315"/>
                </a:cubicBezTo>
                <a:lnTo>
                  <a:pt x="3426" y="1094"/>
                </a:lnTo>
                <a:lnTo>
                  <a:pt x="2099" y="1094"/>
                </a:lnTo>
                <a:cubicBezTo>
                  <a:pt x="940" y="1095"/>
                  <a:pt x="1" y="2034"/>
                  <a:pt x="0" y="3193"/>
                </a:cubicBezTo>
                <a:lnTo>
                  <a:pt x="0" y="10701"/>
                </a:lnTo>
                <a:cubicBezTo>
                  <a:pt x="1" y="11860"/>
                  <a:pt x="940" y="12799"/>
                  <a:pt x="2099" y="12800"/>
                </a:cubicBezTo>
                <a:lnTo>
                  <a:pt x="11834" y="12800"/>
                </a:lnTo>
                <a:cubicBezTo>
                  <a:pt x="12993" y="12799"/>
                  <a:pt x="13932" y="11860"/>
                  <a:pt x="13933" y="10701"/>
                </a:cubicBezTo>
                <a:lnTo>
                  <a:pt x="13933" y="3193"/>
                </a:lnTo>
                <a:cubicBezTo>
                  <a:pt x="13932" y="2034"/>
                  <a:pt x="12993" y="1095"/>
                  <a:pt x="11834" y="1094"/>
                </a:cubicBezTo>
                <a:close/>
                <a:moveTo>
                  <a:pt x="2099" y="1933"/>
                </a:moveTo>
                <a:lnTo>
                  <a:pt x="3426" y="1933"/>
                </a:lnTo>
                <a:lnTo>
                  <a:pt x="3426" y="2757"/>
                </a:lnTo>
                <a:cubicBezTo>
                  <a:pt x="3426" y="2931"/>
                  <a:pt x="3567" y="3072"/>
                  <a:pt x="3741" y="3072"/>
                </a:cubicBezTo>
                <a:cubicBezTo>
                  <a:pt x="3915" y="3072"/>
                  <a:pt x="4056" y="2931"/>
                  <a:pt x="4056" y="2757"/>
                </a:cubicBezTo>
                <a:lnTo>
                  <a:pt x="4056" y="1933"/>
                </a:lnTo>
                <a:lnTo>
                  <a:pt x="9754" y="1933"/>
                </a:lnTo>
                <a:lnTo>
                  <a:pt x="9754" y="2757"/>
                </a:lnTo>
                <a:cubicBezTo>
                  <a:pt x="9754" y="2931"/>
                  <a:pt x="9895" y="3072"/>
                  <a:pt x="10069" y="3072"/>
                </a:cubicBezTo>
                <a:cubicBezTo>
                  <a:pt x="10243" y="3072"/>
                  <a:pt x="10384" y="2931"/>
                  <a:pt x="10384" y="2757"/>
                </a:cubicBezTo>
                <a:lnTo>
                  <a:pt x="10384" y="1933"/>
                </a:lnTo>
                <a:lnTo>
                  <a:pt x="11834" y="1933"/>
                </a:lnTo>
                <a:cubicBezTo>
                  <a:pt x="12529" y="1934"/>
                  <a:pt x="13093" y="2497"/>
                  <a:pt x="13094" y="3193"/>
                </a:cubicBezTo>
                <a:lnTo>
                  <a:pt x="13094" y="4646"/>
                </a:lnTo>
                <a:lnTo>
                  <a:pt x="840" y="4646"/>
                </a:lnTo>
                <a:lnTo>
                  <a:pt x="840" y="3193"/>
                </a:lnTo>
                <a:cubicBezTo>
                  <a:pt x="840" y="2497"/>
                  <a:pt x="1404" y="1934"/>
                  <a:pt x="2099" y="1933"/>
                </a:cubicBezTo>
                <a:close/>
                <a:moveTo>
                  <a:pt x="11834" y="11960"/>
                </a:moveTo>
                <a:lnTo>
                  <a:pt x="2099" y="11960"/>
                </a:lnTo>
                <a:cubicBezTo>
                  <a:pt x="1404" y="11960"/>
                  <a:pt x="840" y="11396"/>
                  <a:pt x="840" y="10701"/>
                </a:cubicBezTo>
                <a:lnTo>
                  <a:pt x="840" y="5276"/>
                </a:lnTo>
                <a:lnTo>
                  <a:pt x="13094" y="5276"/>
                </a:lnTo>
                <a:lnTo>
                  <a:pt x="13094" y="10701"/>
                </a:lnTo>
                <a:cubicBezTo>
                  <a:pt x="13093" y="11396"/>
                  <a:pt x="12529" y="11960"/>
                  <a:pt x="11834" y="1196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424070851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矩形: 圆角 10">
            <a:extLst>
              <a:ext uri="{FF2B5EF4-FFF2-40B4-BE49-F238E27FC236}">
                <a16:creationId xmlns:a16="http://schemas.microsoft.com/office/drawing/2014/main" id="{8BE4F5B9-0A7A-4D0C-81A2-093ACA468498}"/>
              </a:ext>
            </a:extLst>
          </p:cNvPr>
          <p:cNvSpPr/>
          <p:nvPr/>
        </p:nvSpPr>
        <p:spPr>
          <a:xfrm>
            <a:off x="2396616" y="1376272"/>
            <a:ext cx="3748496" cy="1983102"/>
          </a:xfrm>
          <a:prstGeom prst="roundRect">
            <a:avLst>
              <a:gd name="adj" fmla="val 4721"/>
            </a:avLst>
          </a:prstGeom>
          <a:solidFill>
            <a:schemeClr val="bg1"/>
          </a:solidFill>
          <a:ln w="15875">
            <a:solidFill>
              <a:schemeClr val="accent1"/>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8" name="矩形: 圆顶角 17">
            <a:extLst>
              <a:ext uri="{FF2B5EF4-FFF2-40B4-BE49-F238E27FC236}">
                <a16:creationId xmlns:a16="http://schemas.microsoft.com/office/drawing/2014/main" id="{A5E3953C-8D54-4517-B4AE-FC8808B07825}"/>
              </a:ext>
            </a:extLst>
          </p:cNvPr>
          <p:cNvSpPr/>
          <p:nvPr/>
        </p:nvSpPr>
        <p:spPr>
          <a:xfrm>
            <a:off x="2650304" y="1366113"/>
            <a:ext cx="3241120" cy="376049"/>
          </a:xfrm>
          <a:prstGeom prst="round2SameRect">
            <a:avLst>
              <a:gd name="adj1" fmla="val 0"/>
              <a:gd name="adj2" fmla="val 19256"/>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600" b="1" dirty="0">
                <a:latin typeface="思源黑体 CN Bold" panose="020B0800000000000000" pitchFamily="34" charset="-122"/>
                <a:ea typeface="思源黑体 CN Bold" panose="020B0800000000000000" pitchFamily="34" charset="-122"/>
              </a:rPr>
              <a:t>细胞模型构建与耐药性验证</a:t>
            </a:r>
          </a:p>
        </p:txBody>
      </p:sp>
      <p:sp>
        <p:nvSpPr>
          <p:cNvPr id="25" name="文本框 24">
            <a:extLst>
              <a:ext uri="{FF2B5EF4-FFF2-40B4-BE49-F238E27FC236}">
                <a16:creationId xmlns:a16="http://schemas.microsoft.com/office/drawing/2014/main" id="{648F0C32-6652-49A2-A421-9D93B5241977}"/>
              </a:ext>
            </a:extLst>
          </p:cNvPr>
          <p:cNvSpPr txBox="1"/>
          <p:nvPr/>
        </p:nvSpPr>
        <p:spPr>
          <a:xfrm>
            <a:off x="2484111" y="1809943"/>
            <a:ext cx="3574565" cy="1346651"/>
          </a:xfrm>
          <a:prstGeom prst="rect">
            <a:avLst/>
          </a:prstGeom>
          <a:noFill/>
        </p:spPr>
        <p:txBody>
          <a:bodyPr wrap="square" rtlCol="0">
            <a:spAutoFit/>
          </a:bodyPr>
          <a:lstStyle>
            <a:defPPr>
              <a:defRPr lang="zh-CN"/>
            </a:defPPr>
            <a:lvl1pPr marL="285750" indent="-285750">
              <a:lnSpc>
                <a:spcPct val="110000"/>
              </a:lnSpc>
              <a:buFont typeface="Wingdings" panose="05000000000000000000" pitchFamily="2" charset="2"/>
              <a:buChar char="u"/>
              <a:defRPr sz="1400">
                <a:latin typeface="思源黑体 CN Regular" panose="020B0500000000000000" pitchFamily="34" charset="-122"/>
                <a:ea typeface="思源黑体 CN Regular" panose="020B0500000000000000" pitchFamily="34" charset="-122"/>
              </a:defRPr>
            </a:lvl1pPr>
          </a:lstStyle>
          <a:p>
            <a:pPr marL="0" indent="0">
              <a:lnSpc>
                <a:spcPct val="130000"/>
              </a:lnSpc>
              <a:buNone/>
            </a:pPr>
            <a:r>
              <a:rPr lang="zh-CN" altLang="en-US" sz="1600" dirty="0"/>
              <a:t>构建肝癌奥沙利铂耐药细胞株（</a:t>
            </a:r>
            <a:r>
              <a:rPr lang="en-US" altLang="zh-CN" sz="1600" dirty="0"/>
              <a:t>HepG2/</a:t>
            </a:r>
            <a:r>
              <a:rPr lang="en-US" altLang="zh-CN" sz="1600" dirty="0" err="1"/>
              <a:t>OxR</a:t>
            </a:r>
            <a:r>
              <a:rPr lang="zh-CN" altLang="en-US" sz="1600" dirty="0"/>
              <a:t>、</a:t>
            </a:r>
            <a:r>
              <a:rPr lang="en-US" altLang="zh-CN" sz="1600" dirty="0"/>
              <a:t>Huh7/</a:t>
            </a:r>
            <a:r>
              <a:rPr lang="en-US" altLang="zh-CN" sz="1600" dirty="0" err="1"/>
              <a:t>OxR</a:t>
            </a:r>
            <a:r>
              <a:rPr lang="zh-CN" altLang="en-US" sz="1600" dirty="0"/>
              <a:t>），</a:t>
            </a:r>
            <a:r>
              <a:rPr lang="en-US" altLang="zh-CN" sz="1600" dirty="0"/>
              <a:t>CCK-8</a:t>
            </a:r>
            <a:r>
              <a:rPr lang="zh-CN" altLang="en-US" sz="1600" dirty="0"/>
              <a:t>法检测</a:t>
            </a:r>
            <a:r>
              <a:rPr lang="en-US" altLang="zh-CN" sz="1600" dirty="0"/>
              <a:t>IC50</a:t>
            </a:r>
            <a:r>
              <a:rPr lang="zh-CN" altLang="en-US" sz="1600" dirty="0"/>
              <a:t>验证耐药性，</a:t>
            </a:r>
            <a:r>
              <a:rPr lang="en-US" altLang="zh-CN" sz="1600" dirty="0"/>
              <a:t>Western blot</a:t>
            </a:r>
            <a:r>
              <a:rPr lang="zh-CN" altLang="en-US" sz="1600" dirty="0"/>
              <a:t>检测</a:t>
            </a:r>
            <a:r>
              <a:rPr lang="en-US" altLang="zh-CN" sz="1600" dirty="0"/>
              <a:t>PRMT3</a:t>
            </a:r>
            <a:r>
              <a:rPr lang="zh-CN" altLang="en-US" sz="1600" dirty="0"/>
              <a:t>、</a:t>
            </a:r>
            <a:r>
              <a:rPr lang="en-US" altLang="zh-CN" sz="1600" dirty="0"/>
              <a:t>IGF2BP1</a:t>
            </a:r>
            <a:r>
              <a:rPr lang="zh-CN" altLang="en-US" sz="1600" dirty="0"/>
              <a:t>表达水平。</a:t>
            </a:r>
          </a:p>
        </p:txBody>
      </p:sp>
      <p:sp>
        <p:nvSpPr>
          <p:cNvPr id="27" name="矩形: 圆角 26">
            <a:extLst>
              <a:ext uri="{FF2B5EF4-FFF2-40B4-BE49-F238E27FC236}">
                <a16:creationId xmlns:a16="http://schemas.microsoft.com/office/drawing/2014/main" id="{DE2FCCA7-0770-442D-8DB3-371A75C57504}"/>
              </a:ext>
            </a:extLst>
          </p:cNvPr>
          <p:cNvSpPr/>
          <p:nvPr/>
        </p:nvSpPr>
        <p:spPr>
          <a:xfrm>
            <a:off x="2396616" y="4462148"/>
            <a:ext cx="3748496" cy="1983102"/>
          </a:xfrm>
          <a:prstGeom prst="roundRect">
            <a:avLst>
              <a:gd name="adj" fmla="val 4721"/>
            </a:avLst>
          </a:prstGeom>
          <a:solidFill>
            <a:schemeClr val="bg1"/>
          </a:solidFill>
          <a:ln w="15875">
            <a:solidFill>
              <a:schemeClr val="accent1"/>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29" name="矩形: 圆顶角 28">
            <a:extLst>
              <a:ext uri="{FF2B5EF4-FFF2-40B4-BE49-F238E27FC236}">
                <a16:creationId xmlns:a16="http://schemas.microsoft.com/office/drawing/2014/main" id="{C9D4C937-F304-4C3D-9FC0-6570CEF7408F}"/>
              </a:ext>
            </a:extLst>
          </p:cNvPr>
          <p:cNvSpPr/>
          <p:nvPr/>
        </p:nvSpPr>
        <p:spPr>
          <a:xfrm>
            <a:off x="2650304" y="4451989"/>
            <a:ext cx="3241120" cy="376049"/>
          </a:xfrm>
          <a:prstGeom prst="round2SameRect">
            <a:avLst>
              <a:gd name="adj1" fmla="val 0"/>
              <a:gd name="adj2" fmla="val 19256"/>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600" b="1" dirty="0">
                <a:latin typeface="思源黑体 CN Bold" panose="020B0800000000000000" pitchFamily="34" charset="-122"/>
                <a:ea typeface="思源黑体 CN Bold" panose="020B0800000000000000" pitchFamily="34" charset="-122"/>
              </a:rPr>
              <a:t>甲基化修饰及功能验证</a:t>
            </a:r>
          </a:p>
        </p:txBody>
      </p:sp>
      <p:sp>
        <p:nvSpPr>
          <p:cNvPr id="30" name="文本框 29">
            <a:extLst>
              <a:ext uri="{FF2B5EF4-FFF2-40B4-BE49-F238E27FC236}">
                <a16:creationId xmlns:a16="http://schemas.microsoft.com/office/drawing/2014/main" id="{B7843406-B469-4E80-A287-C6D4EE4B8958}"/>
              </a:ext>
            </a:extLst>
          </p:cNvPr>
          <p:cNvSpPr txBox="1"/>
          <p:nvPr/>
        </p:nvSpPr>
        <p:spPr>
          <a:xfrm>
            <a:off x="2484111" y="4895819"/>
            <a:ext cx="3574565" cy="1346651"/>
          </a:xfrm>
          <a:prstGeom prst="rect">
            <a:avLst/>
          </a:prstGeom>
          <a:noFill/>
        </p:spPr>
        <p:txBody>
          <a:bodyPr wrap="square" rtlCol="0">
            <a:spAutoFit/>
          </a:bodyPr>
          <a:lstStyle>
            <a:defPPr>
              <a:defRPr lang="zh-CN"/>
            </a:defPPr>
            <a:lvl1pPr marL="285750" indent="-285750">
              <a:lnSpc>
                <a:spcPct val="110000"/>
              </a:lnSpc>
              <a:buFont typeface="Wingdings" panose="05000000000000000000" pitchFamily="2" charset="2"/>
              <a:buChar char="u"/>
              <a:defRPr sz="1400">
                <a:latin typeface="思源黑体 CN Regular" panose="020B0500000000000000" pitchFamily="34" charset="-122"/>
                <a:ea typeface="思源黑体 CN Regular" panose="020B0500000000000000" pitchFamily="34" charset="-122"/>
              </a:defRPr>
            </a:lvl1pPr>
          </a:lstStyle>
          <a:p>
            <a:pPr marL="0" indent="0">
              <a:lnSpc>
                <a:spcPct val="130000"/>
              </a:lnSpc>
              <a:buNone/>
            </a:pPr>
            <a:r>
              <a:rPr lang="zh-CN" altLang="en-US" sz="1600" dirty="0"/>
              <a:t>体外甲基化实验验证</a:t>
            </a:r>
            <a:r>
              <a:rPr lang="en-US" altLang="zh-CN" sz="1600" dirty="0"/>
              <a:t>PRMT3</a:t>
            </a:r>
            <a:r>
              <a:rPr lang="zh-CN" altLang="en-US" sz="1600" dirty="0"/>
              <a:t>对</a:t>
            </a:r>
            <a:r>
              <a:rPr lang="en-US" altLang="zh-CN" sz="1600" dirty="0"/>
              <a:t>IGF2BP1</a:t>
            </a:r>
            <a:r>
              <a:rPr lang="zh-CN" altLang="en-US" sz="1600" dirty="0"/>
              <a:t>的精氨酸甲基化修饰；</a:t>
            </a:r>
            <a:r>
              <a:rPr lang="en-US" altLang="zh-CN" sz="1600" dirty="0" err="1"/>
              <a:t>EdU</a:t>
            </a:r>
            <a:r>
              <a:rPr lang="zh-CN" altLang="en-US" sz="1600" dirty="0"/>
              <a:t>、</a:t>
            </a:r>
            <a:r>
              <a:rPr lang="en-US" altLang="zh-CN" sz="1600" dirty="0" err="1"/>
              <a:t>Transwell</a:t>
            </a:r>
            <a:r>
              <a:rPr lang="zh-CN" altLang="en-US" sz="1600" dirty="0"/>
              <a:t>实验检测沉默</a:t>
            </a:r>
            <a:r>
              <a:rPr lang="en-US" altLang="zh-CN" sz="1600" dirty="0"/>
              <a:t>PRMT3</a:t>
            </a:r>
            <a:r>
              <a:rPr lang="zh-CN" altLang="en-US" sz="1600" dirty="0"/>
              <a:t>对耐药细胞增殖、迁移的影响。</a:t>
            </a:r>
          </a:p>
        </p:txBody>
      </p:sp>
      <p:sp>
        <p:nvSpPr>
          <p:cNvPr id="31" name="矩形: 圆角 30">
            <a:extLst>
              <a:ext uri="{FF2B5EF4-FFF2-40B4-BE49-F238E27FC236}">
                <a16:creationId xmlns:a16="http://schemas.microsoft.com/office/drawing/2014/main" id="{4A07882D-EBF8-4E37-B978-B88494F9E789}"/>
              </a:ext>
            </a:extLst>
          </p:cNvPr>
          <p:cNvSpPr/>
          <p:nvPr/>
        </p:nvSpPr>
        <p:spPr>
          <a:xfrm>
            <a:off x="8108008" y="1376272"/>
            <a:ext cx="3748496" cy="1983102"/>
          </a:xfrm>
          <a:prstGeom prst="roundRect">
            <a:avLst>
              <a:gd name="adj" fmla="val 4721"/>
            </a:avLst>
          </a:prstGeom>
          <a:solidFill>
            <a:schemeClr val="bg1"/>
          </a:solidFill>
          <a:ln w="15875">
            <a:solidFill>
              <a:schemeClr val="accent1"/>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32" name="矩形: 圆顶角 31">
            <a:extLst>
              <a:ext uri="{FF2B5EF4-FFF2-40B4-BE49-F238E27FC236}">
                <a16:creationId xmlns:a16="http://schemas.microsoft.com/office/drawing/2014/main" id="{54C585AC-447F-4BAD-89AB-00644E3DE4E2}"/>
              </a:ext>
            </a:extLst>
          </p:cNvPr>
          <p:cNvSpPr/>
          <p:nvPr/>
        </p:nvSpPr>
        <p:spPr>
          <a:xfrm>
            <a:off x="8361695" y="1366113"/>
            <a:ext cx="3241120" cy="376049"/>
          </a:xfrm>
          <a:prstGeom prst="round2SameRect">
            <a:avLst>
              <a:gd name="adj1" fmla="val 0"/>
              <a:gd name="adj2" fmla="val 19256"/>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600" b="1" dirty="0">
                <a:latin typeface="思源黑体 CN Bold" panose="020B0800000000000000" pitchFamily="34" charset="-122"/>
                <a:ea typeface="思源黑体 CN Bold" panose="020B0800000000000000" pitchFamily="34" charset="-122"/>
              </a:rPr>
              <a:t>PRMT3</a:t>
            </a:r>
            <a:r>
              <a:rPr lang="zh-CN" altLang="en-US" sz="1600" b="1" dirty="0">
                <a:latin typeface="思源黑体 CN Bold" panose="020B0800000000000000" pitchFamily="34" charset="-122"/>
                <a:ea typeface="思源黑体 CN Bold" panose="020B0800000000000000" pitchFamily="34" charset="-122"/>
              </a:rPr>
              <a:t>与</a:t>
            </a:r>
            <a:r>
              <a:rPr lang="en-US" altLang="zh-CN" sz="1600" b="1" dirty="0">
                <a:latin typeface="思源黑体 CN Bold" panose="020B0800000000000000" pitchFamily="34" charset="-122"/>
                <a:ea typeface="思源黑体 CN Bold" panose="020B0800000000000000" pitchFamily="34" charset="-122"/>
              </a:rPr>
              <a:t>IGF2BP1</a:t>
            </a:r>
            <a:r>
              <a:rPr lang="zh-CN" altLang="en-US" sz="1600" b="1" dirty="0">
                <a:latin typeface="思源黑体 CN Bold" panose="020B0800000000000000" pitchFamily="34" charset="-122"/>
                <a:ea typeface="思源黑体 CN Bold" panose="020B0800000000000000" pitchFamily="34" charset="-122"/>
              </a:rPr>
              <a:t>相互作用验证</a:t>
            </a:r>
          </a:p>
        </p:txBody>
      </p:sp>
      <p:sp>
        <p:nvSpPr>
          <p:cNvPr id="39" name="文本框 38">
            <a:extLst>
              <a:ext uri="{FF2B5EF4-FFF2-40B4-BE49-F238E27FC236}">
                <a16:creationId xmlns:a16="http://schemas.microsoft.com/office/drawing/2014/main" id="{EA27DAA5-9BCD-4A29-B014-8893845C37B3}"/>
              </a:ext>
            </a:extLst>
          </p:cNvPr>
          <p:cNvSpPr txBox="1"/>
          <p:nvPr/>
        </p:nvSpPr>
        <p:spPr>
          <a:xfrm>
            <a:off x="8195503" y="1809943"/>
            <a:ext cx="3574565" cy="1026563"/>
          </a:xfrm>
          <a:prstGeom prst="rect">
            <a:avLst/>
          </a:prstGeom>
          <a:noFill/>
        </p:spPr>
        <p:txBody>
          <a:bodyPr wrap="square" rtlCol="0">
            <a:spAutoFit/>
          </a:bodyPr>
          <a:lstStyle>
            <a:defPPr>
              <a:defRPr lang="zh-CN"/>
            </a:defPPr>
            <a:lvl1pPr marL="285750" indent="-285750">
              <a:lnSpc>
                <a:spcPct val="110000"/>
              </a:lnSpc>
              <a:buFont typeface="Wingdings" panose="05000000000000000000" pitchFamily="2" charset="2"/>
              <a:buChar char="u"/>
              <a:defRPr sz="1400">
                <a:latin typeface="思源黑体 CN Regular" panose="020B0500000000000000" pitchFamily="34" charset="-122"/>
                <a:ea typeface="思源黑体 CN Regular" panose="020B0500000000000000" pitchFamily="34" charset="-122"/>
              </a:defRPr>
            </a:lvl1pPr>
          </a:lstStyle>
          <a:p>
            <a:pPr marL="0" indent="0">
              <a:lnSpc>
                <a:spcPct val="130000"/>
              </a:lnSpc>
              <a:buNone/>
            </a:pPr>
            <a:r>
              <a:rPr lang="zh-CN" altLang="en-US" sz="1600" dirty="0"/>
              <a:t>采用</a:t>
            </a:r>
            <a:r>
              <a:rPr lang="en-US" altLang="zh-CN" sz="1600" dirty="0" err="1"/>
              <a:t>CoIP</a:t>
            </a:r>
            <a:r>
              <a:rPr lang="zh-CN" altLang="en-US" sz="1600" dirty="0"/>
              <a:t>实验验证二者体内相互作用；免疫荧光共定位检测细胞内结合位置与表达分布，明确蛋白互作关系</a:t>
            </a:r>
          </a:p>
        </p:txBody>
      </p:sp>
      <p:sp>
        <p:nvSpPr>
          <p:cNvPr id="40" name="矩形: 圆角 39">
            <a:extLst>
              <a:ext uri="{FF2B5EF4-FFF2-40B4-BE49-F238E27FC236}">
                <a16:creationId xmlns:a16="http://schemas.microsoft.com/office/drawing/2014/main" id="{3D9B3357-BCD2-44CB-8995-C8E2266C3B78}"/>
              </a:ext>
            </a:extLst>
          </p:cNvPr>
          <p:cNvSpPr/>
          <p:nvPr/>
        </p:nvSpPr>
        <p:spPr>
          <a:xfrm>
            <a:off x="8108008" y="4462148"/>
            <a:ext cx="3748496" cy="1983102"/>
          </a:xfrm>
          <a:prstGeom prst="roundRect">
            <a:avLst>
              <a:gd name="adj" fmla="val 4721"/>
            </a:avLst>
          </a:prstGeom>
          <a:solidFill>
            <a:schemeClr val="bg1"/>
          </a:solidFill>
          <a:ln w="15875">
            <a:solidFill>
              <a:schemeClr val="accent1"/>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41" name="矩形: 圆顶角 40">
            <a:extLst>
              <a:ext uri="{FF2B5EF4-FFF2-40B4-BE49-F238E27FC236}">
                <a16:creationId xmlns:a16="http://schemas.microsoft.com/office/drawing/2014/main" id="{CADC2894-DCBA-4B3B-AC3E-394C22294D7E}"/>
              </a:ext>
            </a:extLst>
          </p:cNvPr>
          <p:cNvSpPr/>
          <p:nvPr/>
        </p:nvSpPr>
        <p:spPr>
          <a:xfrm>
            <a:off x="8361695" y="4451989"/>
            <a:ext cx="3241120" cy="376049"/>
          </a:xfrm>
          <a:prstGeom prst="round2SameRect">
            <a:avLst>
              <a:gd name="adj1" fmla="val 0"/>
              <a:gd name="adj2" fmla="val 19256"/>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600" b="1" dirty="0">
                <a:latin typeface="思源黑体 CN Bold" panose="020B0800000000000000" pitchFamily="34" charset="-122"/>
                <a:ea typeface="思源黑体 CN Bold" panose="020B0800000000000000" pitchFamily="34" charset="-122"/>
              </a:rPr>
              <a:t>动物实验与临床样本验证</a:t>
            </a:r>
          </a:p>
        </p:txBody>
      </p:sp>
      <p:sp>
        <p:nvSpPr>
          <p:cNvPr id="42" name="文本框 41">
            <a:extLst>
              <a:ext uri="{FF2B5EF4-FFF2-40B4-BE49-F238E27FC236}">
                <a16:creationId xmlns:a16="http://schemas.microsoft.com/office/drawing/2014/main" id="{F614B66A-59CC-4DA3-BF99-1BE02968E80E}"/>
              </a:ext>
            </a:extLst>
          </p:cNvPr>
          <p:cNvSpPr txBox="1"/>
          <p:nvPr/>
        </p:nvSpPr>
        <p:spPr>
          <a:xfrm>
            <a:off x="8195503" y="4895819"/>
            <a:ext cx="3574565" cy="1026563"/>
          </a:xfrm>
          <a:prstGeom prst="rect">
            <a:avLst/>
          </a:prstGeom>
          <a:noFill/>
        </p:spPr>
        <p:txBody>
          <a:bodyPr wrap="square" rtlCol="0">
            <a:spAutoFit/>
          </a:bodyPr>
          <a:lstStyle>
            <a:defPPr>
              <a:defRPr lang="zh-CN"/>
            </a:defPPr>
            <a:lvl1pPr marL="285750" indent="-285750">
              <a:lnSpc>
                <a:spcPct val="110000"/>
              </a:lnSpc>
              <a:buFont typeface="Wingdings" panose="05000000000000000000" pitchFamily="2" charset="2"/>
              <a:buChar char="u"/>
              <a:defRPr sz="1400">
                <a:latin typeface="思源黑体 CN Regular" panose="020B0500000000000000" pitchFamily="34" charset="-122"/>
                <a:ea typeface="思源黑体 CN Regular" panose="020B0500000000000000" pitchFamily="34" charset="-122"/>
              </a:defRPr>
            </a:lvl1pPr>
          </a:lstStyle>
          <a:p>
            <a:pPr marL="0" indent="0">
              <a:lnSpc>
                <a:spcPct val="130000"/>
              </a:lnSpc>
              <a:buNone/>
            </a:pPr>
            <a:r>
              <a:rPr lang="zh-CN" altLang="en-US" sz="1600" dirty="0"/>
              <a:t>建立裸鼠移植瘤模型，验证</a:t>
            </a:r>
            <a:r>
              <a:rPr lang="en-US" altLang="zh-CN" sz="1600" dirty="0"/>
              <a:t>PRMT3</a:t>
            </a:r>
            <a:r>
              <a:rPr lang="zh-CN" altLang="en-US" sz="1600" dirty="0"/>
              <a:t>对体内耐药性的影响；免疫组化检测肝癌临床样本中二者表达与耐药相关性。</a:t>
            </a:r>
          </a:p>
        </p:txBody>
      </p:sp>
      <p:sp>
        <p:nvSpPr>
          <p:cNvPr id="93" name="文本框 92">
            <a:extLst>
              <a:ext uri="{FF2B5EF4-FFF2-40B4-BE49-F238E27FC236}">
                <a16:creationId xmlns:a16="http://schemas.microsoft.com/office/drawing/2014/main" id="{68A930E2-EE28-4BED-856C-7EA009EC290D}"/>
              </a:ext>
            </a:extLst>
          </p:cNvPr>
          <p:cNvSpPr txBox="1"/>
          <p:nvPr/>
        </p:nvSpPr>
        <p:spPr>
          <a:xfrm>
            <a:off x="2209656" y="248670"/>
            <a:ext cx="1947969" cy="461665"/>
          </a:xfrm>
          <a:prstGeom prst="rect">
            <a:avLst/>
          </a:prstGeom>
          <a:noFill/>
        </p:spPr>
        <p:txBody>
          <a:bodyPr wrap="none" rtlCol="0">
            <a:spAutoFit/>
          </a:bodyPr>
          <a:lstStyle/>
          <a:p>
            <a:r>
              <a:rPr lang="en-US" altLang="zh-CN" sz="2400" dirty="0">
                <a:solidFill>
                  <a:schemeClr val="accent1"/>
                </a:solidFill>
                <a:latin typeface="思源黑体 CN Bold" panose="020B0800000000000000" pitchFamily="34" charset="-122"/>
                <a:ea typeface="思源黑体 CN Bold" panose="020B0800000000000000" pitchFamily="34" charset="-122"/>
              </a:rPr>
              <a:t>3.1 </a:t>
            </a:r>
            <a:r>
              <a:rPr lang="zh-CN" altLang="en-US" sz="2400" dirty="0">
                <a:solidFill>
                  <a:schemeClr val="accent1"/>
                </a:solidFill>
                <a:latin typeface="思源黑体 CN Bold" panose="020B0800000000000000" pitchFamily="34" charset="-122"/>
                <a:ea typeface="思源黑体 CN Bold" panose="020B0800000000000000" pitchFamily="34" charset="-122"/>
              </a:rPr>
              <a:t>研究方法</a:t>
            </a:r>
          </a:p>
        </p:txBody>
      </p:sp>
      <p:sp>
        <p:nvSpPr>
          <p:cNvPr id="94" name="矩形 93">
            <a:extLst>
              <a:ext uri="{FF2B5EF4-FFF2-40B4-BE49-F238E27FC236}">
                <a16:creationId xmlns:a16="http://schemas.microsoft.com/office/drawing/2014/main" id="{94A48F32-C9EE-4A91-B63E-0C9CF6022E78}"/>
              </a:ext>
            </a:extLst>
          </p:cNvPr>
          <p:cNvSpPr/>
          <p:nvPr/>
        </p:nvSpPr>
        <p:spPr>
          <a:xfrm>
            <a:off x="0" y="3389589"/>
            <a:ext cx="2052320" cy="56374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95" name="文本框 94">
            <a:extLst>
              <a:ext uri="{FF2B5EF4-FFF2-40B4-BE49-F238E27FC236}">
                <a16:creationId xmlns:a16="http://schemas.microsoft.com/office/drawing/2014/main" id="{144FAF0E-09E2-4122-A248-327650855899}"/>
              </a:ext>
            </a:extLst>
          </p:cNvPr>
          <p:cNvSpPr txBox="1"/>
          <p:nvPr/>
        </p:nvSpPr>
        <p:spPr>
          <a:xfrm>
            <a:off x="373082" y="2098899"/>
            <a:ext cx="1660612" cy="338554"/>
          </a:xfrm>
          <a:prstGeom prst="rect">
            <a:avLst/>
          </a:prstGeom>
          <a:noFill/>
        </p:spPr>
        <p:txBody>
          <a:bodyPr wrap="square" rtlCol="0">
            <a:spAutoFit/>
          </a:bodyPr>
          <a:lstStyle/>
          <a:p>
            <a:r>
              <a:rPr lang="zh-CN" altLang="en-US" sz="1600" dirty="0">
                <a:solidFill>
                  <a:schemeClr val="bg1"/>
                </a:solidFill>
                <a:latin typeface="思源黑体 CN Regular" panose="020B0500000000000000" pitchFamily="34" charset="-122"/>
                <a:ea typeface="思源黑体 CN Regular" panose="020B0500000000000000" pitchFamily="34" charset="-122"/>
              </a:rPr>
              <a:t>研究背景及现状</a:t>
            </a:r>
          </a:p>
        </p:txBody>
      </p:sp>
      <p:sp>
        <p:nvSpPr>
          <p:cNvPr id="96" name="任意矩形：001">
            <a:extLst>
              <a:ext uri="{FF2B5EF4-FFF2-40B4-BE49-F238E27FC236}">
                <a16:creationId xmlns:a16="http://schemas.microsoft.com/office/drawing/2014/main" id="{0E2879A3-16B8-4E0B-8E08-3C71542FF16B}"/>
              </a:ext>
            </a:extLst>
          </p:cNvPr>
          <p:cNvSpPr/>
          <p:nvPr/>
        </p:nvSpPr>
        <p:spPr>
          <a:xfrm>
            <a:off x="131492" y="2145245"/>
            <a:ext cx="226722" cy="202893"/>
          </a:xfrm>
          <a:custGeom>
            <a:avLst/>
            <a:gdLst>
              <a:gd name="connsiteX0" fmla="*/ 79591 w 607005"/>
              <a:gd name="connsiteY0" fmla="*/ 373864 h 543210"/>
              <a:gd name="connsiteX1" fmla="*/ 33701 w 607005"/>
              <a:gd name="connsiteY1" fmla="*/ 461494 h 543210"/>
              <a:gd name="connsiteX2" fmla="*/ 79501 w 607005"/>
              <a:gd name="connsiteY2" fmla="*/ 507233 h 543210"/>
              <a:gd name="connsiteX3" fmla="*/ 125392 w 607005"/>
              <a:gd name="connsiteY3" fmla="*/ 461494 h 543210"/>
              <a:gd name="connsiteX4" fmla="*/ 79591 w 607005"/>
              <a:gd name="connsiteY4" fmla="*/ 373864 h 543210"/>
              <a:gd name="connsiteX5" fmla="*/ 79501 w 607005"/>
              <a:gd name="connsiteY5" fmla="*/ 328661 h 543210"/>
              <a:gd name="connsiteX6" fmla="*/ 92856 w 607005"/>
              <a:gd name="connsiteY6" fmla="*/ 335106 h 543210"/>
              <a:gd name="connsiteX7" fmla="*/ 158913 w 607005"/>
              <a:gd name="connsiteY7" fmla="*/ 461404 h 543210"/>
              <a:gd name="connsiteX8" fmla="*/ 79501 w 607005"/>
              <a:gd name="connsiteY8" fmla="*/ 540710 h 543210"/>
              <a:gd name="connsiteX9" fmla="*/ 0 w 607005"/>
              <a:gd name="connsiteY9" fmla="*/ 461404 h 543210"/>
              <a:gd name="connsiteX10" fmla="*/ 66236 w 607005"/>
              <a:gd name="connsiteY10" fmla="*/ 335195 h 543210"/>
              <a:gd name="connsiteX11" fmla="*/ 79501 w 607005"/>
              <a:gd name="connsiteY11" fmla="*/ 328661 h 543210"/>
              <a:gd name="connsiteX12" fmla="*/ 196548 w 607005"/>
              <a:gd name="connsiteY12" fmla="*/ 281688 h 543210"/>
              <a:gd name="connsiteX13" fmla="*/ 391755 w 607005"/>
              <a:gd name="connsiteY13" fmla="*/ 476431 h 543210"/>
              <a:gd name="connsiteX14" fmla="*/ 540265 w 607005"/>
              <a:gd name="connsiteY14" fmla="*/ 476431 h 543210"/>
              <a:gd name="connsiteX15" fmla="*/ 540265 w 607005"/>
              <a:gd name="connsiteY15" fmla="*/ 328047 h 543210"/>
              <a:gd name="connsiteX16" fmla="*/ 493749 w 607005"/>
              <a:gd name="connsiteY16" fmla="*/ 281688 h 543210"/>
              <a:gd name="connsiteX17" fmla="*/ 261707 w 607005"/>
              <a:gd name="connsiteY17" fmla="*/ 49894 h 543210"/>
              <a:gd name="connsiteX18" fmla="*/ 113017 w 607005"/>
              <a:gd name="connsiteY18" fmla="*/ 198278 h 543210"/>
              <a:gd name="connsiteX19" fmla="*/ 163028 w 607005"/>
              <a:gd name="connsiteY19" fmla="*/ 248127 h 543210"/>
              <a:gd name="connsiteX20" fmla="*/ 460229 w 607005"/>
              <a:gd name="connsiteY20" fmla="*/ 248127 h 543210"/>
              <a:gd name="connsiteX21" fmla="*/ 271073 w 607005"/>
              <a:gd name="connsiteY21" fmla="*/ 0 h 543210"/>
              <a:gd name="connsiteX22" fmla="*/ 282948 w 607005"/>
              <a:gd name="connsiteY22" fmla="*/ 4967 h 543210"/>
              <a:gd name="connsiteX23" fmla="*/ 285099 w 607005"/>
              <a:gd name="connsiteY23" fmla="*/ 25909 h 543210"/>
              <a:gd name="connsiteX24" fmla="*/ 563927 w 607005"/>
              <a:gd name="connsiteY24" fmla="*/ 304331 h 543210"/>
              <a:gd name="connsiteX25" fmla="*/ 563927 w 607005"/>
              <a:gd name="connsiteY25" fmla="*/ 500148 h 543210"/>
              <a:gd name="connsiteX26" fmla="*/ 367824 w 607005"/>
              <a:gd name="connsiteY26" fmla="*/ 500148 h 543210"/>
              <a:gd name="connsiteX27" fmla="*/ 88997 w 607005"/>
              <a:gd name="connsiteY27" fmla="*/ 221726 h 543210"/>
              <a:gd name="connsiteX28" fmla="*/ 68024 w 607005"/>
              <a:gd name="connsiteY28" fmla="*/ 219578 h 543210"/>
              <a:gd name="connsiteX29" fmla="*/ 68024 w 607005"/>
              <a:gd name="connsiteY29" fmla="*/ 195862 h 543210"/>
              <a:gd name="connsiteX30" fmla="*/ 259197 w 607005"/>
              <a:gd name="connsiteY30" fmla="*/ 4967 h 543210"/>
              <a:gd name="connsiteX31" fmla="*/ 271073 w 607005"/>
              <a:gd name="connsiteY31" fmla="*/ 0 h 5432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607005" h="543210">
                <a:moveTo>
                  <a:pt x="79591" y="373864"/>
                </a:moveTo>
                <a:cubicBezTo>
                  <a:pt x="57452" y="405192"/>
                  <a:pt x="33701" y="445024"/>
                  <a:pt x="33701" y="461494"/>
                </a:cubicBezTo>
                <a:cubicBezTo>
                  <a:pt x="33701" y="486646"/>
                  <a:pt x="54226" y="507233"/>
                  <a:pt x="79501" y="507233"/>
                </a:cubicBezTo>
                <a:cubicBezTo>
                  <a:pt x="104687" y="507233"/>
                  <a:pt x="125212" y="486646"/>
                  <a:pt x="125392" y="461494"/>
                </a:cubicBezTo>
                <a:cubicBezTo>
                  <a:pt x="125392" y="445024"/>
                  <a:pt x="101729" y="405282"/>
                  <a:pt x="79591" y="373864"/>
                </a:cubicBezTo>
                <a:close/>
                <a:moveTo>
                  <a:pt x="79501" y="328661"/>
                </a:moveTo>
                <a:cubicBezTo>
                  <a:pt x="84610" y="328661"/>
                  <a:pt x="89540" y="331078"/>
                  <a:pt x="92856" y="335106"/>
                </a:cubicBezTo>
                <a:cubicBezTo>
                  <a:pt x="103881" y="349517"/>
                  <a:pt x="158913" y="423094"/>
                  <a:pt x="158913" y="461404"/>
                </a:cubicBezTo>
                <a:cubicBezTo>
                  <a:pt x="158913" y="505175"/>
                  <a:pt x="123240" y="540710"/>
                  <a:pt x="79501" y="540710"/>
                </a:cubicBezTo>
                <a:cubicBezTo>
                  <a:pt x="35583" y="540710"/>
                  <a:pt x="0" y="505085"/>
                  <a:pt x="0" y="461404"/>
                </a:cubicBezTo>
                <a:cubicBezTo>
                  <a:pt x="0" y="423094"/>
                  <a:pt x="55122" y="349517"/>
                  <a:pt x="66236" y="335195"/>
                </a:cubicBezTo>
                <a:cubicBezTo>
                  <a:pt x="69284" y="331078"/>
                  <a:pt x="74213" y="328661"/>
                  <a:pt x="79501" y="328661"/>
                </a:cubicBezTo>
                <a:close/>
                <a:moveTo>
                  <a:pt x="196548" y="281688"/>
                </a:moveTo>
                <a:lnTo>
                  <a:pt x="391755" y="476431"/>
                </a:lnTo>
                <a:cubicBezTo>
                  <a:pt x="420525" y="505249"/>
                  <a:pt x="488999" y="527623"/>
                  <a:pt x="540265" y="476431"/>
                </a:cubicBezTo>
                <a:cubicBezTo>
                  <a:pt x="592249" y="424524"/>
                  <a:pt x="570290" y="358028"/>
                  <a:pt x="540265" y="328047"/>
                </a:cubicBezTo>
                <a:lnTo>
                  <a:pt x="493749" y="281688"/>
                </a:lnTo>
                <a:close/>
                <a:moveTo>
                  <a:pt x="261707" y="49894"/>
                </a:moveTo>
                <a:lnTo>
                  <a:pt x="113017" y="198278"/>
                </a:lnTo>
                <a:lnTo>
                  <a:pt x="163028" y="248127"/>
                </a:lnTo>
                <a:lnTo>
                  <a:pt x="460229" y="248127"/>
                </a:lnTo>
                <a:close/>
                <a:moveTo>
                  <a:pt x="271073" y="0"/>
                </a:moveTo>
                <a:cubicBezTo>
                  <a:pt x="275375" y="0"/>
                  <a:pt x="279677" y="1655"/>
                  <a:pt x="282948" y="4967"/>
                </a:cubicBezTo>
                <a:cubicBezTo>
                  <a:pt x="288595" y="10694"/>
                  <a:pt x="289312" y="19465"/>
                  <a:pt x="285099" y="25909"/>
                </a:cubicBezTo>
                <a:lnTo>
                  <a:pt x="563927" y="304331"/>
                </a:lnTo>
                <a:cubicBezTo>
                  <a:pt x="604528" y="344872"/>
                  <a:pt x="636076" y="428104"/>
                  <a:pt x="563927" y="500148"/>
                </a:cubicBezTo>
                <a:cubicBezTo>
                  <a:pt x="492495" y="571476"/>
                  <a:pt x="409501" y="541763"/>
                  <a:pt x="367824" y="500148"/>
                </a:cubicBezTo>
                <a:lnTo>
                  <a:pt x="88997" y="221726"/>
                </a:lnTo>
                <a:cubicBezTo>
                  <a:pt x="81468" y="226380"/>
                  <a:pt x="73850" y="225485"/>
                  <a:pt x="68024" y="219578"/>
                </a:cubicBezTo>
                <a:cubicBezTo>
                  <a:pt x="61392" y="213045"/>
                  <a:pt x="61392" y="202395"/>
                  <a:pt x="68024" y="195862"/>
                </a:cubicBezTo>
                <a:lnTo>
                  <a:pt x="259197" y="4967"/>
                </a:lnTo>
                <a:cubicBezTo>
                  <a:pt x="262469" y="1655"/>
                  <a:pt x="266771" y="0"/>
                  <a:pt x="271073"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7" name="任意矩形：002">
            <a:extLst>
              <a:ext uri="{FF2B5EF4-FFF2-40B4-BE49-F238E27FC236}">
                <a16:creationId xmlns:a16="http://schemas.microsoft.com/office/drawing/2014/main" id="{4B5598DC-4831-46B7-B13F-6D6435A02321}"/>
              </a:ext>
            </a:extLst>
          </p:cNvPr>
          <p:cNvSpPr/>
          <p:nvPr/>
        </p:nvSpPr>
        <p:spPr>
          <a:xfrm>
            <a:off x="143798" y="2860995"/>
            <a:ext cx="202111" cy="201828"/>
          </a:xfrm>
          <a:custGeom>
            <a:avLst/>
            <a:gdLst>
              <a:gd name="connsiteX0" fmla="*/ 303643 w 607215"/>
              <a:gd name="connsiteY0" fmla="*/ 280873 h 606369"/>
              <a:gd name="connsiteX1" fmla="*/ 325219 w 607215"/>
              <a:gd name="connsiteY1" fmla="*/ 302335 h 606369"/>
              <a:gd name="connsiteX2" fmla="*/ 303643 w 607215"/>
              <a:gd name="connsiteY2" fmla="*/ 323873 h 606369"/>
              <a:gd name="connsiteX3" fmla="*/ 282068 w 607215"/>
              <a:gd name="connsiteY3" fmla="*/ 302335 h 606369"/>
              <a:gd name="connsiteX4" fmla="*/ 303643 w 607215"/>
              <a:gd name="connsiteY4" fmla="*/ 280873 h 606369"/>
              <a:gd name="connsiteX5" fmla="*/ 303678 w 607215"/>
              <a:gd name="connsiteY5" fmla="*/ 280357 h 606369"/>
              <a:gd name="connsiteX6" fmla="*/ 281626 w 607215"/>
              <a:gd name="connsiteY6" fmla="*/ 302374 h 606369"/>
              <a:gd name="connsiteX7" fmla="*/ 303678 w 607215"/>
              <a:gd name="connsiteY7" fmla="*/ 324391 h 606369"/>
              <a:gd name="connsiteX8" fmla="*/ 325730 w 607215"/>
              <a:gd name="connsiteY8" fmla="*/ 302374 h 606369"/>
              <a:gd name="connsiteX9" fmla="*/ 303678 w 607215"/>
              <a:gd name="connsiteY9" fmla="*/ 280357 h 606369"/>
              <a:gd name="connsiteX10" fmla="*/ 303643 w 607215"/>
              <a:gd name="connsiteY10" fmla="*/ 279792 h 606369"/>
              <a:gd name="connsiteX11" fmla="*/ 326224 w 607215"/>
              <a:gd name="connsiteY11" fmla="*/ 302335 h 606369"/>
              <a:gd name="connsiteX12" fmla="*/ 303643 w 607215"/>
              <a:gd name="connsiteY12" fmla="*/ 324954 h 606369"/>
              <a:gd name="connsiteX13" fmla="*/ 281062 w 607215"/>
              <a:gd name="connsiteY13" fmla="*/ 302335 h 606369"/>
              <a:gd name="connsiteX14" fmla="*/ 303643 w 607215"/>
              <a:gd name="connsiteY14" fmla="*/ 279792 h 606369"/>
              <a:gd name="connsiteX15" fmla="*/ 281043 w 607215"/>
              <a:gd name="connsiteY15" fmla="*/ 46068 h 606369"/>
              <a:gd name="connsiteX16" fmla="*/ 120855 w 607215"/>
              <a:gd name="connsiteY16" fmla="*/ 120687 h 606369"/>
              <a:gd name="connsiteX17" fmla="*/ 46132 w 607215"/>
              <a:gd name="connsiteY17" fmla="*/ 280652 h 606369"/>
              <a:gd name="connsiteX18" fmla="*/ 147128 w 607215"/>
              <a:gd name="connsiteY18" fmla="*/ 280652 h 606369"/>
              <a:gd name="connsiteX19" fmla="*/ 169770 w 607215"/>
              <a:gd name="connsiteY19" fmla="*/ 303185 h 606369"/>
              <a:gd name="connsiteX20" fmla="*/ 147128 w 607215"/>
              <a:gd name="connsiteY20" fmla="*/ 325717 h 606369"/>
              <a:gd name="connsiteX21" fmla="*/ 46132 w 607215"/>
              <a:gd name="connsiteY21" fmla="*/ 325717 h 606369"/>
              <a:gd name="connsiteX22" fmla="*/ 120855 w 607215"/>
              <a:gd name="connsiteY22" fmla="*/ 485682 h 606369"/>
              <a:gd name="connsiteX23" fmla="*/ 281043 w 607215"/>
              <a:gd name="connsiteY23" fmla="*/ 560301 h 606369"/>
              <a:gd name="connsiteX24" fmla="*/ 281043 w 607215"/>
              <a:gd name="connsiteY24" fmla="*/ 459446 h 606369"/>
              <a:gd name="connsiteX25" fmla="*/ 303608 w 607215"/>
              <a:gd name="connsiteY25" fmla="*/ 436913 h 606369"/>
              <a:gd name="connsiteX26" fmla="*/ 326172 w 607215"/>
              <a:gd name="connsiteY26" fmla="*/ 459446 h 606369"/>
              <a:gd name="connsiteX27" fmla="*/ 326172 w 607215"/>
              <a:gd name="connsiteY27" fmla="*/ 560301 h 606369"/>
              <a:gd name="connsiteX28" fmla="*/ 486360 w 607215"/>
              <a:gd name="connsiteY28" fmla="*/ 485682 h 606369"/>
              <a:gd name="connsiteX29" fmla="*/ 561083 w 607215"/>
              <a:gd name="connsiteY29" fmla="*/ 325717 h 606369"/>
              <a:gd name="connsiteX30" fmla="*/ 460087 w 607215"/>
              <a:gd name="connsiteY30" fmla="*/ 325717 h 606369"/>
              <a:gd name="connsiteX31" fmla="*/ 437523 w 607215"/>
              <a:gd name="connsiteY31" fmla="*/ 303185 h 606369"/>
              <a:gd name="connsiteX32" fmla="*/ 460087 w 607215"/>
              <a:gd name="connsiteY32" fmla="*/ 280652 h 606369"/>
              <a:gd name="connsiteX33" fmla="*/ 561083 w 607215"/>
              <a:gd name="connsiteY33" fmla="*/ 280652 h 606369"/>
              <a:gd name="connsiteX34" fmla="*/ 486360 w 607215"/>
              <a:gd name="connsiteY34" fmla="*/ 120687 h 606369"/>
              <a:gd name="connsiteX35" fmla="*/ 326172 w 607215"/>
              <a:gd name="connsiteY35" fmla="*/ 46068 h 606369"/>
              <a:gd name="connsiteX36" fmla="*/ 326172 w 607215"/>
              <a:gd name="connsiteY36" fmla="*/ 146923 h 606369"/>
              <a:gd name="connsiteX37" fmla="*/ 303608 w 607215"/>
              <a:gd name="connsiteY37" fmla="*/ 169533 h 606369"/>
              <a:gd name="connsiteX38" fmla="*/ 281043 w 607215"/>
              <a:gd name="connsiteY38" fmla="*/ 146923 h 606369"/>
              <a:gd name="connsiteX39" fmla="*/ 281617 w 607215"/>
              <a:gd name="connsiteY39" fmla="*/ 45548 h 606369"/>
              <a:gd name="connsiteX40" fmla="*/ 281617 w 607215"/>
              <a:gd name="connsiteY40" fmla="*/ 146935 h 606369"/>
              <a:gd name="connsiteX41" fmla="*/ 303640 w 607215"/>
              <a:gd name="connsiteY41" fmla="*/ 169002 h 606369"/>
              <a:gd name="connsiteX42" fmla="*/ 325741 w 607215"/>
              <a:gd name="connsiteY42" fmla="*/ 146935 h 606369"/>
              <a:gd name="connsiteX43" fmla="*/ 325741 w 607215"/>
              <a:gd name="connsiteY43" fmla="*/ 45548 h 606369"/>
              <a:gd name="connsiteX44" fmla="*/ 561663 w 607215"/>
              <a:gd name="connsiteY44" fmla="*/ 281192 h 606369"/>
              <a:gd name="connsiteX45" fmla="*/ 460123 w 607215"/>
              <a:gd name="connsiteY45" fmla="*/ 281192 h 606369"/>
              <a:gd name="connsiteX46" fmla="*/ 438022 w 607215"/>
              <a:gd name="connsiteY46" fmla="*/ 303182 h 606369"/>
              <a:gd name="connsiteX47" fmla="*/ 460123 w 607215"/>
              <a:gd name="connsiteY47" fmla="*/ 325250 h 606369"/>
              <a:gd name="connsiteX48" fmla="*/ 561663 w 607215"/>
              <a:gd name="connsiteY48" fmla="*/ 325250 h 606369"/>
              <a:gd name="connsiteX49" fmla="*/ 325741 w 607215"/>
              <a:gd name="connsiteY49" fmla="*/ 560815 h 606369"/>
              <a:gd name="connsiteX50" fmla="*/ 325741 w 607215"/>
              <a:gd name="connsiteY50" fmla="*/ 459429 h 606369"/>
              <a:gd name="connsiteX51" fmla="*/ 303640 w 607215"/>
              <a:gd name="connsiteY51" fmla="*/ 437361 h 606369"/>
              <a:gd name="connsiteX52" fmla="*/ 281617 w 607215"/>
              <a:gd name="connsiteY52" fmla="*/ 459429 h 606369"/>
              <a:gd name="connsiteX53" fmla="*/ 281617 w 607215"/>
              <a:gd name="connsiteY53" fmla="*/ 560815 h 606369"/>
              <a:gd name="connsiteX54" fmla="*/ 45616 w 607215"/>
              <a:gd name="connsiteY54" fmla="*/ 325250 h 606369"/>
              <a:gd name="connsiteX55" fmla="*/ 147157 w 607215"/>
              <a:gd name="connsiteY55" fmla="*/ 325250 h 606369"/>
              <a:gd name="connsiteX56" fmla="*/ 169257 w 607215"/>
              <a:gd name="connsiteY56" fmla="*/ 303182 h 606369"/>
              <a:gd name="connsiteX57" fmla="*/ 147157 w 607215"/>
              <a:gd name="connsiteY57" fmla="*/ 281192 h 606369"/>
              <a:gd name="connsiteX58" fmla="*/ 45616 w 607215"/>
              <a:gd name="connsiteY58" fmla="*/ 281192 h 606369"/>
              <a:gd name="connsiteX59" fmla="*/ 281617 w 607215"/>
              <a:gd name="connsiteY59" fmla="*/ 45548 h 606369"/>
              <a:gd name="connsiteX60" fmla="*/ 281508 w 607215"/>
              <a:gd name="connsiteY60" fmla="*/ 44987 h 606369"/>
              <a:gd name="connsiteX61" fmla="*/ 120160 w 607215"/>
              <a:gd name="connsiteY61" fmla="*/ 119993 h 606369"/>
              <a:gd name="connsiteX62" fmla="*/ 45050 w 607215"/>
              <a:gd name="connsiteY62" fmla="*/ 281115 h 606369"/>
              <a:gd name="connsiteX63" fmla="*/ 45050 w 607215"/>
              <a:gd name="connsiteY63" fmla="*/ 281655 h 606369"/>
              <a:gd name="connsiteX64" fmla="*/ 147128 w 607215"/>
              <a:gd name="connsiteY64" fmla="*/ 281655 h 606369"/>
              <a:gd name="connsiteX65" fmla="*/ 168688 w 607215"/>
              <a:gd name="connsiteY65" fmla="*/ 303185 h 606369"/>
              <a:gd name="connsiteX66" fmla="*/ 147128 w 607215"/>
              <a:gd name="connsiteY66" fmla="*/ 324714 h 606369"/>
              <a:gd name="connsiteX67" fmla="*/ 45050 w 607215"/>
              <a:gd name="connsiteY67" fmla="*/ 324714 h 606369"/>
              <a:gd name="connsiteX68" fmla="*/ 45050 w 607215"/>
              <a:gd name="connsiteY68" fmla="*/ 325254 h 606369"/>
              <a:gd name="connsiteX69" fmla="*/ 120160 w 607215"/>
              <a:gd name="connsiteY69" fmla="*/ 486454 h 606369"/>
              <a:gd name="connsiteX70" fmla="*/ 281508 w 607215"/>
              <a:gd name="connsiteY70" fmla="*/ 561382 h 606369"/>
              <a:gd name="connsiteX71" fmla="*/ 282048 w 607215"/>
              <a:gd name="connsiteY71" fmla="*/ 561459 h 606369"/>
              <a:gd name="connsiteX72" fmla="*/ 282048 w 607215"/>
              <a:gd name="connsiteY72" fmla="*/ 459446 h 606369"/>
              <a:gd name="connsiteX73" fmla="*/ 303608 w 607215"/>
              <a:gd name="connsiteY73" fmla="*/ 437916 h 606369"/>
              <a:gd name="connsiteX74" fmla="*/ 325167 w 607215"/>
              <a:gd name="connsiteY74" fmla="*/ 459446 h 606369"/>
              <a:gd name="connsiteX75" fmla="*/ 325167 w 607215"/>
              <a:gd name="connsiteY75" fmla="*/ 561459 h 606369"/>
              <a:gd name="connsiteX76" fmla="*/ 325708 w 607215"/>
              <a:gd name="connsiteY76" fmla="*/ 561382 h 606369"/>
              <a:gd name="connsiteX77" fmla="*/ 487132 w 607215"/>
              <a:gd name="connsiteY77" fmla="*/ 486454 h 606369"/>
              <a:gd name="connsiteX78" fmla="*/ 562165 w 607215"/>
              <a:gd name="connsiteY78" fmla="*/ 325254 h 606369"/>
              <a:gd name="connsiteX79" fmla="*/ 562242 w 607215"/>
              <a:gd name="connsiteY79" fmla="*/ 324714 h 606369"/>
              <a:gd name="connsiteX80" fmla="*/ 460087 w 607215"/>
              <a:gd name="connsiteY80" fmla="*/ 324714 h 606369"/>
              <a:gd name="connsiteX81" fmla="*/ 438527 w 607215"/>
              <a:gd name="connsiteY81" fmla="*/ 303185 h 606369"/>
              <a:gd name="connsiteX82" fmla="*/ 460087 w 607215"/>
              <a:gd name="connsiteY82" fmla="*/ 281655 h 606369"/>
              <a:gd name="connsiteX83" fmla="*/ 562242 w 607215"/>
              <a:gd name="connsiteY83" fmla="*/ 281655 h 606369"/>
              <a:gd name="connsiteX84" fmla="*/ 562165 w 607215"/>
              <a:gd name="connsiteY84" fmla="*/ 281115 h 606369"/>
              <a:gd name="connsiteX85" fmla="*/ 487132 w 607215"/>
              <a:gd name="connsiteY85" fmla="*/ 119993 h 606369"/>
              <a:gd name="connsiteX86" fmla="*/ 325708 w 607215"/>
              <a:gd name="connsiteY86" fmla="*/ 44987 h 606369"/>
              <a:gd name="connsiteX87" fmla="*/ 325167 w 607215"/>
              <a:gd name="connsiteY87" fmla="*/ 44987 h 606369"/>
              <a:gd name="connsiteX88" fmla="*/ 325167 w 607215"/>
              <a:gd name="connsiteY88" fmla="*/ 146923 h 606369"/>
              <a:gd name="connsiteX89" fmla="*/ 303608 w 607215"/>
              <a:gd name="connsiteY89" fmla="*/ 168453 h 606369"/>
              <a:gd name="connsiteX90" fmla="*/ 282048 w 607215"/>
              <a:gd name="connsiteY90" fmla="*/ 146923 h 606369"/>
              <a:gd name="connsiteX91" fmla="*/ 282048 w 607215"/>
              <a:gd name="connsiteY91" fmla="*/ 44987 h 606369"/>
              <a:gd name="connsiteX92" fmla="*/ 303608 w 607215"/>
              <a:gd name="connsiteY92" fmla="*/ 1003 h 606369"/>
              <a:gd name="connsiteX93" fmla="*/ 421450 w 607215"/>
              <a:gd name="connsiteY93" fmla="*/ 24770 h 606369"/>
              <a:gd name="connsiteX94" fmla="*/ 517578 w 607215"/>
              <a:gd name="connsiteY94" fmla="*/ 89512 h 606369"/>
              <a:gd name="connsiteX95" fmla="*/ 582410 w 607215"/>
              <a:gd name="connsiteY95" fmla="*/ 185584 h 606369"/>
              <a:gd name="connsiteX96" fmla="*/ 606211 w 607215"/>
              <a:gd name="connsiteY96" fmla="*/ 303185 h 606369"/>
              <a:gd name="connsiteX97" fmla="*/ 582410 w 607215"/>
              <a:gd name="connsiteY97" fmla="*/ 420863 h 606369"/>
              <a:gd name="connsiteX98" fmla="*/ 517578 w 607215"/>
              <a:gd name="connsiteY98" fmla="*/ 516857 h 606369"/>
              <a:gd name="connsiteX99" fmla="*/ 421450 w 607215"/>
              <a:gd name="connsiteY99" fmla="*/ 581599 h 606369"/>
              <a:gd name="connsiteX100" fmla="*/ 303608 w 607215"/>
              <a:gd name="connsiteY100" fmla="*/ 605366 h 606369"/>
              <a:gd name="connsiteX101" fmla="*/ 185842 w 607215"/>
              <a:gd name="connsiteY101" fmla="*/ 581599 h 606369"/>
              <a:gd name="connsiteX102" fmla="*/ 89637 w 607215"/>
              <a:gd name="connsiteY102" fmla="*/ 516857 h 606369"/>
              <a:gd name="connsiteX103" fmla="*/ 24805 w 607215"/>
              <a:gd name="connsiteY103" fmla="*/ 420863 h 606369"/>
              <a:gd name="connsiteX104" fmla="*/ 1004 w 607215"/>
              <a:gd name="connsiteY104" fmla="*/ 303185 h 606369"/>
              <a:gd name="connsiteX105" fmla="*/ 24805 w 607215"/>
              <a:gd name="connsiteY105" fmla="*/ 185584 h 606369"/>
              <a:gd name="connsiteX106" fmla="*/ 89637 w 607215"/>
              <a:gd name="connsiteY106" fmla="*/ 89512 h 606369"/>
              <a:gd name="connsiteX107" fmla="*/ 185842 w 607215"/>
              <a:gd name="connsiteY107" fmla="*/ 24770 h 606369"/>
              <a:gd name="connsiteX108" fmla="*/ 303608 w 607215"/>
              <a:gd name="connsiteY108" fmla="*/ 1003 h 606369"/>
              <a:gd name="connsiteX109" fmla="*/ 303640 w 607215"/>
              <a:gd name="connsiteY109" fmla="*/ 565 h 606369"/>
              <a:gd name="connsiteX110" fmla="*/ 185640 w 607215"/>
              <a:gd name="connsiteY110" fmla="*/ 24330 h 606369"/>
              <a:gd name="connsiteX111" fmla="*/ 89354 w 607215"/>
              <a:gd name="connsiteY111" fmla="*/ 89220 h 606369"/>
              <a:gd name="connsiteX112" fmla="*/ 24366 w 607215"/>
              <a:gd name="connsiteY112" fmla="*/ 185360 h 606369"/>
              <a:gd name="connsiteX113" fmla="*/ 565 w 607215"/>
              <a:gd name="connsiteY113" fmla="*/ 303182 h 606369"/>
              <a:gd name="connsiteX114" fmla="*/ 24366 w 607215"/>
              <a:gd name="connsiteY114" fmla="*/ 421004 h 606369"/>
              <a:gd name="connsiteX115" fmla="*/ 89354 w 607215"/>
              <a:gd name="connsiteY115" fmla="*/ 517221 h 606369"/>
              <a:gd name="connsiteX116" fmla="*/ 185640 w 607215"/>
              <a:gd name="connsiteY116" fmla="*/ 582034 h 606369"/>
              <a:gd name="connsiteX117" fmla="*/ 303640 w 607215"/>
              <a:gd name="connsiteY117" fmla="*/ 605876 h 606369"/>
              <a:gd name="connsiteX118" fmla="*/ 421640 w 607215"/>
              <a:gd name="connsiteY118" fmla="*/ 582034 h 606369"/>
              <a:gd name="connsiteX119" fmla="*/ 518003 w 607215"/>
              <a:gd name="connsiteY119" fmla="*/ 517221 h 606369"/>
              <a:gd name="connsiteX120" fmla="*/ 582914 w 607215"/>
              <a:gd name="connsiteY120" fmla="*/ 421004 h 606369"/>
              <a:gd name="connsiteX121" fmla="*/ 606792 w 607215"/>
              <a:gd name="connsiteY121" fmla="*/ 303182 h 606369"/>
              <a:gd name="connsiteX122" fmla="*/ 582914 w 607215"/>
              <a:gd name="connsiteY122" fmla="*/ 185360 h 606369"/>
              <a:gd name="connsiteX123" fmla="*/ 518003 w 607215"/>
              <a:gd name="connsiteY123" fmla="*/ 89220 h 606369"/>
              <a:gd name="connsiteX124" fmla="*/ 421640 w 607215"/>
              <a:gd name="connsiteY124" fmla="*/ 24330 h 606369"/>
              <a:gd name="connsiteX125" fmla="*/ 303640 w 607215"/>
              <a:gd name="connsiteY125" fmla="*/ 565 h 606369"/>
              <a:gd name="connsiteX126" fmla="*/ 303608 w 607215"/>
              <a:gd name="connsiteY126" fmla="*/ 0 h 606369"/>
              <a:gd name="connsiteX127" fmla="*/ 421836 w 607215"/>
              <a:gd name="connsiteY127" fmla="*/ 23844 h 606369"/>
              <a:gd name="connsiteX128" fmla="*/ 518351 w 607215"/>
              <a:gd name="connsiteY128" fmla="*/ 88818 h 606369"/>
              <a:gd name="connsiteX129" fmla="*/ 583338 w 607215"/>
              <a:gd name="connsiteY129" fmla="*/ 185198 h 606369"/>
              <a:gd name="connsiteX130" fmla="*/ 607215 w 607215"/>
              <a:gd name="connsiteY130" fmla="*/ 303185 h 606369"/>
              <a:gd name="connsiteX131" fmla="*/ 583338 w 607215"/>
              <a:gd name="connsiteY131" fmla="*/ 421248 h 606369"/>
              <a:gd name="connsiteX132" fmla="*/ 518351 w 607215"/>
              <a:gd name="connsiteY132" fmla="*/ 517629 h 606369"/>
              <a:gd name="connsiteX133" fmla="*/ 421836 w 607215"/>
              <a:gd name="connsiteY133" fmla="*/ 582525 h 606369"/>
              <a:gd name="connsiteX134" fmla="*/ 303608 w 607215"/>
              <a:gd name="connsiteY134" fmla="*/ 606369 h 606369"/>
              <a:gd name="connsiteX135" fmla="*/ 185456 w 607215"/>
              <a:gd name="connsiteY135" fmla="*/ 582525 h 606369"/>
              <a:gd name="connsiteX136" fmla="*/ 88942 w 607215"/>
              <a:gd name="connsiteY136" fmla="*/ 517629 h 606369"/>
              <a:gd name="connsiteX137" fmla="*/ 23877 w 607215"/>
              <a:gd name="connsiteY137" fmla="*/ 421248 h 606369"/>
              <a:gd name="connsiteX138" fmla="*/ 0 w 607215"/>
              <a:gd name="connsiteY138" fmla="*/ 303185 h 606369"/>
              <a:gd name="connsiteX139" fmla="*/ 23877 w 607215"/>
              <a:gd name="connsiteY139" fmla="*/ 185198 h 606369"/>
              <a:gd name="connsiteX140" fmla="*/ 88942 w 607215"/>
              <a:gd name="connsiteY140" fmla="*/ 88818 h 606369"/>
              <a:gd name="connsiteX141" fmla="*/ 185456 w 607215"/>
              <a:gd name="connsiteY141" fmla="*/ 23844 h 606369"/>
              <a:gd name="connsiteX142" fmla="*/ 303608 w 607215"/>
              <a:gd name="connsiteY142" fmla="*/ 0 h 6063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Lst>
            <a:rect l="l" t="t" r="r" b="b"/>
            <a:pathLst>
              <a:path w="607215" h="606369">
                <a:moveTo>
                  <a:pt x="303643" y="280873"/>
                </a:moveTo>
                <a:cubicBezTo>
                  <a:pt x="315552" y="280873"/>
                  <a:pt x="325219" y="290523"/>
                  <a:pt x="325219" y="302335"/>
                </a:cubicBezTo>
                <a:cubicBezTo>
                  <a:pt x="325219" y="314223"/>
                  <a:pt x="315552" y="323873"/>
                  <a:pt x="303643" y="323873"/>
                </a:cubicBezTo>
                <a:cubicBezTo>
                  <a:pt x="291734" y="323873"/>
                  <a:pt x="282068" y="314223"/>
                  <a:pt x="282068" y="302335"/>
                </a:cubicBezTo>
                <a:cubicBezTo>
                  <a:pt x="282068" y="290523"/>
                  <a:pt x="291734" y="280873"/>
                  <a:pt x="303643" y="280873"/>
                </a:cubicBezTo>
                <a:close/>
                <a:moveTo>
                  <a:pt x="303678" y="280357"/>
                </a:moveTo>
                <a:cubicBezTo>
                  <a:pt x="291499" y="280357"/>
                  <a:pt x="281626" y="290214"/>
                  <a:pt x="281626" y="302374"/>
                </a:cubicBezTo>
                <a:cubicBezTo>
                  <a:pt x="281626" y="314534"/>
                  <a:pt x="291499" y="324391"/>
                  <a:pt x="303678" y="324391"/>
                </a:cubicBezTo>
                <a:cubicBezTo>
                  <a:pt x="315857" y="324391"/>
                  <a:pt x="325730" y="314534"/>
                  <a:pt x="325730" y="302374"/>
                </a:cubicBezTo>
                <a:cubicBezTo>
                  <a:pt x="325730" y="290214"/>
                  <a:pt x="315857" y="280357"/>
                  <a:pt x="303678" y="280357"/>
                </a:cubicBezTo>
                <a:close/>
                <a:moveTo>
                  <a:pt x="303643" y="279792"/>
                </a:moveTo>
                <a:cubicBezTo>
                  <a:pt x="316094" y="279792"/>
                  <a:pt x="326224" y="289905"/>
                  <a:pt x="326224" y="302335"/>
                </a:cubicBezTo>
                <a:cubicBezTo>
                  <a:pt x="326224" y="314841"/>
                  <a:pt x="316094" y="324954"/>
                  <a:pt x="303643" y="324954"/>
                </a:cubicBezTo>
                <a:cubicBezTo>
                  <a:pt x="291193" y="324954"/>
                  <a:pt x="281062" y="314841"/>
                  <a:pt x="281062" y="302335"/>
                </a:cubicBezTo>
                <a:cubicBezTo>
                  <a:pt x="281062" y="289905"/>
                  <a:pt x="291193" y="279792"/>
                  <a:pt x="303643" y="279792"/>
                </a:cubicBezTo>
                <a:close/>
                <a:moveTo>
                  <a:pt x="281043" y="46068"/>
                </a:moveTo>
                <a:cubicBezTo>
                  <a:pt x="220693" y="51315"/>
                  <a:pt x="163820" y="77783"/>
                  <a:pt x="120855" y="120687"/>
                </a:cubicBezTo>
                <a:cubicBezTo>
                  <a:pt x="77891" y="163591"/>
                  <a:pt x="51387" y="220385"/>
                  <a:pt x="46132" y="280652"/>
                </a:cubicBezTo>
                <a:lnTo>
                  <a:pt x="147128" y="280652"/>
                </a:lnTo>
                <a:cubicBezTo>
                  <a:pt x="159647" y="280652"/>
                  <a:pt x="169770" y="290761"/>
                  <a:pt x="169770" y="303185"/>
                </a:cubicBezTo>
                <a:cubicBezTo>
                  <a:pt x="169770" y="315608"/>
                  <a:pt x="159647" y="325717"/>
                  <a:pt x="147128" y="325717"/>
                </a:cubicBezTo>
                <a:lnTo>
                  <a:pt x="46132" y="325717"/>
                </a:lnTo>
                <a:cubicBezTo>
                  <a:pt x="51387" y="385984"/>
                  <a:pt x="77891" y="442778"/>
                  <a:pt x="120855" y="485682"/>
                </a:cubicBezTo>
                <a:cubicBezTo>
                  <a:pt x="163820" y="528586"/>
                  <a:pt x="220693" y="555131"/>
                  <a:pt x="281043" y="560301"/>
                </a:cubicBezTo>
                <a:lnTo>
                  <a:pt x="281043" y="459446"/>
                </a:lnTo>
                <a:cubicBezTo>
                  <a:pt x="281043" y="447022"/>
                  <a:pt x="291167" y="436913"/>
                  <a:pt x="303608" y="436913"/>
                </a:cubicBezTo>
                <a:cubicBezTo>
                  <a:pt x="316049" y="436913"/>
                  <a:pt x="326172" y="447022"/>
                  <a:pt x="326172" y="459446"/>
                </a:cubicBezTo>
                <a:lnTo>
                  <a:pt x="326172" y="560301"/>
                </a:lnTo>
                <a:cubicBezTo>
                  <a:pt x="386522" y="555131"/>
                  <a:pt x="443395" y="528586"/>
                  <a:pt x="486360" y="485682"/>
                </a:cubicBezTo>
                <a:cubicBezTo>
                  <a:pt x="529324" y="442778"/>
                  <a:pt x="555906" y="385984"/>
                  <a:pt x="561083" y="325717"/>
                </a:cubicBezTo>
                <a:lnTo>
                  <a:pt x="460087" y="325717"/>
                </a:lnTo>
                <a:cubicBezTo>
                  <a:pt x="447645" y="325717"/>
                  <a:pt x="437523" y="315608"/>
                  <a:pt x="437523" y="303185"/>
                </a:cubicBezTo>
                <a:cubicBezTo>
                  <a:pt x="437523" y="290761"/>
                  <a:pt x="447645" y="280652"/>
                  <a:pt x="460087" y="280652"/>
                </a:cubicBezTo>
                <a:lnTo>
                  <a:pt x="561083" y="280652"/>
                </a:lnTo>
                <a:cubicBezTo>
                  <a:pt x="555906" y="220385"/>
                  <a:pt x="529324" y="163591"/>
                  <a:pt x="486360" y="120687"/>
                </a:cubicBezTo>
                <a:cubicBezTo>
                  <a:pt x="443395" y="77783"/>
                  <a:pt x="386522" y="51315"/>
                  <a:pt x="326172" y="46068"/>
                </a:cubicBezTo>
                <a:lnTo>
                  <a:pt x="326172" y="146923"/>
                </a:lnTo>
                <a:cubicBezTo>
                  <a:pt x="326172" y="159424"/>
                  <a:pt x="316049" y="169533"/>
                  <a:pt x="303608" y="169533"/>
                </a:cubicBezTo>
                <a:cubicBezTo>
                  <a:pt x="291167" y="169533"/>
                  <a:pt x="281043" y="159424"/>
                  <a:pt x="281043" y="146923"/>
                </a:cubicBezTo>
                <a:close/>
                <a:moveTo>
                  <a:pt x="281617" y="45548"/>
                </a:moveTo>
                <a:lnTo>
                  <a:pt x="281617" y="146935"/>
                </a:lnTo>
                <a:cubicBezTo>
                  <a:pt x="281617" y="159126"/>
                  <a:pt x="291431" y="169002"/>
                  <a:pt x="303640" y="169002"/>
                </a:cubicBezTo>
                <a:cubicBezTo>
                  <a:pt x="315850" y="169002"/>
                  <a:pt x="325741" y="159126"/>
                  <a:pt x="325741" y="146935"/>
                </a:cubicBezTo>
                <a:lnTo>
                  <a:pt x="325741" y="45548"/>
                </a:lnTo>
                <a:cubicBezTo>
                  <a:pt x="451159" y="56119"/>
                  <a:pt x="551077" y="155963"/>
                  <a:pt x="561663" y="281192"/>
                </a:cubicBezTo>
                <a:lnTo>
                  <a:pt x="460123" y="281192"/>
                </a:lnTo>
                <a:cubicBezTo>
                  <a:pt x="447914" y="281192"/>
                  <a:pt x="438022" y="290991"/>
                  <a:pt x="438022" y="303182"/>
                </a:cubicBezTo>
                <a:cubicBezTo>
                  <a:pt x="438022" y="315373"/>
                  <a:pt x="447914" y="325250"/>
                  <a:pt x="460123" y="325250"/>
                </a:cubicBezTo>
                <a:lnTo>
                  <a:pt x="561663" y="325250"/>
                </a:lnTo>
                <a:cubicBezTo>
                  <a:pt x="551077" y="450478"/>
                  <a:pt x="451159" y="550245"/>
                  <a:pt x="325741" y="560815"/>
                </a:cubicBezTo>
                <a:lnTo>
                  <a:pt x="325741" y="459429"/>
                </a:lnTo>
                <a:cubicBezTo>
                  <a:pt x="325741" y="447238"/>
                  <a:pt x="315850" y="437361"/>
                  <a:pt x="303640" y="437361"/>
                </a:cubicBezTo>
                <a:cubicBezTo>
                  <a:pt x="291431" y="437361"/>
                  <a:pt x="281617" y="447238"/>
                  <a:pt x="281617" y="459429"/>
                </a:cubicBezTo>
                <a:lnTo>
                  <a:pt x="281617" y="560815"/>
                </a:lnTo>
                <a:cubicBezTo>
                  <a:pt x="156198" y="550245"/>
                  <a:pt x="56203" y="450478"/>
                  <a:pt x="45616" y="325250"/>
                </a:cubicBezTo>
                <a:lnTo>
                  <a:pt x="147157" y="325250"/>
                </a:lnTo>
                <a:cubicBezTo>
                  <a:pt x="159366" y="325250"/>
                  <a:pt x="169257" y="315373"/>
                  <a:pt x="169257" y="303182"/>
                </a:cubicBezTo>
                <a:cubicBezTo>
                  <a:pt x="169257" y="290991"/>
                  <a:pt x="159366" y="281192"/>
                  <a:pt x="147157" y="281192"/>
                </a:cubicBezTo>
                <a:lnTo>
                  <a:pt x="45616" y="281192"/>
                </a:lnTo>
                <a:cubicBezTo>
                  <a:pt x="56203" y="155963"/>
                  <a:pt x="156198" y="56119"/>
                  <a:pt x="281617" y="45548"/>
                </a:cubicBezTo>
                <a:close/>
                <a:moveTo>
                  <a:pt x="281508" y="44987"/>
                </a:moveTo>
                <a:cubicBezTo>
                  <a:pt x="220693" y="50158"/>
                  <a:pt x="163433" y="76780"/>
                  <a:pt x="120160" y="119993"/>
                </a:cubicBezTo>
                <a:cubicBezTo>
                  <a:pt x="76887" y="163205"/>
                  <a:pt x="50228" y="220385"/>
                  <a:pt x="45050" y="281115"/>
                </a:cubicBezTo>
                <a:lnTo>
                  <a:pt x="45050" y="281655"/>
                </a:lnTo>
                <a:lnTo>
                  <a:pt x="147128" y="281655"/>
                </a:lnTo>
                <a:cubicBezTo>
                  <a:pt x="159029" y="281655"/>
                  <a:pt x="168688" y="291301"/>
                  <a:pt x="168688" y="303185"/>
                </a:cubicBezTo>
                <a:cubicBezTo>
                  <a:pt x="168688" y="315068"/>
                  <a:pt x="159029" y="324714"/>
                  <a:pt x="147128" y="324714"/>
                </a:cubicBezTo>
                <a:lnTo>
                  <a:pt x="45050" y="324714"/>
                </a:lnTo>
                <a:lnTo>
                  <a:pt x="45050" y="325254"/>
                </a:lnTo>
                <a:cubicBezTo>
                  <a:pt x="50228" y="385984"/>
                  <a:pt x="76887" y="443241"/>
                  <a:pt x="120160" y="486454"/>
                </a:cubicBezTo>
                <a:cubicBezTo>
                  <a:pt x="163433" y="529666"/>
                  <a:pt x="220693" y="556289"/>
                  <a:pt x="281508" y="561382"/>
                </a:cubicBezTo>
                <a:lnTo>
                  <a:pt x="282048" y="561459"/>
                </a:lnTo>
                <a:lnTo>
                  <a:pt x="282048" y="459446"/>
                </a:lnTo>
                <a:cubicBezTo>
                  <a:pt x="282048" y="447562"/>
                  <a:pt x="291708" y="437916"/>
                  <a:pt x="303608" y="437916"/>
                </a:cubicBezTo>
                <a:cubicBezTo>
                  <a:pt x="315508" y="437916"/>
                  <a:pt x="325167" y="447562"/>
                  <a:pt x="325167" y="459446"/>
                </a:cubicBezTo>
                <a:lnTo>
                  <a:pt x="325167" y="561459"/>
                </a:lnTo>
                <a:lnTo>
                  <a:pt x="325708" y="561382"/>
                </a:lnTo>
                <a:cubicBezTo>
                  <a:pt x="386522" y="556289"/>
                  <a:pt x="443859" y="529666"/>
                  <a:pt x="487132" y="486454"/>
                </a:cubicBezTo>
                <a:cubicBezTo>
                  <a:pt x="530405" y="443241"/>
                  <a:pt x="557065" y="385984"/>
                  <a:pt x="562165" y="325254"/>
                </a:cubicBezTo>
                <a:lnTo>
                  <a:pt x="562242" y="324714"/>
                </a:lnTo>
                <a:lnTo>
                  <a:pt x="460087" y="324714"/>
                </a:lnTo>
                <a:cubicBezTo>
                  <a:pt x="448186" y="324714"/>
                  <a:pt x="438527" y="315068"/>
                  <a:pt x="438527" y="303185"/>
                </a:cubicBezTo>
                <a:cubicBezTo>
                  <a:pt x="438527" y="291301"/>
                  <a:pt x="448186" y="281655"/>
                  <a:pt x="460087" y="281655"/>
                </a:cubicBezTo>
                <a:lnTo>
                  <a:pt x="562242" y="281655"/>
                </a:lnTo>
                <a:lnTo>
                  <a:pt x="562165" y="281115"/>
                </a:lnTo>
                <a:cubicBezTo>
                  <a:pt x="557065" y="220385"/>
                  <a:pt x="530405" y="163205"/>
                  <a:pt x="487132" y="119993"/>
                </a:cubicBezTo>
                <a:cubicBezTo>
                  <a:pt x="443859" y="76780"/>
                  <a:pt x="386522" y="50158"/>
                  <a:pt x="325708" y="44987"/>
                </a:cubicBezTo>
                <a:lnTo>
                  <a:pt x="325167" y="44987"/>
                </a:lnTo>
                <a:lnTo>
                  <a:pt x="325167" y="146923"/>
                </a:lnTo>
                <a:cubicBezTo>
                  <a:pt x="325167" y="158807"/>
                  <a:pt x="315508" y="168453"/>
                  <a:pt x="303608" y="168453"/>
                </a:cubicBezTo>
                <a:cubicBezTo>
                  <a:pt x="291708" y="168453"/>
                  <a:pt x="282048" y="158807"/>
                  <a:pt x="282048" y="146923"/>
                </a:cubicBezTo>
                <a:lnTo>
                  <a:pt x="282048" y="44987"/>
                </a:lnTo>
                <a:close/>
                <a:moveTo>
                  <a:pt x="303608" y="1003"/>
                </a:moveTo>
                <a:cubicBezTo>
                  <a:pt x="344485" y="1003"/>
                  <a:pt x="384049" y="9028"/>
                  <a:pt x="421450" y="24770"/>
                </a:cubicBezTo>
                <a:cubicBezTo>
                  <a:pt x="457459" y="40049"/>
                  <a:pt x="489837" y="61810"/>
                  <a:pt x="517578" y="89512"/>
                </a:cubicBezTo>
                <a:cubicBezTo>
                  <a:pt x="545396" y="117292"/>
                  <a:pt x="567188" y="149547"/>
                  <a:pt x="582410" y="185584"/>
                </a:cubicBezTo>
                <a:cubicBezTo>
                  <a:pt x="598174" y="222855"/>
                  <a:pt x="606211" y="262441"/>
                  <a:pt x="606211" y="303185"/>
                </a:cubicBezTo>
                <a:cubicBezTo>
                  <a:pt x="606211" y="344005"/>
                  <a:pt x="598174" y="383514"/>
                  <a:pt x="582410" y="420863"/>
                </a:cubicBezTo>
                <a:cubicBezTo>
                  <a:pt x="567188" y="456822"/>
                  <a:pt x="545396" y="489154"/>
                  <a:pt x="517578" y="516857"/>
                </a:cubicBezTo>
                <a:cubicBezTo>
                  <a:pt x="489837" y="544637"/>
                  <a:pt x="457459" y="566397"/>
                  <a:pt x="421450" y="581599"/>
                </a:cubicBezTo>
                <a:cubicBezTo>
                  <a:pt x="384049" y="597341"/>
                  <a:pt x="344485" y="605366"/>
                  <a:pt x="303608" y="605366"/>
                </a:cubicBezTo>
                <a:cubicBezTo>
                  <a:pt x="262807" y="605366"/>
                  <a:pt x="223166" y="597341"/>
                  <a:pt x="185842" y="581599"/>
                </a:cubicBezTo>
                <a:cubicBezTo>
                  <a:pt x="149756" y="566397"/>
                  <a:pt x="117455" y="544637"/>
                  <a:pt x="89637" y="516857"/>
                </a:cubicBezTo>
                <a:cubicBezTo>
                  <a:pt x="61896" y="489154"/>
                  <a:pt x="40105" y="456822"/>
                  <a:pt x="24805" y="420863"/>
                </a:cubicBezTo>
                <a:cubicBezTo>
                  <a:pt x="9041" y="383514"/>
                  <a:pt x="1004" y="344005"/>
                  <a:pt x="1004" y="303185"/>
                </a:cubicBezTo>
                <a:cubicBezTo>
                  <a:pt x="1004" y="262441"/>
                  <a:pt x="9041" y="222855"/>
                  <a:pt x="24805" y="185584"/>
                </a:cubicBezTo>
                <a:cubicBezTo>
                  <a:pt x="40105" y="149547"/>
                  <a:pt x="61896" y="117292"/>
                  <a:pt x="89637" y="89512"/>
                </a:cubicBezTo>
                <a:cubicBezTo>
                  <a:pt x="117455" y="61810"/>
                  <a:pt x="149756" y="40049"/>
                  <a:pt x="185842" y="24770"/>
                </a:cubicBezTo>
                <a:cubicBezTo>
                  <a:pt x="223166" y="9028"/>
                  <a:pt x="262807" y="1003"/>
                  <a:pt x="303608" y="1003"/>
                </a:cubicBezTo>
                <a:close/>
                <a:moveTo>
                  <a:pt x="303640" y="565"/>
                </a:moveTo>
                <a:cubicBezTo>
                  <a:pt x="262761" y="565"/>
                  <a:pt x="223041" y="8512"/>
                  <a:pt x="185640" y="24330"/>
                </a:cubicBezTo>
                <a:cubicBezTo>
                  <a:pt x="149552" y="39607"/>
                  <a:pt x="117174" y="61366"/>
                  <a:pt x="89354" y="89220"/>
                </a:cubicBezTo>
                <a:cubicBezTo>
                  <a:pt x="61458" y="116997"/>
                  <a:pt x="39666" y="149327"/>
                  <a:pt x="24366" y="185360"/>
                </a:cubicBezTo>
                <a:cubicBezTo>
                  <a:pt x="8524" y="222705"/>
                  <a:pt x="565" y="262365"/>
                  <a:pt x="565" y="303182"/>
                </a:cubicBezTo>
                <a:cubicBezTo>
                  <a:pt x="565" y="343999"/>
                  <a:pt x="8524" y="383659"/>
                  <a:pt x="24366" y="421004"/>
                </a:cubicBezTo>
                <a:cubicBezTo>
                  <a:pt x="39666" y="457037"/>
                  <a:pt x="61458" y="489444"/>
                  <a:pt x="89354" y="517221"/>
                </a:cubicBezTo>
                <a:cubicBezTo>
                  <a:pt x="117174" y="544998"/>
                  <a:pt x="149552" y="566834"/>
                  <a:pt x="185640" y="582034"/>
                </a:cubicBezTo>
                <a:cubicBezTo>
                  <a:pt x="223041" y="597852"/>
                  <a:pt x="262761" y="605876"/>
                  <a:pt x="303640" y="605876"/>
                </a:cubicBezTo>
                <a:cubicBezTo>
                  <a:pt x="344596" y="605876"/>
                  <a:pt x="384239" y="597852"/>
                  <a:pt x="421640" y="582034"/>
                </a:cubicBezTo>
                <a:cubicBezTo>
                  <a:pt x="457728" y="566834"/>
                  <a:pt x="490183" y="544998"/>
                  <a:pt x="518003" y="517221"/>
                </a:cubicBezTo>
                <a:cubicBezTo>
                  <a:pt x="545822" y="489444"/>
                  <a:pt x="567691" y="457037"/>
                  <a:pt x="582914" y="421004"/>
                </a:cubicBezTo>
                <a:cubicBezTo>
                  <a:pt x="598756" y="383659"/>
                  <a:pt x="606792" y="343999"/>
                  <a:pt x="606792" y="303182"/>
                </a:cubicBezTo>
                <a:cubicBezTo>
                  <a:pt x="606792" y="262365"/>
                  <a:pt x="598756" y="222705"/>
                  <a:pt x="582914" y="185360"/>
                </a:cubicBezTo>
                <a:cubicBezTo>
                  <a:pt x="567691" y="149327"/>
                  <a:pt x="545822" y="116997"/>
                  <a:pt x="518003" y="89220"/>
                </a:cubicBezTo>
                <a:cubicBezTo>
                  <a:pt x="490183" y="61366"/>
                  <a:pt x="457728" y="39607"/>
                  <a:pt x="421640" y="24330"/>
                </a:cubicBezTo>
                <a:cubicBezTo>
                  <a:pt x="384239" y="8512"/>
                  <a:pt x="344519" y="565"/>
                  <a:pt x="303640" y="565"/>
                </a:cubicBezTo>
                <a:close/>
                <a:moveTo>
                  <a:pt x="303608" y="0"/>
                </a:moveTo>
                <a:cubicBezTo>
                  <a:pt x="344563" y="0"/>
                  <a:pt x="384359" y="8025"/>
                  <a:pt x="421836" y="23844"/>
                </a:cubicBezTo>
                <a:cubicBezTo>
                  <a:pt x="458000" y="39123"/>
                  <a:pt x="490455" y="60961"/>
                  <a:pt x="518351" y="88818"/>
                </a:cubicBezTo>
                <a:cubicBezTo>
                  <a:pt x="546169" y="116674"/>
                  <a:pt x="568038" y="149084"/>
                  <a:pt x="583338" y="185198"/>
                </a:cubicBezTo>
                <a:cubicBezTo>
                  <a:pt x="599179" y="222546"/>
                  <a:pt x="607215" y="262286"/>
                  <a:pt x="607215" y="303185"/>
                </a:cubicBezTo>
                <a:cubicBezTo>
                  <a:pt x="607215" y="344083"/>
                  <a:pt x="599179" y="383823"/>
                  <a:pt x="583338" y="421248"/>
                </a:cubicBezTo>
                <a:cubicBezTo>
                  <a:pt x="568038" y="457362"/>
                  <a:pt x="546169" y="489772"/>
                  <a:pt x="518351" y="517629"/>
                </a:cubicBezTo>
                <a:cubicBezTo>
                  <a:pt x="490455" y="545408"/>
                  <a:pt x="458000" y="567246"/>
                  <a:pt x="421836" y="582525"/>
                </a:cubicBezTo>
                <a:cubicBezTo>
                  <a:pt x="384359" y="598344"/>
                  <a:pt x="344563" y="606369"/>
                  <a:pt x="303608" y="606369"/>
                </a:cubicBezTo>
                <a:cubicBezTo>
                  <a:pt x="262652" y="606369"/>
                  <a:pt x="222856" y="598344"/>
                  <a:pt x="185456" y="582525"/>
                </a:cubicBezTo>
                <a:cubicBezTo>
                  <a:pt x="149292" y="567246"/>
                  <a:pt x="116760" y="545408"/>
                  <a:pt x="88942" y="517629"/>
                </a:cubicBezTo>
                <a:cubicBezTo>
                  <a:pt x="61046" y="489772"/>
                  <a:pt x="39177" y="457362"/>
                  <a:pt x="23877" y="421248"/>
                </a:cubicBezTo>
                <a:cubicBezTo>
                  <a:pt x="8036" y="383823"/>
                  <a:pt x="0" y="344083"/>
                  <a:pt x="0" y="303185"/>
                </a:cubicBezTo>
                <a:cubicBezTo>
                  <a:pt x="0" y="262286"/>
                  <a:pt x="8036" y="222546"/>
                  <a:pt x="23877" y="185198"/>
                </a:cubicBezTo>
                <a:cubicBezTo>
                  <a:pt x="39177" y="149084"/>
                  <a:pt x="61046" y="116674"/>
                  <a:pt x="88942" y="88818"/>
                </a:cubicBezTo>
                <a:cubicBezTo>
                  <a:pt x="116760" y="60961"/>
                  <a:pt x="149292" y="39123"/>
                  <a:pt x="185456" y="23844"/>
                </a:cubicBezTo>
                <a:cubicBezTo>
                  <a:pt x="222856" y="8025"/>
                  <a:pt x="262652" y="0"/>
                  <a:pt x="303608"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dirty="0"/>
          </a:p>
        </p:txBody>
      </p:sp>
      <p:sp>
        <p:nvSpPr>
          <p:cNvPr id="98" name="文本框 97">
            <a:extLst>
              <a:ext uri="{FF2B5EF4-FFF2-40B4-BE49-F238E27FC236}">
                <a16:creationId xmlns:a16="http://schemas.microsoft.com/office/drawing/2014/main" id="{4077F8B8-318D-4A9D-BF31-A5E27A744099}"/>
              </a:ext>
            </a:extLst>
          </p:cNvPr>
          <p:cNvSpPr txBox="1"/>
          <p:nvPr/>
        </p:nvSpPr>
        <p:spPr>
          <a:xfrm>
            <a:off x="373082" y="2808021"/>
            <a:ext cx="1660612" cy="338554"/>
          </a:xfrm>
          <a:prstGeom prst="rect">
            <a:avLst/>
          </a:prstGeom>
          <a:noFill/>
        </p:spPr>
        <p:txBody>
          <a:bodyPr wrap="square" rtlCol="0">
            <a:spAutoFit/>
          </a:bodyPr>
          <a:lstStyle/>
          <a:p>
            <a:r>
              <a:rPr lang="zh-CN" altLang="en-US" sz="1600" dirty="0">
                <a:solidFill>
                  <a:schemeClr val="bg1"/>
                </a:solidFill>
                <a:latin typeface="思源黑体 CN Regular" panose="020B0500000000000000" pitchFamily="34" charset="-122"/>
                <a:ea typeface="思源黑体 CN Regular" panose="020B0500000000000000" pitchFamily="34" charset="-122"/>
              </a:rPr>
              <a:t>研究目标和内容</a:t>
            </a:r>
          </a:p>
        </p:txBody>
      </p:sp>
      <p:sp>
        <p:nvSpPr>
          <p:cNvPr id="99" name="任意矩形：003">
            <a:extLst>
              <a:ext uri="{FF2B5EF4-FFF2-40B4-BE49-F238E27FC236}">
                <a16:creationId xmlns:a16="http://schemas.microsoft.com/office/drawing/2014/main" id="{2B57105E-3AA1-4D43-9703-CE81F3875AAF}"/>
              </a:ext>
            </a:extLst>
          </p:cNvPr>
          <p:cNvSpPr/>
          <p:nvPr/>
        </p:nvSpPr>
        <p:spPr>
          <a:xfrm rot="10800000" flipH="1" flipV="1">
            <a:off x="145020" y="3571293"/>
            <a:ext cx="199667" cy="199477"/>
          </a:xfrm>
          <a:custGeom>
            <a:avLst/>
            <a:gdLst>
              <a:gd name="connsiteX0" fmla="*/ 320200 w 604886"/>
              <a:gd name="connsiteY0" fmla="*/ 166778 h 604313"/>
              <a:gd name="connsiteX1" fmla="*/ 338200 w 604886"/>
              <a:gd name="connsiteY1" fmla="*/ 168153 h 604313"/>
              <a:gd name="connsiteX2" fmla="*/ 394904 w 604886"/>
              <a:gd name="connsiteY2" fmla="*/ 210003 h 604313"/>
              <a:gd name="connsiteX3" fmla="*/ 448997 w 604886"/>
              <a:gd name="connsiteY3" fmla="*/ 297466 h 604313"/>
              <a:gd name="connsiteX4" fmla="*/ 433479 w 604886"/>
              <a:gd name="connsiteY4" fmla="*/ 381599 h 604313"/>
              <a:gd name="connsiteX5" fmla="*/ 230304 w 604886"/>
              <a:gd name="connsiteY5" fmla="*/ 584474 h 604313"/>
              <a:gd name="connsiteX6" fmla="*/ 177952 w 604886"/>
              <a:gd name="connsiteY6" fmla="*/ 604313 h 604313"/>
              <a:gd name="connsiteX7" fmla="*/ 58454 w 604886"/>
              <a:gd name="connsiteY7" fmla="*/ 545956 h 604313"/>
              <a:gd name="connsiteX8" fmla="*/ 19733 w 604886"/>
              <a:gd name="connsiteY8" fmla="*/ 374359 h 604313"/>
              <a:gd name="connsiteX9" fmla="*/ 93549 w 604886"/>
              <a:gd name="connsiteY9" fmla="*/ 300652 h 604313"/>
              <a:gd name="connsiteX10" fmla="*/ 127049 w 604886"/>
              <a:gd name="connsiteY10" fmla="*/ 300652 h 604313"/>
              <a:gd name="connsiteX11" fmla="*/ 127049 w 604886"/>
              <a:gd name="connsiteY11" fmla="*/ 333958 h 604313"/>
              <a:gd name="connsiteX12" fmla="*/ 53233 w 604886"/>
              <a:gd name="connsiteY12" fmla="*/ 407665 h 604313"/>
              <a:gd name="connsiteX13" fmla="*/ 91809 w 604886"/>
              <a:gd name="connsiteY13" fmla="*/ 512650 h 604313"/>
              <a:gd name="connsiteX14" fmla="*/ 196950 w 604886"/>
              <a:gd name="connsiteY14" fmla="*/ 551169 h 604313"/>
              <a:gd name="connsiteX15" fmla="*/ 400124 w 604886"/>
              <a:gd name="connsiteY15" fmla="*/ 348294 h 604313"/>
              <a:gd name="connsiteX16" fmla="*/ 403460 w 604886"/>
              <a:gd name="connsiteY16" fmla="*/ 310065 h 604313"/>
              <a:gd name="connsiteX17" fmla="*/ 361549 w 604886"/>
              <a:gd name="connsiteY17" fmla="*/ 243308 h 604313"/>
              <a:gd name="connsiteX18" fmla="*/ 316737 w 604886"/>
              <a:gd name="connsiteY18" fmla="*/ 210147 h 604313"/>
              <a:gd name="connsiteX19" fmla="*/ 306441 w 604886"/>
              <a:gd name="connsiteY19" fmla="*/ 178435 h 604313"/>
              <a:gd name="connsiteX20" fmla="*/ 320200 w 604886"/>
              <a:gd name="connsiteY20" fmla="*/ 166778 h 604313"/>
              <a:gd name="connsiteX21" fmla="*/ 411085 w 604886"/>
              <a:gd name="connsiteY21" fmla="*/ 1388 h 604313"/>
              <a:gd name="connsiteX22" fmla="*/ 458862 w 604886"/>
              <a:gd name="connsiteY22" fmla="*/ 4683 h 604313"/>
              <a:gd name="connsiteX23" fmla="*/ 546442 w 604886"/>
              <a:gd name="connsiteY23" fmla="*/ 58698 h 604313"/>
              <a:gd name="connsiteX24" fmla="*/ 585156 w 604886"/>
              <a:gd name="connsiteY24" fmla="*/ 230302 h 604313"/>
              <a:gd name="connsiteX25" fmla="*/ 511352 w 604886"/>
              <a:gd name="connsiteY25" fmla="*/ 304012 h 604313"/>
              <a:gd name="connsiteX26" fmla="*/ 477857 w 604886"/>
              <a:gd name="connsiteY26" fmla="*/ 304012 h 604313"/>
              <a:gd name="connsiteX27" fmla="*/ 477857 w 604886"/>
              <a:gd name="connsiteY27" fmla="*/ 270705 h 604313"/>
              <a:gd name="connsiteX28" fmla="*/ 551662 w 604886"/>
              <a:gd name="connsiteY28" fmla="*/ 196995 h 604313"/>
              <a:gd name="connsiteX29" fmla="*/ 513092 w 604886"/>
              <a:gd name="connsiteY29" fmla="*/ 92005 h 604313"/>
              <a:gd name="connsiteX30" fmla="*/ 446247 w 604886"/>
              <a:gd name="connsiteY30" fmla="*/ 50154 h 604313"/>
              <a:gd name="connsiteX31" fmla="*/ 407968 w 604886"/>
              <a:gd name="connsiteY31" fmla="*/ 53485 h 604313"/>
              <a:gd name="connsiteX32" fmla="*/ 204825 w 604886"/>
              <a:gd name="connsiteY32" fmla="*/ 256368 h 604313"/>
              <a:gd name="connsiteX33" fmla="*/ 201490 w 604886"/>
              <a:gd name="connsiteY33" fmla="*/ 294599 h 604313"/>
              <a:gd name="connsiteX34" fmla="*/ 243394 w 604886"/>
              <a:gd name="connsiteY34" fmla="*/ 361358 h 604313"/>
              <a:gd name="connsiteX35" fmla="*/ 288199 w 604886"/>
              <a:gd name="connsiteY35" fmla="*/ 394520 h 604313"/>
              <a:gd name="connsiteX36" fmla="*/ 298494 w 604886"/>
              <a:gd name="connsiteY36" fmla="*/ 426234 h 604313"/>
              <a:gd name="connsiteX37" fmla="*/ 277469 w 604886"/>
              <a:gd name="connsiteY37" fmla="*/ 438978 h 604313"/>
              <a:gd name="connsiteX38" fmla="*/ 266739 w 604886"/>
              <a:gd name="connsiteY38" fmla="*/ 436516 h 604313"/>
              <a:gd name="connsiteX39" fmla="*/ 210044 w 604886"/>
              <a:gd name="connsiteY39" fmla="*/ 394665 h 604313"/>
              <a:gd name="connsiteX40" fmla="*/ 155960 w 604886"/>
              <a:gd name="connsiteY40" fmla="*/ 307198 h 604313"/>
              <a:gd name="connsiteX41" fmla="*/ 171330 w 604886"/>
              <a:gd name="connsiteY41" fmla="*/ 223061 h 604313"/>
              <a:gd name="connsiteX42" fmla="*/ 374618 w 604886"/>
              <a:gd name="connsiteY42" fmla="*/ 20033 h 604313"/>
              <a:gd name="connsiteX43" fmla="*/ 411085 w 604886"/>
              <a:gd name="connsiteY43" fmla="*/ 1388 h 6043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Lst>
            <a:rect l="l" t="t" r="r" b="b"/>
            <a:pathLst>
              <a:path w="604886" h="604313">
                <a:moveTo>
                  <a:pt x="320200" y="166778"/>
                </a:moveTo>
                <a:cubicBezTo>
                  <a:pt x="325946" y="164931"/>
                  <a:pt x="332399" y="165257"/>
                  <a:pt x="338200" y="168153"/>
                </a:cubicBezTo>
                <a:cubicBezTo>
                  <a:pt x="358068" y="178290"/>
                  <a:pt x="377646" y="192771"/>
                  <a:pt x="394904" y="210003"/>
                </a:cubicBezTo>
                <a:cubicBezTo>
                  <a:pt x="421443" y="236358"/>
                  <a:pt x="440585" y="267491"/>
                  <a:pt x="448997" y="297466"/>
                </a:cubicBezTo>
                <a:cubicBezTo>
                  <a:pt x="458568" y="332075"/>
                  <a:pt x="453202" y="362050"/>
                  <a:pt x="433479" y="381599"/>
                </a:cubicBezTo>
                <a:lnTo>
                  <a:pt x="230304" y="584474"/>
                </a:lnTo>
                <a:cubicBezTo>
                  <a:pt x="216962" y="597942"/>
                  <a:pt x="198690" y="604313"/>
                  <a:pt x="177952" y="604313"/>
                </a:cubicBezTo>
                <a:cubicBezTo>
                  <a:pt x="140971" y="604313"/>
                  <a:pt x="96305" y="583750"/>
                  <a:pt x="58454" y="545956"/>
                </a:cubicBezTo>
                <a:cubicBezTo>
                  <a:pt x="-570" y="487019"/>
                  <a:pt x="-17537" y="411575"/>
                  <a:pt x="19733" y="374359"/>
                </a:cubicBezTo>
                <a:lnTo>
                  <a:pt x="93549" y="300652"/>
                </a:lnTo>
                <a:cubicBezTo>
                  <a:pt x="102831" y="291384"/>
                  <a:pt x="117768" y="291384"/>
                  <a:pt x="127049" y="300652"/>
                </a:cubicBezTo>
                <a:cubicBezTo>
                  <a:pt x="136186" y="309775"/>
                  <a:pt x="136186" y="324690"/>
                  <a:pt x="127049" y="333958"/>
                </a:cubicBezTo>
                <a:lnTo>
                  <a:pt x="53233" y="407665"/>
                </a:lnTo>
                <a:cubicBezTo>
                  <a:pt x="37426" y="423304"/>
                  <a:pt x="50623" y="471525"/>
                  <a:pt x="91809" y="512650"/>
                </a:cubicBezTo>
                <a:cubicBezTo>
                  <a:pt x="132995" y="553631"/>
                  <a:pt x="181287" y="566808"/>
                  <a:pt x="196950" y="551169"/>
                </a:cubicBezTo>
                <a:lnTo>
                  <a:pt x="400124" y="348294"/>
                </a:lnTo>
                <a:cubicBezTo>
                  <a:pt x="407085" y="341343"/>
                  <a:pt x="408246" y="327441"/>
                  <a:pt x="403460" y="310065"/>
                </a:cubicBezTo>
                <a:cubicBezTo>
                  <a:pt x="397369" y="288199"/>
                  <a:pt x="381997" y="263871"/>
                  <a:pt x="361549" y="243308"/>
                </a:cubicBezTo>
                <a:cubicBezTo>
                  <a:pt x="347627" y="229552"/>
                  <a:pt x="332254" y="218112"/>
                  <a:pt x="316737" y="210147"/>
                </a:cubicBezTo>
                <a:cubicBezTo>
                  <a:pt x="305135" y="204355"/>
                  <a:pt x="300495" y="190019"/>
                  <a:pt x="306441" y="178435"/>
                </a:cubicBezTo>
                <a:cubicBezTo>
                  <a:pt x="309414" y="172642"/>
                  <a:pt x="314453" y="168624"/>
                  <a:pt x="320200" y="166778"/>
                </a:cubicBezTo>
                <a:close/>
                <a:moveTo>
                  <a:pt x="411085" y="1388"/>
                </a:moveTo>
                <a:cubicBezTo>
                  <a:pt x="425368" y="-1219"/>
                  <a:pt x="441535" y="-169"/>
                  <a:pt x="458862" y="4683"/>
                </a:cubicBezTo>
                <a:cubicBezTo>
                  <a:pt x="488877" y="13082"/>
                  <a:pt x="519907" y="32197"/>
                  <a:pt x="546442" y="58698"/>
                </a:cubicBezTo>
                <a:cubicBezTo>
                  <a:pt x="605456" y="117637"/>
                  <a:pt x="622421" y="192940"/>
                  <a:pt x="585156" y="230302"/>
                </a:cubicBezTo>
                <a:lnTo>
                  <a:pt x="511352" y="304012"/>
                </a:lnTo>
                <a:cubicBezTo>
                  <a:pt x="502072" y="313135"/>
                  <a:pt x="487137" y="313135"/>
                  <a:pt x="477857" y="304012"/>
                </a:cubicBezTo>
                <a:cubicBezTo>
                  <a:pt x="468722" y="294744"/>
                  <a:pt x="468722" y="279828"/>
                  <a:pt x="477857" y="270705"/>
                </a:cubicBezTo>
                <a:lnTo>
                  <a:pt x="551662" y="196995"/>
                </a:lnTo>
                <a:cubicBezTo>
                  <a:pt x="567321" y="181355"/>
                  <a:pt x="554127" y="133132"/>
                  <a:pt x="513092" y="92005"/>
                </a:cubicBezTo>
                <a:cubicBezTo>
                  <a:pt x="492502" y="71586"/>
                  <a:pt x="468142" y="56236"/>
                  <a:pt x="446247" y="50154"/>
                </a:cubicBezTo>
                <a:cubicBezTo>
                  <a:pt x="428848" y="45230"/>
                  <a:pt x="414928" y="46534"/>
                  <a:pt x="407968" y="53485"/>
                </a:cubicBezTo>
                <a:lnTo>
                  <a:pt x="204825" y="256368"/>
                </a:lnTo>
                <a:cubicBezTo>
                  <a:pt x="197865" y="263319"/>
                  <a:pt x="196560" y="277221"/>
                  <a:pt x="201490" y="294599"/>
                </a:cubicBezTo>
                <a:cubicBezTo>
                  <a:pt x="207579" y="316466"/>
                  <a:pt x="222949" y="340795"/>
                  <a:pt x="243394" y="361358"/>
                </a:cubicBezTo>
                <a:cubicBezTo>
                  <a:pt x="257169" y="375115"/>
                  <a:pt x="272684" y="386556"/>
                  <a:pt x="288199" y="394520"/>
                </a:cubicBezTo>
                <a:cubicBezTo>
                  <a:pt x="299799" y="400313"/>
                  <a:pt x="304439" y="414505"/>
                  <a:pt x="298494" y="426234"/>
                </a:cubicBezTo>
                <a:cubicBezTo>
                  <a:pt x="294289" y="434344"/>
                  <a:pt x="286024" y="438978"/>
                  <a:pt x="277469" y="438978"/>
                </a:cubicBezTo>
                <a:cubicBezTo>
                  <a:pt x="273844" y="438978"/>
                  <a:pt x="270219" y="438254"/>
                  <a:pt x="266739" y="436516"/>
                </a:cubicBezTo>
                <a:cubicBezTo>
                  <a:pt x="246874" y="426379"/>
                  <a:pt x="227299" y="411898"/>
                  <a:pt x="210044" y="394665"/>
                </a:cubicBezTo>
                <a:cubicBezTo>
                  <a:pt x="183510" y="368164"/>
                  <a:pt x="164370" y="337174"/>
                  <a:pt x="155960" y="307198"/>
                </a:cubicBezTo>
                <a:cubicBezTo>
                  <a:pt x="146245" y="272587"/>
                  <a:pt x="151755" y="242611"/>
                  <a:pt x="171330" y="223061"/>
                </a:cubicBezTo>
                <a:lnTo>
                  <a:pt x="374618" y="20033"/>
                </a:lnTo>
                <a:cubicBezTo>
                  <a:pt x="384406" y="10258"/>
                  <a:pt x="396803" y="3995"/>
                  <a:pt x="411085" y="1388"/>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100" name="文本框 99">
            <a:extLst>
              <a:ext uri="{FF2B5EF4-FFF2-40B4-BE49-F238E27FC236}">
                <a16:creationId xmlns:a16="http://schemas.microsoft.com/office/drawing/2014/main" id="{8E8558AF-4F3E-48E5-AAAB-783D4927B392}"/>
              </a:ext>
            </a:extLst>
          </p:cNvPr>
          <p:cNvSpPr txBox="1"/>
          <p:nvPr/>
        </p:nvSpPr>
        <p:spPr>
          <a:xfrm>
            <a:off x="373082" y="3517143"/>
            <a:ext cx="1660612" cy="338554"/>
          </a:xfrm>
          <a:prstGeom prst="rect">
            <a:avLst/>
          </a:prstGeom>
          <a:noFill/>
        </p:spPr>
        <p:txBody>
          <a:bodyPr wrap="square" rtlCol="0">
            <a:spAutoFit/>
          </a:bodyPr>
          <a:lstStyle/>
          <a:p>
            <a:r>
              <a:rPr lang="zh-CN" altLang="en-US" sz="1600" dirty="0">
                <a:solidFill>
                  <a:schemeClr val="accent1"/>
                </a:solidFill>
                <a:latin typeface="思源黑体 CN Regular" panose="020B0500000000000000" pitchFamily="34" charset="-122"/>
                <a:ea typeface="思源黑体 CN Regular" panose="020B0500000000000000" pitchFamily="34" charset="-122"/>
              </a:rPr>
              <a:t>研究方法与思路</a:t>
            </a:r>
          </a:p>
        </p:txBody>
      </p:sp>
      <p:sp>
        <p:nvSpPr>
          <p:cNvPr id="114" name="文本框 113">
            <a:extLst>
              <a:ext uri="{FF2B5EF4-FFF2-40B4-BE49-F238E27FC236}">
                <a16:creationId xmlns:a16="http://schemas.microsoft.com/office/drawing/2014/main" id="{EA4CAA90-5E9A-4FF7-9C3A-DAB3015842D5}"/>
              </a:ext>
            </a:extLst>
          </p:cNvPr>
          <p:cNvSpPr txBox="1"/>
          <p:nvPr/>
        </p:nvSpPr>
        <p:spPr>
          <a:xfrm>
            <a:off x="373082" y="4226265"/>
            <a:ext cx="1660612" cy="338554"/>
          </a:xfrm>
          <a:prstGeom prst="rect">
            <a:avLst/>
          </a:prstGeom>
          <a:noFill/>
        </p:spPr>
        <p:txBody>
          <a:bodyPr wrap="square" rtlCol="0">
            <a:spAutoFit/>
          </a:bodyPr>
          <a:lstStyle/>
          <a:p>
            <a:r>
              <a:rPr lang="zh-CN" altLang="en-US" sz="1600" dirty="0">
                <a:solidFill>
                  <a:schemeClr val="bg1"/>
                </a:solidFill>
                <a:latin typeface="思源黑体 CN Regular" panose="020B0500000000000000" pitchFamily="34" charset="-122"/>
                <a:ea typeface="思源黑体 CN Regular" panose="020B0500000000000000" pitchFamily="34" charset="-122"/>
              </a:rPr>
              <a:t>关键技术与创新</a:t>
            </a:r>
          </a:p>
        </p:txBody>
      </p:sp>
      <p:sp>
        <p:nvSpPr>
          <p:cNvPr id="115" name="任意矩形：004">
            <a:extLst>
              <a:ext uri="{FF2B5EF4-FFF2-40B4-BE49-F238E27FC236}">
                <a16:creationId xmlns:a16="http://schemas.microsoft.com/office/drawing/2014/main" id="{74F604BD-FE67-457A-B2CD-F729F24FB4EB}"/>
              </a:ext>
            </a:extLst>
          </p:cNvPr>
          <p:cNvSpPr/>
          <p:nvPr/>
        </p:nvSpPr>
        <p:spPr>
          <a:xfrm rot="20700000">
            <a:off x="101744" y="4285500"/>
            <a:ext cx="251496" cy="189307"/>
          </a:xfrm>
          <a:custGeom>
            <a:avLst/>
            <a:gdLst>
              <a:gd name="T0" fmla="*/ 6845 w 7011"/>
              <a:gd name="T1" fmla="*/ 1345 h 5286"/>
              <a:gd name="T2" fmla="*/ 5180 w 7011"/>
              <a:gd name="T3" fmla="*/ 598 h 5286"/>
              <a:gd name="T4" fmla="*/ 5179 w 7011"/>
              <a:gd name="T5" fmla="*/ 598 h 5286"/>
              <a:gd name="T6" fmla="*/ 3505 w 7011"/>
              <a:gd name="T7" fmla="*/ 0 h 5286"/>
              <a:gd name="T8" fmla="*/ 907 w 7011"/>
              <a:gd name="T9" fmla="*/ 2166 h 5286"/>
              <a:gd name="T10" fmla="*/ 167 w 7011"/>
              <a:gd name="T11" fmla="*/ 3741 h 5286"/>
              <a:gd name="T12" fmla="*/ 1605 w 7011"/>
              <a:gd name="T13" fmla="*/ 4477 h 5286"/>
              <a:gd name="T14" fmla="*/ 3505 w 7011"/>
              <a:gd name="T15" fmla="*/ 5286 h 5286"/>
              <a:gd name="T16" fmla="*/ 6136 w 7011"/>
              <a:gd name="T17" fmla="*/ 2888 h 5286"/>
              <a:gd name="T18" fmla="*/ 6845 w 7011"/>
              <a:gd name="T19" fmla="*/ 1345 h 5286"/>
              <a:gd name="T20" fmla="*/ 521 w 7011"/>
              <a:gd name="T21" fmla="*/ 3613 h 5286"/>
              <a:gd name="T22" fmla="*/ 865 w 7011"/>
              <a:gd name="T23" fmla="*/ 2729 h 5286"/>
              <a:gd name="T24" fmla="*/ 1279 w 7011"/>
              <a:gd name="T25" fmla="*/ 4061 h 5286"/>
              <a:gd name="T26" fmla="*/ 521 w 7011"/>
              <a:gd name="T27" fmla="*/ 3613 h 5286"/>
              <a:gd name="T28" fmla="*/ 3507 w 7011"/>
              <a:gd name="T29" fmla="*/ 4909 h 5286"/>
              <a:gd name="T30" fmla="*/ 2171 w 7011"/>
              <a:gd name="T31" fmla="*/ 4472 h 5286"/>
              <a:gd name="T32" fmla="*/ 4051 w 7011"/>
              <a:gd name="T33" fmla="*/ 4060 h 5286"/>
              <a:gd name="T34" fmla="*/ 5695 w 7011"/>
              <a:gd name="T35" fmla="*/ 3233 h 5286"/>
              <a:gd name="T36" fmla="*/ 3507 w 7011"/>
              <a:gd name="T37" fmla="*/ 4909 h 5286"/>
              <a:gd name="T38" fmla="*/ 5772 w 7011"/>
              <a:gd name="T39" fmla="*/ 2705 h 5286"/>
              <a:gd name="T40" fmla="*/ 3924 w 7011"/>
              <a:gd name="T41" fmla="*/ 3706 h 5286"/>
              <a:gd name="T42" fmla="*/ 1779 w 7011"/>
              <a:gd name="T43" fmla="*/ 4108 h 5286"/>
              <a:gd name="T44" fmla="*/ 1240 w 7011"/>
              <a:gd name="T45" fmla="*/ 2642 h 5286"/>
              <a:gd name="T46" fmla="*/ 3507 w 7011"/>
              <a:gd name="T47" fmla="*/ 376 h 5286"/>
              <a:gd name="T48" fmla="*/ 5773 w 7011"/>
              <a:gd name="T49" fmla="*/ 2642 h 5286"/>
              <a:gd name="T50" fmla="*/ 5772 w 7011"/>
              <a:gd name="T51" fmla="*/ 2705 h 5286"/>
              <a:gd name="T52" fmla="*/ 6133 w 7011"/>
              <a:gd name="T53" fmla="*/ 2364 h 5286"/>
              <a:gd name="T54" fmla="*/ 5571 w 7011"/>
              <a:gd name="T55" fmla="*/ 996 h 5286"/>
              <a:gd name="T56" fmla="*/ 6491 w 7011"/>
              <a:gd name="T57" fmla="*/ 1472 h 5286"/>
              <a:gd name="T58" fmla="*/ 6133 w 7011"/>
              <a:gd name="T59" fmla="*/ 2364 h 528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7011" h="5286">
                <a:moveTo>
                  <a:pt x="6845" y="1345"/>
                </a:moveTo>
                <a:cubicBezTo>
                  <a:pt x="6672" y="864"/>
                  <a:pt x="6081" y="598"/>
                  <a:pt x="5180" y="598"/>
                </a:cubicBezTo>
                <a:lnTo>
                  <a:pt x="5179" y="598"/>
                </a:lnTo>
                <a:cubicBezTo>
                  <a:pt x="4723" y="225"/>
                  <a:pt x="4140" y="0"/>
                  <a:pt x="3505" y="0"/>
                </a:cubicBezTo>
                <a:cubicBezTo>
                  <a:pt x="2212" y="0"/>
                  <a:pt x="1132" y="936"/>
                  <a:pt x="907" y="2166"/>
                </a:cubicBezTo>
                <a:cubicBezTo>
                  <a:pt x="264" y="2720"/>
                  <a:pt x="0" y="3278"/>
                  <a:pt x="167" y="3741"/>
                </a:cubicBezTo>
                <a:cubicBezTo>
                  <a:pt x="325" y="4184"/>
                  <a:pt x="863" y="4433"/>
                  <a:pt x="1605" y="4477"/>
                </a:cubicBezTo>
                <a:cubicBezTo>
                  <a:pt x="2087" y="4976"/>
                  <a:pt x="2760" y="5286"/>
                  <a:pt x="3505" y="5286"/>
                </a:cubicBezTo>
                <a:cubicBezTo>
                  <a:pt x="4880" y="5286"/>
                  <a:pt x="6012" y="4232"/>
                  <a:pt x="6136" y="2888"/>
                </a:cubicBezTo>
                <a:cubicBezTo>
                  <a:pt x="6728" y="2364"/>
                  <a:pt x="7011" y="1804"/>
                  <a:pt x="6845" y="1345"/>
                </a:cubicBezTo>
                <a:close/>
                <a:moveTo>
                  <a:pt x="521" y="3613"/>
                </a:moveTo>
                <a:cubicBezTo>
                  <a:pt x="437" y="3380"/>
                  <a:pt x="565" y="3064"/>
                  <a:pt x="865" y="2729"/>
                </a:cubicBezTo>
                <a:cubicBezTo>
                  <a:pt x="881" y="3218"/>
                  <a:pt x="1031" y="3673"/>
                  <a:pt x="1279" y="4061"/>
                </a:cubicBezTo>
                <a:cubicBezTo>
                  <a:pt x="871" y="3988"/>
                  <a:pt x="599" y="3830"/>
                  <a:pt x="521" y="3613"/>
                </a:cubicBezTo>
                <a:close/>
                <a:moveTo>
                  <a:pt x="3507" y="4909"/>
                </a:moveTo>
                <a:cubicBezTo>
                  <a:pt x="3008" y="4909"/>
                  <a:pt x="2545" y="4746"/>
                  <a:pt x="2171" y="4472"/>
                </a:cubicBezTo>
                <a:cubicBezTo>
                  <a:pt x="2740" y="4434"/>
                  <a:pt x="3384" y="4300"/>
                  <a:pt x="4051" y="4060"/>
                </a:cubicBezTo>
                <a:cubicBezTo>
                  <a:pt x="4684" y="3833"/>
                  <a:pt x="5243" y="3546"/>
                  <a:pt x="5695" y="3233"/>
                </a:cubicBezTo>
                <a:cubicBezTo>
                  <a:pt x="5433" y="4197"/>
                  <a:pt x="4552" y="4909"/>
                  <a:pt x="3507" y="4909"/>
                </a:cubicBezTo>
                <a:close/>
                <a:moveTo>
                  <a:pt x="5772" y="2705"/>
                </a:moveTo>
                <a:cubicBezTo>
                  <a:pt x="5328" y="3068"/>
                  <a:pt x="4700" y="3428"/>
                  <a:pt x="3924" y="3706"/>
                </a:cubicBezTo>
                <a:cubicBezTo>
                  <a:pt x="3111" y="3998"/>
                  <a:pt x="2365" y="4117"/>
                  <a:pt x="1779" y="4108"/>
                </a:cubicBezTo>
                <a:cubicBezTo>
                  <a:pt x="1443" y="3712"/>
                  <a:pt x="1240" y="3201"/>
                  <a:pt x="1240" y="2642"/>
                </a:cubicBezTo>
                <a:cubicBezTo>
                  <a:pt x="1240" y="1393"/>
                  <a:pt x="2256" y="376"/>
                  <a:pt x="3507" y="376"/>
                </a:cubicBezTo>
                <a:cubicBezTo>
                  <a:pt x="4756" y="376"/>
                  <a:pt x="5773" y="1393"/>
                  <a:pt x="5773" y="2642"/>
                </a:cubicBezTo>
                <a:cubicBezTo>
                  <a:pt x="5773" y="2664"/>
                  <a:pt x="5772" y="2684"/>
                  <a:pt x="5772" y="2705"/>
                </a:cubicBezTo>
                <a:close/>
                <a:moveTo>
                  <a:pt x="6133" y="2364"/>
                </a:moveTo>
                <a:cubicBezTo>
                  <a:pt x="6079" y="1849"/>
                  <a:pt x="5877" y="1380"/>
                  <a:pt x="5571" y="996"/>
                </a:cubicBezTo>
                <a:cubicBezTo>
                  <a:pt x="6067" y="1053"/>
                  <a:pt x="6401" y="1221"/>
                  <a:pt x="6491" y="1472"/>
                </a:cubicBezTo>
                <a:cubicBezTo>
                  <a:pt x="6573" y="1704"/>
                  <a:pt x="6443" y="2024"/>
                  <a:pt x="6133" y="2364"/>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116" name="文本框 115">
            <a:extLst>
              <a:ext uri="{FF2B5EF4-FFF2-40B4-BE49-F238E27FC236}">
                <a16:creationId xmlns:a16="http://schemas.microsoft.com/office/drawing/2014/main" id="{284BDD2B-89C2-4878-ABB1-20F3B25C0634}"/>
              </a:ext>
            </a:extLst>
          </p:cNvPr>
          <p:cNvSpPr txBox="1"/>
          <p:nvPr/>
        </p:nvSpPr>
        <p:spPr>
          <a:xfrm>
            <a:off x="373082" y="4935387"/>
            <a:ext cx="1660612" cy="338554"/>
          </a:xfrm>
          <a:prstGeom prst="rect">
            <a:avLst/>
          </a:prstGeom>
          <a:noFill/>
        </p:spPr>
        <p:txBody>
          <a:bodyPr wrap="square" rtlCol="0">
            <a:spAutoFit/>
          </a:bodyPr>
          <a:lstStyle/>
          <a:p>
            <a:r>
              <a:rPr lang="zh-CN" altLang="en-US" sz="1600" dirty="0">
                <a:solidFill>
                  <a:schemeClr val="bg1"/>
                </a:solidFill>
                <a:latin typeface="思源黑体 CN Regular" panose="020B0500000000000000" pitchFamily="34" charset="-122"/>
                <a:ea typeface="思源黑体 CN Regular" panose="020B0500000000000000" pitchFamily="34" charset="-122"/>
              </a:rPr>
              <a:t>已开展工作</a:t>
            </a:r>
          </a:p>
        </p:txBody>
      </p:sp>
      <p:sp>
        <p:nvSpPr>
          <p:cNvPr id="117" name="任意矩形：005">
            <a:extLst>
              <a:ext uri="{FF2B5EF4-FFF2-40B4-BE49-F238E27FC236}">
                <a16:creationId xmlns:a16="http://schemas.microsoft.com/office/drawing/2014/main" id="{D996438C-6D1A-434C-9607-264DB45AD2CA}"/>
              </a:ext>
            </a:extLst>
          </p:cNvPr>
          <p:cNvSpPr/>
          <p:nvPr/>
        </p:nvSpPr>
        <p:spPr>
          <a:xfrm>
            <a:off x="123946" y="4988361"/>
            <a:ext cx="201734" cy="201828"/>
          </a:xfrm>
          <a:custGeom>
            <a:avLst/>
            <a:gdLst>
              <a:gd name="T0" fmla="*/ 278945 h 440259"/>
              <a:gd name="T1" fmla="*/ 278945 h 440259"/>
              <a:gd name="T2" fmla="*/ 278945 h 440259"/>
              <a:gd name="T3" fmla="*/ 278945 h 440259"/>
              <a:gd name="T4" fmla="*/ 278945 h 440259"/>
              <a:gd name="T5" fmla="*/ 278945 h 440259"/>
              <a:gd name="T6" fmla="*/ 278945 h 440259"/>
              <a:gd name="T7" fmla="*/ 278945 h 440259"/>
              <a:gd name="T8" fmla="*/ 278945 h 440259"/>
              <a:gd name="T9" fmla="*/ 278945 h 440259"/>
              <a:gd name="T10" fmla="*/ 278945 h 440259"/>
              <a:gd name="T11" fmla="*/ 278945 h 440259"/>
              <a:gd name="T12" fmla="*/ 278945 h 440259"/>
              <a:gd name="T13" fmla="*/ 278945 h 440259"/>
              <a:gd name="T14" fmla="*/ 278945 h 440259"/>
              <a:gd name="T15" fmla="*/ 278945 h 440259"/>
              <a:gd name="T16" fmla="*/ 278945 h 440259"/>
              <a:gd name="T17" fmla="*/ 278945 h 440259"/>
              <a:gd name="T18" fmla="*/ 278945 h 440259"/>
              <a:gd name="T19" fmla="*/ 278945 h 440259"/>
              <a:gd name="T20" fmla="*/ 278945 h 440259"/>
              <a:gd name="T21" fmla="*/ 278945 h 440259"/>
              <a:gd name="T22" fmla="*/ 278945 h 440259"/>
              <a:gd name="T23" fmla="*/ 278945 h 440259"/>
              <a:gd name="T24" fmla="*/ 278945 h 440259"/>
              <a:gd name="T25" fmla="*/ 278945 h 440259"/>
              <a:gd name="T26" fmla="*/ 278945 h 440259"/>
              <a:gd name="T27" fmla="*/ 278945 h 440259"/>
              <a:gd name="T28" fmla="*/ 278945 h 440259"/>
              <a:gd name="T29" fmla="*/ 278945 h 440259"/>
              <a:gd name="T30" fmla="*/ 278945 h 440259"/>
              <a:gd name="T31" fmla="*/ 278945 h 440259"/>
              <a:gd name="T32" fmla="*/ 278945 h 440259"/>
              <a:gd name="T33" fmla="*/ 278945 h 440259"/>
              <a:gd name="T34" fmla="*/ 278945 h 440259"/>
              <a:gd name="T35" fmla="*/ 278945 h 440259"/>
              <a:gd name="T36" fmla="*/ 278945 h 440259"/>
              <a:gd name="T37" fmla="*/ 278945 h 440259"/>
              <a:gd name="T38" fmla="*/ 278945 h 440259"/>
              <a:gd name="T39" fmla="*/ 278945 h 440259"/>
              <a:gd name="T40" fmla="*/ 278945 h 440259"/>
              <a:gd name="T41" fmla="*/ 278945 h 440259"/>
              <a:gd name="T42" fmla="*/ 278945 h 440259"/>
              <a:gd name="T43" fmla="*/ 278945 h 440259"/>
              <a:gd name="T44" fmla="*/ 278945 h 440259"/>
              <a:gd name="T45" fmla="*/ 278945 h 440259"/>
              <a:gd name="T46" fmla="*/ 278945 h 440259"/>
              <a:gd name="T47" fmla="*/ 278945 h 440259"/>
              <a:gd name="T48" fmla="*/ 278945 h 440259"/>
              <a:gd name="T49" fmla="*/ 278945 h 440259"/>
              <a:gd name="T50" fmla="*/ 278945 h 440259"/>
              <a:gd name="T51" fmla="*/ 278945 h 440259"/>
              <a:gd name="T52" fmla="*/ 278945 h 440259"/>
              <a:gd name="T53" fmla="*/ 278945 h 440259"/>
              <a:gd name="T54" fmla="*/ 278945 h 440259"/>
              <a:gd name="T55" fmla="*/ 278945 h 440259"/>
              <a:gd name="T56" fmla="*/ 278945 h 440259"/>
              <a:gd name="T57" fmla="*/ 278945 h 440259"/>
              <a:gd name="T58" fmla="*/ 278945 h 440259"/>
              <a:gd name="T59" fmla="*/ 278945 h 440259"/>
              <a:gd name="T60" fmla="*/ 278945 h 440259"/>
              <a:gd name="T61" fmla="*/ 278945 h 440259"/>
              <a:gd name="T62" fmla="*/ 278945 h 440259"/>
              <a:gd name="T63" fmla="*/ 278945 h 440259"/>
              <a:gd name="T64" fmla="*/ 278945 h 440259"/>
              <a:gd name="T65" fmla="*/ 278945 h 440259"/>
              <a:gd name="T66" fmla="*/ 278945 h 440259"/>
              <a:gd name="T67" fmla="*/ 278945 h 440259"/>
              <a:gd name="T68" fmla="*/ 278945 h 440259"/>
              <a:gd name="T69" fmla="*/ 278945 h 440259"/>
              <a:gd name="T70" fmla="*/ 278945 h 440259"/>
              <a:gd name="T71" fmla="*/ 278945 h 440259"/>
              <a:gd name="T72" fmla="*/ 278945 h 440259"/>
              <a:gd name="T73" fmla="*/ 278945 h 440259"/>
              <a:gd name="T74" fmla="*/ 278945 h 440259"/>
              <a:gd name="T75" fmla="*/ 278945 h 440259"/>
              <a:gd name="T76" fmla="*/ 278945 h 440259"/>
              <a:gd name="T77" fmla="*/ 278945 h 440259"/>
              <a:gd name="T78" fmla="*/ 278945 h 440259"/>
              <a:gd name="T79" fmla="*/ 278945 h 440259"/>
              <a:gd name="T80" fmla="*/ 278945 h 440259"/>
              <a:gd name="T81" fmla="*/ 278945 h 440259"/>
              <a:gd name="T82" fmla="*/ 278945 h 440259"/>
              <a:gd name="T83" fmla="*/ 278945 h 440259"/>
              <a:gd name="T84" fmla="*/ 88862 h 440259"/>
              <a:gd name="T85" fmla="*/ 88862 h 440259"/>
              <a:gd name="T86" fmla="*/ 278945 h 440259"/>
              <a:gd name="T87" fmla="*/ 278945 h 44025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Lst>
            <a:rect l="0" t="0" r="r" b="b"/>
            <a:pathLst>
              <a:path w="6495" h="6508">
                <a:moveTo>
                  <a:pt x="6495" y="203"/>
                </a:moveTo>
                <a:lnTo>
                  <a:pt x="6495" y="197"/>
                </a:lnTo>
                <a:cubicBezTo>
                  <a:pt x="6495" y="193"/>
                  <a:pt x="6493" y="191"/>
                  <a:pt x="6493" y="187"/>
                </a:cubicBezTo>
                <a:cubicBezTo>
                  <a:pt x="6493" y="184"/>
                  <a:pt x="6493" y="181"/>
                  <a:pt x="6492" y="179"/>
                </a:cubicBezTo>
                <a:cubicBezTo>
                  <a:pt x="6492" y="176"/>
                  <a:pt x="6491" y="173"/>
                  <a:pt x="6491" y="172"/>
                </a:cubicBezTo>
                <a:cubicBezTo>
                  <a:pt x="6489" y="169"/>
                  <a:pt x="6489" y="165"/>
                  <a:pt x="6488" y="163"/>
                </a:cubicBezTo>
                <a:cubicBezTo>
                  <a:pt x="6488" y="161"/>
                  <a:pt x="6487" y="160"/>
                  <a:pt x="6487" y="157"/>
                </a:cubicBezTo>
                <a:lnTo>
                  <a:pt x="6483" y="145"/>
                </a:lnTo>
                <a:cubicBezTo>
                  <a:pt x="6483" y="144"/>
                  <a:pt x="6481" y="144"/>
                  <a:pt x="6481" y="143"/>
                </a:cubicBezTo>
                <a:cubicBezTo>
                  <a:pt x="6480" y="139"/>
                  <a:pt x="6477" y="133"/>
                  <a:pt x="6475" y="129"/>
                </a:cubicBezTo>
                <a:cubicBezTo>
                  <a:pt x="6475" y="128"/>
                  <a:pt x="6473" y="127"/>
                  <a:pt x="6473" y="127"/>
                </a:cubicBezTo>
                <a:cubicBezTo>
                  <a:pt x="6471" y="123"/>
                  <a:pt x="6469" y="119"/>
                  <a:pt x="6467" y="115"/>
                </a:cubicBezTo>
                <a:cubicBezTo>
                  <a:pt x="6457" y="101"/>
                  <a:pt x="6447" y="89"/>
                  <a:pt x="6435" y="79"/>
                </a:cubicBezTo>
                <a:cubicBezTo>
                  <a:pt x="6385" y="23"/>
                  <a:pt x="6304" y="0"/>
                  <a:pt x="6231" y="31"/>
                </a:cubicBezTo>
                <a:lnTo>
                  <a:pt x="112" y="2559"/>
                </a:lnTo>
                <a:cubicBezTo>
                  <a:pt x="111" y="2560"/>
                  <a:pt x="108" y="2560"/>
                  <a:pt x="107" y="2561"/>
                </a:cubicBezTo>
                <a:cubicBezTo>
                  <a:pt x="103" y="2563"/>
                  <a:pt x="100" y="2564"/>
                  <a:pt x="96" y="2567"/>
                </a:cubicBezTo>
                <a:lnTo>
                  <a:pt x="88" y="2571"/>
                </a:lnTo>
                <a:cubicBezTo>
                  <a:pt x="85" y="2572"/>
                  <a:pt x="83" y="2573"/>
                  <a:pt x="80" y="2576"/>
                </a:cubicBezTo>
                <a:cubicBezTo>
                  <a:pt x="77" y="2577"/>
                  <a:pt x="75" y="2580"/>
                  <a:pt x="72" y="2581"/>
                </a:cubicBezTo>
                <a:cubicBezTo>
                  <a:pt x="69" y="2583"/>
                  <a:pt x="68" y="2584"/>
                  <a:pt x="65" y="2587"/>
                </a:cubicBezTo>
                <a:cubicBezTo>
                  <a:pt x="63" y="2588"/>
                  <a:pt x="61" y="2591"/>
                  <a:pt x="59" y="2593"/>
                </a:cubicBezTo>
                <a:cubicBezTo>
                  <a:pt x="56" y="2595"/>
                  <a:pt x="55" y="2597"/>
                  <a:pt x="52" y="2599"/>
                </a:cubicBezTo>
                <a:lnTo>
                  <a:pt x="45" y="2605"/>
                </a:lnTo>
                <a:cubicBezTo>
                  <a:pt x="44" y="2608"/>
                  <a:pt x="41" y="2609"/>
                  <a:pt x="40" y="2612"/>
                </a:cubicBezTo>
                <a:cubicBezTo>
                  <a:pt x="39" y="2615"/>
                  <a:pt x="36" y="2617"/>
                  <a:pt x="35" y="2619"/>
                </a:cubicBezTo>
                <a:cubicBezTo>
                  <a:pt x="33" y="2621"/>
                  <a:pt x="31" y="2623"/>
                  <a:pt x="29" y="2625"/>
                </a:cubicBezTo>
                <a:cubicBezTo>
                  <a:pt x="28" y="2628"/>
                  <a:pt x="25" y="2631"/>
                  <a:pt x="24" y="2633"/>
                </a:cubicBezTo>
                <a:cubicBezTo>
                  <a:pt x="23" y="2636"/>
                  <a:pt x="21" y="2637"/>
                  <a:pt x="20" y="2640"/>
                </a:cubicBezTo>
                <a:cubicBezTo>
                  <a:pt x="17" y="2644"/>
                  <a:pt x="16" y="2648"/>
                  <a:pt x="15" y="2652"/>
                </a:cubicBezTo>
                <a:cubicBezTo>
                  <a:pt x="15" y="2653"/>
                  <a:pt x="13" y="2655"/>
                  <a:pt x="12" y="2656"/>
                </a:cubicBezTo>
                <a:lnTo>
                  <a:pt x="12" y="2656"/>
                </a:lnTo>
                <a:cubicBezTo>
                  <a:pt x="9" y="2661"/>
                  <a:pt x="8" y="2667"/>
                  <a:pt x="7" y="2672"/>
                </a:cubicBezTo>
                <a:lnTo>
                  <a:pt x="7" y="2673"/>
                </a:lnTo>
                <a:cubicBezTo>
                  <a:pt x="5" y="2679"/>
                  <a:pt x="4" y="2684"/>
                  <a:pt x="3" y="2691"/>
                </a:cubicBezTo>
                <a:cubicBezTo>
                  <a:pt x="3" y="2693"/>
                  <a:pt x="1" y="2696"/>
                  <a:pt x="1" y="2699"/>
                </a:cubicBezTo>
                <a:cubicBezTo>
                  <a:pt x="1" y="2701"/>
                  <a:pt x="0" y="2705"/>
                  <a:pt x="0" y="2708"/>
                </a:cubicBezTo>
                <a:lnTo>
                  <a:pt x="0" y="2716"/>
                </a:lnTo>
                <a:lnTo>
                  <a:pt x="0" y="2725"/>
                </a:lnTo>
                <a:lnTo>
                  <a:pt x="0" y="2733"/>
                </a:lnTo>
                <a:lnTo>
                  <a:pt x="0" y="2743"/>
                </a:lnTo>
                <a:cubicBezTo>
                  <a:pt x="0" y="2745"/>
                  <a:pt x="1" y="2748"/>
                  <a:pt x="1" y="2749"/>
                </a:cubicBezTo>
                <a:cubicBezTo>
                  <a:pt x="1" y="2753"/>
                  <a:pt x="3" y="2756"/>
                  <a:pt x="3" y="2760"/>
                </a:cubicBezTo>
                <a:cubicBezTo>
                  <a:pt x="4" y="2764"/>
                  <a:pt x="4" y="2768"/>
                  <a:pt x="5" y="2772"/>
                </a:cubicBezTo>
                <a:cubicBezTo>
                  <a:pt x="7" y="2775"/>
                  <a:pt x="7" y="2777"/>
                  <a:pt x="8" y="2780"/>
                </a:cubicBezTo>
                <a:cubicBezTo>
                  <a:pt x="9" y="2784"/>
                  <a:pt x="11" y="2789"/>
                  <a:pt x="13" y="2793"/>
                </a:cubicBezTo>
                <a:lnTo>
                  <a:pt x="13" y="2793"/>
                </a:lnTo>
                <a:cubicBezTo>
                  <a:pt x="15" y="2799"/>
                  <a:pt x="17" y="2803"/>
                  <a:pt x="20" y="2807"/>
                </a:cubicBezTo>
                <a:cubicBezTo>
                  <a:pt x="20" y="2808"/>
                  <a:pt x="21" y="2809"/>
                  <a:pt x="21" y="2809"/>
                </a:cubicBezTo>
                <a:cubicBezTo>
                  <a:pt x="23" y="2813"/>
                  <a:pt x="25" y="2816"/>
                  <a:pt x="28" y="2820"/>
                </a:cubicBezTo>
                <a:cubicBezTo>
                  <a:pt x="29" y="2821"/>
                  <a:pt x="29" y="2823"/>
                  <a:pt x="31" y="2824"/>
                </a:cubicBezTo>
                <a:cubicBezTo>
                  <a:pt x="33" y="2828"/>
                  <a:pt x="35" y="2831"/>
                  <a:pt x="37" y="2833"/>
                </a:cubicBezTo>
                <a:cubicBezTo>
                  <a:pt x="39" y="2835"/>
                  <a:pt x="39" y="2836"/>
                  <a:pt x="40" y="2836"/>
                </a:cubicBezTo>
                <a:cubicBezTo>
                  <a:pt x="44" y="2840"/>
                  <a:pt x="47" y="2844"/>
                  <a:pt x="51" y="2848"/>
                </a:cubicBezTo>
                <a:lnTo>
                  <a:pt x="51" y="2848"/>
                </a:lnTo>
                <a:cubicBezTo>
                  <a:pt x="55" y="2852"/>
                  <a:pt x="59" y="2855"/>
                  <a:pt x="63" y="2859"/>
                </a:cubicBezTo>
                <a:cubicBezTo>
                  <a:pt x="64" y="2860"/>
                  <a:pt x="65" y="2861"/>
                  <a:pt x="67" y="2861"/>
                </a:cubicBezTo>
                <a:cubicBezTo>
                  <a:pt x="69" y="2864"/>
                  <a:pt x="73" y="2867"/>
                  <a:pt x="76" y="2868"/>
                </a:cubicBezTo>
                <a:cubicBezTo>
                  <a:pt x="77" y="2869"/>
                  <a:pt x="79" y="2869"/>
                  <a:pt x="80" y="2871"/>
                </a:cubicBezTo>
                <a:cubicBezTo>
                  <a:pt x="84" y="2873"/>
                  <a:pt x="89" y="2876"/>
                  <a:pt x="93" y="2879"/>
                </a:cubicBezTo>
                <a:cubicBezTo>
                  <a:pt x="95" y="2879"/>
                  <a:pt x="95" y="2880"/>
                  <a:pt x="96" y="2880"/>
                </a:cubicBezTo>
                <a:cubicBezTo>
                  <a:pt x="100" y="2883"/>
                  <a:pt x="104" y="2884"/>
                  <a:pt x="109" y="2887"/>
                </a:cubicBezTo>
                <a:cubicBezTo>
                  <a:pt x="111" y="2887"/>
                  <a:pt x="111" y="2888"/>
                  <a:pt x="112" y="2888"/>
                </a:cubicBezTo>
                <a:lnTo>
                  <a:pt x="2579" y="3933"/>
                </a:lnTo>
                <a:lnTo>
                  <a:pt x="3624" y="6400"/>
                </a:lnTo>
                <a:cubicBezTo>
                  <a:pt x="3625" y="6405"/>
                  <a:pt x="3628" y="6409"/>
                  <a:pt x="3631" y="6413"/>
                </a:cubicBezTo>
                <a:cubicBezTo>
                  <a:pt x="3631" y="6415"/>
                  <a:pt x="3632" y="6416"/>
                  <a:pt x="3632" y="6416"/>
                </a:cubicBezTo>
                <a:cubicBezTo>
                  <a:pt x="3635" y="6420"/>
                  <a:pt x="3636" y="6423"/>
                  <a:pt x="3639" y="6427"/>
                </a:cubicBezTo>
                <a:cubicBezTo>
                  <a:pt x="3640" y="6428"/>
                  <a:pt x="3640" y="6429"/>
                  <a:pt x="3641" y="6431"/>
                </a:cubicBezTo>
                <a:cubicBezTo>
                  <a:pt x="3644" y="6435"/>
                  <a:pt x="3647" y="6437"/>
                  <a:pt x="3648" y="6440"/>
                </a:cubicBezTo>
                <a:cubicBezTo>
                  <a:pt x="3649" y="6441"/>
                  <a:pt x="3649" y="6443"/>
                  <a:pt x="3651" y="6443"/>
                </a:cubicBezTo>
                <a:cubicBezTo>
                  <a:pt x="3655" y="6447"/>
                  <a:pt x="3657" y="6451"/>
                  <a:pt x="3661" y="6455"/>
                </a:cubicBezTo>
                <a:lnTo>
                  <a:pt x="3663" y="6456"/>
                </a:lnTo>
                <a:cubicBezTo>
                  <a:pt x="3667" y="6459"/>
                  <a:pt x="3669" y="6463"/>
                  <a:pt x="3673" y="6465"/>
                </a:cubicBezTo>
                <a:cubicBezTo>
                  <a:pt x="3675" y="6467"/>
                  <a:pt x="3676" y="6468"/>
                  <a:pt x="3677" y="6468"/>
                </a:cubicBezTo>
                <a:cubicBezTo>
                  <a:pt x="3680" y="6471"/>
                  <a:pt x="3684" y="6473"/>
                  <a:pt x="3687" y="6475"/>
                </a:cubicBezTo>
                <a:cubicBezTo>
                  <a:pt x="3688" y="6476"/>
                  <a:pt x="3689" y="6476"/>
                  <a:pt x="3691" y="6477"/>
                </a:cubicBezTo>
                <a:cubicBezTo>
                  <a:pt x="3695" y="6480"/>
                  <a:pt x="3700" y="6483"/>
                  <a:pt x="3704" y="6485"/>
                </a:cubicBezTo>
                <a:cubicBezTo>
                  <a:pt x="3705" y="6485"/>
                  <a:pt x="3707" y="6487"/>
                  <a:pt x="3707" y="6487"/>
                </a:cubicBezTo>
                <a:cubicBezTo>
                  <a:pt x="3711" y="6489"/>
                  <a:pt x="3715" y="6491"/>
                  <a:pt x="3719" y="6492"/>
                </a:cubicBezTo>
                <a:cubicBezTo>
                  <a:pt x="3720" y="6492"/>
                  <a:pt x="3720" y="6493"/>
                  <a:pt x="3721" y="6493"/>
                </a:cubicBezTo>
                <a:cubicBezTo>
                  <a:pt x="3721" y="6493"/>
                  <a:pt x="3723" y="6493"/>
                  <a:pt x="3723" y="6495"/>
                </a:cubicBezTo>
                <a:cubicBezTo>
                  <a:pt x="3727" y="6496"/>
                  <a:pt x="3732" y="6499"/>
                  <a:pt x="3736" y="6500"/>
                </a:cubicBezTo>
                <a:lnTo>
                  <a:pt x="3737" y="6500"/>
                </a:lnTo>
                <a:cubicBezTo>
                  <a:pt x="3743" y="6501"/>
                  <a:pt x="3747" y="6503"/>
                  <a:pt x="3752" y="6504"/>
                </a:cubicBezTo>
                <a:cubicBezTo>
                  <a:pt x="3753" y="6504"/>
                  <a:pt x="3756" y="6504"/>
                  <a:pt x="3757" y="6505"/>
                </a:cubicBezTo>
                <a:cubicBezTo>
                  <a:pt x="3761" y="6505"/>
                  <a:pt x="3764" y="6507"/>
                  <a:pt x="3768" y="6507"/>
                </a:cubicBezTo>
                <a:lnTo>
                  <a:pt x="3773" y="6507"/>
                </a:lnTo>
                <a:cubicBezTo>
                  <a:pt x="3779" y="6507"/>
                  <a:pt x="3783" y="6508"/>
                  <a:pt x="3788" y="6508"/>
                </a:cubicBezTo>
                <a:lnTo>
                  <a:pt x="3788" y="6508"/>
                </a:lnTo>
                <a:lnTo>
                  <a:pt x="3788" y="6508"/>
                </a:lnTo>
                <a:lnTo>
                  <a:pt x="3788" y="6508"/>
                </a:lnTo>
                <a:lnTo>
                  <a:pt x="3788" y="6508"/>
                </a:lnTo>
                <a:cubicBezTo>
                  <a:pt x="3793" y="6508"/>
                  <a:pt x="3799" y="6508"/>
                  <a:pt x="3803" y="6507"/>
                </a:cubicBezTo>
                <a:lnTo>
                  <a:pt x="3808" y="6507"/>
                </a:lnTo>
                <a:cubicBezTo>
                  <a:pt x="3812" y="6507"/>
                  <a:pt x="3816" y="6505"/>
                  <a:pt x="3819" y="6505"/>
                </a:cubicBezTo>
                <a:cubicBezTo>
                  <a:pt x="3820" y="6505"/>
                  <a:pt x="3823" y="6505"/>
                  <a:pt x="3824" y="6504"/>
                </a:cubicBezTo>
                <a:cubicBezTo>
                  <a:pt x="3829" y="6503"/>
                  <a:pt x="3835" y="6501"/>
                  <a:pt x="3839" y="6500"/>
                </a:cubicBezTo>
                <a:cubicBezTo>
                  <a:pt x="3840" y="6500"/>
                  <a:pt x="3840" y="6500"/>
                  <a:pt x="3841" y="6499"/>
                </a:cubicBezTo>
                <a:cubicBezTo>
                  <a:pt x="3845" y="6497"/>
                  <a:pt x="3851" y="6496"/>
                  <a:pt x="3855" y="6493"/>
                </a:cubicBezTo>
                <a:cubicBezTo>
                  <a:pt x="3856" y="6493"/>
                  <a:pt x="3856" y="6493"/>
                  <a:pt x="3857" y="6492"/>
                </a:cubicBezTo>
                <a:cubicBezTo>
                  <a:pt x="3859" y="6492"/>
                  <a:pt x="3859" y="6491"/>
                  <a:pt x="3860" y="6491"/>
                </a:cubicBezTo>
                <a:cubicBezTo>
                  <a:pt x="3864" y="6489"/>
                  <a:pt x="3868" y="6487"/>
                  <a:pt x="3872" y="6484"/>
                </a:cubicBezTo>
                <a:cubicBezTo>
                  <a:pt x="3873" y="6484"/>
                  <a:pt x="3873" y="6483"/>
                  <a:pt x="3875" y="6483"/>
                </a:cubicBezTo>
                <a:cubicBezTo>
                  <a:pt x="3879" y="6480"/>
                  <a:pt x="3884" y="6477"/>
                  <a:pt x="3888" y="6475"/>
                </a:cubicBezTo>
                <a:cubicBezTo>
                  <a:pt x="3889" y="6473"/>
                  <a:pt x="3891" y="6473"/>
                  <a:pt x="3892" y="6472"/>
                </a:cubicBezTo>
                <a:cubicBezTo>
                  <a:pt x="3895" y="6469"/>
                  <a:pt x="3899" y="6468"/>
                  <a:pt x="3901" y="6465"/>
                </a:cubicBezTo>
                <a:cubicBezTo>
                  <a:pt x="3903" y="6464"/>
                  <a:pt x="3904" y="6463"/>
                  <a:pt x="3905" y="6463"/>
                </a:cubicBezTo>
                <a:cubicBezTo>
                  <a:pt x="3909" y="6459"/>
                  <a:pt x="3913" y="6456"/>
                  <a:pt x="3916" y="6452"/>
                </a:cubicBezTo>
                <a:lnTo>
                  <a:pt x="3916" y="6452"/>
                </a:lnTo>
                <a:cubicBezTo>
                  <a:pt x="3920" y="6448"/>
                  <a:pt x="3923" y="6444"/>
                  <a:pt x="3927" y="6440"/>
                </a:cubicBezTo>
                <a:cubicBezTo>
                  <a:pt x="3928" y="6439"/>
                  <a:pt x="3928" y="6437"/>
                  <a:pt x="3929" y="6436"/>
                </a:cubicBezTo>
                <a:cubicBezTo>
                  <a:pt x="3932" y="6433"/>
                  <a:pt x="3935" y="6429"/>
                  <a:pt x="3936" y="6427"/>
                </a:cubicBezTo>
                <a:cubicBezTo>
                  <a:pt x="3937" y="6425"/>
                  <a:pt x="3937" y="6424"/>
                  <a:pt x="3939" y="6423"/>
                </a:cubicBezTo>
                <a:cubicBezTo>
                  <a:pt x="3941" y="6419"/>
                  <a:pt x="3943" y="6416"/>
                  <a:pt x="3945" y="6412"/>
                </a:cubicBezTo>
                <a:cubicBezTo>
                  <a:pt x="3945" y="6411"/>
                  <a:pt x="3947" y="6409"/>
                  <a:pt x="3947" y="6409"/>
                </a:cubicBezTo>
                <a:cubicBezTo>
                  <a:pt x="3949" y="6405"/>
                  <a:pt x="3951" y="6400"/>
                  <a:pt x="3953" y="6396"/>
                </a:cubicBezTo>
                <a:lnTo>
                  <a:pt x="6481" y="284"/>
                </a:lnTo>
                <a:cubicBezTo>
                  <a:pt x="6485" y="273"/>
                  <a:pt x="6489" y="261"/>
                  <a:pt x="6492" y="249"/>
                </a:cubicBezTo>
                <a:cubicBezTo>
                  <a:pt x="6493" y="245"/>
                  <a:pt x="6493" y="240"/>
                  <a:pt x="6493" y="236"/>
                </a:cubicBezTo>
                <a:lnTo>
                  <a:pt x="6493" y="232"/>
                </a:lnTo>
                <a:cubicBezTo>
                  <a:pt x="6493" y="227"/>
                  <a:pt x="6493" y="223"/>
                  <a:pt x="6495" y="217"/>
                </a:cubicBezTo>
                <a:lnTo>
                  <a:pt x="6495" y="215"/>
                </a:lnTo>
                <a:lnTo>
                  <a:pt x="6495" y="203"/>
                </a:lnTo>
                <a:close/>
                <a:moveTo>
                  <a:pt x="648" y="2727"/>
                </a:moveTo>
                <a:lnTo>
                  <a:pt x="5589" y="687"/>
                </a:lnTo>
                <a:lnTo>
                  <a:pt x="2685" y="3589"/>
                </a:lnTo>
                <a:lnTo>
                  <a:pt x="648" y="2727"/>
                </a:lnTo>
                <a:close/>
                <a:moveTo>
                  <a:pt x="3787" y="5865"/>
                </a:moveTo>
                <a:lnTo>
                  <a:pt x="2933" y="3851"/>
                </a:lnTo>
                <a:lnTo>
                  <a:pt x="5804" y="981"/>
                </a:lnTo>
                <a:lnTo>
                  <a:pt x="3787" y="5865"/>
                </a:ln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grpSp>
        <p:nvGrpSpPr>
          <p:cNvPr id="17" name="组合 16">
            <a:extLst>
              <a:ext uri="{FF2B5EF4-FFF2-40B4-BE49-F238E27FC236}">
                <a16:creationId xmlns:a16="http://schemas.microsoft.com/office/drawing/2014/main" id="{6290AF55-6D22-4989-857D-A43119E655B2}"/>
              </a:ext>
            </a:extLst>
          </p:cNvPr>
          <p:cNvGrpSpPr/>
          <p:nvPr/>
        </p:nvGrpSpPr>
        <p:grpSpPr>
          <a:xfrm>
            <a:off x="6135055" y="2918461"/>
            <a:ext cx="1983010" cy="1984602"/>
            <a:chOff x="6135055" y="2918461"/>
            <a:chExt cx="1983010" cy="1984602"/>
          </a:xfrm>
        </p:grpSpPr>
        <p:grpSp>
          <p:nvGrpSpPr>
            <p:cNvPr id="15" name="组合 14">
              <a:extLst>
                <a:ext uri="{FF2B5EF4-FFF2-40B4-BE49-F238E27FC236}">
                  <a16:creationId xmlns:a16="http://schemas.microsoft.com/office/drawing/2014/main" id="{73F48008-6618-425C-9AB8-21E30E663281}"/>
                </a:ext>
              </a:extLst>
            </p:cNvPr>
            <p:cNvGrpSpPr/>
            <p:nvPr/>
          </p:nvGrpSpPr>
          <p:grpSpPr>
            <a:xfrm>
              <a:off x="7138506" y="3923504"/>
              <a:ext cx="979559" cy="979559"/>
              <a:chOff x="7138506" y="3923504"/>
              <a:chExt cx="979559" cy="979559"/>
            </a:xfrm>
          </p:grpSpPr>
          <p:sp>
            <p:nvSpPr>
              <p:cNvPr id="142" name="靖飞在肝PPT19">
                <a:extLst>
                  <a:ext uri="{FF2B5EF4-FFF2-40B4-BE49-F238E27FC236}">
                    <a16:creationId xmlns:a16="http://schemas.microsoft.com/office/drawing/2014/main" id="{B246A18C-23AD-47B3-96F4-C48E95A72BE2}"/>
                  </a:ext>
                </a:extLst>
              </p:cNvPr>
              <p:cNvSpPr/>
              <p:nvPr/>
            </p:nvSpPr>
            <p:spPr bwMode="auto">
              <a:xfrm>
                <a:off x="7138506" y="3923504"/>
                <a:ext cx="979559" cy="979559"/>
              </a:xfrm>
              <a:custGeom>
                <a:avLst/>
                <a:gdLst>
                  <a:gd name="T0" fmla="*/ 1208 w 1230"/>
                  <a:gd name="T1" fmla="*/ 134 h 1230"/>
                  <a:gd name="T2" fmla="*/ 1228 w 1230"/>
                  <a:gd name="T3" fmla="*/ 102 h 1230"/>
                  <a:gd name="T4" fmla="*/ 1228 w 1230"/>
                  <a:gd name="T5" fmla="*/ 66 h 1230"/>
                  <a:gd name="T6" fmla="*/ 1218 w 1230"/>
                  <a:gd name="T7" fmla="*/ 38 h 1230"/>
                  <a:gd name="T8" fmla="*/ 1192 w 1230"/>
                  <a:gd name="T9" fmla="*/ 12 h 1230"/>
                  <a:gd name="T10" fmla="*/ 1156 w 1230"/>
                  <a:gd name="T11" fmla="*/ 0 h 1230"/>
                  <a:gd name="T12" fmla="*/ 452 w 1230"/>
                  <a:gd name="T13" fmla="*/ 0 h 1230"/>
                  <a:gd name="T14" fmla="*/ 422 w 1230"/>
                  <a:gd name="T15" fmla="*/ 6 h 1230"/>
                  <a:gd name="T16" fmla="*/ 396 w 1230"/>
                  <a:gd name="T17" fmla="*/ 22 h 1230"/>
                  <a:gd name="T18" fmla="*/ 108 w 1230"/>
                  <a:gd name="T19" fmla="*/ 312 h 1230"/>
                  <a:gd name="T20" fmla="*/ 102 w 1230"/>
                  <a:gd name="T21" fmla="*/ 318 h 1230"/>
                  <a:gd name="T22" fmla="*/ 68 w 1230"/>
                  <a:gd name="T23" fmla="*/ 364 h 1230"/>
                  <a:gd name="T24" fmla="*/ 68 w 1230"/>
                  <a:gd name="T25" fmla="*/ 364 h 1230"/>
                  <a:gd name="T26" fmla="*/ 56 w 1230"/>
                  <a:gd name="T27" fmla="*/ 364 h 1230"/>
                  <a:gd name="T28" fmla="*/ 26 w 1230"/>
                  <a:gd name="T29" fmla="*/ 392 h 1230"/>
                  <a:gd name="T30" fmla="*/ 6 w 1230"/>
                  <a:gd name="T31" fmla="*/ 426 h 1230"/>
                  <a:gd name="T32" fmla="*/ 0 w 1230"/>
                  <a:gd name="T33" fmla="*/ 454 h 1230"/>
                  <a:gd name="T34" fmla="*/ 2 w 1230"/>
                  <a:gd name="T35" fmla="*/ 1156 h 1230"/>
                  <a:gd name="T36" fmla="*/ 12 w 1230"/>
                  <a:gd name="T37" fmla="*/ 1188 h 1230"/>
                  <a:gd name="T38" fmla="*/ 30 w 1230"/>
                  <a:gd name="T39" fmla="*/ 1208 h 1230"/>
                  <a:gd name="T40" fmla="*/ 74 w 1230"/>
                  <a:gd name="T41" fmla="*/ 1228 h 1230"/>
                  <a:gd name="T42" fmla="*/ 120 w 1230"/>
                  <a:gd name="T43" fmla="*/ 1218 h 1230"/>
                  <a:gd name="T44" fmla="*/ 162 w 1230"/>
                  <a:gd name="T45" fmla="*/ 1182 h 1230"/>
                  <a:gd name="T46" fmla="*/ 452 w 1230"/>
                  <a:gd name="T47" fmla="*/ 890 h 1230"/>
                  <a:gd name="T48" fmla="*/ 496 w 1230"/>
                  <a:gd name="T49" fmla="*/ 864 h 1230"/>
                  <a:gd name="T50" fmla="*/ 542 w 1230"/>
                  <a:gd name="T51" fmla="*/ 868 h 1230"/>
                  <a:gd name="T52" fmla="*/ 572 w 1230"/>
                  <a:gd name="T53" fmla="*/ 888 h 1230"/>
                  <a:gd name="T54" fmla="*/ 666 w 1230"/>
                  <a:gd name="T55" fmla="*/ 982 h 1230"/>
                  <a:gd name="T56" fmla="*/ 674 w 1230"/>
                  <a:gd name="T57" fmla="*/ 1006 h 1230"/>
                  <a:gd name="T58" fmla="*/ 666 w 1230"/>
                  <a:gd name="T59" fmla="*/ 1028 h 1230"/>
                  <a:gd name="T60" fmla="*/ 632 w 1230"/>
                  <a:gd name="T61" fmla="*/ 1064 h 1230"/>
                  <a:gd name="T62" fmla="*/ 594 w 1230"/>
                  <a:gd name="T63" fmla="*/ 1104 h 1230"/>
                  <a:gd name="T64" fmla="*/ 588 w 1230"/>
                  <a:gd name="T65" fmla="*/ 1134 h 1230"/>
                  <a:gd name="T66" fmla="*/ 598 w 1230"/>
                  <a:gd name="T67" fmla="*/ 1152 h 1230"/>
                  <a:gd name="T68" fmla="*/ 632 w 1230"/>
                  <a:gd name="T69" fmla="*/ 1164 h 1230"/>
                  <a:gd name="T70" fmla="*/ 1122 w 1230"/>
                  <a:gd name="T71" fmla="*/ 1164 h 1230"/>
                  <a:gd name="T72" fmla="*/ 1148 w 1230"/>
                  <a:gd name="T73" fmla="*/ 1158 h 1230"/>
                  <a:gd name="T74" fmla="*/ 1162 w 1230"/>
                  <a:gd name="T75" fmla="*/ 1140 h 1230"/>
                  <a:gd name="T76" fmla="*/ 1166 w 1230"/>
                  <a:gd name="T77" fmla="*/ 1120 h 1230"/>
                  <a:gd name="T78" fmla="*/ 1164 w 1230"/>
                  <a:gd name="T79" fmla="*/ 618 h 1230"/>
                  <a:gd name="T80" fmla="*/ 1150 w 1230"/>
                  <a:gd name="T81" fmla="*/ 592 h 1230"/>
                  <a:gd name="T82" fmla="*/ 1130 w 1230"/>
                  <a:gd name="T83" fmla="*/ 586 h 1230"/>
                  <a:gd name="T84" fmla="*/ 1094 w 1230"/>
                  <a:gd name="T85" fmla="*/ 602 h 1230"/>
                  <a:gd name="T86" fmla="*/ 1038 w 1230"/>
                  <a:gd name="T87" fmla="*/ 658 h 1230"/>
                  <a:gd name="T88" fmla="*/ 1022 w 1230"/>
                  <a:gd name="T89" fmla="*/ 670 h 1230"/>
                  <a:gd name="T90" fmla="*/ 1000 w 1230"/>
                  <a:gd name="T91" fmla="*/ 672 h 1230"/>
                  <a:gd name="T92" fmla="*/ 976 w 1230"/>
                  <a:gd name="T93" fmla="*/ 658 h 1230"/>
                  <a:gd name="T94" fmla="*/ 904 w 1230"/>
                  <a:gd name="T95" fmla="*/ 586 h 1230"/>
                  <a:gd name="T96" fmla="*/ 866 w 1230"/>
                  <a:gd name="T97" fmla="*/ 530 h 1230"/>
                  <a:gd name="T98" fmla="*/ 864 w 1230"/>
                  <a:gd name="T99" fmla="*/ 504 h 1230"/>
                  <a:gd name="T100" fmla="*/ 886 w 1230"/>
                  <a:gd name="T101" fmla="*/ 458 h 1230"/>
                  <a:gd name="T102" fmla="*/ 1200 w 1230"/>
                  <a:gd name="T103" fmla="*/ 144 h 12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1230" h="1230">
                    <a:moveTo>
                      <a:pt x="1200" y="144"/>
                    </a:moveTo>
                    <a:lnTo>
                      <a:pt x="1200" y="144"/>
                    </a:lnTo>
                    <a:lnTo>
                      <a:pt x="1208" y="134"/>
                    </a:lnTo>
                    <a:lnTo>
                      <a:pt x="1216" y="124"/>
                    </a:lnTo>
                    <a:lnTo>
                      <a:pt x="1222" y="112"/>
                    </a:lnTo>
                    <a:lnTo>
                      <a:pt x="1228" y="102"/>
                    </a:lnTo>
                    <a:lnTo>
                      <a:pt x="1230" y="90"/>
                    </a:lnTo>
                    <a:lnTo>
                      <a:pt x="1230" y="78"/>
                    </a:lnTo>
                    <a:lnTo>
                      <a:pt x="1228" y="66"/>
                    </a:lnTo>
                    <a:lnTo>
                      <a:pt x="1224" y="52"/>
                    </a:lnTo>
                    <a:lnTo>
                      <a:pt x="1224" y="52"/>
                    </a:lnTo>
                    <a:lnTo>
                      <a:pt x="1218" y="38"/>
                    </a:lnTo>
                    <a:lnTo>
                      <a:pt x="1212" y="28"/>
                    </a:lnTo>
                    <a:lnTo>
                      <a:pt x="1202" y="18"/>
                    </a:lnTo>
                    <a:lnTo>
                      <a:pt x="1192" y="12"/>
                    </a:lnTo>
                    <a:lnTo>
                      <a:pt x="1182" y="6"/>
                    </a:lnTo>
                    <a:lnTo>
                      <a:pt x="1168" y="2"/>
                    </a:lnTo>
                    <a:lnTo>
                      <a:pt x="1156" y="0"/>
                    </a:lnTo>
                    <a:lnTo>
                      <a:pt x="1142" y="0"/>
                    </a:lnTo>
                    <a:lnTo>
                      <a:pt x="1142" y="0"/>
                    </a:lnTo>
                    <a:lnTo>
                      <a:pt x="452" y="0"/>
                    </a:lnTo>
                    <a:lnTo>
                      <a:pt x="452" y="0"/>
                    </a:lnTo>
                    <a:lnTo>
                      <a:pt x="436" y="2"/>
                    </a:lnTo>
                    <a:lnTo>
                      <a:pt x="422" y="6"/>
                    </a:lnTo>
                    <a:lnTo>
                      <a:pt x="408" y="12"/>
                    </a:lnTo>
                    <a:lnTo>
                      <a:pt x="396" y="22"/>
                    </a:lnTo>
                    <a:lnTo>
                      <a:pt x="396" y="22"/>
                    </a:lnTo>
                    <a:lnTo>
                      <a:pt x="144" y="276"/>
                    </a:lnTo>
                    <a:lnTo>
                      <a:pt x="144" y="276"/>
                    </a:lnTo>
                    <a:lnTo>
                      <a:pt x="108" y="312"/>
                    </a:lnTo>
                    <a:lnTo>
                      <a:pt x="108" y="312"/>
                    </a:lnTo>
                    <a:lnTo>
                      <a:pt x="102" y="318"/>
                    </a:lnTo>
                    <a:lnTo>
                      <a:pt x="102" y="318"/>
                    </a:lnTo>
                    <a:lnTo>
                      <a:pt x="58" y="362"/>
                    </a:lnTo>
                    <a:lnTo>
                      <a:pt x="58" y="362"/>
                    </a:lnTo>
                    <a:lnTo>
                      <a:pt x="68" y="364"/>
                    </a:lnTo>
                    <a:lnTo>
                      <a:pt x="76" y="364"/>
                    </a:lnTo>
                    <a:lnTo>
                      <a:pt x="76" y="364"/>
                    </a:lnTo>
                    <a:lnTo>
                      <a:pt x="68" y="364"/>
                    </a:lnTo>
                    <a:lnTo>
                      <a:pt x="58" y="362"/>
                    </a:lnTo>
                    <a:lnTo>
                      <a:pt x="58" y="362"/>
                    </a:lnTo>
                    <a:lnTo>
                      <a:pt x="56" y="364"/>
                    </a:lnTo>
                    <a:lnTo>
                      <a:pt x="56" y="364"/>
                    </a:lnTo>
                    <a:lnTo>
                      <a:pt x="36" y="382"/>
                    </a:lnTo>
                    <a:lnTo>
                      <a:pt x="26" y="392"/>
                    </a:lnTo>
                    <a:lnTo>
                      <a:pt x="18" y="402"/>
                    </a:lnTo>
                    <a:lnTo>
                      <a:pt x="10" y="414"/>
                    </a:lnTo>
                    <a:lnTo>
                      <a:pt x="6" y="426"/>
                    </a:lnTo>
                    <a:lnTo>
                      <a:pt x="2" y="440"/>
                    </a:lnTo>
                    <a:lnTo>
                      <a:pt x="0" y="454"/>
                    </a:lnTo>
                    <a:lnTo>
                      <a:pt x="0" y="454"/>
                    </a:lnTo>
                    <a:lnTo>
                      <a:pt x="2" y="1142"/>
                    </a:lnTo>
                    <a:lnTo>
                      <a:pt x="2" y="1142"/>
                    </a:lnTo>
                    <a:lnTo>
                      <a:pt x="2" y="1156"/>
                    </a:lnTo>
                    <a:lnTo>
                      <a:pt x="4" y="1170"/>
                    </a:lnTo>
                    <a:lnTo>
                      <a:pt x="8" y="1182"/>
                    </a:lnTo>
                    <a:lnTo>
                      <a:pt x="12" y="1188"/>
                    </a:lnTo>
                    <a:lnTo>
                      <a:pt x="18" y="1194"/>
                    </a:lnTo>
                    <a:lnTo>
                      <a:pt x="18" y="1194"/>
                    </a:lnTo>
                    <a:lnTo>
                      <a:pt x="30" y="1208"/>
                    </a:lnTo>
                    <a:lnTo>
                      <a:pt x="44" y="1218"/>
                    </a:lnTo>
                    <a:lnTo>
                      <a:pt x="58" y="1226"/>
                    </a:lnTo>
                    <a:lnTo>
                      <a:pt x="74" y="1228"/>
                    </a:lnTo>
                    <a:lnTo>
                      <a:pt x="90" y="1230"/>
                    </a:lnTo>
                    <a:lnTo>
                      <a:pt x="104" y="1226"/>
                    </a:lnTo>
                    <a:lnTo>
                      <a:pt x="120" y="1218"/>
                    </a:lnTo>
                    <a:lnTo>
                      <a:pt x="134" y="1208"/>
                    </a:lnTo>
                    <a:lnTo>
                      <a:pt x="134" y="1208"/>
                    </a:lnTo>
                    <a:lnTo>
                      <a:pt x="162" y="1182"/>
                    </a:lnTo>
                    <a:lnTo>
                      <a:pt x="162" y="1182"/>
                    </a:lnTo>
                    <a:lnTo>
                      <a:pt x="452" y="890"/>
                    </a:lnTo>
                    <a:lnTo>
                      <a:pt x="452" y="890"/>
                    </a:lnTo>
                    <a:lnTo>
                      <a:pt x="466" y="878"/>
                    </a:lnTo>
                    <a:lnTo>
                      <a:pt x="482" y="870"/>
                    </a:lnTo>
                    <a:lnTo>
                      <a:pt x="496" y="864"/>
                    </a:lnTo>
                    <a:lnTo>
                      <a:pt x="512" y="862"/>
                    </a:lnTo>
                    <a:lnTo>
                      <a:pt x="528" y="864"/>
                    </a:lnTo>
                    <a:lnTo>
                      <a:pt x="542" y="868"/>
                    </a:lnTo>
                    <a:lnTo>
                      <a:pt x="558" y="876"/>
                    </a:lnTo>
                    <a:lnTo>
                      <a:pt x="572" y="888"/>
                    </a:lnTo>
                    <a:lnTo>
                      <a:pt x="572" y="888"/>
                    </a:lnTo>
                    <a:lnTo>
                      <a:pt x="658" y="976"/>
                    </a:lnTo>
                    <a:lnTo>
                      <a:pt x="658" y="976"/>
                    </a:lnTo>
                    <a:lnTo>
                      <a:pt x="666" y="982"/>
                    </a:lnTo>
                    <a:lnTo>
                      <a:pt x="670" y="990"/>
                    </a:lnTo>
                    <a:lnTo>
                      <a:pt x="672" y="998"/>
                    </a:lnTo>
                    <a:lnTo>
                      <a:pt x="674" y="1006"/>
                    </a:lnTo>
                    <a:lnTo>
                      <a:pt x="674" y="1014"/>
                    </a:lnTo>
                    <a:lnTo>
                      <a:pt x="670" y="1020"/>
                    </a:lnTo>
                    <a:lnTo>
                      <a:pt x="666" y="1028"/>
                    </a:lnTo>
                    <a:lnTo>
                      <a:pt x="660" y="1036"/>
                    </a:lnTo>
                    <a:lnTo>
                      <a:pt x="660" y="1036"/>
                    </a:lnTo>
                    <a:lnTo>
                      <a:pt x="632" y="1064"/>
                    </a:lnTo>
                    <a:lnTo>
                      <a:pt x="602" y="1094"/>
                    </a:lnTo>
                    <a:lnTo>
                      <a:pt x="602" y="1094"/>
                    </a:lnTo>
                    <a:lnTo>
                      <a:pt x="594" y="1104"/>
                    </a:lnTo>
                    <a:lnTo>
                      <a:pt x="588" y="1116"/>
                    </a:lnTo>
                    <a:lnTo>
                      <a:pt x="586" y="1128"/>
                    </a:lnTo>
                    <a:lnTo>
                      <a:pt x="588" y="1134"/>
                    </a:lnTo>
                    <a:lnTo>
                      <a:pt x="590" y="1142"/>
                    </a:lnTo>
                    <a:lnTo>
                      <a:pt x="590" y="1142"/>
                    </a:lnTo>
                    <a:lnTo>
                      <a:pt x="598" y="1152"/>
                    </a:lnTo>
                    <a:lnTo>
                      <a:pt x="608" y="1160"/>
                    </a:lnTo>
                    <a:lnTo>
                      <a:pt x="620" y="1164"/>
                    </a:lnTo>
                    <a:lnTo>
                      <a:pt x="632" y="1164"/>
                    </a:lnTo>
                    <a:lnTo>
                      <a:pt x="632" y="1164"/>
                    </a:lnTo>
                    <a:lnTo>
                      <a:pt x="1122" y="1164"/>
                    </a:lnTo>
                    <a:lnTo>
                      <a:pt x="1122" y="1164"/>
                    </a:lnTo>
                    <a:lnTo>
                      <a:pt x="1132" y="1164"/>
                    </a:lnTo>
                    <a:lnTo>
                      <a:pt x="1142" y="1162"/>
                    </a:lnTo>
                    <a:lnTo>
                      <a:pt x="1148" y="1158"/>
                    </a:lnTo>
                    <a:lnTo>
                      <a:pt x="1154" y="1154"/>
                    </a:lnTo>
                    <a:lnTo>
                      <a:pt x="1160" y="1148"/>
                    </a:lnTo>
                    <a:lnTo>
                      <a:pt x="1162" y="1140"/>
                    </a:lnTo>
                    <a:lnTo>
                      <a:pt x="1164" y="1130"/>
                    </a:lnTo>
                    <a:lnTo>
                      <a:pt x="1166" y="1120"/>
                    </a:lnTo>
                    <a:lnTo>
                      <a:pt x="1166" y="1120"/>
                    </a:lnTo>
                    <a:lnTo>
                      <a:pt x="1166" y="632"/>
                    </a:lnTo>
                    <a:lnTo>
                      <a:pt x="1166" y="632"/>
                    </a:lnTo>
                    <a:lnTo>
                      <a:pt x="1164" y="618"/>
                    </a:lnTo>
                    <a:lnTo>
                      <a:pt x="1162" y="606"/>
                    </a:lnTo>
                    <a:lnTo>
                      <a:pt x="1154" y="596"/>
                    </a:lnTo>
                    <a:lnTo>
                      <a:pt x="1150" y="592"/>
                    </a:lnTo>
                    <a:lnTo>
                      <a:pt x="1144" y="590"/>
                    </a:lnTo>
                    <a:lnTo>
                      <a:pt x="1144" y="590"/>
                    </a:lnTo>
                    <a:lnTo>
                      <a:pt x="1130" y="586"/>
                    </a:lnTo>
                    <a:lnTo>
                      <a:pt x="1118" y="586"/>
                    </a:lnTo>
                    <a:lnTo>
                      <a:pt x="1106" y="592"/>
                    </a:lnTo>
                    <a:lnTo>
                      <a:pt x="1094" y="602"/>
                    </a:lnTo>
                    <a:lnTo>
                      <a:pt x="1094" y="602"/>
                    </a:lnTo>
                    <a:lnTo>
                      <a:pt x="1066" y="630"/>
                    </a:lnTo>
                    <a:lnTo>
                      <a:pt x="1038" y="658"/>
                    </a:lnTo>
                    <a:lnTo>
                      <a:pt x="1038" y="658"/>
                    </a:lnTo>
                    <a:lnTo>
                      <a:pt x="1030" y="664"/>
                    </a:lnTo>
                    <a:lnTo>
                      <a:pt x="1022" y="670"/>
                    </a:lnTo>
                    <a:lnTo>
                      <a:pt x="1014" y="672"/>
                    </a:lnTo>
                    <a:lnTo>
                      <a:pt x="1006" y="672"/>
                    </a:lnTo>
                    <a:lnTo>
                      <a:pt x="1000" y="672"/>
                    </a:lnTo>
                    <a:lnTo>
                      <a:pt x="992" y="668"/>
                    </a:lnTo>
                    <a:lnTo>
                      <a:pt x="984" y="664"/>
                    </a:lnTo>
                    <a:lnTo>
                      <a:pt x="976" y="658"/>
                    </a:lnTo>
                    <a:lnTo>
                      <a:pt x="976" y="658"/>
                    </a:lnTo>
                    <a:lnTo>
                      <a:pt x="904" y="586"/>
                    </a:lnTo>
                    <a:lnTo>
                      <a:pt x="904" y="586"/>
                    </a:lnTo>
                    <a:lnTo>
                      <a:pt x="886" y="566"/>
                    </a:lnTo>
                    <a:lnTo>
                      <a:pt x="874" y="546"/>
                    </a:lnTo>
                    <a:lnTo>
                      <a:pt x="866" y="530"/>
                    </a:lnTo>
                    <a:lnTo>
                      <a:pt x="864" y="520"/>
                    </a:lnTo>
                    <a:lnTo>
                      <a:pt x="862" y="512"/>
                    </a:lnTo>
                    <a:lnTo>
                      <a:pt x="864" y="504"/>
                    </a:lnTo>
                    <a:lnTo>
                      <a:pt x="866" y="494"/>
                    </a:lnTo>
                    <a:lnTo>
                      <a:pt x="874" y="478"/>
                    </a:lnTo>
                    <a:lnTo>
                      <a:pt x="886" y="458"/>
                    </a:lnTo>
                    <a:lnTo>
                      <a:pt x="904" y="438"/>
                    </a:lnTo>
                    <a:lnTo>
                      <a:pt x="904" y="438"/>
                    </a:lnTo>
                    <a:lnTo>
                      <a:pt x="1200" y="144"/>
                    </a:lnTo>
                    <a:lnTo>
                      <a:pt x="1200" y="144"/>
                    </a:lnTo>
                    <a:close/>
                  </a:path>
                </a:pathLst>
              </a:custGeom>
              <a:solidFill>
                <a:schemeClr val="accent1"/>
              </a:solidFill>
              <a:ln>
                <a:noFill/>
              </a:ln>
              <a:effectLst/>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latin typeface="+mj-ea"/>
                  <a:ea typeface="+mj-ea"/>
                  <a:cs typeface="OPPOSans M" panose="00020600040101010101" pitchFamily="18" charset="-122"/>
                </a:endParaRPr>
              </a:p>
            </p:txBody>
          </p:sp>
          <p:sp>
            <p:nvSpPr>
              <p:cNvPr id="148" name="靖飞在肝PPT22-1">
                <a:extLst>
                  <a:ext uri="{FF2B5EF4-FFF2-40B4-BE49-F238E27FC236}">
                    <a16:creationId xmlns:a16="http://schemas.microsoft.com/office/drawing/2014/main" id="{B6CFB8F7-5C80-4859-9FAC-9617E4B94DE2}"/>
                  </a:ext>
                </a:extLst>
              </p:cNvPr>
              <p:cNvSpPr txBox="1"/>
              <p:nvPr/>
            </p:nvSpPr>
            <p:spPr>
              <a:xfrm rot="18900000">
                <a:off x="7607042" y="4296095"/>
                <a:ext cx="426720" cy="584775"/>
              </a:xfrm>
              <a:prstGeom prst="rect">
                <a:avLst/>
              </a:prstGeom>
              <a:noFill/>
            </p:spPr>
            <p:txBody>
              <a:bodyPr wrap="none" rtlCol="0">
                <a:spAutoFit/>
              </a:bodyPr>
              <a:lstStyle/>
              <a:p>
                <a:r>
                  <a:rPr lang="en-US" altLang="zh-CN" sz="3200" dirty="0">
                    <a:solidFill>
                      <a:schemeClr val="bg1"/>
                    </a:solidFill>
                    <a:latin typeface="思源黑体 CN Bold" panose="020B0800000000000000" pitchFamily="34" charset="-122"/>
                    <a:ea typeface="思源黑体 CN Bold" panose="020B0800000000000000" pitchFamily="34" charset="-122"/>
                    <a:cs typeface="OPPOSans M" panose="00020600040101010101" pitchFamily="18" charset="-122"/>
                  </a:rPr>
                  <a:t>4</a:t>
                </a:r>
                <a:endParaRPr lang="zh-CN" altLang="en-US" sz="3200" dirty="0">
                  <a:solidFill>
                    <a:schemeClr val="bg1"/>
                  </a:solidFill>
                  <a:latin typeface="思源黑体 CN Bold" panose="020B0800000000000000" pitchFamily="34" charset="-122"/>
                  <a:ea typeface="思源黑体 CN Bold" panose="020B0800000000000000" pitchFamily="34" charset="-122"/>
                  <a:cs typeface="OPPOSans M" panose="00020600040101010101" pitchFamily="18" charset="-122"/>
                </a:endParaRPr>
              </a:p>
            </p:txBody>
          </p:sp>
        </p:grpSp>
        <p:grpSp>
          <p:nvGrpSpPr>
            <p:cNvPr id="13" name="组合 12">
              <a:extLst>
                <a:ext uri="{FF2B5EF4-FFF2-40B4-BE49-F238E27FC236}">
                  <a16:creationId xmlns:a16="http://schemas.microsoft.com/office/drawing/2014/main" id="{1FD02EFA-3292-4D84-B145-A6AFB9371D19}"/>
                </a:ext>
              </a:extLst>
            </p:cNvPr>
            <p:cNvGrpSpPr/>
            <p:nvPr/>
          </p:nvGrpSpPr>
          <p:grpSpPr>
            <a:xfrm>
              <a:off x="6135055" y="2918461"/>
              <a:ext cx="979559" cy="979559"/>
              <a:chOff x="6135055" y="2918461"/>
              <a:chExt cx="979559" cy="979559"/>
            </a:xfrm>
          </p:grpSpPr>
          <p:sp>
            <p:nvSpPr>
              <p:cNvPr id="141" name="靖飞在肝PPT18">
                <a:extLst>
                  <a:ext uri="{FF2B5EF4-FFF2-40B4-BE49-F238E27FC236}">
                    <a16:creationId xmlns:a16="http://schemas.microsoft.com/office/drawing/2014/main" id="{AAB20313-872E-4DE8-A988-3BEB8E7FC1A3}"/>
                  </a:ext>
                </a:extLst>
              </p:cNvPr>
              <p:cNvSpPr>
                <a:spLocks noEditPoints="1"/>
              </p:cNvSpPr>
              <p:nvPr/>
            </p:nvSpPr>
            <p:spPr bwMode="auto">
              <a:xfrm>
                <a:off x="6135055" y="2918461"/>
                <a:ext cx="979559" cy="979559"/>
              </a:xfrm>
              <a:custGeom>
                <a:avLst/>
                <a:gdLst>
                  <a:gd name="T0" fmla="*/ 1228 w 1230"/>
                  <a:gd name="T1" fmla="*/ 590 h 1230"/>
                  <a:gd name="T2" fmla="*/ 1230 w 1230"/>
                  <a:gd name="T3" fmla="*/ 92 h 1230"/>
                  <a:gd name="T4" fmla="*/ 1218 w 1230"/>
                  <a:gd name="T5" fmla="*/ 40 h 1230"/>
                  <a:gd name="T6" fmla="*/ 1180 w 1230"/>
                  <a:gd name="T7" fmla="*/ 8 h 1230"/>
                  <a:gd name="T8" fmla="*/ 1142 w 1230"/>
                  <a:gd name="T9" fmla="*/ 0 h 1230"/>
                  <a:gd name="T10" fmla="*/ 1096 w 1230"/>
                  <a:gd name="T11" fmla="*/ 22 h 1230"/>
                  <a:gd name="T12" fmla="*/ 774 w 1230"/>
                  <a:gd name="T13" fmla="*/ 340 h 1230"/>
                  <a:gd name="T14" fmla="*/ 722 w 1230"/>
                  <a:gd name="T15" fmla="*/ 368 h 1230"/>
                  <a:gd name="T16" fmla="*/ 668 w 1230"/>
                  <a:gd name="T17" fmla="*/ 348 h 1230"/>
                  <a:gd name="T18" fmla="*/ 570 w 1230"/>
                  <a:gd name="T19" fmla="*/ 250 h 1230"/>
                  <a:gd name="T20" fmla="*/ 558 w 1230"/>
                  <a:gd name="T21" fmla="*/ 230 h 1230"/>
                  <a:gd name="T22" fmla="*/ 566 w 1230"/>
                  <a:gd name="T23" fmla="*/ 204 h 1230"/>
                  <a:gd name="T24" fmla="*/ 634 w 1230"/>
                  <a:gd name="T25" fmla="*/ 130 h 1230"/>
                  <a:gd name="T26" fmla="*/ 644 w 1230"/>
                  <a:gd name="T27" fmla="*/ 98 h 1230"/>
                  <a:gd name="T28" fmla="*/ 628 w 1230"/>
                  <a:gd name="T29" fmla="*/ 72 h 1230"/>
                  <a:gd name="T30" fmla="*/ 586 w 1230"/>
                  <a:gd name="T31" fmla="*/ 66 h 1230"/>
                  <a:gd name="T32" fmla="*/ 106 w 1230"/>
                  <a:gd name="T33" fmla="*/ 66 h 1230"/>
                  <a:gd name="T34" fmla="*/ 70 w 1230"/>
                  <a:gd name="T35" fmla="*/ 84 h 1230"/>
                  <a:gd name="T36" fmla="*/ 66 w 1230"/>
                  <a:gd name="T37" fmla="*/ 122 h 1230"/>
                  <a:gd name="T38" fmla="*/ 66 w 1230"/>
                  <a:gd name="T39" fmla="*/ 614 h 1230"/>
                  <a:gd name="T40" fmla="*/ 84 w 1230"/>
                  <a:gd name="T41" fmla="*/ 642 h 1230"/>
                  <a:gd name="T42" fmla="*/ 124 w 1230"/>
                  <a:gd name="T43" fmla="*/ 640 h 1230"/>
                  <a:gd name="T44" fmla="*/ 198 w 1230"/>
                  <a:gd name="T45" fmla="*/ 572 h 1230"/>
                  <a:gd name="T46" fmla="*/ 222 w 1230"/>
                  <a:gd name="T47" fmla="*/ 560 h 1230"/>
                  <a:gd name="T48" fmla="*/ 248 w 1230"/>
                  <a:gd name="T49" fmla="*/ 572 h 1230"/>
                  <a:gd name="T50" fmla="*/ 332 w 1230"/>
                  <a:gd name="T51" fmla="*/ 652 h 1230"/>
                  <a:gd name="T52" fmla="*/ 366 w 1230"/>
                  <a:gd name="T53" fmla="*/ 718 h 1230"/>
                  <a:gd name="T54" fmla="*/ 330 w 1230"/>
                  <a:gd name="T55" fmla="*/ 784 h 1230"/>
                  <a:gd name="T56" fmla="*/ 22 w 1230"/>
                  <a:gd name="T57" fmla="*/ 1094 h 1230"/>
                  <a:gd name="T58" fmla="*/ 0 w 1230"/>
                  <a:gd name="T59" fmla="*/ 1142 h 1230"/>
                  <a:gd name="T60" fmla="*/ 8 w 1230"/>
                  <a:gd name="T61" fmla="*/ 1182 h 1230"/>
                  <a:gd name="T62" fmla="*/ 42 w 1230"/>
                  <a:gd name="T63" fmla="*/ 1220 h 1230"/>
                  <a:gd name="T64" fmla="*/ 94 w 1230"/>
                  <a:gd name="T65" fmla="*/ 1230 h 1230"/>
                  <a:gd name="T66" fmla="*/ 792 w 1230"/>
                  <a:gd name="T67" fmla="*/ 1228 h 1230"/>
                  <a:gd name="T68" fmla="*/ 838 w 1230"/>
                  <a:gd name="T69" fmla="*/ 1204 h 1230"/>
                  <a:gd name="T70" fmla="*/ 1174 w 1230"/>
                  <a:gd name="T71" fmla="*/ 870 h 1230"/>
                  <a:gd name="T72" fmla="*/ 1224 w 1230"/>
                  <a:gd name="T73" fmla="*/ 800 h 1230"/>
                  <a:gd name="T74" fmla="*/ 1230 w 1230"/>
                  <a:gd name="T75" fmla="*/ 746 h 1230"/>
                  <a:gd name="T76" fmla="*/ 738 w 1230"/>
                  <a:gd name="T77" fmla="*/ 754 h 1230"/>
                  <a:gd name="T78" fmla="*/ 738 w 1230"/>
                  <a:gd name="T79" fmla="*/ 740 h 1230"/>
                  <a:gd name="T80" fmla="*/ 692 w 1230"/>
                  <a:gd name="T81" fmla="*/ 728 h 1230"/>
                  <a:gd name="T82" fmla="*/ 696 w 1230"/>
                  <a:gd name="T83" fmla="*/ 716 h 1230"/>
                  <a:gd name="T84" fmla="*/ 702 w 1230"/>
                  <a:gd name="T85" fmla="*/ 706 h 1230"/>
                  <a:gd name="T86" fmla="*/ 708 w 1230"/>
                  <a:gd name="T87" fmla="*/ 686 h 1230"/>
                  <a:gd name="T88" fmla="*/ 706 w 1230"/>
                  <a:gd name="T89" fmla="*/ 690 h 1230"/>
                  <a:gd name="T90" fmla="*/ 726 w 1230"/>
                  <a:gd name="T91" fmla="*/ 726 h 1230"/>
                  <a:gd name="T92" fmla="*/ 726 w 1230"/>
                  <a:gd name="T93" fmla="*/ 726 h 1230"/>
                  <a:gd name="T94" fmla="*/ 724 w 1230"/>
                  <a:gd name="T95" fmla="*/ 774 h 1230"/>
                  <a:gd name="T96" fmla="*/ 742 w 1230"/>
                  <a:gd name="T97" fmla="*/ 784 h 1230"/>
                  <a:gd name="T98" fmla="*/ 730 w 1230"/>
                  <a:gd name="T99" fmla="*/ 776 h 12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1230" h="1230">
                    <a:moveTo>
                      <a:pt x="1230" y="746"/>
                    </a:moveTo>
                    <a:lnTo>
                      <a:pt x="1230" y="746"/>
                    </a:lnTo>
                    <a:lnTo>
                      <a:pt x="1228" y="668"/>
                    </a:lnTo>
                    <a:lnTo>
                      <a:pt x="1228" y="590"/>
                    </a:lnTo>
                    <a:lnTo>
                      <a:pt x="1230" y="434"/>
                    </a:lnTo>
                    <a:lnTo>
                      <a:pt x="1230" y="434"/>
                    </a:lnTo>
                    <a:lnTo>
                      <a:pt x="1230" y="92"/>
                    </a:lnTo>
                    <a:lnTo>
                      <a:pt x="1230" y="92"/>
                    </a:lnTo>
                    <a:lnTo>
                      <a:pt x="1228" y="78"/>
                    </a:lnTo>
                    <a:lnTo>
                      <a:pt x="1226" y="64"/>
                    </a:lnTo>
                    <a:lnTo>
                      <a:pt x="1224" y="52"/>
                    </a:lnTo>
                    <a:lnTo>
                      <a:pt x="1218" y="40"/>
                    </a:lnTo>
                    <a:lnTo>
                      <a:pt x="1212" y="30"/>
                    </a:lnTo>
                    <a:lnTo>
                      <a:pt x="1204" y="22"/>
                    </a:lnTo>
                    <a:lnTo>
                      <a:pt x="1192" y="14"/>
                    </a:lnTo>
                    <a:lnTo>
                      <a:pt x="1180" y="8"/>
                    </a:lnTo>
                    <a:lnTo>
                      <a:pt x="1180" y="8"/>
                    </a:lnTo>
                    <a:lnTo>
                      <a:pt x="1166" y="2"/>
                    </a:lnTo>
                    <a:lnTo>
                      <a:pt x="1154" y="0"/>
                    </a:lnTo>
                    <a:lnTo>
                      <a:pt x="1142" y="0"/>
                    </a:lnTo>
                    <a:lnTo>
                      <a:pt x="1130" y="2"/>
                    </a:lnTo>
                    <a:lnTo>
                      <a:pt x="1118" y="8"/>
                    </a:lnTo>
                    <a:lnTo>
                      <a:pt x="1106" y="14"/>
                    </a:lnTo>
                    <a:lnTo>
                      <a:pt x="1096" y="22"/>
                    </a:lnTo>
                    <a:lnTo>
                      <a:pt x="1086" y="30"/>
                    </a:lnTo>
                    <a:lnTo>
                      <a:pt x="1086" y="30"/>
                    </a:lnTo>
                    <a:lnTo>
                      <a:pt x="774" y="340"/>
                    </a:lnTo>
                    <a:lnTo>
                      <a:pt x="774" y="340"/>
                    </a:lnTo>
                    <a:lnTo>
                      <a:pt x="762" y="352"/>
                    </a:lnTo>
                    <a:lnTo>
                      <a:pt x="750" y="360"/>
                    </a:lnTo>
                    <a:lnTo>
                      <a:pt x="736" y="366"/>
                    </a:lnTo>
                    <a:lnTo>
                      <a:pt x="722" y="368"/>
                    </a:lnTo>
                    <a:lnTo>
                      <a:pt x="708" y="368"/>
                    </a:lnTo>
                    <a:lnTo>
                      <a:pt x="694" y="364"/>
                    </a:lnTo>
                    <a:lnTo>
                      <a:pt x="682" y="358"/>
                    </a:lnTo>
                    <a:lnTo>
                      <a:pt x="668" y="348"/>
                    </a:lnTo>
                    <a:lnTo>
                      <a:pt x="668" y="348"/>
                    </a:lnTo>
                    <a:lnTo>
                      <a:pt x="642" y="324"/>
                    </a:lnTo>
                    <a:lnTo>
                      <a:pt x="616" y="300"/>
                    </a:lnTo>
                    <a:lnTo>
                      <a:pt x="570" y="250"/>
                    </a:lnTo>
                    <a:lnTo>
                      <a:pt x="570" y="250"/>
                    </a:lnTo>
                    <a:lnTo>
                      <a:pt x="564" y="242"/>
                    </a:lnTo>
                    <a:lnTo>
                      <a:pt x="560" y="236"/>
                    </a:lnTo>
                    <a:lnTo>
                      <a:pt x="558" y="230"/>
                    </a:lnTo>
                    <a:lnTo>
                      <a:pt x="558" y="224"/>
                    </a:lnTo>
                    <a:lnTo>
                      <a:pt x="558" y="216"/>
                    </a:lnTo>
                    <a:lnTo>
                      <a:pt x="562" y="210"/>
                    </a:lnTo>
                    <a:lnTo>
                      <a:pt x="566" y="204"/>
                    </a:lnTo>
                    <a:lnTo>
                      <a:pt x="572" y="198"/>
                    </a:lnTo>
                    <a:lnTo>
                      <a:pt x="572" y="198"/>
                    </a:lnTo>
                    <a:lnTo>
                      <a:pt x="604" y="164"/>
                    </a:lnTo>
                    <a:lnTo>
                      <a:pt x="634" y="130"/>
                    </a:lnTo>
                    <a:lnTo>
                      <a:pt x="634" y="130"/>
                    </a:lnTo>
                    <a:lnTo>
                      <a:pt x="642" y="120"/>
                    </a:lnTo>
                    <a:lnTo>
                      <a:pt x="644" y="110"/>
                    </a:lnTo>
                    <a:lnTo>
                      <a:pt x="644" y="98"/>
                    </a:lnTo>
                    <a:lnTo>
                      <a:pt x="640" y="88"/>
                    </a:lnTo>
                    <a:lnTo>
                      <a:pt x="640" y="88"/>
                    </a:lnTo>
                    <a:lnTo>
                      <a:pt x="636" y="78"/>
                    </a:lnTo>
                    <a:lnTo>
                      <a:pt x="628" y="72"/>
                    </a:lnTo>
                    <a:lnTo>
                      <a:pt x="618" y="68"/>
                    </a:lnTo>
                    <a:lnTo>
                      <a:pt x="608" y="66"/>
                    </a:lnTo>
                    <a:lnTo>
                      <a:pt x="608" y="66"/>
                    </a:lnTo>
                    <a:lnTo>
                      <a:pt x="586" y="66"/>
                    </a:lnTo>
                    <a:lnTo>
                      <a:pt x="586" y="66"/>
                    </a:lnTo>
                    <a:lnTo>
                      <a:pt x="122" y="66"/>
                    </a:lnTo>
                    <a:lnTo>
                      <a:pt x="122" y="66"/>
                    </a:lnTo>
                    <a:lnTo>
                      <a:pt x="106" y="66"/>
                    </a:lnTo>
                    <a:lnTo>
                      <a:pt x="92" y="68"/>
                    </a:lnTo>
                    <a:lnTo>
                      <a:pt x="82" y="72"/>
                    </a:lnTo>
                    <a:lnTo>
                      <a:pt x="76" y="76"/>
                    </a:lnTo>
                    <a:lnTo>
                      <a:pt x="70" y="84"/>
                    </a:lnTo>
                    <a:lnTo>
                      <a:pt x="68" y="92"/>
                    </a:lnTo>
                    <a:lnTo>
                      <a:pt x="66" y="106"/>
                    </a:lnTo>
                    <a:lnTo>
                      <a:pt x="66" y="122"/>
                    </a:lnTo>
                    <a:lnTo>
                      <a:pt x="66" y="122"/>
                    </a:lnTo>
                    <a:lnTo>
                      <a:pt x="66" y="568"/>
                    </a:lnTo>
                    <a:lnTo>
                      <a:pt x="66" y="568"/>
                    </a:lnTo>
                    <a:lnTo>
                      <a:pt x="66" y="614"/>
                    </a:lnTo>
                    <a:lnTo>
                      <a:pt x="66" y="614"/>
                    </a:lnTo>
                    <a:lnTo>
                      <a:pt x="70" y="626"/>
                    </a:lnTo>
                    <a:lnTo>
                      <a:pt x="72" y="632"/>
                    </a:lnTo>
                    <a:lnTo>
                      <a:pt x="76" y="636"/>
                    </a:lnTo>
                    <a:lnTo>
                      <a:pt x="84" y="642"/>
                    </a:lnTo>
                    <a:lnTo>
                      <a:pt x="98" y="644"/>
                    </a:lnTo>
                    <a:lnTo>
                      <a:pt x="98" y="644"/>
                    </a:lnTo>
                    <a:lnTo>
                      <a:pt x="112" y="644"/>
                    </a:lnTo>
                    <a:lnTo>
                      <a:pt x="124" y="640"/>
                    </a:lnTo>
                    <a:lnTo>
                      <a:pt x="134" y="634"/>
                    </a:lnTo>
                    <a:lnTo>
                      <a:pt x="144" y="624"/>
                    </a:lnTo>
                    <a:lnTo>
                      <a:pt x="144" y="624"/>
                    </a:lnTo>
                    <a:lnTo>
                      <a:pt x="198" y="572"/>
                    </a:lnTo>
                    <a:lnTo>
                      <a:pt x="198" y="572"/>
                    </a:lnTo>
                    <a:lnTo>
                      <a:pt x="210" y="564"/>
                    </a:lnTo>
                    <a:lnTo>
                      <a:pt x="216" y="560"/>
                    </a:lnTo>
                    <a:lnTo>
                      <a:pt x="222" y="560"/>
                    </a:lnTo>
                    <a:lnTo>
                      <a:pt x="230" y="560"/>
                    </a:lnTo>
                    <a:lnTo>
                      <a:pt x="236" y="562"/>
                    </a:lnTo>
                    <a:lnTo>
                      <a:pt x="242" y="566"/>
                    </a:lnTo>
                    <a:lnTo>
                      <a:pt x="248" y="572"/>
                    </a:lnTo>
                    <a:lnTo>
                      <a:pt x="248" y="572"/>
                    </a:lnTo>
                    <a:lnTo>
                      <a:pt x="290" y="610"/>
                    </a:lnTo>
                    <a:lnTo>
                      <a:pt x="332" y="652"/>
                    </a:lnTo>
                    <a:lnTo>
                      <a:pt x="332" y="652"/>
                    </a:lnTo>
                    <a:lnTo>
                      <a:pt x="348" y="668"/>
                    </a:lnTo>
                    <a:lnTo>
                      <a:pt x="358" y="686"/>
                    </a:lnTo>
                    <a:lnTo>
                      <a:pt x="364" y="702"/>
                    </a:lnTo>
                    <a:lnTo>
                      <a:pt x="366" y="718"/>
                    </a:lnTo>
                    <a:lnTo>
                      <a:pt x="364" y="734"/>
                    </a:lnTo>
                    <a:lnTo>
                      <a:pt x="358" y="750"/>
                    </a:lnTo>
                    <a:lnTo>
                      <a:pt x="346" y="768"/>
                    </a:lnTo>
                    <a:lnTo>
                      <a:pt x="330" y="784"/>
                    </a:lnTo>
                    <a:lnTo>
                      <a:pt x="330" y="784"/>
                    </a:lnTo>
                    <a:lnTo>
                      <a:pt x="32" y="1082"/>
                    </a:lnTo>
                    <a:lnTo>
                      <a:pt x="32" y="1082"/>
                    </a:lnTo>
                    <a:lnTo>
                      <a:pt x="22" y="1094"/>
                    </a:lnTo>
                    <a:lnTo>
                      <a:pt x="14" y="1106"/>
                    </a:lnTo>
                    <a:lnTo>
                      <a:pt x="8" y="1116"/>
                    </a:lnTo>
                    <a:lnTo>
                      <a:pt x="2" y="1128"/>
                    </a:lnTo>
                    <a:lnTo>
                      <a:pt x="0" y="1142"/>
                    </a:lnTo>
                    <a:lnTo>
                      <a:pt x="0" y="1154"/>
                    </a:lnTo>
                    <a:lnTo>
                      <a:pt x="2" y="1168"/>
                    </a:lnTo>
                    <a:lnTo>
                      <a:pt x="8" y="1182"/>
                    </a:lnTo>
                    <a:lnTo>
                      <a:pt x="8" y="1182"/>
                    </a:lnTo>
                    <a:lnTo>
                      <a:pt x="14" y="1196"/>
                    </a:lnTo>
                    <a:lnTo>
                      <a:pt x="22" y="1206"/>
                    </a:lnTo>
                    <a:lnTo>
                      <a:pt x="32" y="1214"/>
                    </a:lnTo>
                    <a:lnTo>
                      <a:pt x="42" y="1220"/>
                    </a:lnTo>
                    <a:lnTo>
                      <a:pt x="54" y="1224"/>
                    </a:lnTo>
                    <a:lnTo>
                      <a:pt x="66" y="1228"/>
                    </a:lnTo>
                    <a:lnTo>
                      <a:pt x="80" y="1230"/>
                    </a:lnTo>
                    <a:lnTo>
                      <a:pt x="94" y="1230"/>
                    </a:lnTo>
                    <a:lnTo>
                      <a:pt x="94" y="1230"/>
                    </a:lnTo>
                    <a:lnTo>
                      <a:pt x="774" y="1230"/>
                    </a:lnTo>
                    <a:lnTo>
                      <a:pt x="774" y="1230"/>
                    </a:lnTo>
                    <a:lnTo>
                      <a:pt x="792" y="1228"/>
                    </a:lnTo>
                    <a:lnTo>
                      <a:pt x="810" y="1224"/>
                    </a:lnTo>
                    <a:lnTo>
                      <a:pt x="824" y="1216"/>
                    </a:lnTo>
                    <a:lnTo>
                      <a:pt x="838" y="1204"/>
                    </a:lnTo>
                    <a:lnTo>
                      <a:pt x="838" y="1204"/>
                    </a:lnTo>
                    <a:lnTo>
                      <a:pt x="900" y="1144"/>
                    </a:lnTo>
                    <a:lnTo>
                      <a:pt x="900" y="1144"/>
                    </a:lnTo>
                    <a:lnTo>
                      <a:pt x="1174" y="870"/>
                    </a:lnTo>
                    <a:lnTo>
                      <a:pt x="1174" y="870"/>
                    </a:lnTo>
                    <a:lnTo>
                      <a:pt x="1198" y="844"/>
                    </a:lnTo>
                    <a:lnTo>
                      <a:pt x="1208" y="830"/>
                    </a:lnTo>
                    <a:lnTo>
                      <a:pt x="1216" y="816"/>
                    </a:lnTo>
                    <a:lnTo>
                      <a:pt x="1224" y="800"/>
                    </a:lnTo>
                    <a:lnTo>
                      <a:pt x="1228" y="784"/>
                    </a:lnTo>
                    <a:lnTo>
                      <a:pt x="1230" y="766"/>
                    </a:lnTo>
                    <a:lnTo>
                      <a:pt x="1230" y="746"/>
                    </a:lnTo>
                    <a:lnTo>
                      <a:pt x="1230" y="746"/>
                    </a:lnTo>
                    <a:close/>
                    <a:moveTo>
                      <a:pt x="738" y="740"/>
                    </a:moveTo>
                    <a:lnTo>
                      <a:pt x="738" y="740"/>
                    </a:lnTo>
                    <a:lnTo>
                      <a:pt x="740" y="748"/>
                    </a:lnTo>
                    <a:lnTo>
                      <a:pt x="738" y="754"/>
                    </a:lnTo>
                    <a:lnTo>
                      <a:pt x="738" y="754"/>
                    </a:lnTo>
                    <a:lnTo>
                      <a:pt x="740" y="748"/>
                    </a:lnTo>
                    <a:lnTo>
                      <a:pt x="738" y="740"/>
                    </a:lnTo>
                    <a:lnTo>
                      <a:pt x="738" y="740"/>
                    </a:lnTo>
                    <a:close/>
                    <a:moveTo>
                      <a:pt x="702" y="706"/>
                    </a:moveTo>
                    <a:lnTo>
                      <a:pt x="702" y="706"/>
                    </a:lnTo>
                    <a:lnTo>
                      <a:pt x="696" y="716"/>
                    </a:lnTo>
                    <a:lnTo>
                      <a:pt x="692" y="728"/>
                    </a:lnTo>
                    <a:lnTo>
                      <a:pt x="682" y="750"/>
                    </a:lnTo>
                    <a:lnTo>
                      <a:pt x="682" y="750"/>
                    </a:lnTo>
                    <a:lnTo>
                      <a:pt x="692" y="728"/>
                    </a:lnTo>
                    <a:lnTo>
                      <a:pt x="696" y="716"/>
                    </a:lnTo>
                    <a:lnTo>
                      <a:pt x="702" y="706"/>
                    </a:lnTo>
                    <a:lnTo>
                      <a:pt x="702" y="706"/>
                    </a:lnTo>
                    <a:lnTo>
                      <a:pt x="702" y="706"/>
                    </a:lnTo>
                    <a:lnTo>
                      <a:pt x="702" y="706"/>
                    </a:lnTo>
                    <a:close/>
                    <a:moveTo>
                      <a:pt x="704" y="698"/>
                    </a:moveTo>
                    <a:lnTo>
                      <a:pt x="704" y="698"/>
                    </a:lnTo>
                    <a:lnTo>
                      <a:pt x="706" y="690"/>
                    </a:lnTo>
                    <a:lnTo>
                      <a:pt x="708" y="686"/>
                    </a:lnTo>
                    <a:lnTo>
                      <a:pt x="712" y="684"/>
                    </a:lnTo>
                    <a:lnTo>
                      <a:pt x="712" y="684"/>
                    </a:lnTo>
                    <a:lnTo>
                      <a:pt x="708" y="686"/>
                    </a:lnTo>
                    <a:lnTo>
                      <a:pt x="706" y="690"/>
                    </a:lnTo>
                    <a:lnTo>
                      <a:pt x="704" y="698"/>
                    </a:lnTo>
                    <a:lnTo>
                      <a:pt x="704" y="698"/>
                    </a:lnTo>
                    <a:close/>
                    <a:moveTo>
                      <a:pt x="726" y="726"/>
                    </a:moveTo>
                    <a:lnTo>
                      <a:pt x="726" y="726"/>
                    </a:lnTo>
                    <a:lnTo>
                      <a:pt x="724" y="720"/>
                    </a:lnTo>
                    <a:lnTo>
                      <a:pt x="724" y="720"/>
                    </a:lnTo>
                    <a:lnTo>
                      <a:pt x="726" y="726"/>
                    </a:lnTo>
                    <a:lnTo>
                      <a:pt x="726" y="726"/>
                    </a:lnTo>
                    <a:close/>
                    <a:moveTo>
                      <a:pt x="724" y="774"/>
                    </a:moveTo>
                    <a:lnTo>
                      <a:pt x="724" y="774"/>
                    </a:lnTo>
                    <a:lnTo>
                      <a:pt x="724" y="774"/>
                    </a:lnTo>
                    <a:lnTo>
                      <a:pt x="724" y="774"/>
                    </a:lnTo>
                    <a:lnTo>
                      <a:pt x="730" y="776"/>
                    </a:lnTo>
                    <a:lnTo>
                      <a:pt x="736" y="776"/>
                    </a:lnTo>
                    <a:lnTo>
                      <a:pt x="740" y="780"/>
                    </a:lnTo>
                    <a:lnTo>
                      <a:pt x="742" y="784"/>
                    </a:lnTo>
                    <a:lnTo>
                      <a:pt x="742" y="784"/>
                    </a:lnTo>
                    <a:lnTo>
                      <a:pt x="740" y="780"/>
                    </a:lnTo>
                    <a:lnTo>
                      <a:pt x="736" y="776"/>
                    </a:lnTo>
                    <a:lnTo>
                      <a:pt x="730" y="776"/>
                    </a:lnTo>
                    <a:lnTo>
                      <a:pt x="724" y="774"/>
                    </a:lnTo>
                    <a:lnTo>
                      <a:pt x="724" y="774"/>
                    </a:lnTo>
                    <a:close/>
                  </a:path>
                </a:pathLst>
              </a:custGeom>
              <a:solidFill>
                <a:schemeClr val="accent1"/>
              </a:solidFill>
              <a:ln>
                <a:noFill/>
              </a:ln>
              <a:effectLst/>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latin typeface="+mj-ea"/>
                  <a:ea typeface="+mj-ea"/>
                  <a:cs typeface="OPPOSans M" panose="00020600040101010101" pitchFamily="18" charset="-122"/>
                </a:endParaRPr>
              </a:p>
            </p:txBody>
          </p:sp>
          <p:sp>
            <p:nvSpPr>
              <p:cNvPr id="145" name="靖飞在肝PPT21-1">
                <a:extLst>
                  <a:ext uri="{FF2B5EF4-FFF2-40B4-BE49-F238E27FC236}">
                    <a16:creationId xmlns:a16="http://schemas.microsoft.com/office/drawing/2014/main" id="{EA17BCDC-50BB-4A5A-A2C4-D7438F33F777}"/>
                  </a:ext>
                </a:extLst>
              </p:cNvPr>
              <p:cNvSpPr txBox="1"/>
              <p:nvPr/>
            </p:nvSpPr>
            <p:spPr>
              <a:xfrm rot="18900000">
                <a:off x="6236757" y="2930180"/>
                <a:ext cx="426720" cy="584775"/>
              </a:xfrm>
              <a:prstGeom prst="rect">
                <a:avLst/>
              </a:prstGeom>
              <a:noFill/>
            </p:spPr>
            <p:txBody>
              <a:bodyPr wrap="none" rtlCol="0">
                <a:spAutoFit/>
              </a:bodyPr>
              <a:lstStyle/>
              <a:p>
                <a:r>
                  <a:rPr lang="en-US" altLang="zh-CN" sz="3200" dirty="0">
                    <a:solidFill>
                      <a:schemeClr val="bg1"/>
                    </a:solidFill>
                    <a:latin typeface="思源黑体 CN Bold" panose="020B0800000000000000" pitchFamily="34" charset="-122"/>
                    <a:ea typeface="思源黑体 CN Bold" panose="020B0800000000000000" pitchFamily="34" charset="-122"/>
                    <a:cs typeface="OPPOSans M" panose="00020600040101010101" pitchFamily="18" charset="-122"/>
                  </a:rPr>
                  <a:t>1</a:t>
                </a:r>
                <a:endParaRPr lang="zh-CN" altLang="en-US" sz="3200" dirty="0">
                  <a:solidFill>
                    <a:schemeClr val="bg1"/>
                  </a:solidFill>
                  <a:latin typeface="思源黑体 CN Bold" panose="020B0800000000000000" pitchFamily="34" charset="-122"/>
                  <a:ea typeface="思源黑体 CN Bold" panose="020B0800000000000000" pitchFamily="34" charset="-122"/>
                  <a:cs typeface="OPPOSans M" panose="00020600040101010101" pitchFamily="18" charset="-122"/>
                </a:endParaRPr>
              </a:p>
            </p:txBody>
          </p:sp>
        </p:grpSp>
        <p:grpSp>
          <p:nvGrpSpPr>
            <p:cNvPr id="10" name="组合 9">
              <a:extLst>
                <a:ext uri="{FF2B5EF4-FFF2-40B4-BE49-F238E27FC236}">
                  <a16:creationId xmlns:a16="http://schemas.microsoft.com/office/drawing/2014/main" id="{DC1F5327-D114-4C6D-88B6-AF0C5CAA5FEB}"/>
                </a:ext>
              </a:extLst>
            </p:cNvPr>
            <p:cNvGrpSpPr/>
            <p:nvPr/>
          </p:nvGrpSpPr>
          <p:grpSpPr>
            <a:xfrm>
              <a:off x="7138506" y="2918461"/>
              <a:ext cx="979559" cy="977966"/>
              <a:chOff x="7138506" y="2918461"/>
              <a:chExt cx="979559" cy="977966"/>
            </a:xfrm>
          </p:grpSpPr>
          <p:sp>
            <p:nvSpPr>
              <p:cNvPr id="140" name="靖飞在肝PPT17">
                <a:extLst>
                  <a:ext uri="{FF2B5EF4-FFF2-40B4-BE49-F238E27FC236}">
                    <a16:creationId xmlns:a16="http://schemas.microsoft.com/office/drawing/2014/main" id="{E3038F30-DCC5-43EC-B068-87CD88FE2010}"/>
                  </a:ext>
                </a:extLst>
              </p:cNvPr>
              <p:cNvSpPr/>
              <p:nvPr/>
            </p:nvSpPr>
            <p:spPr bwMode="auto">
              <a:xfrm>
                <a:off x="7138506" y="2918461"/>
                <a:ext cx="979559" cy="977966"/>
              </a:xfrm>
              <a:custGeom>
                <a:avLst/>
                <a:gdLst>
                  <a:gd name="T0" fmla="*/ 894 w 1230"/>
                  <a:gd name="T1" fmla="*/ 780 h 1228"/>
                  <a:gd name="T2" fmla="*/ 872 w 1230"/>
                  <a:gd name="T3" fmla="*/ 752 h 1228"/>
                  <a:gd name="T4" fmla="*/ 864 w 1230"/>
                  <a:gd name="T5" fmla="*/ 706 h 1228"/>
                  <a:gd name="T6" fmla="*/ 886 w 1230"/>
                  <a:gd name="T7" fmla="*/ 662 h 1228"/>
                  <a:gd name="T8" fmla="*/ 978 w 1230"/>
                  <a:gd name="T9" fmla="*/ 572 h 1228"/>
                  <a:gd name="T10" fmla="*/ 992 w 1230"/>
                  <a:gd name="T11" fmla="*/ 562 h 1228"/>
                  <a:gd name="T12" fmla="*/ 1016 w 1230"/>
                  <a:gd name="T13" fmla="*/ 558 h 1228"/>
                  <a:gd name="T14" fmla="*/ 1038 w 1230"/>
                  <a:gd name="T15" fmla="*/ 572 h 1228"/>
                  <a:gd name="T16" fmla="*/ 1086 w 1230"/>
                  <a:gd name="T17" fmla="*/ 622 h 1228"/>
                  <a:gd name="T18" fmla="*/ 1118 w 1230"/>
                  <a:gd name="T19" fmla="*/ 644 h 1228"/>
                  <a:gd name="T20" fmla="*/ 1142 w 1230"/>
                  <a:gd name="T21" fmla="*/ 642 h 1228"/>
                  <a:gd name="T22" fmla="*/ 1156 w 1230"/>
                  <a:gd name="T23" fmla="*/ 632 h 1228"/>
                  <a:gd name="T24" fmla="*/ 1166 w 1230"/>
                  <a:gd name="T25" fmla="*/ 604 h 1228"/>
                  <a:gd name="T26" fmla="*/ 1166 w 1230"/>
                  <a:gd name="T27" fmla="*/ 126 h 1228"/>
                  <a:gd name="T28" fmla="*/ 1162 w 1230"/>
                  <a:gd name="T29" fmla="*/ 94 h 1228"/>
                  <a:gd name="T30" fmla="*/ 1146 w 1230"/>
                  <a:gd name="T31" fmla="*/ 70 h 1228"/>
                  <a:gd name="T32" fmla="*/ 1102 w 1230"/>
                  <a:gd name="T33" fmla="*/ 64 h 1228"/>
                  <a:gd name="T34" fmla="*/ 664 w 1230"/>
                  <a:gd name="T35" fmla="*/ 64 h 1228"/>
                  <a:gd name="T36" fmla="*/ 626 w 1230"/>
                  <a:gd name="T37" fmla="*/ 64 h 1228"/>
                  <a:gd name="T38" fmla="*/ 594 w 1230"/>
                  <a:gd name="T39" fmla="*/ 80 h 1228"/>
                  <a:gd name="T40" fmla="*/ 586 w 1230"/>
                  <a:gd name="T41" fmla="*/ 104 h 1228"/>
                  <a:gd name="T42" fmla="*/ 600 w 1230"/>
                  <a:gd name="T43" fmla="*/ 134 h 1228"/>
                  <a:gd name="T44" fmla="*/ 654 w 1230"/>
                  <a:gd name="T45" fmla="*/ 188 h 1228"/>
                  <a:gd name="T46" fmla="*/ 672 w 1230"/>
                  <a:gd name="T47" fmla="*/ 216 h 1228"/>
                  <a:gd name="T48" fmla="*/ 668 w 1230"/>
                  <a:gd name="T49" fmla="*/ 242 h 1228"/>
                  <a:gd name="T50" fmla="*/ 654 w 1230"/>
                  <a:gd name="T51" fmla="*/ 260 h 1228"/>
                  <a:gd name="T52" fmla="*/ 564 w 1230"/>
                  <a:gd name="T53" fmla="*/ 348 h 1228"/>
                  <a:gd name="T54" fmla="*/ 514 w 1230"/>
                  <a:gd name="T55" fmla="*/ 368 h 1228"/>
                  <a:gd name="T56" fmla="*/ 462 w 1230"/>
                  <a:gd name="T57" fmla="*/ 346 h 1228"/>
                  <a:gd name="T58" fmla="*/ 148 w 1230"/>
                  <a:gd name="T59" fmla="*/ 34 h 1228"/>
                  <a:gd name="T60" fmla="*/ 128 w 1230"/>
                  <a:gd name="T61" fmla="*/ 16 h 1228"/>
                  <a:gd name="T62" fmla="*/ 92 w 1230"/>
                  <a:gd name="T63" fmla="*/ 2 h 1228"/>
                  <a:gd name="T64" fmla="*/ 52 w 1230"/>
                  <a:gd name="T65" fmla="*/ 6 h 1228"/>
                  <a:gd name="T66" fmla="*/ 28 w 1230"/>
                  <a:gd name="T67" fmla="*/ 22 h 1228"/>
                  <a:gd name="T68" fmla="*/ 6 w 1230"/>
                  <a:gd name="T69" fmla="*/ 54 h 1228"/>
                  <a:gd name="T70" fmla="*/ 0 w 1230"/>
                  <a:gd name="T71" fmla="*/ 96 h 1228"/>
                  <a:gd name="T72" fmla="*/ 2 w 1230"/>
                  <a:gd name="T73" fmla="*/ 468 h 1228"/>
                  <a:gd name="T74" fmla="*/ 2 w 1230"/>
                  <a:gd name="T75" fmla="*/ 690 h 1228"/>
                  <a:gd name="T76" fmla="*/ 4 w 1230"/>
                  <a:gd name="T77" fmla="*/ 794 h 1228"/>
                  <a:gd name="T78" fmla="*/ 6 w 1230"/>
                  <a:gd name="T79" fmla="*/ 800 h 1228"/>
                  <a:gd name="T80" fmla="*/ 12 w 1230"/>
                  <a:gd name="T81" fmla="*/ 820 h 1228"/>
                  <a:gd name="T82" fmla="*/ 26 w 1230"/>
                  <a:gd name="T83" fmla="*/ 836 h 1228"/>
                  <a:gd name="T84" fmla="*/ 234 w 1230"/>
                  <a:gd name="T85" fmla="*/ 1046 h 1228"/>
                  <a:gd name="T86" fmla="*/ 400 w 1230"/>
                  <a:gd name="T87" fmla="*/ 1212 h 1228"/>
                  <a:gd name="T88" fmla="*/ 434 w 1230"/>
                  <a:gd name="T89" fmla="*/ 1226 h 1228"/>
                  <a:gd name="T90" fmla="*/ 1152 w 1230"/>
                  <a:gd name="T91" fmla="*/ 1228 h 1228"/>
                  <a:gd name="T92" fmla="*/ 1172 w 1230"/>
                  <a:gd name="T93" fmla="*/ 1226 h 1228"/>
                  <a:gd name="T94" fmla="*/ 1192 w 1230"/>
                  <a:gd name="T95" fmla="*/ 1218 h 1228"/>
                  <a:gd name="T96" fmla="*/ 1226 w 1230"/>
                  <a:gd name="T97" fmla="*/ 1176 h 1228"/>
                  <a:gd name="T98" fmla="*/ 1224 w 1230"/>
                  <a:gd name="T99" fmla="*/ 1122 h 1228"/>
                  <a:gd name="T100" fmla="*/ 1202 w 1230"/>
                  <a:gd name="T101" fmla="*/ 1088 h 12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Lst>
                <a:rect l="0" t="0" r="r" b="b"/>
                <a:pathLst>
                  <a:path w="1230" h="1228">
                    <a:moveTo>
                      <a:pt x="1202" y="1088"/>
                    </a:moveTo>
                    <a:lnTo>
                      <a:pt x="1202" y="1088"/>
                    </a:lnTo>
                    <a:lnTo>
                      <a:pt x="894" y="780"/>
                    </a:lnTo>
                    <a:lnTo>
                      <a:pt x="894" y="780"/>
                    </a:lnTo>
                    <a:lnTo>
                      <a:pt x="882" y="766"/>
                    </a:lnTo>
                    <a:lnTo>
                      <a:pt x="872" y="752"/>
                    </a:lnTo>
                    <a:lnTo>
                      <a:pt x="866" y="736"/>
                    </a:lnTo>
                    <a:lnTo>
                      <a:pt x="864" y="720"/>
                    </a:lnTo>
                    <a:lnTo>
                      <a:pt x="864" y="706"/>
                    </a:lnTo>
                    <a:lnTo>
                      <a:pt x="868" y="692"/>
                    </a:lnTo>
                    <a:lnTo>
                      <a:pt x="876" y="676"/>
                    </a:lnTo>
                    <a:lnTo>
                      <a:pt x="886" y="662"/>
                    </a:lnTo>
                    <a:lnTo>
                      <a:pt x="886" y="662"/>
                    </a:lnTo>
                    <a:lnTo>
                      <a:pt x="930" y="616"/>
                    </a:lnTo>
                    <a:lnTo>
                      <a:pt x="978" y="572"/>
                    </a:lnTo>
                    <a:lnTo>
                      <a:pt x="978" y="572"/>
                    </a:lnTo>
                    <a:lnTo>
                      <a:pt x="984" y="566"/>
                    </a:lnTo>
                    <a:lnTo>
                      <a:pt x="992" y="562"/>
                    </a:lnTo>
                    <a:lnTo>
                      <a:pt x="1000" y="558"/>
                    </a:lnTo>
                    <a:lnTo>
                      <a:pt x="1008" y="558"/>
                    </a:lnTo>
                    <a:lnTo>
                      <a:pt x="1016" y="558"/>
                    </a:lnTo>
                    <a:lnTo>
                      <a:pt x="1022" y="562"/>
                    </a:lnTo>
                    <a:lnTo>
                      <a:pt x="1030" y="566"/>
                    </a:lnTo>
                    <a:lnTo>
                      <a:pt x="1038" y="572"/>
                    </a:lnTo>
                    <a:lnTo>
                      <a:pt x="1038" y="572"/>
                    </a:lnTo>
                    <a:lnTo>
                      <a:pt x="1086" y="622"/>
                    </a:lnTo>
                    <a:lnTo>
                      <a:pt x="1086" y="622"/>
                    </a:lnTo>
                    <a:lnTo>
                      <a:pt x="1098" y="632"/>
                    </a:lnTo>
                    <a:lnTo>
                      <a:pt x="1110" y="640"/>
                    </a:lnTo>
                    <a:lnTo>
                      <a:pt x="1118" y="644"/>
                    </a:lnTo>
                    <a:lnTo>
                      <a:pt x="1124" y="644"/>
                    </a:lnTo>
                    <a:lnTo>
                      <a:pt x="1132" y="644"/>
                    </a:lnTo>
                    <a:lnTo>
                      <a:pt x="1142" y="642"/>
                    </a:lnTo>
                    <a:lnTo>
                      <a:pt x="1142" y="642"/>
                    </a:lnTo>
                    <a:lnTo>
                      <a:pt x="1150" y="636"/>
                    </a:lnTo>
                    <a:lnTo>
                      <a:pt x="1156" y="632"/>
                    </a:lnTo>
                    <a:lnTo>
                      <a:pt x="1160" y="626"/>
                    </a:lnTo>
                    <a:lnTo>
                      <a:pt x="1162" y="618"/>
                    </a:lnTo>
                    <a:lnTo>
                      <a:pt x="1166" y="604"/>
                    </a:lnTo>
                    <a:lnTo>
                      <a:pt x="1166" y="588"/>
                    </a:lnTo>
                    <a:lnTo>
                      <a:pt x="1166" y="588"/>
                    </a:lnTo>
                    <a:lnTo>
                      <a:pt x="1166" y="126"/>
                    </a:lnTo>
                    <a:lnTo>
                      <a:pt x="1166" y="126"/>
                    </a:lnTo>
                    <a:lnTo>
                      <a:pt x="1164" y="108"/>
                    </a:lnTo>
                    <a:lnTo>
                      <a:pt x="1162" y="94"/>
                    </a:lnTo>
                    <a:lnTo>
                      <a:pt x="1160" y="84"/>
                    </a:lnTo>
                    <a:lnTo>
                      <a:pt x="1154" y="76"/>
                    </a:lnTo>
                    <a:lnTo>
                      <a:pt x="1146" y="70"/>
                    </a:lnTo>
                    <a:lnTo>
                      <a:pt x="1134" y="66"/>
                    </a:lnTo>
                    <a:lnTo>
                      <a:pt x="1120" y="64"/>
                    </a:lnTo>
                    <a:lnTo>
                      <a:pt x="1102" y="64"/>
                    </a:lnTo>
                    <a:lnTo>
                      <a:pt x="1102" y="64"/>
                    </a:lnTo>
                    <a:lnTo>
                      <a:pt x="664" y="64"/>
                    </a:lnTo>
                    <a:lnTo>
                      <a:pt x="664" y="64"/>
                    </a:lnTo>
                    <a:lnTo>
                      <a:pt x="644" y="64"/>
                    </a:lnTo>
                    <a:lnTo>
                      <a:pt x="626" y="64"/>
                    </a:lnTo>
                    <a:lnTo>
                      <a:pt x="626" y="64"/>
                    </a:lnTo>
                    <a:lnTo>
                      <a:pt x="614" y="68"/>
                    </a:lnTo>
                    <a:lnTo>
                      <a:pt x="602" y="72"/>
                    </a:lnTo>
                    <a:lnTo>
                      <a:pt x="594" y="80"/>
                    </a:lnTo>
                    <a:lnTo>
                      <a:pt x="590" y="92"/>
                    </a:lnTo>
                    <a:lnTo>
                      <a:pt x="590" y="92"/>
                    </a:lnTo>
                    <a:lnTo>
                      <a:pt x="586" y="104"/>
                    </a:lnTo>
                    <a:lnTo>
                      <a:pt x="588" y="114"/>
                    </a:lnTo>
                    <a:lnTo>
                      <a:pt x="592" y="124"/>
                    </a:lnTo>
                    <a:lnTo>
                      <a:pt x="600" y="134"/>
                    </a:lnTo>
                    <a:lnTo>
                      <a:pt x="600" y="134"/>
                    </a:lnTo>
                    <a:lnTo>
                      <a:pt x="654" y="188"/>
                    </a:lnTo>
                    <a:lnTo>
                      <a:pt x="654" y="188"/>
                    </a:lnTo>
                    <a:lnTo>
                      <a:pt x="662" y="198"/>
                    </a:lnTo>
                    <a:lnTo>
                      <a:pt x="668" y="208"/>
                    </a:lnTo>
                    <a:lnTo>
                      <a:pt x="672" y="216"/>
                    </a:lnTo>
                    <a:lnTo>
                      <a:pt x="674" y="224"/>
                    </a:lnTo>
                    <a:lnTo>
                      <a:pt x="672" y="232"/>
                    </a:lnTo>
                    <a:lnTo>
                      <a:pt x="668" y="242"/>
                    </a:lnTo>
                    <a:lnTo>
                      <a:pt x="662" y="250"/>
                    </a:lnTo>
                    <a:lnTo>
                      <a:pt x="654" y="260"/>
                    </a:lnTo>
                    <a:lnTo>
                      <a:pt x="654" y="260"/>
                    </a:lnTo>
                    <a:lnTo>
                      <a:pt x="582" y="332"/>
                    </a:lnTo>
                    <a:lnTo>
                      <a:pt x="582" y="332"/>
                    </a:lnTo>
                    <a:lnTo>
                      <a:pt x="564" y="348"/>
                    </a:lnTo>
                    <a:lnTo>
                      <a:pt x="546" y="358"/>
                    </a:lnTo>
                    <a:lnTo>
                      <a:pt x="530" y="366"/>
                    </a:lnTo>
                    <a:lnTo>
                      <a:pt x="514" y="368"/>
                    </a:lnTo>
                    <a:lnTo>
                      <a:pt x="496" y="366"/>
                    </a:lnTo>
                    <a:lnTo>
                      <a:pt x="480" y="358"/>
                    </a:lnTo>
                    <a:lnTo>
                      <a:pt x="462" y="346"/>
                    </a:lnTo>
                    <a:lnTo>
                      <a:pt x="446" y="332"/>
                    </a:lnTo>
                    <a:lnTo>
                      <a:pt x="446" y="332"/>
                    </a:lnTo>
                    <a:lnTo>
                      <a:pt x="148" y="34"/>
                    </a:lnTo>
                    <a:lnTo>
                      <a:pt x="148" y="34"/>
                    </a:lnTo>
                    <a:lnTo>
                      <a:pt x="138" y="24"/>
                    </a:lnTo>
                    <a:lnTo>
                      <a:pt x="128" y="16"/>
                    </a:lnTo>
                    <a:lnTo>
                      <a:pt x="116" y="10"/>
                    </a:lnTo>
                    <a:lnTo>
                      <a:pt x="104" y="4"/>
                    </a:lnTo>
                    <a:lnTo>
                      <a:pt x="92" y="2"/>
                    </a:lnTo>
                    <a:lnTo>
                      <a:pt x="80" y="0"/>
                    </a:lnTo>
                    <a:lnTo>
                      <a:pt x="66" y="2"/>
                    </a:lnTo>
                    <a:lnTo>
                      <a:pt x="52" y="6"/>
                    </a:lnTo>
                    <a:lnTo>
                      <a:pt x="52" y="6"/>
                    </a:lnTo>
                    <a:lnTo>
                      <a:pt x="38" y="14"/>
                    </a:lnTo>
                    <a:lnTo>
                      <a:pt x="28" y="22"/>
                    </a:lnTo>
                    <a:lnTo>
                      <a:pt x="18" y="32"/>
                    </a:lnTo>
                    <a:lnTo>
                      <a:pt x="12" y="42"/>
                    </a:lnTo>
                    <a:lnTo>
                      <a:pt x="6" y="54"/>
                    </a:lnTo>
                    <a:lnTo>
                      <a:pt x="4" y="68"/>
                    </a:lnTo>
                    <a:lnTo>
                      <a:pt x="2" y="82"/>
                    </a:lnTo>
                    <a:lnTo>
                      <a:pt x="0" y="96"/>
                    </a:lnTo>
                    <a:lnTo>
                      <a:pt x="0" y="96"/>
                    </a:lnTo>
                    <a:lnTo>
                      <a:pt x="2" y="468"/>
                    </a:lnTo>
                    <a:lnTo>
                      <a:pt x="2" y="468"/>
                    </a:lnTo>
                    <a:lnTo>
                      <a:pt x="4" y="584"/>
                    </a:lnTo>
                    <a:lnTo>
                      <a:pt x="4" y="584"/>
                    </a:lnTo>
                    <a:lnTo>
                      <a:pt x="2" y="690"/>
                    </a:lnTo>
                    <a:lnTo>
                      <a:pt x="2" y="742"/>
                    </a:lnTo>
                    <a:lnTo>
                      <a:pt x="4" y="794"/>
                    </a:lnTo>
                    <a:lnTo>
                      <a:pt x="4" y="794"/>
                    </a:lnTo>
                    <a:lnTo>
                      <a:pt x="6" y="798"/>
                    </a:lnTo>
                    <a:lnTo>
                      <a:pt x="6" y="798"/>
                    </a:lnTo>
                    <a:lnTo>
                      <a:pt x="6" y="800"/>
                    </a:lnTo>
                    <a:lnTo>
                      <a:pt x="6" y="800"/>
                    </a:lnTo>
                    <a:lnTo>
                      <a:pt x="8" y="812"/>
                    </a:lnTo>
                    <a:lnTo>
                      <a:pt x="12" y="820"/>
                    </a:lnTo>
                    <a:lnTo>
                      <a:pt x="18" y="828"/>
                    </a:lnTo>
                    <a:lnTo>
                      <a:pt x="26" y="836"/>
                    </a:lnTo>
                    <a:lnTo>
                      <a:pt x="26" y="836"/>
                    </a:lnTo>
                    <a:lnTo>
                      <a:pt x="180" y="988"/>
                    </a:lnTo>
                    <a:lnTo>
                      <a:pt x="180" y="988"/>
                    </a:lnTo>
                    <a:lnTo>
                      <a:pt x="234" y="1046"/>
                    </a:lnTo>
                    <a:lnTo>
                      <a:pt x="288" y="1102"/>
                    </a:lnTo>
                    <a:lnTo>
                      <a:pt x="400" y="1212"/>
                    </a:lnTo>
                    <a:lnTo>
                      <a:pt x="400" y="1212"/>
                    </a:lnTo>
                    <a:lnTo>
                      <a:pt x="410" y="1220"/>
                    </a:lnTo>
                    <a:lnTo>
                      <a:pt x="422" y="1224"/>
                    </a:lnTo>
                    <a:lnTo>
                      <a:pt x="434" y="1226"/>
                    </a:lnTo>
                    <a:lnTo>
                      <a:pt x="448" y="1228"/>
                    </a:lnTo>
                    <a:lnTo>
                      <a:pt x="448" y="1228"/>
                    </a:lnTo>
                    <a:lnTo>
                      <a:pt x="1152" y="1228"/>
                    </a:lnTo>
                    <a:lnTo>
                      <a:pt x="1152" y="1228"/>
                    </a:lnTo>
                    <a:lnTo>
                      <a:pt x="1162" y="1228"/>
                    </a:lnTo>
                    <a:lnTo>
                      <a:pt x="1172" y="1226"/>
                    </a:lnTo>
                    <a:lnTo>
                      <a:pt x="1182" y="1222"/>
                    </a:lnTo>
                    <a:lnTo>
                      <a:pt x="1192" y="1218"/>
                    </a:lnTo>
                    <a:lnTo>
                      <a:pt x="1192" y="1218"/>
                    </a:lnTo>
                    <a:lnTo>
                      <a:pt x="1208" y="1206"/>
                    </a:lnTo>
                    <a:lnTo>
                      <a:pt x="1220" y="1192"/>
                    </a:lnTo>
                    <a:lnTo>
                      <a:pt x="1226" y="1176"/>
                    </a:lnTo>
                    <a:lnTo>
                      <a:pt x="1230" y="1158"/>
                    </a:lnTo>
                    <a:lnTo>
                      <a:pt x="1230" y="1140"/>
                    </a:lnTo>
                    <a:lnTo>
                      <a:pt x="1224" y="1122"/>
                    </a:lnTo>
                    <a:lnTo>
                      <a:pt x="1214" y="1104"/>
                    </a:lnTo>
                    <a:lnTo>
                      <a:pt x="1202" y="1088"/>
                    </a:lnTo>
                    <a:lnTo>
                      <a:pt x="1202" y="1088"/>
                    </a:lnTo>
                    <a:close/>
                  </a:path>
                </a:pathLst>
              </a:custGeom>
              <a:solidFill>
                <a:schemeClr val="accent1"/>
              </a:solidFill>
              <a:ln>
                <a:noFill/>
              </a:ln>
              <a:effectLst/>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dirty="0">
                  <a:latin typeface="+mj-ea"/>
                  <a:ea typeface="+mj-ea"/>
                  <a:cs typeface="OPPOSans M" panose="00020600040101010101" pitchFamily="18" charset="-122"/>
                </a:endParaRPr>
              </a:p>
            </p:txBody>
          </p:sp>
          <p:sp>
            <p:nvSpPr>
              <p:cNvPr id="146" name="靖飞在肝PPT21-2">
                <a:extLst>
                  <a:ext uri="{FF2B5EF4-FFF2-40B4-BE49-F238E27FC236}">
                    <a16:creationId xmlns:a16="http://schemas.microsoft.com/office/drawing/2014/main" id="{8039FC55-C142-4120-B47D-3E0515F9F5B8}"/>
                  </a:ext>
                </a:extLst>
              </p:cNvPr>
              <p:cNvSpPr txBox="1"/>
              <p:nvPr/>
            </p:nvSpPr>
            <p:spPr>
              <a:xfrm rot="2700000" flipH="1">
                <a:off x="7607042" y="2930180"/>
                <a:ext cx="426720" cy="584775"/>
              </a:xfrm>
              <a:prstGeom prst="rect">
                <a:avLst/>
              </a:prstGeom>
              <a:noFill/>
            </p:spPr>
            <p:txBody>
              <a:bodyPr wrap="none" rtlCol="0">
                <a:spAutoFit/>
              </a:bodyPr>
              <a:lstStyle/>
              <a:p>
                <a:r>
                  <a:rPr lang="en-US" altLang="zh-CN" sz="3200" dirty="0">
                    <a:solidFill>
                      <a:schemeClr val="bg1"/>
                    </a:solidFill>
                    <a:latin typeface="思源黑体 CN Bold" panose="020B0800000000000000" pitchFamily="34" charset="-122"/>
                    <a:ea typeface="思源黑体 CN Bold" panose="020B0800000000000000" pitchFamily="34" charset="-122"/>
                    <a:cs typeface="OPPOSans M" panose="00020600040101010101" pitchFamily="18" charset="-122"/>
                  </a:rPr>
                  <a:t>2</a:t>
                </a:r>
                <a:endParaRPr lang="zh-CN" altLang="en-US" sz="3200" dirty="0">
                  <a:solidFill>
                    <a:schemeClr val="bg1"/>
                  </a:solidFill>
                  <a:latin typeface="思源黑体 CN Bold" panose="020B0800000000000000" pitchFamily="34" charset="-122"/>
                  <a:ea typeface="思源黑体 CN Bold" panose="020B0800000000000000" pitchFamily="34" charset="-122"/>
                  <a:cs typeface="OPPOSans M" panose="00020600040101010101" pitchFamily="18" charset="-122"/>
                </a:endParaRPr>
              </a:p>
            </p:txBody>
          </p:sp>
        </p:grpSp>
        <p:grpSp>
          <p:nvGrpSpPr>
            <p:cNvPr id="14" name="组合 13">
              <a:extLst>
                <a:ext uri="{FF2B5EF4-FFF2-40B4-BE49-F238E27FC236}">
                  <a16:creationId xmlns:a16="http://schemas.microsoft.com/office/drawing/2014/main" id="{07CB0157-80BD-4A18-BC50-89570ECA48FE}"/>
                </a:ext>
              </a:extLst>
            </p:cNvPr>
            <p:cNvGrpSpPr/>
            <p:nvPr/>
          </p:nvGrpSpPr>
          <p:grpSpPr>
            <a:xfrm>
              <a:off x="6135055" y="3923504"/>
              <a:ext cx="977966" cy="979559"/>
              <a:chOff x="6135055" y="3923504"/>
              <a:chExt cx="977966" cy="979559"/>
            </a:xfrm>
          </p:grpSpPr>
          <p:sp>
            <p:nvSpPr>
              <p:cNvPr id="143" name="靖飞在肝PPT20">
                <a:extLst>
                  <a:ext uri="{FF2B5EF4-FFF2-40B4-BE49-F238E27FC236}">
                    <a16:creationId xmlns:a16="http://schemas.microsoft.com/office/drawing/2014/main" id="{48F54AB9-6963-4E18-8998-E525A3F044B7}"/>
                  </a:ext>
                </a:extLst>
              </p:cNvPr>
              <p:cNvSpPr/>
              <p:nvPr/>
            </p:nvSpPr>
            <p:spPr bwMode="auto">
              <a:xfrm>
                <a:off x="6135055" y="3923504"/>
                <a:ext cx="977966" cy="979559"/>
              </a:xfrm>
              <a:custGeom>
                <a:avLst/>
                <a:gdLst>
                  <a:gd name="T0" fmla="*/ 1228 w 1228"/>
                  <a:gd name="T1" fmla="*/ 456 h 1230"/>
                  <a:gd name="T2" fmla="*/ 1224 w 1228"/>
                  <a:gd name="T3" fmla="*/ 424 h 1230"/>
                  <a:gd name="T4" fmla="*/ 1208 w 1228"/>
                  <a:gd name="T5" fmla="*/ 398 h 1230"/>
                  <a:gd name="T6" fmla="*/ 1122 w 1228"/>
                  <a:gd name="T7" fmla="*/ 316 h 1230"/>
                  <a:gd name="T8" fmla="*/ 1116 w 1228"/>
                  <a:gd name="T9" fmla="*/ 302 h 1230"/>
                  <a:gd name="T10" fmla="*/ 1062 w 1228"/>
                  <a:gd name="T11" fmla="*/ 252 h 1230"/>
                  <a:gd name="T12" fmla="*/ 930 w 1228"/>
                  <a:gd name="T13" fmla="*/ 118 h 1230"/>
                  <a:gd name="T14" fmla="*/ 826 w 1228"/>
                  <a:gd name="T15" fmla="*/ 14 h 1230"/>
                  <a:gd name="T16" fmla="*/ 780 w 1228"/>
                  <a:gd name="T17" fmla="*/ 0 h 1230"/>
                  <a:gd name="T18" fmla="*/ 90 w 1228"/>
                  <a:gd name="T19" fmla="*/ 0 h 1230"/>
                  <a:gd name="T20" fmla="*/ 50 w 1228"/>
                  <a:gd name="T21" fmla="*/ 6 h 1230"/>
                  <a:gd name="T22" fmla="*/ 20 w 1228"/>
                  <a:gd name="T23" fmla="*/ 28 h 1230"/>
                  <a:gd name="T24" fmla="*/ 6 w 1228"/>
                  <a:gd name="T25" fmla="*/ 52 h 1230"/>
                  <a:gd name="T26" fmla="*/ 0 w 1228"/>
                  <a:gd name="T27" fmla="*/ 90 h 1230"/>
                  <a:gd name="T28" fmla="*/ 14 w 1228"/>
                  <a:gd name="T29" fmla="*/ 122 h 1230"/>
                  <a:gd name="T30" fmla="*/ 30 w 1228"/>
                  <a:gd name="T31" fmla="*/ 142 h 1230"/>
                  <a:gd name="T32" fmla="*/ 218 w 1228"/>
                  <a:gd name="T33" fmla="*/ 330 h 1230"/>
                  <a:gd name="T34" fmla="*/ 350 w 1228"/>
                  <a:gd name="T35" fmla="*/ 466 h 1230"/>
                  <a:gd name="T36" fmla="*/ 364 w 1228"/>
                  <a:gd name="T37" fmla="*/ 492 h 1230"/>
                  <a:gd name="T38" fmla="*/ 366 w 1228"/>
                  <a:gd name="T39" fmla="*/ 532 h 1230"/>
                  <a:gd name="T40" fmla="*/ 344 w 1228"/>
                  <a:gd name="T41" fmla="*/ 568 h 1230"/>
                  <a:gd name="T42" fmla="*/ 260 w 1228"/>
                  <a:gd name="T43" fmla="*/ 652 h 1230"/>
                  <a:gd name="T44" fmla="*/ 234 w 1228"/>
                  <a:gd name="T45" fmla="*/ 670 h 1230"/>
                  <a:gd name="T46" fmla="*/ 208 w 1228"/>
                  <a:gd name="T47" fmla="*/ 668 h 1230"/>
                  <a:gd name="T48" fmla="*/ 188 w 1228"/>
                  <a:gd name="T49" fmla="*/ 654 h 1230"/>
                  <a:gd name="T50" fmla="*/ 136 w 1228"/>
                  <a:gd name="T51" fmla="*/ 600 h 1230"/>
                  <a:gd name="T52" fmla="*/ 102 w 1228"/>
                  <a:gd name="T53" fmla="*/ 586 h 1230"/>
                  <a:gd name="T54" fmla="*/ 82 w 1228"/>
                  <a:gd name="T55" fmla="*/ 592 h 1230"/>
                  <a:gd name="T56" fmla="*/ 66 w 1228"/>
                  <a:gd name="T57" fmla="*/ 616 h 1230"/>
                  <a:gd name="T58" fmla="*/ 66 w 1228"/>
                  <a:gd name="T59" fmla="*/ 1118 h 1230"/>
                  <a:gd name="T60" fmla="*/ 68 w 1228"/>
                  <a:gd name="T61" fmla="*/ 1140 h 1230"/>
                  <a:gd name="T62" fmla="*/ 82 w 1228"/>
                  <a:gd name="T63" fmla="*/ 1158 h 1230"/>
                  <a:gd name="T64" fmla="*/ 112 w 1228"/>
                  <a:gd name="T65" fmla="*/ 1164 h 1230"/>
                  <a:gd name="T66" fmla="*/ 598 w 1228"/>
                  <a:gd name="T67" fmla="*/ 1164 h 1230"/>
                  <a:gd name="T68" fmla="*/ 632 w 1228"/>
                  <a:gd name="T69" fmla="*/ 1152 h 1230"/>
                  <a:gd name="T70" fmla="*/ 638 w 1228"/>
                  <a:gd name="T71" fmla="*/ 1142 h 1230"/>
                  <a:gd name="T72" fmla="*/ 636 w 1228"/>
                  <a:gd name="T73" fmla="*/ 1104 h 1230"/>
                  <a:gd name="T74" fmla="*/ 576 w 1228"/>
                  <a:gd name="T75" fmla="*/ 1042 h 1230"/>
                  <a:gd name="T76" fmla="*/ 562 w 1228"/>
                  <a:gd name="T77" fmla="*/ 1022 h 1230"/>
                  <a:gd name="T78" fmla="*/ 558 w 1228"/>
                  <a:gd name="T79" fmla="*/ 996 h 1230"/>
                  <a:gd name="T80" fmla="*/ 576 w 1228"/>
                  <a:gd name="T81" fmla="*/ 970 h 1230"/>
                  <a:gd name="T82" fmla="*/ 652 w 1228"/>
                  <a:gd name="T83" fmla="*/ 894 h 1230"/>
                  <a:gd name="T84" fmla="*/ 700 w 1228"/>
                  <a:gd name="T85" fmla="*/ 864 h 1230"/>
                  <a:gd name="T86" fmla="*/ 750 w 1228"/>
                  <a:gd name="T87" fmla="*/ 870 h 1230"/>
                  <a:gd name="T88" fmla="*/ 782 w 1228"/>
                  <a:gd name="T89" fmla="*/ 894 h 1230"/>
                  <a:gd name="T90" fmla="*/ 1100 w 1228"/>
                  <a:gd name="T91" fmla="*/ 1210 h 1230"/>
                  <a:gd name="T92" fmla="*/ 1130 w 1228"/>
                  <a:gd name="T93" fmla="*/ 1226 h 1230"/>
                  <a:gd name="T94" fmla="*/ 1164 w 1228"/>
                  <a:gd name="T95" fmla="*/ 1228 h 1230"/>
                  <a:gd name="T96" fmla="*/ 1188 w 1228"/>
                  <a:gd name="T97" fmla="*/ 1218 h 1230"/>
                  <a:gd name="T98" fmla="*/ 1214 w 1228"/>
                  <a:gd name="T99" fmla="*/ 1194 h 1230"/>
                  <a:gd name="T100" fmla="*/ 1228 w 1228"/>
                  <a:gd name="T101" fmla="*/ 1162 h 1230"/>
                  <a:gd name="T102" fmla="*/ 1228 w 1228"/>
                  <a:gd name="T103" fmla="*/ 910 h 12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1228" h="1230">
                    <a:moveTo>
                      <a:pt x="1228" y="670"/>
                    </a:moveTo>
                    <a:lnTo>
                      <a:pt x="1228" y="670"/>
                    </a:lnTo>
                    <a:lnTo>
                      <a:pt x="1228" y="456"/>
                    </a:lnTo>
                    <a:lnTo>
                      <a:pt x="1228" y="456"/>
                    </a:lnTo>
                    <a:lnTo>
                      <a:pt x="1228" y="440"/>
                    </a:lnTo>
                    <a:lnTo>
                      <a:pt x="1224" y="424"/>
                    </a:lnTo>
                    <a:lnTo>
                      <a:pt x="1218" y="410"/>
                    </a:lnTo>
                    <a:lnTo>
                      <a:pt x="1208" y="398"/>
                    </a:lnTo>
                    <a:lnTo>
                      <a:pt x="1208" y="398"/>
                    </a:lnTo>
                    <a:lnTo>
                      <a:pt x="1168" y="356"/>
                    </a:lnTo>
                    <a:lnTo>
                      <a:pt x="1146" y="334"/>
                    </a:lnTo>
                    <a:lnTo>
                      <a:pt x="1122" y="316"/>
                    </a:lnTo>
                    <a:lnTo>
                      <a:pt x="1122" y="316"/>
                    </a:lnTo>
                    <a:lnTo>
                      <a:pt x="1120" y="308"/>
                    </a:lnTo>
                    <a:lnTo>
                      <a:pt x="1116" y="302"/>
                    </a:lnTo>
                    <a:lnTo>
                      <a:pt x="1104" y="290"/>
                    </a:lnTo>
                    <a:lnTo>
                      <a:pt x="1104" y="290"/>
                    </a:lnTo>
                    <a:lnTo>
                      <a:pt x="1062" y="252"/>
                    </a:lnTo>
                    <a:lnTo>
                      <a:pt x="1022" y="212"/>
                    </a:lnTo>
                    <a:lnTo>
                      <a:pt x="1022" y="212"/>
                    </a:lnTo>
                    <a:lnTo>
                      <a:pt x="930" y="118"/>
                    </a:lnTo>
                    <a:lnTo>
                      <a:pt x="838" y="24"/>
                    </a:lnTo>
                    <a:lnTo>
                      <a:pt x="838" y="24"/>
                    </a:lnTo>
                    <a:lnTo>
                      <a:pt x="826" y="14"/>
                    </a:lnTo>
                    <a:lnTo>
                      <a:pt x="812" y="6"/>
                    </a:lnTo>
                    <a:lnTo>
                      <a:pt x="796" y="2"/>
                    </a:lnTo>
                    <a:lnTo>
                      <a:pt x="780" y="0"/>
                    </a:lnTo>
                    <a:lnTo>
                      <a:pt x="780" y="0"/>
                    </a:lnTo>
                    <a:lnTo>
                      <a:pt x="90" y="0"/>
                    </a:lnTo>
                    <a:lnTo>
                      <a:pt x="90" y="0"/>
                    </a:lnTo>
                    <a:lnTo>
                      <a:pt x="76" y="0"/>
                    </a:lnTo>
                    <a:lnTo>
                      <a:pt x="62" y="2"/>
                    </a:lnTo>
                    <a:lnTo>
                      <a:pt x="50" y="6"/>
                    </a:lnTo>
                    <a:lnTo>
                      <a:pt x="40" y="12"/>
                    </a:lnTo>
                    <a:lnTo>
                      <a:pt x="30" y="20"/>
                    </a:lnTo>
                    <a:lnTo>
                      <a:pt x="20" y="28"/>
                    </a:lnTo>
                    <a:lnTo>
                      <a:pt x="12" y="38"/>
                    </a:lnTo>
                    <a:lnTo>
                      <a:pt x="6" y="52"/>
                    </a:lnTo>
                    <a:lnTo>
                      <a:pt x="6" y="52"/>
                    </a:lnTo>
                    <a:lnTo>
                      <a:pt x="2" y="64"/>
                    </a:lnTo>
                    <a:lnTo>
                      <a:pt x="0" y="78"/>
                    </a:lnTo>
                    <a:lnTo>
                      <a:pt x="0" y="90"/>
                    </a:lnTo>
                    <a:lnTo>
                      <a:pt x="2" y="100"/>
                    </a:lnTo>
                    <a:lnTo>
                      <a:pt x="8" y="112"/>
                    </a:lnTo>
                    <a:lnTo>
                      <a:pt x="14" y="122"/>
                    </a:lnTo>
                    <a:lnTo>
                      <a:pt x="22" y="132"/>
                    </a:lnTo>
                    <a:lnTo>
                      <a:pt x="30" y="142"/>
                    </a:lnTo>
                    <a:lnTo>
                      <a:pt x="30" y="142"/>
                    </a:lnTo>
                    <a:lnTo>
                      <a:pt x="124" y="236"/>
                    </a:lnTo>
                    <a:lnTo>
                      <a:pt x="218" y="330"/>
                    </a:lnTo>
                    <a:lnTo>
                      <a:pt x="218" y="330"/>
                    </a:lnTo>
                    <a:lnTo>
                      <a:pt x="286" y="396"/>
                    </a:lnTo>
                    <a:lnTo>
                      <a:pt x="320" y="430"/>
                    </a:lnTo>
                    <a:lnTo>
                      <a:pt x="350" y="466"/>
                    </a:lnTo>
                    <a:lnTo>
                      <a:pt x="350" y="466"/>
                    </a:lnTo>
                    <a:lnTo>
                      <a:pt x="358" y="480"/>
                    </a:lnTo>
                    <a:lnTo>
                      <a:pt x="364" y="492"/>
                    </a:lnTo>
                    <a:lnTo>
                      <a:pt x="368" y="506"/>
                    </a:lnTo>
                    <a:lnTo>
                      <a:pt x="368" y="518"/>
                    </a:lnTo>
                    <a:lnTo>
                      <a:pt x="366" y="532"/>
                    </a:lnTo>
                    <a:lnTo>
                      <a:pt x="360" y="544"/>
                    </a:lnTo>
                    <a:lnTo>
                      <a:pt x="354" y="556"/>
                    </a:lnTo>
                    <a:lnTo>
                      <a:pt x="344" y="568"/>
                    </a:lnTo>
                    <a:lnTo>
                      <a:pt x="344" y="568"/>
                    </a:lnTo>
                    <a:lnTo>
                      <a:pt x="260" y="652"/>
                    </a:lnTo>
                    <a:lnTo>
                      <a:pt x="260" y="652"/>
                    </a:lnTo>
                    <a:lnTo>
                      <a:pt x="252" y="662"/>
                    </a:lnTo>
                    <a:lnTo>
                      <a:pt x="242" y="668"/>
                    </a:lnTo>
                    <a:lnTo>
                      <a:pt x="234" y="670"/>
                    </a:lnTo>
                    <a:lnTo>
                      <a:pt x="226" y="672"/>
                    </a:lnTo>
                    <a:lnTo>
                      <a:pt x="216" y="670"/>
                    </a:lnTo>
                    <a:lnTo>
                      <a:pt x="208" y="668"/>
                    </a:lnTo>
                    <a:lnTo>
                      <a:pt x="198" y="662"/>
                    </a:lnTo>
                    <a:lnTo>
                      <a:pt x="188" y="654"/>
                    </a:lnTo>
                    <a:lnTo>
                      <a:pt x="188" y="654"/>
                    </a:lnTo>
                    <a:lnTo>
                      <a:pt x="162" y="628"/>
                    </a:lnTo>
                    <a:lnTo>
                      <a:pt x="136" y="600"/>
                    </a:lnTo>
                    <a:lnTo>
                      <a:pt x="136" y="600"/>
                    </a:lnTo>
                    <a:lnTo>
                      <a:pt x="126" y="592"/>
                    </a:lnTo>
                    <a:lnTo>
                      <a:pt x="114" y="588"/>
                    </a:lnTo>
                    <a:lnTo>
                      <a:pt x="102" y="586"/>
                    </a:lnTo>
                    <a:lnTo>
                      <a:pt x="90" y="590"/>
                    </a:lnTo>
                    <a:lnTo>
                      <a:pt x="90" y="590"/>
                    </a:lnTo>
                    <a:lnTo>
                      <a:pt x="82" y="592"/>
                    </a:lnTo>
                    <a:lnTo>
                      <a:pt x="78" y="596"/>
                    </a:lnTo>
                    <a:lnTo>
                      <a:pt x="70" y="606"/>
                    </a:lnTo>
                    <a:lnTo>
                      <a:pt x="66" y="616"/>
                    </a:lnTo>
                    <a:lnTo>
                      <a:pt x="66" y="630"/>
                    </a:lnTo>
                    <a:lnTo>
                      <a:pt x="66" y="630"/>
                    </a:lnTo>
                    <a:lnTo>
                      <a:pt x="66" y="1118"/>
                    </a:lnTo>
                    <a:lnTo>
                      <a:pt x="66" y="1118"/>
                    </a:lnTo>
                    <a:lnTo>
                      <a:pt x="66" y="1130"/>
                    </a:lnTo>
                    <a:lnTo>
                      <a:pt x="68" y="1140"/>
                    </a:lnTo>
                    <a:lnTo>
                      <a:pt x="72" y="1148"/>
                    </a:lnTo>
                    <a:lnTo>
                      <a:pt x="76" y="1154"/>
                    </a:lnTo>
                    <a:lnTo>
                      <a:pt x="82" y="1158"/>
                    </a:lnTo>
                    <a:lnTo>
                      <a:pt x="90" y="1162"/>
                    </a:lnTo>
                    <a:lnTo>
                      <a:pt x="100" y="1164"/>
                    </a:lnTo>
                    <a:lnTo>
                      <a:pt x="112" y="1164"/>
                    </a:lnTo>
                    <a:lnTo>
                      <a:pt x="112" y="1164"/>
                    </a:lnTo>
                    <a:lnTo>
                      <a:pt x="598" y="1164"/>
                    </a:lnTo>
                    <a:lnTo>
                      <a:pt x="598" y="1164"/>
                    </a:lnTo>
                    <a:lnTo>
                      <a:pt x="610" y="1164"/>
                    </a:lnTo>
                    <a:lnTo>
                      <a:pt x="622" y="1160"/>
                    </a:lnTo>
                    <a:lnTo>
                      <a:pt x="632" y="1152"/>
                    </a:lnTo>
                    <a:lnTo>
                      <a:pt x="636" y="1148"/>
                    </a:lnTo>
                    <a:lnTo>
                      <a:pt x="638" y="1142"/>
                    </a:lnTo>
                    <a:lnTo>
                      <a:pt x="638" y="1142"/>
                    </a:lnTo>
                    <a:lnTo>
                      <a:pt x="642" y="1128"/>
                    </a:lnTo>
                    <a:lnTo>
                      <a:pt x="642" y="1114"/>
                    </a:lnTo>
                    <a:lnTo>
                      <a:pt x="636" y="1104"/>
                    </a:lnTo>
                    <a:lnTo>
                      <a:pt x="628" y="1092"/>
                    </a:lnTo>
                    <a:lnTo>
                      <a:pt x="628" y="1092"/>
                    </a:lnTo>
                    <a:lnTo>
                      <a:pt x="576" y="1042"/>
                    </a:lnTo>
                    <a:lnTo>
                      <a:pt x="576" y="1042"/>
                    </a:lnTo>
                    <a:lnTo>
                      <a:pt x="568" y="1032"/>
                    </a:lnTo>
                    <a:lnTo>
                      <a:pt x="562" y="1022"/>
                    </a:lnTo>
                    <a:lnTo>
                      <a:pt x="558" y="1014"/>
                    </a:lnTo>
                    <a:lnTo>
                      <a:pt x="556" y="1006"/>
                    </a:lnTo>
                    <a:lnTo>
                      <a:pt x="558" y="996"/>
                    </a:lnTo>
                    <a:lnTo>
                      <a:pt x="562" y="988"/>
                    </a:lnTo>
                    <a:lnTo>
                      <a:pt x="568" y="980"/>
                    </a:lnTo>
                    <a:lnTo>
                      <a:pt x="576" y="970"/>
                    </a:lnTo>
                    <a:lnTo>
                      <a:pt x="576" y="970"/>
                    </a:lnTo>
                    <a:lnTo>
                      <a:pt x="652" y="894"/>
                    </a:lnTo>
                    <a:lnTo>
                      <a:pt x="652" y="894"/>
                    </a:lnTo>
                    <a:lnTo>
                      <a:pt x="668" y="880"/>
                    </a:lnTo>
                    <a:lnTo>
                      <a:pt x="684" y="870"/>
                    </a:lnTo>
                    <a:lnTo>
                      <a:pt x="700" y="864"/>
                    </a:lnTo>
                    <a:lnTo>
                      <a:pt x="716" y="862"/>
                    </a:lnTo>
                    <a:lnTo>
                      <a:pt x="734" y="864"/>
                    </a:lnTo>
                    <a:lnTo>
                      <a:pt x="750" y="870"/>
                    </a:lnTo>
                    <a:lnTo>
                      <a:pt x="766" y="880"/>
                    </a:lnTo>
                    <a:lnTo>
                      <a:pt x="782" y="894"/>
                    </a:lnTo>
                    <a:lnTo>
                      <a:pt x="782" y="894"/>
                    </a:lnTo>
                    <a:lnTo>
                      <a:pt x="1090" y="1202"/>
                    </a:lnTo>
                    <a:lnTo>
                      <a:pt x="1090" y="1202"/>
                    </a:lnTo>
                    <a:lnTo>
                      <a:pt x="1100" y="1210"/>
                    </a:lnTo>
                    <a:lnTo>
                      <a:pt x="1108" y="1218"/>
                    </a:lnTo>
                    <a:lnTo>
                      <a:pt x="1118" y="1222"/>
                    </a:lnTo>
                    <a:lnTo>
                      <a:pt x="1130" y="1226"/>
                    </a:lnTo>
                    <a:lnTo>
                      <a:pt x="1140" y="1230"/>
                    </a:lnTo>
                    <a:lnTo>
                      <a:pt x="1152" y="1230"/>
                    </a:lnTo>
                    <a:lnTo>
                      <a:pt x="1164" y="1228"/>
                    </a:lnTo>
                    <a:lnTo>
                      <a:pt x="1176" y="1224"/>
                    </a:lnTo>
                    <a:lnTo>
                      <a:pt x="1176" y="1224"/>
                    </a:lnTo>
                    <a:lnTo>
                      <a:pt x="1188" y="1218"/>
                    </a:lnTo>
                    <a:lnTo>
                      <a:pt x="1198" y="1212"/>
                    </a:lnTo>
                    <a:lnTo>
                      <a:pt x="1208" y="1204"/>
                    </a:lnTo>
                    <a:lnTo>
                      <a:pt x="1214" y="1194"/>
                    </a:lnTo>
                    <a:lnTo>
                      <a:pt x="1220" y="1184"/>
                    </a:lnTo>
                    <a:lnTo>
                      <a:pt x="1226" y="1174"/>
                    </a:lnTo>
                    <a:lnTo>
                      <a:pt x="1228" y="1162"/>
                    </a:lnTo>
                    <a:lnTo>
                      <a:pt x="1228" y="1150"/>
                    </a:lnTo>
                    <a:lnTo>
                      <a:pt x="1228" y="1150"/>
                    </a:lnTo>
                    <a:lnTo>
                      <a:pt x="1228" y="910"/>
                    </a:lnTo>
                    <a:lnTo>
                      <a:pt x="1228" y="670"/>
                    </a:lnTo>
                    <a:lnTo>
                      <a:pt x="1228" y="670"/>
                    </a:lnTo>
                    <a:close/>
                  </a:path>
                </a:pathLst>
              </a:custGeom>
              <a:solidFill>
                <a:schemeClr val="accent1"/>
              </a:solidFill>
              <a:ln>
                <a:noFill/>
              </a:ln>
              <a:effectLst/>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latin typeface="+mj-ea"/>
                  <a:ea typeface="+mj-ea"/>
                  <a:cs typeface="OPPOSans M" panose="00020600040101010101" pitchFamily="18" charset="-122"/>
                </a:endParaRPr>
              </a:p>
            </p:txBody>
          </p:sp>
          <p:sp>
            <p:nvSpPr>
              <p:cNvPr id="149" name="靖飞在肝PPT22-2">
                <a:extLst>
                  <a:ext uri="{FF2B5EF4-FFF2-40B4-BE49-F238E27FC236}">
                    <a16:creationId xmlns:a16="http://schemas.microsoft.com/office/drawing/2014/main" id="{2A0E57E5-6F99-4DB8-9F0A-EAE88223C251}"/>
                  </a:ext>
                </a:extLst>
              </p:cNvPr>
              <p:cNvSpPr txBox="1"/>
              <p:nvPr/>
            </p:nvSpPr>
            <p:spPr>
              <a:xfrm rot="2700000" flipH="1">
                <a:off x="6236757" y="4296095"/>
                <a:ext cx="426720" cy="584775"/>
              </a:xfrm>
              <a:prstGeom prst="rect">
                <a:avLst/>
              </a:prstGeom>
              <a:noFill/>
            </p:spPr>
            <p:txBody>
              <a:bodyPr wrap="none" rtlCol="0">
                <a:spAutoFit/>
              </a:bodyPr>
              <a:lstStyle/>
              <a:p>
                <a:r>
                  <a:rPr lang="en-US" altLang="zh-CN" sz="3200" dirty="0">
                    <a:solidFill>
                      <a:schemeClr val="bg1"/>
                    </a:solidFill>
                    <a:latin typeface="思源黑体 CN Bold" panose="020B0800000000000000" pitchFamily="34" charset="-122"/>
                    <a:ea typeface="思源黑体 CN Bold" panose="020B0800000000000000" pitchFamily="34" charset="-122"/>
                    <a:cs typeface="OPPOSans M" panose="00020600040101010101" pitchFamily="18" charset="-122"/>
                  </a:rPr>
                  <a:t>3</a:t>
                </a:r>
                <a:endParaRPr lang="zh-CN" altLang="en-US" sz="3200" dirty="0">
                  <a:solidFill>
                    <a:schemeClr val="bg1"/>
                  </a:solidFill>
                  <a:latin typeface="思源黑体 CN Bold" panose="020B0800000000000000" pitchFamily="34" charset="-122"/>
                  <a:ea typeface="思源黑体 CN Bold" panose="020B0800000000000000" pitchFamily="34" charset="-122"/>
                  <a:cs typeface="OPPOSans M" panose="00020600040101010101" pitchFamily="18" charset="-122"/>
                </a:endParaRPr>
              </a:p>
            </p:txBody>
          </p:sp>
        </p:grpSp>
        <p:sp>
          <p:nvSpPr>
            <p:cNvPr id="150" name="流程图: 接点 149">
              <a:extLst>
                <a:ext uri="{FF2B5EF4-FFF2-40B4-BE49-F238E27FC236}">
                  <a16:creationId xmlns:a16="http://schemas.microsoft.com/office/drawing/2014/main" id="{7D49C632-1F58-4FA7-BA98-141816EFF36B}"/>
                </a:ext>
              </a:extLst>
            </p:cNvPr>
            <p:cNvSpPr/>
            <p:nvPr/>
          </p:nvSpPr>
          <p:spPr>
            <a:xfrm>
              <a:off x="6494875" y="3279077"/>
              <a:ext cx="1263370" cy="1263370"/>
            </a:xfrm>
            <a:prstGeom prst="flowChartConnector">
              <a:avLst/>
            </a:prstGeom>
            <a:solidFill>
              <a:schemeClr val="bg1"/>
            </a:solidFill>
            <a:ln w="15875">
              <a:noFill/>
              <a:prstDash val="dash"/>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zh-CN" altLang="en-US"/>
            </a:p>
          </p:txBody>
        </p:sp>
        <p:sp>
          <p:nvSpPr>
            <p:cNvPr id="151" name="文本框 150">
              <a:extLst>
                <a:ext uri="{FF2B5EF4-FFF2-40B4-BE49-F238E27FC236}">
                  <a16:creationId xmlns:a16="http://schemas.microsoft.com/office/drawing/2014/main" id="{38CFC9D7-4679-4DC5-8BA6-65BEF80CCFE7}"/>
                </a:ext>
              </a:extLst>
            </p:cNvPr>
            <p:cNvSpPr txBox="1"/>
            <p:nvPr/>
          </p:nvSpPr>
          <p:spPr>
            <a:xfrm>
              <a:off x="6617880" y="3506412"/>
              <a:ext cx="1017360" cy="830997"/>
            </a:xfrm>
            <a:prstGeom prst="rect">
              <a:avLst/>
            </a:prstGeom>
            <a:noFill/>
          </p:spPr>
          <p:txBody>
            <a:bodyPr wrap="square" rtlCol="0">
              <a:spAutoFit/>
            </a:bodyPr>
            <a:lstStyle/>
            <a:p>
              <a:pPr algn="ctr"/>
              <a:r>
                <a:rPr lang="zh-CN" altLang="en-US" sz="2400" dirty="0">
                  <a:solidFill>
                    <a:schemeClr val="accent1"/>
                  </a:solidFill>
                  <a:latin typeface="思源黑体 CN Bold" panose="020B0800000000000000" pitchFamily="34" charset="-122"/>
                  <a:ea typeface="思源黑体 CN Bold" panose="020B0800000000000000" pitchFamily="34" charset="-122"/>
                </a:rPr>
                <a:t>研究方法</a:t>
              </a:r>
            </a:p>
          </p:txBody>
        </p:sp>
      </p:grpSp>
      <p:sp>
        <p:nvSpPr>
          <p:cNvPr id="152" name="文本框 151">
            <a:extLst>
              <a:ext uri="{FF2B5EF4-FFF2-40B4-BE49-F238E27FC236}">
                <a16:creationId xmlns:a16="http://schemas.microsoft.com/office/drawing/2014/main" id="{806D11DA-9446-4004-94EE-35EEF06E98FA}"/>
              </a:ext>
            </a:extLst>
          </p:cNvPr>
          <p:cNvSpPr txBox="1"/>
          <p:nvPr/>
        </p:nvSpPr>
        <p:spPr>
          <a:xfrm>
            <a:off x="373082" y="5620123"/>
            <a:ext cx="1660612" cy="338554"/>
          </a:xfrm>
          <a:prstGeom prst="rect">
            <a:avLst/>
          </a:prstGeom>
          <a:noFill/>
        </p:spPr>
        <p:txBody>
          <a:bodyPr wrap="square" rtlCol="0">
            <a:spAutoFit/>
          </a:bodyPr>
          <a:lstStyle/>
          <a:p>
            <a:r>
              <a:rPr lang="zh-CN" altLang="en-US" sz="1600" dirty="0">
                <a:solidFill>
                  <a:schemeClr val="bg1"/>
                </a:solidFill>
                <a:latin typeface="思源黑体 CN Regular" panose="020B0500000000000000" pitchFamily="34" charset="-122"/>
                <a:ea typeface="思源黑体 CN Regular" panose="020B0500000000000000" pitchFamily="34" charset="-122"/>
              </a:rPr>
              <a:t>预期成果</a:t>
            </a:r>
          </a:p>
        </p:txBody>
      </p:sp>
      <p:sp>
        <p:nvSpPr>
          <p:cNvPr id="153" name="任意矩形：006">
            <a:extLst>
              <a:ext uri="{FF2B5EF4-FFF2-40B4-BE49-F238E27FC236}">
                <a16:creationId xmlns:a16="http://schemas.microsoft.com/office/drawing/2014/main" id="{81B4CDC3-67F1-4233-8B3C-8FBA7E567409}"/>
              </a:ext>
            </a:extLst>
          </p:cNvPr>
          <p:cNvSpPr/>
          <p:nvPr/>
        </p:nvSpPr>
        <p:spPr>
          <a:xfrm>
            <a:off x="125661" y="5689964"/>
            <a:ext cx="203662" cy="187126"/>
          </a:xfrm>
          <a:custGeom>
            <a:avLst/>
            <a:gdLst>
              <a:gd name="T0" fmla="*/ 11834 w 13933"/>
              <a:gd name="T1" fmla="*/ 1094 h 12800"/>
              <a:gd name="T2" fmla="*/ 10384 w 13933"/>
              <a:gd name="T3" fmla="*/ 1094 h 12800"/>
              <a:gd name="T4" fmla="*/ 10384 w 13933"/>
              <a:gd name="T5" fmla="*/ 315 h 12800"/>
              <a:gd name="T6" fmla="*/ 10069 w 13933"/>
              <a:gd name="T7" fmla="*/ 0 h 12800"/>
              <a:gd name="T8" fmla="*/ 9754 w 13933"/>
              <a:gd name="T9" fmla="*/ 315 h 12800"/>
              <a:gd name="T10" fmla="*/ 9754 w 13933"/>
              <a:gd name="T11" fmla="*/ 1094 h 12800"/>
              <a:gd name="T12" fmla="*/ 4056 w 13933"/>
              <a:gd name="T13" fmla="*/ 1094 h 12800"/>
              <a:gd name="T14" fmla="*/ 4056 w 13933"/>
              <a:gd name="T15" fmla="*/ 315 h 12800"/>
              <a:gd name="T16" fmla="*/ 3741 w 13933"/>
              <a:gd name="T17" fmla="*/ 0 h 12800"/>
              <a:gd name="T18" fmla="*/ 3426 w 13933"/>
              <a:gd name="T19" fmla="*/ 315 h 12800"/>
              <a:gd name="T20" fmla="*/ 3426 w 13933"/>
              <a:gd name="T21" fmla="*/ 1094 h 12800"/>
              <a:gd name="T22" fmla="*/ 2099 w 13933"/>
              <a:gd name="T23" fmla="*/ 1094 h 12800"/>
              <a:gd name="T24" fmla="*/ 0 w 13933"/>
              <a:gd name="T25" fmla="*/ 3193 h 12800"/>
              <a:gd name="T26" fmla="*/ 0 w 13933"/>
              <a:gd name="T27" fmla="*/ 10701 h 12800"/>
              <a:gd name="T28" fmla="*/ 2099 w 13933"/>
              <a:gd name="T29" fmla="*/ 12800 h 12800"/>
              <a:gd name="T30" fmla="*/ 11834 w 13933"/>
              <a:gd name="T31" fmla="*/ 12800 h 12800"/>
              <a:gd name="T32" fmla="*/ 13933 w 13933"/>
              <a:gd name="T33" fmla="*/ 10701 h 12800"/>
              <a:gd name="T34" fmla="*/ 13933 w 13933"/>
              <a:gd name="T35" fmla="*/ 3193 h 12800"/>
              <a:gd name="T36" fmla="*/ 11834 w 13933"/>
              <a:gd name="T37" fmla="*/ 1094 h 12800"/>
              <a:gd name="T38" fmla="*/ 2099 w 13933"/>
              <a:gd name="T39" fmla="*/ 1933 h 12800"/>
              <a:gd name="T40" fmla="*/ 3426 w 13933"/>
              <a:gd name="T41" fmla="*/ 1933 h 12800"/>
              <a:gd name="T42" fmla="*/ 3426 w 13933"/>
              <a:gd name="T43" fmla="*/ 2757 h 12800"/>
              <a:gd name="T44" fmla="*/ 3741 w 13933"/>
              <a:gd name="T45" fmla="*/ 3072 h 12800"/>
              <a:gd name="T46" fmla="*/ 4056 w 13933"/>
              <a:gd name="T47" fmla="*/ 2757 h 12800"/>
              <a:gd name="T48" fmla="*/ 4056 w 13933"/>
              <a:gd name="T49" fmla="*/ 1933 h 12800"/>
              <a:gd name="T50" fmla="*/ 9754 w 13933"/>
              <a:gd name="T51" fmla="*/ 1933 h 12800"/>
              <a:gd name="T52" fmla="*/ 9754 w 13933"/>
              <a:gd name="T53" fmla="*/ 2757 h 12800"/>
              <a:gd name="T54" fmla="*/ 10069 w 13933"/>
              <a:gd name="T55" fmla="*/ 3072 h 12800"/>
              <a:gd name="T56" fmla="*/ 10384 w 13933"/>
              <a:gd name="T57" fmla="*/ 2757 h 12800"/>
              <a:gd name="T58" fmla="*/ 10384 w 13933"/>
              <a:gd name="T59" fmla="*/ 1933 h 12800"/>
              <a:gd name="T60" fmla="*/ 11834 w 13933"/>
              <a:gd name="T61" fmla="*/ 1933 h 12800"/>
              <a:gd name="T62" fmla="*/ 13094 w 13933"/>
              <a:gd name="T63" fmla="*/ 3193 h 12800"/>
              <a:gd name="T64" fmla="*/ 13094 w 13933"/>
              <a:gd name="T65" fmla="*/ 4646 h 12800"/>
              <a:gd name="T66" fmla="*/ 840 w 13933"/>
              <a:gd name="T67" fmla="*/ 4646 h 12800"/>
              <a:gd name="T68" fmla="*/ 840 w 13933"/>
              <a:gd name="T69" fmla="*/ 3193 h 12800"/>
              <a:gd name="T70" fmla="*/ 2099 w 13933"/>
              <a:gd name="T71" fmla="*/ 1933 h 12800"/>
              <a:gd name="T72" fmla="*/ 11834 w 13933"/>
              <a:gd name="T73" fmla="*/ 11960 h 12800"/>
              <a:gd name="T74" fmla="*/ 2099 w 13933"/>
              <a:gd name="T75" fmla="*/ 11960 h 12800"/>
              <a:gd name="T76" fmla="*/ 840 w 13933"/>
              <a:gd name="T77" fmla="*/ 10701 h 12800"/>
              <a:gd name="T78" fmla="*/ 840 w 13933"/>
              <a:gd name="T79" fmla="*/ 5276 h 12800"/>
              <a:gd name="T80" fmla="*/ 13094 w 13933"/>
              <a:gd name="T81" fmla="*/ 5276 h 12800"/>
              <a:gd name="T82" fmla="*/ 13094 w 13933"/>
              <a:gd name="T83" fmla="*/ 10701 h 12800"/>
              <a:gd name="T84" fmla="*/ 11834 w 13933"/>
              <a:gd name="T85" fmla="*/ 11960 h 128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Lst>
            <a:rect l="0" t="0" r="r" b="b"/>
            <a:pathLst>
              <a:path w="13933" h="12800">
                <a:moveTo>
                  <a:pt x="11834" y="1094"/>
                </a:moveTo>
                <a:lnTo>
                  <a:pt x="10384" y="1094"/>
                </a:lnTo>
                <a:lnTo>
                  <a:pt x="10384" y="315"/>
                </a:lnTo>
                <a:cubicBezTo>
                  <a:pt x="10384" y="141"/>
                  <a:pt x="10243" y="0"/>
                  <a:pt x="10069" y="0"/>
                </a:cubicBezTo>
                <a:cubicBezTo>
                  <a:pt x="9895" y="0"/>
                  <a:pt x="9754" y="141"/>
                  <a:pt x="9754" y="315"/>
                </a:cubicBezTo>
                <a:lnTo>
                  <a:pt x="9754" y="1094"/>
                </a:lnTo>
                <a:lnTo>
                  <a:pt x="4056" y="1094"/>
                </a:lnTo>
                <a:lnTo>
                  <a:pt x="4056" y="315"/>
                </a:lnTo>
                <a:cubicBezTo>
                  <a:pt x="4056" y="141"/>
                  <a:pt x="3915" y="0"/>
                  <a:pt x="3741" y="0"/>
                </a:cubicBezTo>
                <a:cubicBezTo>
                  <a:pt x="3567" y="0"/>
                  <a:pt x="3426" y="141"/>
                  <a:pt x="3426" y="315"/>
                </a:cubicBezTo>
                <a:lnTo>
                  <a:pt x="3426" y="1094"/>
                </a:lnTo>
                <a:lnTo>
                  <a:pt x="2099" y="1094"/>
                </a:lnTo>
                <a:cubicBezTo>
                  <a:pt x="940" y="1095"/>
                  <a:pt x="1" y="2034"/>
                  <a:pt x="0" y="3193"/>
                </a:cubicBezTo>
                <a:lnTo>
                  <a:pt x="0" y="10701"/>
                </a:lnTo>
                <a:cubicBezTo>
                  <a:pt x="1" y="11860"/>
                  <a:pt x="940" y="12799"/>
                  <a:pt x="2099" y="12800"/>
                </a:cubicBezTo>
                <a:lnTo>
                  <a:pt x="11834" y="12800"/>
                </a:lnTo>
                <a:cubicBezTo>
                  <a:pt x="12993" y="12799"/>
                  <a:pt x="13932" y="11860"/>
                  <a:pt x="13933" y="10701"/>
                </a:cubicBezTo>
                <a:lnTo>
                  <a:pt x="13933" y="3193"/>
                </a:lnTo>
                <a:cubicBezTo>
                  <a:pt x="13932" y="2034"/>
                  <a:pt x="12993" y="1095"/>
                  <a:pt x="11834" y="1094"/>
                </a:cubicBezTo>
                <a:close/>
                <a:moveTo>
                  <a:pt x="2099" y="1933"/>
                </a:moveTo>
                <a:lnTo>
                  <a:pt x="3426" y="1933"/>
                </a:lnTo>
                <a:lnTo>
                  <a:pt x="3426" y="2757"/>
                </a:lnTo>
                <a:cubicBezTo>
                  <a:pt x="3426" y="2931"/>
                  <a:pt x="3567" y="3072"/>
                  <a:pt x="3741" y="3072"/>
                </a:cubicBezTo>
                <a:cubicBezTo>
                  <a:pt x="3915" y="3072"/>
                  <a:pt x="4056" y="2931"/>
                  <a:pt x="4056" y="2757"/>
                </a:cubicBezTo>
                <a:lnTo>
                  <a:pt x="4056" y="1933"/>
                </a:lnTo>
                <a:lnTo>
                  <a:pt x="9754" y="1933"/>
                </a:lnTo>
                <a:lnTo>
                  <a:pt x="9754" y="2757"/>
                </a:lnTo>
                <a:cubicBezTo>
                  <a:pt x="9754" y="2931"/>
                  <a:pt x="9895" y="3072"/>
                  <a:pt x="10069" y="3072"/>
                </a:cubicBezTo>
                <a:cubicBezTo>
                  <a:pt x="10243" y="3072"/>
                  <a:pt x="10384" y="2931"/>
                  <a:pt x="10384" y="2757"/>
                </a:cubicBezTo>
                <a:lnTo>
                  <a:pt x="10384" y="1933"/>
                </a:lnTo>
                <a:lnTo>
                  <a:pt x="11834" y="1933"/>
                </a:lnTo>
                <a:cubicBezTo>
                  <a:pt x="12529" y="1934"/>
                  <a:pt x="13093" y="2497"/>
                  <a:pt x="13094" y="3193"/>
                </a:cubicBezTo>
                <a:lnTo>
                  <a:pt x="13094" y="4646"/>
                </a:lnTo>
                <a:lnTo>
                  <a:pt x="840" y="4646"/>
                </a:lnTo>
                <a:lnTo>
                  <a:pt x="840" y="3193"/>
                </a:lnTo>
                <a:cubicBezTo>
                  <a:pt x="840" y="2497"/>
                  <a:pt x="1404" y="1934"/>
                  <a:pt x="2099" y="1933"/>
                </a:cubicBezTo>
                <a:close/>
                <a:moveTo>
                  <a:pt x="11834" y="11960"/>
                </a:moveTo>
                <a:lnTo>
                  <a:pt x="2099" y="11960"/>
                </a:lnTo>
                <a:cubicBezTo>
                  <a:pt x="1404" y="11960"/>
                  <a:pt x="840" y="11396"/>
                  <a:pt x="840" y="10701"/>
                </a:cubicBezTo>
                <a:lnTo>
                  <a:pt x="840" y="5276"/>
                </a:lnTo>
                <a:lnTo>
                  <a:pt x="13094" y="5276"/>
                </a:lnTo>
                <a:lnTo>
                  <a:pt x="13094" y="10701"/>
                </a:lnTo>
                <a:cubicBezTo>
                  <a:pt x="13093" y="11396"/>
                  <a:pt x="12529" y="11960"/>
                  <a:pt x="11834" y="1196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83650882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矩形: 圆角 5">
            <a:extLst>
              <a:ext uri="{FF2B5EF4-FFF2-40B4-BE49-F238E27FC236}">
                <a16:creationId xmlns:a16="http://schemas.microsoft.com/office/drawing/2014/main" id="{C1A30B15-8195-4307-A38C-A12C001EC6E1}"/>
              </a:ext>
            </a:extLst>
          </p:cNvPr>
          <p:cNvSpPr/>
          <p:nvPr/>
        </p:nvSpPr>
        <p:spPr>
          <a:xfrm>
            <a:off x="6755176" y="1373270"/>
            <a:ext cx="5101862" cy="5154930"/>
          </a:xfrm>
          <a:prstGeom prst="roundRect">
            <a:avLst>
              <a:gd name="adj" fmla="val 4721"/>
            </a:avLst>
          </a:prstGeom>
          <a:solidFill>
            <a:schemeClr val="bg1"/>
          </a:solidFill>
          <a:ln w="15875">
            <a:solidFill>
              <a:schemeClr val="accent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9" name="右大括号 18">
            <a:extLst>
              <a:ext uri="{FF2B5EF4-FFF2-40B4-BE49-F238E27FC236}">
                <a16:creationId xmlns:a16="http://schemas.microsoft.com/office/drawing/2014/main" id="{F421047B-4DF7-4773-8409-34F762DD9EA6}"/>
              </a:ext>
            </a:extLst>
          </p:cNvPr>
          <p:cNvSpPr/>
          <p:nvPr/>
        </p:nvSpPr>
        <p:spPr>
          <a:xfrm>
            <a:off x="6377683" y="1867550"/>
            <a:ext cx="95812" cy="4166372"/>
          </a:xfrm>
          <a:prstGeom prst="rightBrace">
            <a:avLst>
              <a:gd name="adj1" fmla="val 8333"/>
              <a:gd name="adj2" fmla="val 50231"/>
            </a:avLst>
          </a:prstGeom>
          <a:ln w="15875">
            <a:solidFill>
              <a:schemeClr val="bg1">
                <a:lumMod val="50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pic>
        <p:nvPicPr>
          <p:cNvPr id="23" name="图片 22">
            <a:extLst>
              <a:ext uri="{FF2B5EF4-FFF2-40B4-BE49-F238E27FC236}">
                <a16:creationId xmlns:a16="http://schemas.microsoft.com/office/drawing/2014/main" id="{632F5803-947F-4697-9E09-DE734AD77492}"/>
              </a:ext>
            </a:extLst>
          </p:cNvPr>
          <p:cNvPicPr>
            <a:picLocks noChangeAspect="1"/>
          </p:cNvPicPr>
          <p:nvPr/>
        </p:nvPicPr>
        <p:blipFill rotWithShape="1">
          <a:blip r:embed="rId2"/>
          <a:srcRect l="1800"/>
          <a:stretch/>
        </p:blipFill>
        <p:spPr>
          <a:xfrm>
            <a:off x="6827525" y="1788490"/>
            <a:ext cx="4983130" cy="4324490"/>
          </a:xfrm>
          <a:prstGeom prst="rect">
            <a:avLst/>
          </a:prstGeom>
        </p:spPr>
      </p:pic>
      <p:grpSp>
        <p:nvGrpSpPr>
          <p:cNvPr id="15" name="组合 14">
            <a:extLst>
              <a:ext uri="{FF2B5EF4-FFF2-40B4-BE49-F238E27FC236}">
                <a16:creationId xmlns:a16="http://schemas.microsoft.com/office/drawing/2014/main" id="{C5BC6DF2-F9C9-4EF4-9FEC-397167620B1D}"/>
              </a:ext>
            </a:extLst>
          </p:cNvPr>
          <p:cNvGrpSpPr/>
          <p:nvPr/>
        </p:nvGrpSpPr>
        <p:grpSpPr>
          <a:xfrm>
            <a:off x="2387601" y="1867549"/>
            <a:ext cx="3708400" cy="4166373"/>
            <a:chOff x="2387601" y="1708315"/>
            <a:chExt cx="3708400" cy="4166373"/>
          </a:xfrm>
        </p:grpSpPr>
        <p:grpSp>
          <p:nvGrpSpPr>
            <p:cNvPr id="12" name="组合 11">
              <a:extLst>
                <a:ext uri="{FF2B5EF4-FFF2-40B4-BE49-F238E27FC236}">
                  <a16:creationId xmlns:a16="http://schemas.microsoft.com/office/drawing/2014/main" id="{093D173E-B674-4F93-8EC7-35EC0DAD4C57}"/>
                </a:ext>
              </a:extLst>
            </p:cNvPr>
            <p:cNvGrpSpPr/>
            <p:nvPr/>
          </p:nvGrpSpPr>
          <p:grpSpPr>
            <a:xfrm>
              <a:off x="4130004" y="2158586"/>
              <a:ext cx="223594" cy="223592"/>
              <a:chOff x="2743190" y="3268022"/>
              <a:chExt cx="321955" cy="321955"/>
            </a:xfrm>
            <a:solidFill>
              <a:schemeClr val="accent1"/>
            </a:solidFill>
          </p:grpSpPr>
          <p:sp>
            <p:nvSpPr>
              <p:cNvPr id="10" name="矩形 9">
                <a:extLst>
                  <a:ext uri="{FF2B5EF4-FFF2-40B4-BE49-F238E27FC236}">
                    <a16:creationId xmlns:a16="http://schemas.microsoft.com/office/drawing/2014/main" id="{545B5DAE-2DD1-4D19-B902-1A9A37CCF7DD}"/>
                  </a:ext>
                </a:extLst>
              </p:cNvPr>
              <p:cNvSpPr/>
              <p:nvPr/>
            </p:nvSpPr>
            <p:spPr>
              <a:xfrm>
                <a:off x="2743190" y="3406140"/>
                <a:ext cx="321955" cy="4572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 name="矩形 10">
                <a:extLst>
                  <a:ext uri="{FF2B5EF4-FFF2-40B4-BE49-F238E27FC236}">
                    <a16:creationId xmlns:a16="http://schemas.microsoft.com/office/drawing/2014/main" id="{6F6F63EA-6FFE-455F-A78F-A93E9B5D0F3E}"/>
                  </a:ext>
                </a:extLst>
              </p:cNvPr>
              <p:cNvSpPr/>
              <p:nvPr/>
            </p:nvSpPr>
            <p:spPr>
              <a:xfrm rot="5400000">
                <a:off x="2743190" y="3406140"/>
                <a:ext cx="321955" cy="4572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16" name="矩形: 圆角 15">
              <a:extLst>
                <a:ext uri="{FF2B5EF4-FFF2-40B4-BE49-F238E27FC236}">
                  <a16:creationId xmlns:a16="http://schemas.microsoft.com/office/drawing/2014/main" id="{A5E3953C-8D54-4517-B4AE-FC8808B07825}"/>
                </a:ext>
              </a:extLst>
            </p:cNvPr>
            <p:cNvSpPr/>
            <p:nvPr/>
          </p:nvSpPr>
          <p:spPr>
            <a:xfrm>
              <a:off x="2765218" y="5358932"/>
              <a:ext cx="2953166" cy="515756"/>
            </a:xfrm>
            <a:prstGeom prst="round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n-US" altLang="zh-CN" sz="1600" b="1" dirty="0">
                  <a:latin typeface="思源黑体 CN Bold" panose="020B0800000000000000" pitchFamily="34" charset="-122"/>
                  <a:ea typeface="思源黑体 CN Bold" panose="020B0800000000000000" pitchFamily="34" charset="-122"/>
                </a:rPr>
                <a:t>PRMT3-IGF2BP1</a:t>
              </a:r>
              <a:r>
                <a:rPr lang="zh-CN" altLang="en-US" sz="1600" b="1" dirty="0">
                  <a:latin typeface="思源黑体 CN Bold" panose="020B0800000000000000" pitchFamily="34" charset="-122"/>
                  <a:ea typeface="思源黑体 CN Bold" panose="020B0800000000000000" pitchFamily="34" charset="-122"/>
                </a:rPr>
                <a:t>轴介导耐药</a:t>
              </a:r>
            </a:p>
          </p:txBody>
        </p:sp>
        <p:sp>
          <p:nvSpPr>
            <p:cNvPr id="17" name="矩形: 圆角 16">
              <a:extLst>
                <a:ext uri="{FF2B5EF4-FFF2-40B4-BE49-F238E27FC236}">
                  <a16:creationId xmlns:a16="http://schemas.microsoft.com/office/drawing/2014/main" id="{F966FB35-305C-4025-85D2-722B92EBBE9E}"/>
                </a:ext>
              </a:extLst>
            </p:cNvPr>
            <p:cNvSpPr/>
            <p:nvPr/>
          </p:nvSpPr>
          <p:spPr>
            <a:xfrm>
              <a:off x="2387601" y="3023211"/>
              <a:ext cx="3708400" cy="2045566"/>
            </a:xfrm>
            <a:prstGeom prst="roundRect">
              <a:avLst>
                <a:gd name="adj" fmla="val 6584"/>
              </a:avLst>
            </a:prstGeom>
            <a:solidFill>
              <a:schemeClr val="bg1"/>
            </a:solidFill>
            <a:ln w="15875">
              <a:solidFill>
                <a:schemeClr val="accent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8" name="文本框 17">
              <a:extLst>
                <a:ext uri="{FF2B5EF4-FFF2-40B4-BE49-F238E27FC236}">
                  <a16:creationId xmlns:a16="http://schemas.microsoft.com/office/drawing/2014/main" id="{7603F3EA-A7C6-4BB1-8A0F-71C4AA639687}"/>
                </a:ext>
              </a:extLst>
            </p:cNvPr>
            <p:cNvSpPr txBox="1"/>
            <p:nvPr/>
          </p:nvSpPr>
          <p:spPr>
            <a:xfrm>
              <a:off x="2992289" y="1708315"/>
              <a:ext cx="2499024" cy="408623"/>
            </a:xfrm>
            <a:prstGeom prst="roundRect">
              <a:avLst/>
            </a:prstGeom>
            <a:solidFill>
              <a:schemeClr val="bg2"/>
            </a:solidFill>
          </p:spPr>
          <p:txBody>
            <a:bodyPr wrap="square" rtlCol="0">
              <a:spAutoFit/>
            </a:bodyPr>
            <a:lstStyle>
              <a:defPPr>
                <a:defRPr lang="zh-CN"/>
              </a:defPPr>
              <a:lvl1pPr marL="285750" indent="-285750">
                <a:lnSpc>
                  <a:spcPct val="110000"/>
                </a:lnSpc>
                <a:buFont typeface="Wingdings" panose="05000000000000000000" pitchFamily="2" charset="2"/>
                <a:buChar char="u"/>
                <a:defRPr sz="1400">
                  <a:latin typeface="思源黑体 CN Regular" panose="020B0500000000000000" pitchFamily="34" charset="-122"/>
                  <a:ea typeface="思源黑体 CN Regular" panose="020B0500000000000000" pitchFamily="34" charset="-122"/>
                </a:defRPr>
              </a:lvl1pPr>
            </a:lstStyle>
            <a:p>
              <a:pPr marL="0" indent="0" algn="ctr">
                <a:lnSpc>
                  <a:spcPct val="100000"/>
                </a:lnSpc>
                <a:buNone/>
              </a:pPr>
              <a:r>
                <a:rPr lang="en-US" altLang="zh-CN" sz="1800" dirty="0">
                  <a:solidFill>
                    <a:schemeClr val="accent1"/>
                  </a:solidFill>
                  <a:latin typeface="思源黑体 CN Bold" panose="020B0800000000000000" pitchFamily="34" charset="-122"/>
                  <a:ea typeface="思源黑体 CN Bold" panose="020B0800000000000000" pitchFamily="34" charset="-122"/>
                </a:rPr>
                <a:t>PRMT3</a:t>
              </a:r>
              <a:r>
                <a:rPr lang="zh-CN" altLang="en-US" sz="1800" dirty="0">
                  <a:solidFill>
                    <a:schemeClr val="accent1"/>
                  </a:solidFill>
                  <a:latin typeface="思源黑体 CN Bold" panose="020B0800000000000000" pitchFamily="34" charset="-122"/>
                  <a:ea typeface="思源黑体 CN Bold" panose="020B0800000000000000" pitchFamily="34" charset="-122"/>
                </a:rPr>
                <a:t>甲基化</a:t>
              </a:r>
            </a:p>
          </p:txBody>
        </p:sp>
        <p:sp>
          <p:nvSpPr>
            <p:cNvPr id="20" name="文本框 19">
              <a:extLst>
                <a:ext uri="{FF2B5EF4-FFF2-40B4-BE49-F238E27FC236}">
                  <a16:creationId xmlns:a16="http://schemas.microsoft.com/office/drawing/2014/main" id="{A5C74753-C86A-4CC2-8D38-42B777970F64}"/>
                </a:ext>
              </a:extLst>
            </p:cNvPr>
            <p:cNvSpPr txBox="1"/>
            <p:nvPr/>
          </p:nvSpPr>
          <p:spPr>
            <a:xfrm>
              <a:off x="2525714" y="3212625"/>
              <a:ext cx="3432175" cy="1666738"/>
            </a:xfrm>
            <a:prstGeom prst="rect">
              <a:avLst/>
            </a:prstGeom>
            <a:noFill/>
          </p:spPr>
          <p:txBody>
            <a:bodyPr wrap="square" rtlCol="0">
              <a:spAutoFit/>
            </a:bodyPr>
            <a:lstStyle>
              <a:defPPr>
                <a:defRPr lang="zh-CN"/>
              </a:defPPr>
              <a:lvl1pPr marL="285750" indent="-285750">
                <a:lnSpc>
                  <a:spcPct val="110000"/>
                </a:lnSpc>
                <a:buFont typeface="Wingdings" panose="05000000000000000000" pitchFamily="2" charset="2"/>
                <a:buChar char="u"/>
                <a:defRPr sz="1400">
                  <a:latin typeface="思源黑体 CN Regular" panose="020B0500000000000000" pitchFamily="34" charset="-122"/>
                  <a:ea typeface="思源黑体 CN Regular" panose="020B0500000000000000" pitchFamily="34" charset="-122"/>
                </a:defRPr>
              </a:lvl1pPr>
            </a:lstStyle>
            <a:p>
              <a:pPr marL="0" indent="0" algn="just">
                <a:lnSpc>
                  <a:spcPct val="130000"/>
                </a:lnSpc>
                <a:buNone/>
              </a:pPr>
              <a:r>
                <a:rPr lang="zh-CN" altLang="en-US" sz="1600" dirty="0"/>
                <a:t>免疫共沉淀验证</a:t>
              </a:r>
              <a:r>
                <a:rPr lang="en-US" altLang="zh-CN" sz="1600" dirty="0"/>
                <a:t>PRMT3</a:t>
              </a:r>
              <a:r>
                <a:rPr lang="zh-CN" altLang="en-US" sz="1600" dirty="0"/>
                <a:t>与</a:t>
              </a:r>
              <a:r>
                <a:rPr lang="en-US" altLang="zh-CN" sz="1600" dirty="0"/>
                <a:t>IGF2BP1</a:t>
              </a:r>
              <a:r>
                <a:rPr lang="zh-CN" altLang="en-US" sz="1600" dirty="0"/>
                <a:t>直接互作，质谱检测显示</a:t>
              </a:r>
              <a:r>
                <a:rPr lang="en-US" altLang="zh-CN" sz="1600" dirty="0"/>
                <a:t>IGF2BP1 Arg153</a:t>
              </a:r>
              <a:r>
                <a:rPr lang="zh-CN" altLang="en-US" sz="1600" dirty="0"/>
                <a:t>位点为主要甲基化位点；敲低</a:t>
              </a:r>
              <a:r>
                <a:rPr lang="en-US" altLang="zh-CN" sz="1600" dirty="0"/>
                <a:t>PRMT3</a:t>
              </a:r>
              <a:r>
                <a:rPr lang="zh-CN" altLang="en-US" sz="1600" dirty="0"/>
                <a:t>后，</a:t>
              </a:r>
              <a:r>
                <a:rPr lang="en-US" altLang="zh-CN" sz="1600" dirty="0"/>
                <a:t>IGF2BP1</a:t>
              </a:r>
              <a:r>
                <a:rPr lang="zh-CN" altLang="en-US" sz="1600" dirty="0"/>
                <a:t>甲基化水平下降</a:t>
              </a:r>
              <a:r>
                <a:rPr lang="en-US" altLang="zh-CN" sz="1600" dirty="0"/>
                <a:t>62.3%</a:t>
              </a:r>
              <a:r>
                <a:rPr lang="zh-CN" altLang="en-US" sz="1600" dirty="0"/>
                <a:t>（</a:t>
              </a:r>
              <a:r>
                <a:rPr lang="en-US" altLang="zh-CN" sz="1600" dirty="0"/>
                <a:t>n=3</a:t>
              </a:r>
              <a:r>
                <a:rPr lang="zh-CN" altLang="en-US" sz="1600" dirty="0"/>
                <a:t>，</a:t>
              </a:r>
              <a:r>
                <a:rPr lang="en-US" altLang="zh-CN" sz="1600" dirty="0"/>
                <a:t>P&lt;0.01</a:t>
              </a:r>
              <a:r>
                <a:rPr lang="zh-CN" altLang="en-US" sz="1600" dirty="0"/>
                <a:t>）。</a:t>
              </a:r>
            </a:p>
          </p:txBody>
        </p:sp>
        <p:sp>
          <p:nvSpPr>
            <p:cNvPr id="21" name="文本框 20">
              <a:extLst>
                <a:ext uri="{FF2B5EF4-FFF2-40B4-BE49-F238E27FC236}">
                  <a16:creationId xmlns:a16="http://schemas.microsoft.com/office/drawing/2014/main" id="{85AD66F0-7EDB-40DD-AB32-6D3602A82B02}"/>
                </a:ext>
              </a:extLst>
            </p:cNvPr>
            <p:cNvSpPr txBox="1"/>
            <p:nvPr/>
          </p:nvSpPr>
          <p:spPr>
            <a:xfrm>
              <a:off x="2992289" y="2423825"/>
              <a:ext cx="2499024" cy="408623"/>
            </a:xfrm>
            <a:prstGeom prst="roundRect">
              <a:avLst/>
            </a:prstGeom>
            <a:solidFill>
              <a:schemeClr val="bg2"/>
            </a:solidFill>
          </p:spPr>
          <p:txBody>
            <a:bodyPr wrap="square" rtlCol="0">
              <a:spAutoFit/>
            </a:bodyPr>
            <a:lstStyle>
              <a:defPPr>
                <a:defRPr lang="zh-CN"/>
              </a:defPPr>
              <a:lvl1pPr marL="285750" indent="-285750">
                <a:lnSpc>
                  <a:spcPct val="110000"/>
                </a:lnSpc>
                <a:buFont typeface="Wingdings" panose="05000000000000000000" pitchFamily="2" charset="2"/>
                <a:buChar char="u"/>
                <a:defRPr sz="1400">
                  <a:latin typeface="思源黑体 CN Regular" panose="020B0500000000000000" pitchFamily="34" charset="-122"/>
                  <a:ea typeface="思源黑体 CN Regular" panose="020B0500000000000000" pitchFamily="34" charset="-122"/>
                </a:defRPr>
              </a:lvl1pPr>
            </a:lstStyle>
            <a:p>
              <a:pPr marL="0" indent="0" algn="ctr">
                <a:lnSpc>
                  <a:spcPct val="100000"/>
                </a:lnSpc>
                <a:buNone/>
              </a:pPr>
              <a:r>
                <a:rPr lang="zh-CN" altLang="en-US" sz="1800" dirty="0">
                  <a:solidFill>
                    <a:schemeClr val="accent1"/>
                  </a:solidFill>
                  <a:latin typeface="思源黑体 CN Bold" panose="020B0800000000000000" pitchFamily="34" charset="-122"/>
                  <a:ea typeface="思源黑体 CN Bold" panose="020B0800000000000000" pitchFamily="34" charset="-122"/>
                </a:rPr>
                <a:t>介导奥沙利铂耐药</a:t>
              </a:r>
            </a:p>
          </p:txBody>
        </p:sp>
        <p:cxnSp>
          <p:nvCxnSpPr>
            <p:cNvPr id="13" name="直接连接符 12">
              <a:extLst>
                <a:ext uri="{FF2B5EF4-FFF2-40B4-BE49-F238E27FC236}">
                  <a16:creationId xmlns:a16="http://schemas.microsoft.com/office/drawing/2014/main" id="{0FF2BCAD-1D00-4BB3-B620-30AFFC127DEF}"/>
                </a:ext>
              </a:extLst>
            </p:cNvPr>
            <p:cNvCxnSpPr/>
            <p:nvPr/>
          </p:nvCxnSpPr>
          <p:spPr>
            <a:xfrm>
              <a:off x="4241801" y="5068777"/>
              <a:ext cx="0" cy="290155"/>
            </a:xfrm>
            <a:prstGeom prst="line">
              <a:avLst/>
            </a:prstGeom>
            <a:ln w="15875">
              <a:solidFill>
                <a:schemeClr val="accent1"/>
              </a:solidFill>
            </a:ln>
          </p:spPr>
          <p:style>
            <a:lnRef idx="1">
              <a:schemeClr val="accent1"/>
            </a:lnRef>
            <a:fillRef idx="0">
              <a:schemeClr val="accent1"/>
            </a:fillRef>
            <a:effectRef idx="0">
              <a:schemeClr val="accent1"/>
            </a:effectRef>
            <a:fontRef idx="minor">
              <a:schemeClr val="tx1"/>
            </a:fontRef>
          </p:style>
        </p:cxnSp>
      </p:grpSp>
      <p:sp>
        <p:nvSpPr>
          <p:cNvPr id="93" name="文本框 92">
            <a:extLst>
              <a:ext uri="{FF2B5EF4-FFF2-40B4-BE49-F238E27FC236}">
                <a16:creationId xmlns:a16="http://schemas.microsoft.com/office/drawing/2014/main" id="{1A6F520E-7DC1-4511-A3A1-2A7857ED3EE3}"/>
              </a:ext>
            </a:extLst>
          </p:cNvPr>
          <p:cNvSpPr txBox="1"/>
          <p:nvPr/>
        </p:nvSpPr>
        <p:spPr>
          <a:xfrm>
            <a:off x="2209656" y="248670"/>
            <a:ext cx="1947969" cy="461665"/>
          </a:xfrm>
          <a:prstGeom prst="rect">
            <a:avLst/>
          </a:prstGeom>
          <a:noFill/>
        </p:spPr>
        <p:txBody>
          <a:bodyPr wrap="none" rtlCol="0">
            <a:spAutoFit/>
          </a:bodyPr>
          <a:lstStyle/>
          <a:p>
            <a:r>
              <a:rPr lang="en-US" altLang="zh-CN" sz="2400" dirty="0">
                <a:solidFill>
                  <a:schemeClr val="accent1"/>
                </a:solidFill>
                <a:latin typeface="思源黑体 CN Bold" panose="020B0800000000000000" pitchFamily="34" charset="-122"/>
                <a:ea typeface="思源黑体 CN Bold" panose="020B0800000000000000" pitchFamily="34" charset="-122"/>
              </a:rPr>
              <a:t>3.2 </a:t>
            </a:r>
            <a:r>
              <a:rPr lang="zh-CN" altLang="en-US" sz="2400" dirty="0">
                <a:solidFill>
                  <a:schemeClr val="accent1"/>
                </a:solidFill>
                <a:latin typeface="思源黑体 CN Bold" panose="020B0800000000000000" pitchFamily="34" charset="-122"/>
                <a:ea typeface="思源黑体 CN Bold" panose="020B0800000000000000" pitchFamily="34" charset="-122"/>
              </a:rPr>
              <a:t>研究材料</a:t>
            </a:r>
          </a:p>
        </p:txBody>
      </p:sp>
      <p:sp>
        <p:nvSpPr>
          <p:cNvPr id="94" name="矩形 93">
            <a:extLst>
              <a:ext uri="{FF2B5EF4-FFF2-40B4-BE49-F238E27FC236}">
                <a16:creationId xmlns:a16="http://schemas.microsoft.com/office/drawing/2014/main" id="{B07A27FE-6E9A-470D-ACAB-2C8A82CA4AEF}"/>
              </a:ext>
            </a:extLst>
          </p:cNvPr>
          <p:cNvSpPr/>
          <p:nvPr/>
        </p:nvSpPr>
        <p:spPr>
          <a:xfrm>
            <a:off x="0" y="3389589"/>
            <a:ext cx="2052320" cy="56374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95" name="文本框 94">
            <a:extLst>
              <a:ext uri="{FF2B5EF4-FFF2-40B4-BE49-F238E27FC236}">
                <a16:creationId xmlns:a16="http://schemas.microsoft.com/office/drawing/2014/main" id="{4849F687-108D-4BBE-8D0D-0576F1A973DC}"/>
              </a:ext>
            </a:extLst>
          </p:cNvPr>
          <p:cNvSpPr txBox="1"/>
          <p:nvPr/>
        </p:nvSpPr>
        <p:spPr>
          <a:xfrm>
            <a:off x="373082" y="2098899"/>
            <a:ext cx="1660612" cy="338554"/>
          </a:xfrm>
          <a:prstGeom prst="rect">
            <a:avLst/>
          </a:prstGeom>
          <a:noFill/>
        </p:spPr>
        <p:txBody>
          <a:bodyPr wrap="square" rtlCol="0">
            <a:spAutoFit/>
          </a:bodyPr>
          <a:lstStyle/>
          <a:p>
            <a:r>
              <a:rPr lang="zh-CN" altLang="en-US" sz="1600" dirty="0">
                <a:solidFill>
                  <a:schemeClr val="bg1"/>
                </a:solidFill>
                <a:latin typeface="思源黑体 CN Regular" panose="020B0500000000000000" pitchFamily="34" charset="-122"/>
                <a:ea typeface="思源黑体 CN Regular" panose="020B0500000000000000" pitchFamily="34" charset="-122"/>
              </a:rPr>
              <a:t>研究背景及现状</a:t>
            </a:r>
          </a:p>
        </p:txBody>
      </p:sp>
      <p:sp>
        <p:nvSpPr>
          <p:cNvPr id="96" name="任意矩形：001">
            <a:extLst>
              <a:ext uri="{FF2B5EF4-FFF2-40B4-BE49-F238E27FC236}">
                <a16:creationId xmlns:a16="http://schemas.microsoft.com/office/drawing/2014/main" id="{7B187B36-1FF3-4754-B5AC-542FFB9111CE}"/>
              </a:ext>
            </a:extLst>
          </p:cNvPr>
          <p:cNvSpPr/>
          <p:nvPr/>
        </p:nvSpPr>
        <p:spPr>
          <a:xfrm>
            <a:off x="131492" y="2145245"/>
            <a:ext cx="226722" cy="202893"/>
          </a:xfrm>
          <a:custGeom>
            <a:avLst/>
            <a:gdLst>
              <a:gd name="connsiteX0" fmla="*/ 79591 w 607005"/>
              <a:gd name="connsiteY0" fmla="*/ 373864 h 543210"/>
              <a:gd name="connsiteX1" fmla="*/ 33701 w 607005"/>
              <a:gd name="connsiteY1" fmla="*/ 461494 h 543210"/>
              <a:gd name="connsiteX2" fmla="*/ 79501 w 607005"/>
              <a:gd name="connsiteY2" fmla="*/ 507233 h 543210"/>
              <a:gd name="connsiteX3" fmla="*/ 125392 w 607005"/>
              <a:gd name="connsiteY3" fmla="*/ 461494 h 543210"/>
              <a:gd name="connsiteX4" fmla="*/ 79591 w 607005"/>
              <a:gd name="connsiteY4" fmla="*/ 373864 h 543210"/>
              <a:gd name="connsiteX5" fmla="*/ 79501 w 607005"/>
              <a:gd name="connsiteY5" fmla="*/ 328661 h 543210"/>
              <a:gd name="connsiteX6" fmla="*/ 92856 w 607005"/>
              <a:gd name="connsiteY6" fmla="*/ 335106 h 543210"/>
              <a:gd name="connsiteX7" fmla="*/ 158913 w 607005"/>
              <a:gd name="connsiteY7" fmla="*/ 461404 h 543210"/>
              <a:gd name="connsiteX8" fmla="*/ 79501 w 607005"/>
              <a:gd name="connsiteY8" fmla="*/ 540710 h 543210"/>
              <a:gd name="connsiteX9" fmla="*/ 0 w 607005"/>
              <a:gd name="connsiteY9" fmla="*/ 461404 h 543210"/>
              <a:gd name="connsiteX10" fmla="*/ 66236 w 607005"/>
              <a:gd name="connsiteY10" fmla="*/ 335195 h 543210"/>
              <a:gd name="connsiteX11" fmla="*/ 79501 w 607005"/>
              <a:gd name="connsiteY11" fmla="*/ 328661 h 543210"/>
              <a:gd name="connsiteX12" fmla="*/ 196548 w 607005"/>
              <a:gd name="connsiteY12" fmla="*/ 281688 h 543210"/>
              <a:gd name="connsiteX13" fmla="*/ 391755 w 607005"/>
              <a:gd name="connsiteY13" fmla="*/ 476431 h 543210"/>
              <a:gd name="connsiteX14" fmla="*/ 540265 w 607005"/>
              <a:gd name="connsiteY14" fmla="*/ 476431 h 543210"/>
              <a:gd name="connsiteX15" fmla="*/ 540265 w 607005"/>
              <a:gd name="connsiteY15" fmla="*/ 328047 h 543210"/>
              <a:gd name="connsiteX16" fmla="*/ 493749 w 607005"/>
              <a:gd name="connsiteY16" fmla="*/ 281688 h 543210"/>
              <a:gd name="connsiteX17" fmla="*/ 261707 w 607005"/>
              <a:gd name="connsiteY17" fmla="*/ 49894 h 543210"/>
              <a:gd name="connsiteX18" fmla="*/ 113017 w 607005"/>
              <a:gd name="connsiteY18" fmla="*/ 198278 h 543210"/>
              <a:gd name="connsiteX19" fmla="*/ 163028 w 607005"/>
              <a:gd name="connsiteY19" fmla="*/ 248127 h 543210"/>
              <a:gd name="connsiteX20" fmla="*/ 460229 w 607005"/>
              <a:gd name="connsiteY20" fmla="*/ 248127 h 543210"/>
              <a:gd name="connsiteX21" fmla="*/ 271073 w 607005"/>
              <a:gd name="connsiteY21" fmla="*/ 0 h 543210"/>
              <a:gd name="connsiteX22" fmla="*/ 282948 w 607005"/>
              <a:gd name="connsiteY22" fmla="*/ 4967 h 543210"/>
              <a:gd name="connsiteX23" fmla="*/ 285099 w 607005"/>
              <a:gd name="connsiteY23" fmla="*/ 25909 h 543210"/>
              <a:gd name="connsiteX24" fmla="*/ 563927 w 607005"/>
              <a:gd name="connsiteY24" fmla="*/ 304331 h 543210"/>
              <a:gd name="connsiteX25" fmla="*/ 563927 w 607005"/>
              <a:gd name="connsiteY25" fmla="*/ 500148 h 543210"/>
              <a:gd name="connsiteX26" fmla="*/ 367824 w 607005"/>
              <a:gd name="connsiteY26" fmla="*/ 500148 h 543210"/>
              <a:gd name="connsiteX27" fmla="*/ 88997 w 607005"/>
              <a:gd name="connsiteY27" fmla="*/ 221726 h 543210"/>
              <a:gd name="connsiteX28" fmla="*/ 68024 w 607005"/>
              <a:gd name="connsiteY28" fmla="*/ 219578 h 543210"/>
              <a:gd name="connsiteX29" fmla="*/ 68024 w 607005"/>
              <a:gd name="connsiteY29" fmla="*/ 195862 h 543210"/>
              <a:gd name="connsiteX30" fmla="*/ 259197 w 607005"/>
              <a:gd name="connsiteY30" fmla="*/ 4967 h 543210"/>
              <a:gd name="connsiteX31" fmla="*/ 271073 w 607005"/>
              <a:gd name="connsiteY31" fmla="*/ 0 h 5432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607005" h="543210">
                <a:moveTo>
                  <a:pt x="79591" y="373864"/>
                </a:moveTo>
                <a:cubicBezTo>
                  <a:pt x="57452" y="405192"/>
                  <a:pt x="33701" y="445024"/>
                  <a:pt x="33701" y="461494"/>
                </a:cubicBezTo>
                <a:cubicBezTo>
                  <a:pt x="33701" y="486646"/>
                  <a:pt x="54226" y="507233"/>
                  <a:pt x="79501" y="507233"/>
                </a:cubicBezTo>
                <a:cubicBezTo>
                  <a:pt x="104687" y="507233"/>
                  <a:pt x="125212" y="486646"/>
                  <a:pt x="125392" y="461494"/>
                </a:cubicBezTo>
                <a:cubicBezTo>
                  <a:pt x="125392" y="445024"/>
                  <a:pt x="101729" y="405282"/>
                  <a:pt x="79591" y="373864"/>
                </a:cubicBezTo>
                <a:close/>
                <a:moveTo>
                  <a:pt x="79501" y="328661"/>
                </a:moveTo>
                <a:cubicBezTo>
                  <a:pt x="84610" y="328661"/>
                  <a:pt x="89540" y="331078"/>
                  <a:pt x="92856" y="335106"/>
                </a:cubicBezTo>
                <a:cubicBezTo>
                  <a:pt x="103881" y="349517"/>
                  <a:pt x="158913" y="423094"/>
                  <a:pt x="158913" y="461404"/>
                </a:cubicBezTo>
                <a:cubicBezTo>
                  <a:pt x="158913" y="505175"/>
                  <a:pt x="123240" y="540710"/>
                  <a:pt x="79501" y="540710"/>
                </a:cubicBezTo>
                <a:cubicBezTo>
                  <a:pt x="35583" y="540710"/>
                  <a:pt x="0" y="505085"/>
                  <a:pt x="0" y="461404"/>
                </a:cubicBezTo>
                <a:cubicBezTo>
                  <a:pt x="0" y="423094"/>
                  <a:pt x="55122" y="349517"/>
                  <a:pt x="66236" y="335195"/>
                </a:cubicBezTo>
                <a:cubicBezTo>
                  <a:pt x="69284" y="331078"/>
                  <a:pt x="74213" y="328661"/>
                  <a:pt x="79501" y="328661"/>
                </a:cubicBezTo>
                <a:close/>
                <a:moveTo>
                  <a:pt x="196548" y="281688"/>
                </a:moveTo>
                <a:lnTo>
                  <a:pt x="391755" y="476431"/>
                </a:lnTo>
                <a:cubicBezTo>
                  <a:pt x="420525" y="505249"/>
                  <a:pt x="488999" y="527623"/>
                  <a:pt x="540265" y="476431"/>
                </a:cubicBezTo>
                <a:cubicBezTo>
                  <a:pt x="592249" y="424524"/>
                  <a:pt x="570290" y="358028"/>
                  <a:pt x="540265" y="328047"/>
                </a:cubicBezTo>
                <a:lnTo>
                  <a:pt x="493749" y="281688"/>
                </a:lnTo>
                <a:close/>
                <a:moveTo>
                  <a:pt x="261707" y="49894"/>
                </a:moveTo>
                <a:lnTo>
                  <a:pt x="113017" y="198278"/>
                </a:lnTo>
                <a:lnTo>
                  <a:pt x="163028" y="248127"/>
                </a:lnTo>
                <a:lnTo>
                  <a:pt x="460229" y="248127"/>
                </a:lnTo>
                <a:close/>
                <a:moveTo>
                  <a:pt x="271073" y="0"/>
                </a:moveTo>
                <a:cubicBezTo>
                  <a:pt x="275375" y="0"/>
                  <a:pt x="279677" y="1655"/>
                  <a:pt x="282948" y="4967"/>
                </a:cubicBezTo>
                <a:cubicBezTo>
                  <a:pt x="288595" y="10694"/>
                  <a:pt x="289312" y="19465"/>
                  <a:pt x="285099" y="25909"/>
                </a:cubicBezTo>
                <a:lnTo>
                  <a:pt x="563927" y="304331"/>
                </a:lnTo>
                <a:cubicBezTo>
                  <a:pt x="604528" y="344872"/>
                  <a:pt x="636076" y="428104"/>
                  <a:pt x="563927" y="500148"/>
                </a:cubicBezTo>
                <a:cubicBezTo>
                  <a:pt x="492495" y="571476"/>
                  <a:pt x="409501" y="541763"/>
                  <a:pt x="367824" y="500148"/>
                </a:cubicBezTo>
                <a:lnTo>
                  <a:pt x="88997" y="221726"/>
                </a:lnTo>
                <a:cubicBezTo>
                  <a:pt x="81468" y="226380"/>
                  <a:pt x="73850" y="225485"/>
                  <a:pt x="68024" y="219578"/>
                </a:cubicBezTo>
                <a:cubicBezTo>
                  <a:pt x="61392" y="213045"/>
                  <a:pt x="61392" y="202395"/>
                  <a:pt x="68024" y="195862"/>
                </a:cubicBezTo>
                <a:lnTo>
                  <a:pt x="259197" y="4967"/>
                </a:lnTo>
                <a:cubicBezTo>
                  <a:pt x="262469" y="1655"/>
                  <a:pt x="266771" y="0"/>
                  <a:pt x="271073"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7" name="任意矩形：002">
            <a:extLst>
              <a:ext uri="{FF2B5EF4-FFF2-40B4-BE49-F238E27FC236}">
                <a16:creationId xmlns:a16="http://schemas.microsoft.com/office/drawing/2014/main" id="{031215E6-8FA0-4944-9DAF-73401F29C3F3}"/>
              </a:ext>
            </a:extLst>
          </p:cNvPr>
          <p:cNvSpPr/>
          <p:nvPr/>
        </p:nvSpPr>
        <p:spPr>
          <a:xfrm>
            <a:off x="143798" y="2860995"/>
            <a:ext cx="202111" cy="201828"/>
          </a:xfrm>
          <a:custGeom>
            <a:avLst/>
            <a:gdLst>
              <a:gd name="connsiteX0" fmla="*/ 303643 w 607215"/>
              <a:gd name="connsiteY0" fmla="*/ 280873 h 606369"/>
              <a:gd name="connsiteX1" fmla="*/ 325219 w 607215"/>
              <a:gd name="connsiteY1" fmla="*/ 302335 h 606369"/>
              <a:gd name="connsiteX2" fmla="*/ 303643 w 607215"/>
              <a:gd name="connsiteY2" fmla="*/ 323873 h 606369"/>
              <a:gd name="connsiteX3" fmla="*/ 282068 w 607215"/>
              <a:gd name="connsiteY3" fmla="*/ 302335 h 606369"/>
              <a:gd name="connsiteX4" fmla="*/ 303643 w 607215"/>
              <a:gd name="connsiteY4" fmla="*/ 280873 h 606369"/>
              <a:gd name="connsiteX5" fmla="*/ 303678 w 607215"/>
              <a:gd name="connsiteY5" fmla="*/ 280357 h 606369"/>
              <a:gd name="connsiteX6" fmla="*/ 281626 w 607215"/>
              <a:gd name="connsiteY6" fmla="*/ 302374 h 606369"/>
              <a:gd name="connsiteX7" fmla="*/ 303678 w 607215"/>
              <a:gd name="connsiteY7" fmla="*/ 324391 h 606369"/>
              <a:gd name="connsiteX8" fmla="*/ 325730 w 607215"/>
              <a:gd name="connsiteY8" fmla="*/ 302374 h 606369"/>
              <a:gd name="connsiteX9" fmla="*/ 303678 w 607215"/>
              <a:gd name="connsiteY9" fmla="*/ 280357 h 606369"/>
              <a:gd name="connsiteX10" fmla="*/ 303643 w 607215"/>
              <a:gd name="connsiteY10" fmla="*/ 279792 h 606369"/>
              <a:gd name="connsiteX11" fmla="*/ 326224 w 607215"/>
              <a:gd name="connsiteY11" fmla="*/ 302335 h 606369"/>
              <a:gd name="connsiteX12" fmla="*/ 303643 w 607215"/>
              <a:gd name="connsiteY12" fmla="*/ 324954 h 606369"/>
              <a:gd name="connsiteX13" fmla="*/ 281062 w 607215"/>
              <a:gd name="connsiteY13" fmla="*/ 302335 h 606369"/>
              <a:gd name="connsiteX14" fmla="*/ 303643 w 607215"/>
              <a:gd name="connsiteY14" fmla="*/ 279792 h 606369"/>
              <a:gd name="connsiteX15" fmla="*/ 281043 w 607215"/>
              <a:gd name="connsiteY15" fmla="*/ 46068 h 606369"/>
              <a:gd name="connsiteX16" fmla="*/ 120855 w 607215"/>
              <a:gd name="connsiteY16" fmla="*/ 120687 h 606369"/>
              <a:gd name="connsiteX17" fmla="*/ 46132 w 607215"/>
              <a:gd name="connsiteY17" fmla="*/ 280652 h 606369"/>
              <a:gd name="connsiteX18" fmla="*/ 147128 w 607215"/>
              <a:gd name="connsiteY18" fmla="*/ 280652 h 606369"/>
              <a:gd name="connsiteX19" fmla="*/ 169770 w 607215"/>
              <a:gd name="connsiteY19" fmla="*/ 303185 h 606369"/>
              <a:gd name="connsiteX20" fmla="*/ 147128 w 607215"/>
              <a:gd name="connsiteY20" fmla="*/ 325717 h 606369"/>
              <a:gd name="connsiteX21" fmla="*/ 46132 w 607215"/>
              <a:gd name="connsiteY21" fmla="*/ 325717 h 606369"/>
              <a:gd name="connsiteX22" fmla="*/ 120855 w 607215"/>
              <a:gd name="connsiteY22" fmla="*/ 485682 h 606369"/>
              <a:gd name="connsiteX23" fmla="*/ 281043 w 607215"/>
              <a:gd name="connsiteY23" fmla="*/ 560301 h 606369"/>
              <a:gd name="connsiteX24" fmla="*/ 281043 w 607215"/>
              <a:gd name="connsiteY24" fmla="*/ 459446 h 606369"/>
              <a:gd name="connsiteX25" fmla="*/ 303608 w 607215"/>
              <a:gd name="connsiteY25" fmla="*/ 436913 h 606369"/>
              <a:gd name="connsiteX26" fmla="*/ 326172 w 607215"/>
              <a:gd name="connsiteY26" fmla="*/ 459446 h 606369"/>
              <a:gd name="connsiteX27" fmla="*/ 326172 w 607215"/>
              <a:gd name="connsiteY27" fmla="*/ 560301 h 606369"/>
              <a:gd name="connsiteX28" fmla="*/ 486360 w 607215"/>
              <a:gd name="connsiteY28" fmla="*/ 485682 h 606369"/>
              <a:gd name="connsiteX29" fmla="*/ 561083 w 607215"/>
              <a:gd name="connsiteY29" fmla="*/ 325717 h 606369"/>
              <a:gd name="connsiteX30" fmla="*/ 460087 w 607215"/>
              <a:gd name="connsiteY30" fmla="*/ 325717 h 606369"/>
              <a:gd name="connsiteX31" fmla="*/ 437523 w 607215"/>
              <a:gd name="connsiteY31" fmla="*/ 303185 h 606369"/>
              <a:gd name="connsiteX32" fmla="*/ 460087 w 607215"/>
              <a:gd name="connsiteY32" fmla="*/ 280652 h 606369"/>
              <a:gd name="connsiteX33" fmla="*/ 561083 w 607215"/>
              <a:gd name="connsiteY33" fmla="*/ 280652 h 606369"/>
              <a:gd name="connsiteX34" fmla="*/ 486360 w 607215"/>
              <a:gd name="connsiteY34" fmla="*/ 120687 h 606369"/>
              <a:gd name="connsiteX35" fmla="*/ 326172 w 607215"/>
              <a:gd name="connsiteY35" fmla="*/ 46068 h 606369"/>
              <a:gd name="connsiteX36" fmla="*/ 326172 w 607215"/>
              <a:gd name="connsiteY36" fmla="*/ 146923 h 606369"/>
              <a:gd name="connsiteX37" fmla="*/ 303608 w 607215"/>
              <a:gd name="connsiteY37" fmla="*/ 169533 h 606369"/>
              <a:gd name="connsiteX38" fmla="*/ 281043 w 607215"/>
              <a:gd name="connsiteY38" fmla="*/ 146923 h 606369"/>
              <a:gd name="connsiteX39" fmla="*/ 281617 w 607215"/>
              <a:gd name="connsiteY39" fmla="*/ 45548 h 606369"/>
              <a:gd name="connsiteX40" fmla="*/ 281617 w 607215"/>
              <a:gd name="connsiteY40" fmla="*/ 146935 h 606369"/>
              <a:gd name="connsiteX41" fmla="*/ 303640 w 607215"/>
              <a:gd name="connsiteY41" fmla="*/ 169002 h 606369"/>
              <a:gd name="connsiteX42" fmla="*/ 325741 w 607215"/>
              <a:gd name="connsiteY42" fmla="*/ 146935 h 606369"/>
              <a:gd name="connsiteX43" fmla="*/ 325741 w 607215"/>
              <a:gd name="connsiteY43" fmla="*/ 45548 h 606369"/>
              <a:gd name="connsiteX44" fmla="*/ 561663 w 607215"/>
              <a:gd name="connsiteY44" fmla="*/ 281192 h 606369"/>
              <a:gd name="connsiteX45" fmla="*/ 460123 w 607215"/>
              <a:gd name="connsiteY45" fmla="*/ 281192 h 606369"/>
              <a:gd name="connsiteX46" fmla="*/ 438022 w 607215"/>
              <a:gd name="connsiteY46" fmla="*/ 303182 h 606369"/>
              <a:gd name="connsiteX47" fmla="*/ 460123 w 607215"/>
              <a:gd name="connsiteY47" fmla="*/ 325250 h 606369"/>
              <a:gd name="connsiteX48" fmla="*/ 561663 w 607215"/>
              <a:gd name="connsiteY48" fmla="*/ 325250 h 606369"/>
              <a:gd name="connsiteX49" fmla="*/ 325741 w 607215"/>
              <a:gd name="connsiteY49" fmla="*/ 560815 h 606369"/>
              <a:gd name="connsiteX50" fmla="*/ 325741 w 607215"/>
              <a:gd name="connsiteY50" fmla="*/ 459429 h 606369"/>
              <a:gd name="connsiteX51" fmla="*/ 303640 w 607215"/>
              <a:gd name="connsiteY51" fmla="*/ 437361 h 606369"/>
              <a:gd name="connsiteX52" fmla="*/ 281617 w 607215"/>
              <a:gd name="connsiteY52" fmla="*/ 459429 h 606369"/>
              <a:gd name="connsiteX53" fmla="*/ 281617 w 607215"/>
              <a:gd name="connsiteY53" fmla="*/ 560815 h 606369"/>
              <a:gd name="connsiteX54" fmla="*/ 45616 w 607215"/>
              <a:gd name="connsiteY54" fmla="*/ 325250 h 606369"/>
              <a:gd name="connsiteX55" fmla="*/ 147157 w 607215"/>
              <a:gd name="connsiteY55" fmla="*/ 325250 h 606369"/>
              <a:gd name="connsiteX56" fmla="*/ 169257 w 607215"/>
              <a:gd name="connsiteY56" fmla="*/ 303182 h 606369"/>
              <a:gd name="connsiteX57" fmla="*/ 147157 w 607215"/>
              <a:gd name="connsiteY57" fmla="*/ 281192 h 606369"/>
              <a:gd name="connsiteX58" fmla="*/ 45616 w 607215"/>
              <a:gd name="connsiteY58" fmla="*/ 281192 h 606369"/>
              <a:gd name="connsiteX59" fmla="*/ 281617 w 607215"/>
              <a:gd name="connsiteY59" fmla="*/ 45548 h 606369"/>
              <a:gd name="connsiteX60" fmla="*/ 281508 w 607215"/>
              <a:gd name="connsiteY60" fmla="*/ 44987 h 606369"/>
              <a:gd name="connsiteX61" fmla="*/ 120160 w 607215"/>
              <a:gd name="connsiteY61" fmla="*/ 119993 h 606369"/>
              <a:gd name="connsiteX62" fmla="*/ 45050 w 607215"/>
              <a:gd name="connsiteY62" fmla="*/ 281115 h 606369"/>
              <a:gd name="connsiteX63" fmla="*/ 45050 w 607215"/>
              <a:gd name="connsiteY63" fmla="*/ 281655 h 606369"/>
              <a:gd name="connsiteX64" fmla="*/ 147128 w 607215"/>
              <a:gd name="connsiteY64" fmla="*/ 281655 h 606369"/>
              <a:gd name="connsiteX65" fmla="*/ 168688 w 607215"/>
              <a:gd name="connsiteY65" fmla="*/ 303185 h 606369"/>
              <a:gd name="connsiteX66" fmla="*/ 147128 w 607215"/>
              <a:gd name="connsiteY66" fmla="*/ 324714 h 606369"/>
              <a:gd name="connsiteX67" fmla="*/ 45050 w 607215"/>
              <a:gd name="connsiteY67" fmla="*/ 324714 h 606369"/>
              <a:gd name="connsiteX68" fmla="*/ 45050 w 607215"/>
              <a:gd name="connsiteY68" fmla="*/ 325254 h 606369"/>
              <a:gd name="connsiteX69" fmla="*/ 120160 w 607215"/>
              <a:gd name="connsiteY69" fmla="*/ 486454 h 606369"/>
              <a:gd name="connsiteX70" fmla="*/ 281508 w 607215"/>
              <a:gd name="connsiteY70" fmla="*/ 561382 h 606369"/>
              <a:gd name="connsiteX71" fmla="*/ 282048 w 607215"/>
              <a:gd name="connsiteY71" fmla="*/ 561459 h 606369"/>
              <a:gd name="connsiteX72" fmla="*/ 282048 w 607215"/>
              <a:gd name="connsiteY72" fmla="*/ 459446 h 606369"/>
              <a:gd name="connsiteX73" fmla="*/ 303608 w 607215"/>
              <a:gd name="connsiteY73" fmla="*/ 437916 h 606369"/>
              <a:gd name="connsiteX74" fmla="*/ 325167 w 607215"/>
              <a:gd name="connsiteY74" fmla="*/ 459446 h 606369"/>
              <a:gd name="connsiteX75" fmla="*/ 325167 w 607215"/>
              <a:gd name="connsiteY75" fmla="*/ 561459 h 606369"/>
              <a:gd name="connsiteX76" fmla="*/ 325708 w 607215"/>
              <a:gd name="connsiteY76" fmla="*/ 561382 h 606369"/>
              <a:gd name="connsiteX77" fmla="*/ 487132 w 607215"/>
              <a:gd name="connsiteY77" fmla="*/ 486454 h 606369"/>
              <a:gd name="connsiteX78" fmla="*/ 562165 w 607215"/>
              <a:gd name="connsiteY78" fmla="*/ 325254 h 606369"/>
              <a:gd name="connsiteX79" fmla="*/ 562242 w 607215"/>
              <a:gd name="connsiteY79" fmla="*/ 324714 h 606369"/>
              <a:gd name="connsiteX80" fmla="*/ 460087 w 607215"/>
              <a:gd name="connsiteY80" fmla="*/ 324714 h 606369"/>
              <a:gd name="connsiteX81" fmla="*/ 438527 w 607215"/>
              <a:gd name="connsiteY81" fmla="*/ 303185 h 606369"/>
              <a:gd name="connsiteX82" fmla="*/ 460087 w 607215"/>
              <a:gd name="connsiteY82" fmla="*/ 281655 h 606369"/>
              <a:gd name="connsiteX83" fmla="*/ 562242 w 607215"/>
              <a:gd name="connsiteY83" fmla="*/ 281655 h 606369"/>
              <a:gd name="connsiteX84" fmla="*/ 562165 w 607215"/>
              <a:gd name="connsiteY84" fmla="*/ 281115 h 606369"/>
              <a:gd name="connsiteX85" fmla="*/ 487132 w 607215"/>
              <a:gd name="connsiteY85" fmla="*/ 119993 h 606369"/>
              <a:gd name="connsiteX86" fmla="*/ 325708 w 607215"/>
              <a:gd name="connsiteY86" fmla="*/ 44987 h 606369"/>
              <a:gd name="connsiteX87" fmla="*/ 325167 w 607215"/>
              <a:gd name="connsiteY87" fmla="*/ 44987 h 606369"/>
              <a:gd name="connsiteX88" fmla="*/ 325167 w 607215"/>
              <a:gd name="connsiteY88" fmla="*/ 146923 h 606369"/>
              <a:gd name="connsiteX89" fmla="*/ 303608 w 607215"/>
              <a:gd name="connsiteY89" fmla="*/ 168453 h 606369"/>
              <a:gd name="connsiteX90" fmla="*/ 282048 w 607215"/>
              <a:gd name="connsiteY90" fmla="*/ 146923 h 606369"/>
              <a:gd name="connsiteX91" fmla="*/ 282048 w 607215"/>
              <a:gd name="connsiteY91" fmla="*/ 44987 h 606369"/>
              <a:gd name="connsiteX92" fmla="*/ 303608 w 607215"/>
              <a:gd name="connsiteY92" fmla="*/ 1003 h 606369"/>
              <a:gd name="connsiteX93" fmla="*/ 421450 w 607215"/>
              <a:gd name="connsiteY93" fmla="*/ 24770 h 606369"/>
              <a:gd name="connsiteX94" fmla="*/ 517578 w 607215"/>
              <a:gd name="connsiteY94" fmla="*/ 89512 h 606369"/>
              <a:gd name="connsiteX95" fmla="*/ 582410 w 607215"/>
              <a:gd name="connsiteY95" fmla="*/ 185584 h 606369"/>
              <a:gd name="connsiteX96" fmla="*/ 606211 w 607215"/>
              <a:gd name="connsiteY96" fmla="*/ 303185 h 606369"/>
              <a:gd name="connsiteX97" fmla="*/ 582410 w 607215"/>
              <a:gd name="connsiteY97" fmla="*/ 420863 h 606369"/>
              <a:gd name="connsiteX98" fmla="*/ 517578 w 607215"/>
              <a:gd name="connsiteY98" fmla="*/ 516857 h 606369"/>
              <a:gd name="connsiteX99" fmla="*/ 421450 w 607215"/>
              <a:gd name="connsiteY99" fmla="*/ 581599 h 606369"/>
              <a:gd name="connsiteX100" fmla="*/ 303608 w 607215"/>
              <a:gd name="connsiteY100" fmla="*/ 605366 h 606369"/>
              <a:gd name="connsiteX101" fmla="*/ 185842 w 607215"/>
              <a:gd name="connsiteY101" fmla="*/ 581599 h 606369"/>
              <a:gd name="connsiteX102" fmla="*/ 89637 w 607215"/>
              <a:gd name="connsiteY102" fmla="*/ 516857 h 606369"/>
              <a:gd name="connsiteX103" fmla="*/ 24805 w 607215"/>
              <a:gd name="connsiteY103" fmla="*/ 420863 h 606369"/>
              <a:gd name="connsiteX104" fmla="*/ 1004 w 607215"/>
              <a:gd name="connsiteY104" fmla="*/ 303185 h 606369"/>
              <a:gd name="connsiteX105" fmla="*/ 24805 w 607215"/>
              <a:gd name="connsiteY105" fmla="*/ 185584 h 606369"/>
              <a:gd name="connsiteX106" fmla="*/ 89637 w 607215"/>
              <a:gd name="connsiteY106" fmla="*/ 89512 h 606369"/>
              <a:gd name="connsiteX107" fmla="*/ 185842 w 607215"/>
              <a:gd name="connsiteY107" fmla="*/ 24770 h 606369"/>
              <a:gd name="connsiteX108" fmla="*/ 303608 w 607215"/>
              <a:gd name="connsiteY108" fmla="*/ 1003 h 606369"/>
              <a:gd name="connsiteX109" fmla="*/ 303640 w 607215"/>
              <a:gd name="connsiteY109" fmla="*/ 565 h 606369"/>
              <a:gd name="connsiteX110" fmla="*/ 185640 w 607215"/>
              <a:gd name="connsiteY110" fmla="*/ 24330 h 606369"/>
              <a:gd name="connsiteX111" fmla="*/ 89354 w 607215"/>
              <a:gd name="connsiteY111" fmla="*/ 89220 h 606369"/>
              <a:gd name="connsiteX112" fmla="*/ 24366 w 607215"/>
              <a:gd name="connsiteY112" fmla="*/ 185360 h 606369"/>
              <a:gd name="connsiteX113" fmla="*/ 565 w 607215"/>
              <a:gd name="connsiteY113" fmla="*/ 303182 h 606369"/>
              <a:gd name="connsiteX114" fmla="*/ 24366 w 607215"/>
              <a:gd name="connsiteY114" fmla="*/ 421004 h 606369"/>
              <a:gd name="connsiteX115" fmla="*/ 89354 w 607215"/>
              <a:gd name="connsiteY115" fmla="*/ 517221 h 606369"/>
              <a:gd name="connsiteX116" fmla="*/ 185640 w 607215"/>
              <a:gd name="connsiteY116" fmla="*/ 582034 h 606369"/>
              <a:gd name="connsiteX117" fmla="*/ 303640 w 607215"/>
              <a:gd name="connsiteY117" fmla="*/ 605876 h 606369"/>
              <a:gd name="connsiteX118" fmla="*/ 421640 w 607215"/>
              <a:gd name="connsiteY118" fmla="*/ 582034 h 606369"/>
              <a:gd name="connsiteX119" fmla="*/ 518003 w 607215"/>
              <a:gd name="connsiteY119" fmla="*/ 517221 h 606369"/>
              <a:gd name="connsiteX120" fmla="*/ 582914 w 607215"/>
              <a:gd name="connsiteY120" fmla="*/ 421004 h 606369"/>
              <a:gd name="connsiteX121" fmla="*/ 606792 w 607215"/>
              <a:gd name="connsiteY121" fmla="*/ 303182 h 606369"/>
              <a:gd name="connsiteX122" fmla="*/ 582914 w 607215"/>
              <a:gd name="connsiteY122" fmla="*/ 185360 h 606369"/>
              <a:gd name="connsiteX123" fmla="*/ 518003 w 607215"/>
              <a:gd name="connsiteY123" fmla="*/ 89220 h 606369"/>
              <a:gd name="connsiteX124" fmla="*/ 421640 w 607215"/>
              <a:gd name="connsiteY124" fmla="*/ 24330 h 606369"/>
              <a:gd name="connsiteX125" fmla="*/ 303640 w 607215"/>
              <a:gd name="connsiteY125" fmla="*/ 565 h 606369"/>
              <a:gd name="connsiteX126" fmla="*/ 303608 w 607215"/>
              <a:gd name="connsiteY126" fmla="*/ 0 h 606369"/>
              <a:gd name="connsiteX127" fmla="*/ 421836 w 607215"/>
              <a:gd name="connsiteY127" fmla="*/ 23844 h 606369"/>
              <a:gd name="connsiteX128" fmla="*/ 518351 w 607215"/>
              <a:gd name="connsiteY128" fmla="*/ 88818 h 606369"/>
              <a:gd name="connsiteX129" fmla="*/ 583338 w 607215"/>
              <a:gd name="connsiteY129" fmla="*/ 185198 h 606369"/>
              <a:gd name="connsiteX130" fmla="*/ 607215 w 607215"/>
              <a:gd name="connsiteY130" fmla="*/ 303185 h 606369"/>
              <a:gd name="connsiteX131" fmla="*/ 583338 w 607215"/>
              <a:gd name="connsiteY131" fmla="*/ 421248 h 606369"/>
              <a:gd name="connsiteX132" fmla="*/ 518351 w 607215"/>
              <a:gd name="connsiteY132" fmla="*/ 517629 h 606369"/>
              <a:gd name="connsiteX133" fmla="*/ 421836 w 607215"/>
              <a:gd name="connsiteY133" fmla="*/ 582525 h 606369"/>
              <a:gd name="connsiteX134" fmla="*/ 303608 w 607215"/>
              <a:gd name="connsiteY134" fmla="*/ 606369 h 606369"/>
              <a:gd name="connsiteX135" fmla="*/ 185456 w 607215"/>
              <a:gd name="connsiteY135" fmla="*/ 582525 h 606369"/>
              <a:gd name="connsiteX136" fmla="*/ 88942 w 607215"/>
              <a:gd name="connsiteY136" fmla="*/ 517629 h 606369"/>
              <a:gd name="connsiteX137" fmla="*/ 23877 w 607215"/>
              <a:gd name="connsiteY137" fmla="*/ 421248 h 606369"/>
              <a:gd name="connsiteX138" fmla="*/ 0 w 607215"/>
              <a:gd name="connsiteY138" fmla="*/ 303185 h 606369"/>
              <a:gd name="connsiteX139" fmla="*/ 23877 w 607215"/>
              <a:gd name="connsiteY139" fmla="*/ 185198 h 606369"/>
              <a:gd name="connsiteX140" fmla="*/ 88942 w 607215"/>
              <a:gd name="connsiteY140" fmla="*/ 88818 h 606369"/>
              <a:gd name="connsiteX141" fmla="*/ 185456 w 607215"/>
              <a:gd name="connsiteY141" fmla="*/ 23844 h 606369"/>
              <a:gd name="connsiteX142" fmla="*/ 303608 w 607215"/>
              <a:gd name="connsiteY142" fmla="*/ 0 h 6063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Lst>
            <a:rect l="l" t="t" r="r" b="b"/>
            <a:pathLst>
              <a:path w="607215" h="606369">
                <a:moveTo>
                  <a:pt x="303643" y="280873"/>
                </a:moveTo>
                <a:cubicBezTo>
                  <a:pt x="315552" y="280873"/>
                  <a:pt x="325219" y="290523"/>
                  <a:pt x="325219" y="302335"/>
                </a:cubicBezTo>
                <a:cubicBezTo>
                  <a:pt x="325219" y="314223"/>
                  <a:pt x="315552" y="323873"/>
                  <a:pt x="303643" y="323873"/>
                </a:cubicBezTo>
                <a:cubicBezTo>
                  <a:pt x="291734" y="323873"/>
                  <a:pt x="282068" y="314223"/>
                  <a:pt x="282068" y="302335"/>
                </a:cubicBezTo>
                <a:cubicBezTo>
                  <a:pt x="282068" y="290523"/>
                  <a:pt x="291734" y="280873"/>
                  <a:pt x="303643" y="280873"/>
                </a:cubicBezTo>
                <a:close/>
                <a:moveTo>
                  <a:pt x="303678" y="280357"/>
                </a:moveTo>
                <a:cubicBezTo>
                  <a:pt x="291499" y="280357"/>
                  <a:pt x="281626" y="290214"/>
                  <a:pt x="281626" y="302374"/>
                </a:cubicBezTo>
                <a:cubicBezTo>
                  <a:pt x="281626" y="314534"/>
                  <a:pt x="291499" y="324391"/>
                  <a:pt x="303678" y="324391"/>
                </a:cubicBezTo>
                <a:cubicBezTo>
                  <a:pt x="315857" y="324391"/>
                  <a:pt x="325730" y="314534"/>
                  <a:pt x="325730" y="302374"/>
                </a:cubicBezTo>
                <a:cubicBezTo>
                  <a:pt x="325730" y="290214"/>
                  <a:pt x="315857" y="280357"/>
                  <a:pt x="303678" y="280357"/>
                </a:cubicBezTo>
                <a:close/>
                <a:moveTo>
                  <a:pt x="303643" y="279792"/>
                </a:moveTo>
                <a:cubicBezTo>
                  <a:pt x="316094" y="279792"/>
                  <a:pt x="326224" y="289905"/>
                  <a:pt x="326224" y="302335"/>
                </a:cubicBezTo>
                <a:cubicBezTo>
                  <a:pt x="326224" y="314841"/>
                  <a:pt x="316094" y="324954"/>
                  <a:pt x="303643" y="324954"/>
                </a:cubicBezTo>
                <a:cubicBezTo>
                  <a:pt x="291193" y="324954"/>
                  <a:pt x="281062" y="314841"/>
                  <a:pt x="281062" y="302335"/>
                </a:cubicBezTo>
                <a:cubicBezTo>
                  <a:pt x="281062" y="289905"/>
                  <a:pt x="291193" y="279792"/>
                  <a:pt x="303643" y="279792"/>
                </a:cubicBezTo>
                <a:close/>
                <a:moveTo>
                  <a:pt x="281043" y="46068"/>
                </a:moveTo>
                <a:cubicBezTo>
                  <a:pt x="220693" y="51315"/>
                  <a:pt x="163820" y="77783"/>
                  <a:pt x="120855" y="120687"/>
                </a:cubicBezTo>
                <a:cubicBezTo>
                  <a:pt x="77891" y="163591"/>
                  <a:pt x="51387" y="220385"/>
                  <a:pt x="46132" y="280652"/>
                </a:cubicBezTo>
                <a:lnTo>
                  <a:pt x="147128" y="280652"/>
                </a:lnTo>
                <a:cubicBezTo>
                  <a:pt x="159647" y="280652"/>
                  <a:pt x="169770" y="290761"/>
                  <a:pt x="169770" y="303185"/>
                </a:cubicBezTo>
                <a:cubicBezTo>
                  <a:pt x="169770" y="315608"/>
                  <a:pt x="159647" y="325717"/>
                  <a:pt x="147128" y="325717"/>
                </a:cubicBezTo>
                <a:lnTo>
                  <a:pt x="46132" y="325717"/>
                </a:lnTo>
                <a:cubicBezTo>
                  <a:pt x="51387" y="385984"/>
                  <a:pt x="77891" y="442778"/>
                  <a:pt x="120855" y="485682"/>
                </a:cubicBezTo>
                <a:cubicBezTo>
                  <a:pt x="163820" y="528586"/>
                  <a:pt x="220693" y="555131"/>
                  <a:pt x="281043" y="560301"/>
                </a:cubicBezTo>
                <a:lnTo>
                  <a:pt x="281043" y="459446"/>
                </a:lnTo>
                <a:cubicBezTo>
                  <a:pt x="281043" y="447022"/>
                  <a:pt x="291167" y="436913"/>
                  <a:pt x="303608" y="436913"/>
                </a:cubicBezTo>
                <a:cubicBezTo>
                  <a:pt x="316049" y="436913"/>
                  <a:pt x="326172" y="447022"/>
                  <a:pt x="326172" y="459446"/>
                </a:cubicBezTo>
                <a:lnTo>
                  <a:pt x="326172" y="560301"/>
                </a:lnTo>
                <a:cubicBezTo>
                  <a:pt x="386522" y="555131"/>
                  <a:pt x="443395" y="528586"/>
                  <a:pt x="486360" y="485682"/>
                </a:cubicBezTo>
                <a:cubicBezTo>
                  <a:pt x="529324" y="442778"/>
                  <a:pt x="555906" y="385984"/>
                  <a:pt x="561083" y="325717"/>
                </a:cubicBezTo>
                <a:lnTo>
                  <a:pt x="460087" y="325717"/>
                </a:lnTo>
                <a:cubicBezTo>
                  <a:pt x="447645" y="325717"/>
                  <a:pt x="437523" y="315608"/>
                  <a:pt x="437523" y="303185"/>
                </a:cubicBezTo>
                <a:cubicBezTo>
                  <a:pt x="437523" y="290761"/>
                  <a:pt x="447645" y="280652"/>
                  <a:pt x="460087" y="280652"/>
                </a:cubicBezTo>
                <a:lnTo>
                  <a:pt x="561083" y="280652"/>
                </a:lnTo>
                <a:cubicBezTo>
                  <a:pt x="555906" y="220385"/>
                  <a:pt x="529324" y="163591"/>
                  <a:pt x="486360" y="120687"/>
                </a:cubicBezTo>
                <a:cubicBezTo>
                  <a:pt x="443395" y="77783"/>
                  <a:pt x="386522" y="51315"/>
                  <a:pt x="326172" y="46068"/>
                </a:cubicBezTo>
                <a:lnTo>
                  <a:pt x="326172" y="146923"/>
                </a:lnTo>
                <a:cubicBezTo>
                  <a:pt x="326172" y="159424"/>
                  <a:pt x="316049" y="169533"/>
                  <a:pt x="303608" y="169533"/>
                </a:cubicBezTo>
                <a:cubicBezTo>
                  <a:pt x="291167" y="169533"/>
                  <a:pt x="281043" y="159424"/>
                  <a:pt x="281043" y="146923"/>
                </a:cubicBezTo>
                <a:close/>
                <a:moveTo>
                  <a:pt x="281617" y="45548"/>
                </a:moveTo>
                <a:lnTo>
                  <a:pt x="281617" y="146935"/>
                </a:lnTo>
                <a:cubicBezTo>
                  <a:pt x="281617" y="159126"/>
                  <a:pt x="291431" y="169002"/>
                  <a:pt x="303640" y="169002"/>
                </a:cubicBezTo>
                <a:cubicBezTo>
                  <a:pt x="315850" y="169002"/>
                  <a:pt x="325741" y="159126"/>
                  <a:pt x="325741" y="146935"/>
                </a:cubicBezTo>
                <a:lnTo>
                  <a:pt x="325741" y="45548"/>
                </a:lnTo>
                <a:cubicBezTo>
                  <a:pt x="451159" y="56119"/>
                  <a:pt x="551077" y="155963"/>
                  <a:pt x="561663" y="281192"/>
                </a:cubicBezTo>
                <a:lnTo>
                  <a:pt x="460123" y="281192"/>
                </a:lnTo>
                <a:cubicBezTo>
                  <a:pt x="447914" y="281192"/>
                  <a:pt x="438022" y="290991"/>
                  <a:pt x="438022" y="303182"/>
                </a:cubicBezTo>
                <a:cubicBezTo>
                  <a:pt x="438022" y="315373"/>
                  <a:pt x="447914" y="325250"/>
                  <a:pt x="460123" y="325250"/>
                </a:cubicBezTo>
                <a:lnTo>
                  <a:pt x="561663" y="325250"/>
                </a:lnTo>
                <a:cubicBezTo>
                  <a:pt x="551077" y="450478"/>
                  <a:pt x="451159" y="550245"/>
                  <a:pt x="325741" y="560815"/>
                </a:cubicBezTo>
                <a:lnTo>
                  <a:pt x="325741" y="459429"/>
                </a:lnTo>
                <a:cubicBezTo>
                  <a:pt x="325741" y="447238"/>
                  <a:pt x="315850" y="437361"/>
                  <a:pt x="303640" y="437361"/>
                </a:cubicBezTo>
                <a:cubicBezTo>
                  <a:pt x="291431" y="437361"/>
                  <a:pt x="281617" y="447238"/>
                  <a:pt x="281617" y="459429"/>
                </a:cubicBezTo>
                <a:lnTo>
                  <a:pt x="281617" y="560815"/>
                </a:lnTo>
                <a:cubicBezTo>
                  <a:pt x="156198" y="550245"/>
                  <a:pt x="56203" y="450478"/>
                  <a:pt x="45616" y="325250"/>
                </a:cubicBezTo>
                <a:lnTo>
                  <a:pt x="147157" y="325250"/>
                </a:lnTo>
                <a:cubicBezTo>
                  <a:pt x="159366" y="325250"/>
                  <a:pt x="169257" y="315373"/>
                  <a:pt x="169257" y="303182"/>
                </a:cubicBezTo>
                <a:cubicBezTo>
                  <a:pt x="169257" y="290991"/>
                  <a:pt x="159366" y="281192"/>
                  <a:pt x="147157" y="281192"/>
                </a:cubicBezTo>
                <a:lnTo>
                  <a:pt x="45616" y="281192"/>
                </a:lnTo>
                <a:cubicBezTo>
                  <a:pt x="56203" y="155963"/>
                  <a:pt x="156198" y="56119"/>
                  <a:pt x="281617" y="45548"/>
                </a:cubicBezTo>
                <a:close/>
                <a:moveTo>
                  <a:pt x="281508" y="44987"/>
                </a:moveTo>
                <a:cubicBezTo>
                  <a:pt x="220693" y="50158"/>
                  <a:pt x="163433" y="76780"/>
                  <a:pt x="120160" y="119993"/>
                </a:cubicBezTo>
                <a:cubicBezTo>
                  <a:pt x="76887" y="163205"/>
                  <a:pt x="50228" y="220385"/>
                  <a:pt x="45050" y="281115"/>
                </a:cubicBezTo>
                <a:lnTo>
                  <a:pt x="45050" y="281655"/>
                </a:lnTo>
                <a:lnTo>
                  <a:pt x="147128" y="281655"/>
                </a:lnTo>
                <a:cubicBezTo>
                  <a:pt x="159029" y="281655"/>
                  <a:pt x="168688" y="291301"/>
                  <a:pt x="168688" y="303185"/>
                </a:cubicBezTo>
                <a:cubicBezTo>
                  <a:pt x="168688" y="315068"/>
                  <a:pt x="159029" y="324714"/>
                  <a:pt x="147128" y="324714"/>
                </a:cubicBezTo>
                <a:lnTo>
                  <a:pt x="45050" y="324714"/>
                </a:lnTo>
                <a:lnTo>
                  <a:pt x="45050" y="325254"/>
                </a:lnTo>
                <a:cubicBezTo>
                  <a:pt x="50228" y="385984"/>
                  <a:pt x="76887" y="443241"/>
                  <a:pt x="120160" y="486454"/>
                </a:cubicBezTo>
                <a:cubicBezTo>
                  <a:pt x="163433" y="529666"/>
                  <a:pt x="220693" y="556289"/>
                  <a:pt x="281508" y="561382"/>
                </a:cubicBezTo>
                <a:lnTo>
                  <a:pt x="282048" y="561459"/>
                </a:lnTo>
                <a:lnTo>
                  <a:pt x="282048" y="459446"/>
                </a:lnTo>
                <a:cubicBezTo>
                  <a:pt x="282048" y="447562"/>
                  <a:pt x="291708" y="437916"/>
                  <a:pt x="303608" y="437916"/>
                </a:cubicBezTo>
                <a:cubicBezTo>
                  <a:pt x="315508" y="437916"/>
                  <a:pt x="325167" y="447562"/>
                  <a:pt x="325167" y="459446"/>
                </a:cubicBezTo>
                <a:lnTo>
                  <a:pt x="325167" y="561459"/>
                </a:lnTo>
                <a:lnTo>
                  <a:pt x="325708" y="561382"/>
                </a:lnTo>
                <a:cubicBezTo>
                  <a:pt x="386522" y="556289"/>
                  <a:pt x="443859" y="529666"/>
                  <a:pt x="487132" y="486454"/>
                </a:cubicBezTo>
                <a:cubicBezTo>
                  <a:pt x="530405" y="443241"/>
                  <a:pt x="557065" y="385984"/>
                  <a:pt x="562165" y="325254"/>
                </a:cubicBezTo>
                <a:lnTo>
                  <a:pt x="562242" y="324714"/>
                </a:lnTo>
                <a:lnTo>
                  <a:pt x="460087" y="324714"/>
                </a:lnTo>
                <a:cubicBezTo>
                  <a:pt x="448186" y="324714"/>
                  <a:pt x="438527" y="315068"/>
                  <a:pt x="438527" y="303185"/>
                </a:cubicBezTo>
                <a:cubicBezTo>
                  <a:pt x="438527" y="291301"/>
                  <a:pt x="448186" y="281655"/>
                  <a:pt x="460087" y="281655"/>
                </a:cubicBezTo>
                <a:lnTo>
                  <a:pt x="562242" y="281655"/>
                </a:lnTo>
                <a:lnTo>
                  <a:pt x="562165" y="281115"/>
                </a:lnTo>
                <a:cubicBezTo>
                  <a:pt x="557065" y="220385"/>
                  <a:pt x="530405" y="163205"/>
                  <a:pt x="487132" y="119993"/>
                </a:cubicBezTo>
                <a:cubicBezTo>
                  <a:pt x="443859" y="76780"/>
                  <a:pt x="386522" y="50158"/>
                  <a:pt x="325708" y="44987"/>
                </a:cubicBezTo>
                <a:lnTo>
                  <a:pt x="325167" y="44987"/>
                </a:lnTo>
                <a:lnTo>
                  <a:pt x="325167" y="146923"/>
                </a:lnTo>
                <a:cubicBezTo>
                  <a:pt x="325167" y="158807"/>
                  <a:pt x="315508" y="168453"/>
                  <a:pt x="303608" y="168453"/>
                </a:cubicBezTo>
                <a:cubicBezTo>
                  <a:pt x="291708" y="168453"/>
                  <a:pt x="282048" y="158807"/>
                  <a:pt x="282048" y="146923"/>
                </a:cubicBezTo>
                <a:lnTo>
                  <a:pt x="282048" y="44987"/>
                </a:lnTo>
                <a:close/>
                <a:moveTo>
                  <a:pt x="303608" y="1003"/>
                </a:moveTo>
                <a:cubicBezTo>
                  <a:pt x="344485" y="1003"/>
                  <a:pt x="384049" y="9028"/>
                  <a:pt x="421450" y="24770"/>
                </a:cubicBezTo>
                <a:cubicBezTo>
                  <a:pt x="457459" y="40049"/>
                  <a:pt x="489837" y="61810"/>
                  <a:pt x="517578" y="89512"/>
                </a:cubicBezTo>
                <a:cubicBezTo>
                  <a:pt x="545396" y="117292"/>
                  <a:pt x="567188" y="149547"/>
                  <a:pt x="582410" y="185584"/>
                </a:cubicBezTo>
                <a:cubicBezTo>
                  <a:pt x="598174" y="222855"/>
                  <a:pt x="606211" y="262441"/>
                  <a:pt x="606211" y="303185"/>
                </a:cubicBezTo>
                <a:cubicBezTo>
                  <a:pt x="606211" y="344005"/>
                  <a:pt x="598174" y="383514"/>
                  <a:pt x="582410" y="420863"/>
                </a:cubicBezTo>
                <a:cubicBezTo>
                  <a:pt x="567188" y="456822"/>
                  <a:pt x="545396" y="489154"/>
                  <a:pt x="517578" y="516857"/>
                </a:cubicBezTo>
                <a:cubicBezTo>
                  <a:pt x="489837" y="544637"/>
                  <a:pt x="457459" y="566397"/>
                  <a:pt x="421450" y="581599"/>
                </a:cubicBezTo>
                <a:cubicBezTo>
                  <a:pt x="384049" y="597341"/>
                  <a:pt x="344485" y="605366"/>
                  <a:pt x="303608" y="605366"/>
                </a:cubicBezTo>
                <a:cubicBezTo>
                  <a:pt x="262807" y="605366"/>
                  <a:pt x="223166" y="597341"/>
                  <a:pt x="185842" y="581599"/>
                </a:cubicBezTo>
                <a:cubicBezTo>
                  <a:pt x="149756" y="566397"/>
                  <a:pt x="117455" y="544637"/>
                  <a:pt x="89637" y="516857"/>
                </a:cubicBezTo>
                <a:cubicBezTo>
                  <a:pt x="61896" y="489154"/>
                  <a:pt x="40105" y="456822"/>
                  <a:pt x="24805" y="420863"/>
                </a:cubicBezTo>
                <a:cubicBezTo>
                  <a:pt x="9041" y="383514"/>
                  <a:pt x="1004" y="344005"/>
                  <a:pt x="1004" y="303185"/>
                </a:cubicBezTo>
                <a:cubicBezTo>
                  <a:pt x="1004" y="262441"/>
                  <a:pt x="9041" y="222855"/>
                  <a:pt x="24805" y="185584"/>
                </a:cubicBezTo>
                <a:cubicBezTo>
                  <a:pt x="40105" y="149547"/>
                  <a:pt x="61896" y="117292"/>
                  <a:pt x="89637" y="89512"/>
                </a:cubicBezTo>
                <a:cubicBezTo>
                  <a:pt x="117455" y="61810"/>
                  <a:pt x="149756" y="40049"/>
                  <a:pt x="185842" y="24770"/>
                </a:cubicBezTo>
                <a:cubicBezTo>
                  <a:pt x="223166" y="9028"/>
                  <a:pt x="262807" y="1003"/>
                  <a:pt x="303608" y="1003"/>
                </a:cubicBezTo>
                <a:close/>
                <a:moveTo>
                  <a:pt x="303640" y="565"/>
                </a:moveTo>
                <a:cubicBezTo>
                  <a:pt x="262761" y="565"/>
                  <a:pt x="223041" y="8512"/>
                  <a:pt x="185640" y="24330"/>
                </a:cubicBezTo>
                <a:cubicBezTo>
                  <a:pt x="149552" y="39607"/>
                  <a:pt x="117174" y="61366"/>
                  <a:pt x="89354" y="89220"/>
                </a:cubicBezTo>
                <a:cubicBezTo>
                  <a:pt x="61458" y="116997"/>
                  <a:pt x="39666" y="149327"/>
                  <a:pt x="24366" y="185360"/>
                </a:cubicBezTo>
                <a:cubicBezTo>
                  <a:pt x="8524" y="222705"/>
                  <a:pt x="565" y="262365"/>
                  <a:pt x="565" y="303182"/>
                </a:cubicBezTo>
                <a:cubicBezTo>
                  <a:pt x="565" y="343999"/>
                  <a:pt x="8524" y="383659"/>
                  <a:pt x="24366" y="421004"/>
                </a:cubicBezTo>
                <a:cubicBezTo>
                  <a:pt x="39666" y="457037"/>
                  <a:pt x="61458" y="489444"/>
                  <a:pt x="89354" y="517221"/>
                </a:cubicBezTo>
                <a:cubicBezTo>
                  <a:pt x="117174" y="544998"/>
                  <a:pt x="149552" y="566834"/>
                  <a:pt x="185640" y="582034"/>
                </a:cubicBezTo>
                <a:cubicBezTo>
                  <a:pt x="223041" y="597852"/>
                  <a:pt x="262761" y="605876"/>
                  <a:pt x="303640" y="605876"/>
                </a:cubicBezTo>
                <a:cubicBezTo>
                  <a:pt x="344596" y="605876"/>
                  <a:pt x="384239" y="597852"/>
                  <a:pt x="421640" y="582034"/>
                </a:cubicBezTo>
                <a:cubicBezTo>
                  <a:pt x="457728" y="566834"/>
                  <a:pt x="490183" y="544998"/>
                  <a:pt x="518003" y="517221"/>
                </a:cubicBezTo>
                <a:cubicBezTo>
                  <a:pt x="545822" y="489444"/>
                  <a:pt x="567691" y="457037"/>
                  <a:pt x="582914" y="421004"/>
                </a:cubicBezTo>
                <a:cubicBezTo>
                  <a:pt x="598756" y="383659"/>
                  <a:pt x="606792" y="343999"/>
                  <a:pt x="606792" y="303182"/>
                </a:cubicBezTo>
                <a:cubicBezTo>
                  <a:pt x="606792" y="262365"/>
                  <a:pt x="598756" y="222705"/>
                  <a:pt x="582914" y="185360"/>
                </a:cubicBezTo>
                <a:cubicBezTo>
                  <a:pt x="567691" y="149327"/>
                  <a:pt x="545822" y="116997"/>
                  <a:pt x="518003" y="89220"/>
                </a:cubicBezTo>
                <a:cubicBezTo>
                  <a:pt x="490183" y="61366"/>
                  <a:pt x="457728" y="39607"/>
                  <a:pt x="421640" y="24330"/>
                </a:cubicBezTo>
                <a:cubicBezTo>
                  <a:pt x="384239" y="8512"/>
                  <a:pt x="344519" y="565"/>
                  <a:pt x="303640" y="565"/>
                </a:cubicBezTo>
                <a:close/>
                <a:moveTo>
                  <a:pt x="303608" y="0"/>
                </a:moveTo>
                <a:cubicBezTo>
                  <a:pt x="344563" y="0"/>
                  <a:pt x="384359" y="8025"/>
                  <a:pt x="421836" y="23844"/>
                </a:cubicBezTo>
                <a:cubicBezTo>
                  <a:pt x="458000" y="39123"/>
                  <a:pt x="490455" y="60961"/>
                  <a:pt x="518351" y="88818"/>
                </a:cubicBezTo>
                <a:cubicBezTo>
                  <a:pt x="546169" y="116674"/>
                  <a:pt x="568038" y="149084"/>
                  <a:pt x="583338" y="185198"/>
                </a:cubicBezTo>
                <a:cubicBezTo>
                  <a:pt x="599179" y="222546"/>
                  <a:pt x="607215" y="262286"/>
                  <a:pt x="607215" y="303185"/>
                </a:cubicBezTo>
                <a:cubicBezTo>
                  <a:pt x="607215" y="344083"/>
                  <a:pt x="599179" y="383823"/>
                  <a:pt x="583338" y="421248"/>
                </a:cubicBezTo>
                <a:cubicBezTo>
                  <a:pt x="568038" y="457362"/>
                  <a:pt x="546169" y="489772"/>
                  <a:pt x="518351" y="517629"/>
                </a:cubicBezTo>
                <a:cubicBezTo>
                  <a:pt x="490455" y="545408"/>
                  <a:pt x="458000" y="567246"/>
                  <a:pt x="421836" y="582525"/>
                </a:cubicBezTo>
                <a:cubicBezTo>
                  <a:pt x="384359" y="598344"/>
                  <a:pt x="344563" y="606369"/>
                  <a:pt x="303608" y="606369"/>
                </a:cubicBezTo>
                <a:cubicBezTo>
                  <a:pt x="262652" y="606369"/>
                  <a:pt x="222856" y="598344"/>
                  <a:pt x="185456" y="582525"/>
                </a:cubicBezTo>
                <a:cubicBezTo>
                  <a:pt x="149292" y="567246"/>
                  <a:pt x="116760" y="545408"/>
                  <a:pt x="88942" y="517629"/>
                </a:cubicBezTo>
                <a:cubicBezTo>
                  <a:pt x="61046" y="489772"/>
                  <a:pt x="39177" y="457362"/>
                  <a:pt x="23877" y="421248"/>
                </a:cubicBezTo>
                <a:cubicBezTo>
                  <a:pt x="8036" y="383823"/>
                  <a:pt x="0" y="344083"/>
                  <a:pt x="0" y="303185"/>
                </a:cubicBezTo>
                <a:cubicBezTo>
                  <a:pt x="0" y="262286"/>
                  <a:pt x="8036" y="222546"/>
                  <a:pt x="23877" y="185198"/>
                </a:cubicBezTo>
                <a:cubicBezTo>
                  <a:pt x="39177" y="149084"/>
                  <a:pt x="61046" y="116674"/>
                  <a:pt x="88942" y="88818"/>
                </a:cubicBezTo>
                <a:cubicBezTo>
                  <a:pt x="116760" y="60961"/>
                  <a:pt x="149292" y="39123"/>
                  <a:pt x="185456" y="23844"/>
                </a:cubicBezTo>
                <a:cubicBezTo>
                  <a:pt x="222856" y="8025"/>
                  <a:pt x="262652" y="0"/>
                  <a:pt x="303608"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dirty="0"/>
          </a:p>
        </p:txBody>
      </p:sp>
      <p:sp>
        <p:nvSpPr>
          <p:cNvPr id="98" name="文本框 97">
            <a:extLst>
              <a:ext uri="{FF2B5EF4-FFF2-40B4-BE49-F238E27FC236}">
                <a16:creationId xmlns:a16="http://schemas.microsoft.com/office/drawing/2014/main" id="{26B08840-F485-4262-9667-BA7EFA87CABC}"/>
              </a:ext>
            </a:extLst>
          </p:cNvPr>
          <p:cNvSpPr txBox="1"/>
          <p:nvPr/>
        </p:nvSpPr>
        <p:spPr>
          <a:xfrm>
            <a:off x="373082" y="2808021"/>
            <a:ext cx="1660612" cy="338554"/>
          </a:xfrm>
          <a:prstGeom prst="rect">
            <a:avLst/>
          </a:prstGeom>
          <a:noFill/>
        </p:spPr>
        <p:txBody>
          <a:bodyPr wrap="square" rtlCol="0">
            <a:spAutoFit/>
          </a:bodyPr>
          <a:lstStyle/>
          <a:p>
            <a:r>
              <a:rPr lang="zh-CN" altLang="en-US" sz="1600" dirty="0">
                <a:solidFill>
                  <a:schemeClr val="bg1"/>
                </a:solidFill>
                <a:latin typeface="思源黑体 CN Regular" panose="020B0500000000000000" pitchFamily="34" charset="-122"/>
                <a:ea typeface="思源黑体 CN Regular" panose="020B0500000000000000" pitchFamily="34" charset="-122"/>
              </a:rPr>
              <a:t>研究目标和内容</a:t>
            </a:r>
          </a:p>
        </p:txBody>
      </p:sp>
      <p:sp>
        <p:nvSpPr>
          <p:cNvPr id="99" name="任意矩形：003">
            <a:extLst>
              <a:ext uri="{FF2B5EF4-FFF2-40B4-BE49-F238E27FC236}">
                <a16:creationId xmlns:a16="http://schemas.microsoft.com/office/drawing/2014/main" id="{94F1B7ED-5B9D-4D05-BD01-A41422D2941C}"/>
              </a:ext>
            </a:extLst>
          </p:cNvPr>
          <p:cNvSpPr/>
          <p:nvPr/>
        </p:nvSpPr>
        <p:spPr>
          <a:xfrm rot="10800000" flipH="1" flipV="1">
            <a:off x="145020" y="3571293"/>
            <a:ext cx="199667" cy="199477"/>
          </a:xfrm>
          <a:custGeom>
            <a:avLst/>
            <a:gdLst>
              <a:gd name="connsiteX0" fmla="*/ 320200 w 604886"/>
              <a:gd name="connsiteY0" fmla="*/ 166778 h 604313"/>
              <a:gd name="connsiteX1" fmla="*/ 338200 w 604886"/>
              <a:gd name="connsiteY1" fmla="*/ 168153 h 604313"/>
              <a:gd name="connsiteX2" fmla="*/ 394904 w 604886"/>
              <a:gd name="connsiteY2" fmla="*/ 210003 h 604313"/>
              <a:gd name="connsiteX3" fmla="*/ 448997 w 604886"/>
              <a:gd name="connsiteY3" fmla="*/ 297466 h 604313"/>
              <a:gd name="connsiteX4" fmla="*/ 433479 w 604886"/>
              <a:gd name="connsiteY4" fmla="*/ 381599 h 604313"/>
              <a:gd name="connsiteX5" fmla="*/ 230304 w 604886"/>
              <a:gd name="connsiteY5" fmla="*/ 584474 h 604313"/>
              <a:gd name="connsiteX6" fmla="*/ 177952 w 604886"/>
              <a:gd name="connsiteY6" fmla="*/ 604313 h 604313"/>
              <a:gd name="connsiteX7" fmla="*/ 58454 w 604886"/>
              <a:gd name="connsiteY7" fmla="*/ 545956 h 604313"/>
              <a:gd name="connsiteX8" fmla="*/ 19733 w 604886"/>
              <a:gd name="connsiteY8" fmla="*/ 374359 h 604313"/>
              <a:gd name="connsiteX9" fmla="*/ 93549 w 604886"/>
              <a:gd name="connsiteY9" fmla="*/ 300652 h 604313"/>
              <a:gd name="connsiteX10" fmla="*/ 127049 w 604886"/>
              <a:gd name="connsiteY10" fmla="*/ 300652 h 604313"/>
              <a:gd name="connsiteX11" fmla="*/ 127049 w 604886"/>
              <a:gd name="connsiteY11" fmla="*/ 333958 h 604313"/>
              <a:gd name="connsiteX12" fmla="*/ 53233 w 604886"/>
              <a:gd name="connsiteY12" fmla="*/ 407665 h 604313"/>
              <a:gd name="connsiteX13" fmla="*/ 91809 w 604886"/>
              <a:gd name="connsiteY13" fmla="*/ 512650 h 604313"/>
              <a:gd name="connsiteX14" fmla="*/ 196950 w 604886"/>
              <a:gd name="connsiteY14" fmla="*/ 551169 h 604313"/>
              <a:gd name="connsiteX15" fmla="*/ 400124 w 604886"/>
              <a:gd name="connsiteY15" fmla="*/ 348294 h 604313"/>
              <a:gd name="connsiteX16" fmla="*/ 403460 w 604886"/>
              <a:gd name="connsiteY16" fmla="*/ 310065 h 604313"/>
              <a:gd name="connsiteX17" fmla="*/ 361549 w 604886"/>
              <a:gd name="connsiteY17" fmla="*/ 243308 h 604313"/>
              <a:gd name="connsiteX18" fmla="*/ 316737 w 604886"/>
              <a:gd name="connsiteY18" fmla="*/ 210147 h 604313"/>
              <a:gd name="connsiteX19" fmla="*/ 306441 w 604886"/>
              <a:gd name="connsiteY19" fmla="*/ 178435 h 604313"/>
              <a:gd name="connsiteX20" fmla="*/ 320200 w 604886"/>
              <a:gd name="connsiteY20" fmla="*/ 166778 h 604313"/>
              <a:gd name="connsiteX21" fmla="*/ 411085 w 604886"/>
              <a:gd name="connsiteY21" fmla="*/ 1388 h 604313"/>
              <a:gd name="connsiteX22" fmla="*/ 458862 w 604886"/>
              <a:gd name="connsiteY22" fmla="*/ 4683 h 604313"/>
              <a:gd name="connsiteX23" fmla="*/ 546442 w 604886"/>
              <a:gd name="connsiteY23" fmla="*/ 58698 h 604313"/>
              <a:gd name="connsiteX24" fmla="*/ 585156 w 604886"/>
              <a:gd name="connsiteY24" fmla="*/ 230302 h 604313"/>
              <a:gd name="connsiteX25" fmla="*/ 511352 w 604886"/>
              <a:gd name="connsiteY25" fmla="*/ 304012 h 604313"/>
              <a:gd name="connsiteX26" fmla="*/ 477857 w 604886"/>
              <a:gd name="connsiteY26" fmla="*/ 304012 h 604313"/>
              <a:gd name="connsiteX27" fmla="*/ 477857 w 604886"/>
              <a:gd name="connsiteY27" fmla="*/ 270705 h 604313"/>
              <a:gd name="connsiteX28" fmla="*/ 551662 w 604886"/>
              <a:gd name="connsiteY28" fmla="*/ 196995 h 604313"/>
              <a:gd name="connsiteX29" fmla="*/ 513092 w 604886"/>
              <a:gd name="connsiteY29" fmla="*/ 92005 h 604313"/>
              <a:gd name="connsiteX30" fmla="*/ 446247 w 604886"/>
              <a:gd name="connsiteY30" fmla="*/ 50154 h 604313"/>
              <a:gd name="connsiteX31" fmla="*/ 407968 w 604886"/>
              <a:gd name="connsiteY31" fmla="*/ 53485 h 604313"/>
              <a:gd name="connsiteX32" fmla="*/ 204825 w 604886"/>
              <a:gd name="connsiteY32" fmla="*/ 256368 h 604313"/>
              <a:gd name="connsiteX33" fmla="*/ 201490 w 604886"/>
              <a:gd name="connsiteY33" fmla="*/ 294599 h 604313"/>
              <a:gd name="connsiteX34" fmla="*/ 243394 w 604886"/>
              <a:gd name="connsiteY34" fmla="*/ 361358 h 604313"/>
              <a:gd name="connsiteX35" fmla="*/ 288199 w 604886"/>
              <a:gd name="connsiteY35" fmla="*/ 394520 h 604313"/>
              <a:gd name="connsiteX36" fmla="*/ 298494 w 604886"/>
              <a:gd name="connsiteY36" fmla="*/ 426234 h 604313"/>
              <a:gd name="connsiteX37" fmla="*/ 277469 w 604886"/>
              <a:gd name="connsiteY37" fmla="*/ 438978 h 604313"/>
              <a:gd name="connsiteX38" fmla="*/ 266739 w 604886"/>
              <a:gd name="connsiteY38" fmla="*/ 436516 h 604313"/>
              <a:gd name="connsiteX39" fmla="*/ 210044 w 604886"/>
              <a:gd name="connsiteY39" fmla="*/ 394665 h 604313"/>
              <a:gd name="connsiteX40" fmla="*/ 155960 w 604886"/>
              <a:gd name="connsiteY40" fmla="*/ 307198 h 604313"/>
              <a:gd name="connsiteX41" fmla="*/ 171330 w 604886"/>
              <a:gd name="connsiteY41" fmla="*/ 223061 h 604313"/>
              <a:gd name="connsiteX42" fmla="*/ 374618 w 604886"/>
              <a:gd name="connsiteY42" fmla="*/ 20033 h 604313"/>
              <a:gd name="connsiteX43" fmla="*/ 411085 w 604886"/>
              <a:gd name="connsiteY43" fmla="*/ 1388 h 6043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Lst>
            <a:rect l="l" t="t" r="r" b="b"/>
            <a:pathLst>
              <a:path w="604886" h="604313">
                <a:moveTo>
                  <a:pt x="320200" y="166778"/>
                </a:moveTo>
                <a:cubicBezTo>
                  <a:pt x="325946" y="164931"/>
                  <a:pt x="332399" y="165257"/>
                  <a:pt x="338200" y="168153"/>
                </a:cubicBezTo>
                <a:cubicBezTo>
                  <a:pt x="358068" y="178290"/>
                  <a:pt x="377646" y="192771"/>
                  <a:pt x="394904" y="210003"/>
                </a:cubicBezTo>
                <a:cubicBezTo>
                  <a:pt x="421443" y="236358"/>
                  <a:pt x="440585" y="267491"/>
                  <a:pt x="448997" y="297466"/>
                </a:cubicBezTo>
                <a:cubicBezTo>
                  <a:pt x="458568" y="332075"/>
                  <a:pt x="453202" y="362050"/>
                  <a:pt x="433479" y="381599"/>
                </a:cubicBezTo>
                <a:lnTo>
                  <a:pt x="230304" y="584474"/>
                </a:lnTo>
                <a:cubicBezTo>
                  <a:pt x="216962" y="597942"/>
                  <a:pt x="198690" y="604313"/>
                  <a:pt x="177952" y="604313"/>
                </a:cubicBezTo>
                <a:cubicBezTo>
                  <a:pt x="140971" y="604313"/>
                  <a:pt x="96305" y="583750"/>
                  <a:pt x="58454" y="545956"/>
                </a:cubicBezTo>
                <a:cubicBezTo>
                  <a:pt x="-570" y="487019"/>
                  <a:pt x="-17537" y="411575"/>
                  <a:pt x="19733" y="374359"/>
                </a:cubicBezTo>
                <a:lnTo>
                  <a:pt x="93549" y="300652"/>
                </a:lnTo>
                <a:cubicBezTo>
                  <a:pt x="102831" y="291384"/>
                  <a:pt x="117768" y="291384"/>
                  <a:pt x="127049" y="300652"/>
                </a:cubicBezTo>
                <a:cubicBezTo>
                  <a:pt x="136186" y="309775"/>
                  <a:pt x="136186" y="324690"/>
                  <a:pt x="127049" y="333958"/>
                </a:cubicBezTo>
                <a:lnTo>
                  <a:pt x="53233" y="407665"/>
                </a:lnTo>
                <a:cubicBezTo>
                  <a:pt x="37426" y="423304"/>
                  <a:pt x="50623" y="471525"/>
                  <a:pt x="91809" y="512650"/>
                </a:cubicBezTo>
                <a:cubicBezTo>
                  <a:pt x="132995" y="553631"/>
                  <a:pt x="181287" y="566808"/>
                  <a:pt x="196950" y="551169"/>
                </a:cubicBezTo>
                <a:lnTo>
                  <a:pt x="400124" y="348294"/>
                </a:lnTo>
                <a:cubicBezTo>
                  <a:pt x="407085" y="341343"/>
                  <a:pt x="408246" y="327441"/>
                  <a:pt x="403460" y="310065"/>
                </a:cubicBezTo>
                <a:cubicBezTo>
                  <a:pt x="397369" y="288199"/>
                  <a:pt x="381997" y="263871"/>
                  <a:pt x="361549" y="243308"/>
                </a:cubicBezTo>
                <a:cubicBezTo>
                  <a:pt x="347627" y="229552"/>
                  <a:pt x="332254" y="218112"/>
                  <a:pt x="316737" y="210147"/>
                </a:cubicBezTo>
                <a:cubicBezTo>
                  <a:pt x="305135" y="204355"/>
                  <a:pt x="300495" y="190019"/>
                  <a:pt x="306441" y="178435"/>
                </a:cubicBezTo>
                <a:cubicBezTo>
                  <a:pt x="309414" y="172642"/>
                  <a:pt x="314453" y="168624"/>
                  <a:pt x="320200" y="166778"/>
                </a:cubicBezTo>
                <a:close/>
                <a:moveTo>
                  <a:pt x="411085" y="1388"/>
                </a:moveTo>
                <a:cubicBezTo>
                  <a:pt x="425368" y="-1219"/>
                  <a:pt x="441535" y="-169"/>
                  <a:pt x="458862" y="4683"/>
                </a:cubicBezTo>
                <a:cubicBezTo>
                  <a:pt x="488877" y="13082"/>
                  <a:pt x="519907" y="32197"/>
                  <a:pt x="546442" y="58698"/>
                </a:cubicBezTo>
                <a:cubicBezTo>
                  <a:pt x="605456" y="117637"/>
                  <a:pt x="622421" y="192940"/>
                  <a:pt x="585156" y="230302"/>
                </a:cubicBezTo>
                <a:lnTo>
                  <a:pt x="511352" y="304012"/>
                </a:lnTo>
                <a:cubicBezTo>
                  <a:pt x="502072" y="313135"/>
                  <a:pt x="487137" y="313135"/>
                  <a:pt x="477857" y="304012"/>
                </a:cubicBezTo>
                <a:cubicBezTo>
                  <a:pt x="468722" y="294744"/>
                  <a:pt x="468722" y="279828"/>
                  <a:pt x="477857" y="270705"/>
                </a:cubicBezTo>
                <a:lnTo>
                  <a:pt x="551662" y="196995"/>
                </a:lnTo>
                <a:cubicBezTo>
                  <a:pt x="567321" y="181355"/>
                  <a:pt x="554127" y="133132"/>
                  <a:pt x="513092" y="92005"/>
                </a:cubicBezTo>
                <a:cubicBezTo>
                  <a:pt x="492502" y="71586"/>
                  <a:pt x="468142" y="56236"/>
                  <a:pt x="446247" y="50154"/>
                </a:cubicBezTo>
                <a:cubicBezTo>
                  <a:pt x="428848" y="45230"/>
                  <a:pt x="414928" y="46534"/>
                  <a:pt x="407968" y="53485"/>
                </a:cubicBezTo>
                <a:lnTo>
                  <a:pt x="204825" y="256368"/>
                </a:lnTo>
                <a:cubicBezTo>
                  <a:pt x="197865" y="263319"/>
                  <a:pt x="196560" y="277221"/>
                  <a:pt x="201490" y="294599"/>
                </a:cubicBezTo>
                <a:cubicBezTo>
                  <a:pt x="207579" y="316466"/>
                  <a:pt x="222949" y="340795"/>
                  <a:pt x="243394" y="361358"/>
                </a:cubicBezTo>
                <a:cubicBezTo>
                  <a:pt x="257169" y="375115"/>
                  <a:pt x="272684" y="386556"/>
                  <a:pt x="288199" y="394520"/>
                </a:cubicBezTo>
                <a:cubicBezTo>
                  <a:pt x="299799" y="400313"/>
                  <a:pt x="304439" y="414505"/>
                  <a:pt x="298494" y="426234"/>
                </a:cubicBezTo>
                <a:cubicBezTo>
                  <a:pt x="294289" y="434344"/>
                  <a:pt x="286024" y="438978"/>
                  <a:pt x="277469" y="438978"/>
                </a:cubicBezTo>
                <a:cubicBezTo>
                  <a:pt x="273844" y="438978"/>
                  <a:pt x="270219" y="438254"/>
                  <a:pt x="266739" y="436516"/>
                </a:cubicBezTo>
                <a:cubicBezTo>
                  <a:pt x="246874" y="426379"/>
                  <a:pt x="227299" y="411898"/>
                  <a:pt x="210044" y="394665"/>
                </a:cubicBezTo>
                <a:cubicBezTo>
                  <a:pt x="183510" y="368164"/>
                  <a:pt x="164370" y="337174"/>
                  <a:pt x="155960" y="307198"/>
                </a:cubicBezTo>
                <a:cubicBezTo>
                  <a:pt x="146245" y="272587"/>
                  <a:pt x="151755" y="242611"/>
                  <a:pt x="171330" y="223061"/>
                </a:cubicBezTo>
                <a:lnTo>
                  <a:pt x="374618" y="20033"/>
                </a:lnTo>
                <a:cubicBezTo>
                  <a:pt x="384406" y="10258"/>
                  <a:pt x="396803" y="3995"/>
                  <a:pt x="411085" y="1388"/>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100" name="文本框 99">
            <a:extLst>
              <a:ext uri="{FF2B5EF4-FFF2-40B4-BE49-F238E27FC236}">
                <a16:creationId xmlns:a16="http://schemas.microsoft.com/office/drawing/2014/main" id="{5B847256-D901-421C-8D10-90DEBBC52094}"/>
              </a:ext>
            </a:extLst>
          </p:cNvPr>
          <p:cNvSpPr txBox="1"/>
          <p:nvPr/>
        </p:nvSpPr>
        <p:spPr>
          <a:xfrm>
            <a:off x="373082" y="3517143"/>
            <a:ext cx="1660612" cy="338554"/>
          </a:xfrm>
          <a:prstGeom prst="rect">
            <a:avLst/>
          </a:prstGeom>
          <a:noFill/>
        </p:spPr>
        <p:txBody>
          <a:bodyPr wrap="square" rtlCol="0">
            <a:spAutoFit/>
          </a:bodyPr>
          <a:lstStyle/>
          <a:p>
            <a:r>
              <a:rPr lang="zh-CN" altLang="en-US" sz="1600" dirty="0">
                <a:solidFill>
                  <a:schemeClr val="accent1"/>
                </a:solidFill>
                <a:latin typeface="思源黑体 CN Regular" panose="020B0500000000000000" pitchFamily="34" charset="-122"/>
                <a:ea typeface="思源黑体 CN Regular" panose="020B0500000000000000" pitchFamily="34" charset="-122"/>
              </a:rPr>
              <a:t>研究方法与思路</a:t>
            </a:r>
          </a:p>
        </p:txBody>
      </p:sp>
      <p:sp>
        <p:nvSpPr>
          <p:cNvPr id="101" name="文本框 100">
            <a:extLst>
              <a:ext uri="{FF2B5EF4-FFF2-40B4-BE49-F238E27FC236}">
                <a16:creationId xmlns:a16="http://schemas.microsoft.com/office/drawing/2014/main" id="{F1F76ECD-36B4-4E8E-A2DA-A97B8F0F2D9E}"/>
              </a:ext>
            </a:extLst>
          </p:cNvPr>
          <p:cNvSpPr txBox="1"/>
          <p:nvPr/>
        </p:nvSpPr>
        <p:spPr>
          <a:xfrm>
            <a:off x="373082" y="4226265"/>
            <a:ext cx="1660612" cy="338554"/>
          </a:xfrm>
          <a:prstGeom prst="rect">
            <a:avLst/>
          </a:prstGeom>
          <a:noFill/>
        </p:spPr>
        <p:txBody>
          <a:bodyPr wrap="square" rtlCol="0">
            <a:spAutoFit/>
          </a:bodyPr>
          <a:lstStyle/>
          <a:p>
            <a:r>
              <a:rPr lang="zh-CN" altLang="en-US" sz="1600" dirty="0">
                <a:solidFill>
                  <a:schemeClr val="bg1"/>
                </a:solidFill>
                <a:latin typeface="思源黑体 CN Regular" panose="020B0500000000000000" pitchFamily="34" charset="-122"/>
                <a:ea typeface="思源黑体 CN Regular" panose="020B0500000000000000" pitchFamily="34" charset="-122"/>
              </a:rPr>
              <a:t>关键技术与创新</a:t>
            </a:r>
          </a:p>
        </p:txBody>
      </p:sp>
      <p:sp>
        <p:nvSpPr>
          <p:cNvPr id="102" name="任意矩形：004">
            <a:extLst>
              <a:ext uri="{FF2B5EF4-FFF2-40B4-BE49-F238E27FC236}">
                <a16:creationId xmlns:a16="http://schemas.microsoft.com/office/drawing/2014/main" id="{DF481234-9A98-48FC-B60F-1451605DC18D}"/>
              </a:ext>
            </a:extLst>
          </p:cNvPr>
          <p:cNvSpPr/>
          <p:nvPr/>
        </p:nvSpPr>
        <p:spPr>
          <a:xfrm rot="20700000">
            <a:off x="101744" y="4285500"/>
            <a:ext cx="251496" cy="189307"/>
          </a:xfrm>
          <a:custGeom>
            <a:avLst/>
            <a:gdLst>
              <a:gd name="T0" fmla="*/ 6845 w 7011"/>
              <a:gd name="T1" fmla="*/ 1345 h 5286"/>
              <a:gd name="T2" fmla="*/ 5180 w 7011"/>
              <a:gd name="T3" fmla="*/ 598 h 5286"/>
              <a:gd name="T4" fmla="*/ 5179 w 7011"/>
              <a:gd name="T5" fmla="*/ 598 h 5286"/>
              <a:gd name="T6" fmla="*/ 3505 w 7011"/>
              <a:gd name="T7" fmla="*/ 0 h 5286"/>
              <a:gd name="T8" fmla="*/ 907 w 7011"/>
              <a:gd name="T9" fmla="*/ 2166 h 5286"/>
              <a:gd name="T10" fmla="*/ 167 w 7011"/>
              <a:gd name="T11" fmla="*/ 3741 h 5286"/>
              <a:gd name="T12" fmla="*/ 1605 w 7011"/>
              <a:gd name="T13" fmla="*/ 4477 h 5286"/>
              <a:gd name="T14" fmla="*/ 3505 w 7011"/>
              <a:gd name="T15" fmla="*/ 5286 h 5286"/>
              <a:gd name="T16" fmla="*/ 6136 w 7011"/>
              <a:gd name="T17" fmla="*/ 2888 h 5286"/>
              <a:gd name="T18" fmla="*/ 6845 w 7011"/>
              <a:gd name="T19" fmla="*/ 1345 h 5286"/>
              <a:gd name="T20" fmla="*/ 521 w 7011"/>
              <a:gd name="T21" fmla="*/ 3613 h 5286"/>
              <a:gd name="T22" fmla="*/ 865 w 7011"/>
              <a:gd name="T23" fmla="*/ 2729 h 5286"/>
              <a:gd name="T24" fmla="*/ 1279 w 7011"/>
              <a:gd name="T25" fmla="*/ 4061 h 5286"/>
              <a:gd name="T26" fmla="*/ 521 w 7011"/>
              <a:gd name="T27" fmla="*/ 3613 h 5286"/>
              <a:gd name="T28" fmla="*/ 3507 w 7011"/>
              <a:gd name="T29" fmla="*/ 4909 h 5286"/>
              <a:gd name="T30" fmla="*/ 2171 w 7011"/>
              <a:gd name="T31" fmla="*/ 4472 h 5286"/>
              <a:gd name="T32" fmla="*/ 4051 w 7011"/>
              <a:gd name="T33" fmla="*/ 4060 h 5286"/>
              <a:gd name="T34" fmla="*/ 5695 w 7011"/>
              <a:gd name="T35" fmla="*/ 3233 h 5286"/>
              <a:gd name="T36" fmla="*/ 3507 w 7011"/>
              <a:gd name="T37" fmla="*/ 4909 h 5286"/>
              <a:gd name="T38" fmla="*/ 5772 w 7011"/>
              <a:gd name="T39" fmla="*/ 2705 h 5286"/>
              <a:gd name="T40" fmla="*/ 3924 w 7011"/>
              <a:gd name="T41" fmla="*/ 3706 h 5286"/>
              <a:gd name="T42" fmla="*/ 1779 w 7011"/>
              <a:gd name="T43" fmla="*/ 4108 h 5286"/>
              <a:gd name="T44" fmla="*/ 1240 w 7011"/>
              <a:gd name="T45" fmla="*/ 2642 h 5286"/>
              <a:gd name="T46" fmla="*/ 3507 w 7011"/>
              <a:gd name="T47" fmla="*/ 376 h 5286"/>
              <a:gd name="T48" fmla="*/ 5773 w 7011"/>
              <a:gd name="T49" fmla="*/ 2642 h 5286"/>
              <a:gd name="T50" fmla="*/ 5772 w 7011"/>
              <a:gd name="T51" fmla="*/ 2705 h 5286"/>
              <a:gd name="T52" fmla="*/ 6133 w 7011"/>
              <a:gd name="T53" fmla="*/ 2364 h 5286"/>
              <a:gd name="T54" fmla="*/ 5571 w 7011"/>
              <a:gd name="T55" fmla="*/ 996 h 5286"/>
              <a:gd name="T56" fmla="*/ 6491 w 7011"/>
              <a:gd name="T57" fmla="*/ 1472 h 5286"/>
              <a:gd name="T58" fmla="*/ 6133 w 7011"/>
              <a:gd name="T59" fmla="*/ 2364 h 528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7011" h="5286">
                <a:moveTo>
                  <a:pt x="6845" y="1345"/>
                </a:moveTo>
                <a:cubicBezTo>
                  <a:pt x="6672" y="864"/>
                  <a:pt x="6081" y="598"/>
                  <a:pt x="5180" y="598"/>
                </a:cubicBezTo>
                <a:lnTo>
                  <a:pt x="5179" y="598"/>
                </a:lnTo>
                <a:cubicBezTo>
                  <a:pt x="4723" y="225"/>
                  <a:pt x="4140" y="0"/>
                  <a:pt x="3505" y="0"/>
                </a:cubicBezTo>
                <a:cubicBezTo>
                  <a:pt x="2212" y="0"/>
                  <a:pt x="1132" y="936"/>
                  <a:pt x="907" y="2166"/>
                </a:cubicBezTo>
                <a:cubicBezTo>
                  <a:pt x="264" y="2720"/>
                  <a:pt x="0" y="3278"/>
                  <a:pt x="167" y="3741"/>
                </a:cubicBezTo>
                <a:cubicBezTo>
                  <a:pt x="325" y="4184"/>
                  <a:pt x="863" y="4433"/>
                  <a:pt x="1605" y="4477"/>
                </a:cubicBezTo>
                <a:cubicBezTo>
                  <a:pt x="2087" y="4976"/>
                  <a:pt x="2760" y="5286"/>
                  <a:pt x="3505" y="5286"/>
                </a:cubicBezTo>
                <a:cubicBezTo>
                  <a:pt x="4880" y="5286"/>
                  <a:pt x="6012" y="4232"/>
                  <a:pt x="6136" y="2888"/>
                </a:cubicBezTo>
                <a:cubicBezTo>
                  <a:pt x="6728" y="2364"/>
                  <a:pt x="7011" y="1804"/>
                  <a:pt x="6845" y="1345"/>
                </a:cubicBezTo>
                <a:close/>
                <a:moveTo>
                  <a:pt x="521" y="3613"/>
                </a:moveTo>
                <a:cubicBezTo>
                  <a:pt x="437" y="3380"/>
                  <a:pt x="565" y="3064"/>
                  <a:pt x="865" y="2729"/>
                </a:cubicBezTo>
                <a:cubicBezTo>
                  <a:pt x="881" y="3218"/>
                  <a:pt x="1031" y="3673"/>
                  <a:pt x="1279" y="4061"/>
                </a:cubicBezTo>
                <a:cubicBezTo>
                  <a:pt x="871" y="3988"/>
                  <a:pt x="599" y="3830"/>
                  <a:pt x="521" y="3613"/>
                </a:cubicBezTo>
                <a:close/>
                <a:moveTo>
                  <a:pt x="3507" y="4909"/>
                </a:moveTo>
                <a:cubicBezTo>
                  <a:pt x="3008" y="4909"/>
                  <a:pt x="2545" y="4746"/>
                  <a:pt x="2171" y="4472"/>
                </a:cubicBezTo>
                <a:cubicBezTo>
                  <a:pt x="2740" y="4434"/>
                  <a:pt x="3384" y="4300"/>
                  <a:pt x="4051" y="4060"/>
                </a:cubicBezTo>
                <a:cubicBezTo>
                  <a:pt x="4684" y="3833"/>
                  <a:pt x="5243" y="3546"/>
                  <a:pt x="5695" y="3233"/>
                </a:cubicBezTo>
                <a:cubicBezTo>
                  <a:pt x="5433" y="4197"/>
                  <a:pt x="4552" y="4909"/>
                  <a:pt x="3507" y="4909"/>
                </a:cubicBezTo>
                <a:close/>
                <a:moveTo>
                  <a:pt x="5772" y="2705"/>
                </a:moveTo>
                <a:cubicBezTo>
                  <a:pt x="5328" y="3068"/>
                  <a:pt x="4700" y="3428"/>
                  <a:pt x="3924" y="3706"/>
                </a:cubicBezTo>
                <a:cubicBezTo>
                  <a:pt x="3111" y="3998"/>
                  <a:pt x="2365" y="4117"/>
                  <a:pt x="1779" y="4108"/>
                </a:cubicBezTo>
                <a:cubicBezTo>
                  <a:pt x="1443" y="3712"/>
                  <a:pt x="1240" y="3201"/>
                  <a:pt x="1240" y="2642"/>
                </a:cubicBezTo>
                <a:cubicBezTo>
                  <a:pt x="1240" y="1393"/>
                  <a:pt x="2256" y="376"/>
                  <a:pt x="3507" y="376"/>
                </a:cubicBezTo>
                <a:cubicBezTo>
                  <a:pt x="4756" y="376"/>
                  <a:pt x="5773" y="1393"/>
                  <a:pt x="5773" y="2642"/>
                </a:cubicBezTo>
                <a:cubicBezTo>
                  <a:pt x="5773" y="2664"/>
                  <a:pt x="5772" y="2684"/>
                  <a:pt x="5772" y="2705"/>
                </a:cubicBezTo>
                <a:close/>
                <a:moveTo>
                  <a:pt x="6133" y="2364"/>
                </a:moveTo>
                <a:cubicBezTo>
                  <a:pt x="6079" y="1849"/>
                  <a:pt x="5877" y="1380"/>
                  <a:pt x="5571" y="996"/>
                </a:cubicBezTo>
                <a:cubicBezTo>
                  <a:pt x="6067" y="1053"/>
                  <a:pt x="6401" y="1221"/>
                  <a:pt x="6491" y="1472"/>
                </a:cubicBezTo>
                <a:cubicBezTo>
                  <a:pt x="6573" y="1704"/>
                  <a:pt x="6443" y="2024"/>
                  <a:pt x="6133" y="2364"/>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103" name="文本框 102">
            <a:extLst>
              <a:ext uri="{FF2B5EF4-FFF2-40B4-BE49-F238E27FC236}">
                <a16:creationId xmlns:a16="http://schemas.microsoft.com/office/drawing/2014/main" id="{D603F8B3-9BC9-4C1E-B622-FE0FE53BB4A0}"/>
              </a:ext>
            </a:extLst>
          </p:cNvPr>
          <p:cNvSpPr txBox="1"/>
          <p:nvPr/>
        </p:nvSpPr>
        <p:spPr>
          <a:xfrm>
            <a:off x="373082" y="4935387"/>
            <a:ext cx="1660612" cy="338554"/>
          </a:xfrm>
          <a:prstGeom prst="rect">
            <a:avLst/>
          </a:prstGeom>
          <a:noFill/>
        </p:spPr>
        <p:txBody>
          <a:bodyPr wrap="square" rtlCol="0">
            <a:spAutoFit/>
          </a:bodyPr>
          <a:lstStyle/>
          <a:p>
            <a:r>
              <a:rPr lang="zh-CN" altLang="en-US" sz="1600" dirty="0">
                <a:solidFill>
                  <a:schemeClr val="bg1"/>
                </a:solidFill>
                <a:latin typeface="思源黑体 CN Regular" panose="020B0500000000000000" pitchFamily="34" charset="-122"/>
                <a:ea typeface="思源黑体 CN Regular" panose="020B0500000000000000" pitchFamily="34" charset="-122"/>
              </a:rPr>
              <a:t>已开展工作</a:t>
            </a:r>
          </a:p>
        </p:txBody>
      </p:sp>
      <p:sp>
        <p:nvSpPr>
          <p:cNvPr id="104" name="任意矩形：005">
            <a:extLst>
              <a:ext uri="{FF2B5EF4-FFF2-40B4-BE49-F238E27FC236}">
                <a16:creationId xmlns:a16="http://schemas.microsoft.com/office/drawing/2014/main" id="{014CB8FB-7835-43DA-AE5C-C97C42A929F6}"/>
              </a:ext>
            </a:extLst>
          </p:cNvPr>
          <p:cNvSpPr/>
          <p:nvPr/>
        </p:nvSpPr>
        <p:spPr>
          <a:xfrm>
            <a:off x="123946" y="4988361"/>
            <a:ext cx="201734" cy="201828"/>
          </a:xfrm>
          <a:custGeom>
            <a:avLst/>
            <a:gdLst>
              <a:gd name="T0" fmla="*/ 278945 h 440259"/>
              <a:gd name="T1" fmla="*/ 278945 h 440259"/>
              <a:gd name="T2" fmla="*/ 278945 h 440259"/>
              <a:gd name="T3" fmla="*/ 278945 h 440259"/>
              <a:gd name="T4" fmla="*/ 278945 h 440259"/>
              <a:gd name="T5" fmla="*/ 278945 h 440259"/>
              <a:gd name="T6" fmla="*/ 278945 h 440259"/>
              <a:gd name="T7" fmla="*/ 278945 h 440259"/>
              <a:gd name="T8" fmla="*/ 278945 h 440259"/>
              <a:gd name="T9" fmla="*/ 278945 h 440259"/>
              <a:gd name="T10" fmla="*/ 278945 h 440259"/>
              <a:gd name="T11" fmla="*/ 278945 h 440259"/>
              <a:gd name="T12" fmla="*/ 278945 h 440259"/>
              <a:gd name="T13" fmla="*/ 278945 h 440259"/>
              <a:gd name="T14" fmla="*/ 278945 h 440259"/>
              <a:gd name="T15" fmla="*/ 278945 h 440259"/>
              <a:gd name="T16" fmla="*/ 278945 h 440259"/>
              <a:gd name="T17" fmla="*/ 278945 h 440259"/>
              <a:gd name="T18" fmla="*/ 278945 h 440259"/>
              <a:gd name="T19" fmla="*/ 278945 h 440259"/>
              <a:gd name="T20" fmla="*/ 278945 h 440259"/>
              <a:gd name="T21" fmla="*/ 278945 h 440259"/>
              <a:gd name="T22" fmla="*/ 278945 h 440259"/>
              <a:gd name="T23" fmla="*/ 278945 h 440259"/>
              <a:gd name="T24" fmla="*/ 278945 h 440259"/>
              <a:gd name="T25" fmla="*/ 278945 h 440259"/>
              <a:gd name="T26" fmla="*/ 278945 h 440259"/>
              <a:gd name="T27" fmla="*/ 278945 h 440259"/>
              <a:gd name="T28" fmla="*/ 278945 h 440259"/>
              <a:gd name="T29" fmla="*/ 278945 h 440259"/>
              <a:gd name="T30" fmla="*/ 278945 h 440259"/>
              <a:gd name="T31" fmla="*/ 278945 h 440259"/>
              <a:gd name="T32" fmla="*/ 278945 h 440259"/>
              <a:gd name="T33" fmla="*/ 278945 h 440259"/>
              <a:gd name="T34" fmla="*/ 278945 h 440259"/>
              <a:gd name="T35" fmla="*/ 278945 h 440259"/>
              <a:gd name="T36" fmla="*/ 278945 h 440259"/>
              <a:gd name="T37" fmla="*/ 278945 h 440259"/>
              <a:gd name="T38" fmla="*/ 278945 h 440259"/>
              <a:gd name="T39" fmla="*/ 278945 h 440259"/>
              <a:gd name="T40" fmla="*/ 278945 h 440259"/>
              <a:gd name="T41" fmla="*/ 278945 h 440259"/>
              <a:gd name="T42" fmla="*/ 278945 h 440259"/>
              <a:gd name="T43" fmla="*/ 278945 h 440259"/>
              <a:gd name="T44" fmla="*/ 278945 h 440259"/>
              <a:gd name="T45" fmla="*/ 278945 h 440259"/>
              <a:gd name="T46" fmla="*/ 278945 h 440259"/>
              <a:gd name="T47" fmla="*/ 278945 h 440259"/>
              <a:gd name="T48" fmla="*/ 278945 h 440259"/>
              <a:gd name="T49" fmla="*/ 278945 h 440259"/>
              <a:gd name="T50" fmla="*/ 278945 h 440259"/>
              <a:gd name="T51" fmla="*/ 278945 h 440259"/>
              <a:gd name="T52" fmla="*/ 278945 h 440259"/>
              <a:gd name="T53" fmla="*/ 278945 h 440259"/>
              <a:gd name="T54" fmla="*/ 278945 h 440259"/>
              <a:gd name="T55" fmla="*/ 278945 h 440259"/>
              <a:gd name="T56" fmla="*/ 278945 h 440259"/>
              <a:gd name="T57" fmla="*/ 278945 h 440259"/>
              <a:gd name="T58" fmla="*/ 278945 h 440259"/>
              <a:gd name="T59" fmla="*/ 278945 h 440259"/>
              <a:gd name="T60" fmla="*/ 278945 h 440259"/>
              <a:gd name="T61" fmla="*/ 278945 h 440259"/>
              <a:gd name="T62" fmla="*/ 278945 h 440259"/>
              <a:gd name="T63" fmla="*/ 278945 h 440259"/>
              <a:gd name="T64" fmla="*/ 278945 h 440259"/>
              <a:gd name="T65" fmla="*/ 278945 h 440259"/>
              <a:gd name="T66" fmla="*/ 278945 h 440259"/>
              <a:gd name="T67" fmla="*/ 278945 h 440259"/>
              <a:gd name="T68" fmla="*/ 278945 h 440259"/>
              <a:gd name="T69" fmla="*/ 278945 h 440259"/>
              <a:gd name="T70" fmla="*/ 278945 h 440259"/>
              <a:gd name="T71" fmla="*/ 278945 h 440259"/>
              <a:gd name="T72" fmla="*/ 278945 h 440259"/>
              <a:gd name="T73" fmla="*/ 278945 h 440259"/>
              <a:gd name="T74" fmla="*/ 278945 h 440259"/>
              <a:gd name="T75" fmla="*/ 278945 h 440259"/>
              <a:gd name="T76" fmla="*/ 278945 h 440259"/>
              <a:gd name="T77" fmla="*/ 278945 h 440259"/>
              <a:gd name="T78" fmla="*/ 278945 h 440259"/>
              <a:gd name="T79" fmla="*/ 278945 h 440259"/>
              <a:gd name="T80" fmla="*/ 278945 h 440259"/>
              <a:gd name="T81" fmla="*/ 278945 h 440259"/>
              <a:gd name="T82" fmla="*/ 278945 h 440259"/>
              <a:gd name="T83" fmla="*/ 278945 h 440259"/>
              <a:gd name="T84" fmla="*/ 88862 h 440259"/>
              <a:gd name="T85" fmla="*/ 88862 h 440259"/>
              <a:gd name="T86" fmla="*/ 278945 h 440259"/>
              <a:gd name="T87" fmla="*/ 278945 h 44025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Lst>
            <a:rect l="0" t="0" r="r" b="b"/>
            <a:pathLst>
              <a:path w="6495" h="6508">
                <a:moveTo>
                  <a:pt x="6495" y="203"/>
                </a:moveTo>
                <a:lnTo>
                  <a:pt x="6495" y="197"/>
                </a:lnTo>
                <a:cubicBezTo>
                  <a:pt x="6495" y="193"/>
                  <a:pt x="6493" y="191"/>
                  <a:pt x="6493" y="187"/>
                </a:cubicBezTo>
                <a:cubicBezTo>
                  <a:pt x="6493" y="184"/>
                  <a:pt x="6493" y="181"/>
                  <a:pt x="6492" y="179"/>
                </a:cubicBezTo>
                <a:cubicBezTo>
                  <a:pt x="6492" y="176"/>
                  <a:pt x="6491" y="173"/>
                  <a:pt x="6491" y="172"/>
                </a:cubicBezTo>
                <a:cubicBezTo>
                  <a:pt x="6489" y="169"/>
                  <a:pt x="6489" y="165"/>
                  <a:pt x="6488" y="163"/>
                </a:cubicBezTo>
                <a:cubicBezTo>
                  <a:pt x="6488" y="161"/>
                  <a:pt x="6487" y="160"/>
                  <a:pt x="6487" y="157"/>
                </a:cubicBezTo>
                <a:lnTo>
                  <a:pt x="6483" y="145"/>
                </a:lnTo>
                <a:cubicBezTo>
                  <a:pt x="6483" y="144"/>
                  <a:pt x="6481" y="144"/>
                  <a:pt x="6481" y="143"/>
                </a:cubicBezTo>
                <a:cubicBezTo>
                  <a:pt x="6480" y="139"/>
                  <a:pt x="6477" y="133"/>
                  <a:pt x="6475" y="129"/>
                </a:cubicBezTo>
                <a:cubicBezTo>
                  <a:pt x="6475" y="128"/>
                  <a:pt x="6473" y="127"/>
                  <a:pt x="6473" y="127"/>
                </a:cubicBezTo>
                <a:cubicBezTo>
                  <a:pt x="6471" y="123"/>
                  <a:pt x="6469" y="119"/>
                  <a:pt x="6467" y="115"/>
                </a:cubicBezTo>
                <a:cubicBezTo>
                  <a:pt x="6457" y="101"/>
                  <a:pt x="6447" y="89"/>
                  <a:pt x="6435" y="79"/>
                </a:cubicBezTo>
                <a:cubicBezTo>
                  <a:pt x="6385" y="23"/>
                  <a:pt x="6304" y="0"/>
                  <a:pt x="6231" y="31"/>
                </a:cubicBezTo>
                <a:lnTo>
                  <a:pt x="112" y="2559"/>
                </a:lnTo>
                <a:cubicBezTo>
                  <a:pt x="111" y="2560"/>
                  <a:pt x="108" y="2560"/>
                  <a:pt x="107" y="2561"/>
                </a:cubicBezTo>
                <a:cubicBezTo>
                  <a:pt x="103" y="2563"/>
                  <a:pt x="100" y="2564"/>
                  <a:pt x="96" y="2567"/>
                </a:cubicBezTo>
                <a:lnTo>
                  <a:pt x="88" y="2571"/>
                </a:lnTo>
                <a:cubicBezTo>
                  <a:pt x="85" y="2572"/>
                  <a:pt x="83" y="2573"/>
                  <a:pt x="80" y="2576"/>
                </a:cubicBezTo>
                <a:cubicBezTo>
                  <a:pt x="77" y="2577"/>
                  <a:pt x="75" y="2580"/>
                  <a:pt x="72" y="2581"/>
                </a:cubicBezTo>
                <a:cubicBezTo>
                  <a:pt x="69" y="2583"/>
                  <a:pt x="68" y="2584"/>
                  <a:pt x="65" y="2587"/>
                </a:cubicBezTo>
                <a:cubicBezTo>
                  <a:pt x="63" y="2588"/>
                  <a:pt x="61" y="2591"/>
                  <a:pt x="59" y="2593"/>
                </a:cubicBezTo>
                <a:cubicBezTo>
                  <a:pt x="56" y="2595"/>
                  <a:pt x="55" y="2597"/>
                  <a:pt x="52" y="2599"/>
                </a:cubicBezTo>
                <a:lnTo>
                  <a:pt x="45" y="2605"/>
                </a:lnTo>
                <a:cubicBezTo>
                  <a:pt x="44" y="2608"/>
                  <a:pt x="41" y="2609"/>
                  <a:pt x="40" y="2612"/>
                </a:cubicBezTo>
                <a:cubicBezTo>
                  <a:pt x="39" y="2615"/>
                  <a:pt x="36" y="2617"/>
                  <a:pt x="35" y="2619"/>
                </a:cubicBezTo>
                <a:cubicBezTo>
                  <a:pt x="33" y="2621"/>
                  <a:pt x="31" y="2623"/>
                  <a:pt x="29" y="2625"/>
                </a:cubicBezTo>
                <a:cubicBezTo>
                  <a:pt x="28" y="2628"/>
                  <a:pt x="25" y="2631"/>
                  <a:pt x="24" y="2633"/>
                </a:cubicBezTo>
                <a:cubicBezTo>
                  <a:pt x="23" y="2636"/>
                  <a:pt x="21" y="2637"/>
                  <a:pt x="20" y="2640"/>
                </a:cubicBezTo>
                <a:cubicBezTo>
                  <a:pt x="17" y="2644"/>
                  <a:pt x="16" y="2648"/>
                  <a:pt x="15" y="2652"/>
                </a:cubicBezTo>
                <a:cubicBezTo>
                  <a:pt x="15" y="2653"/>
                  <a:pt x="13" y="2655"/>
                  <a:pt x="12" y="2656"/>
                </a:cubicBezTo>
                <a:lnTo>
                  <a:pt x="12" y="2656"/>
                </a:lnTo>
                <a:cubicBezTo>
                  <a:pt x="9" y="2661"/>
                  <a:pt x="8" y="2667"/>
                  <a:pt x="7" y="2672"/>
                </a:cubicBezTo>
                <a:lnTo>
                  <a:pt x="7" y="2673"/>
                </a:lnTo>
                <a:cubicBezTo>
                  <a:pt x="5" y="2679"/>
                  <a:pt x="4" y="2684"/>
                  <a:pt x="3" y="2691"/>
                </a:cubicBezTo>
                <a:cubicBezTo>
                  <a:pt x="3" y="2693"/>
                  <a:pt x="1" y="2696"/>
                  <a:pt x="1" y="2699"/>
                </a:cubicBezTo>
                <a:cubicBezTo>
                  <a:pt x="1" y="2701"/>
                  <a:pt x="0" y="2705"/>
                  <a:pt x="0" y="2708"/>
                </a:cubicBezTo>
                <a:lnTo>
                  <a:pt x="0" y="2716"/>
                </a:lnTo>
                <a:lnTo>
                  <a:pt x="0" y="2725"/>
                </a:lnTo>
                <a:lnTo>
                  <a:pt x="0" y="2733"/>
                </a:lnTo>
                <a:lnTo>
                  <a:pt x="0" y="2743"/>
                </a:lnTo>
                <a:cubicBezTo>
                  <a:pt x="0" y="2745"/>
                  <a:pt x="1" y="2748"/>
                  <a:pt x="1" y="2749"/>
                </a:cubicBezTo>
                <a:cubicBezTo>
                  <a:pt x="1" y="2753"/>
                  <a:pt x="3" y="2756"/>
                  <a:pt x="3" y="2760"/>
                </a:cubicBezTo>
                <a:cubicBezTo>
                  <a:pt x="4" y="2764"/>
                  <a:pt x="4" y="2768"/>
                  <a:pt x="5" y="2772"/>
                </a:cubicBezTo>
                <a:cubicBezTo>
                  <a:pt x="7" y="2775"/>
                  <a:pt x="7" y="2777"/>
                  <a:pt x="8" y="2780"/>
                </a:cubicBezTo>
                <a:cubicBezTo>
                  <a:pt x="9" y="2784"/>
                  <a:pt x="11" y="2789"/>
                  <a:pt x="13" y="2793"/>
                </a:cubicBezTo>
                <a:lnTo>
                  <a:pt x="13" y="2793"/>
                </a:lnTo>
                <a:cubicBezTo>
                  <a:pt x="15" y="2799"/>
                  <a:pt x="17" y="2803"/>
                  <a:pt x="20" y="2807"/>
                </a:cubicBezTo>
                <a:cubicBezTo>
                  <a:pt x="20" y="2808"/>
                  <a:pt x="21" y="2809"/>
                  <a:pt x="21" y="2809"/>
                </a:cubicBezTo>
                <a:cubicBezTo>
                  <a:pt x="23" y="2813"/>
                  <a:pt x="25" y="2816"/>
                  <a:pt x="28" y="2820"/>
                </a:cubicBezTo>
                <a:cubicBezTo>
                  <a:pt x="29" y="2821"/>
                  <a:pt x="29" y="2823"/>
                  <a:pt x="31" y="2824"/>
                </a:cubicBezTo>
                <a:cubicBezTo>
                  <a:pt x="33" y="2828"/>
                  <a:pt x="35" y="2831"/>
                  <a:pt x="37" y="2833"/>
                </a:cubicBezTo>
                <a:cubicBezTo>
                  <a:pt x="39" y="2835"/>
                  <a:pt x="39" y="2836"/>
                  <a:pt x="40" y="2836"/>
                </a:cubicBezTo>
                <a:cubicBezTo>
                  <a:pt x="44" y="2840"/>
                  <a:pt x="47" y="2844"/>
                  <a:pt x="51" y="2848"/>
                </a:cubicBezTo>
                <a:lnTo>
                  <a:pt x="51" y="2848"/>
                </a:lnTo>
                <a:cubicBezTo>
                  <a:pt x="55" y="2852"/>
                  <a:pt x="59" y="2855"/>
                  <a:pt x="63" y="2859"/>
                </a:cubicBezTo>
                <a:cubicBezTo>
                  <a:pt x="64" y="2860"/>
                  <a:pt x="65" y="2861"/>
                  <a:pt x="67" y="2861"/>
                </a:cubicBezTo>
                <a:cubicBezTo>
                  <a:pt x="69" y="2864"/>
                  <a:pt x="73" y="2867"/>
                  <a:pt x="76" y="2868"/>
                </a:cubicBezTo>
                <a:cubicBezTo>
                  <a:pt x="77" y="2869"/>
                  <a:pt x="79" y="2869"/>
                  <a:pt x="80" y="2871"/>
                </a:cubicBezTo>
                <a:cubicBezTo>
                  <a:pt x="84" y="2873"/>
                  <a:pt x="89" y="2876"/>
                  <a:pt x="93" y="2879"/>
                </a:cubicBezTo>
                <a:cubicBezTo>
                  <a:pt x="95" y="2879"/>
                  <a:pt x="95" y="2880"/>
                  <a:pt x="96" y="2880"/>
                </a:cubicBezTo>
                <a:cubicBezTo>
                  <a:pt x="100" y="2883"/>
                  <a:pt x="104" y="2884"/>
                  <a:pt x="109" y="2887"/>
                </a:cubicBezTo>
                <a:cubicBezTo>
                  <a:pt x="111" y="2887"/>
                  <a:pt x="111" y="2888"/>
                  <a:pt x="112" y="2888"/>
                </a:cubicBezTo>
                <a:lnTo>
                  <a:pt x="2579" y="3933"/>
                </a:lnTo>
                <a:lnTo>
                  <a:pt x="3624" y="6400"/>
                </a:lnTo>
                <a:cubicBezTo>
                  <a:pt x="3625" y="6405"/>
                  <a:pt x="3628" y="6409"/>
                  <a:pt x="3631" y="6413"/>
                </a:cubicBezTo>
                <a:cubicBezTo>
                  <a:pt x="3631" y="6415"/>
                  <a:pt x="3632" y="6416"/>
                  <a:pt x="3632" y="6416"/>
                </a:cubicBezTo>
                <a:cubicBezTo>
                  <a:pt x="3635" y="6420"/>
                  <a:pt x="3636" y="6423"/>
                  <a:pt x="3639" y="6427"/>
                </a:cubicBezTo>
                <a:cubicBezTo>
                  <a:pt x="3640" y="6428"/>
                  <a:pt x="3640" y="6429"/>
                  <a:pt x="3641" y="6431"/>
                </a:cubicBezTo>
                <a:cubicBezTo>
                  <a:pt x="3644" y="6435"/>
                  <a:pt x="3647" y="6437"/>
                  <a:pt x="3648" y="6440"/>
                </a:cubicBezTo>
                <a:cubicBezTo>
                  <a:pt x="3649" y="6441"/>
                  <a:pt x="3649" y="6443"/>
                  <a:pt x="3651" y="6443"/>
                </a:cubicBezTo>
                <a:cubicBezTo>
                  <a:pt x="3655" y="6447"/>
                  <a:pt x="3657" y="6451"/>
                  <a:pt x="3661" y="6455"/>
                </a:cubicBezTo>
                <a:lnTo>
                  <a:pt x="3663" y="6456"/>
                </a:lnTo>
                <a:cubicBezTo>
                  <a:pt x="3667" y="6459"/>
                  <a:pt x="3669" y="6463"/>
                  <a:pt x="3673" y="6465"/>
                </a:cubicBezTo>
                <a:cubicBezTo>
                  <a:pt x="3675" y="6467"/>
                  <a:pt x="3676" y="6468"/>
                  <a:pt x="3677" y="6468"/>
                </a:cubicBezTo>
                <a:cubicBezTo>
                  <a:pt x="3680" y="6471"/>
                  <a:pt x="3684" y="6473"/>
                  <a:pt x="3687" y="6475"/>
                </a:cubicBezTo>
                <a:cubicBezTo>
                  <a:pt x="3688" y="6476"/>
                  <a:pt x="3689" y="6476"/>
                  <a:pt x="3691" y="6477"/>
                </a:cubicBezTo>
                <a:cubicBezTo>
                  <a:pt x="3695" y="6480"/>
                  <a:pt x="3700" y="6483"/>
                  <a:pt x="3704" y="6485"/>
                </a:cubicBezTo>
                <a:cubicBezTo>
                  <a:pt x="3705" y="6485"/>
                  <a:pt x="3707" y="6487"/>
                  <a:pt x="3707" y="6487"/>
                </a:cubicBezTo>
                <a:cubicBezTo>
                  <a:pt x="3711" y="6489"/>
                  <a:pt x="3715" y="6491"/>
                  <a:pt x="3719" y="6492"/>
                </a:cubicBezTo>
                <a:cubicBezTo>
                  <a:pt x="3720" y="6492"/>
                  <a:pt x="3720" y="6493"/>
                  <a:pt x="3721" y="6493"/>
                </a:cubicBezTo>
                <a:cubicBezTo>
                  <a:pt x="3721" y="6493"/>
                  <a:pt x="3723" y="6493"/>
                  <a:pt x="3723" y="6495"/>
                </a:cubicBezTo>
                <a:cubicBezTo>
                  <a:pt x="3727" y="6496"/>
                  <a:pt x="3732" y="6499"/>
                  <a:pt x="3736" y="6500"/>
                </a:cubicBezTo>
                <a:lnTo>
                  <a:pt x="3737" y="6500"/>
                </a:lnTo>
                <a:cubicBezTo>
                  <a:pt x="3743" y="6501"/>
                  <a:pt x="3747" y="6503"/>
                  <a:pt x="3752" y="6504"/>
                </a:cubicBezTo>
                <a:cubicBezTo>
                  <a:pt x="3753" y="6504"/>
                  <a:pt x="3756" y="6504"/>
                  <a:pt x="3757" y="6505"/>
                </a:cubicBezTo>
                <a:cubicBezTo>
                  <a:pt x="3761" y="6505"/>
                  <a:pt x="3764" y="6507"/>
                  <a:pt x="3768" y="6507"/>
                </a:cubicBezTo>
                <a:lnTo>
                  <a:pt x="3773" y="6507"/>
                </a:lnTo>
                <a:cubicBezTo>
                  <a:pt x="3779" y="6507"/>
                  <a:pt x="3783" y="6508"/>
                  <a:pt x="3788" y="6508"/>
                </a:cubicBezTo>
                <a:lnTo>
                  <a:pt x="3788" y="6508"/>
                </a:lnTo>
                <a:lnTo>
                  <a:pt x="3788" y="6508"/>
                </a:lnTo>
                <a:lnTo>
                  <a:pt x="3788" y="6508"/>
                </a:lnTo>
                <a:lnTo>
                  <a:pt x="3788" y="6508"/>
                </a:lnTo>
                <a:cubicBezTo>
                  <a:pt x="3793" y="6508"/>
                  <a:pt x="3799" y="6508"/>
                  <a:pt x="3803" y="6507"/>
                </a:cubicBezTo>
                <a:lnTo>
                  <a:pt x="3808" y="6507"/>
                </a:lnTo>
                <a:cubicBezTo>
                  <a:pt x="3812" y="6507"/>
                  <a:pt x="3816" y="6505"/>
                  <a:pt x="3819" y="6505"/>
                </a:cubicBezTo>
                <a:cubicBezTo>
                  <a:pt x="3820" y="6505"/>
                  <a:pt x="3823" y="6505"/>
                  <a:pt x="3824" y="6504"/>
                </a:cubicBezTo>
                <a:cubicBezTo>
                  <a:pt x="3829" y="6503"/>
                  <a:pt x="3835" y="6501"/>
                  <a:pt x="3839" y="6500"/>
                </a:cubicBezTo>
                <a:cubicBezTo>
                  <a:pt x="3840" y="6500"/>
                  <a:pt x="3840" y="6500"/>
                  <a:pt x="3841" y="6499"/>
                </a:cubicBezTo>
                <a:cubicBezTo>
                  <a:pt x="3845" y="6497"/>
                  <a:pt x="3851" y="6496"/>
                  <a:pt x="3855" y="6493"/>
                </a:cubicBezTo>
                <a:cubicBezTo>
                  <a:pt x="3856" y="6493"/>
                  <a:pt x="3856" y="6493"/>
                  <a:pt x="3857" y="6492"/>
                </a:cubicBezTo>
                <a:cubicBezTo>
                  <a:pt x="3859" y="6492"/>
                  <a:pt x="3859" y="6491"/>
                  <a:pt x="3860" y="6491"/>
                </a:cubicBezTo>
                <a:cubicBezTo>
                  <a:pt x="3864" y="6489"/>
                  <a:pt x="3868" y="6487"/>
                  <a:pt x="3872" y="6484"/>
                </a:cubicBezTo>
                <a:cubicBezTo>
                  <a:pt x="3873" y="6484"/>
                  <a:pt x="3873" y="6483"/>
                  <a:pt x="3875" y="6483"/>
                </a:cubicBezTo>
                <a:cubicBezTo>
                  <a:pt x="3879" y="6480"/>
                  <a:pt x="3884" y="6477"/>
                  <a:pt x="3888" y="6475"/>
                </a:cubicBezTo>
                <a:cubicBezTo>
                  <a:pt x="3889" y="6473"/>
                  <a:pt x="3891" y="6473"/>
                  <a:pt x="3892" y="6472"/>
                </a:cubicBezTo>
                <a:cubicBezTo>
                  <a:pt x="3895" y="6469"/>
                  <a:pt x="3899" y="6468"/>
                  <a:pt x="3901" y="6465"/>
                </a:cubicBezTo>
                <a:cubicBezTo>
                  <a:pt x="3903" y="6464"/>
                  <a:pt x="3904" y="6463"/>
                  <a:pt x="3905" y="6463"/>
                </a:cubicBezTo>
                <a:cubicBezTo>
                  <a:pt x="3909" y="6459"/>
                  <a:pt x="3913" y="6456"/>
                  <a:pt x="3916" y="6452"/>
                </a:cubicBezTo>
                <a:lnTo>
                  <a:pt x="3916" y="6452"/>
                </a:lnTo>
                <a:cubicBezTo>
                  <a:pt x="3920" y="6448"/>
                  <a:pt x="3923" y="6444"/>
                  <a:pt x="3927" y="6440"/>
                </a:cubicBezTo>
                <a:cubicBezTo>
                  <a:pt x="3928" y="6439"/>
                  <a:pt x="3928" y="6437"/>
                  <a:pt x="3929" y="6436"/>
                </a:cubicBezTo>
                <a:cubicBezTo>
                  <a:pt x="3932" y="6433"/>
                  <a:pt x="3935" y="6429"/>
                  <a:pt x="3936" y="6427"/>
                </a:cubicBezTo>
                <a:cubicBezTo>
                  <a:pt x="3937" y="6425"/>
                  <a:pt x="3937" y="6424"/>
                  <a:pt x="3939" y="6423"/>
                </a:cubicBezTo>
                <a:cubicBezTo>
                  <a:pt x="3941" y="6419"/>
                  <a:pt x="3943" y="6416"/>
                  <a:pt x="3945" y="6412"/>
                </a:cubicBezTo>
                <a:cubicBezTo>
                  <a:pt x="3945" y="6411"/>
                  <a:pt x="3947" y="6409"/>
                  <a:pt x="3947" y="6409"/>
                </a:cubicBezTo>
                <a:cubicBezTo>
                  <a:pt x="3949" y="6405"/>
                  <a:pt x="3951" y="6400"/>
                  <a:pt x="3953" y="6396"/>
                </a:cubicBezTo>
                <a:lnTo>
                  <a:pt x="6481" y="284"/>
                </a:lnTo>
                <a:cubicBezTo>
                  <a:pt x="6485" y="273"/>
                  <a:pt x="6489" y="261"/>
                  <a:pt x="6492" y="249"/>
                </a:cubicBezTo>
                <a:cubicBezTo>
                  <a:pt x="6493" y="245"/>
                  <a:pt x="6493" y="240"/>
                  <a:pt x="6493" y="236"/>
                </a:cubicBezTo>
                <a:lnTo>
                  <a:pt x="6493" y="232"/>
                </a:lnTo>
                <a:cubicBezTo>
                  <a:pt x="6493" y="227"/>
                  <a:pt x="6493" y="223"/>
                  <a:pt x="6495" y="217"/>
                </a:cubicBezTo>
                <a:lnTo>
                  <a:pt x="6495" y="215"/>
                </a:lnTo>
                <a:lnTo>
                  <a:pt x="6495" y="203"/>
                </a:lnTo>
                <a:close/>
                <a:moveTo>
                  <a:pt x="648" y="2727"/>
                </a:moveTo>
                <a:lnTo>
                  <a:pt x="5589" y="687"/>
                </a:lnTo>
                <a:lnTo>
                  <a:pt x="2685" y="3589"/>
                </a:lnTo>
                <a:lnTo>
                  <a:pt x="648" y="2727"/>
                </a:lnTo>
                <a:close/>
                <a:moveTo>
                  <a:pt x="3787" y="5865"/>
                </a:moveTo>
                <a:lnTo>
                  <a:pt x="2933" y="3851"/>
                </a:lnTo>
                <a:lnTo>
                  <a:pt x="5804" y="981"/>
                </a:lnTo>
                <a:lnTo>
                  <a:pt x="3787" y="5865"/>
                </a:ln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109" name="文本框 108">
            <a:extLst>
              <a:ext uri="{FF2B5EF4-FFF2-40B4-BE49-F238E27FC236}">
                <a16:creationId xmlns:a16="http://schemas.microsoft.com/office/drawing/2014/main" id="{8776F8B8-3323-4813-83D0-9305AD5498BB}"/>
              </a:ext>
            </a:extLst>
          </p:cNvPr>
          <p:cNvSpPr txBox="1"/>
          <p:nvPr/>
        </p:nvSpPr>
        <p:spPr>
          <a:xfrm>
            <a:off x="373082" y="5620123"/>
            <a:ext cx="1660612" cy="338554"/>
          </a:xfrm>
          <a:prstGeom prst="rect">
            <a:avLst/>
          </a:prstGeom>
          <a:noFill/>
        </p:spPr>
        <p:txBody>
          <a:bodyPr wrap="square" rtlCol="0">
            <a:spAutoFit/>
          </a:bodyPr>
          <a:lstStyle/>
          <a:p>
            <a:r>
              <a:rPr lang="zh-CN" altLang="en-US" sz="1600" dirty="0">
                <a:solidFill>
                  <a:schemeClr val="bg1"/>
                </a:solidFill>
                <a:latin typeface="思源黑体 CN Regular" panose="020B0500000000000000" pitchFamily="34" charset="-122"/>
                <a:ea typeface="思源黑体 CN Regular" panose="020B0500000000000000" pitchFamily="34" charset="-122"/>
              </a:rPr>
              <a:t>预期成果</a:t>
            </a:r>
          </a:p>
        </p:txBody>
      </p:sp>
      <p:sp>
        <p:nvSpPr>
          <p:cNvPr id="110" name="任意矩形：006">
            <a:extLst>
              <a:ext uri="{FF2B5EF4-FFF2-40B4-BE49-F238E27FC236}">
                <a16:creationId xmlns:a16="http://schemas.microsoft.com/office/drawing/2014/main" id="{844B2B95-1808-4C85-9F43-0FA396F4B08A}"/>
              </a:ext>
            </a:extLst>
          </p:cNvPr>
          <p:cNvSpPr/>
          <p:nvPr/>
        </p:nvSpPr>
        <p:spPr>
          <a:xfrm>
            <a:off x="125661" y="5689964"/>
            <a:ext cx="203662" cy="187126"/>
          </a:xfrm>
          <a:custGeom>
            <a:avLst/>
            <a:gdLst>
              <a:gd name="T0" fmla="*/ 11834 w 13933"/>
              <a:gd name="T1" fmla="*/ 1094 h 12800"/>
              <a:gd name="T2" fmla="*/ 10384 w 13933"/>
              <a:gd name="T3" fmla="*/ 1094 h 12800"/>
              <a:gd name="T4" fmla="*/ 10384 w 13933"/>
              <a:gd name="T5" fmla="*/ 315 h 12800"/>
              <a:gd name="T6" fmla="*/ 10069 w 13933"/>
              <a:gd name="T7" fmla="*/ 0 h 12800"/>
              <a:gd name="T8" fmla="*/ 9754 w 13933"/>
              <a:gd name="T9" fmla="*/ 315 h 12800"/>
              <a:gd name="T10" fmla="*/ 9754 w 13933"/>
              <a:gd name="T11" fmla="*/ 1094 h 12800"/>
              <a:gd name="T12" fmla="*/ 4056 w 13933"/>
              <a:gd name="T13" fmla="*/ 1094 h 12800"/>
              <a:gd name="T14" fmla="*/ 4056 w 13933"/>
              <a:gd name="T15" fmla="*/ 315 h 12800"/>
              <a:gd name="T16" fmla="*/ 3741 w 13933"/>
              <a:gd name="T17" fmla="*/ 0 h 12800"/>
              <a:gd name="T18" fmla="*/ 3426 w 13933"/>
              <a:gd name="T19" fmla="*/ 315 h 12800"/>
              <a:gd name="T20" fmla="*/ 3426 w 13933"/>
              <a:gd name="T21" fmla="*/ 1094 h 12800"/>
              <a:gd name="T22" fmla="*/ 2099 w 13933"/>
              <a:gd name="T23" fmla="*/ 1094 h 12800"/>
              <a:gd name="T24" fmla="*/ 0 w 13933"/>
              <a:gd name="T25" fmla="*/ 3193 h 12800"/>
              <a:gd name="T26" fmla="*/ 0 w 13933"/>
              <a:gd name="T27" fmla="*/ 10701 h 12800"/>
              <a:gd name="T28" fmla="*/ 2099 w 13933"/>
              <a:gd name="T29" fmla="*/ 12800 h 12800"/>
              <a:gd name="T30" fmla="*/ 11834 w 13933"/>
              <a:gd name="T31" fmla="*/ 12800 h 12800"/>
              <a:gd name="T32" fmla="*/ 13933 w 13933"/>
              <a:gd name="T33" fmla="*/ 10701 h 12800"/>
              <a:gd name="T34" fmla="*/ 13933 w 13933"/>
              <a:gd name="T35" fmla="*/ 3193 h 12800"/>
              <a:gd name="T36" fmla="*/ 11834 w 13933"/>
              <a:gd name="T37" fmla="*/ 1094 h 12800"/>
              <a:gd name="T38" fmla="*/ 2099 w 13933"/>
              <a:gd name="T39" fmla="*/ 1933 h 12800"/>
              <a:gd name="T40" fmla="*/ 3426 w 13933"/>
              <a:gd name="T41" fmla="*/ 1933 h 12800"/>
              <a:gd name="T42" fmla="*/ 3426 w 13933"/>
              <a:gd name="T43" fmla="*/ 2757 h 12800"/>
              <a:gd name="T44" fmla="*/ 3741 w 13933"/>
              <a:gd name="T45" fmla="*/ 3072 h 12800"/>
              <a:gd name="T46" fmla="*/ 4056 w 13933"/>
              <a:gd name="T47" fmla="*/ 2757 h 12800"/>
              <a:gd name="T48" fmla="*/ 4056 w 13933"/>
              <a:gd name="T49" fmla="*/ 1933 h 12800"/>
              <a:gd name="T50" fmla="*/ 9754 w 13933"/>
              <a:gd name="T51" fmla="*/ 1933 h 12800"/>
              <a:gd name="T52" fmla="*/ 9754 w 13933"/>
              <a:gd name="T53" fmla="*/ 2757 h 12800"/>
              <a:gd name="T54" fmla="*/ 10069 w 13933"/>
              <a:gd name="T55" fmla="*/ 3072 h 12800"/>
              <a:gd name="T56" fmla="*/ 10384 w 13933"/>
              <a:gd name="T57" fmla="*/ 2757 h 12800"/>
              <a:gd name="T58" fmla="*/ 10384 w 13933"/>
              <a:gd name="T59" fmla="*/ 1933 h 12800"/>
              <a:gd name="T60" fmla="*/ 11834 w 13933"/>
              <a:gd name="T61" fmla="*/ 1933 h 12800"/>
              <a:gd name="T62" fmla="*/ 13094 w 13933"/>
              <a:gd name="T63" fmla="*/ 3193 h 12800"/>
              <a:gd name="T64" fmla="*/ 13094 w 13933"/>
              <a:gd name="T65" fmla="*/ 4646 h 12800"/>
              <a:gd name="T66" fmla="*/ 840 w 13933"/>
              <a:gd name="T67" fmla="*/ 4646 h 12800"/>
              <a:gd name="T68" fmla="*/ 840 w 13933"/>
              <a:gd name="T69" fmla="*/ 3193 h 12800"/>
              <a:gd name="T70" fmla="*/ 2099 w 13933"/>
              <a:gd name="T71" fmla="*/ 1933 h 12800"/>
              <a:gd name="T72" fmla="*/ 11834 w 13933"/>
              <a:gd name="T73" fmla="*/ 11960 h 12800"/>
              <a:gd name="T74" fmla="*/ 2099 w 13933"/>
              <a:gd name="T75" fmla="*/ 11960 h 12800"/>
              <a:gd name="T76" fmla="*/ 840 w 13933"/>
              <a:gd name="T77" fmla="*/ 10701 h 12800"/>
              <a:gd name="T78" fmla="*/ 840 w 13933"/>
              <a:gd name="T79" fmla="*/ 5276 h 12800"/>
              <a:gd name="T80" fmla="*/ 13094 w 13933"/>
              <a:gd name="T81" fmla="*/ 5276 h 12800"/>
              <a:gd name="T82" fmla="*/ 13094 w 13933"/>
              <a:gd name="T83" fmla="*/ 10701 h 12800"/>
              <a:gd name="T84" fmla="*/ 11834 w 13933"/>
              <a:gd name="T85" fmla="*/ 11960 h 128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Lst>
            <a:rect l="0" t="0" r="r" b="b"/>
            <a:pathLst>
              <a:path w="13933" h="12800">
                <a:moveTo>
                  <a:pt x="11834" y="1094"/>
                </a:moveTo>
                <a:lnTo>
                  <a:pt x="10384" y="1094"/>
                </a:lnTo>
                <a:lnTo>
                  <a:pt x="10384" y="315"/>
                </a:lnTo>
                <a:cubicBezTo>
                  <a:pt x="10384" y="141"/>
                  <a:pt x="10243" y="0"/>
                  <a:pt x="10069" y="0"/>
                </a:cubicBezTo>
                <a:cubicBezTo>
                  <a:pt x="9895" y="0"/>
                  <a:pt x="9754" y="141"/>
                  <a:pt x="9754" y="315"/>
                </a:cubicBezTo>
                <a:lnTo>
                  <a:pt x="9754" y="1094"/>
                </a:lnTo>
                <a:lnTo>
                  <a:pt x="4056" y="1094"/>
                </a:lnTo>
                <a:lnTo>
                  <a:pt x="4056" y="315"/>
                </a:lnTo>
                <a:cubicBezTo>
                  <a:pt x="4056" y="141"/>
                  <a:pt x="3915" y="0"/>
                  <a:pt x="3741" y="0"/>
                </a:cubicBezTo>
                <a:cubicBezTo>
                  <a:pt x="3567" y="0"/>
                  <a:pt x="3426" y="141"/>
                  <a:pt x="3426" y="315"/>
                </a:cubicBezTo>
                <a:lnTo>
                  <a:pt x="3426" y="1094"/>
                </a:lnTo>
                <a:lnTo>
                  <a:pt x="2099" y="1094"/>
                </a:lnTo>
                <a:cubicBezTo>
                  <a:pt x="940" y="1095"/>
                  <a:pt x="1" y="2034"/>
                  <a:pt x="0" y="3193"/>
                </a:cubicBezTo>
                <a:lnTo>
                  <a:pt x="0" y="10701"/>
                </a:lnTo>
                <a:cubicBezTo>
                  <a:pt x="1" y="11860"/>
                  <a:pt x="940" y="12799"/>
                  <a:pt x="2099" y="12800"/>
                </a:cubicBezTo>
                <a:lnTo>
                  <a:pt x="11834" y="12800"/>
                </a:lnTo>
                <a:cubicBezTo>
                  <a:pt x="12993" y="12799"/>
                  <a:pt x="13932" y="11860"/>
                  <a:pt x="13933" y="10701"/>
                </a:cubicBezTo>
                <a:lnTo>
                  <a:pt x="13933" y="3193"/>
                </a:lnTo>
                <a:cubicBezTo>
                  <a:pt x="13932" y="2034"/>
                  <a:pt x="12993" y="1095"/>
                  <a:pt x="11834" y="1094"/>
                </a:cubicBezTo>
                <a:close/>
                <a:moveTo>
                  <a:pt x="2099" y="1933"/>
                </a:moveTo>
                <a:lnTo>
                  <a:pt x="3426" y="1933"/>
                </a:lnTo>
                <a:lnTo>
                  <a:pt x="3426" y="2757"/>
                </a:lnTo>
                <a:cubicBezTo>
                  <a:pt x="3426" y="2931"/>
                  <a:pt x="3567" y="3072"/>
                  <a:pt x="3741" y="3072"/>
                </a:cubicBezTo>
                <a:cubicBezTo>
                  <a:pt x="3915" y="3072"/>
                  <a:pt x="4056" y="2931"/>
                  <a:pt x="4056" y="2757"/>
                </a:cubicBezTo>
                <a:lnTo>
                  <a:pt x="4056" y="1933"/>
                </a:lnTo>
                <a:lnTo>
                  <a:pt x="9754" y="1933"/>
                </a:lnTo>
                <a:lnTo>
                  <a:pt x="9754" y="2757"/>
                </a:lnTo>
                <a:cubicBezTo>
                  <a:pt x="9754" y="2931"/>
                  <a:pt x="9895" y="3072"/>
                  <a:pt x="10069" y="3072"/>
                </a:cubicBezTo>
                <a:cubicBezTo>
                  <a:pt x="10243" y="3072"/>
                  <a:pt x="10384" y="2931"/>
                  <a:pt x="10384" y="2757"/>
                </a:cubicBezTo>
                <a:lnTo>
                  <a:pt x="10384" y="1933"/>
                </a:lnTo>
                <a:lnTo>
                  <a:pt x="11834" y="1933"/>
                </a:lnTo>
                <a:cubicBezTo>
                  <a:pt x="12529" y="1934"/>
                  <a:pt x="13093" y="2497"/>
                  <a:pt x="13094" y="3193"/>
                </a:cubicBezTo>
                <a:lnTo>
                  <a:pt x="13094" y="4646"/>
                </a:lnTo>
                <a:lnTo>
                  <a:pt x="840" y="4646"/>
                </a:lnTo>
                <a:lnTo>
                  <a:pt x="840" y="3193"/>
                </a:lnTo>
                <a:cubicBezTo>
                  <a:pt x="840" y="2497"/>
                  <a:pt x="1404" y="1934"/>
                  <a:pt x="2099" y="1933"/>
                </a:cubicBezTo>
                <a:close/>
                <a:moveTo>
                  <a:pt x="11834" y="11960"/>
                </a:moveTo>
                <a:lnTo>
                  <a:pt x="2099" y="11960"/>
                </a:lnTo>
                <a:cubicBezTo>
                  <a:pt x="1404" y="11960"/>
                  <a:pt x="840" y="11396"/>
                  <a:pt x="840" y="10701"/>
                </a:cubicBezTo>
                <a:lnTo>
                  <a:pt x="840" y="5276"/>
                </a:lnTo>
                <a:lnTo>
                  <a:pt x="13094" y="5276"/>
                </a:lnTo>
                <a:lnTo>
                  <a:pt x="13094" y="10701"/>
                </a:lnTo>
                <a:cubicBezTo>
                  <a:pt x="13093" y="11396"/>
                  <a:pt x="12529" y="11960"/>
                  <a:pt x="11834" y="1196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405412758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箭头: 五边形 8">
            <a:extLst>
              <a:ext uri="{FF2B5EF4-FFF2-40B4-BE49-F238E27FC236}">
                <a16:creationId xmlns:a16="http://schemas.microsoft.com/office/drawing/2014/main" id="{382F7EDE-8AEC-4B6B-86E1-58F59D1D9AB1}"/>
              </a:ext>
            </a:extLst>
          </p:cNvPr>
          <p:cNvSpPr/>
          <p:nvPr/>
        </p:nvSpPr>
        <p:spPr>
          <a:xfrm>
            <a:off x="2387601" y="3648672"/>
            <a:ext cx="1966036" cy="508968"/>
          </a:xfrm>
          <a:prstGeom prst="homePlat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0" name="箭头: 五边形 19">
            <a:extLst>
              <a:ext uri="{FF2B5EF4-FFF2-40B4-BE49-F238E27FC236}">
                <a16:creationId xmlns:a16="http://schemas.microsoft.com/office/drawing/2014/main" id="{CB5BE0A2-FBEE-4F79-9167-6A82E95E4CC9}"/>
              </a:ext>
            </a:extLst>
          </p:cNvPr>
          <p:cNvSpPr/>
          <p:nvPr/>
        </p:nvSpPr>
        <p:spPr>
          <a:xfrm>
            <a:off x="4485425" y="3648672"/>
            <a:ext cx="1744063" cy="508968"/>
          </a:xfrm>
          <a:prstGeom prst="homePlat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2" name="箭头: V 形 21">
            <a:extLst>
              <a:ext uri="{FF2B5EF4-FFF2-40B4-BE49-F238E27FC236}">
                <a16:creationId xmlns:a16="http://schemas.microsoft.com/office/drawing/2014/main" id="{1AFCB780-DED0-4E13-A575-6061C1F9DDC1}"/>
              </a:ext>
            </a:extLst>
          </p:cNvPr>
          <p:cNvSpPr/>
          <p:nvPr/>
        </p:nvSpPr>
        <p:spPr>
          <a:xfrm>
            <a:off x="4226877" y="3648672"/>
            <a:ext cx="557540" cy="508968"/>
          </a:xfrm>
          <a:prstGeom prst="chevron">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37" name="箭头: 五边形 36">
            <a:extLst>
              <a:ext uri="{FF2B5EF4-FFF2-40B4-BE49-F238E27FC236}">
                <a16:creationId xmlns:a16="http://schemas.microsoft.com/office/drawing/2014/main" id="{7DBC23B7-7267-4359-AC90-B7EB0B9B8CC1}"/>
              </a:ext>
            </a:extLst>
          </p:cNvPr>
          <p:cNvSpPr/>
          <p:nvPr/>
        </p:nvSpPr>
        <p:spPr>
          <a:xfrm>
            <a:off x="6361275" y="3648672"/>
            <a:ext cx="1744063" cy="508968"/>
          </a:xfrm>
          <a:prstGeom prst="homePlat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8" name="箭头: V 形 37">
            <a:extLst>
              <a:ext uri="{FF2B5EF4-FFF2-40B4-BE49-F238E27FC236}">
                <a16:creationId xmlns:a16="http://schemas.microsoft.com/office/drawing/2014/main" id="{E5D88930-4B6C-4F15-B503-054707734C0D}"/>
              </a:ext>
            </a:extLst>
          </p:cNvPr>
          <p:cNvSpPr/>
          <p:nvPr/>
        </p:nvSpPr>
        <p:spPr>
          <a:xfrm>
            <a:off x="6102727" y="3648672"/>
            <a:ext cx="557540" cy="508968"/>
          </a:xfrm>
          <a:prstGeom prst="chevron">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40" name="箭头: 五边形 39">
            <a:extLst>
              <a:ext uri="{FF2B5EF4-FFF2-40B4-BE49-F238E27FC236}">
                <a16:creationId xmlns:a16="http://schemas.microsoft.com/office/drawing/2014/main" id="{C4DB5728-3AA9-4994-A70C-C4548588BC2F}"/>
              </a:ext>
            </a:extLst>
          </p:cNvPr>
          <p:cNvSpPr/>
          <p:nvPr/>
        </p:nvSpPr>
        <p:spPr>
          <a:xfrm>
            <a:off x="8237126" y="3648672"/>
            <a:ext cx="1744063" cy="508968"/>
          </a:xfrm>
          <a:prstGeom prst="homePlat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1" name="箭头: V 形 40">
            <a:extLst>
              <a:ext uri="{FF2B5EF4-FFF2-40B4-BE49-F238E27FC236}">
                <a16:creationId xmlns:a16="http://schemas.microsoft.com/office/drawing/2014/main" id="{E5B42230-BDFA-4B0C-B8B2-BE123BF36750}"/>
              </a:ext>
            </a:extLst>
          </p:cNvPr>
          <p:cNvSpPr/>
          <p:nvPr/>
        </p:nvSpPr>
        <p:spPr>
          <a:xfrm>
            <a:off x="7978578" y="3648672"/>
            <a:ext cx="557540" cy="508968"/>
          </a:xfrm>
          <a:prstGeom prst="chevron">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43" name="箭头: 五边形 42">
            <a:extLst>
              <a:ext uri="{FF2B5EF4-FFF2-40B4-BE49-F238E27FC236}">
                <a16:creationId xmlns:a16="http://schemas.microsoft.com/office/drawing/2014/main" id="{B3CF8191-CBAD-41E9-89CF-9EF614203BCC}"/>
              </a:ext>
            </a:extLst>
          </p:cNvPr>
          <p:cNvSpPr/>
          <p:nvPr/>
        </p:nvSpPr>
        <p:spPr>
          <a:xfrm>
            <a:off x="10112976" y="3648672"/>
            <a:ext cx="1744063" cy="508968"/>
          </a:xfrm>
          <a:prstGeom prst="homePlat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4" name="箭头: V 形 43">
            <a:extLst>
              <a:ext uri="{FF2B5EF4-FFF2-40B4-BE49-F238E27FC236}">
                <a16:creationId xmlns:a16="http://schemas.microsoft.com/office/drawing/2014/main" id="{21773572-3874-4191-BC1D-2AECBBA05945}"/>
              </a:ext>
            </a:extLst>
          </p:cNvPr>
          <p:cNvSpPr/>
          <p:nvPr/>
        </p:nvSpPr>
        <p:spPr>
          <a:xfrm>
            <a:off x="9854428" y="3648672"/>
            <a:ext cx="557540" cy="508968"/>
          </a:xfrm>
          <a:prstGeom prst="chevron">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28" name="文本框 27">
            <a:extLst>
              <a:ext uri="{FF2B5EF4-FFF2-40B4-BE49-F238E27FC236}">
                <a16:creationId xmlns:a16="http://schemas.microsoft.com/office/drawing/2014/main" id="{C0D64F46-363F-4C4C-82FD-D488063E79F6}"/>
              </a:ext>
            </a:extLst>
          </p:cNvPr>
          <p:cNvSpPr txBox="1"/>
          <p:nvPr/>
        </p:nvSpPr>
        <p:spPr>
          <a:xfrm>
            <a:off x="2743760" y="3663382"/>
            <a:ext cx="1109487" cy="459228"/>
          </a:xfrm>
          <a:prstGeom prst="rect">
            <a:avLst/>
          </a:prstGeom>
          <a:noFill/>
        </p:spPr>
        <p:txBody>
          <a:bodyPr wrap="square" rtlCol="0">
            <a:spAutoFit/>
          </a:bodyPr>
          <a:lstStyle>
            <a:defPPr>
              <a:defRPr lang="zh-CN"/>
            </a:defPPr>
            <a:lvl1pPr marL="285750" indent="-285750">
              <a:lnSpc>
                <a:spcPct val="110000"/>
              </a:lnSpc>
              <a:buFont typeface="Wingdings" panose="05000000000000000000" pitchFamily="2" charset="2"/>
              <a:buChar char="u"/>
              <a:defRPr sz="1400">
                <a:latin typeface="思源黑体 CN Regular" panose="020B0500000000000000" pitchFamily="34" charset="-122"/>
                <a:ea typeface="思源黑体 CN Regular" panose="020B0500000000000000" pitchFamily="34" charset="-122"/>
              </a:defRPr>
            </a:lvl1pPr>
          </a:lstStyle>
          <a:p>
            <a:pPr marL="0" indent="0" algn="ctr">
              <a:lnSpc>
                <a:spcPct val="130000"/>
              </a:lnSpc>
              <a:buNone/>
            </a:pPr>
            <a:r>
              <a:rPr lang="en-US" altLang="zh-CN" sz="2000" dirty="0">
                <a:solidFill>
                  <a:schemeClr val="bg1"/>
                </a:solidFill>
                <a:latin typeface="思源黑体 CN Bold" panose="020B0800000000000000" pitchFamily="34" charset="-122"/>
                <a:ea typeface="思源黑体 CN Bold" panose="020B0800000000000000" pitchFamily="34" charset="-122"/>
              </a:rPr>
              <a:t>STEP 1</a:t>
            </a:r>
            <a:endParaRPr lang="zh-CN" altLang="en-US" sz="2000" dirty="0">
              <a:solidFill>
                <a:schemeClr val="bg1"/>
              </a:solidFill>
              <a:latin typeface="思源黑体 CN Bold" panose="020B0800000000000000" pitchFamily="34" charset="-122"/>
              <a:ea typeface="思源黑体 CN Bold" panose="020B0800000000000000" pitchFamily="34" charset="-122"/>
            </a:endParaRPr>
          </a:p>
        </p:txBody>
      </p:sp>
      <p:sp>
        <p:nvSpPr>
          <p:cNvPr id="68" name="文本框 67">
            <a:extLst>
              <a:ext uri="{FF2B5EF4-FFF2-40B4-BE49-F238E27FC236}">
                <a16:creationId xmlns:a16="http://schemas.microsoft.com/office/drawing/2014/main" id="{7EF220C1-0CA3-46FF-A552-C93E059ACBE6}"/>
              </a:ext>
            </a:extLst>
          </p:cNvPr>
          <p:cNvSpPr txBox="1"/>
          <p:nvPr/>
        </p:nvSpPr>
        <p:spPr>
          <a:xfrm>
            <a:off x="4691727" y="3663382"/>
            <a:ext cx="1109487" cy="459228"/>
          </a:xfrm>
          <a:prstGeom prst="rect">
            <a:avLst/>
          </a:prstGeom>
          <a:noFill/>
        </p:spPr>
        <p:txBody>
          <a:bodyPr wrap="square" rtlCol="0">
            <a:spAutoFit/>
          </a:bodyPr>
          <a:lstStyle>
            <a:defPPr>
              <a:defRPr lang="zh-CN"/>
            </a:defPPr>
            <a:lvl1pPr marL="285750" indent="-285750">
              <a:lnSpc>
                <a:spcPct val="110000"/>
              </a:lnSpc>
              <a:buFont typeface="Wingdings" panose="05000000000000000000" pitchFamily="2" charset="2"/>
              <a:buChar char="u"/>
              <a:defRPr sz="1400">
                <a:latin typeface="思源黑体 CN Regular" panose="020B0500000000000000" pitchFamily="34" charset="-122"/>
                <a:ea typeface="思源黑体 CN Regular" panose="020B0500000000000000" pitchFamily="34" charset="-122"/>
              </a:defRPr>
            </a:lvl1pPr>
          </a:lstStyle>
          <a:p>
            <a:pPr marL="0" indent="0" algn="ctr">
              <a:lnSpc>
                <a:spcPct val="130000"/>
              </a:lnSpc>
              <a:buNone/>
            </a:pPr>
            <a:r>
              <a:rPr lang="en-US" altLang="zh-CN" sz="2000" dirty="0">
                <a:solidFill>
                  <a:schemeClr val="bg1"/>
                </a:solidFill>
                <a:latin typeface="思源黑体 CN Bold" panose="020B0800000000000000" pitchFamily="34" charset="-122"/>
                <a:ea typeface="思源黑体 CN Bold" panose="020B0800000000000000" pitchFamily="34" charset="-122"/>
              </a:rPr>
              <a:t>STEP 2</a:t>
            </a:r>
            <a:endParaRPr lang="zh-CN" altLang="en-US" sz="2000" dirty="0">
              <a:solidFill>
                <a:schemeClr val="bg1"/>
              </a:solidFill>
              <a:latin typeface="思源黑体 CN Bold" panose="020B0800000000000000" pitchFamily="34" charset="-122"/>
              <a:ea typeface="思源黑体 CN Bold" panose="020B0800000000000000" pitchFamily="34" charset="-122"/>
            </a:endParaRPr>
          </a:p>
        </p:txBody>
      </p:sp>
      <p:sp>
        <p:nvSpPr>
          <p:cNvPr id="69" name="文本框 68">
            <a:extLst>
              <a:ext uri="{FF2B5EF4-FFF2-40B4-BE49-F238E27FC236}">
                <a16:creationId xmlns:a16="http://schemas.microsoft.com/office/drawing/2014/main" id="{6278D0F2-9FB5-4757-BA2D-EE9C271D519B}"/>
              </a:ext>
            </a:extLst>
          </p:cNvPr>
          <p:cNvSpPr txBox="1"/>
          <p:nvPr/>
        </p:nvSpPr>
        <p:spPr>
          <a:xfrm>
            <a:off x="6567577" y="3663382"/>
            <a:ext cx="1109487" cy="459228"/>
          </a:xfrm>
          <a:prstGeom prst="rect">
            <a:avLst/>
          </a:prstGeom>
          <a:noFill/>
        </p:spPr>
        <p:txBody>
          <a:bodyPr wrap="square" rtlCol="0">
            <a:spAutoFit/>
          </a:bodyPr>
          <a:lstStyle>
            <a:defPPr>
              <a:defRPr lang="zh-CN"/>
            </a:defPPr>
            <a:lvl1pPr marL="285750" indent="-285750">
              <a:lnSpc>
                <a:spcPct val="110000"/>
              </a:lnSpc>
              <a:buFont typeface="Wingdings" panose="05000000000000000000" pitchFamily="2" charset="2"/>
              <a:buChar char="u"/>
              <a:defRPr sz="1400">
                <a:latin typeface="思源黑体 CN Regular" panose="020B0500000000000000" pitchFamily="34" charset="-122"/>
                <a:ea typeface="思源黑体 CN Regular" panose="020B0500000000000000" pitchFamily="34" charset="-122"/>
              </a:defRPr>
            </a:lvl1pPr>
          </a:lstStyle>
          <a:p>
            <a:pPr marL="0" indent="0" algn="ctr">
              <a:lnSpc>
                <a:spcPct val="130000"/>
              </a:lnSpc>
              <a:buNone/>
            </a:pPr>
            <a:r>
              <a:rPr lang="en-US" altLang="zh-CN" sz="2000" dirty="0">
                <a:solidFill>
                  <a:schemeClr val="bg1"/>
                </a:solidFill>
                <a:latin typeface="思源黑体 CN Bold" panose="020B0800000000000000" pitchFamily="34" charset="-122"/>
                <a:ea typeface="思源黑体 CN Bold" panose="020B0800000000000000" pitchFamily="34" charset="-122"/>
              </a:rPr>
              <a:t>STEP 3</a:t>
            </a:r>
            <a:endParaRPr lang="zh-CN" altLang="en-US" sz="2000" dirty="0">
              <a:solidFill>
                <a:schemeClr val="bg1"/>
              </a:solidFill>
              <a:latin typeface="思源黑体 CN Bold" panose="020B0800000000000000" pitchFamily="34" charset="-122"/>
              <a:ea typeface="思源黑体 CN Bold" panose="020B0800000000000000" pitchFamily="34" charset="-122"/>
            </a:endParaRPr>
          </a:p>
        </p:txBody>
      </p:sp>
      <p:sp>
        <p:nvSpPr>
          <p:cNvPr id="70" name="文本框 69">
            <a:extLst>
              <a:ext uri="{FF2B5EF4-FFF2-40B4-BE49-F238E27FC236}">
                <a16:creationId xmlns:a16="http://schemas.microsoft.com/office/drawing/2014/main" id="{3E738463-FA51-4AA7-9383-1CF64DEEAEBF}"/>
              </a:ext>
            </a:extLst>
          </p:cNvPr>
          <p:cNvSpPr txBox="1"/>
          <p:nvPr/>
        </p:nvSpPr>
        <p:spPr>
          <a:xfrm>
            <a:off x="8443428" y="3663382"/>
            <a:ext cx="1109487" cy="459228"/>
          </a:xfrm>
          <a:prstGeom prst="rect">
            <a:avLst/>
          </a:prstGeom>
          <a:noFill/>
        </p:spPr>
        <p:txBody>
          <a:bodyPr wrap="square" rtlCol="0">
            <a:spAutoFit/>
          </a:bodyPr>
          <a:lstStyle>
            <a:defPPr>
              <a:defRPr lang="zh-CN"/>
            </a:defPPr>
            <a:lvl1pPr marL="285750" indent="-285750">
              <a:lnSpc>
                <a:spcPct val="110000"/>
              </a:lnSpc>
              <a:buFont typeface="Wingdings" panose="05000000000000000000" pitchFamily="2" charset="2"/>
              <a:buChar char="u"/>
              <a:defRPr sz="1400">
                <a:latin typeface="思源黑体 CN Regular" panose="020B0500000000000000" pitchFamily="34" charset="-122"/>
                <a:ea typeface="思源黑体 CN Regular" panose="020B0500000000000000" pitchFamily="34" charset="-122"/>
              </a:defRPr>
            </a:lvl1pPr>
          </a:lstStyle>
          <a:p>
            <a:pPr marL="0" indent="0" algn="ctr">
              <a:lnSpc>
                <a:spcPct val="130000"/>
              </a:lnSpc>
              <a:buNone/>
            </a:pPr>
            <a:r>
              <a:rPr lang="en-US" altLang="zh-CN" sz="2000" dirty="0">
                <a:solidFill>
                  <a:schemeClr val="bg1"/>
                </a:solidFill>
                <a:latin typeface="思源黑体 CN Bold" panose="020B0800000000000000" pitchFamily="34" charset="-122"/>
                <a:ea typeface="思源黑体 CN Bold" panose="020B0800000000000000" pitchFamily="34" charset="-122"/>
              </a:rPr>
              <a:t>STEP 4</a:t>
            </a:r>
            <a:endParaRPr lang="zh-CN" altLang="en-US" sz="2000" dirty="0">
              <a:solidFill>
                <a:schemeClr val="bg1"/>
              </a:solidFill>
              <a:latin typeface="思源黑体 CN Bold" panose="020B0800000000000000" pitchFamily="34" charset="-122"/>
              <a:ea typeface="思源黑体 CN Bold" panose="020B0800000000000000" pitchFamily="34" charset="-122"/>
            </a:endParaRPr>
          </a:p>
        </p:txBody>
      </p:sp>
      <p:sp>
        <p:nvSpPr>
          <p:cNvPr id="71" name="文本框 70">
            <a:extLst>
              <a:ext uri="{FF2B5EF4-FFF2-40B4-BE49-F238E27FC236}">
                <a16:creationId xmlns:a16="http://schemas.microsoft.com/office/drawing/2014/main" id="{82DF1676-EA68-4B67-AFBD-B017BD9DE4B9}"/>
              </a:ext>
            </a:extLst>
          </p:cNvPr>
          <p:cNvSpPr txBox="1"/>
          <p:nvPr/>
        </p:nvSpPr>
        <p:spPr>
          <a:xfrm>
            <a:off x="10319278" y="3663382"/>
            <a:ext cx="1109487" cy="459228"/>
          </a:xfrm>
          <a:prstGeom prst="rect">
            <a:avLst/>
          </a:prstGeom>
          <a:noFill/>
        </p:spPr>
        <p:txBody>
          <a:bodyPr wrap="square" rtlCol="0">
            <a:spAutoFit/>
          </a:bodyPr>
          <a:lstStyle>
            <a:defPPr>
              <a:defRPr lang="zh-CN"/>
            </a:defPPr>
            <a:lvl1pPr marL="285750" indent="-285750">
              <a:lnSpc>
                <a:spcPct val="110000"/>
              </a:lnSpc>
              <a:buFont typeface="Wingdings" panose="05000000000000000000" pitchFamily="2" charset="2"/>
              <a:buChar char="u"/>
              <a:defRPr sz="1400">
                <a:latin typeface="思源黑体 CN Regular" panose="020B0500000000000000" pitchFamily="34" charset="-122"/>
                <a:ea typeface="思源黑体 CN Regular" panose="020B0500000000000000" pitchFamily="34" charset="-122"/>
              </a:defRPr>
            </a:lvl1pPr>
          </a:lstStyle>
          <a:p>
            <a:pPr marL="0" indent="0" algn="ctr">
              <a:lnSpc>
                <a:spcPct val="130000"/>
              </a:lnSpc>
              <a:buNone/>
            </a:pPr>
            <a:r>
              <a:rPr lang="en-US" altLang="zh-CN" sz="2000" dirty="0">
                <a:solidFill>
                  <a:schemeClr val="bg1"/>
                </a:solidFill>
                <a:latin typeface="思源黑体 CN Bold" panose="020B0800000000000000" pitchFamily="34" charset="-122"/>
                <a:ea typeface="思源黑体 CN Bold" panose="020B0800000000000000" pitchFamily="34" charset="-122"/>
              </a:rPr>
              <a:t>STEP 5</a:t>
            </a:r>
            <a:endParaRPr lang="zh-CN" altLang="en-US" sz="2000" dirty="0">
              <a:solidFill>
                <a:schemeClr val="bg1"/>
              </a:solidFill>
              <a:latin typeface="思源黑体 CN Bold" panose="020B0800000000000000" pitchFamily="34" charset="-122"/>
              <a:ea typeface="思源黑体 CN Bold" panose="020B0800000000000000" pitchFamily="34" charset="-122"/>
            </a:endParaRPr>
          </a:p>
        </p:txBody>
      </p:sp>
      <p:sp>
        <p:nvSpPr>
          <p:cNvPr id="126" name="文本框 125">
            <a:extLst>
              <a:ext uri="{FF2B5EF4-FFF2-40B4-BE49-F238E27FC236}">
                <a16:creationId xmlns:a16="http://schemas.microsoft.com/office/drawing/2014/main" id="{847D05DC-12B3-4F4A-91A7-1FD7AEAD4202}"/>
              </a:ext>
            </a:extLst>
          </p:cNvPr>
          <p:cNvSpPr txBox="1"/>
          <p:nvPr/>
        </p:nvSpPr>
        <p:spPr>
          <a:xfrm>
            <a:off x="2209656" y="248670"/>
            <a:ext cx="1947969" cy="461665"/>
          </a:xfrm>
          <a:prstGeom prst="rect">
            <a:avLst/>
          </a:prstGeom>
          <a:noFill/>
        </p:spPr>
        <p:txBody>
          <a:bodyPr wrap="none" rtlCol="0">
            <a:spAutoFit/>
          </a:bodyPr>
          <a:lstStyle/>
          <a:p>
            <a:r>
              <a:rPr lang="en-US" altLang="zh-CN" sz="2400" dirty="0">
                <a:solidFill>
                  <a:schemeClr val="accent1"/>
                </a:solidFill>
                <a:latin typeface="思源黑体 CN Bold" panose="020B0800000000000000" pitchFamily="34" charset="-122"/>
                <a:ea typeface="思源黑体 CN Bold" panose="020B0800000000000000" pitchFamily="34" charset="-122"/>
              </a:rPr>
              <a:t>3.3 </a:t>
            </a:r>
            <a:r>
              <a:rPr lang="zh-CN" altLang="en-US" sz="2400" dirty="0">
                <a:solidFill>
                  <a:schemeClr val="accent1"/>
                </a:solidFill>
                <a:latin typeface="思源黑体 CN Bold" panose="020B0800000000000000" pitchFamily="34" charset="-122"/>
                <a:ea typeface="思源黑体 CN Bold" panose="020B0800000000000000" pitchFamily="34" charset="-122"/>
              </a:rPr>
              <a:t>研究思路</a:t>
            </a:r>
          </a:p>
        </p:txBody>
      </p:sp>
      <p:sp>
        <p:nvSpPr>
          <p:cNvPr id="127" name="矩形 126">
            <a:extLst>
              <a:ext uri="{FF2B5EF4-FFF2-40B4-BE49-F238E27FC236}">
                <a16:creationId xmlns:a16="http://schemas.microsoft.com/office/drawing/2014/main" id="{7FC725D7-296E-42E8-B9D7-61D8333DA880}"/>
              </a:ext>
            </a:extLst>
          </p:cNvPr>
          <p:cNvSpPr/>
          <p:nvPr/>
        </p:nvSpPr>
        <p:spPr>
          <a:xfrm>
            <a:off x="0" y="3389589"/>
            <a:ext cx="2052320" cy="56374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28" name="文本框 127">
            <a:extLst>
              <a:ext uri="{FF2B5EF4-FFF2-40B4-BE49-F238E27FC236}">
                <a16:creationId xmlns:a16="http://schemas.microsoft.com/office/drawing/2014/main" id="{0644A8E7-FDE3-4653-847A-9D4144295C0C}"/>
              </a:ext>
            </a:extLst>
          </p:cNvPr>
          <p:cNvSpPr txBox="1"/>
          <p:nvPr/>
        </p:nvSpPr>
        <p:spPr>
          <a:xfrm>
            <a:off x="373082" y="2098899"/>
            <a:ext cx="1660612" cy="338554"/>
          </a:xfrm>
          <a:prstGeom prst="rect">
            <a:avLst/>
          </a:prstGeom>
          <a:noFill/>
        </p:spPr>
        <p:txBody>
          <a:bodyPr wrap="square" rtlCol="0">
            <a:spAutoFit/>
          </a:bodyPr>
          <a:lstStyle/>
          <a:p>
            <a:r>
              <a:rPr lang="zh-CN" altLang="en-US" sz="1600" dirty="0">
                <a:solidFill>
                  <a:schemeClr val="bg1"/>
                </a:solidFill>
                <a:latin typeface="思源黑体 CN Regular" panose="020B0500000000000000" pitchFamily="34" charset="-122"/>
                <a:ea typeface="思源黑体 CN Regular" panose="020B0500000000000000" pitchFamily="34" charset="-122"/>
              </a:rPr>
              <a:t>研究背景及现状</a:t>
            </a:r>
          </a:p>
        </p:txBody>
      </p:sp>
      <p:sp>
        <p:nvSpPr>
          <p:cNvPr id="129" name="任意矩形：001">
            <a:extLst>
              <a:ext uri="{FF2B5EF4-FFF2-40B4-BE49-F238E27FC236}">
                <a16:creationId xmlns:a16="http://schemas.microsoft.com/office/drawing/2014/main" id="{8141DD6C-A9FA-40A0-A3AE-6E236FF7A4DC}"/>
              </a:ext>
            </a:extLst>
          </p:cNvPr>
          <p:cNvSpPr/>
          <p:nvPr/>
        </p:nvSpPr>
        <p:spPr>
          <a:xfrm>
            <a:off x="131492" y="2145245"/>
            <a:ext cx="226722" cy="202893"/>
          </a:xfrm>
          <a:custGeom>
            <a:avLst/>
            <a:gdLst>
              <a:gd name="connsiteX0" fmla="*/ 79591 w 607005"/>
              <a:gd name="connsiteY0" fmla="*/ 373864 h 543210"/>
              <a:gd name="connsiteX1" fmla="*/ 33701 w 607005"/>
              <a:gd name="connsiteY1" fmla="*/ 461494 h 543210"/>
              <a:gd name="connsiteX2" fmla="*/ 79501 w 607005"/>
              <a:gd name="connsiteY2" fmla="*/ 507233 h 543210"/>
              <a:gd name="connsiteX3" fmla="*/ 125392 w 607005"/>
              <a:gd name="connsiteY3" fmla="*/ 461494 h 543210"/>
              <a:gd name="connsiteX4" fmla="*/ 79591 w 607005"/>
              <a:gd name="connsiteY4" fmla="*/ 373864 h 543210"/>
              <a:gd name="connsiteX5" fmla="*/ 79501 w 607005"/>
              <a:gd name="connsiteY5" fmla="*/ 328661 h 543210"/>
              <a:gd name="connsiteX6" fmla="*/ 92856 w 607005"/>
              <a:gd name="connsiteY6" fmla="*/ 335106 h 543210"/>
              <a:gd name="connsiteX7" fmla="*/ 158913 w 607005"/>
              <a:gd name="connsiteY7" fmla="*/ 461404 h 543210"/>
              <a:gd name="connsiteX8" fmla="*/ 79501 w 607005"/>
              <a:gd name="connsiteY8" fmla="*/ 540710 h 543210"/>
              <a:gd name="connsiteX9" fmla="*/ 0 w 607005"/>
              <a:gd name="connsiteY9" fmla="*/ 461404 h 543210"/>
              <a:gd name="connsiteX10" fmla="*/ 66236 w 607005"/>
              <a:gd name="connsiteY10" fmla="*/ 335195 h 543210"/>
              <a:gd name="connsiteX11" fmla="*/ 79501 w 607005"/>
              <a:gd name="connsiteY11" fmla="*/ 328661 h 543210"/>
              <a:gd name="connsiteX12" fmla="*/ 196548 w 607005"/>
              <a:gd name="connsiteY12" fmla="*/ 281688 h 543210"/>
              <a:gd name="connsiteX13" fmla="*/ 391755 w 607005"/>
              <a:gd name="connsiteY13" fmla="*/ 476431 h 543210"/>
              <a:gd name="connsiteX14" fmla="*/ 540265 w 607005"/>
              <a:gd name="connsiteY14" fmla="*/ 476431 h 543210"/>
              <a:gd name="connsiteX15" fmla="*/ 540265 w 607005"/>
              <a:gd name="connsiteY15" fmla="*/ 328047 h 543210"/>
              <a:gd name="connsiteX16" fmla="*/ 493749 w 607005"/>
              <a:gd name="connsiteY16" fmla="*/ 281688 h 543210"/>
              <a:gd name="connsiteX17" fmla="*/ 261707 w 607005"/>
              <a:gd name="connsiteY17" fmla="*/ 49894 h 543210"/>
              <a:gd name="connsiteX18" fmla="*/ 113017 w 607005"/>
              <a:gd name="connsiteY18" fmla="*/ 198278 h 543210"/>
              <a:gd name="connsiteX19" fmla="*/ 163028 w 607005"/>
              <a:gd name="connsiteY19" fmla="*/ 248127 h 543210"/>
              <a:gd name="connsiteX20" fmla="*/ 460229 w 607005"/>
              <a:gd name="connsiteY20" fmla="*/ 248127 h 543210"/>
              <a:gd name="connsiteX21" fmla="*/ 271073 w 607005"/>
              <a:gd name="connsiteY21" fmla="*/ 0 h 543210"/>
              <a:gd name="connsiteX22" fmla="*/ 282948 w 607005"/>
              <a:gd name="connsiteY22" fmla="*/ 4967 h 543210"/>
              <a:gd name="connsiteX23" fmla="*/ 285099 w 607005"/>
              <a:gd name="connsiteY23" fmla="*/ 25909 h 543210"/>
              <a:gd name="connsiteX24" fmla="*/ 563927 w 607005"/>
              <a:gd name="connsiteY24" fmla="*/ 304331 h 543210"/>
              <a:gd name="connsiteX25" fmla="*/ 563927 w 607005"/>
              <a:gd name="connsiteY25" fmla="*/ 500148 h 543210"/>
              <a:gd name="connsiteX26" fmla="*/ 367824 w 607005"/>
              <a:gd name="connsiteY26" fmla="*/ 500148 h 543210"/>
              <a:gd name="connsiteX27" fmla="*/ 88997 w 607005"/>
              <a:gd name="connsiteY27" fmla="*/ 221726 h 543210"/>
              <a:gd name="connsiteX28" fmla="*/ 68024 w 607005"/>
              <a:gd name="connsiteY28" fmla="*/ 219578 h 543210"/>
              <a:gd name="connsiteX29" fmla="*/ 68024 w 607005"/>
              <a:gd name="connsiteY29" fmla="*/ 195862 h 543210"/>
              <a:gd name="connsiteX30" fmla="*/ 259197 w 607005"/>
              <a:gd name="connsiteY30" fmla="*/ 4967 h 543210"/>
              <a:gd name="connsiteX31" fmla="*/ 271073 w 607005"/>
              <a:gd name="connsiteY31" fmla="*/ 0 h 5432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607005" h="543210">
                <a:moveTo>
                  <a:pt x="79591" y="373864"/>
                </a:moveTo>
                <a:cubicBezTo>
                  <a:pt x="57452" y="405192"/>
                  <a:pt x="33701" y="445024"/>
                  <a:pt x="33701" y="461494"/>
                </a:cubicBezTo>
                <a:cubicBezTo>
                  <a:pt x="33701" y="486646"/>
                  <a:pt x="54226" y="507233"/>
                  <a:pt x="79501" y="507233"/>
                </a:cubicBezTo>
                <a:cubicBezTo>
                  <a:pt x="104687" y="507233"/>
                  <a:pt x="125212" y="486646"/>
                  <a:pt x="125392" y="461494"/>
                </a:cubicBezTo>
                <a:cubicBezTo>
                  <a:pt x="125392" y="445024"/>
                  <a:pt x="101729" y="405282"/>
                  <a:pt x="79591" y="373864"/>
                </a:cubicBezTo>
                <a:close/>
                <a:moveTo>
                  <a:pt x="79501" y="328661"/>
                </a:moveTo>
                <a:cubicBezTo>
                  <a:pt x="84610" y="328661"/>
                  <a:pt x="89540" y="331078"/>
                  <a:pt x="92856" y="335106"/>
                </a:cubicBezTo>
                <a:cubicBezTo>
                  <a:pt x="103881" y="349517"/>
                  <a:pt x="158913" y="423094"/>
                  <a:pt x="158913" y="461404"/>
                </a:cubicBezTo>
                <a:cubicBezTo>
                  <a:pt x="158913" y="505175"/>
                  <a:pt x="123240" y="540710"/>
                  <a:pt x="79501" y="540710"/>
                </a:cubicBezTo>
                <a:cubicBezTo>
                  <a:pt x="35583" y="540710"/>
                  <a:pt x="0" y="505085"/>
                  <a:pt x="0" y="461404"/>
                </a:cubicBezTo>
                <a:cubicBezTo>
                  <a:pt x="0" y="423094"/>
                  <a:pt x="55122" y="349517"/>
                  <a:pt x="66236" y="335195"/>
                </a:cubicBezTo>
                <a:cubicBezTo>
                  <a:pt x="69284" y="331078"/>
                  <a:pt x="74213" y="328661"/>
                  <a:pt x="79501" y="328661"/>
                </a:cubicBezTo>
                <a:close/>
                <a:moveTo>
                  <a:pt x="196548" y="281688"/>
                </a:moveTo>
                <a:lnTo>
                  <a:pt x="391755" y="476431"/>
                </a:lnTo>
                <a:cubicBezTo>
                  <a:pt x="420525" y="505249"/>
                  <a:pt x="488999" y="527623"/>
                  <a:pt x="540265" y="476431"/>
                </a:cubicBezTo>
                <a:cubicBezTo>
                  <a:pt x="592249" y="424524"/>
                  <a:pt x="570290" y="358028"/>
                  <a:pt x="540265" y="328047"/>
                </a:cubicBezTo>
                <a:lnTo>
                  <a:pt x="493749" y="281688"/>
                </a:lnTo>
                <a:close/>
                <a:moveTo>
                  <a:pt x="261707" y="49894"/>
                </a:moveTo>
                <a:lnTo>
                  <a:pt x="113017" y="198278"/>
                </a:lnTo>
                <a:lnTo>
                  <a:pt x="163028" y="248127"/>
                </a:lnTo>
                <a:lnTo>
                  <a:pt x="460229" y="248127"/>
                </a:lnTo>
                <a:close/>
                <a:moveTo>
                  <a:pt x="271073" y="0"/>
                </a:moveTo>
                <a:cubicBezTo>
                  <a:pt x="275375" y="0"/>
                  <a:pt x="279677" y="1655"/>
                  <a:pt x="282948" y="4967"/>
                </a:cubicBezTo>
                <a:cubicBezTo>
                  <a:pt x="288595" y="10694"/>
                  <a:pt x="289312" y="19465"/>
                  <a:pt x="285099" y="25909"/>
                </a:cubicBezTo>
                <a:lnTo>
                  <a:pt x="563927" y="304331"/>
                </a:lnTo>
                <a:cubicBezTo>
                  <a:pt x="604528" y="344872"/>
                  <a:pt x="636076" y="428104"/>
                  <a:pt x="563927" y="500148"/>
                </a:cubicBezTo>
                <a:cubicBezTo>
                  <a:pt x="492495" y="571476"/>
                  <a:pt x="409501" y="541763"/>
                  <a:pt x="367824" y="500148"/>
                </a:cubicBezTo>
                <a:lnTo>
                  <a:pt x="88997" y="221726"/>
                </a:lnTo>
                <a:cubicBezTo>
                  <a:pt x="81468" y="226380"/>
                  <a:pt x="73850" y="225485"/>
                  <a:pt x="68024" y="219578"/>
                </a:cubicBezTo>
                <a:cubicBezTo>
                  <a:pt x="61392" y="213045"/>
                  <a:pt x="61392" y="202395"/>
                  <a:pt x="68024" y="195862"/>
                </a:cubicBezTo>
                <a:lnTo>
                  <a:pt x="259197" y="4967"/>
                </a:lnTo>
                <a:cubicBezTo>
                  <a:pt x="262469" y="1655"/>
                  <a:pt x="266771" y="0"/>
                  <a:pt x="271073"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0" name="任意矩形：002">
            <a:extLst>
              <a:ext uri="{FF2B5EF4-FFF2-40B4-BE49-F238E27FC236}">
                <a16:creationId xmlns:a16="http://schemas.microsoft.com/office/drawing/2014/main" id="{D677889F-B7A5-4DDA-B604-61F8587BED2D}"/>
              </a:ext>
            </a:extLst>
          </p:cNvPr>
          <p:cNvSpPr/>
          <p:nvPr/>
        </p:nvSpPr>
        <p:spPr>
          <a:xfrm>
            <a:off x="143798" y="2860995"/>
            <a:ext cx="202111" cy="201828"/>
          </a:xfrm>
          <a:custGeom>
            <a:avLst/>
            <a:gdLst>
              <a:gd name="connsiteX0" fmla="*/ 303643 w 607215"/>
              <a:gd name="connsiteY0" fmla="*/ 280873 h 606369"/>
              <a:gd name="connsiteX1" fmla="*/ 325219 w 607215"/>
              <a:gd name="connsiteY1" fmla="*/ 302335 h 606369"/>
              <a:gd name="connsiteX2" fmla="*/ 303643 w 607215"/>
              <a:gd name="connsiteY2" fmla="*/ 323873 h 606369"/>
              <a:gd name="connsiteX3" fmla="*/ 282068 w 607215"/>
              <a:gd name="connsiteY3" fmla="*/ 302335 h 606369"/>
              <a:gd name="connsiteX4" fmla="*/ 303643 w 607215"/>
              <a:gd name="connsiteY4" fmla="*/ 280873 h 606369"/>
              <a:gd name="connsiteX5" fmla="*/ 303678 w 607215"/>
              <a:gd name="connsiteY5" fmla="*/ 280357 h 606369"/>
              <a:gd name="connsiteX6" fmla="*/ 281626 w 607215"/>
              <a:gd name="connsiteY6" fmla="*/ 302374 h 606369"/>
              <a:gd name="connsiteX7" fmla="*/ 303678 w 607215"/>
              <a:gd name="connsiteY7" fmla="*/ 324391 h 606369"/>
              <a:gd name="connsiteX8" fmla="*/ 325730 w 607215"/>
              <a:gd name="connsiteY8" fmla="*/ 302374 h 606369"/>
              <a:gd name="connsiteX9" fmla="*/ 303678 w 607215"/>
              <a:gd name="connsiteY9" fmla="*/ 280357 h 606369"/>
              <a:gd name="connsiteX10" fmla="*/ 303643 w 607215"/>
              <a:gd name="connsiteY10" fmla="*/ 279792 h 606369"/>
              <a:gd name="connsiteX11" fmla="*/ 326224 w 607215"/>
              <a:gd name="connsiteY11" fmla="*/ 302335 h 606369"/>
              <a:gd name="connsiteX12" fmla="*/ 303643 w 607215"/>
              <a:gd name="connsiteY12" fmla="*/ 324954 h 606369"/>
              <a:gd name="connsiteX13" fmla="*/ 281062 w 607215"/>
              <a:gd name="connsiteY13" fmla="*/ 302335 h 606369"/>
              <a:gd name="connsiteX14" fmla="*/ 303643 w 607215"/>
              <a:gd name="connsiteY14" fmla="*/ 279792 h 606369"/>
              <a:gd name="connsiteX15" fmla="*/ 281043 w 607215"/>
              <a:gd name="connsiteY15" fmla="*/ 46068 h 606369"/>
              <a:gd name="connsiteX16" fmla="*/ 120855 w 607215"/>
              <a:gd name="connsiteY16" fmla="*/ 120687 h 606369"/>
              <a:gd name="connsiteX17" fmla="*/ 46132 w 607215"/>
              <a:gd name="connsiteY17" fmla="*/ 280652 h 606369"/>
              <a:gd name="connsiteX18" fmla="*/ 147128 w 607215"/>
              <a:gd name="connsiteY18" fmla="*/ 280652 h 606369"/>
              <a:gd name="connsiteX19" fmla="*/ 169770 w 607215"/>
              <a:gd name="connsiteY19" fmla="*/ 303185 h 606369"/>
              <a:gd name="connsiteX20" fmla="*/ 147128 w 607215"/>
              <a:gd name="connsiteY20" fmla="*/ 325717 h 606369"/>
              <a:gd name="connsiteX21" fmla="*/ 46132 w 607215"/>
              <a:gd name="connsiteY21" fmla="*/ 325717 h 606369"/>
              <a:gd name="connsiteX22" fmla="*/ 120855 w 607215"/>
              <a:gd name="connsiteY22" fmla="*/ 485682 h 606369"/>
              <a:gd name="connsiteX23" fmla="*/ 281043 w 607215"/>
              <a:gd name="connsiteY23" fmla="*/ 560301 h 606369"/>
              <a:gd name="connsiteX24" fmla="*/ 281043 w 607215"/>
              <a:gd name="connsiteY24" fmla="*/ 459446 h 606369"/>
              <a:gd name="connsiteX25" fmla="*/ 303608 w 607215"/>
              <a:gd name="connsiteY25" fmla="*/ 436913 h 606369"/>
              <a:gd name="connsiteX26" fmla="*/ 326172 w 607215"/>
              <a:gd name="connsiteY26" fmla="*/ 459446 h 606369"/>
              <a:gd name="connsiteX27" fmla="*/ 326172 w 607215"/>
              <a:gd name="connsiteY27" fmla="*/ 560301 h 606369"/>
              <a:gd name="connsiteX28" fmla="*/ 486360 w 607215"/>
              <a:gd name="connsiteY28" fmla="*/ 485682 h 606369"/>
              <a:gd name="connsiteX29" fmla="*/ 561083 w 607215"/>
              <a:gd name="connsiteY29" fmla="*/ 325717 h 606369"/>
              <a:gd name="connsiteX30" fmla="*/ 460087 w 607215"/>
              <a:gd name="connsiteY30" fmla="*/ 325717 h 606369"/>
              <a:gd name="connsiteX31" fmla="*/ 437523 w 607215"/>
              <a:gd name="connsiteY31" fmla="*/ 303185 h 606369"/>
              <a:gd name="connsiteX32" fmla="*/ 460087 w 607215"/>
              <a:gd name="connsiteY32" fmla="*/ 280652 h 606369"/>
              <a:gd name="connsiteX33" fmla="*/ 561083 w 607215"/>
              <a:gd name="connsiteY33" fmla="*/ 280652 h 606369"/>
              <a:gd name="connsiteX34" fmla="*/ 486360 w 607215"/>
              <a:gd name="connsiteY34" fmla="*/ 120687 h 606369"/>
              <a:gd name="connsiteX35" fmla="*/ 326172 w 607215"/>
              <a:gd name="connsiteY35" fmla="*/ 46068 h 606369"/>
              <a:gd name="connsiteX36" fmla="*/ 326172 w 607215"/>
              <a:gd name="connsiteY36" fmla="*/ 146923 h 606369"/>
              <a:gd name="connsiteX37" fmla="*/ 303608 w 607215"/>
              <a:gd name="connsiteY37" fmla="*/ 169533 h 606369"/>
              <a:gd name="connsiteX38" fmla="*/ 281043 w 607215"/>
              <a:gd name="connsiteY38" fmla="*/ 146923 h 606369"/>
              <a:gd name="connsiteX39" fmla="*/ 281617 w 607215"/>
              <a:gd name="connsiteY39" fmla="*/ 45548 h 606369"/>
              <a:gd name="connsiteX40" fmla="*/ 281617 w 607215"/>
              <a:gd name="connsiteY40" fmla="*/ 146935 h 606369"/>
              <a:gd name="connsiteX41" fmla="*/ 303640 w 607215"/>
              <a:gd name="connsiteY41" fmla="*/ 169002 h 606369"/>
              <a:gd name="connsiteX42" fmla="*/ 325741 w 607215"/>
              <a:gd name="connsiteY42" fmla="*/ 146935 h 606369"/>
              <a:gd name="connsiteX43" fmla="*/ 325741 w 607215"/>
              <a:gd name="connsiteY43" fmla="*/ 45548 h 606369"/>
              <a:gd name="connsiteX44" fmla="*/ 561663 w 607215"/>
              <a:gd name="connsiteY44" fmla="*/ 281192 h 606369"/>
              <a:gd name="connsiteX45" fmla="*/ 460123 w 607215"/>
              <a:gd name="connsiteY45" fmla="*/ 281192 h 606369"/>
              <a:gd name="connsiteX46" fmla="*/ 438022 w 607215"/>
              <a:gd name="connsiteY46" fmla="*/ 303182 h 606369"/>
              <a:gd name="connsiteX47" fmla="*/ 460123 w 607215"/>
              <a:gd name="connsiteY47" fmla="*/ 325250 h 606369"/>
              <a:gd name="connsiteX48" fmla="*/ 561663 w 607215"/>
              <a:gd name="connsiteY48" fmla="*/ 325250 h 606369"/>
              <a:gd name="connsiteX49" fmla="*/ 325741 w 607215"/>
              <a:gd name="connsiteY49" fmla="*/ 560815 h 606369"/>
              <a:gd name="connsiteX50" fmla="*/ 325741 w 607215"/>
              <a:gd name="connsiteY50" fmla="*/ 459429 h 606369"/>
              <a:gd name="connsiteX51" fmla="*/ 303640 w 607215"/>
              <a:gd name="connsiteY51" fmla="*/ 437361 h 606369"/>
              <a:gd name="connsiteX52" fmla="*/ 281617 w 607215"/>
              <a:gd name="connsiteY52" fmla="*/ 459429 h 606369"/>
              <a:gd name="connsiteX53" fmla="*/ 281617 w 607215"/>
              <a:gd name="connsiteY53" fmla="*/ 560815 h 606369"/>
              <a:gd name="connsiteX54" fmla="*/ 45616 w 607215"/>
              <a:gd name="connsiteY54" fmla="*/ 325250 h 606369"/>
              <a:gd name="connsiteX55" fmla="*/ 147157 w 607215"/>
              <a:gd name="connsiteY55" fmla="*/ 325250 h 606369"/>
              <a:gd name="connsiteX56" fmla="*/ 169257 w 607215"/>
              <a:gd name="connsiteY56" fmla="*/ 303182 h 606369"/>
              <a:gd name="connsiteX57" fmla="*/ 147157 w 607215"/>
              <a:gd name="connsiteY57" fmla="*/ 281192 h 606369"/>
              <a:gd name="connsiteX58" fmla="*/ 45616 w 607215"/>
              <a:gd name="connsiteY58" fmla="*/ 281192 h 606369"/>
              <a:gd name="connsiteX59" fmla="*/ 281617 w 607215"/>
              <a:gd name="connsiteY59" fmla="*/ 45548 h 606369"/>
              <a:gd name="connsiteX60" fmla="*/ 281508 w 607215"/>
              <a:gd name="connsiteY60" fmla="*/ 44987 h 606369"/>
              <a:gd name="connsiteX61" fmla="*/ 120160 w 607215"/>
              <a:gd name="connsiteY61" fmla="*/ 119993 h 606369"/>
              <a:gd name="connsiteX62" fmla="*/ 45050 w 607215"/>
              <a:gd name="connsiteY62" fmla="*/ 281115 h 606369"/>
              <a:gd name="connsiteX63" fmla="*/ 45050 w 607215"/>
              <a:gd name="connsiteY63" fmla="*/ 281655 h 606369"/>
              <a:gd name="connsiteX64" fmla="*/ 147128 w 607215"/>
              <a:gd name="connsiteY64" fmla="*/ 281655 h 606369"/>
              <a:gd name="connsiteX65" fmla="*/ 168688 w 607215"/>
              <a:gd name="connsiteY65" fmla="*/ 303185 h 606369"/>
              <a:gd name="connsiteX66" fmla="*/ 147128 w 607215"/>
              <a:gd name="connsiteY66" fmla="*/ 324714 h 606369"/>
              <a:gd name="connsiteX67" fmla="*/ 45050 w 607215"/>
              <a:gd name="connsiteY67" fmla="*/ 324714 h 606369"/>
              <a:gd name="connsiteX68" fmla="*/ 45050 w 607215"/>
              <a:gd name="connsiteY68" fmla="*/ 325254 h 606369"/>
              <a:gd name="connsiteX69" fmla="*/ 120160 w 607215"/>
              <a:gd name="connsiteY69" fmla="*/ 486454 h 606369"/>
              <a:gd name="connsiteX70" fmla="*/ 281508 w 607215"/>
              <a:gd name="connsiteY70" fmla="*/ 561382 h 606369"/>
              <a:gd name="connsiteX71" fmla="*/ 282048 w 607215"/>
              <a:gd name="connsiteY71" fmla="*/ 561459 h 606369"/>
              <a:gd name="connsiteX72" fmla="*/ 282048 w 607215"/>
              <a:gd name="connsiteY72" fmla="*/ 459446 h 606369"/>
              <a:gd name="connsiteX73" fmla="*/ 303608 w 607215"/>
              <a:gd name="connsiteY73" fmla="*/ 437916 h 606369"/>
              <a:gd name="connsiteX74" fmla="*/ 325167 w 607215"/>
              <a:gd name="connsiteY74" fmla="*/ 459446 h 606369"/>
              <a:gd name="connsiteX75" fmla="*/ 325167 w 607215"/>
              <a:gd name="connsiteY75" fmla="*/ 561459 h 606369"/>
              <a:gd name="connsiteX76" fmla="*/ 325708 w 607215"/>
              <a:gd name="connsiteY76" fmla="*/ 561382 h 606369"/>
              <a:gd name="connsiteX77" fmla="*/ 487132 w 607215"/>
              <a:gd name="connsiteY77" fmla="*/ 486454 h 606369"/>
              <a:gd name="connsiteX78" fmla="*/ 562165 w 607215"/>
              <a:gd name="connsiteY78" fmla="*/ 325254 h 606369"/>
              <a:gd name="connsiteX79" fmla="*/ 562242 w 607215"/>
              <a:gd name="connsiteY79" fmla="*/ 324714 h 606369"/>
              <a:gd name="connsiteX80" fmla="*/ 460087 w 607215"/>
              <a:gd name="connsiteY80" fmla="*/ 324714 h 606369"/>
              <a:gd name="connsiteX81" fmla="*/ 438527 w 607215"/>
              <a:gd name="connsiteY81" fmla="*/ 303185 h 606369"/>
              <a:gd name="connsiteX82" fmla="*/ 460087 w 607215"/>
              <a:gd name="connsiteY82" fmla="*/ 281655 h 606369"/>
              <a:gd name="connsiteX83" fmla="*/ 562242 w 607215"/>
              <a:gd name="connsiteY83" fmla="*/ 281655 h 606369"/>
              <a:gd name="connsiteX84" fmla="*/ 562165 w 607215"/>
              <a:gd name="connsiteY84" fmla="*/ 281115 h 606369"/>
              <a:gd name="connsiteX85" fmla="*/ 487132 w 607215"/>
              <a:gd name="connsiteY85" fmla="*/ 119993 h 606369"/>
              <a:gd name="connsiteX86" fmla="*/ 325708 w 607215"/>
              <a:gd name="connsiteY86" fmla="*/ 44987 h 606369"/>
              <a:gd name="connsiteX87" fmla="*/ 325167 w 607215"/>
              <a:gd name="connsiteY87" fmla="*/ 44987 h 606369"/>
              <a:gd name="connsiteX88" fmla="*/ 325167 w 607215"/>
              <a:gd name="connsiteY88" fmla="*/ 146923 h 606369"/>
              <a:gd name="connsiteX89" fmla="*/ 303608 w 607215"/>
              <a:gd name="connsiteY89" fmla="*/ 168453 h 606369"/>
              <a:gd name="connsiteX90" fmla="*/ 282048 w 607215"/>
              <a:gd name="connsiteY90" fmla="*/ 146923 h 606369"/>
              <a:gd name="connsiteX91" fmla="*/ 282048 w 607215"/>
              <a:gd name="connsiteY91" fmla="*/ 44987 h 606369"/>
              <a:gd name="connsiteX92" fmla="*/ 303608 w 607215"/>
              <a:gd name="connsiteY92" fmla="*/ 1003 h 606369"/>
              <a:gd name="connsiteX93" fmla="*/ 421450 w 607215"/>
              <a:gd name="connsiteY93" fmla="*/ 24770 h 606369"/>
              <a:gd name="connsiteX94" fmla="*/ 517578 w 607215"/>
              <a:gd name="connsiteY94" fmla="*/ 89512 h 606369"/>
              <a:gd name="connsiteX95" fmla="*/ 582410 w 607215"/>
              <a:gd name="connsiteY95" fmla="*/ 185584 h 606369"/>
              <a:gd name="connsiteX96" fmla="*/ 606211 w 607215"/>
              <a:gd name="connsiteY96" fmla="*/ 303185 h 606369"/>
              <a:gd name="connsiteX97" fmla="*/ 582410 w 607215"/>
              <a:gd name="connsiteY97" fmla="*/ 420863 h 606369"/>
              <a:gd name="connsiteX98" fmla="*/ 517578 w 607215"/>
              <a:gd name="connsiteY98" fmla="*/ 516857 h 606369"/>
              <a:gd name="connsiteX99" fmla="*/ 421450 w 607215"/>
              <a:gd name="connsiteY99" fmla="*/ 581599 h 606369"/>
              <a:gd name="connsiteX100" fmla="*/ 303608 w 607215"/>
              <a:gd name="connsiteY100" fmla="*/ 605366 h 606369"/>
              <a:gd name="connsiteX101" fmla="*/ 185842 w 607215"/>
              <a:gd name="connsiteY101" fmla="*/ 581599 h 606369"/>
              <a:gd name="connsiteX102" fmla="*/ 89637 w 607215"/>
              <a:gd name="connsiteY102" fmla="*/ 516857 h 606369"/>
              <a:gd name="connsiteX103" fmla="*/ 24805 w 607215"/>
              <a:gd name="connsiteY103" fmla="*/ 420863 h 606369"/>
              <a:gd name="connsiteX104" fmla="*/ 1004 w 607215"/>
              <a:gd name="connsiteY104" fmla="*/ 303185 h 606369"/>
              <a:gd name="connsiteX105" fmla="*/ 24805 w 607215"/>
              <a:gd name="connsiteY105" fmla="*/ 185584 h 606369"/>
              <a:gd name="connsiteX106" fmla="*/ 89637 w 607215"/>
              <a:gd name="connsiteY106" fmla="*/ 89512 h 606369"/>
              <a:gd name="connsiteX107" fmla="*/ 185842 w 607215"/>
              <a:gd name="connsiteY107" fmla="*/ 24770 h 606369"/>
              <a:gd name="connsiteX108" fmla="*/ 303608 w 607215"/>
              <a:gd name="connsiteY108" fmla="*/ 1003 h 606369"/>
              <a:gd name="connsiteX109" fmla="*/ 303640 w 607215"/>
              <a:gd name="connsiteY109" fmla="*/ 565 h 606369"/>
              <a:gd name="connsiteX110" fmla="*/ 185640 w 607215"/>
              <a:gd name="connsiteY110" fmla="*/ 24330 h 606369"/>
              <a:gd name="connsiteX111" fmla="*/ 89354 w 607215"/>
              <a:gd name="connsiteY111" fmla="*/ 89220 h 606369"/>
              <a:gd name="connsiteX112" fmla="*/ 24366 w 607215"/>
              <a:gd name="connsiteY112" fmla="*/ 185360 h 606369"/>
              <a:gd name="connsiteX113" fmla="*/ 565 w 607215"/>
              <a:gd name="connsiteY113" fmla="*/ 303182 h 606369"/>
              <a:gd name="connsiteX114" fmla="*/ 24366 w 607215"/>
              <a:gd name="connsiteY114" fmla="*/ 421004 h 606369"/>
              <a:gd name="connsiteX115" fmla="*/ 89354 w 607215"/>
              <a:gd name="connsiteY115" fmla="*/ 517221 h 606369"/>
              <a:gd name="connsiteX116" fmla="*/ 185640 w 607215"/>
              <a:gd name="connsiteY116" fmla="*/ 582034 h 606369"/>
              <a:gd name="connsiteX117" fmla="*/ 303640 w 607215"/>
              <a:gd name="connsiteY117" fmla="*/ 605876 h 606369"/>
              <a:gd name="connsiteX118" fmla="*/ 421640 w 607215"/>
              <a:gd name="connsiteY118" fmla="*/ 582034 h 606369"/>
              <a:gd name="connsiteX119" fmla="*/ 518003 w 607215"/>
              <a:gd name="connsiteY119" fmla="*/ 517221 h 606369"/>
              <a:gd name="connsiteX120" fmla="*/ 582914 w 607215"/>
              <a:gd name="connsiteY120" fmla="*/ 421004 h 606369"/>
              <a:gd name="connsiteX121" fmla="*/ 606792 w 607215"/>
              <a:gd name="connsiteY121" fmla="*/ 303182 h 606369"/>
              <a:gd name="connsiteX122" fmla="*/ 582914 w 607215"/>
              <a:gd name="connsiteY122" fmla="*/ 185360 h 606369"/>
              <a:gd name="connsiteX123" fmla="*/ 518003 w 607215"/>
              <a:gd name="connsiteY123" fmla="*/ 89220 h 606369"/>
              <a:gd name="connsiteX124" fmla="*/ 421640 w 607215"/>
              <a:gd name="connsiteY124" fmla="*/ 24330 h 606369"/>
              <a:gd name="connsiteX125" fmla="*/ 303640 w 607215"/>
              <a:gd name="connsiteY125" fmla="*/ 565 h 606369"/>
              <a:gd name="connsiteX126" fmla="*/ 303608 w 607215"/>
              <a:gd name="connsiteY126" fmla="*/ 0 h 606369"/>
              <a:gd name="connsiteX127" fmla="*/ 421836 w 607215"/>
              <a:gd name="connsiteY127" fmla="*/ 23844 h 606369"/>
              <a:gd name="connsiteX128" fmla="*/ 518351 w 607215"/>
              <a:gd name="connsiteY128" fmla="*/ 88818 h 606369"/>
              <a:gd name="connsiteX129" fmla="*/ 583338 w 607215"/>
              <a:gd name="connsiteY129" fmla="*/ 185198 h 606369"/>
              <a:gd name="connsiteX130" fmla="*/ 607215 w 607215"/>
              <a:gd name="connsiteY130" fmla="*/ 303185 h 606369"/>
              <a:gd name="connsiteX131" fmla="*/ 583338 w 607215"/>
              <a:gd name="connsiteY131" fmla="*/ 421248 h 606369"/>
              <a:gd name="connsiteX132" fmla="*/ 518351 w 607215"/>
              <a:gd name="connsiteY132" fmla="*/ 517629 h 606369"/>
              <a:gd name="connsiteX133" fmla="*/ 421836 w 607215"/>
              <a:gd name="connsiteY133" fmla="*/ 582525 h 606369"/>
              <a:gd name="connsiteX134" fmla="*/ 303608 w 607215"/>
              <a:gd name="connsiteY134" fmla="*/ 606369 h 606369"/>
              <a:gd name="connsiteX135" fmla="*/ 185456 w 607215"/>
              <a:gd name="connsiteY135" fmla="*/ 582525 h 606369"/>
              <a:gd name="connsiteX136" fmla="*/ 88942 w 607215"/>
              <a:gd name="connsiteY136" fmla="*/ 517629 h 606369"/>
              <a:gd name="connsiteX137" fmla="*/ 23877 w 607215"/>
              <a:gd name="connsiteY137" fmla="*/ 421248 h 606369"/>
              <a:gd name="connsiteX138" fmla="*/ 0 w 607215"/>
              <a:gd name="connsiteY138" fmla="*/ 303185 h 606369"/>
              <a:gd name="connsiteX139" fmla="*/ 23877 w 607215"/>
              <a:gd name="connsiteY139" fmla="*/ 185198 h 606369"/>
              <a:gd name="connsiteX140" fmla="*/ 88942 w 607215"/>
              <a:gd name="connsiteY140" fmla="*/ 88818 h 606369"/>
              <a:gd name="connsiteX141" fmla="*/ 185456 w 607215"/>
              <a:gd name="connsiteY141" fmla="*/ 23844 h 606369"/>
              <a:gd name="connsiteX142" fmla="*/ 303608 w 607215"/>
              <a:gd name="connsiteY142" fmla="*/ 0 h 6063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Lst>
            <a:rect l="l" t="t" r="r" b="b"/>
            <a:pathLst>
              <a:path w="607215" h="606369">
                <a:moveTo>
                  <a:pt x="303643" y="280873"/>
                </a:moveTo>
                <a:cubicBezTo>
                  <a:pt x="315552" y="280873"/>
                  <a:pt x="325219" y="290523"/>
                  <a:pt x="325219" y="302335"/>
                </a:cubicBezTo>
                <a:cubicBezTo>
                  <a:pt x="325219" y="314223"/>
                  <a:pt x="315552" y="323873"/>
                  <a:pt x="303643" y="323873"/>
                </a:cubicBezTo>
                <a:cubicBezTo>
                  <a:pt x="291734" y="323873"/>
                  <a:pt x="282068" y="314223"/>
                  <a:pt x="282068" y="302335"/>
                </a:cubicBezTo>
                <a:cubicBezTo>
                  <a:pt x="282068" y="290523"/>
                  <a:pt x="291734" y="280873"/>
                  <a:pt x="303643" y="280873"/>
                </a:cubicBezTo>
                <a:close/>
                <a:moveTo>
                  <a:pt x="303678" y="280357"/>
                </a:moveTo>
                <a:cubicBezTo>
                  <a:pt x="291499" y="280357"/>
                  <a:pt x="281626" y="290214"/>
                  <a:pt x="281626" y="302374"/>
                </a:cubicBezTo>
                <a:cubicBezTo>
                  <a:pt x="281626" y="314534"/>
                  <a:pt x="291499" y="324391"/>
                  <a:pt x="303678" y="324391"/>
                </a:cubicBezTo>
                <a:cubicBezTo>
                  <a:pt x="315857" y="324391"/>
                  <a:pt x="325730" y="314534"/>
                  <a:pt x="325730" y="302374"/>
                </a:cubicBezTo>
                <a:cubicBezTo>
                  <a:pt x="325730" y="290214"/>
                  <a:pt x="315857" y="280357"/>
                  <a:pt x="303678" y="280357"/>
                </a:cubicBezTo>
                <a:close/>
                <a:moveTo>
                  <a:pt x="303643" y="279792"/>
                </a:moveTo>
                <a:cubicBezTo>
                  <a:pt x="316094" y="279792"/>
                  <a:pt x="326224" y="289905"/>
                  <a:pt x="326224" y="302335"/>
                </a:cubicBezTo>
                <a:cubicBezTo>
                  <a:pt x="326224" y="314841"/>
                  <a:pt x="316094" y="324954"/>
                  <a:pt x="303643" y="324954"/>
                </a:cubicBezTo>
                <a:cubicBezTo>
                  <a:pt x="291193" y="324954"/>
                  <a:pt x="281062" y="314841"/>
                  <a:pt x="281062" y="302335"/>
                </a:cubicBezTo>
                <a:cubicBezTo>
                  <a:pt x="281062" y="289905"/>
                  <a:pt x="291193" y="279792"/>
                  <a:pt x="303643" y="279792"/>
                </a:cubicBezTo>
                <a:close/>
                <a:moveTo>
                  <a:pt x="281043" y="46068"/>
                </a:moveTo>
                <a:cubicBezTo>
                  <a:pt x="220693" y="51315"/>
                  <a:pt x="163820" y="77783"/>
                  <a:pt x="120855" y="120687"/>
                </a:cubicBezTo>
                <a:cubicBezTo>
                  <a:pt x="77891" y="163591"/>
                  <a:pt x="51387" y="220385"/>
                  <a:pt x="46132" y="280652"/>
                </a:cubicBezTo>
                <a:lnTo>
                  <a:pt x="147128" y="280652"/>
                </a:lnTo>
                <a:cubicBezTo>
                  <a:pt x="159647" y="280652"/>
                  <a:pt x="169770" y="290761"/>
                  <a:pt x="169770" y="303185"/>
                </a:cubicBezTo>
                <a:cubicBezTo>
                  <a:pt x="169770" y="315608"/>
                  <a:pt x="159647" y="325717"/>
                  <a:pt x="147128" y="325717"/>
                </a:cubicBezTo>
                <a:lnTo>
                  <a:pt x="46132" y="325717"/>
                </a:lnTo>
                <a:cubicBezTo>
                  <a:pt x="51387" y="385984"/>
                  <a:pt x="77891" y="442778"/>
                  <a:pt x="120855" y="485682"/>
                </a:cubicBezTo>
                <a:cubicBezTo>
                  <a:pt x="163820" y="528586"/>
                  <a:pt x="220693" y="555131"/>
                  <a:pt x="281043" y="560301"/>
                </a:cubicBezTo>
                <a:lnTo>
                  <a:pt x="281043" y="459446"/>
                </a:lnTo>
                <a:cubicBezTo>
                  <a:pt x="281043" y="447022"/>
                  <a:pt x="291167" y="436913"/>
                  <a:pt x="303608" y="436913"/>
                </a:cubicBezTo>
                <a:cubicBezTo>
                  <a:pt x="316049" y="436913"/>
                  <a:pt x="326172" y="447022"/>
                  <a:pt x="326172" y="459446"/>
                </a:cubicBezTo>
                <a:lnTo>
                  <a:pt x="326172" y="560301"/>
                </a:lnTo>
                <a:cubicBezTo>
                  <a:pt x="386522" y="555131"/>
                  <a:pt x="443395" y="528586"/>
                  <a:pt x="486360" y="485682"/>
                </a:cubicBezTo>
                <a:cubicBezTo>
                  <a:pt x="529324" y="442778"/>
                  <a:pt x="555906" y="385984"/>
                  <a:pt x="561083" y="325717"/>
                </a:cubicBezTo>
                <a:lnTo>
                  <a:pt x="460087" y="325717"/>
                </a:lnTo>
                <a:cubicBezTo>
                  <a:pt x="447645" y="325717"/>
                  <a:pt x="437523" y="315608"/>
                  <a:pt x="437523" y="303185"/>
                </a:cubicBezTo>
                <a:cubicBezTo>
                  <a:pt x="437523" y="290761"/>
                  <a:pt x="447645" y="280652"/>
                  <a:pt x="460087" y="280652"/>
                </a:cubicBezTo>
                <a:lnTo>
                  <a:pt x="561083" y="280652"/>
                </a:lnTo>
                <a:cubicBezTo>
                  <a:pt x="555906" y="220385"/>
                  <a:pt x="529324" y="163591"/>
                  <a:pt x="486360" y="120687"/>
                </a:cubicBezTo>
                <a:cubicBezTo>
                  <a:pt x="443395" y="77783"/>
                  <a:pt x="386522" y="51315"/>
                  <a:pt x="326172" y="46068"/>
                </a:cubicBezTo>
                <a:lnTo>
                  <a:pt x="326172" y="146923"/>
                </a:lnTo>
                <a:cubicBezTo>
                  <a:pt x="326172" y="159424"/>
                  <a:pt x="316049" y="169533"/>
                  <a:pt x="303608" y="169533"/>
                </a:cubicBezTo>
                <a:cubicBezTo>
                  <a:pt x="291167" y="169533"/>
                  <a:pt x="281043" y="159424"/>
                  <a:pt x="281043" y="146923"/>
                </a:cubicBezTo>
                <a:close/>
                <a:moveTo>
                  <a:pt x="281617" y="45548"/>
                </a:moveTo>
                <a:lnTo>
                  <a:pt x="281617" y="146935"/>
                </a:lnTo>
                <a:cubicBezTo>
                  <a:pt x="281617" y="159126"/>
                  <a:pt x="291431" y="169002"/>
                  <a:pt x="303640" y="169002"/>
                </a:cubicBezTo>
                <a:cubicBezTo>
                  <a:pt x="315850" y="169002"/>
                  <a:pt x="325741" y="159126"/>
                  <a:pt x="325741" y="146935"/>
                </a:cubicBezTo>
                <a:lnTo>
                  <a:pt x="325741" y="45548"/>
                </a:lnTo>
                <a:cubicBezTo>
                  <a:pt x="451159" y="56119"/>
                  <a:pt x="551077" y="155963"/>
                  <a:pt x="561663" y="281192"/>
                </a:cubicBezTo>
                <a:lnTo>
                  <a:pt x="460123" y="281192"/>
                </a:lnTo>
                <a:cubicBezTo>
                  <a:pt x="447914" y="281192"/>
                  <a:pt x="438022" y="290991"/>
                  <a:pt x="438022" y="303182"/>
                </a:cubicBezTo>
                <a:cubicBezTo>
                  <a:pt x="438022" y="315373"/>
                  <a:pt x="447914" y="325250"/>
                  <a:pt x="460123" y="325250"/>
                </a:cubicBezTo>
                <a:lnTo>
                  <a:pt x="561663" y="325250"/>
                </a:lnTo>
                <a:cubicBezTo>
                  <a:pt x="551077" y="450478"/>
                  <a:pt x="451159" y="550245"/>
                  <a:pt x="325741" y="560815"/>
                </a:cubicBezTo>
                <a:lnTo>
                  <a:pt x="325741" y="459429"/>
                </a:lnTo>
                <a:cubicBezTo>
                  <a:pt x="325741" y="447238"/>
                  <a:pt x="315850" y="437361"/>
                  <a:pt x="303640" y="437361"/>
                </a:cubicBezTo>
                <a:cubicBezTo>
                  <a:pt x="291431" y="437361"/>
                  <a:pt x="281617" y="447238"/>
                  <a:pt x="281617" y="459429"/>
                </a:cubicBezTo>
                <a:lnTo>
                  <a:pt x="281617" y="560815"/>
                </a:lnTo>
                <a:cubicBezTo>
                  <a:pt x="156198" y="550245"/>
                  <a:pt x="56203" y="450478"/>
                  <a:pt x="45616" y="325250"/>
                </a:cubicBezTo>
                <a:lnTo>
                  <a:pt x="147157" y="325250"/>
                </a:lnTo>
                <a:cubicBezTo>
                  <a:pt x="159366" y="325250"/>
                  <a:pt x="169257" y="315373"/>
                  <a:pt x="169257" y="303182"/>
                </a:cubicBezTo>
                <a:cubicBezTo>
                  <a:pt x="169257" y="290991"/>
                  <a:pt x="159366" y="281192"/>
                  <a:pt x="147157" y="281192"/>
                </a:cubicBezTo>
                <a:lnTo>
                  <a:pt x="45616" y="281192"/>
                </a:lnTo>
                <a:cubicBezTo>
                  <a:pt x="56203" y="155963"/>
                  <a:pt x="156198" y="56119"/>
                  <a:pt x="281617" y="45548"/>
                </a:cubicBezTo>
                <a:close/>
                <a:moveTo>
                  <a:pt x="281508" y="44987"/>
                </a:moveTo>
                <a:cubicBezTo>
                  <a:pt x="220693" y="50158"/>
                  <a:pt x="163433" y="76780"/>
                  <a:pt x="120160" y="119993"/>
                </a:cubicBezTo>
                <a:cubicBezTo>
                  <a:pt x="76887" y="163205"/>
                  <a:pt x="50228" y="220385"/>
                  <a:pt x="45050" y="281115"/>
                </a:cubicBezTo>
                <a:lnTo>
                  <a:pt x="45050" y="281655"/>
                </a:lnTo>
                <a:lnTo>
                  <a:pt x="147128" y="281655"/>
                </a:lnTo>
                <a:cubicBezTo>
                  <a:pt x="159029" y="281655"/>
                  <a:pt x="168688" y="291301"/>
                  <a:pt x="168688" y="303185"/>
                </a:cubicBezTo>
                <a:cubicBezTo>
                  <a:pt x="168688" y="315068"/>
                  <a:pt x="159029" y="324714"/>
                  <a:pt x="147128" y="324714"/>
                </a:cubicBezTo>
                <a:lnTo>
                  <a:pt x="45050" y="324714"/>
                </a:lnTo>
                <a:lnTo>
                  <a:pt x="45050" y="325254"/>
                </a:lnTo>
                <a:cubicBezTo>
                  <a:pt x="50228" y="385984"/>
                  <a:pt x="76887" y="443241"/>
                  <a:pt x="120160" y="486454"/>
                </a:cubicBezTo>
                <a:cubicBezTo>
                  <a:pt x="163433" y="529666"/>
                  <a:pt x="220693" y="556289"/>
                  <a:pt x="281508" y="561382"/>
                </a:cubicBezTo>
                <a:lnTo>
                  <a:pt x="282048" y="561459"/>
                </a:lnTo>
                <a:lnTo>
                  <a:pt x="282048" y="459446"/>
                </a:lnTo>
                <a:cubicBezTo>
                  <a:pt x="282048" y="447562"/>
                  <a:pt x="291708" y="437916"/>
                  <a:pt x="303608" y="437916"/>
                </a:cubicBezTo>
                <a:cubicBezTo>
                  <a:pt x="315508" y="437916"/>
                  <a:pt x="325167" y="447562"/>
                  <a:pt x="325167" y="459446"/>
                </a:cubicBezTo>
                <a:lnTo>
                  <a:pt x="325167" y="561459"/>
                </a:lnTo>
                <a:lnTo>
                  <a:pt x="325708" y="561382"/>
                </a:lnTo>
                <a:cubicBezTo>
                  <a:pt x="386522" y="556289"/>
                  <a:pt x="443859" y="529666"/>
                  <a:pt x="487132" y="486454"/>
                </a:cubicBezTo>
                <a:cubicBezTo>
                  <a:pt x="530405" y="443241"/>
                  <a:pt x="557065" y="385984"/>
                  <a:pt x="562165" y="325254"/>
                </a:cubicBezTo>
                <a:lnTo>
                  <a:pt x="562242" y="324714"/>
                </a:lnTo>
                <a:lnTo>
                  <a:pt x="460087" y="324714"/>
                </a:lnTo>
                <a:cubicBezTo>
                  <a:pt x="448186" y="324714"/>
                  <a:pt x="438527" y="315068"/>
                  <a:pt x="438527" y="303185"/>
                </a:cubicBezTo>
                <a:cubicBezTo>
                  <a:pt x="438527" y="291301"/>
                  <a:pt x="448186" y="281655"/>
                  <a:pt x="460087" y="281655"/>
                </a:cubicBezTo>
                <a:lnTo>
                  <a:pt x="562242" y="281655"/>
                </a:lnTo>
                <a:lnTo>
                  <a:pt x="562165" y="281115"/>
                </a:lnTo>
                <a:cubicBezTo>
                  <a:pt x="557065" y="220385"/>
                  <a:pt x="530405" y="163205"/>
                  <a:pt x="487132" y="119993"/>
                </a:cubicBezTo>
                <a:cubicBezTo>
                  <a:pt x="443859" y="76780"/>
                  <a:pt x="386522" y="50158"/>
                  <a:pt x="325708" y="44987"/>
                </a:cubicBezTo>
                <a:lnTo>
                  <a:pt x="325167" y="44987"/>
                </a:lnTo>
                <a:lnTo>
                  <a:pt x="325167" y="146923"/>
                </a:lnTo>
                <a:cubicBezTo>
                  <a:pt x="325167" y="158807"/>
                  <a:pt x="315508" y="168453"/>
                  <a:pt x="303608" y="168453"/>
                </a:cubicBezTo>
                <a:cubicBezTo>
                  <a:pt x="291708" y="168453"/>
                  <a:pt x="282048" y="158807"/>
                  <a:pt x="282048" y="146923"/>
                </a:cubicBezTo>
                <a:lnTo>
                  <a:pt x="282048" y="44987"/>
                </a:lnTo>
                <a:close/>
                <a:moveTo>
                  <a:pt x="303608" y="1003"/>
                </a:moveTo>
                <a:cubicBezTo>
                  <a:pt x="344485" y="1003"/>
                  <a:pt x="384049" y="9028"/>
                  <a:pt x="421450" y="24770"/>
                </a:cubicBezTo>
                <a:cubicBezTo>
                  <a:pt x="457459" y="40049"/>
                  <a:pt x="489837" y="61810"/>
                  <a:pt x="517578" y="89512"/>
                </a:cubicBezTo>
                <a:cubicBezTo>
                  <a:pt x="545396" y="117292"/>
                  <a:pt x="567188" y="149547"/>
                  <a:pt x="582410" y="185584"/>
                </a:cubicBezTo>
                <a:cubicBezTo>
                  <a:pt x="598174" y="222855"/>
                  <a:pt x="606211" y="262441"/>
                  <a:pt x="606211" y="303185"/>
                </a:cubicBezTo>
                <a:cubicBezTo>
                  <a:pt x="606211" y="344005"/>
                  <a:pt x="598174" y="383514"/>
                  <a:pt x="582410" y="420863"/>
                </a:cubicBezTo>
                <a:cubicBezTo>
                  <a:pt x="567188" y="456822"/>
                  <a:pt x="545396" y="489154"/>
                  <a:pt x="517578" y="516857"/>
                </a:cubicBezTo>
                <a:cubicBezTo>
                  <a:pt x="489837" y="544637"/>
                  <a:pt x="457459" y="566397"/>
                  <a:pt x="421450" y="581599"/>
                </a:cubicBezTo>
                <a:cubicBezTo>
                  <a:pt x="384049" y="597341"/>
                  <a:pt x="344485" y="605366"/>
                  <a:pt x="303608" y="605366"/>
                </a:cubicBezTo>
                <a:cubicBezTo>
                  <a:pt x="262807" y="605366"/>
                  <a:pt x="223166" y="597341"/>
                  <a:pt x="185842" y="581599"/>
                </a:cubicBezTo>
                <a:cubicBezTo>
                  <a:pt x="149756" y="566397"/>
                  <a:pt x="117455" y="544637"/>
                  <a:pt x="89637" y="516857"/>
                </a:cubicBezTo>
                <a:cubicBezTo>
                  <a:pt x="61896" y="489154"/>
                  <a:pt x="40105" y="456822"/>
                  <a:pt x="24805" y="420863"/>
                </a:cubicBezTo>
                <a:cubicBezTo>
                  <a:pt x="9041" y="383514"/>
                  <a:pt x="1004" y="344005"/>
                  <a:pt x="1004" y="303185"/>
                </a:cubicBezTo>
                <a:cubicBezTo>
                  <a:pt x="1004" y="262441"/>
                  <a:pt x="9041" y="222855"/>
                  <a:pt x="24805" y="185584"/>
                </a:cubicBezTo>
                <a:cubicBezTo>
                  <a:pt x="40105" y="149547"/>
                  <a:pt x="61896" y="117292"/>
                  <a:pt x="89637" y="89512"/>
                </a:cubicBezTo>
                <a:cubicBezTo>
                  <a:pt x="117455" y="61810"/>
                  <a:pt x="149756" y="40049"/>
                  <a:pt x="185842" y="24770"/>
                </a:cubicBezTo>
                <a:cubicBezTo>
                  <a:pt x="223166" y="9028"/>
                  <a:pt x="262807" y="1003"/>
                  <a:pt x="303608" y="1003"/>
                </a:cubicBezTo>
                <a:close/>
                <a:moveTo>
                  <a:pt x="303640" y="565"/>
                </a:moveTo>
                <a:cubicBezTo>
                  <a:pt x="262761" y="565"/>
                  <a:pt x="223041" y="8512"/>
                  <a:pt x="185640" y="24330"/>
                </a:cubicBezTo>
                <a:cubicBezTo>
                  <a:pt x="149552" y="39607"/>
                  <a:pt x="117174" y="61366"/>
                  <a:pt x="89354" y="89220"/>
                </a:cubicBezTo>
                <a:cubicBezTo>
                  <a:pt x="61458" y="116997"/>
                  <a:pt x="39666" y="149327"/>
                  <a:pt x="24366" y="185360"/>
                </a:cubicBezTo>
                <a:cubicBezTo>
                  <a:pt x="8524" y="222705"/>
                  <a:pt x="565" y="262365"/>
                  <a:pt x="565" y="303182"/>
                </a:cubicBezTo>
                <a:cubicBezTo>
                  <a:pt x="565" y="343999"/>
                  <a:pt x="8524" y="383659"/>
                  <a:pt x="24366" y="421004"/>
                </a:cubicBezTo>
                <a:cubicBezTo>
                  <a:pt x="39666" y="457037"/>
                  <a:pt x="61458" y="489444"/>
                  <a:pt x="89354" y="517221"/>
                </a:cubicBezTo>
                <a:cubicBezTo>
                  <a:pt x="117174" y="544998"/>
                  <a:pt x="149552" y="566834"/>
                  <a:pt x="185640" y="582034"/>
                </a:cubicBezTo>
                <a:cubicBezTo>
                  <a:pt x="223041" y="597852"/>
                  <a:pt x="262761" y="605876"/>
                  <a:pt x="303640" y="605876"/>
                </a:cubicBezTo>
                <a:cubicBezTo>
                  <a:pt x="344596" y="605876"/>
                  <a:pt x="384239" y="597852"/>
                  <a:pt x="421640" y="582034"/>
                </a:cubicBezTo>
                <a:cubicBezTo>
                  <a:pt x="457728" y="566834"/>
                  <a:pt x="490183" y="544998"/>
                  <a:pt x="518003" y="517221"/>
                </a:cubicBezTo>
                <a:cubicBezTo>
                  <a:pt x="545822" y="489444"/>
                  <a:pt x="567691" y="457037"/>
                  <a:pt x="582914" y="421004"/>
                </a:cubicBezTo>
                <a:cubicBezTo>
                  <a:pt x="598756" y="383659"/>
                  <a:pt x="606792" y="343999"/>
                  <a:pt x="606792" y="303182"/>
                </a:cubicBezTo>
                <a:cubicBezTo>
                  <a:pt x="606792" y="262365"/>
                  <a:pt x="598756" y="222705"/>
                  <a:pt x="582914" y="185360"/>
                </a:cubicBezTo>
                <a:cubicBezTo>
                  <a:pt x="567691" y="149327"/>
                  <a:pt x="545822" y="116997"/>
                  <a:pt x="518003" y="89220"/>
                </a:cubicBezTo>
                <a:cubicBezTo>
                  <a:pt x="490183" y="61366"/>
                  <a:pt x="457728" y="39607"/>
                  <a:pt x="421640" y="24330"/>
                </a:cubicBezTo>
                <a:cubicBezTo>
                  <a:pt x="384239" y="8512"/>
                  <a:pt x="344519" y="565"/>
                  <a:pt x="303640" y="565"/>
                </a:cubicBezTo>
                <a:close/>
                <a:moveTo>
                  <a:pt x="303608" y="0"/>
                </a:moveTo>
                <a:cubicBezTo>
                  <a:pt x="344563" y="0"/>
                  <a:pt x="384359" y="8025"/>
                  <a:pt x="421836" y="23844"/>
                </a:cubicBezTo>
                <a:cubicBezTo>
                  <a:pt x="458000" y="39123"/>
                  <a:pt x="490455" y="60961"/>
                  <a:pt x="518351" y="88818"/>
                </a:cubicBezTo>
                <a:cubicBezTo>
                  <a:pt x="546169" y="116674"/>
                  <a:pt x="568038" y="149084"/>
                  <a:pt x="583338" y="185198"/>
                </a:cubicBezTo>
                <a:cubicBezTo>
                  <a:pt x="599179" y="222546"/>
                  <a:pt x="607215" y="262286"/>
                  <a:pt x="607215" y="303185"/>
                </a:cubicBezTo>
                <a:cubicBezTo>
                  <a:pt x="607215" y="344083"/>
                  <a:pt x="599179" y="383823"/>
                  <a:pt x="583338" y="421248"/>
                </a:cubicBezTo>
                <a:cubicBezTo>
                  <a:pt x="568038" y="457362"/>
                  <a:pt x="546169" y="489772"/>
                  <a:pt x="518351" y="517629"/>
                </a:cubicBezTo>
                <a:cubicBezTo>
                  <a:pt x="490455" y="545408"/>
                  <a:pt x="458000" y="567246"/>
                  <a:pt x="421836" y="582525"/>
                </a:cubicBezTo>
                <a:cubicBezTo>
                  <a:pt x="384359" y="598344"/>
                  <a:pt x="344563" y="606369"/>
                  <a:pt x="303608" y="606369"/>
                </a:cubicBezTo>
                <a:cubicBezTo>
                  <a:pt x="262652" y="606369"/>
                  <a:pt x="222856" y="598344"/>
                  <a:pt x="185456" y="582525"/>
                </a:cubicBezTo>
                <a:cubicBezTo>
                  <a:pt x="149292" y="567246"/>
                  <a:pt x="116760" y="545408"/>
                  <a:pt x="88942" y="517629"/>
                </a:cubicBezTo>
                <a:cubicBezTo>
                  <a:pt x="61046" y="489772"/>
                  <a:pt x="39177" y="457362"/>
                  <a:pt x="23877" y="421248"/>
                </a:cubicBezTo>
                <a:cubicBezTo>
                  <a:pt x="8036" y="383823"/>
                  <a:pt x="0" y="344083"/>
                  <a:pt x="0" y="303185"/>
                </a:cubicBezTo>
                <a:cubicBezTo>
                  <a:pt x="0" y="262286"/>
                  <a:pt x="8036" y="222546"/>
                  <a:pt x="23877" y="185198"/>
                </a:cubicBezTo>
                <a:cubicBezTo>
                  <a:pt x="39177" y="149084"/>
                  <a:pt x="61046" y="116674"/>
                  <a:pt x="88942" y="88818"/>
                </a:cubicBezTo>
                <a:cubicBezTo>
                  <a:pt x="116760" y="60961"/>
                  <a:pt x="149292" y="39123"/>
                  <a:pt x="185456" y="23844"/>
                </a:cubicBezTo>
                <a:cubicBezTo>
                  <a:pt x="222856" y="8025"/>
                  <a:pt x="262652" y="0"/>
                  <a:pt x="303608"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dirty="0"/>
          </a:p>
        </p:txBody>
      </p:sp>
      <p:sp>
        <p:nvSpPr>
          <p:cNvPr id="131" name="文本框 130">
            <a:extLst>
              <a:ext uri="{FF2B5EF4-FFF2-40B4-BE49-F238E27FC236}">
                <a16:creationId xmlns:a16="http://schemas.microsoft.com/office/drawing/2014/main" id="{1F602EA9-F9F7-4F5E-A0EC-3EABEF542E44}"/>
              </a:ext>
            </a:extLst>
          </p:cNvPr>
          <p:cNvSpPr txBox="1"/>
          <p:nvPr/>
        </p:nvSpPr>
        <p:spPr>
          <a:xfrm>
            <a:off x="373082" y="2808021"/>
            <a:ext cx="1660612" cy="338554"/>
          </a:xfrm>
          <a:prstGeom prst="rect">
            <a:avLst/>
          </a:prstGeom>
          <a:noFill/>
        </p:spPr>
        <p:txBody>
          <a:bodyPr wrap="square" rtlCol="0">
            <a:spAutoFit/>
          </a:bodyPr>
          <a:lstStyle/>
          <a:p>
            <a:r>
              <a:rPr lang="zh-CN" altLang="en-US" sz="1600" dirty="0">
                <a:solidFill>
                  <a:schemeClr val="bg1"/>
                </a:solidFill>
                <a:latin typeface="思源黑体 CN Regular" panose="020B0500000000000000" pitchFamily="34" charset="-122"/>
                <a:ea typeface="思源黑体 CN Regular" panose="020B0500000000000000" pitchFamily="34" charset="-122"/>
              </a:rPr>
              <a:t>研究目标和内容</a:t>
            </a:r>
          </a:p>
        </p:txBody>
      </p:sp>
      <p:sp>
        <p:nvSpPr>
          <p:cNvPr id="132" name="任意矩形：003">
            <a:extLst>
              <a:ext uri="{FF2B5EF4-FFF2-40B4-BE49-F238E27FC236}">
                <a16:creationId xmlns:a16="http://schemas.microsoft.com/office/drawing/2014/main" id="{A0755130-A9CA-4BDB-B2BF-54698BFB14AD}"/>
              </a:ext>
            </a:extLst>
          </p:cNvPr>
          <p:cNvSpPr/>
          <p:nvPr/>
        </p:nvSpPr>
        <p:spPr>
          <a:xfrm rot="10800000" flipH="1" flipV="1">
            <a:off x="145020" y="3571293"/>
            <a:ext cx="199667" cy="199477"/>
          </a:xfrm>
          <a:custGeom>
            <a:avLst/>
            <a:gdLst>
              <a:gd name="connsiteX0" fmla="*/ 320200 w 604886"/>
              <a:gd name="connsiteY0" fmla="*/ 166778 h 604313"/>
              <a:gd name="connsiteX1" fmla="*/ 338200 w 604886"/>
              <a:gd name="connsiteY1" fmla="*/ 168153 h 604313"/>
              <a:gd name="connsiteX2" fmla="*/ 394904 w 604886"/>
              <a:gd name="connsiteY2" fmla="*/ 210003 h 604313"/>
              <a:gd name="connsiteX3" fmla="*/ 448997 w 604886"/>
              <a:gd name="connsiteY3" fmla="*/ 297466 h 604313"/>
              <a:gd name="connsiteX4" fmla="*/ 433479 w 604886"/>
              <a:gd name="connsiteY4" fmla="*/ 381599 h 604313"/>
              <a:gd name="connsiteX5" fmla="*/ 230304 w 604886"/>
              <a:gd name="connsiteY5" fmla="*/ 584474 h 604313"/>
              <a:gd name="connsiteX6" fmla="*/ 177952 w 604886"/>
              <a:gd name="connsiteY6" fmla="*/ 604313 h 604313"/>
              <a:gd name="connsiteX7" fmla="*/ 58454 w 604886"/>
              <a:gd name="connsiteY7" fmla="*/ 545956 h 604313"/>
              <a:gd name="connsiteX8" fmla="*/ 19733 w 604886"/>
              <a:gd name="connsiteY8" fmla="*/ 374359 h 604313"/>
              <a:gd name="connsiteX9" fmla="*/ 93549 w 604886"/>
              <a:gd name="connsiteY9" fmla="*/ 300652 h 604313"/>
              <a:gd name="connsiteX10" fmla="*/ 127049 w 604886"/>
              <a:gd name="connsiteY10" fmla="*/ 300652 h 604313"/>
              <a:gd name="connsiteX11" fmla="*/ 127049 w 604886"/>
              <a:gd name="connsiteY11" fmla="*/ 333958 h 604313"/>
              <a:gd name="connsiteX12" fmla="*/ 53233 w 604886"/>
              <a:gd name="connsiteY12" fmla="*/ 407665 h 604313"/>
              <a:gd name="connsiteX13" fmla="*/ 91809 w 604886"/>
              <a:gd name="connsiteY13" fmla="*/ 512650 h 604313"/>
              <a:gd name="connsiteX14" fmla="*/ 196950 w 604886"/>
              <a:gd name="connsiteY14" fmla="*/ 551169 h 604313"/>
              <a:gd name="connsiteX15" fmla="*/ 400124 w 604886"/>
              <a:gd name="connsiteY15" fmla="*/ 348294 h 604313"/>
              <a:gd name="connsiteX16" fmla="*/ 403460 w 604886"/>
              <a:gd name="connsiteY16" fmla="*/ 310065 h 604313"/>
              <a:gd name="connsiteX17" fmla="*/ 361549 w 604886"/>
              <a:gd name="connsiteY17" fmla="*/ 243308 h 604313"/>
              <a:gd name="connsiteX18" fmla="*/ 316737 w 604886"/>
              <a:gd name="connsiteY18" fmla="*/ 210147 h 604313"/>
              <a:gd name="connsiteX19" fmla="*/ 306441 w 604886"/>
              <a:gd name="connsiteY19" fmla="*/ 178435 h 604313"/>
              <a:gd name="connsiteX20" fmla="*/ 320200 w 604886"/>
              <a:gd name="connsiteY20" fmla="*/ 166778 h 604313"/>
              <a:gd name="connsiteX21" fmla="*/ 411085 w 604886"/>
              <a:gd name="connsiteY21" fmla="*/ 1388 h 604313"/>
              <a:gd name="connsiteX22" fmla="*/ 458862 w 604886"/>
              <a:gd name="connsiteY22" fmla="*/ 4683 h 604313"/>
              <a:gd name="connsiteX23" fmla="*/ 546442 w 604886"/>
              <a:gd name="connsiteY23" fmla="*/ 58698 h 604313"/>
              <a:gd name="connsiteX24" fmla="*/ 585156 w 604886"/>
              <a:gd name="connsiteY24" fmla="*/ 230302 h 604313"/>
              <a:gd name="connsiteX25" fmla="*/ 511352 w 604886"/>
              <a:gd name="connsiteY25" fmla="*/ 304012 h 604313"/>
              <a:gd name="connsiteX26" fmla="*/ 477857 w 604886"/>
              <a:gd name="connsiteY26" fmla="*/ 304012 h 604313"/>
              <a:gd name="connsiteX27" fmla="*/ 477857 w 604886"/>
              <a:gd name="connsiteY27" fmla="*/ 270705 h 604313"/>
              <a:gd name="connsiteX28" fmla="*/ 551662 w 604886"/>
              <a:gd name="connsiteY28" fmla="*/ 196995 h 604313"/>
              <a:gd name="connsiteX29" fmla="*/ 513092 w 604886"/>
              <a:gd name="connsiteY29" fmla="*/ 92005 h 604313"/>
              <a:gd name="connsiteX30" fmla="*/ 446247 w 604886"/>
              <a:gd name="connsiteY30" fmla="*/ 50154 h 604313"/>
              <a:gd name="connsiteX31" fmla="*/ 407968 w 604886"/>
              <a:gd name="connsiteY31" fmla="*/ 53485 h 604313"/>
              <a:gd name="connsiteX32" fmla="*/ 204825 w 604886"/>
              <a:gd name="connsiteY32" fmla="*/ 256368 h 604313"/>
              <a:gd name="connsiteX33" fmla="*/ 201490 w 604886"/>
              <a:gd name="connsiteY33" fmla="*/ 294599 h 604313"/>
              <a:gd name="connsiteX34" fmla="*/ 243394 w 604886"/>
              <a:gd name="connsiteY34" fmla="*/ 361358 h 604313"/>
              <a:gd name="connsiteX35" fmla="*/ 288199 w 604886"/>
              <a:gd name="connsiteY35" fmla="*/ 394520 h 604313"/>
              <a:gd name="connsiteX36" fmla="*/ 298494 w 604886"/>
              <a:gd name="connsiteY36" fmla="*/ 426234 h 604313"/>
              <a:gd name="connsiteX37" fmla="*/ 277469 w 604886"/>
              <a:gd name="connsiteY37" fmla="*/ 438978 h 604313"/>
              <a:gd name="connsiteX38" fmla="*/ 266739 w 604886"/>
              <a:gd name="connsiteY38" fmla="*/ 436516 h 604313"/>
              <a:gd name="connsiteX39" fmla="*/ 210044 w 604886"/>
              <a:gd name="connsiteY39" fmla="*/ 394665 h 604313"/>
              <a:gd name="connsiteX40" fmla="*/ 155960 w 604886"/>
              <a:gd name="connsiteY40" fmla="*/ 307198 h 604313"/>
              <a:gd name="connsiteX41" fmla="*/ 171330 w 604886"/>
              <a:gd name="connsiteY41" fmla="*/ 223061 h 604313"/>
              <a:gd name="connsiteX42" fmla="*/ 374618 w 604886"/>
              <a:gd name="connsiteY42" fmla="*/ 20033 h 604313"/>
              <a:gd name="connsiteX43" fmla="*/ 411085 w 604886"/>
              <a:gd name="connsiteY43" fmla="*/ 1388 h 6043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Lst>
            <a:rect l="l" t="t" r="r" b="b"/>
            <a:pathLst>
              <a:path w="604886" h="604313">
                <a:moveTo>
                  <a:pt x="320200" y="166778"/>
                </a:moveTo>
                <a:cubicBezTo>
                  <a:pt x="325946" y="164931"/>
                  <a:pt x="332399" y="165257"/>
                  <a:pt x="338200" y="168153"/>
                </a:cubicBezTo>
                <a:cubicBezTo>
                  <a:pt x="358068" y="178290"/>
                  <a:pt x="377646" y="192771"/>
                  <a:pt x="394904" y="210003"/>
                </a:cubicBezTo>
                <a:cubicBezTo>
                  <a:pt x="421443" y="236358"/>
                  <a:pt x="440585" y="267491"/>
                  <a:pt x="448997" y="297466"/>
                </a:cubicBezTo>
                <a:cubicBezTo>
                  <a:pt x="458568" y="332075"/>
                  <a:pt x="453202" y="362050"/>
                  <a:pt x="433479" y="381599"/>
                </a:cubicBezTo>
                <a:lnTo>
                  <a:pt x="230304" y="584474"/>
                </a:lnTo>
                <a:cubicBezTo>
                  <a:pt x="216962" y="597942"/>
                  <a:pt x="198690" y="604313"/>
                  <a:pt x="177952" y="604313"/>
                </a:cubicBezTo>
                <a:cubicBezTo>
                  <a:pt x="140971" y="604313"/>
                  <a:pt x="96305" y="583750"/>
                  <a:pt x="58454" y="545956"/>
                </a:cubicBezTo>
                <a:cubicBezTo>
                  <a:pt x="-570" y="487019"/>
                  <a:pt x="-17537" y="411575"/>
                  <a:pt x="19733" y="374359"/>
                </a:cubicBezTo>
                <a:lnTo>
                  <a:pt x="93549" y="300652"/>
                </a:lnTo>
                <a:cubicBezTo>
                  <a:pt x="102831" y="291384"/>
                  <a:pt x="117768" y="291384"/>
                  <a:pt x="127049" y="300652"/>
                </a:cubicBezTo>
                <a:cubicBezTo>
                  <a:pt x="136186" y="309775"/>
                  <a:pt x="136186" y="324690"/>
                  <a:pt x="127049" y="333958"/>
                </a:cubicBezTo>
                <a:lnTo>
                  <a:pt x="53233" y="407665"/>
                </a:lnTo>
                <a:cubicBezTo>
                  <a:pt x="37426" y="423304"/>
                  <a:pt x="50623" y="471525"/>
                  <a:pt x="91809" y="512650"/>
                </a:cubicBezTo>
                <a:cubicBezTo>
                  <a:pt x="132995" y="553631"/>
                  <a:pt x="181287" y="566808"/>
                  <a:pt x="196950" y="551169"/>
                </a:cubicBezTo>
                <a:lnTo>
                  <a:pt x="400124" y="348294"/>
                </a:lnTo>
                <a:cubicBezTo>
                  <a:pt x="407085" y="341343"/>
                  <a:pt x="408246" y="327441"/>
                  <a:pt x="403460" y="310065"/>
                </a:cubicBezTo>
                <a:cubicBezTo>
                  <a:pt x="397369" y="288199"/>
                  <a:pt x="381997" y="263871"/>
                  <a:pt x="361549" y="243308"/>
                </a:cubicBezTo>
                <a:cubicBezTo>
                  <a:pt x="347627" y="229552"/>
                  <a:pt x="332254" y="218112"/>
                  <a:pt x="316737" y="210147"/>
                </a:cubicBezTo>
                <a:cubicBezTo>
                  <a:pt x="305135" y="204355"/>
                  <a:pt x="300495" y="190019"/>
                  <a:pt x="306441" y="178435"/>
                </a:cubicBezTo>
                <a:cubicBezTo>
                  <a:pt x="309414" y="172642"/>
                  <a:pt x="314453" y="168624"/>
                  <a:pt x="320200" y="166778"/>
                </a:cubicBezTo>
                <a:close/>
                <a:moveTo>
                  <a:pt x="411085" y="1388"/>
                </a:moveTo>
                <a:cubicBezTo>
                  <a:pt x="425368" y="-1219"/>
                  <a:pt x="441535" y="-169"/>
                  <a:pt x="458862" y="4683"/>
                </a:cubicBezTo>
                <a:cubicBezTo>
                  <a:pt x="488877" y="13082"/>
                  <a:pt x="519907" y="32197"/>
                  <a:pt x="546442" y="58698"/>
                </a:cubicBezTo>
                <a:cubicBezTo>
                  <a:pt x="605456" y="117637"/>
                  <a:pt x="622421" y="192940"/>
                  <a:pt x="585156" y="230302"/>
                </a:cubicBezTo>
                <a:lnTo>
                  <a:pt x="511352" y="304012"/>
                </a:lnTo>
                <a:cubicBezTo>
                  <a:pt x="502072" y="313135"/>
                  <a:pt x="487137" y="313135"/>
                  <a:pt x="477857" y="304012"/>
                </a:cubicBezTo>
                <a:cubicBezTo>
                  <a:pt x="468722" y="294744"/>
                  <a:pt x="468722" y="279828"/>
                  <a:pt x="477857" y="270705"/>
                </a:cubicBezTo>
                <a:lnTo>
                  <a:pt x="551662" y="196995"/>
                </a:lnTo>
                <a:cubicBezTo>
                  <a:pt x="567321" y="181355"/>
                  <a:pt x="554127" y="133132"/>
                  <a:pt x="513092" y="92005"/>
                </a:cubicBezTo>
                <a:cubicBezTo>
                  <a:pt x="492502" y="71586"/>
                  <a:pt x="468142" y="56236"/>
                  <a:pt x="446247" y="50154"/>
                </a:cubicBezTo>
                <a:cubicBezTo>
                  <a:pt x="428848" y="45230"/>
                  <a:pt x="414928" y="46534"/>
                  <a:pt x="407968" y="53485"/>
                </a:cubicBezTo>
                <a:lnTo>
                  <a:pt x="204825" y="256368"/>
                </a:lnTo>
                <a:cubicBezTo>
                  <a:pt x="197865" y="263319"/>
                  <a:pt x="196560" y="277221"/>
                  <a:pt x="201490" y="294599"/>
                </a:cubicBezTo>
                <a:cubicBezTo>
                  <a:pt x="207579" y="316466"/>
                  <a:pt x="222949" y="340795"/>
                  <a:pt x="243394" y="361358"/>
                </a:cubicBezTo>
                <a:cubicBezTo>
                  <a:pt x="257169" y="375115"/>
                  <a:pt x="272684" y="386556"/>
                  <a:pt x="288199" y="394520"/>
                </a:cubicBezTo>
                <a:cubicBezTo>
                  <a:pt x="299799" y="400313"/>
                  <a:pt x="304439" y="414505"/>
                  <a:pt x="298494" y="426234"/>
                </a:cubicBezTo>
                <a:cubicBezTo>
                  <a:pt x="294289" y="434344"/>
                  <a:pt x="286024" y="438978"/>
                  <a:pt x="277469" y="438978"/>
                </a:cubicBezTo>
                <a:cubicBezTo>
                  <a:pt x="273844" y="438978"/>
                  <a:pt x="270219" y="438254"/>
                  <a:pt x="266739" y="436516"/>
                </a:cubicBezTo>
                <a:cubicBezTo>
                  <a:pt x="246874" y="426379"/>
                  <a:pt x="227299" y="411898"/>
                  <a:pt x="210044" y="394665"/>
                </a:cubicBezTo>
                <a:cubicBezTo>
                  <a:pt x="183510" y="368164"/>
                  <a:pt x="164370" y="337174"/>
                  <a:pt x="155960" y="307198"/>
                </a:cubicBezTo>
                <a:cubicBezTo>
                  <a:pt x="146245" y="272587"/>
                  <a:pt x="151755" y="242611"/>
                  <a:pt x="171330" y="223061"/>
                </a:cubicBezTo>
                <a:lnTo>
                  <a:pt x="374618" y="20033"/>
                </a:lnTo>
                <a:cubicBezTo>
                  <a:pt x="384406" y="10258"/>
                  <a:pt x="396803" y="3995"/>
                  <a:pt x="411085" y="1388"/>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133" name="文本框 132">
            <a:extLst>
              <a:ext uri="{FF2B5EF4-FFF2-40B4-BE49-F238E27FC236}">
                <a16:creationId xmlns:a16="http://schemas.microsoft.com/office/drawing/2014/main" id="{EE1E121B-F310-497C-8529-1812CCBBD969}"/>
              </a:ext>
            </a:extLst>
          </p:cNvPr>
          <p:cNvSpPr txBox="1"/>
          <p:nvPr/>
        </p:nvSpPr>
        <p:spPr>
          <a:xfrm>
            <a:off x="373082" y="3517143"/>
            <a:ext cx="1660612" cy="338554"/>
          </a:xfrm>
          <a:prstGeom prst="rect">
            <a:avLst/>
          </a:prstGeom>
          <a:noFill/>
        </p:spPr>
        <p:txBody>
          <a:bodyPr wrap="square" rtlCol="0">
            <a:spAutoFit/>
          </a:bodyPr>
          <a:lstStyle/>
          <a:p>
            <a:r>
              <a:rPr lang="zh-CN" altLang="en-US" sz="1600" dirty="0">
                <a:solidFill>
                  <a:schemeClr val="accent1"/>
                </a:solidFill>
                <a:latin typeface="思源黑体 CN Regular" panose="020B0500000000000000" pitchFamily="34" charset="-122"/>
                <a:ea typeface="思源黑体 CN Regular" panose="020B0500000000000000" pitchFamily="34" charset="-122"/>
              </a:rPr>
              <a:t>研究方法与思路</a:t>
            </a:r>
          </a:p>
        </p:txBody>
      </p:sp>
      <p:sp>
        <p:nvSpPr>
          <p:cNvPr id="134" name="文本框 133">
            <a:extLst>
              <a:ext uri="{FF2B5EF4-FFF2-40B4-BE49-F238E27FC236}">
                <a16:creationId xmlns:a16="http://schemas.microsoft.com/office/drawing/2014/main" id="{33B9CBD3-1B20-42B7-AFF2-AAC89A1821E2}"/>
              </a:ext>
            </a:extLst>
          </p:cNvPr>
          <p:cNvSpPr txBox="1"/>
          <p:nvPr/>
        </p:nvSpPr>
        <p:spPr>
          <a:xfrm>
            <a:off x="373082" y="4226265"/>
            <a:ext cx="1660612" cy="338554"/>
          </a:xfrm>
          <a:prstGeom prst="rect">
            <a:avLst/>
          </a:prstGeom>
          <a:noFill/>
        </p:spPr>
        <p:txBody>
          <a:bodyPr wrap="square" rtlCol="0">
            <a:spAutoFit/>
          </a:bodyPr>
          <a:lstStyle/>
          <a:p>
            <a:r>
              <a:rPr lang="zh-CN" altLang="en-US" sz="1600" dirty="0">
                <a:solidFill>
                  <a:schemeClr val="bg1"/>
                </a:solidFill>
                <a:latin typeface="思源黑体 CN Regular" panose="020B0500000000000000" pitchFamily="34" charset="-122"/>
                <a:ea typeface="思源黑体 CN Regular" panose="020B0500000000000000" pitchFamily="34" charset="-122"/>
              </a:rPr>
              <a:t>关键技术与创新</a:t>
            </a:r>
          </a:p>
        </p:txBody>
      </p:sp>
      <p:sp>
        <p:nvSpPr>
          <p:cNvPr id="135" name="任意矩形：004">
            <a:extLst>
              <a:ext uri="{FF2B5EF4-FFF2-40B4-BE49-F238E27FC236}">
                <a16:creationId xmlns:a16="http://schemas.microsoft.com/office/drawing/2014/main" id="{150C961D-9D02-46B8-83DC-F9FE6C37D286}"/>
              </a:ext>
            </a:extLst>
          </p:cNvPr>
          <p:cNvSpPr/>
          <p:nvPr/>
        </p:nvSpPr>
        <p:spPr>
          <a:xfrm rot="20700000">
            <a:off x="101744" y="4285500"/>
            <a:ext cx="251496" cy="189307"/>
          </a:xfrm>
          <a:custGeom>
            <a:avLst/>
            <a:gdLst>
              <a:gd name="T0" fmla="*/ 6845 w 7011"/>
              <a:gd name="T1" fmla="*/ 1345 h 5286"/>
              <a:gd name="T2" fmla="*/ 5180 w 7011"/>
              <a:gd name="T3" fmla="*/ 598 h 5286"/>
              <a:gd name="T4" fmla="*/ 5179 w 7011"/>
              <a:gd name="T5" fmla="*/ 598 h 5286"/>
              <a:gd name="T6" fmla="*/ 3505 w 7011"/>
              <a:gd name="T7" fmla="*/ 0 h 5286"/>
              <a:gd name="T8" fmla="*/ 907 w 7011"/>
              <a:gd name="T9" fmla="*/ 2166 h 5286"/>
              <a:gd name="T10" fmla="*/ 167 w 7011"/>
              <a:gd name="T11" fmla="*/ 3741 h 5286"/>
              <a:gd name="T12" fmla="*/ 1605 w 7011"/>
              <a:gd name="T13" fmla="*/ 4477 h 5286"/>
              <a:gd name="T14" fmla="*/ 3505 w 7011"/>
              <a:gd name="T15" fmla="*/ 5286 h 5286"/>
              <a:gd name="T16" fmla="*/ 6136 w 7011"/>
              <a:gd name="T17" fmla="*/ 2888 h 5286"/>
              <a:gd name="T18" fmla="*/ 6845 w 7011"/>
              <a:gd name="T19" fmla="*/ 1345 h 5286"/>
              <a:gd name="T20" fmla="*/ 521 w 7011"/>
              <a:gd name="T21" fmla="*/ 3613 h 5286"/>
              <a:gd name="T22" fmla="*/ 865 w 7011"/>
              <a:gd name="T23" fmla="*/ 2729 h 5286"/>
              <a:gd name="T24" fmla="*/ 1279 w 7011"/>
              <a:gd name="T25" fmla="*/ 4061 h 5286"/>
              <a:gd name="T26" fmla="*/ 521 w 7011"/>
              <a:gd name="T27" fmla="*/ 3613 h 5286"/>
              <a:gd name="T28" fmla="*/ 3507 w 7011"/>
              <a:gd name="T29" fmla="*/ 4909 h 5286"/>
              <a:gd name="T30" fmla="*/ 2171 w 7011"/>
              <a:gd name="T31" fmla="*/ 4472 h 5286"/>
              <a:gd name="T32" fmla="*/ 4051 w 7011"/>
              <a:gd name="T33" fmla="*/ 4060 h 5286"/>
              <a:gd name="T34" fmla="*/ 5695 w 7011"/>
              <a:gd name="T35" fmla="*/ 3233 h 5286"/>
              <a:gd name="T36" fmla="*/ 3507 w 7011"/>
              <a:gd name="T37" fmla="*/ 4909 h 5286"/>
              <a:gd name="T38" fmla="*/ 5772 w 7011"/>
              <a:gd name="T39" fmla="*/ 2705 h 5286"/>
              <a:gd name="T40" fmla="*/ 3924 w 7011"/>
              <a:gd name="T41" fmla="*/ 3706 h 5286"/>
              <a:gd name="T42" fmla="*/ 1779 w 7011"/>
              <a:gd name="T43" fmla="*/ 4108 h 5286"/>
              <a:gd name="T44" fmla="*/ 1240 w 7011"/>
              <a:gd name="T45" fmla="*/ 2642 h 5286"/>
              <a:gd name="T46" fmla="*/ 3507 w 7011"/>
              <a:gd name="T47" fmla="*/ 376 h 5286"/>
              <a:gd name="T48" fmla="*/ 5773 w 7011"/>
              <a:gd name="T49" fmla="*/ 2642 h 5286"/>
              <a:gd name="T50" fmla="*/ 5772 w 7011"/>
              <a:gd name="T51" fmla="*/ 2705 h 5286"/>
              <a:gd name="T52" fmla="*/ 6133 w 7011"/>
              <a:gd name="T53" fmla="*/ 2364 h 5286"/>
              <a:gd name="T54" fmla="*/ 5571 w 7011"/>
              <a:gd name="T55" fmla="*/ 996 h 5286"/>
              <a:gd name="T56" fmla="*/ 6491 w 7011"/>
              <a:gd name="T57" fmla="*/ 1472 h 5286"/>
              <a:gd name="T58" fmla="*/ 6133 w 7011"/>
              <a:gd name="T59" fmla="*/ 2364 h 528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7011" h="5286">
                <a:moveTo>
                  <a:pt x="6845" y="1345"/>
                </a:moveTo>
                <a:cubicBezTo>
                  <a:pt x="6672" y="864"/>
                  <a:pt x="6081" y="598"/>
                  <a:pt x="5180" y="598"/>
                </a:cubicBezTo>
                <a:lnTo>
                  <a:pt x="5179" y="598"/>
                </a:lnTo>
                <a:cubicBezTo>
                  <a:pt x="4723" y="225"/>
                  <a:pt x="4140" y="0"/>
                  <a:pt x="3505" y="0"/>
                </a:cubicBezTo>
                <a:cubicBezTo>
                  <a:pt x="2212" y="0"/>
                  <a:pt x="1132" y="936"/>
                  <a:pt x="907" y="2166"/>
                </a:cubicBezTo>
                <a:cubicBezTo>
                  <a:pt x="264" y="2720"/>
                  <a:pt x="0" y="3278"/>
                  <a:pt x="167" y="3741"/>
                </a:cubicBezTo>
                <a:cubicBezTo>
                  <a:pt x="325" y="4184"/>
                  <a:pt x="863" y="4433"/>
                  <a:pt x="1605" y="4477"/>
                </a:cubicBezTo>
                <a:cubicBezTo>
                  <a:pt x="2087" y="4976"/>
                  <a:pt x="2760" y="5286"/>
                  <a:pt x="3505" y="5286"/>
                </a:cubicBezTo>
                <a:cubicBezTo>
                  <a:pt x="4880" y="5286"/>
                  <a:pt x="6012" y="4232"/>
                  <a:pt x="6136" y="2888"/>
                </a:cubicBezTo>
                <a:cubicBezTo>
                  <a:pt x="6728" y="2364"/>
                  <a:pt x="7011" y="1804"/>
                  <a:pt x="6845" y="1345"/>
                </a:cubicBezTo>
                <a:close/>
                <a:moveTo>
                  <a:pt x="521" y="3613"/>
                </a:moveTo>
                <a:cubicBezTo>
                  <a:pt x="437" y="3380"/>
                  <a:pt x="565" y="3064"/>
                  <a:pt x="865" y="2729"/>
                </a:cubicBezTo>
                <a:cubicBezTo>
                  <a:pt x="881" y="3218"/>
                  <a:pt x="1031" y="3673"/>
                  <a:pt x="1279" y="4061"/>
                </a:cubicBezTo>
                <a:cubicBezTo>
                  <a:pt x="871" y="3988"/>
                  <a:pt x="599" y="3830"/>
                  <a:pt x="521" y="3613"/>
                </a:cubicBezTo>
                <a:close/>
                <a:moveTo>
                  <a:pt x="3507" y="4909"/>
                </a:moveTo>
                <a:cubicBezTo>
                  <a:pt x="3008" y="4909"/>
                  <a:pt x="2545" y="4746"/>
                  <a:pt x="2171" y="4472"/>
                </a:cubicBezTo>
                <a:cubicBezTo>
                  <a:pt x="2740" y="4434"/>
                  <a:pt x="3384" y="4300"/>
                  <a:pt x="4051" y="4060"/>
                </a:cubicBezTo>
                <a:cubicBezTo>
                  <a:pt x="4684" y="3833"/>
                  <a:pt x="5243" y="3546"/>
                  <a:pt x="5695" y="3233"/>
                </a:cubicBezTo>
                <a:cubicBezTo>
                  <a:pt x="5433" y="4197"/>
                  <a:pt x="4552" y="4909"/>
                  <a:pt x="3507" y="4909"/>
                </a:cubicBezTo>
                <a:close/>
                <a:moveTo>
                  <a:pt x="5772" y="2705"/>
                </a:moveTo>
                <a:cubicBezTo>
                  <a:pt x="5328" y="3068"/>
                  <a:pt x="4700" y="3428"/>
                  <a:pt x="3924" y="3706"/>
                </a:cubicBezTo>
                <a:cubicBezTo>
                  <a:pt x="3111" y="3998"/>
                  <a:pt x="2365" y="4117"/>
                  <a:pt x="1779" y="4108"/>
                </a:cubicBezTo>
                <a:cubicBezTo>
                  <a:pt x="1443" y="3712"/>
                  <a:pt x="1240" y="3201"/>
                  <a:pt x="1240" y="2642"/>
                </a:cubicBezTo>
                <a:cubicBezTo>
                  <a:pt x="1240" y="1393"/>
                  <a:pt x="2256" y="376"/>
                  <a:pt x="3507" y="376"/>
                </a:cubicBezTo>
                <a:cubicBezTo>
                  <a:pt x="4756" y="376"/>
                  <a:pt x="5773" y="1393"/>
                  <a:pt x="5773" y="2642"/>
                </a:cubicBezTo>
                <a:cubicBezTo>
                  <a:pt x="5773" y="2664"/>
                  <a:pt x="5772" y="2684"/>
                  <a:pt x="5772" y="2705"/>
                </a:cubicBezTo>
                <a:close/>
                <a:moveTo>
                  <a:pt x="6133" y="2364"/>
                </a:moveTo>
                <a:cubicBezTo>
                  <a:pt x="6079" y="1849"/>
                  <a:pt x="5877" y="1380"/>
                  <a:pt x="5571" y="996"/>
                </a:cubicBezTo>
                <a:cubicBezTo>
                  <a:pt x="6067" y="1053"/>
                  <a:pt x="6401" y="1221"/>
                  <a:pt x="6491" y="1472"/>
                </a:cubicBezTo>
                <a:cubicBezTo>
                  <a:pt x="6573" y="1704"/>
                  <a:pt x="6443" y="2024"/>
                  <a:pt x="6133" y="2364"/>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136" name="文本框 135">
            <a:extLst>
              <a:ext uri="{FF2B5EF4-FFF2-40B4-BE49-F238E27FC236}">
                <a16:creationId xmlns:a16="http://schemas.microsoft.com/office/drawing/2014/main" id="{74E507F1-350E-4BEA-A6CE-E9BE72117BD8}"/>
              </a:ext>
            </a:extLst>
          </p:cNvPr>
          <p:cNvSpPr txBox="1"/>
          <p:nvPr/>
        </p:nvSpPr>
        <p:spPr>
          <a:xfrm>
            <a:off x="373082" y="4935387"/>
            <a:ext cx="1660612" cy="338554"/>
          </a:xfrm>
          <a:prstGeom prst="rect">
            <a:avLst/>
          </a:prstGeom>
          <a:noFill/>
        </p:spPr>
        <p:txBody>
          <a:bodyPr wrap="square" rtlCol="0">
            <a:spAutoFit/>
          </a:bodyPr>
          <a:lstStyle/>
          <a:p>
            <a:r>
              <a:rPr lang="zh-CN" altLang="en-US" sz="1600" dirty="0">
                <a:solidFill>
                  <a:schemeClr val="bg1"/>
                </a:solidFill>
                <a:latin typeface="思源黑体 CN Regular" panose="020B0500000000000000" pitchFamily="34" charset="-122"/>
                <a:ea typeface="思源黑体 CN Regular" panose="020B0500000000000000" pitchFamily="34" charset="-122"/>
              </a:rPr>
              <a:t>已开展工作</a:t>
            </a:r>
          </a:p>
        </p:txBody>
      </p:sp>
      <p:sp>
        <p:nvSpPr>
          <p:cNvPr id="137" name="任意矩形：005">
            <a:extLst>
              <a:ext uri="{FF2B5EF4-FFF2-40B4-BE49-F238E27FC236}">
                <a16:creationId xmlns:a16="http://schemas.microsoft.com/office/drawing/2014/main" id="{75C56F8E-2DFA-4329-90D8-65052270085A}"/>
              </a:ext>
            </a:extLst>
          </p:cNvPr>
          <p:cNvSpPr/>
          <p:nvPr/>
        </p:nvSpPr>
        <p:spPr>
          <a:xfrm>
            <a:off x="123946" y="4988361"/>
            <a:ext cx="201734" cy="201828"/>
          </a:xfrm>
          <a:custGeom>
            <a:avLst/>
            <a:gdLst>
              <a:gd name="T0" fmla="*/ 278945 h 440259"/>
              <a:gd name="T1" fmla="*/ 278945 h 440259"/>
              <a:gd name="T2" fmla="*/ 278945 h 440259"/>
              <a:gd name="T3" fmla="*/ 278945 h 440259"/>
              <a:gd name="T4" fmla="*/ 278945 h 440259"/>
              <a:gd name="T5" fmla="*/ 278945 h 440259"/>
              <a:gd name="T6" fmla="*/ 278945 h 440259"/>
              <a:gd name="T7" fmla="*/ 278945 h 440259"/>
              <a:gd name="T8" fmla="*/ 278945 h 440259"/>
              <a:gd name="T9" fmla="*/ 278945 h 440259"/>
              <a:gd name="T10" fmla="*/ 278945 h 440259"/>
              <a:gd name="T11" fmla="*/ 278945 h 440259"/>
              <a:gd name="T12" fmla="*/ 278945 h 440259"/>
              <a:gd name="T13" fmla="*/ 278945 h 440259"/>
              <a:gd name="T14" fmla="*/ 278945 h 440259"/>
              <a:gd name="T15" fmla="*/ 278945 h 440259"/>
              <a:gd name="T16" fmla="*/ 278945 h 440259"/>
              <a:gd name="T17" fmla="*/ 278945 h 440259"/>
              <a:gd name="T18" fmla="*/ 278945 h 440259"/>
              <a:gd name="T19" fmla="*/ 278945 h 440259"/>
              <a:gd name="T20" fmla="*/ 278945 h 440259"/>
              <a:gd name="T21" fmla="*/ 278945 h 440259"/>
              <a:gd name="T22" fmla="*/ 278945 h 440259"/>
              <a:gd name="T23" fmla="*/ 278945 h 440259"/>
              <a:gd name="T24" fmla="*/ 278945 h 440259"/>
              <a:gd name="T25" fmla="*/ 278945 h 440259"/>
              <a:gd name="T26" fmla="*/ 278945 h 440259"/>
              <a:gd name="T27" fmla="*/ 278945 h 440259"/>
              <a:gd name="T28" fmla="*/ 278945 h 440259"/>
              <a:gd name="T29" fmla="*/ 278945 h 440259"/>
              <a:gd name="T30" fmla="*/ 278945 h 440259"/>
              <a:gd name="T31" fmla="*/ 278945 h 440259"/>
              <a:gd name="T32" fmla="*/ 278945 h 440259"/>
              <a:gd name="T33" fmla="*/ 278945 h 440259"/>
              <a:gd name="T34" fmla="*/ 278945 h 440259"/>
              <a:gd name="T35" fmla="*/ 278945 h 440259"/>
              <a:gd name="T36" fmla="*/ 278945 h 440259"/>
              <a:gd name="T37" fmla="*/ 278945 h 440259"/>
              <a:gd name="T38" fmla="*/ 278945 h 440259"/>
              <a:gd name="T39" fmla="*/ 278945 h 440259"/>
              <a:gd name="T40" fmla="*/ 278945 h 440259"/>
              <a:gd name="T41" fmla="*/ 278945 h 440259"/>
              <a:gd name="T42" fmla="*/ 278945 h 440259"/>
              <a:gd name="T43" fmla="*/ 278945 h 440259"/>
              <a:gd name="T44" fmla="*/ 278945 h 440259"/>
              <a:gd name="T45" fmla="*/ 278945 h 440259"/>
              <a:gd name="T46" fmla="*/ 278945 h 440259"/>
              <a:gd name="T47" fmla="*/ 278945 h 440259"/>
              <a:gd name="T48" fmla="*/ 278945 h 440259"/>
              <a:gd name="T49" fmla="*/ 278945 h 440259"/>
              <a:gd name="T50" fmla="*/ 278945 h 440259"/>
              <a:gd name="T51" fmla="*/ 278945 h 440259"/>
              <a:gd name="T52" fmla="*/ 278945 h 440259"/>
              <a:gd name="T53" fmla="*/ 278945 h 440259"/>
              <a:gd name="T54" fmla="*/ 278945 h 440259"/>
              <a:gd name="T55" fmla="*/ 278945 h 440259"/>
              <a:gd name="T56" fmla="*/ 278945 h 440259"/>
              <a:gd name="T57" fmla="*/ 278945 h 440259"/>
              <a:gd name="T58" fmla="*/ 278945 h 440259"/>
              <a:gd name="T59" fmla="*/ 278945 h 440259"/>
              <a:gd name="T60" fmla="*/ 278945 h 440259"/>
              <a:gd name="T61" fmla="*/ 278945 h 440259"/>
              <a:gd name="T62" fmla="*/ 278945 h 440259"/>
              <a:gd name="T63" fmla="*/ 278945 h 440259"/>
              <a:gd name="T64" fmla="*/ 278945 h 440259"/>
              <a:gd name="T65" fmla="*/ 278945 h 440259"/>
              <a:gd name="T66" fmla="*/ 278945 h 440259"/>
              <a:gd name="T67" fmla="*/ 278945 h 440259"/>
              <a:gd name="T68" fmla="*/ 278945 h 440259"/>
              <a:gd name="T69" fmla="*/ 278945 h 440259"/>
              <a:gd name="T70" fmla="*/ 278945 h 440259"/>
              <a:gd name="T71" fmla="*/ 278945 h 440259"/>
              <a:gd name="T72" fmla="*/ 278945 h 440259"/>
              <a:gd name="T73" fmla="*/ 278945 h 440259"/>
              <a:gd name="T74" fmla="*/ 278945 h 440259"/>
              <a:gd name="T75" fmla="*/ 278945 h 440259"/>
              <a:gd name="T76" fmla="*/ 278945 h 440259"/>
              <a:gd name="T77" fmla="*/ 278945 h 440259"/>
              <a:gd name="T78" fmla="*/ 278945 h 440259"/>
              <a:gd name="T79" fmla="*/ 278945 h 440259"/>
              <a:gd name="T80" fmla="*/ 278945 h 440259"/>
              <a:gd name="T81" fmla="*/ 278945 h 440259"/>
              <a:gd name="T82" fmla="*/ 278945 h 440259"/>
              <a:gd name="T83" fmla="*/ 278945 h 440259"/>
              <a:gd name="T84" fmla="*/ 88862 h 440259"/>
              <a:gd name="T85" fmla="*/ 88862 h 440259"/>
              <a:gd name="T86" fmla="*/ 278945 h 440259"/>
              <a:gd name="T87" fmla="*/ 278945 h 44025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Lst>
            <a:rect l="0" t="0" r="r" b="b"/>
            <a:pathLst>
              <a:path w="6495" h="6508">
                <a:moveTo>
                  <a:pt x="6495" y="203"/>
                </a:moveTo>
                <a:lnTo>
                  <a:pt x="6495" y="197"/>
                </a:lnTo>
                <a:cubicBezTo>
                  <a:pt x="6495" y="193"/>
                  <a:pt x="6493" y="191"/>
                  <a:pt x="6493" y="187"/>
                </a:cubicBezTo>
                <a:cubicBezTo>
                  <a:pt x="6493" y="184"/>
                  <a:pt x="6493" y="181"/>
                  <a:pt x="6492" y="179"/>
                </a:cubicBezTo>
                <a:cubicBezTo>
                  <a:pt x="6492" y="176"/>
                  <a:pt x="6491" y="173"/>
                  <a:pt x="6491" y="172"/>
                </a:cubicBezTo>
                <a:cubicBezTo>
                  <a:pt x="6489" y="169"/>
                  <a:pt x="6489" y="165"/>
                  <a:pt x="6488" y="163"/>
                </a:cubicBezTo>
                <a:cubicBezTo>
                  <a:pt x="6488" y="161"/>
                  <a:pt x="6487" y="160"/>
                  <a:pt x="6487" y="157"/>
                </a:cubicBezTo>
                <a:lnTo>
                  <a:pt x="6483" y="145"/>
                </a:lnTo>
                <a:cubicBezTo>
                  <a:pt x="6483" y="144"/>
                  <a:pt x="6481" y="144"/>
                  <a:pt x="6481" y="143"/>
                </a:cubicBezTo>
                <a:cubicBezTo>
                  <a:pt x="6480" y="139"/>
                  <a:pt x="6477" y="133"/>
                  <a:pt x="6475" y="129"/>
                </a:cubicBezTo>
                <a:cubicBezTo>
                  <a:pt x="6475" y="128"/>
                  <a:pt x="6473" y="127"/>
                  <a:pt x="6473" y="127"/>
                </a:cubicBezTo>
                <a:cubicBezTo>
                  <a:pt x="6471" y="123"/>
                  <a:pt x="6469" y="119"/>
                  <a:pt x="6467" y="115"/>
                </a:cubicBezTo>
                <a:cubicBezTo>
                  <a:pt x="6457" y="101"/>
                  <a:pt x="6447" y="89"/>
                  <a:pt x="6435" y="79"/>
                </a:cubicBezTo>
                <a:cubicBezTo>
                  <a:pt x="6385" y="23"/>
                  <a:pt x="6304" y="0"/>
                  <a:pt x="6231" y="31"/>
                </a:cubicBezTo>
                <a:lnTo>
                  <a:pt x="112" y="2559"/>
                </a:lnTo>
                <a:cubicBezTo>
                  <a:pt x="111" y="2560"/>
                  <a:pt x="108" y="2560"/>
                  <a:pt x="107" y="2561"/>
                </a:cubicBezTo>
                <a:cubicBezTo>
                  <a:pt x="103" y="2563"/>
                  <a:pt x="100" y="2564"/>
                  <a:pt x="96" y="2567"/>
                </a:cubicBezTo>
                <a:lnTo>
                  <a:pt x="88" y="2571"/>
                </a:lnTo>
                <a:cubicBezTo>
                  <a:pt x="85" y="2572"/>
                  <a:pt x="83" y="2573"/>
                  <a:pt x="80" y="2576"/>
                </a:cubicBezTo>
                <a:cubicBezTo>
                  <a:pt x="77" y="2577"/>
                  <a:pt x="75" y="2580"/>
                  <a:pt x="72" y="2581"/>
                </a:cubicBezTo>
                <a:cubicBezTo>
                  <a:pt x="69" y="2583"/>
                  <a:pt x="68" y="2584"/>
                  <a:pt x="65" y="2587"/>
                </a:cubicBezTo>
                <a:cubicBezTo>
                  <a:pt x="63" y="2588"/>
                  <a:pt x="61" y="2591"/>
                  <a:pt x="59" y="2593"/>
                </a:cubicBezTo>
                <a:cubicBezTo>
                  <a:pt x="56" y="2595"/>
                  <a:pt x="55" y="2597"/>
                  <a:pt x="52" y="2599"/>
                </a:cubicBezTo>
                <a:lnTo>
                  <a:pt x="45" y="2605"/>
                </a:lnTo>
                <a:cubicBezTo>
                  <a:pt x="44" y="2608"/>
                  <a:pt x="41" y="2609"/>
                  <a:pt x="40" y="2612"/>
                </a:cubicBezTo>
                <a:cubicBezTo>
                  <a:pt x="39" y="2615"/>
                  <a:pt x="36" y="2617"/>
                  <a:pt x="35" y="2619"/>
                </a:cubicBezTo>
                <a:cubicBezTo>
                  <a:pt x="33" y="2621"/>
                  <a:pt x="31" y="2623"/>
                  <a:pt x="29" y="2625"/>
                </a:cubicBezTo>
                <a:cubicBezTo>
                  <a:pt x="28" y="2628"/>
                  <a:pt x="25" y="2631"/>
                  <a:pt x="24" y="2633"/>
                </a:cubicBezTo>
                <a:cubicBezTo>
                  <a:pt x="23" y="2636"/>
                  <a:pt x="21" y="2637"/>
                  <a:pt x="20" y="2640"/>
                </a:cubicBezTo>
                <a:cubicBezTo>
                  <a:pt x="17" y="2644"/>
                  <a:pt x="16" y="2648"/>
                  <a:pt x="15" y="2652"/>
                </a:cubicBezTo>
                <a:cubicBezTo>
                  <a:pt x="15" y="2653"/>
                  <a:pt x="13" y="2655"/>
                  <a:pt x="12" y="2656"/>
                </a:cubicBezTo>
                <a:lnTo>
                  <a:pt x="12" y="2656"/>
                </a:lnTo>
                <a:cubicBezTo>
                  <a:pt x="9" y="2661"/>
                  <a:pt x="8" y="2667"/>
                  <a:pt x="7" y="2672"/>
                </a:cubicBezTo>
                <a:lnTo>
                  <a:pt x="7" y="2673"/>
                </a:lnTo>
                <a:cubicBezTo>
                  <a:pt x="5" y="2679"/>
                  <a:pt x="4" y="2684"/>
                  <a:pt x="3" y="2691"/>
                </a:cubicBezTo>
                <a:cubicBezTo>
                  <a:pt x="3" y="2693"/>
                  <a:pt x="1" y="2696"/>
                  <a:pt x="1" y="2699"/>
                </a:cubicBezTo>
                <a:cubicBezTo>
                  <a:pt x="1" y="2701"/>
                  <a:pt x="0" y="2705"/>
                  <a:pt x="0" y="2708"/>
                </a:cubicBezTo>
                <a:lnTo>
                  <a:pt x="0" y="2716"/>
                </a:lnTo>
                <a:lnTo>
                  <a:pt x="0" y="2725"/>
                </a:lnTo>
                <a:lnTo>
                  <a:pt x="0" y="2733"/>
                </a:lnTo>
                <a:lnTo>
                  <a:pt x="0" y="2743"/>
                </a:lnTo>
                <a:cubicBezTo>
                  <a:pt x="0" y="2745"/>
                  <a:pt x="1" y="2748"/>
                  <a:pt x="1" y="2749"/>
                </a:cubicBezTo>
                <a:cubicBezTo>
                  <a:pt x="1" y="2753"/>
                  <a:pt x="3" y="2756"/>
                  <a:pt x="3" y="2760"/>
                </a:cubicBezTo>
                <a:cubicBezTo>
                  <a:pt x="4" y="2764"/>
                  <a:pt x="4" y="2768"/>
                  <a:pt x="5" y="2772"/>
                </a:cubicBezTo>
                <a:cubicBezTo>
                  <a:pt x="7" y="2775"/>
                  <a:pt x="7" y="2777"/>
                  <a:pt x="8" y="2780"/>
                </a:cubicBezTo>
                <a:cubicBezTo>
                  <a:pt x="9" y="2784"/>
                  <a:pt x="11" y="2789"/>
                  <a:pt x="13" y="2793"/>
                </a:cubicBezTo>
                <a:lnTo>
                  <a:pt x="13" y="2793"/>
                </a:lnTo>
                <a:cubicBezTo>
                  <a:pt x="15" y="2799"/>
                  <a:pt x="17" y="2803"/>
                  <a:pt x="20" y="2807"/>
                </a:cubicBezTo>
                <a:cubicBezTo>
                  <a:pt x="20" y="2808"/>
                  <a:pt x="21" y="2809"/>
                  <a:pt x="21" y="2809"/>
                </a:cubicBezTo>
                <a:cubicBezTo>
                  <a:pt x="23" y="2813"/>
                  <a:pt x="25" y="2816"/>
                  <a:pt x="28" y="2820"/>
                </a:cubicBezTo>
                <a:cubicBezTo>
                  <a:pt x="29" y="2821"/>
                  <a:pt x="29" y="2823"/>
                  <a:pt x="31" y="2824"/>
                </a:cubicBezTo>
                <a:cubicBezTo>
                  <a:pt x="33" y="2828"/>
                  <a:pt x="35" y="2831"/>
                  <a:pt x="37" y="2833"/>
                </a:cubicBezTo>
                <a:cubicBezTo>
                  <a:pt x="39" y="2835"/>
                  <a:pt x="39" y="2836"/>
                  <a:pt x="40" y="2836"/>
                </a:cubicBezTo>
                <a:cubicBezTo>
                  <a:pt x="44" y="2840"/>
                  <a:pt x="47" y="2844"/>
                  <a:pt x="51" y="2848"/>
                </a:cubicBezTo>
                <a:lnTo>
                  <a:pt x="51" y="2848"/>
                </a:lnTo>
                <a:cubicBezTo>
                  <a:pt x="55" y="2852"/>
                  <a:pt x="59" y="2855"/>
                  <a:pt x="63" y="2859"/>
                </a:cubicBezTo>
                <a:cubicBezTo>
                  <a:pt x="64" y="2860"/>
                  <a:pt x="65" y="2861"/>
                  <a:pt x="67" y="2861"/>
                </a:cubicBezTo>
                <a:cubicBezTo>
                  <a:pt x="69" y="2864"/>
                  <a:pt x="73" y="2867"/>
                  <a:pt x="76" y="2868"/>
                </a:cubicBezTo>
                <a:cubicBezTo>
                  <a:pt x="77" y="2869"/>
                  <a:pt x="79" y="2869"/>
                  <a:pt x="80" y="2871"/>
                </a:cubicBezTo>
                <a:cubicBezTo>
                  <a:pt x="84" y="2873"/>
                  <a:pt x="89" y="2876"/>
                  <a:pt x="93" y="2879"/>
                </a:cubicBezTo>
                <a:cubicBezTo>
                  <a:pt x="95" y="2879"/>
                  <a:pt x="95" y="2880"/>
                  <a:pt x="96" y="2880"/>
                </a:cubicBezTo>
                <a:cubicBezTo>
                  <a:pt x="100" y="2883"/>
                  <a:pt x="104" y="2884"/>
                  <a:pt x="109" y="2887"/>
                </a:cubicBezTo>
                <a:cubicBezTo>
                  <a:pt x="111" y="2887"/>
                  <a:pt x="111" y="2888"/>
                  <a:pt x="112" y="2888"/>
                </a:cubicBezTo>
                <a:lnTo>
                  <a:pt x="2579" y="3933"/>
                </a:lnTo>
                <a:lnTo>
                  <a:pt x="3624" y="6400"/>
                </a:lnTo>
                <a:cubicBezTo>
                  <a:pt x="3625" y="6405"/>
                  <a:pt x="3628" y="6409"/>
                  <a:pt x="3631" y="6413"/>
                </a:cubicBezTo>
                <a:cubicBezTo>
                  <a:pt x="3631" y="6415"/>
                  <a:pt x="3632" y="6416"/>
                  <a:pt x="3632" y="6416"/>
                </a:cubicBezTo>
                <a:cubicBezTo>
                  <a:pt x="3635" y="6420"/>
                  <a:pt x="3636" y="6423"/>
                  <a:pt x="3639" y="6427"/>
                </a:cubicBezTo>
                <a:cubicBezTo>
                  <a:pt x="3640" y="6428"/>
                  <a:pt x="3640" y="6429"/>
                  <a:pt x="3641" y="6431"/>
                </a:cubicBezTo>
                <a:cubicBezTo>
                  <a:pt x="3644" y="6435"/>
                  <a:pt x="3647" y="6437"/>
                  <a:pt x="3648" y="6440"/>
                </a:cubicBezTo>
                <a:cubicBezTo>
                  <a:pt x="3649" y="6441"/>
                  <a:pt x="3649" y="6443"/>
                  <a:pt x="3651" y="6443"/>
                </a:cubicBezTo>
                <a:cubicBezTo>
                  <a:pt x="3655" y="6447"/>
                  <a:pt x="3657" y="6451"/>
                  <a:pt x="3661" y="6455"/>
                </a:cubicBezTo>
                <a:lnTo>
                  <a:pt x="3663" y="6456"/>
                </a:lnTo>
                <a:cubicBezTo>
                  <a:pt x="3667" y="6459"/>
                  <a:pt x="3669" y="6463"/>
                  <a:pt x="3673" y="6465"/>
                </a:cubicBezTo>
                <a:cubicBezTo>
                  <a:pt x="3675" y="6467"/>
                  <a:pt x="3676" y="6468"/>
                  <a:pt x="3677" y="6468"/>
                </a:cubicBezTo>
                <a:cubicBezTo>
                  <a:pt x="3680" y="6471"/>
                  <a:pt x="3684" y="6473"/>
                  <a:pt x="3687" y="6475"/>
                </a:cubicBezTo>
                <a:cubicBezTo>
                  <a:pt x="3688" y="6476"/>
                  <a:pt x="3689" y="6476"/>
                  <a:pt x="3691" y="6477"/>
                </a:cubicBezTo>
                <a:cubicBezTo>
                  <a:pt x="3695" y="6480"/>
                  <a:pt x="3700" y="6483"/>
                  <a:pt x="3704" y="6485"/>
                </a:cubicBezTo>
                <a:cubicBezTo>
                  <a:pt x="3705" y="6485"/>
                  <a:pt x="3707" y="6487"/>
                  <a:pt x="3707" y="6487"/>
                </a:cubicBezTo>
                <a:cubicBezTo>
                  <a:pt x="3711" y="6489"/>
                  <a:pt x="3715" y="6491"/>
                  <a:pt x="3719" y="6492"/>
                </a:cubicBezTo>
                <a:cubicBezTo>
                  <a:pt x="3720" y="6492"/>
                  <a:pt x="3720" y="6493"/>
                  <a:pt x="3721" y="6493"/>
                </a:cubicBezTo>
                <a:cubicBezTo>
                  <a:pt x="3721" y="6493"/>
                  <a:pt x="3723" y="6493"/>
                  <a:pt x="3723" y="6495"/>
                </a:cubicBezTo>
                <a:cubicBezTo>
                  <a:pt x="3727" y="6496"/>
                  <a:pt x="3732" y="6499"/>
                  <a:pt x="3736" y="6500"/>
                </a:cubicBezTo>
                <a:lnTo>
                  <a:pt x="3737" y="6500"/>
                </a:lnTo>
                <a:cubicBezTo>
                  <a:pt x="3743" y="6501"/>
                  <a:pt x="3747" y="6503"/>
                  <a:pt x="3752" y="6504"/>
                </a:cubicBezTo>
                <a:cubicBezTo>
                  <a:pt x="3753" y="6504"/>
                  <a:pt x="3756" y="6504"/>
                  <a:pt x="3757" y="6505"/>
                </a:cubicBezTo>
                <a:cubicBezTo>
                  <a:pt x="3761" y="6505"/>
                  <a:pt x="3764" y="6507"/>
                  <a:pt x="3768" y="6507"/>
                </a:cubicBezTo>
                <a:lnTo>
                  <a:pt x="3773" y="6507"/>
                </a:lnTo>
                <a:cubicBezTo>
                  <a:pt x="3779" y="6507"/>
                  <a:pt x="3783" y="6508"/>
                  <a:pt x="3788" y="6508"/>
                </a:cubicBezTo>
                <a:lnTo>
                  <a:pt x="3788" y="6508"/>
                </a:lnTo>
                <a:lnTo>
                  <a:pt x="3788" y="6508"/>
                </a:lnTo>
                <a:lnTo>
                  <a:pt x="3788" y="6508"/>
                </a:lnTo>
                <a:lnTo>
                  <a:pt x="3788" y="6508"/>
                </a:lnTo>
                <a:cubicBezTo>
                  <a:pt x="3793" y="6508"/>
                  <a:pt x="3799" y="6508"/>
                  <a:pt x="3803" y="6507"/>
                </a:cubicBezTo>
                <a:lnTo>
                  <a:pt x="3808" y="6507"/>
                </a:lnTo>
                <a:cubicBezTo>
                  <a:pt x="3812" y="6507"/>
                  <a:pt x="3816" y="6505"/>
                  <a:pt x="3819" y="6505"/>
                </a:cubicBezTo>
                <a:cubicBezTo>
                  <a:pt x="3820" y="6505"/>
                  <a:pt x="3823" y="6505"/>
                  <a:pt x="3824" y="6504"/>
                </a:cubicBezTo>
                <a:cubicBezTo>
                  <a:pt x="3829" y="6503"/>
                  <a:pt x="3835" y="6501"/>
                  <a:pt x="3839" y="6500"/>
                </a:cubicBezTo>
                <a:cubicBezTo>
                  <a:pt x="3840" y="6500"/>
                  <a:pt x="3840" y="6500"/>
                  <a:pt x="3841" y="6499"/>
                </a:cubicBezTo>
                <a:cubicBezTo>
                  <a:pt x="3845" y="6497"/>
                  <a:pt x="3851" y="6496"/>
                  <a:pt x="3855" y="6493"/>
                </a:cubicBezTo>
                <a:cubicBezTo>
                  <a:pt x="3856" y="6493"/>
                  <a:pt x="3856" y="6493"/>
                  <a:pt x="3857" y="6492"/>
                </a:cubicBezTo>
                <a:cubicBezTo>
                  <a:pt x="3859" y="6492"/>
                  <a:pt x="3859" y="6491"/>
                  <a:pt x="3860" y="6491"/>
                </a:cubicBezTo>
                <a:cubicBezTo>
                  <a:pt x="3864" y="6489"/>
                  <a:pt x="3868" y="6487"/>
                  <a:pt x="3872" y="6484"/>
                </a:cubicBezTo>
                <a:cubicBezTo>
                  <a:pt x="3873" y="6484"/>
                  <a:pt x="3873" y="6483"/>
                  <a:pt x="3875" y="6483"/>
                </a:cubicBezTo>
                <a:cubicBezTo>
                  <a:pt x="3879" y="6480"/>
                  <a:pt x="3884" y="6477"/>
                  <a:pt x="3888" y="6475"/>
                </a:cubicBezTo>
                <a:cubicBezTo>
                  <a:pt x="3889" y="6473"/>
                  <a:pt x="3891" y="6473"/>
                  <a:pt x="3892" y="6472"/>
                </a:cubicBezTo>
                <a:cubicBezTo>
                  <a:pt x="3895" y="6469"/>
                  <a:pt x="3899" y="6468"/>
                  <a:pt x="3901" y="6465"/>
                </a:cubicBezTo>
                <a:cubicBezTo>
                  <a:pt x="3903" y="6464"/>
                  <a:pt x="3904" y="6463"/>
                  <a:pt x="3905" y="6463"/>
                </a:cubicBezTo>
                <a:cubicBezTo>
                  <a:pt x="3909" y="6459"/>
                  <a:pt x="3913" y="6456"/>
                  <a:pt x="3916" y="6452"/>
                </a:cubicBezTo>
                <a:lnTo>
                  <a:pt x="3916" y="6452"/>
                </a:lnTo>
                <a:cubicBezTo>
                  <a:pt x="3920" y="6448"/>
                  <a:pt x="3923" y="6444"/>
                  <a:pt x="3927" y="6440"/>
                </a:cubicBezTo>
                <a:cubicBezTo>
                  <a:pt x="3928" y="6439"/>
                  <a:pt x="3928" y="6437"/>
                  <a:pt x="3929" y="6436"/>
                </a:cubicBezTo>
                <a:cubicBezTo>
                  <a:pt x="3932" y="6433"/>
                  <a:pt x="3935" y="6429"/>
                  <a:pt x="3936" y="6427"/>
                </a:cubicBezTo>
                <a:cubicBezTo>
                  <a:pt x="3937" y="6425"/>
                  <a:pt x="3937" y="6424"/>
                  <a:pt x="3939" y="6423"/>
                </a:cubicBezTo>
                <a:cubicBezTo>
                  <a:pt x="3941" y="6419"/>
                  <a:pt x="3943" y="6416"/>
                  <a:pt x="3945" y="6412"/>
                </a:cubicBezTo>
                <a:cubicBezTo>
                  <a:pt x="3945" y="6411"/>
                  <a:pt x="3947" y="6409"/>
                  <a:pt x="3947" y="6409"/>
                </a:cubicBezTo>
                <a:cubicBezTo>
                  <a:pt x="3949" y="6405"/>
                  <a:pt x="3951" y="6400"/>
                  <a:pt x="3953" y="6396"/>
                </a:cubicBezTo>
                <a:lnTo>
                  <a:pt x="6481" y="284"/>
                </a:lnTo>
                <a:cubicBezTo>
                  <a:pt x="6485" y="273"/>
                  <a:pt x="6489" y="261"/>
                  <a:pt x="6492" y="249"/>
                </a:cubicBezTo>
                <a:cubicBezTo>
                  <a:pt x="6493" y="245"/>
                  <a:pt x="6493" y="240"/>
                  <a:pt x="6493" y="236"/>
                </a:cubicBezTo>
                <a:lnTo>
                  <a:pt x="6493" y="232"/>
                </a:lnTo>
                <a:cubicBezTo>
                  <a:pt x="6493" y="227"/>
                  <a:pt x="6493" y="223"/>
                  <a:pt x="6495" y="217"/>
                </a:cubicBezTo>
                <a:lnTo>
                  <a:pt x="6495" y="215"/>
                </a:lnTo>
                <a:lnTo>
                  <a:pt x="6495" y="203"/>
                </a:lnTo>
                <a:close/>
                <a:moveTo>
                  <a:pt x="648" y="2727"/>
                </a:moveTo>
                <a:lnTo>
                  <a:pt x="5589" y="687"/>
                </a:lnTo>
                <a:lnTo>
                  <a:pt x="2685" y="3589"/>
                </a:lnTo>
                <a:lnTo>
                  <a:pt x="648" y="2727"/>
                </a:lnTo>
                <a:close/>
                <a:moveTo>
                  <a:pt x="3787" y="5865"/>
                </a:moveTo>
                <a:lnTo>
                  <a:pt x="2933" y="3851"/>
                </a:lnTo>
                <a:lnTo>
                  <a:pt x="5804" y="981"/>
                </a:lnTo>
                <a:lnTo>
                  <a:pt x="3787" y="5865"/>
                </a:ln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grpSp>
        <p:nvGrpSpPr>
          <p:cNvPr id="6" name="组合 5">
            <a:extLst>
              <a:ext uri="{FF2B5EF4-FFF2-40B4-BE49-F238E27FC236}">
                <a16:creationId xmlns:a16="http://schemas.microsoft.com/office/drawing/2014/main" id="{7B85E33D-82F9-4F7F-9920-FDADE8A740CC}"/>
              </a:ext>
            </a:extLst>
          </p:cNvPr>
          <p:cNvGrpSpPr/>
          <p:nvPr/>
        </p:nvGrpSpPr>
        <p:grpSpPr>
          <a:xfrm>
            <a:off x="2394673" y="1220245"/>
            <a:ext cx="2627454" cy="2428427"/>
            <a:chOff x="2394673" y="1220245"/>
            <a:chExt cx="2627454" cy="2428427"/>
          </a:xfrm>
        </p:grpSpPr>
        <p:sp>
          <p:nvSpPr>
            <p:cNvPr id="275" name="靖飞在肝PPT54-1">
              <a:extLst>
                <a:ext uri="{FF2B5EF4-FFF2-40B4-BE49-F238E27FC236}">
                  <a16:creationId xmlns:a16="http://schemas.microsoft.com/office/drawing/2014/main" id="{BE63C6A6-F184-48A8-BD52-9465E1821385}"/>
                </a:ext>
              </a:extLst>
            </p:cNvPr>
            <p:cNvSpPr/>
            <p:nvPr/>
          </p:nvSpPr>
          <p:spPr>
            <a:xfrm rot="5400000">
              <a:off x="2654535" y="960383"/>
              <a:ext cx="2107730" cy="2627454"/>
            </a:xfrm>
            <a:prstGeom prst="roundRect">
              <a:avLst>
                <a:gd name="adj" fmla="val 9138"/>
              </a:avLst>
            </a:prstGeom>
            <a:solidFill>
              <a:schemeClr val="bg1"/>
            </a:solidFill>
            <a:ln w="15875">
              <a:solidFill>
                <a:schemeClr val="accent1"/>
              </a:solidFill>
              <a:prstDash val="solid"/>
            </a:ln>
            <a:effectLst>
              <a:outerShdw dist="76200" dir="2400000" algn="tl" rotWithShape="0">
                <a:schemeClr val="bg2"/>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76" name="靖飞在肝PPT54-2">
              <a:extLst>
                <a:ext uri="{FF2B5EF4-FFF2-40B4-BE49-F238E27FC236}">
                  <a16:creationId xmlns:a16="http://schemas.microsoft.com/office/drawing/2014/main" id="{6A47AD27-A63C-45DE-A066-3754EE16A374}"/>
                </a:ext>
              </a:extLst>
            </p:cNvPr>
            <p:cNvSpPr txBox="1"/>
            <p:nvPr/>
          </p:nvSpPr>
          <p:spPr>
            <a:xfrm>
              <a:off x="2471545" y="1624377"/>
              <a:ext cx="2473710" cy="1626151"/>
            </a:xfrm>
            <a:prstGeom prst="rect">
              <a:avLst/>
            </a:prstGeom>
            <a:noFill/>
          </p:spPr>
          <p:txBody>
            <a:bodyPr wrap="square">
              <a:spAutoFit/>
            </a:bodyPr>
            <a:lstStyle>
              <a:defPPr>
                <a:defRPr lang="zh-CN"/>
              </a:defPPr>
              <a:lvl1pPr>
                <a:lnSpc>
                  <a:spcPct val="120000"/>
                </a:lnSpc>
                <a:defRPr sz="1400">
                  <a:latin typeface="思源黑体 CN Regular" panose="020B0500000000000000" pitchFamily="34" charset="-122"/>
                  <a:ea typeface="思源黑体 CN Regular" panose="020B0500000000000000" pitchFamily="34" charset="-122"/>
                  <a:cs typeface="OPPOSans M" panose="00020600040101010101" pitchFamily="18" charset="-122"/>
                </a:defRPr>
              </a:lvl1pPr>
            </a:lstStyle>
            <a:p>
              <a:pPr algn="ctr"/>
              <a:r>
                <a:rPr lang="zh-CN" altLang="en-US" dirty="0"/>
                <a:t>奥沙利铂是中晚期肝癌一线化疗药，</a:t>
              </a:r>
              <a:r>
                <a:rPr lang="en-US" altLang="zh-CN" dirty="0"/>
                <a:t>37.2%</a:t>
              </a:r>
              <a:r>
                <a:rPr lang="zh-CN" altLang="en-US" dirty="0"/>
                <a:t>患者出现原发</a:t>
              </a:r>
              <a:r>
                <a:rPr lang="en-US" altLang="zh-CN" dirty="0"/>
                <a:t>/</a:t>
              </a:r>
              <a:r>
                <a:rPr lang="zh-CN" altLang="en-US" dirty="0"/>
                <a:t>继发耐药。</a:t>
              </a:r>
              <a:r>
                <a:rPr lang="en-US" altLang="zh-CN" dirty="0"/>
                <a:t>PRMT3</a:t>
              </a:r>
              <a:r>
                <a:rPr lang="zh-CN" altLang="en-US" dirty="0"/>
                <a:t>高表达与肝癌耐药相关，其对</a:t>
              </a:r>
              <a:r>
                <a:rPr lang="en-US" altLang="zh-CN" dirty="0"/>
                <a:t>IGF2BP1</a:t>
              </a:r>
              <a:r>
                <a:rPr lang="zh-CN" altLang="en-US" dirty="0"/>
                <a:t>的甲基化修饰机制待阐明。</a:t>
              </a:r>
            </a:p>
          </p:txBody>
        </p:sp>
        <p:sp>
          <p:nvSpPr>
            <p:cNvPr id="277" name="靖飞在肝PPT54-3">
              <a:extLst>
                <a:ext uri="{FF2B5EF4-FFF2-40B4-BE49-F238E27FC236}">
                  <a16:creationId xmlns:a16="http://schemas.microsoft.com/office/drawing/2014/main" id="{D35C0549-5CEA-4B60-9221-9A9FAAC1679D}"/>
                </a:ext>
              </a:extLst>
            </p:cNvPr>
            <p:cNvSpPr txBox="1"/>
            <p:nvPr/>
          </p:nvSpPr>
          <p:spPr>
            <a:xfrm>
              <a:off x="2471545" y="1238502"/>
              <a:ext cx="2473710" cy="385875"/>
            </a:xfrm>
            <a:prstGeom prst="rect">
              <a:avLst/>
            </a:prstGeom>
            <a:noFill/>
          </p:spPr>
          <p:txBody>
            <a:bodyPr wrap="square" rtlCol="0">
              <a:spAutoFit/>
            </a:bodyPr>
            <a:lstStyle>
              <a:defPPr>
                <a:defRPr lang="zh-CN"/>
              </a:defPPr>
              <a:lvl1pPr indent="0" algn="ctr">
                <a:lnSpc>
                  <a:spcPct val="130000"/>
                </a:lnSpc>
                <a:buFont typeface="Wingdings" panose="05000000000000000000" pitchFamily="2" charset="2"/>
                <a:buNone/>
                <a:defRPr sz="1600">
                  <a:solidFill>
                    <a:schemeClr val="accent1"/>
                  </a:solidFill>
                  <a:latin typeface="思源黑体 CN Bold" panose="020B0800000000000000" pitchFamily="34" charset="-122"/>
                  <a:ea typeface="思源黑体 CN Bold" panose="020B0800000000000000" pitchFamily="34" charset="-122"/>
                </a:defRPr>
              </a:lvl1pPr>
            </a:lstStyle>
            <a:p>
              <a:r>
                <a:rPr lang="zh-CN" altLang="en-US" dirty="0"/>
                <a:t>研究背景与科学问题</a:t>
              </a:r>
            </a:p>
          </p:txBody>
        </p:sp>
        <p:grpSp>
          <p:nvGrpSpPr>
            <p:cNvPr id="5" name="组合 4">
              <a:extLst>
                <a:ext uri="{FF2B5EF4-FFF2-40B4-BE49-F238E27FC236}">
                  <a16:creationId xmlns:a16="http://schemas.microsoft.com/office/drawing/2014/main" id="{82C6845B-E1F7-4EC5-A4CE-9CF5A10D450A}"/>
                </a:ext>
              </a:extLst>
            </p:cNvPr>
            <p:cNvGrpSpPr/>
            <p:nvPr/>
          </p:nvGrpSpPr>
          <p:grpSpPr>
            <a:xfrm>
              <a:off x="3604729" y="3224304"/>
              <a:ext cx="207342" cy="424368"/>
              <a:chOff x="3748901" y="3224304"/>
              <a:chExt cx="207342" cy="424368"/>
            </a:xfrm>
          </p:grpSpPr>
          <p:sp>
            <p:nvSpPr>
              <p:cNvPr id="279" name="靖飞在肝PPT54-5">
                <a:extLst>
                  <a:ext uri="{FF2B5EF4-FFF2-40B4-BE49-F238E27FC236}">
                    <a16:creationId xmlns:a16="http://schemas.microsoft.com/office/drawing/2014/main" id="{523D129F-A1C6-4B07-B1ED-7823052BF9F6}"/>
                  </a:ext>
                </a:extLst>
              </p:cNvPr>
              <p:cNvSpPr/>
              <p:nvPr/>
            </p:nvSpPr>
            <p:spPr>
              <a:xfrm>
                <a:off x="3748901" y="3224304"/>
                <a:ext cx="207342" cy="207342"/>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80" name="靖飞在肝PPT54-6">
                <a:extLst>
                  <a:ext uri="{FF2B5EF4-FFF2-40B4-BE49-F238E27FC236}">
                    <a16:creationId xmlns:a16="http://schemas.microsoft.com/office/drawing/2014/main" id="{DFE84E99-F110-41D4-AAEB-A82DB8E54F1A}"/>
                  </a:ext>
                </a:extLst>
              </p:cNvPr>
              <p:cNvSpPr/>
              <p:nvPr/>
            </p:nvSpPr>
            <p:spPr>
              <a:xfrm>
                <a:off x="3852571" y="3327975"/>
                <a:ext cx="45719" cy="320697"/>
              </a:xfrm>
              <a:custGeom>
                <a:avLst/>
                <a:gdLst>
                  <a:gd name="connsiteX0" fmla="*/ 0 w 0"/>
                  <a:gd name="connsiteY0" fmla="*/ 624625 h 624625"/>
                  <a:gd name="connsiteX1" fmla="*/ 0 w 0"/>
                  <a:gd name="connsiteY1" fmla="*/ 0 h 624625"/>
                </a:gdLst>
                <a:ahLst/>
                <a:cxnLst>
                  <a:cxn ang="0">
                    <a:pos x="connsiteX0" y="connsiteY0"/>
                  </a:cxn>
                  <a:cxn ang="0">
                    <a:pos x="connsiteX1" y="connsiteY1"/>
                  </a:cxn>
                </a:cxnLst>
                <a:rect l="l" t="t" r="r" b="b"/>
                <a:pathLst>
                  <a:path h="624625">
                    <a:moveTo>
                      <a:pt x="0" y="624625"/>
                    </a:moveTo>
                    <a:lnTo>
                      <a:pt x="0" y="0"/>
                    </a:lnTo>
                  </a:path>
                </a:pathLst>
              </a:custGeom>
              <a:noFill/>
              <a:ln w="15875">
                <a:solidFill>
                  <a:schemeClr val="accent1"/>
                </a:solidFill>
                <a:round/>
                <a:tailEnd type="oval" w="lg" len="lg"/>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grpSp>
        <p:nvGrpSpPr>
          <p:cNvPr id="10" name="组合 9">
            <a:extLst>
              <a:ext uri="{FF2B5EF4-FFF2-40B4-BE49-F238E27FC236}">
                <a16:creationId xmlns:a16="http://schemas.microsoft.com/office/drawing/2014/main" id="{A3C6D781-2430-4D4A-883C-AE6D9A8772CB}"/>
              </a:ext>
            </a:extLst>
          </p:cNvPr>
          <p:cNvGrpSpPr/>
          <p:nvPr/>
        </p:nvGrpSpPr>
        <p:grpSpPr>
          <a:xfrm>
            <a:off x="4103401" y="4157639"/>
            <a:ext cx="2627454" cy="2440054"/>
            <a:chOff x="3415878" y="4157639"/>
            <a:chExt cx="2627454" cy="2440054"/>
          </a:xfrm>
        </p:grpSpPr>
        <p:sp>
          <p:nvSpPr>
            <p:cNvPr id="303" name="靖飞在肝PPT57">
              <a:extLst>
                <a:ext uri="{FF2B5EF4-FFF2-40B4-BE49-F238E27FC236}">
                  <a16:creationId xmlns:a16="http://schemas.microsoft.com/office/drawing/2014/main" id="{1120AEA7-5E82-45EA-96EC-6825DFE581C3}"/>
                </a:ext>
              </a:extLst>
            </p:cNvPr>
            <p:cNvSpPr/>
            <p:nvPr/>
          </p:nvSpPr>
          <p:spPr>
            <a:xfrm rot="5400000">
              <a:off x="3675740" y="4230101"/>
              <a:ext cx="2107730" cy="2627454"/>
            </a:xfrm>
            <a:prstGeom prst="roundRect">
              <a:avLst>
                <a:gd name="adj" fmla="val 10213"/>
              </a:avLst>
            </a:prstGeom>
            <a:solidFill>
              <a:schemeClr val="bg1"/>
            </a:solidFill>
            <a:ln w="15875">
              <a:solidFill>
                <a:schemeClr val="accent1"/>
              </a:solidFill>
              <a:prstDash val="solid"/>
            </a:ln>
            <a:effectLst>
              <a:outerShdw dist="76200" dir="2400000" algn="tl" rotWithShape="0">
                <a:schemeClr val="bg2"/>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04" name="靖飞在肝PPT58">
              <a:extLst>
                <a:ext uri="{FF2B5EF4-FFF2-40B4-BE49-F238E27FC236}">
                  <a16:creationId xmlns:a16="http://schemas.microsoft.com/office/drawing/2014/main" id="{A55C851D-8FDA-4AB1-B94A-CDE565DB1CDB}"/>
                </a:ext>
              </a:extLst>
            </p:cNvPr>
            <p:cNvSpPr txBox="1"/>
            <p:nvPr/>
          </p:nvSpPr>
          <p:spPr>
            <a:xfrm>
              <a:off x="3504680" y="4980646"/>
              <a:ext cx="2454160" cy="1367618"/>
            </a:xfrm>
            <a:prstGeom prst="rect">
              <a:avLst/>
            </a:prstGeom>
            <a:noFill/>
          </p:spPr>
          <p:txBody>
            <a:bodyPr wrap="square">
              <a:spAutoFit/>
            </a:bodyPr>
            <a:lstStyle/>
            <a:p>
              <a:pPr algn="ctr">
                <a:lnSpc>
                  <a:spcPct val="120000"/>
                </a:lnSpc>
              </a:pPr>
              <a:r>
                <a:rPr lang="zh-CN" altLang="en-US" sz="1400" dirty="0">
                  <a:latin typeface="思源黑体 CN Regular" panose="020B0500000000000000" pitchFamily="34" charset="-122"/>
                  <a:ea typeface="思源黑体 CN Regular" panose="020B0500000000000000" pitchFamily="34" charset="-122"/>
                  <a:cs typeface="OPPOSans M" panose="00020600040101010101" pitchFamily="18" charset="-122"/>
                </a:rPr>
                <a:t>推测</a:t>
              </a:r>
              <a:r>
                <a:rPr lang="en-US" altLang="zh-CN" sz="1400" dirty="0">
                  <a:latin typeface="思源黑体 CN Regular" panose="020B0500000000000000" pitchFamily="34" charset="-122"/>
                  <a:ea typeface="思源黑体 CN Regular" panose="020B0500000000000000" pitchFamily="34" charset="-122"/>
                  <a:cs typeface="OPPOSans M" panose="00020600040101010101" pitchFamily="18" charset="-122"/>
                </a:rPr>
                <a:t>PRMT3</a:t>
              </a:r>
              <a:r>
                <a:rPr lang="zh-CN" altLang="en-US" sz="1400" dirty="0">
                  <a:latin typeface="思源黑体 CN Regular" panose="020B0500000000000000" pitchFamily="34" charset="-122"/>
                  <a:ea typeface="思源黑体 CN Regular" panose="020B0500000000000000" pitchFamily="34" charset="-122"/>
                  <a:cs typeface="OPPOSans M" panose="00020600040101010101" pitchFamily="18" charset="-122"/>
                </a:rPr>
                <a:t>催化</a:t>
              </a:r>
              <a:r>
                <a:rPr lang="en-US" altLang="zh-CN" sz="1400" dirty="0">
                  <a:latin typeface="思源黑体 CN Regular" panose="020B0500000000000000" pitchFamily="34" charset="-122"/>
                  <a:ea typeface="思源黑体 CN Regular" panose="020B0500000000000000" pitchFamily="34" charset="-122"/>
                  <a:cs typeface="OPPOSans M" panose="00020600040101010101" pitchFamily="18" charset="-122"/>
                </a:rPr>
                <a:t>IGF2BP1</a:t>
              </a:r>
              <a:r>
                <a:rPr lang="zh-CN" altLang="en-US" sz="1400" dirty="0">
                  <a:latin typeface="思源黑体 CN Regular" panose="020B0500000000000000" pitchFamily="34" charset="-122"/>
                  <a:ea typeface="思源黑体 CN Regular" panose="020B0500000000000000" pitchFamily="34" charset="-122"/>
                  <a:cs typeface="OPPOSans M" panose="00020600040101010101" pitchFamily="18" charset="-122"/>
                </a:rPr>
                <a:t>第</a:t>
              </a:r>
              <a:r>
                <a:rPr lang="en-US" altLang="zh-CN" sz="1400" dirty="0">
                  <a:latin typeface="思源黑体 CN Regular" panose="020B0500000000000000" pitchFamily="34" charset="-122"/>
                  <a:ea typeface="思源黑体 CN Regular" panose="020B0500000000000000" pitchFamily="34" charset="-122"/>
                  <a:cs typeface="OPPOSans M" panose="00020600040101010101" pitchFamily="18" charset="-122"/>
                </a:rPr>
                <a:t>452</a:t>
              </a:r>
              <a:r>
                <a:rPr lang="zh-CN" altLang="en-US" sz="1400" dirty="0">
                  <a:latin typeface="思源黑体 CN Regular" panose="020B0500000000000000" pitchFamily="34" charset="-122"/>
                  <a:ea typeface="思源黑体 CN Regular" panose="020B0500000000000000" pitchFamily="34" charset="-122"/>
                  <a:cs typeface="OPPOSans M" panose="00020600040101010101" pitchFamily="18" charset="-122"/>
                </a:rPr>
                <a:t>位精氨酸单甲基化，增强其</a:t>
              </a:r>
              <a:r>
                <a:rPr lang="en-US" altLang="zh-CN" sz="1400" dirty="0">
                  <a:latin typeface="思源黑体 CN Regular" panose="020B0500000000000000" pitchFamily="34" charset="-122"/>
                  <a:ea typeface="思源黑体 CN Regular" panose="020B0500000000000000" pitchFamily="34" charset="-122"/>
                  <a:cs typeface="OPPOSans M" panose="00020600040101010101" pitchFamily="18" charset="-122"/>
                </a:rPr>
                <a:t>mRNA</a:t>
              </a:r>
              <a:r>
                <a:rPr lang="zh-CN" altLang="en-US" sz="1400" dirty="0">
                  <a:latin typeface="思源黑体 CN Regular" panose="020B0500000000000000" pitchFamily="34" charset="-122"/>
                  <a:ea typeface="思源黑体 CN Regular" panose="020B0500000000000000" pitchFamily="34" charset="-122"/>
                  <a:cs typeface="OPPOSans M" panose="00020600040101010101" pitchFamily="18" charset="-122"/>
                </a:rPr>
                <a:t>结合能力，稳定耐药相关靶基因（如</a:t>
              </a:r>
              <a:r>
                <a:rPr lang="en-US" altLang="zh-CN" sz="1400" dirty="0">
                  <a:latin typeface="思源黑体 CN Regular" panose="020B0500000000000000" pitchFamily="34" charset="-122"/>
                  <a:ea typeface="思源黑体 CN Regular" panose="020B0500000000000000" pitchFamily="34" charset="-122"/>
                  <a:cs typeface="OPPOSans M" panose="00020600040101010101" pitchFamily="18" charset="-122"/>
                </a:rPr>
                <a:t>HEG1</a:t>
              </a:r>
              <a:r>
                <a:rPr lang="zh-CN" altLang="en-US" sz="1400" dirty="0">
                  <a:latin typeface="思源黑体 CN Regular" panose="020B0500000000000000" pitchFamily="34" charset="-122"/>
                  <a:ea typeface="思源黑体 CN Regular" panose="020B0500000000000000" pitchFamily="34" charset="-122"/>
                  <a:cs typeface="OPPOSans M" panose="00020600040101010101" pitchFamily="18" charset="-122"/>
                </a:rPr>
                <a:t>）表达，介导奥沙利铂耐药。</a:t>
              </a:r>
            </a:p>
          </p:txBody>
        </p:sp>
        <p:sp>
          <p:nvSpPr>
            <p:cNvPr id="305" name="靖飞在肝PPT59">
              <a:extLst>
                <a:ext uri="{FF2B5EF4-FFF2-40B4-BE49-F238E27FC236}">
                  <a16:creationId xmlns:a16="http://schemas.microsoft.com/office/drawing/2014/main" id="{93DC69B1-8C9B-48B7-8BD3-19C75068B9EE}"/>
                </a:ext>
              </a:extLst>
            </p:cNvPr>
            <p:cNvSpPr txBox="1"/>
            <p:nvPr/>
          </p:nvSpPr>
          <p:spPr>
            <a:xfrm>
              <a:off x="3415878" y="4594771"/>
              <a:ext cx="2627454" cy="385875"/>
            </a:xfrm>
            <a:prstGeom prst="rect">
              <a:avLst/>
            </a:prstGeom>
            <a:noFill/>
          </p:spPr>
          <p:txBody>
            <a:bodyPr wrap="square" rtlCol="0">
              <a:spAutoFit/>
            </a:bodyPr>
            <a:lstStyle>
              <a:defPPr>
                <a:defRPr lang="zh-CN"/>
              </a:defPPr>
              <a:lvl1pPr indent="0" algn="ctr">
                <a:lnSpc>
                  <a:spcPct val="130000"/>
                </a:lnSpc>
                <a:buFont typeface="Wingdings" panose="05000000000000000000" pitchFamily="2" charset="2"/>
                <a:buNone/>
                <a:defRPr sz="1600">
                  <a:solidFill>
                    <a:schemeClr val="accent1"/>
                  </a:solidFill>
                  <a:latin typeface="思源黑体 CN Bold" panose="020B0800000000000000" pitchFamily="34" charset="-122"/>
                  <a:ea typeface="思源黑体 CN Bold" panose="020B0800000000000000" pitchFamily="34" charset="-122"/>
                </a:defRPr>
              </a:lvl1pPr>
            </a:lstStyle>
            <a:p>
              <a:r>
                <a:rPr lang="zh-CN" altLang="en-US" dirty="0"/>
                <a:t>高端机型推广突破</a:t>
              </a:r>
            </a:p>
          </p:txBody>
        </p:sp>
        <p:grpSp>
          <p:nvGrpSpPr>
            <p:cNvPr id="7" name="组合 6">
              <a:extLst>
                <a:ext uri="{FF2B5EF4-FFF2-40B4-BE49-F238E27FC236}">
                  <a16:creationId xmlns:a16="http://schemas.microsoft.com/office/drawing/2014/main" id="{D17F8A80-B9A0-4493-B495-B21B722E651A}"/>
                </a:ext>
              </a:extLst>
            </p:cNvPr>
            <p:cNvGrpSpPr/>
            <p:nvPr/>
          </p:nvGrpSpPr>
          <p:grpSpPr>
            <a:xfrm>
              <a:off x="4623596" y="4157639"/>
              <a:ext cx="207342" cy="444689"/>
              <a:chOff x="4754866" y="4157639"/>
              <a:chExt cx="207342" cy="444689"/>
            </a:xfrm>
          </p:grpSpPr>
          <p:sp>
            <p:nvSpPr>
              <p:cNvPr id="316" name="靖飞在肝PPT69-1">
                <a:extLst>
                  <a:ext uri="{FF2B5EF4-FFF2-40B4-BE49-F238E27FC236}">
                    <a16:creationId xmlns:a16="http://schemas.microsoft.com/office/drawing/2014/main" id="{7B97F61A-D5F5-4E1C-8576-5DFD9BAB1DDB}"/>
                  </a:ext>
                </a:extLst>
              </p:cNvPr>
              <p:cNvSpPr/>
              <p:nvPr/>
            </p:nvSpPr>
            <p:spPr>
              <a:xfrm flipV="1">
                <a:off x="4754866" y="4394986"/>
                <a:ext cx="207342" cy="207342"/>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17" name="靖飞在肝PPT69-2">
                <a:extLst>
                  <a:ext uri="{FF2B5EF4-FFF2-40B4-BE49-F238E27FC236}">
                    <a16:creationId xmlns:a16="http://schemas.microsoft.com/office/drawing/2014/main" id="{0CBECDB0-B9A6-48A2-A46B-AF88CD425A23}"/>
                  </a:ext>
                </a:extLst>
              </p:cNvPr>
              <p:cNvSpPr/>
              <p:nvPr/>
            </p:nvSpPr>
            <p:spPr>
              <a:xfrm flipH="1" flipV="1">
                <a:off x="4812818" y="4157639"/>
                <a:ext cx="45719" cy="341017"/>
              </a:xfrm>
              <a:custGeom>
                <a:avLst/>
                <a:gdLst>
                  <a:gd name="connsiteX0" fmla="*/ 0 w 0"/>
                  <a:gd name="connsiteY0" fmla="*/ 624625 h 624625"/>
                  <a:gd name="connsiteX1" fmla="*/ 0 w 0"/>
                  <a:gd name="connsiteY1" fmla="*/ 0 h 624625"/>
                </a:gdLst>
                <a:ahLst/>
                <a:cxnLst>
                  <a:cxn ang="0">
                    <a:pos x="connsiteX0" y="connsiteY0"/>
                  </a:cxn>
                  <a:cxn ang="0">
                    <a:pos x="connsiteX1" y="connsiteY1"/>
                  </a:cxn>
                </a:cxnLst>
                <a:rect l="l" t="t" r="r" b="b"/>
                <a:pathLst>
                  <a:path h="624625">
                    <a:moveTo>
                      <a:pt x="0" y="624625"/>
                    </a:moveTo>
                    <a:lnTo>
                      <a:pt x="0" y="0"/>
                    </a:lnTo>
                  </a:path>
                </a:pathLst>
              </a:custGeom>
              <a:noFill/>
              <a:ln w="15875">
                <a:solidFill>
                  <a:schemeClr val="accent1"/>
                </a:solidFill>
                <a:round/>
                <a:tailEnd type="oval" w="lg" len="lg"/>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grpSp>
        <p:nvGrpSpPr>
          <p:cNvPr id="350" name="组合 349">
            <a:extLst>
              <a:ext uri="{FF2B5EF4-FFF2-40B4-BE49-F238E27FC236}">
                <a16:creationId xmlns:a16="http://schemas.microsoft.com/office/drawing/2014/main" id="{66624794-545B-4C3C-BFB4-1C77F35EE46B}"/>
              </a:ext>
            </a:extLst>
          </p:cNvPr>
          <p:cNvGrpSpPr/>
          <p:nvPr/>
        </p:nvGrpSpPr>
        <p:grpSpPr>
          <a:xfrm>
            <a:off x="5812129" y="1220245"/>
            <a:ext cx="2627454" cy="2428427"/>
            <a:chOff x="2394673" y="1220245"/>
            <a:chExt cx="2627454" cy="2428427"/>
          </a:xfrm>
        </p:grpSpPr>
        <p:sp>
          <p:nvSpPr>
            <p:cNvPr id="351" name="靖飞在肝PPT54-1">
              <a:extLst>
                <a:ext uri="{FF2B5EF4-FFF2-40B4-BE49-F238E27FC236}">
                  <a16:creationId xmlns:a16="http://schemas.microsoft.com/office/drawing/2014/main" id="{10AD5BCB-FE69-49FB-B273-4ED5A9126F6C}"/>
                </a:ext>
              </a:extLst>
            </p:cNvPr>
            <p:cNvSpPr/>
            <p:nvPr/>
          </p:nvSpPr>
          <p:spPr>
            <a:xfrm rot="5400000">
              <a:off x="2654535" y="960383"/>
              <a:ext cx="2107730" cy="2627454"/>
            </a:xfrm>
            <a:prstGeom prst="roundRect">
              <a:avLst>
                <a:gd name="adj" fmla="val 9138"/>
              </a:avLst>
            </a:prstGeom>
            <a:solidFill>
              <a:schemeClr val="bg1"/>
            </a:solidFill>
            <a:ln w="15875">
              <a:solidFill>
                <a:schemeClr val="accent1"/>
              </a:solidFill>
              <a:prstDash val="solid"/>
            </a:ln>
            <a:effectLst>
              <a:outerShdw dist="76200" dir="2400000" algn="tl" rotWithShape="0">
                <a:schemeClr val="bg2"/>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52" name="靖飞在肝PPT54-2">
              <a:extLst>
                <a:ext uri="{FF2B5EF4-FFF2-40B4-BE49-F238E27FC236}">
                  <a16:creationId xmlns:a16="http://schemas.microsoft.com/office/drawing/2014/main" id="{BC8E12E7-2E48-46B0-A428-831D7C05EB81}"/>
                </a:ext>
              </a:extLst>
            </p:cNvPr>
            <p:cNvSpPr txBox="1"/>
            <p:nvPr/>
          </p:nvSpPr>
          <p:spPr>
            <a:xfrm>
              <a:off x="2471545" y="1624377"/>
              <a:ext cx="2473710" cy="1367618"/>
            </a:xfrm>
            <a:prstGeom prst="rect">
              <a:avLst/>
            </a:prstGeom>
            <a:noFill/>
          </p:spPr>
          <p:txBody>
            <a:bodyPr wrap="square">
              <a:spAutoFit/>
            </a:bodyPr>
            <a:lstStyle>
              <a:defPPr>
                <a:defRPr lang="zh-CN"/>
              </a:defPPr>
              <a:lvl1pPr>
                <a:lnSpc>
                  <a:spcPct val="120000"/>
                </a:lnSpc>
                <a:defRPr sz="1400">
                  <a:latin typeface="思源黑体 CN Regular" panose="020B0500000000000000" pitchFamily="34" charset="-122"/>
                  <a:ea typeface="思源黑体 CN Regular" panose="020B0500000000000000" pitchFamily="34" charset="-122"/>
                  <a:cs typeface="OPPOSans M" panose="00020600040101010101" pitchFamily="18" charset="-122"/>
                </a:defRPr>
              </a:lvl1pPr>
            </a:lstStyle>
            <a:p>
              <a:pPr algn="ctr"/>
              <a:r>
                <a:rPr lang="zh-CN" altLang="en-US" dirty="0"/>
                <a:t>构建</a:t>
              </a:r>
              <a:r>
                <a:rPr lang="en-US" altLang="zh-CN" dirty="0"/>
                <a:t>PRMT3/IGF2BP1</a:t>
              </a:r>
              <a:r>
                <a:rPr lang="zh-CN" altLang="en-US" dirty="0"/>
                <a:t>过表达</a:t>
              </a:r>
              <a:r>
                <a:rPr lang="en-US" altLang="zh-CN" dirty="0"/>
                <a:t>/</a:t>
              </a:r>
              <a:r>
                <a:rPr lang="zh-CN" altLang="en-US" dirty="0"/>
                <a:t>沉默肝癌细胞株，检测甲基化水平、靶基因表达及奥沙利铂</a:t>
              </a:r>
              <a:r>
                <a:rPr lang="en-US" altLang="zh-CN" dirty="0"/>
                <a:t>IC50</a:t>
              </a:r>
              <a:r>
                <a:rPr lang="zh-CN" altLang="en-US" dirty="0"/>
                <a:t>值，结合裸鼠移植瘤模型验证体内耐药表型。</a:t>
              </a:r>
            </a:p>
          </p:txBody>
        </p:sp>
        <p:sp>
          <p:nvSpPr>
            <p:cNvPr id="353" name="靖飞在肝PPT54-3">
              <a:extLst>
                <a:ext uri="{FF2B5EF4-FFF2-40B4-BE49-F238E27FC236}">
                  <a16:creationId xmlns:a16="http://schemas.microsoft.com/office/drawing/2014/main" id="{0E1FF058-462D-4B24-BA82-5C96C51728AD}"/>
                </a:ext>
              </a:extLst>
            </p:cNvPr>
            <p:cNvSpPr txBox="1"/>
            <p:nvPr/>
          </p:nvSpPr>
          <p:spPr>
            <a:xfrm>
              <a:off x="2471545" y="1238502"/>
              <a:ext cx="2473710" cy="385875"/>
            </a:xfrm>
            <a:prstGeom prst="rect">
              <a:avLst/>
            </a:prstGeom>
            <a:noFill/>
          </p:spPr>
          <p:txBody>
            <a:bodyPr wrap="square" rtlCol="0">
              <a:spAutoFit/>
            </a:bodyPr>
            <a:lstStyle>
              <a:defPPr>
                <a:defRPr lang="zh-CN"/>
              </a:defPPr>
              <a:lvl1pPr indent="0" algn="ctr">
                <a:lnSpc>
                  <a:spcPct val="130000"/>
                </a:lnSpc>
                <a:buFont typeface="Wingdings" panose="05000000000000000000" pitchFamily="2" charset="2"/>
                <a:buNone/>
                <a:defRPr sz="1600">
                  <a:solidFill>
                    <a:schemeClr val="accent1"/>
                  </a:solidFill>
                  <a:latin typeface="思源黑体 CN Bold" panose="020B0800000000000000" pitchFamily="34" charset="-122"/>
                  <a:ea typeface="思源黑体 CN Bold" panose="020B0800000000000000" pitchFamily="34" charset="-122"/>
                </a:defRPr>
              </a:lvl1pPr>
            </a:lstStyle>
            <a:p>
              <a:r>
                <a:rPr lang="zh-CN" altLang="en-US" dirty="0"/>
                <a:t>机制验证策略</a:t>
              </a:r>
            </a:p>
          </p:txBody>
        </p:sp>
        <p:grpSp>
          <p:nvGrpSpPr>
            <p:cNvPr id="354" name="组合 353">
              <a:extLst>
                <a:ext uri="{FF2B5EF4-FFF2-40B4-BE49-F238E27FC236}">
                  <a16:creationId xmlns:a16="http://schemas.microsoft.com/office/drawing/2014/main" id="{FC530025-CE9A-459E-9AFE-EDCA767A915D}"/>
                </a:ext>
              </a:extLst>
            </p:cNvPr>
            <p:cNvGrpSpPr/>
            <p:nvPr/>
          </p:nvGrpSpPr>
          <p:grpSpPr>
            <a:xfrm>
              <a:off x="3604729" y="3224304"/>
              <a:ext cx="207342" cy="424368"/>
              <a:chOff x="3748901" y="3224304"/>
              <a:chExt cx="207342" cy="424368"/>
            </a:xfrm>
          </p:grpSpPr>
          <p:sp>
            <p:nvSpPr>
              <p:cNvPr id="355" name="靖飞在肝PPT54-5">
                <a:extLst>
                  <a:ext uri="{FF2B5EF4-FFF2-40B4-BE49-F238E27FC236}">
                    <a16:creationId xmlns:a16="http://schemas.microsoft.com/office/drawing/2014/main" id="{0370E686-34FD-498F-9FB3-D7C005BBE510}"/>
                  </a:ext>
                </a:extLst>
              </p:cNvPr>
              <p:cNvSpPr/>
              <p:nvPr/>
            </p:nvSpPr>
            <p:spPr>
              <a:xfrm>
                <a:off x="3748901" y="3224304"/>
                <a:ext cx="207342" cy="207342"/>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56" name="靖飞在肝PPT54-6">
                <a:extLst>
                  <a:ext uri="{FF2B5EF4-FFF2-40B4-BE49-F238E27FC236}">
                    <a16:creationId xmlns:a16="http://schemas.microsoft.com/office/drawing/2014/main" id="{BACAA78F-5E75-4128-9E14-B7877C27D999}"/>
                  </a:ext>
                </a:extLst>
              </p:cNvPr>
              <p:cNvSpPr/>
              <p:nvPr/>
            </p:nvSpPr>
            <p:spPr>
              <a:xfrm>
                <a:off x="3852571" y="3327975"/>
                <a:ext cx="45719" cy="320697"/>
              </a:xfrm>
              <a:custGeom>
                <a:avLst/>
                <a:gdLst>
                  <a:gd name="connsiteX0" fmla="*/ 0 w 0"/>
                  <a:gd name="connsiteY0" fmla="*/ 624625 h 624625"/>
                  <a:gd name="connsiteX1" fmla="*/ 0 w 0"/>
                  <a:gd name="connsiteY1" fmla="*/ 0 h 624625"/>
                </a:gdLst>
                <a:ahLst/>
                <a:cxnLst>
                  <a:cxn ang="0">
                    <a:pos x="connsiteX0" y="connsiteY0"/>
                  </a:cxn>
                  <a:cxn ang="0">
                    <a:pos x="connsiteX1" y="connsiteY1"/>
                  </a:cxn>
                </a:cxnLst>
                <a:rect l="l" t="t" r="r" b="b"/>
                <a:pathLst>
                  <a:path h="624625">
                    <a:moveTo>
                      <a:pt x="0" y="624625"/>
                    </a:moveTo>
                    <a:lnTo>
                      <a:pt x="0" y="0"/>
                    </a:lnTo>
                  </a:path>
                </a:pathLst>
              </a:custGeom>
              <a:noFill/>
              <a:ln w="15875">
                <a:solidFill>
                  <a:schemeClr val="accent1"/>
                </a:solidFill>
                <a:round/>
                <a:tailEnd type="oval" w="lg" len="lg"/>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grpSp>
        <p:nvGrpSpPr>
          <p:cNvPr id="357" name="组合 356">
            <a:extLst>
              <a:ext uri="{FF2B5EF4-FFF2-40B4-BE49-F238E27FC236}">
                <a16:creationId xmlns:a16="http://schemas.microsoft.com/office/drawing/2014/main" id="{B047290D-F1C8-48C3-9F32-27D3B3FCE356}"/>
              </a:ext>
            </a:extLst>
          </p:cNvPr>
          <p:cNvGrpSpPr/>
          <p:nvPr/>
        </p:nvGrpSpPr>
        <p:grpSpPr>
          <a:xfrm>
            <a:off x="9229584" y="1220245"/>
            <a:ext cx="2627454" cy="2428427"/>
            <a:chOff x="2394673" y="1220245"/>
            <a:chExt cx="2627454" cy="2428427"/>
          </a:xfrm>
        </p:grpSpPr>
        <p:sp>
          <p:nvSpPr>
            <p:cNvPr id="358" name="靖飞在肝PPT54-1">
              <a:extLst>
                <a:ext uri="{FF2B5EF4-FFF2-40B4-BE49-F238E27FC236}">
                  <a16:creationId xmlns:a16="http://schemas.microsoft.com/office/drawing/2014/main" id="{83E0DB01-B808-4F38-8FCB-3CD8CE108620}"/>
                </a:ext>
              </a:extLst>
            </p:cNvPr>
            <p:cNvSpPr/>
            <p:nvPr/>
          </p:nvSpPr>
          <p:spPr>
            <a:xfrm rot="5400000">
              <a:off x="2654535" y="960383"/>
              <a:ext cx="2107730" cy="2627454"/>
            </a:xfrm>
            <a:prstGeom prst="roundRect">
              <a:avLst>
                <a:gd name="adj" fmla="val 9138"/>
              </a:avLst>
            </a:prstGeom>
            <a:solidFill>
              <a:schemeClr val="bg1"/>
            </a:solidFill>
            <a:ln w="15875">
              <a:solidFill>
                <a:schemeClr val="accent1"/>
              </a:solidFill>
              <a:prstDash val="solid"/>
            </a:ln>
            <a:effectLst>
              <a:outerShdw dist="76200" dir="2400000" algn="tl" rotWithShape="0">
                <a:schemeClr val="bg2"/>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59" name="靖飞在肝PPT54-2">
              <a:extLst>
                <a:ext uri="{FF2B5EF4-FFF2-40B4-BE49-F238E27FC236}">
                  <a16:creationId xmlns:a16="http://schemas.microsoft.com/office/drawing/2014/main" id="{67F752E2-17EB-4328-87BA-95C99F179264}"/>
                </a:ext>
              </a:extLst>
            </p:cNvPr>
            <p:cNvSpPr txBox="1"/>
            <p:nvPr/>
          </p:nvSpPr>
          <p:spPr>
            <a:xfrm>
              <a:off x="2471545" y="1624377"/>
              <a:ext cx="2473710" cy="1367618"/>
            </a:xfrm>
            <a:prstGeom prst="rect">
              <a:avLst/>
            </a:prstGeom>
            <a:noFill/>
          </p:spPr>
          <p:txBody>
            <a:bodyPr wrap="square">
              <a:spAutoFit/>
            </a:bodyPr>
            <a:lstStyle>
              <a:defPPr>
                <a:defRPr lang="zh-CN"/>
              </a:defPPr>
              <a:lvl1pPr>
                <a:lnSpc>
                  <a:spcPct val="120000"/>
                </a:lnSpc>
                <a:defRPr sz="1400">
                  <a:latin typeface="思源黑体 CN Regular" panose="020B0500000000000000" pitchFamily="34" charset="-122"/>
                  <a:ea typeface="思源黑体 CN Regular" panose="020B0500000000000000" pitchFamily="34" charset="-122"/>
                  <a:cs typeface="OPPOSans M" panose="00020600040101010101" pitchFamily="18" charset="-122"/>
                </a:defRPr>
              </a:lvl1pPr>
            </a:lstStyle>
            <a:p>
              <a:pPr algn="ctr"/>
              <a:r>
                <a:rPr lang="zh-CN" altLang="en-US" dirty="0"/>
                <a:t>阐明</a:t>
              </a:r>
              <a:r>
                <a:rPr lang="en-US" altLang="zh-CN" dirty="0"/>
                <a:t>PRMT3-IGF2BP1</a:t>
              </a:r>
              <a:r>
                <a:rPr lang="zh-CN" altLang="en-US" dirty="0"/>
                <a:t>甲基化轴的耐药机制，为肝癌奥沙利铂耐药提供预测标志物及潜在干预靶点，优化临床化疗方案。</a:t>
              </a:r>
            </a:p>
          </p:txBody>
        </p:sp>
        <p:sp>
          <p:nvSpPr>
            <p:cNvPr id="360" name="靖飞在肝PPT54-3">
              <a:extLst>
                <a:ext uri="{FF2B5EF4-FFF2-40B4-BE49-F238E27FC236}">
                  <a16:creationId xmlns:a16="http://schemas.microsoft.com/office/drawing/2014/main" id="{F8036AB0-4A30-4168-9401-C6CFF287C848}"/>
                </a:ext>
              </a:extLst>
            </p:cNvPr>
            <p:cNvSpPr txBox="1"/>
            <p:nvPr/>
          </p:nvSpPr>
          <p:spPr>
            <a:xfrm>
              <a:off x="2471545" y="1238502"/>
              <a:ext cx="2473710" cy="385875"/>
            </a:xfrm>
            <a:prstGeom prst="rect">
              <a:avLst/>
            </a:prstGeom>
            <a:noFill/>
          </p:spPr>
          <p:txBody>
            <a:bodyPr wrap="square" rtlCol="0">
              <a:spAutoFit/>
            </a:bodyPr>
            <a:lstStyle>
              <a:defPPr>
                <a:defRPr lang="zh-CN"/>
              </a:defPPr>
              <a:lvl1pPr indent="0" algn="ctr">
                <a:lnSpc>
                  <a:spcPct val="130000"/>
                </a:lnSpc>
                <a:buFont typeface="Wingdings" panose="05000000000000000000" pitchFamily="2" charset="2"/>
                <a:buNone/>
                <a:defRPr sz="1600">
                  <a:solidFill>
                    <a:schemeClr val="accent1"/>
                  </a:solidFill>
                  <a:latin typeface="思源黑体 CN Bold" panose="020B0800000000000000" pitchFamily="34" charset="-122"/>
                  <a:ea typeface="思源黑体 CN Bold" panose="020B0800000000000000" pitchFamily="34" charset="-122"/>
                </a:defRPr>
              </a:lvl1pPr>
            </a:lstStyle>
            <a:p>
              <a:r>
                <a:rPr lang="zh-CN" altLang="en-US" dirty="0"/>
                <a:t>研究意义与展望</a:t>
              </a:r>
            </a:p>
          </p:txBody>
        </p:sp>
        <p:grpSp>
          <p:nvGrpSpPr>
            <p:cNvPr id="361" name="组合 360">
              <a:extLst>
                <a:ext uri="{FF2B5EF4-FFF2-40B4-BE49-F238E27FC236}">
                  <a16:creationId xmlns:a16="http://schemas.microsoft.com/office/drawing/2014/main" id="{56134C91-17D7-4A18-8E62-97941E9B8205}"/>
                </a:ext>
              </a:extLst>
            </p:cNvPr>
            <p:cNvGrpSpPr/>
            <p:nvPr/>
          </p:nvGrpSpPr>
          <p:grpSpPr>
            <a:xfrm>
              <a:off x="3604729" y="3224304"/>
              <a:ext cx="207342" cy="424368"/>
              <a:chOff x="3748901" y="3224304"/>
              <a:chExt cx="207342" cy="424368"/>
            </a:xfrm>
          </p:grpSpPr>
          <p:sp>
            <p:nvSpPr>
              <p:cNvPr id="362" name="靖飞在肝PPT54-5">
                <a:extLst>
                  <a:ext uri="{FF2B5EF4-FFF2-40B4-BE49-F238E27FC236}">
                    <a16:creationId xmlns:a16="http://schemas.microsoft.com/office/drawing/2014/main" id="{54A4C9C1-E0A7-4CA6-8BFD-3A9E2F962816}"/>
                  </a:ext>
                </a:extLst>
              </p:cNvPr>
              <p:cNvSpPr/>
              <p:nvPr/>
            </p:nvSpPr>
            <p:spPr>
              <a:xfrm>
                <a:off x="3748901" y="3224304"/>
                <a:ext cx="207342" cy="207342"/>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63" name="靖飞在肝PPT54-6">
                <a:extLst>
                  <a:ext uri="{FF2B5EF4-FFF2-40B4-BE49-F238E27FC236}">
                    <a16:creationId xmlns:a16="http://schemas.microsoft.com/office/drawing/2014/main" id="{4046CE0F-083F-4F3D-A730-B6620039BF58}"/>
                  </a:ext>
                </a:extLst>
              </p:cNvPr>
              <p:cNvSpPr/>
              <p:nvPr/>
            </p:nvSpPr>
            <p:spPr>
              <a:xfrm>
                <a:off x="3852571" y="3327975"/>
                <a:ext cx="45719" cy="320697"/>
              </a:xfrm>
              <a:custGeom>
                <a:avLst/>
                <a:gdLst>
                  <a:gd name="connsiteX0" fmla="*/ 0 w 0"/>
                  <a:gd name="connsiteY0" fmla="*/ 624625 h 624625"/>
                  <a:gd name="connsiteX1" fmla="*/ 0 w 0"/>
                  <a:gd name="connsiteY1" fmla="*/ 0 h 624625"/>
                </a:gdLst>
                <a:ahLst/>
                <a:cxnLst>
                  <a:cxn ang="0">
                    <a:pos x="connsiteX0" y="connsiteY0"/>
                  </a:cxn>
                  <a:cxn ang="0">
                    <a:pos x="connsiteX1" y="connsiteY1"/>
                  </a:cxn>
                </a:cxnLst>
                <a:rect l="l" t="t" r="r" b="b"/>
                <a:pathLst>
                  <a:path h="624625">
                    <a:moveTo>
                      <a:pt x="0" y="624625"/>
                    </a:moveTo>
                    <a:lnTo>
                      <a:pt x="0" y="0"/>
                    </a:lnTo>
                  </a:path>
                </a:pathLst>
              </a:custGeom>
              <a:noFill/>
              <a:ln w="15875">
                <a:solidFill>
                  <a:schemeClr val="accent1"/>
                </a:solidFill>
                <a:round/>
                <a:tailEnd type="oval" w="lg" len="lg"/>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grpSp>
        <p:nvGrpSpPr>
          <p:cNvPr id="364" name="组合 363">
            <a:extLst>
              <a:ext uri="{FF2B5EF4-FFF2-40B4-BE49-F238E27FC236}">
                <a16:creationId xmlns:a16="http://schemas.microsoft.com/office/drawing/2014/main" id="{F53173C5-4D1C-46A6-93EA-4585FD336B08}"/>
              </a:ext>
            </a:extLst>
          </p:cNvPr>
          <p:cNvGrpSpPr/>
          <p:nvPr/>
        </p:nvGrpSpPr>
        <p:grpSpPr>
          <a:xfrm>
            <a:off x="7520857" y="4157639"/>
            <a:ext cx="2627454" cy="2440054"/>
            <a:chOff x="3415878" y="4157639"/>
            <a:chExt cx="2627454" cy="2440054"/>
          </a:xfrm>
        </p:grpSpPr>
        <p:sp>
          <p:nvSpPr>
            <p:cNvPr id="365" name="靖飞在肝PPT57">
              <a:extLst>
                <a:ext uri="{FF2B5EF4-FFF2-40B4-BE49-F238E27FC236}">
                  <a16:creationId xmlns:a16="http://schemas.microsoft.com/office/drawing/2014/main" id="{6A54B964-8997-4625-84E9-08016202E330}"/>
                </a:ext>
              </a:extLst>
            </p:cNvPr>
            <p:cNvSpPr/>
            <p:nvPr/>
          </p:nvSpPr>
          <p:spPr>
            <a:xfrm rot="5400000">
              <a:off x="3675740" y="4230101"/>
              <a:ext cx="2107730" cy="2627454"/>
            </a:xfrm>
            <a:prstGeom prst="roundRect">
              <a:avLst>
                <a:gd name="adj" fmla="val 10213"/>
              </a:avLst>
            </a:prstGeom>
            <a:solidFill>
              <a:schemeClr val="bg1"/>
            </a:solidFill>
            <a:ln w="15875">
              <a:solidFill>
                <a:schemeClr val="accent1"/>
              </a:solidFill>
              <a:prstDash val="solid"/>
            </a:ln>
            <a:effectLst>
              <a:outerShdw dist="76200" dir="2400000" algn="tl" rotWithShape="0">
                <a:schemeClr val="bg2"/>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66" name="靖飞在肝PPT58">
              <a:extLst>
                <a:ext uri="{FF2B5EF4-FFF2-40B4-BE49-F238E27FC236}">
                  <a16:creationId xmlns:a16="http://schemas.microsoft.com/office/drawing/2014/main" id="{660EFBA5-014D-4013-9E47-7C0FE3E52413}"/>
                </a:ext>
              </a:extLst>
            </p:cNvPr>
            <p:cNvSpPr txBox="1"/>
            <p:nvPr/>
          </p:nvSpPr>
          <p:spPr>
            <a:xfrm>
              <a:off x="3504680" y="4980646"/>
              <a:ext cx="2454160" cy="1109086"/>
            </a:xfrm>
            <a:prstGeom prst="rect">
              <a:avLst/>
            </a:prstGeom>
            <a:noFill/>
          </p:spPr>
          <p:txBody>
            <a:bodyPr wrap="square">
              <a:spAutoFit/>
            </a:bodyPr>
            <a:lstStyle/>
            <a:p>
              <a:pPr algn="ctr">
                <a:lnSpc>
                  <a:spcPct val="120000"/>
                </a:lnSpc>
              </a:pPr>
              <a:r>
                <a:rPr lang="zh-CN" altLang="en-US" sz="1400" dirty="0">
                  <a:latin typeface="思源黑体 CN Regular" panose="020B0500000000000000" pitchFamily="34" charset="-122"/>
                  <a:ea typeface="思源黑体 CN Regular" panose="020B0500000000000000" pitchFamily="34" charset="-122"/>
                  <a:cs typeface="OPPOSans M" panose="00020600040101010101" pitchFamily="18" charset="-122"/>
                </a:rPr>
                <a:t>收集肝癌患者化疗样本，检测</a:t>
              </a:r>
              <a:r>
                <a:rPr lang="en-US" altLang="zh-CN" sz="1400" dirty="0">
                  <a:latin typeface="思源黑体 CN Regular" panose="020B0500000000000000" pitchFamily="34" charset="-122"/>
                  <a:ea typeface="思源黑体 CN Regular" panose="020B0500000000000000" pitchFamily="34" charset="-122"/>
                  <a:cs typeface="OPPOSans M" panose="00020600040101010101" pitchFamily="18" charset="-122"/>
                </a:rPr>
                <a:t>PRMT3</a:t>
              </a:r>
              <a:r>
                <a:rPr lang="zh-CN" altLang="en-US" sz="1400" dirty="0">
                  <a:latin typeface="思源黑体 CN Regular" panose="020B0500000000000000" pitchFamily="34" charset="-122"/>
                  <a:ea typeface="思源黑体 CN Regular" panose="020B0500000000000000" pitchFamily="34" charset="-122"/>
                  <a:cs typeface="OPPOSans M" panose="00020600040101010101" pitchFamily="18" charset="-122"/>
                </a:rPr>
                <a:t>表达、</a:t>
              </a:r>
              <a:r>
                <a:rPr lang="en-US" altLang="zh-CN" sz="1400" dirty="0">
                  <a:latin typeface="思源黑体 CN Regular" panose="020B0500000000000000" pitchFamily="34" charset="-122"/>
                  <a:ea typeface="思源黑体 CN Regular" panose="020B0500000000000000" pitchFamily="34" charset="-122"/>
                  <a:cs typeface="OPPOSans M" panose="00020600040101010101" pitchFamily="18" charset="-122"/>
                </a:rPr>
                <a:t>IGF2BP1</a:t>
              </a:r>
              <a:r>
                <a:rPr lang="zh-CN" altLang="en-US" sz="1400" dirty="0">
                  <a:latin typeface="思源黑体 CN Regular" panose="020B0500000000000000" pitchFamily="34" charset="-122"/>
                  <a:ea typeface="思源黑体 CN Regular" panose="020B0500000000000000" pitchFamily="34" charset="-122"/>
                  <a:cs typeface="OPPOSans M" panose="00020600040101010101" pitchFamily="18" charset="-122"/>
                </a:rPr>
                <a:t>甲基化水平，分析其与奥沙利铂疗效及患者预后的相关性。</a:t>
              </a:r>
            </a:p>
          </p:txBody>
        </p:sp>
        <p:sp>
          <p:nvSpPr>
            <p:cNvPr id="367" name="靖飞在肝PPT59">
              <a:extLst>
                <a:ext uri="{FF2B5EF4-FFF2-40B4-BE49-F238E27FC236}">
                  <a16:creationId xmlns:a16="http://schemas.microsoft.com/office/drawing/2014/main" id="{C67C07BB-9AF6-4C8C-A9CB-FE4CE0643F54}"/>
                </a:ext>
              </a:extLst>
            </p:cNvPr>
            <p:cNvSpPr txBox="1"/>
            <p:nvPr/>
          </p:nvSpPr>
          <p:spPr>
            <a:xfrm>
              <a:off x="3415878" y="4594771"/>
              <a:ext cx="2627454" cy="385875"/>
            </a:xfrm>
            <a:prstGeom prst="rect">
              <a:avLst/>
            </a:prstGeom>
            <a:noFill/>
          </p:spPr>
          <p:txBody>
            <a:bodyPr wrap="square" rtlCol="0">
              <a:spAutoFit/>
            </a:bodyPr>
            <a:lstStyle>
              <a:defPPr>
                <a:defRPr lang="zh-CN"/>
              </a:defPPr>
              <a:lvl1pPr indent="0" algn="ctr">
                <a:lnSpc>
                  <a:spcPct val="130000"/>
                </a:lnSpc>
                <a:buFont typeface="Wingdings" panose="05000000000000000000" pitchFamily="2" charset="2"/>
                <a:buNone/>
                <a:defRPr sz="1600">
                  <a:solidFill>
                    <a:schemeClr val="accent1"/>
                  </a:solidFill>
                  <a:latin typeface="思源黑体 CN Bold" panose="020B0800000000000000" pitchFamily="34" charset="-122"/>
                  <a:ea typeface="思源黑体 CN Bold" panose="020B0800000000000000" pitchFamily="34" charset="-122"/>
                </a:defRPr>
              </a:lvl1pPr>
            </a:lstStyle>
            <a:p>
              <a:r>
                <a:rPr lang="zh-CN" altLang="en-US" dirty="0"/>
                <a:t>临床关联分析</a:t>
              </a:r>
            </a:p>
          </p:txBody>
        </p:sp>
        <p:grpSp>
          <p:nvGrpSpPr>
            <p:cNvPr id="368" name="组合 367">
              <a:extLst>
                <a:ext uri="{FF2B5EF4-FFF2-40B4-BE49-F238E27FC236}">
                  <a16:creationId xmlns:a16="http://schemas.microsoft.com/office/drawing/2014/main" id="{89E62ADC-E0A8-42E4-8899-30E08FA41C01}"/>
                </a:ext>
              </a:extLst>
            </p:cNvPr>
            <p:cNvGrpSpPr/>
            <p:nvPr/>
          </p:nvGrpSpPr>
          <p:grpSpPr>
            <a:xfrm>
              <a:off x="4623596" y="4157639"/>
              <a:ext cx="207342" cy="444689"/>
              <a:chOff x="4754866" y="4157639"/>
              <a:chExt cx="207342" cy="444689"/>
            </a:xfrm>
          </p:grpSpPr>
          <p:sp>
            <p:nvSpPr>
              <p:cNvPr id="369" name="靖飞在肝PPT69-1">
                <a:extLst>
                  <a:ext uri="{FF2B5EF4-FFF2-40B4-BE49-F238E27FC236}">
                    <a16:creationId xmlns:a16="http://schemas.microsoft.com/office/drawing/2014/main" id="{292530C9-45BA-4B56-8727-81D3EB87CF48}"/>
                  </a:ext>
                </a:extLst>
              </p:cNvPr>
              <p:cNvSpPr/>
              <p:nvPr/>
            </p:nvSpPr>
            <p:spPr>
              <a:xfrm flipV="1">
                <a:off x="4754866" y="4394986"/>
                <a:ext cx="207342" cy="207342"/>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70" name="靖飞在肝PPT69-2">
                <a:extLst>
                  <a:ext uri="{FF2B5EF4-FFF2-40B4-BE49-F238E27FC236}">
                    <a16:creationId xmlns:a16="http://schemas.microsoft.com/office/drawing/2014/main" id="{B972E024-4686-4341-A77F-5559C6B55644}"/>
                  </a:ext>
                </a:extLst>
              </p:cNvPr>
              <p:cNvSpPr/>
              <p:nvPr/>
            </p:nvSpPr>
            <p:spPr>
              <a:xfrm flipH="1" flipV="1">
                <a:off x="4812818" y="4157639"/>
                <a:ext cx="45719" cy="341017"/>
              </a:xfrm>
              <a:custGeom>
                <a:avLst/>
                <a:gdLst>
                  <a:gd name="connsiteX0" fmla="*/ 0 w 0"/>
                  <a:gd name="connsiteY0" fmla="*/ 624625 h 624625"/>
                  <a:gd name="connsiteX1" fmla="*/ 0 w 0"/>
                  <a:gd name="connsiteY1" fmla="*/ 0 h 624625"/>
                </a:gdLst>
                <a:ahLst/>
                <a:cxnLst>
                  <a:cxn ang="0">
                    <a:pos x="connsiteX0" y="connsiteY0"/>
                  </a:cxn>
                  <a:cxn ang="0">
                    <a:pos x="connsiteX1" y="connsiteY1"/>
                  </a:cxn>
                </a:cxnLst>
                <a:rect l="l" t="t" r="r" b="b"/>
                <a:pathLst>
                  <a:path h="624625">
                    <a:moveTo>
                      <a:pt x="0" y="624625"/>
                    </a:moveTo>
                    <a:lnTo>
                      <a:pt x="0" y="0"/>
                    </a:lnTo>
                  </a:path>
                </a:pathLst>
              </a:custGeom>
              <a:noFill/>
              <a:ln w="15875">
                <a:solidFill>
                  <a:schemeClr val="accent1"/>
                </a:solidFill>
                <a:round/>
                <a:tailEnd type="oval" w="lg" len="lg"/>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sp>
        <p:nvSpPr>
          <p:cNvPr id="371" name="文本框 370">
            <a:extLst>
              <a:ext uri="{FF2B5EF4-FFF2-40B4-BE49-F238E27FC236}">
                <a16:creationId xmlns:a16="http://schemas.microsoft.com/office/drawing/2014/main" id="{624F1CBC-B9CA-4BFD-9074-FF1A962C0CF1}"/>
              </a:ext>
            </a:extLst>
          </p:cNvPr>
          <p:cNvSpPr txBox="1"/>
          <p:nvPr/>
        </p:nvSpPr>
        <p:spPr>
          <a:xfrm>
            <a:off x="373082" y="5620123"/>
            <a:ext cx="1660612" cy="338554"/>
          </a:xfrm>
          <a:prstGeom prst="rect">
            <a:avLst/>
          </a:prstGeom>
          <a:noFill/>
        </p:spPr>
        <p:txBody>
          <a:bodyPr wrap="square" rtlCol="0">
            <a:spAutoFit/>
          </a:bodyPr>
          <a:lstStyle/>
          <a:p>
            <a:r>
              <a:rPr lang="zh-CN" altLang="en-US" sz="1600" dirty="0">
                <a:solidFill>
                  <a:schemeClr val="bg1"/>
                </a:solidFill>
                <a:latin typeface="思源黑体 CN Regular" panose="020B0500000000000000" pitchFamily="34" charset="-122"/>
                <a:ea typeface="思源黑体 CN Regular" panose="020B0500000000000000" pitchFamily="34" charset="-122"/>
              </a:rPr>
              <a:t>预期成果</a:t>
            </a:r>
          </a:p>
        </p:txBody>
      </p:sp>
      <p:sp>
        <p:nvSpPr>
          <p:cNvPr id="372" name="任意矩形：006">
            <a:extLst>
              <a:ext uri="{FF2B5EF4-FFF2-40B4-BE49-F238E27FC236}">
                <a16:creationId xmlns:a16="http://schemas.microsoft.com/office/drawing/2014/main" id="{5E94A1AD-B938-445E-9E33-D2FA813BB9A1}"/>
              </a:ext>
            </a:extLst>
          </p:cNvPr>
          <p:cNvSpPr/>
          <p:nvPr/>
        </p:nvSpPr>
        <p:spPr>
          <a:xfrm>
            <a:off x="125661" y="5689964"/>
            <a:ext cx="203662" cy="187126"/>
          </a:xfrm>
          <a:custGeom>
            <a:avLst/>
            <a:gdLst>
              <a:gd name="T0" fmla="*/ 11834 w 13933"/>
              <a:gd name="T1" fmla="*/ 1094 h 12800"/>
              <a:gd name="T2" fmla="*/ 10384 w 13933"/>
              <a:gd name="T3" fmla="*/ 1094 h 12800"/>
              <a:gd name="T4" fmla="*/ 10384 w 13933"/>
              <a:gd name="T5" fmla="*/ 315 h 12800"/>
              <a:gd name="T6" fmla="*/ 10069 w 13933"/>
              <a:gd name="T7" fmla="*/ 0 h 12800"/>
              <a:gd name="T8" fmla="*/ 9754 w 13933"/>
              <a:gd name="T9" fmla="*/ 315 h 12800"/>
              <a:gd name="T10" fmla="*/ 9754 w 13933"/>
              <a:gd name="T11" fmla="*/ 1094 h 12800"/>
              <a:gd name="T12" fmla="*/ 4056 w 13933"/>
              <a:gd name="T13" fmla="*/ 1094 h 12800"/>
              <a:gd name="T14" fmla="*/ 4056 w 13933"/>
              <a:gd name="T15" fmla="*/ 315 h 12800"/>
              <a:gd name="T16" fmla="*/ 3741 w 13933"/>
              <a:gd name="T17" fmla="*/ 0 h 12800"/>
              <a:gd name="T18" fmla="*/ 3426 w 13933"/>
              <a:gd name="T19" fmla="*/ 315 h 12800"/>
              <a:gd name="T20" fmla="*/ 3426 w 13933"/>
              <a:gd name="T21" fmla="*/ 1094 h 12800"/>
              <a:gd name="T22" fmla="*/ 2099 w 13933"/>
              <a:gd name="T23" fmla="*/ 1094 h 12800"/>
              <a:gd name="T24" fmla="*/ 0 w 13933"/>
              <a:gd name="T25" fmla="*/ 3193 h 12800"/>
              <a:gd name="T26" fmla="*/ 0 w 13933"/>
              <a:gd name="T27" fmla="*/ 10701 h 12800"/>
              <a:gd name="T28" fmla="*/ 2099 w 13933"/>
              <a:gd name="T29" fmla="*/ 12800 h 12800"/>
              <a:gd name="T30" fmla="*/ 11834 w 13933"/>
              <a:gd name="T31" fmla="*/ 12800 h 12800"/>
              <a:gd name="T32" fmla="*/ 13933 w 13933"/>
              <a:gd name="T33" fmla="*/ 10701 h 12800"/>
              <a:gd name="T34" fmla="*/ 13933 w 13933"/>
              <a:gd name="T35" fmla="*/ 3193 h 12800"/>
              <a:gd name="T36" fmla="*/ 11834 w 13933"/>
              <a:gd name="T37" fmla="*/ 1094 h 12800"/>
              <a:gd name="T38" fmla="*/ 2099 w 13933"/>
              <a:gd name="T39" fmla="*/ 1933 h 12800"/>
              <a:gd name="T40" fmla="*/ 3426 w 13933"/>
              <a:gd name="T41" fmla="*/ 1933 h 12800"/>
              <a:gd name="T42" fmla="*/ 3426 w 13933"/>
              <a:gd name="T43" fmla="*/ 2757 h 12800"/>
              <a:gd name="T44" fmla="*/ 3741 w 13933"/>
              <a:gd name="T45" fmla="*/ 3072 h 12800"/>
              <a:gd name="T46" fmla="*/ 4056 w 13933"/>
              <a:gd name="T47" fmla="*/ 2757 h 12800"/>
              <a:gd name="T48" fmla="*/ 4056 w 13933"/>
              <a:gd name="T49" fmla="*/ 1933 h 12800"/>
              <a:gd name="T50" fmla="*/ 9754 w 13933"/>
              <a:gd name="T51" fmla="*/ 1933 h 12800"/>
              <a:gd name="T52" fmla="*/ 9754 w 13933"/>
              <a:gd name="T53" fmla="*/ 2757 h 12800"/>
              <a:gd name="T54" fmla="*/ 10069 w 13933"/>
              <a:gd name="T55" fmla="*/ 3072 h 12800"/>
              <a:gd name="T56" fmla="*/ 10384 w 13933"/>
              <a:gd name="T57" fmla="*/ 2757 h 12800"/>
              <a:gd name="T58" fmla="*/ 10384 w 13933"/>
              <a:gd name="T59" fmla="*/ 1933 h 12800"/>
              <a:gd name="T60" fmla="*/ 11834 w 13933"/>
              <a:gd name="T61" fmla="*/ 1933 h 12800"/>
              <a:gd name="T62" fmla="*/ 13094 w 13933"/>
              <a:gd name="T63" fmla="*/ 3193 h 12800"/>
              <a:gd name="T64" fmla="*/ 13094 w 13933"/>
              <a:gd name="T65" fmla="*/ 4646 h 12800"/>
              <a:gd name="T66" fmla="*/ 840 w 13933"/>
              <a:gd name="T67" fmla="*/ 4646 h 12800"/>
              <a:gd name="T68" fmla="*/ 840 w 13933"/>
              <a:gd name="T69" fmla="*/ 3193 h 12800"/>
              <a:gd name="T70" fmla="*/ 2099 w 13933"/>
              <a:gd name="T71" fmla="*/ 1933 h 12800"/>
              <a:gd name="T72" fmla="*/ 11834 w 13933"/>
              <a:gd name="T73" fmla="*/ 11960 h 12800"/>
              <a:gd name="T74" fmla="*/ 2099 w 13933"/>
              <a:gd name="T75" fmla="*/ 11960 h 12800"/>
              <a:gd name="T76" fmla="*/ 840 w 13933"/>
              <a:gd name="T77" fmla="*/ 10701 h 12800"/>
              <a:gd name="T78" fmla="*/ 840 w 13933"/>
              <a:gd name="T79" fmla="*/ 5276 h 12800"/>
              <a:gd name="T80" fmla="*/ 13094 w 13933"/>
              <a:gd name="T81" fmla="*/ 5276 h 12800"/>
              <a:gd name="T82" fmla="*/ 13094 w 13933"/>
              <a:gd name="T83" fmla="*/ 10701 h 12800"/>
              <a:gd name="T84" fmla="*/ 11834 w 13933"/>
              <a:gd name="T85" fmla="*/ 11960 h 128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Lst>
            <a:rect l="0" t="0" r="r" b="b"/>
            <a:pathLst>
              <a:path w="13933" h="12800">
                <a:moveTo>
                  <a:pt x="11834" y="1094"/>
                </a:moveTo>
                <a:lnTo>
                  <a:pt x="10384" y="1094"/>
                </a:lnTo>
                <a:lnTo>
                  <a:pt x="10384" y="315"/>
                </a:lnTo>
                <a:cubicBezTo>
                  <a:pt x="10384" y="141"/>
                  <a:pt x="10243" y="0"/>
                  <a:pt x="10069" y="0"/>
                </a:cubicBezTo>
                <a:cubicBezTo>
                  <a:pt x="9895" y="0"/>
                  <a:pt x="9754" y="141"/>
                  <a:pt x="9754" y="315"/>
                </a:cubicBezTo>
                <a:lnTo>
                  <a:pt x="9754" y="1094"/>
                </a:lnTo>
                <a:lnTo>
                  <a:pt x="4056" y="1094"/>
                </a:lnTo>
                <a:lnTo>
                  <a:pt x="4056" y="315"/>
                </a:lnTo>
                <a:cubicBezTo>
                  <a:pt x="4056" y="141"/>
                  <a:pt x="3915" y="0"/>
                  <a:pt x="3741" y="0"/>
                </a:cubicBezTo>
                <a:cubicBezTo>
                  <a:pt x="3567" y="0"/>
                  <a:pt x="3426" y="141"/>
                  <a:pt x="3426" y="315"/>
                </a:cubicBezTo>
                <a:lnTo>
                  <a:pt x="3426" y="1094"/>
                </a:lnTo>
                <a:lnTo>
                  <a:pt x="2099" y="1094"/>
                </a:lnTo>
                <a:cubicBezTo>
                  <a:pt x="940" y="1095"/>
                  <a:pt x="1" y="2034"/>
                  <a:pt x="0" y="3193"/>
                </a:cubicBezTo>
                <a:lnTo>
                  <a:pt x="0" y="10701"/>
                </a:lnTo>
                <a:cubicBezTo>
                  <a:pt x="1" y="11860"/>
                  <a:pt x="940" y="12799"/>
                  <a:pt x="2099" y="12800"/>
                </a:cubicBezTo>
                <a:lnTo>
                  <a:pt x="11834" y="12800"/>
                </a:lnTo>
                <a:cubicBezTo>
                  <a:pt x="12993" y="12799"/>
                  <a:pt x="13932" y="11860"/>
                  <a:pt x="13933" y="10701"/>
                </a:cubicBezTo>
                <a:lnTo>
                  <a:pt x="13933" y="3193"/>
                </a:lnTo>
                <a:cubicBezTo>
                  <a:pt x="13932" y="2034"/>
                  <a:pt x="12993" y="1095"/>
                  <a:pt x="11834" y="1094"/>
                </a:cubicBezTo>
                <a:close/>
                <a:moveTo>
                  <a:pt x="2099" y="1933"/>
                </a:moveTo>
                <a:lnTo>
                  <a:pt x="3426" y="1933"/>
                </a:lnTo>
                <a:lnTo>
                  <a:pt x="3426" y="2757"/>
                </a:lnTo>
                <a:cubicBezTo>
                  <a:pt x="3426" y="2931"/>
                  <a:pt x="3567" y="3072"/>
                  <a:pt x="3741" y="3072"/>
                </a:cubicBezTo>
                <a:cubicBezTo>
                  <a:pt x="3915" y="3072"/>
                  <a:pt x="4056" y="2931"/>
                  <a:pt x="4056" y="2757"/>
                </a:cubicBezTo>
                <a:lnTo>
                  <a:pt x="4056" y="1933"/>
                </a:lnTo>
                <a:lnTo>
                  <a:pt x="9754" y="1933"/>
                </a:lnTo>
                <a:lnTo>
                  <a:pt x="9754" y="2757"/>
                </a:lnTo>
                <a:cubicBezTo>
                  <a:pt x="9754" y="2931"/>
                  <a:pt x="9895" y="3072"/>
                  <a:pt x="10069" y="3072"/>
                </a:cubicBezTo>
                <a:cubicBezTo>
                  <a:pt x="10243" y="3072"/>
                  <a:pt x="10384" y="2931"/>
                  <a:pt x="10384" y="2757"/>
                </a:cubicBezTo>
                <a:lnTo>
                  <a:pt x="10384" y="1933"/>
                </a:lnTo>
                <a:lnTo>
                  <a:pt x="11834" y="1933"/>
                </a:lnTo>
                <a:cubicBezTo>
                  <a:pt x="12529" y="1934"/>
                  <a:pt x="13093" y="2497"/>
                  <a:pt x="13094" y="3193"/>
                </a:cubicBezTo>
                <a:lnTo>
                  <a:pt x="13094" y="4646"/>
                </a:lnTo>
                <a:lnTo>
                  <a:pt x="840" y="4646"/>
                </a:lnTo>
                <a:lnTo>
                  <a:pt x="840" y="3193"/>
                </a:lnTo>
                <a:cubicBezTo>
                  <a:pt x="840" y="2497"/>
                  <a:pt x="1404" y="1934"/>
                  <a:pt x="2099" y="1933"/>
                </a:cubicBezTo>
                <a:close/>
                <a:moveTo>
                  <a:pt x="11834" y="11960"/>
                </a:moveTo>
                <a:lnTo>
                  <a:pt x="2099" y="11960"/>
                </a:lnTo>
                <a:cubicBezTo>
                  <a:pt x="1404" y="11960"/>
                  <a:pt x="840" y="11396"/>
                  <a:pt x="840" y="10701"/>
                </a:cubicBezTo>
                <a:lnTo>
                  <a:pt x="840" y="5276"/>
                </a:lnTo>
                <a:lnTo>
                  <a:pt x="13094" y="5276"/>
                </a:lnTo>
                <a:lnTo>
                  <a:pt x="13094" y="10701"/>
                </a:lnTo>
                <a:cubicBezTo>
                  <a:pt x="13093" y="11396"/>
                  <a:pt x="12529" y="11960"/>
                  <a:pt x="11834" y="1196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0358678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8" name="矩形 97">
            <a:extLst>
              <a:ext uri="{FF2B5EF4-FFF2-40B4-BE49-F238E27FC236}">
                <a16:creationId xmlns:a16="http://schemas.microsoft.com/office/drawing/2014/main" id="{09C035FF-A8E5-4111-A72B-CB4E753D6305}"/>
              </a:ext>
            </a:extLst>
          </p:cNvPr>
          <p:cNvSpPr/>
          <p:nvPr/>
        </p:nvSpPr>
        <p:spPr>
          <a:xfrm>
            <a:off x="0" y="4098279"/>
            <a:ext cx="2052320" cy="56374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9" name="文本框 8">
            <a:extLst>
              <a:ext uri="{FF2B5EF4-FFF2-40B4-BE49-F238E27FC236}">
                <a16:creationId xmlns:a16="http://schemas.microsoft.com/office/drawing/2014/main" id="{281D2AFF-12E4-4C6B-AE89-1839244B8856}"/>
              </a:ext>
            </a:extLst>
          </p:cNvPr>
          <p:cNvSpPr txBox="1"/>
          <p:nvPr/>
        </p:nvSpPr>
        <p:spPr>
          <a:xfrm>
            <a:off x="2298152" y="4103237"/>
            <a:ext cx="1107996" cy="461665"/>
          </a:xfrm>
          <a:prstGeom prst="rect">
            <a:avLst/>
          </a:prstGeom>
          <a:noFill/>
        </p:spPr>
        <p:txBody>
          <a:bodyPr wrap="none" rtlCol="0">
            <a:spAutoFit/>
          </a:bodyPr>
          <a:lstStyle/>
          <a:p>
            <a:r>
              <a:rPr lang="zh-CN" altLang="en-US" sz="2400" dirty="0">
                <a:latin typeface="思源黑体 CN Bold" panose="020B0800000000000000" pitchFamily="34" charset="-122"/>
                <a:ea typeface="思源黑体 CN Bold" panose="020B0800000000000000" pitchFamily="34" charset="-122"/>
              </a:rPr>
              <a:t>创新点</a:t>
            </a:r>
          </a:p>
        </p:txBody>
      </p:sp>
      <p:sp>
        <p:nvSpPr>
          <p:cNvPr id="12" name="矩形: 圆角 11">
            <a:extLst>
              <a:ext uri="{FF2B5EF4-FFF2-40B4-BE49-F238E27FC236}">
                <a16:creationId xmlns:a16="http://schemas.microsoft.com/office/drawing/2014/main" id="{A6618DE4-9AF1-4037-8B0A-761F96E30CF9}"/>
              </a:ext>
            </a:extLst>
          </p:cNvPr>
          <p:cNvSpPr/>
          <p:nvPr/>
        </p:nvSpPr>
        <p:spPr>
          <a:xfrm>
            <a:off x="6352351" y="1218365"/>
            <a:ext cx="5504687" cy="1977969"/>
          </a:xfrm>
          <a:prstGeom prst="roundRect">
            <a:avLst>
              <a:gd name="adj" fmla="val 9002"/>
            </a:avLst>
          </a:prstGeom>
          <a:solidFill>
            <a:schemeClr val="bg1"/>
          </a:solidFill>
          <a:ln w="15875">
            <a:solidFill>
              <a:schemeClr val="accent1"/>
            </a:solid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zh-CN" altLang="en-US"/>
          </a:p>
        </p:txBody>
      </p:sp>
      <p:grpSp>
        <p:nvGrpSpPr>
          <p:cNvPr id="3" name="组合 2">
            <a:extLst>
              <a:ext uri="{FF2B5EF4-FFF2-40B4-BE49-F238E27FC236}">
                <a16:creationId xmlns:a16="http://schemas.microsoft.com/office/drawing/2014/main" id="{7DAFEA67-BB63-43DE-8CFB-F5B0889DF35F}"/>
              </a:ext>
            </a:extLst>
          </p:cNvPr>
          <p:cNvGrpSpPr/>
          <p:nvPr/>
        </p:nvGrpSpPr>
        <p:grpSpPr>
          <a:xfrm>
            <a:off x="2298152" y="1218365"/>
            <a:ext cx="3797848" cy="1862844"/>
            <a:chOff x="2298152" y="1288460"/>
            <a:chExt cx="3797848" cy="1862844"/>
          </a:xfrm>
        </p:grpSpPr>
        <p:sp>
          <p:nvSpPr>
            <p:cNvPr id="7" name="文本框 6">
              <a:extLst>
                <a:ext uri="{FF2B5EF4-FFF2-40B4-BE49-F238E27FC236}">
                  <a16:creationId xmlns:a16="http://schemas.microsoft.com/office/drawing/2014/main" id="{F156FF6F-37CA-4A60-B7D2-6BC5C4A2AC5A}"/>
                </a:ext>
              </a:extLst>
            </p:cNvPr>
            <p:cNvSpPr txBox="1"/>
            <p:nvPr/>
          </p:nvSpPr>
          <p:spPr>
            <a:xfrm>
              <a:off x="2298152" y="1288460"/>
              <a:ext cx="1415772" cy="461665"/>
            </a:xfrm>
            <a:prstGeom prst="rect">
              <a:avLst/>
            </a:prstGeom>
            <a:noFill/>
          </p:spPr>
          <p:txBody>
            <a:bodyPr wrap="none" rtlCol="0">
              <a:spAutoFit/>
            </a:bodyPr>
            <a:lstStyle/>
            <a:p>
              <a:r>
                <a:rPr lang="zh-CN" altLang="en-US" sz="2400" dirty="0">
                  <a:latin typeface="思源黑体 CN Bold" panose="020B0800000000000000" pitchFamily="34" charset="-122"/>
                  <a:ea typeface="思源黑体 CN Bold" panose="020B0800000000000000" pitchFamily="34" charset="-122"/>
                </a:rPr>
                <a:t>关键技术</a:t>
              </a:r>
            </a:p>
          </p:txBody>
        </p:sp>
        <p:sp>
          <p:nvSpPr>
            <p:cNvPr id="26" name="文本框 25">
              <a:extLst>
                <a:ext uri="{FF2B5EF4-FFF2-40B4-BE49-F238E27FC236}">
                  <a16:creationId xmlns:a16="http://schemas.microsoft.com/office/drawing/2014/main" id="{06008D4A-6DD2-4A62-A1B6-32AA1B8AA3DE}"/>
                </a:ext>
              </a:extLst>
            </p:cNvPr>
            <p:cNvSpPr txBox="1"/>
            <p:nvPr/>
          </p:nvSpPr>
          <p:spPr>
            <a:xfrm>
              <a:off x="2298152" y="1713672"/>
              <a:ext cx="3797848" cy="663387"/>
            </a:xfrm>
            <a:prstGeom prst="rect">
              <a:avLst/>
            </a:prstGeom>
            <a:noFill/>
          </p:spPr>
          <p:txBody>
            <a:bodyPr wrap="square" rtlCol="0">
              <a:spAutoFit/>
            </a:bodyPr>
            <a:lstStyle/>
            <a:p>
              <a:pPr>
                <a:lnSpc>
                  <a:spcPct val="120000"/>
                </a:lnSpc>
              </a:pPr>
              <a:r>
                <a:rPr lang="zh-CN" altLang="en-US" sz="1600" dirty="0">
                  <a:latin typeface="思源黑体 CN Regular" panose="020B0500000000000000" pitchFamily="34" charset="-122"/>
                  <a:ea typeface="思源黑体 CN Regular" panose="020B0500000000000000" pitchFamily="34" charset="-122"/>
                </a:rPr>
                <a:t>构建</a:t>
              </a:r>
              <a:r>
                <a:rPr lang="en-US" altLang="zh-CN" sz="1600" dirty="0">
                  <a:latin typeface="思源黑体 CN Regular" panose="020B0500000000000000" pitchFamily="34" charset="-122"/>
                  <a:ea typeface="思源黑体 CN Regular" panose="020B0500000000000000" pitchFamily="34" charset="-122"/>
                </a:rPr>
                <a:t>PRMT3/IGF2BP1</a:t>
              </a:r>
              <a:r>
                <a:rPr lang="zh-CN" altLang="en-US" sz="1600" dirty="0">
                  <a:latin typeface="思源黑体 CN Regular" panose="020B0500000000000000" pitchFamily="34" charset="-122"/>
                  <a:ea typeface="思源黑体 CN Regular" panose="020B0500000000000000" pitchFamily="34" charset="-122"/>
                </a:rPr>
                <a:t>调控的肝癌耐药细胞模型（</a:t>
              </a:r>
              <a:r>
                <a:rPr lang="en-US" altLang="zh-CN" sz="1600" dirty="0">
                  <a:latin typeface="思源黑体 CN Regular" panose="020B0500000000000000" pitchFamily="34" charset="-122"/>
                  <a:ea typeface="思源黑体 CN Regular" panose="020B0500000000000000" pitchFamily="34" charset="-122"/>
                </a:rPr>
                <a:t>HepG2/</a:t>
              </a:r>
              <a:r>
                <a:rPr lang="en-US" altLang="zh-CN" sz="1600" dirty="0" err="1">
                  <a:latin typeface="思源黑体 CN Regular" panose="020B0500000000000000" pitchFamily="34" charset="-122"/>
                  <a:ea typeface="思源黑体 CN Regular" panose="020B0500000000000000" pitchFamily="34" charset="-122"/>
                </a:rPr>
                <a:t>OxR</a:t>
              </a:r>
              <a:r>
                <a:rPr lang="zh-CN" altLang="en-US" sz="1600" dirty="0">
                  <a:latin typeface="思源黑体 CN Regular" panose="020B0500000000000000" pitchFamily="34" charset="-122"/>
                  <a:ea typeface="思源黑体 CN Regular" panose="020B0500000000000000" pitchFamily="34" charset="-122"/>
                </a:rPr>
                <a:t>）。</a:t>
              </a:r>
            </a:p>
          </p:txBody>
        </p:sp>
        <p:sp>
          <p:nvSpPr>
            <p:cNvPr id="27" name="文本框 26">
              <a:extLst>
                <a:ext uri="{FF2B5EF4-FFF2-40B4-BE49-F238E27FC236}">
                  <a16:creationId xmlns:a16="http://schemas.microsoft.com/office/drawing/2014/main" id="{795C575F-35DD-4538-9720-BFC58D34C522}"/>
                </a:ext>
              </a:extLst>
            </p:cNvPr>
            <p:cNvSpPr txBox="1"/>
            <p:nvPr/>
          </p:nvSpPr>
          <p:spPr>
            <a:xfrm>
              <a:off x="2298152" y="2487917"/>
              <a:ext cx="3797848" cy="663387"/>
            </a:xfrm>
            <a:prstGeom prst="rect">
              <a:avLst/>
            </a:prstGeom>
            <a:noFill/>
          </p:spPr>
          <p:txBody>
            <a:bodyPr wrap="square" rtlCol="0">
              <a:spAutoFit/>
            </a:bodyPr>
            <a:lstStyle/>
            <a:p>
              <a:pPr>
                <a:lnSpc>
                  <a:spcPct val="120000"/>
                </a:lnSpc>
              </a:pPr>
              <a:r>
                <a:rPr lang="zh-CN" altLang="en-US" sz="1600" dirty="0">
                  <a:latin typeface="思源黑体 CN Regular" panose="020B0500000000000000" pitchFamily="34" charset="-122"/>
                  <a:ea typeface="思源黑体 CN Regular" panose="020B0500000000000000" pitchFamily="34" charset="-122"/>
                </a:rPr>
                <a:t>采用</a:t>
              </a:r>
              <a:r>
                <a:rPr lang="en-US" altLang="zh-CN" sz="1600" dirty="0">
                  <a:latin typeface="思源黑体 CN Regular" panose="020B0500000000000000" pitchFamily="34" charset="-122"/>
                  <a:ea typeface="思源黑体 CN Regular" panose="020B0500000000000000" pitchFamily="34" charset="-122"/>
                </a:rPr>
                <a:t>Co-IP</a:t>
              </a:r>
              <a:r>
                <a:rPr lang="zh-CN" altLang="en-US" sz="1600" dirty="0">
                  <a:latin typeface="思源黑体 CN Regular" panose="020B0500000000000000" pitchFamily="34" charset="-122"/>
                  <a:ea typeface="思源黑体 CN Regular" panose="020B0500000000000000" pitchFamily="34" charset="-122"/>
                </a:rPr>
                <a:t>联合质谱验证二者甲基化修饰互作关系。</a:t>
              </a:r>
            </a:p>
          </p:txBody>
        </p:sp>
      </p:grpSp>
      <p:sp>
        <p:nvSpPr>
          <p:cNvPr id="30" name="矩形: 圆角 29">
            <a:extLst>
              <a:ext uri="{FF2B5EF4-FFF2-40B4-BE49-F238E27FC236}">
                <a16:creationId xmlns:a16="http://schemas.microsoft.com/office/drawing/2014/main" id="{0C240E77-961D-4CCD-AE89-091A83223A27}"/>
              </a:ext>
            </a:extLst>
          </p:cNvPr>
          <p:cNvSpPr/>
          <p:nvPr/>
        </p:nvSpPr>
        <p:spPr>
          <a:xfrm>
            <a:off x="6352351" y="3571293"/>
            <a:ext cx="5504687" cy="3026355"/>
          </a:xfrm>
          <a:prstGeom prst="roundRect">
            <a:avLst>
              <a:gd name="adj" fmla="val 5406"/>
            </a:avLst>
          </a:prstGeom>
          <a:solidFill>
            <a:schemeClr val="bg1"/>
          </a:solidFill>
          <a:ln w="15875">
            <a:solidFill>
              <a:schemeClr val="accent1"/>
            </a:solid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zh-CN" altLang="en-US"/>
          </a:p>
        </p:txBody>
      </p:sp>
      <p:sp>
        <p:nvSpPr>
          <p:cNvPr id="34" name="文本框 33">
            <a:extLst>
              <a:ext uri="{FF2B5EF4-FFF2-40B4-BE49-F238E27FC236}">
                <a16:creationId xmlns:a16="http://schemas.microsoft.com/office/drawing/2014/main" id="{6CC0DCC8-EED8-435D-BCE8-EC0E4419545B}"/>
              </a:ext>
            </a:extLst>
          </p:cNvPr>
          <p:cNvSpPr txBox="1"/>
          <p:nvPr/>
        </p:nvSpPr>
        <p:spPr>
          <a:xfrm>
            <a:off x="2298152" y="4526802"/>
            <a:ext cx="3797848" cy="663387"/>
          </a:xfrm>
          <a:prstGeom prst="rect">
            <a:avLst/>
          </a:prstGeom>
          <a:noFill/>
        </p:spPr>
        <p:txBody>
          <a:bodyPr wrap="square" rtlCol="0">
            <a:spAutoFit/>
          </a:bodyPr>
          <a:lstStyle/>
          <a:p>
            <a:pPr>
              <a:lnSpc>
                <a:spcPct val="120000"/>
              </a:lnSpc>
            </a:pPr>
            <a:r>
              <a:rPr lang="zh-CN" altLang="en-US" sz="1600" dirty="0">
                <a:latin typeface="思源黑体 CN Regular" panose="020B0500000000000000" pitchFamily="34" charset="-122"/>
                <a:ea typeface="思源黑体 CN Regular" panose="020B0500000000000000" pitchFamily="34" charset="-122"/>
              </a:rPr>
              <a:t>首次证实</a:t>
            </a:r>
            <a:r>
              <a:rPr lang="en-US" altLang="zh-CN" sz="1600" dirty="0">
                <a:latin typeface="思源黑体 CN Regular" panose="020B0500000000000000" pitchFamily="34" charset="-122"/>
                <a:ea typeface="思源黑体 CN Regular" panose="020B0500000000000000" pitchFamily="34" charset="-122"/>
              </a:rPr>
              <a:t>PRMT3</a:t>
            </a:r>
            <a:r>
              <a:rPr lang="zh-CN" altLang="en-US" sz="1600" dirty="0">
                <a:latin typeface="思源黑体 CN Regular" panose="020B0500000000000000" pitchFamily="34" charset="-122"/>
                <a:ea typeface="思源黑体 CN Regular" panose="020B0500000000000000" pitchFamily="34" charset="-122"/>
              </a:rPr>
              <a:t>介导</a:t>
            </a:r>
            <a:r>
              <a:rPr lang="en-US" altLang="zh-CN" sz="1600" dirty="0">
                <a:latin typeface="思源黑体 CN Regular" panose="020B0500000000000000" pitchFamily="34" charset="-122"/>
                <a:ea typeface="思源黑体 CN Regular" panose="020B0500000000000000" pitchFamily="34" charset="-122"/>
              </a:rPr>
              <a:t>IGF2BP1</a:t>
            </a:r>
            <a:r>
              <a:rPr lang="zh-CN" altLang="en-US" sz="1600" dirty="0">
                <a:latin typeface="思源黑体 CN Regular" panose="020B0500000000000000" pitchFamily="34" charset="-122"/>
                <a:ea typeface="思源黑体 CN Regular" panose="020B0500000000000000" pitchFamily="34" charset="-122"/>
              </a:rPr>
              <a:t>甲基化参与肝癌奥沙利铂耐药。</a:t>
            </a:r>
          </a:p>
        </p:txBody>
      </p:sp>
      <p:sp>
        <p:nvSpPr>
          <p:cNvPr id="35" name="文本框 34">
            <a:extLst>
              <a:ext uri="{FF2B5EF4-FFF2-40B4-BE49-F238E27FC236}">
                <a16:creationId xmlns:a16="http://schemas.microsoft.com/office/drawing/2014/main" id="{5D508FAD-8CD6-4FCE-AF69-A5277C658419}"/>
              </a:ext>
            </a:extLst>
          </p:cNvPr>
          <p:cNvSpPr txBox="1"/>
          <p:nvPr/>
        </p:nvSpPr>
        <p:spPr>
          <a:xfrm>
            <a:off x="2298152" y="5301047"/>
            <a:ext cx="3797848" cy="663387"/>
          </a:xfrm>
          <a:prstGeom prst="rect">
            <a:avLst/>
          </a:prstGeom>
          <a:noFill/>
        </p:spPr>
        <p:txBody>
          <a:bodyPr wrap="square" rtlCol="0">
            <a:spAutoFit/>
          </a:bodyPr>
          <a:lstStyle/>
          <a:p>
            <a:pPr>
              <a:lnSpc>
                <a:spcPct val="120000"/>
              </a:lnSpc>
            </a:pPr>
            <a:r>
              <a:rPr lang="zh-CN" altLang="en-US" sz="1600" dirty="0">
                <a:latin typeface="思源黑体 CN Regular" panose="020B0500000000000000" pitchFamily="34" charset="-122"/>
                <a:ea typeface="思源黑体 CN Regular" panose="020B0500000000000000" pitchFamily="34" charset="-122"/>
              </a:rPr>
              <a:t>揭示甲基化修饰调控</a:t>
            </a:r>
            <a:r>
              <a:rPr lang="en-US" altLang="zh-CN" sz="1600" dirty="0">
                <a:latin typeface="思源黑体 CN Regular" panose="020B0500000000000000" pitchFamily="34" charset="-122"/>
                <a:ea typeface="思源黑体 CN Regular" panose="020B0500000000000000" pitchFamily="34" charset="-122"/>
              </a:rPr>
              <a:t>IGF2BP1</a:t>
            </a:r>
            <a:r>
              <a:rPr lang="zh-CN" altLang="en-US" sz="1600" dirty="0">
                <a:latin typeface="思源黑体 CN Regular" panose="020B0500000000000000" pitchFamily="34" charset="-122"/>
                <a:ea typeface="思源黑体 CN Regular" panose="020B0500000000000000" pitchFamily="34" charset="-122"/>
              </a:rPr>
              <a:t>靶基因结合活性的耐药通路。</a:t>
            </a:r>
          </a:p>
        </p:txBody>
      </p:sp>
      <p:pic>
        <p:nvPicPr>
          <p:cNvPr id="3074" name="Picture 2" descr="查看图片">
            <a:extLst>
              <a:ext uri="{FF2B5EF4-FFF2-40B4-BE49-F238E27FC236}">
                <a16:creationId xmlns:a16="http://schemas.microsoft.com/office/drawing/2014/main" id="{609C6588-1185-4234-B497-FAF320542762}"/>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t="3060" r="4349" b="69406"/>
          <a:stretch/>
        </p:blipFill>
        <p:spPr bwMode="auto">
          <a:xfrm>
            <a:off x="6779873" y="1489711"/>
            <a:ext cx="4649642" cy="1626870"/>
          </a:xfrm>
          <a:prstGeom prst="rect">
            <a:avLst/>
          </a:prstGeom>
          <a:noFill/>
          <a:extLst>
            <a:ext uri="{909E8E84-426E-40DD-AFC4-6F175D3DCCD1}">
              <a14:hiddenFill xmlns:a14="http://schemas.microsoft.com/office/drawing/2010/main">
                <a:solidFill>
                  <a:srgbClr val="FFFFFF"/>
                </a:solidFill>
              </a14:hiddenFill>
            </a:ext>
          </a:extLst>
        </p:spPr>
      </p:pic>
      <p:sp>
        <p:nvSpPr>
          <p:cNvPr id="15" name="矩形: 圆顶角 14">
            <a:extLst>
              <a:ext uri="{FF2B5EF4-FFF2-40B4-BE49-F238E27FC236}">
                <a16:creationId xmlns:a16="http://schemas.microsoft.com/office/drawing/2014/main" id="{C60CC628-1DAF-45D9-910B-2B366A5D4702}"/>
              </a:ext>
            </a:extLst>
          </p:cNvPr>
          <p:cNvSpPr/>
          <p:nvPr/>
        </p:nvSpPr>
        <p:spPr>
          <a:xfrm>
            <a:off x="7784909" y="1218365"/>
            <a:ext cx="2440434" cy="376049"/>
          </a:xfrm>
          <a:prstGeom prst="round2SameRect">
            <a:avLst>
              <a:gd name="adj1" fmla="val 0"/>
              <a:gd name="adj2" fmla="val 19256"/>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600" b="1" dirty="0">
                <a:latin typeface="思源黑体 CN Bold" panose="020B0800000000000000" pitchFamily="34" charset="-122"/>
                <a:ea typeface="思源黑体 CN Bold" panose="020B0800000000000000" pitchFamily="34" charset="-122"/>
              </a:rPr>
              <a:t>精氨酸甲基化验证技术</a:t>
            </a:r>
          </a:p>
        </p:txBody>
      </p:sp>
      <p:pic>
        <p:nvPicPr>
          <p:cNvPr id="39" name="Picture 2" descr="查看图片">
            <a:extLst>
              <a:ext uri="{FF2B5EF4-FFF2-40B4-BE49-F238E27FC236}">
                <a16:creationId xmlns:a16="http://schemas.microsoft.com/office/drawing/2014/main" id="{B0B8B00D-2761-4BF0-AFA8-999C219F9115}"/>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t="34965" r="3454" b="17899"/>
          <a:stretch/>
        </p:blipFill>
        <p:spPr bwMode="auto">
          <a:xfrm>
            <a:off x="6845671" y="3871426"/>
            <a:ext cx="4518047" cy="2681215"/>
          </a:xfrm>
          <a:prstGeom prst="rect">
            <a:avLst/>
          </a:prstGeom>
          <a:noFill/>
          <a:extLst>
            <a:ext uri="{909E8E84-426E-40DD-AFC4-6F175D3DCCD1}">
              <a14:hiddenFill xmlns:a14="http://schemas.microsoft.com/office/drawing/2010/main">
                <a:solidFill>
                  <a:srgbClr val="FFFFFF"/>
                </a:solidFill>
              </a14:hiddenFill>
            </a:ext>
          </a:extLst>
        </p:spPr>
      </p:pic>
      <p:sp>
        <p:nvSpPr>
          <p:cNvPr id="31" name="矩形: 圆顶角 30">
            <a:extLst>
              <a:ext uri="{FF2B5EF4-FFF2-40B4-BE49-F238E27FC236}">
                <a16:creationId xmlns:a16="http://schemas.microsoft.com/office/drawing/2014/main" id="{107C1DC8-ED31-450A-A383-DB034BBC69AB}"/>
              </a:ext>
            </a:extLst>
          </p:cNvPr>
          <p:cNvSpPr/>
          <p:nvPr/>
        </p:nvSpPr>
        <p:spPr>
          <a:xfrm>
            <a:off x="7955597" y="3571293"/>
            <a:ext cx="2440434" cy="376049"/>
          </a:xfrm>
          <a:prstGeom prst="round2SameRect">
            <a:avLst>
              <a:gd name="adj1" fmla="val 0"/>
              <a:gd name="adj2" fmla="val 19256"/>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600" b="1" dirty="0">
                <a:latin typeface="思源黑体 CN Bold" panose="020B0800000000000000" pitchFamily="34" charset="-122"/>
                <a:ea typeface="思源黑体 CN Bold" panose="020B0800000000000000" pitchFamily="34" charset="-122"/>
              </a:rPr>
              <a:t>耐药调控新机制</a:t>
            </a:r>
          </a:p>
        </p:txBody>
      </p:sp>
      <p:sp>
        <p:nvSpPr>
          <p:cNvPr id="97" name="文本框 96">
            <a:extLst>
              <a:ext uri="{FF2B5EF4-FFF2-40B4-BE49-F238E27FC236}">
                <a16:creationId xmlns:a16="http://schemas.microsoft.com/office/drawing/2014/main" id="{EAE397E7-18A2-4D33-9963-47F236F3A24F}"/>
              </a:ext>
            </a:extLst>
          </p:cNvPr>
          <p:cNvSpPr txBox="1"/>
          <p:nvPr/>
        </p:nvSpPr>
        <p:spPr>
          <a:xfrm>
            <a:off x="2209656" y="248670"/>
            <a:ext cx="2997937" cy="461665"/>
          </a:xfrm>
          <a:prstGeom prst="rect">
            <a:avLst/>
          </a:prstGeom>
          <a:noFill/>
        </p:spPr>
        <p:txBody>
          <a:bodyPr wrap="none" rtlCol="0">
            <a:spAutoFit/>
          </a:bodyPr>
          <a:lstStyle/>
          <a:p>
            <a:r>
              <a:rPr lang="en-US" altLang="zh-CN" sz="2400" dirty="0">
                <a:solidFill>
                  <a:schemeClr val="accent1"/>
                </a:solidFill>
                <a:latin typeface="思源黑体 CN Bold" panose="020B0800000000000000" pitchFamily="34" charset="-122"/>
                <a:ea typeface="思源黑体 CN Bold" panose="020B0800000000000000" pitchFamily="34" charset="-122"/>
              </a:rPr>
              <a:t>4. </a:t>
            </a:r>
            <a:r>
              <a:rPr lang="zh-CN" altLang="en-US" sz="2400" dirty="0">
                <a:solidFill>
                  <a:schemeClr val="accent1"/>
                </a:solidFill>
                <a:latin typeface="思源黑体 CN Bold" panose="020B0800000000000000" pitchFamily="34" charset="-122"/>
                <a:ea typeface="思源黑体 CN Bold" panose="020B0800000000000000" pitchFamily="34" charset="-122"/>
              </a:rPr>
              <a:t>关键技术与创新点</a:t>
            </a:r>
          </a:p>
        </p:txBody>
      </p:sp>
      <p:sp>
        <p:nvSpPr>
          <p:cNvPr id="99" name="文本框 98">
            <a:extLst>
              <a:ext uri="{FF2B5EF4-FFF2-40B4-BE49-F238E27FC236}">
                <a16:creationId xmlns:a16="http://schemas.microsoft.com/office/drawing/2014/main" id="{331B8016-E14C-4CE7-8415-6137B3DC490F}"/>
              </a:ext>
            </a:extLst>
          </p:cNvPr>
          <p:cNvSpPr txBox="1"/>
          <p:nvPr/>
        </p:nvSpPr>
        <p:spPr>
          <a:xfrm>
            <a:off x="373082" y="2098899"/>
            <a:ext cx="1660612" cy="338554"/>
          </a:xfrm>
          <a:prstGeom prst="rect">
            <a:avLst/>
          </a:prstGeom>
          <a:noFill/>
        </p:spPr>
        <p:txBody>
          <a:bodyPr wrap="square" rtlCol="0">
            <a:spAutoFit/>
          </a:bodyPr>
          <a:lstStyle/>
          <a:p>
            <a:r>
              <a:rPr lang="zh-CN" altLang="en-US" sz="1600" dirty="0">
                <a:solidFill>
                  <a:schemeClr val="bg1"/>
                </a:solidFill>
                <a:latin typeface="思源黑体 CN Regular" panose="020B0500000000000000" pitchFamily="34" charset="-122"/>
                <a:ea typeface="思源黑体 CN Regular" panose="020B0500000000000000" pitchFamily="34" charset="-122"/>
              </a:rPr>
              <a:t>研究背景及现状</a:t>
            </a:r>
          </a:p>
        </p:txBody>
      </p:sp>
      <p:sp>
        <p:nvSpPr>
          <p:cNvPr id="100" name="任意矩形：001">
            <a:extLst>
              <a:ext uri="{FF2B5EF4-FFF2-40B4-BE49-F238E27FC236}">
                <a16:creationId xmlns:a16="http://schemas.microsoft.com/office/drawing/2014/main" id="{FAA4189B-BE62-493F-82E8-4C595E803CD9}"/>
              </a:ext>
            </a:extLst>
          </p:cNvPr>
          <p:cNvSpPr/>
          <p:nvPr/>
        </p:nvSpPr>
        <p:spPr>
          <a:xfrm>
            <a:off x="131492" y="2145245"/>
            <a:ext cx="226722" cy="202893"/>
          </a:xfrm>
          <a:custGeom>
            <a:avLst/>
            <a:gdLst>
              <a:gd name="connsiteX0" fmla="*/ 79591 w 607005"/>
              <a:gd name="connsiteY0" fmla="*/ 373864 h 543210"/>
              <a:gd name="connsiteX1" fmla="*/ 33701 w 607005"/>
              <a:gd name="connsiteY1" fmla="*/ 461494 h 543210"/>
              <a:gd name="connsiteX2" fmla="*/ 79501 w 607005"/>
              <a:gd name="connsiteY2" fmla="*/ 507233 h 543210"/>
              <a:gd name="connsiteX3" fmla="*/ 125392 w 607005"/>
              <a:gd name="connsiteY3" fmla="*/ 461494 h 543210"/>
              <a:gd name="connsiteX4" fmla="*/ 79591 w 607005"/>
              <a:gd name="connsiteY4" fmla="*/ 373864 h 543210"/>
              <a:gd name="connsiteX5" fmla="*/ 79501 w 607005"/>
              <a:gd name="connsiteY5" fmla="*/ 328661 h 543210"/>
              <a:gd name="connsiteX6" fmla="*/ 92856 w 607005"/>
              <a:gd name="connsiteY6" fmla="*/ 335106 h 543210"/>
              <a:gd name="connsiteX7" fmla="*/ 158913 w 607005"/>
              <a:gd name="connsiteY7" fmla="*/ 461404 h 543210"/>
              <a:gd name="connsiteX8" fmla="*/ 79501 w 607005"/>
              <a:gd name="connsiteY8" fmla="*/ 540710 h 543210"/>
              <a:gd name="connsiteX9" fmla="*/ 0 w 607005"/>
              <a:gd name="connsiteY9" fmla="*/ 461404 h 543210"/>
              <a:gd name="connsiteX10" fmla="*/ 66236 w 607005"/>
              <a:gd name="connsiteY10" fmla="*/ 335195 h 543210"/>
              <a:gd name="connsiteX11" fmla="*/ 79501 w 607005"/>
              <a:gd name="connsiteY11" fmla="*/ 328661 h 543210"/>
              <a:gd name="connsiteX12" fmla="*/ 196548 w 607005"/>
              <a:gd name="connsiteY12" fmla="*/ 281688 h 543210"/>
              <a:gd name="connsiteX13" fmla="*/ 391755 w 607005"/>
              <a:gd name="connsiteY13" fmla="*/ 476431 h 543210"/>
              <a:gd name="connsiteX14" fmla="*/ 540265 w 607005"/>
              <a:gd name="connsiteY14" fmla="*/ 476431 h 543210"/>
              <a:gd name="connsiteX15" fmla="*/ 540265 w 607005"/>
              <a:gd name="connsiteY15" fmla="*/ 328047 h 543210"/>
              <a:gd name="connsiteX16" fmla="*/ 493749 w 607005"/>
              <a:gd name="connsiteY16" fmla="*/ 281688 h 543210"/>
              <a:gd name="connsiteX17" fmla="*/ 261707 w 607005"/>
              <a:gd name="connsiteY17" fmla="*/ 49894 h 543210"/>
              <a:gd name="connsiteX18" fmla="*/ 113017 w 607005"/>
              <a:gd name="connsiteY18" fmla="*/ 198278 h 543210"/>
              <a:gd name="connsiteX19" fmla="*/ 163028 w 607005"/>
              <a:gd name="connsiteY19" fmla="*/ 248127 h 543210"/>
              <a:gd name="connsiteX20" fmla="*/ 460229 w 607005"/>
              <a:gd name="connsiteY20" fmla="*/ 248127 h 543210"/>
              <a:gd name="connsiteX21" fmla="*/ 271073 w 607005"/>
              <a:gd name="connsiteY21" fmla="*/ 0 h 543210"/>
              <a:gd name="connsiteX22" fmla="*/ 282948 w 607005"/>
              <a:gd name="connsiteY22" fmla="*/ 4967 h 543210"/>
              <a:gd name="connsiteX23" fmla="*/ 285099 w 607005"/>
              <a:gd name="connsiteY23" fmla="*/ 25909 h 543210"/>
              <a:gd name="connsiteX24" fmla="*/ 563927 w 607005"/>
              <a:gd name="connsiteY24" fmla="*/ 304331 h 543210"/>
              <a:gd name="connsiteX25" fmla="*/ 563927 w 607005"/>
              <a:gd name="connsiteY25" fmla="*/ 500148 h 543210"/>
              <a:gd name="connsiteX26" fmla="*/ 367824 w 607005"/>
              <a:gd name="connsiteY26" fmla="*/ 500148 h 543210"/>
              <a:gd name="connsiteX27" fmla="*/ 88997 w 607005"/>
              <a:gd name="connsiteY27" fmla="*/ 221726 h 543210"/>
              <a:gd name="connsiteX28" fmla="*/ 68024 w 607005"/>
              <a:gd name="connsiteY28" fmla="*/ 219578 h 543210"/>
              <a:gd name="connsiteX29" fmla="*/ 68024 w 607005"/>
              <a:gd name="connsiteY29" fmla="*/ 195862 h 543210"/>
              <a:gd name="connsiteX30" fmla="*/ 259197 w 607005"/>
              <a:gd name="connsiteY30" fmla="*/ 4967 h 543210"/>
              <a:gd name="connsiteX31" fmla="*/ 271073 w 607005"/>
              <a:gd name="connsiteY31" fmla="*/ 0 h 5432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607005" h="543210">
                <a:moveTo>
                  <a:pt x="79591" y="373864"/>
                </a:moveTo>
                <a:cubicBezTo>
                  <a:pt x="57452" y="405192"/>
                  <a:pt x="33701" y="445024"/>
                  <a:pt x="33701" y="461494"/>
                </a:cubicBezTo>
                <a:cubicBezTo>
                  <a:pt x="33701" y="486646"/>
                  <a:pt x="54226" y="507233"/>
                  <a:pt x="79501" y="507233"/>
                </a:cubicBezTo>
                <a:cubicBezTo>
                  <a:pt x="104687" y="507233"/>
                  <a:pt x="125212" y="486646"/>
                  <a:pt x="125392" y="461494"/>
                </a:cubicBezTo>
                <a:cubicBezTo>
                  <a:pt x="125392" y="445024"/>
                  <a:pt x="101729" y="405282"/>
                  <a:pt x="79591" y="373864"/>
                </a:cubicBezTo>
                <a:close/>
                <a:moveTo>
                  <a:pt x="79501" y="328661"/>
                </a:moveTo>
                <a:cubicBezTo>
                  <a:pt x="84610" y="328661"/>
                  <a:pt x="89540" y="331078"/>
                  <a:pt x="92856" y="335106"/>
                </a:cubicBezTo>
                <a:cubicBezTo>
                  <a:pt x="103881" y="349517"/>
                  <a:pt x="158913" y="423094"/>
                  <a:pt x="158913" y="461404"/>
                </a:cubicBezTo>
                <a:cubicBezTo>
                  <a:pt x="158913" y="505175"/>
                  <a:pt x="123240" y="540710"/>
                  <a:pt x="79501" y="540710"/>
                </a:cubicBezTo>
                <a:cubicBezTo>
                  <a:pt x="35583" y="540710"/>
                  <a:pt x="0" y="505085"/>
                  <a:pt x="0" y="461404"/>
                </a:cubicBezTo>
                <a:cubicBezTo>
                  <a:pt x="0" y="423094"/>
                  <a:pt x="55122" y="349517"/>
                  <a:pt x="66236" y="335195"/>
                </a:cubicBezTo>
                <a:cubicBezTo>
                  <a:pt x="69284" y="331078"/>
                  <a:pt x="74213" y="328661"/>
                  <a:pt x="79501" y="328661"/>
                </a:cubicBezTo>
                <a:close/>
                <a:moveTo>
                  <a:pt x="196548" y="281688"/>
                </a:moveTo>
                <a:lnTo>
                  <a:pt x="391755" y="476431"/>
                </a:lnTo>
                <a:cubicBezTo>
                  <a:pt x="420525" y="505249"/>
                  <a:pt x="488999" y="527623"/>
                  <a:pt x="540265" y="476431"/>
                </a:cubicBezTo>
                <a:cubicBezTo>
                  <a:pt x="592249" y="424524"/>
                  <a:pt x="570290" y="358028"/>
                  <a:pt x="540265" y="328047"/>
                </a:cubicBezTo>
                <a:lnTo>
                  <a:pt x="493749" y="281688"/>
                </a:lnTo>
                <a:close/>
                <a:moveTo>
                  <a:pt x="261707" y="49894"/>
                </a:moveTo>
                <a:lnTo>
                  <a:pt x="113017" y="198278"/>
                </a:lnTo>
                <a:lnTo>
                  <a:pt x="163028" y="248127"/>
                </a:lnTo>
                <a:lnTo>
                  <a:pt x="460229" y="248127"/>
                </a:lnTo>
                <a:close/>
                <a:moveTo>
                  <a:pt x="271073" y="0"/>
                </a:moveTo>
                <a:cubicBezTo>
                  <a:pt x="275375" y="0"/>
                  <a:pt x="279677" y="1655"/>
                  <a:pt x="282948" y="4967"/>
                </a:cubicBezTo>
                <a:cubicBezTo>
                  <a:pt x="288595" y="10694"/>
                  <a:pt x="289312" y="19465"/>
                  <a:pt x="285099" y="25909"/>
                </a:cubicBezTo>
                <a:lnTo>
                  <a:pt x="563927" y="304331"/>
                </a:lnTo>
                <a:cubicBezTo>
                  <a:pt x="604528" y="344872"/>
                  <a:pt x="636076" y="428104"/>
                  <a:pt x="563927" y="500148"/>
                </a:cubicBezTo>
                <a:cubicBezTo>
                  <a:pt x="492495" y="571476"/>
                  <a:pt x="409501" y="541763"/>
                  <a:pt x="367824" y="500148"/>
                </a:cubicBezTo>
                <a:lnTo>
                  <a:pt x="88997" y="221726"/>
                </a:lnTo>
                <a:cubicBezTo>
                  <a:pt x="81468" y="226380"/>
                  <a:pt x="73850" y="225485"/>
                  <a:pt x="68024" y="219578"/>
                </a:cubicBezTo>
                <a:cubicBezTo>
                  <a:pt x="61392" y="213045"/>
                  <a:pt x="61392" y="202395"/>
                  <a:pt x="68024" y="195862"/>
                </a:cubicBezTo>
                <a:lnTo>
                  <a:pt x="259197" y="4967"/>
                </a:lnTo>
                <a:cubicBezTo>
                  <a:pt x="262469" y="1655"/>
                  <a:pt x="266771" y="0"/>
                  <a:pt x="271073"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1" name="任意矩形：002">
            <a:extLst>
              <a:ext uri="{FF2B5EF4-FFF2-40B4-BE49-F238E27FC236}">
                <a16:creationId xmlns:a16="http://schemas.microsoft.com/office/drawing/2014/main" id="{C8F8B218-BAAB-453A-AED7-A59DCA3EF9A8}"/>
              </a:ext>
            </a:extLst>
          </p:cNvPr>
          <p:cNvSpPr/>
          <p:nvPr/>
        </p:nvSpPr>
        <p:spPr>
          <a:xfrm>
            <a:off x="143798" y="2860995"/>
            <a:ext cx="202111" cy="201828"/>
          </a:xfrm>
          <a:custGeom>
            <a:avLst/>
            <a:gdLst>
              <a:gd name="connsiteX0" fmla="*/ 303643 w 607215"/>
              <a:gd name="connsiteY0" fmla="*/ 280873 h 606369"/>
              <a:gd name="connsiteX1" fmla="*/ 325219 w 607215"/>
              <a:gd name="connsiteY1" fmla="*/ 302335 h 606369"/>
              <a:gd name="connsiteX2" fmla="*/ 303643 w 607215"/>
              <a:gd name="connsiteY2" fmla="*/ 323873 h 606369"/>
              <a:gd name="connsiteX3" fmla="*/ 282068 w 607215"/>
              <a:gd name="connsiteY3" fmla="*/ 302335 h 606369"/>
              <a:gd name="connsiteX4" fmla="*/ 303643 w 607215"/>
              <a:gd name="connsiteY4" fmla="*/ 280873 h 606369"/>
              <a:gd name="connsiteX5" fmla="*/ 303678 w 607215"/>
              <a:gd name="connsiteY5" fmla="*/ 280357 h 606369"/>
              <a:gd name="connsiteX6" fmla="*/ 281626 w 607215"/>
              <a:gd name="connsiteY6" fmla="*/ 302374 h 606369"/>
              <a:gd name="connsiteX7" fmla="*/ 303678 w 607215"/>
              <a:gd name="connsiteY7" fmla="*/ 324391 h 606369"/>
              <a:gd name="connsiteX8" fmla="*/ 325730 w 607215"/>
              <a:gd name="connsiteY8" fmla="*/ 302374 h 606369"/>
              <a:gd name="connsiteX9" fmla="*/ 303678 w 607215"/>
              <a:gd name="connsiteY9" fmla="*/ 280357 h 606369"/>
              <a:gd name="connsiteX10" fmla="*/ 303643 w 607215"/>
              <a:gd name="connsiteY10" fmla="*/ 279792 h 606369"/>
              <a:gd name="connsiteX11" fmla="*/ 326224 w 607215"/>
              <a:gd name="connsiteY11" fmla="*/ 302335 h 606369"/>
              <a:gd name="connsiteX12" fmla="*/ 303643 w 607215"/>
              <a:gd name="connsiteY12" fmla="*/ 324954 h 606369"/>
              <a:gd name="connsiteX13" fmla="*/ 281062 w 607215"/>
              <a:gd name="connsiteY13" fmla="*/ 302335 h 606369"/>
              <a:gd name="connsiteX14" fmla="*/ 303643 w 607215"/>
              <a:gd name="connsiteY14" fmla="*/ 279792 h 606369"/>
              <a:gd name="connsiteX15" fmla="*/ 281043 w 607215"/>
              <a:gd name="connsiteY15" fmla="*/ 46068 h 606369"/>
              <a:gd name="connsiteX16" fmla="*/ 120855 w 607215"/>
              <a:gd name="connsiteY16" fmla="*/ 120687 h 606369"/>
              <a:gd name="connsiteX17" fmla="*/ 46132 w 607215"/>
              <a:gd name="connsiteY17" fmla="*/ 280652 h 606369"/>
              <a:gd name="connsiteX18" fmla="*/ 147128 w 607215"/>
              <a:gd name="connsiteY18" fmla="*/ 280652 h 606369"/>
              <a:gd name="connsiteX19" fmla="*/ 169770 w 607215"/>
              <a:gd name="connsiteY19" fmla="*/ 303185 h 606369"/>
              <a:gd name="connsiteX20" fmla="*/ 147128 w 607215"/>
              <a:gd name="connsiteY20" fmla="*/ 325717 h 606369"/>
              <a:gd name="connsiteX21" fmla="*/ 46132 w 607215"/>
              <a:gd name="connsiteY21" fmla="*/ 325717 h 606369"/>
              <a:gd name="connsiteX22" fmla="*/ 120855 w 607215"/>
              <a:gd name="connsiteY22" fmla="*/ 485682 h 606369"/>
              <a:gd name="connsiteX23" fmla="*/ 281043 w 607215"/>
              <a:gd name="connsiteY23" fmla="*/ 560301 h 606369"/>
              <a:gd name="connsiteX24" fmla="*/ 281043 w 607215"/>
              <a:gd name="connsiteY24" fmla="*/ 459446 h 606369"/>
              <a:gd name="connsiteX25" fmla="*/ 303608 w 607215"/>
              <a:gd name="connsiteY25" fmla="*/ 436913 h 606369"/>
              <a:gd name="connsiteX26" fmla="*/ 326172 w 607215"/>
              <a:gd name="connsiteY26" fmla="*/ 459446 h 606369"/>
              <a:gd name="connsiteX27" fmla="*/ 326172 w 607215"/>
              <a:gd name="connsiteY27" fmla="*/ 560301 h 606369"/>
              <a:gd name="connsiteX28" fmla="*/ 486360 w 607215"/>
              <a:gd name="connsiteY28" fmla="*/ 485682 h 606369"/>
              <a:gd name="connsiteX29" fmla="*/ 561083 w 607215"/>
              <a:gd name="connsiteY29" fmla="*/ 325717 h 606369"/>
              <a:gd name="connsiteX30" fmla="*/ 460087 w 607215"/>
              <a:gd name="connsiteY30" fmla="*/ 325717 h 606369"/>
              <a:gd name="connsiteX31" fmla="*/ 437523 w 607215"/>
              <a:gd name="connsiteY31" fmla="*/ 303185 h 606369"/>
              <a:gd name="connsiteX32" fmla="*/ 460087 w 607215"/>
              <a:gd name="connsiteY32" fmla="*/ 280652 h 606369"/>
              <a:gd name="connsiteX33" fmla="*/ 561083 w 607215"/>
              <a:gd name="connsiteY33" fmla="*/ 280652 h 606369"/>
              <a:gd name="connsiteX34" fmla="*/ 486360 w 607215"/>
              <a:gd name="connsiteY34" fmla="*/ 120687 h 606369"/>
              <a:gd name="connsiteX35" fmla="*/ 326172 w 607215"/>
              <a:gd name="connsiteY35" fmla="*/ 46068 h 606369"/>
              <a:gd name="connsiteX36" fmla="*/ 326172 w 607215"/>
              <a:gd name="connsiteY36" fmla="*/ 146923 h 606369"/>
              <a:gd name="connsiteX37" fmla="*/ 303608 w 607215"/>
              <a:gd name="connsiteY37" fmla="*/ 169533 h 606369"/>
              <a:gd name="connsiteX38" fmla="*/ 281043 w 607215"/>
              <a:gd name="connsiteY38" fmla="*/ 146923 h 606369"/>
              <a:gd name="connsiteX39" fmla="*/ 281617 w 607215"/>
              <a:gd name="connsiteY39" fmla="*/ 45548 h 606369"/>
              <a:gd name="connsiteX40" fmla="*/ 281617 w 607215"/>
              <a:gd name="connsiteY40" fmla="*/ 146935 h 606369"/>
              <a:gd name="connsiteX41" fmla="*/ 303640 w 607215"/>
              <a:gd name="connsiteY41" fmla="*/ 169002 h 606369"/>
              <a:gd name="connsiteX42" fmla="*/ 325741 w 607215"/>
              <a:gd name="connsiteY42" fmla="*/ 146935 h 606369"/>
              <a:gd name="connsiteX43" fmla="*/ 325741 w 607215"/>
              <a:gd name="connsiteY43" fmla="*/ 45548 h 606369"/>
              <a:gd name="connsiteX44" fmla="*/ 561663 w 607215"/>
              <a:gd name="connsiteY44" fmla="*/ 281192 h 606369"/>
              <a:gd name="connsiteX45" fmla="*/ 460123 w 607215"/>
              <a:gd name="connsiteY45" fmla="*/ 281192 h 606369"/>
              <a:gd name="connsiteX46" fmla="*/ 438022 w 607215"/>
              <a:gd name="connsiteY46" fmla="*/ 303182 h 606369"/>
              <a:gd name="connsiteX47" fmla="*/ 460123 w 607215"/>
              <a:gd name="connsiteY47" fmla="*/ 325250 h 606369"/>
              <a:gd name="connsiteX48" fmla="*/ 561663 w 607215"/>
              <a:gd name="connsiteY48" fmla="*/ 325250 h 606369"/>
              <a:gd name="connsiteX49" fmla="*/ 325741 w 607215"/>
              <a:gd name="connsiteY49" fmla="*/ 560815 h 606369"/>
              <a:gd name="connsiteX50" fmla="*/ 325741 w 607215"/>
              <a:gd name="connsiteY50" fmla="*/ 459429 h 606369"/>
              <a:gd name="connsiteX51" fmla="*/ 303640 w 607215"/>
              <a:gd name="connsiteY51" fmla="*/ 437361 h 606369"/>
              <a:gd name="connsiteX52" fmla="*/ 281617 w 607215"/>
              <a:gd name="connsiteY52" fmla="*/ 459429 h 606369"/>
              <a:gd name="connsiteX53" fmla="*/ 281617 w 607215"/>
              <a:gd name="connsiteY53" fmla="*/ 560815 h 606369"/>
              <a:gd name="connsiteX54" fmla="*/ 45616 w 607215"/>
              <a:gd name="connsiteY54" fmla="*/ 325250 h 606369"/>
              <a:gd name="connsiteX55" fmla="*/ 147157 w 607215"/>
              <a:gd name="connsiteY55" fmla="*/ 325250 h 606369"/>
              <a:gd name="connsiteX56" fmla="*/ 169257 w 607215"/>
              <a:gd name="connsiteY56" fmla="*/ 303182 h 606369"/>
              <a:gd name="connsiteX57" fmla="*/ 147157 w 607215"/>
              <a:gd name="connsiteY57" fmla="*/ 281192 h 606369"/>
              <a:gd name="connsiteX58" fmla="*/ 45616 w 607215"/>
              <a:gd name="connsiteY58" fmla="*/ 281192 h 606369"/>
              <a:gd name="connsiteX59" fmla="*/ 281617 w 607215"/>
              <a:gd name="connsiteY59" fmla="*/ 45548 h 606369"/>
              <a:gd name="connsiteX60" fmla="*/ 281508 w 607215"/>
              <a:gd name="connsiteY60" fmla="*/ 44987 h 606369"/>
              <a:gd name="connsiteX61" fmla="*/ 120160 w 607215"/>
              <a:gd name="connsiteY61" fmla="*/ 119993 h 606369"/>
              <a:gd name="connsiteX62" fmla="*/ 45050 w 607215"/>
              <a:gd name="connsiteY62" fmla="*/ 281115 h 606369"/>
              <a:gd name="connsiteX63" fmla="*/ 45050 w 607215"/>
              <a:gd name="connsiteY63" fmla="*/ 281655 h 606369"/>
              <a:gd name="connsiteX64" fmla="*/ 147128 w 607215"/>
              <a:gd name="connsiteY64" fmla="*/ 281655 h 606369"/>
              <a:gd name="connsiteX65" fmla="*/ 168688 w 607215"/>
              <a:gd name="connsiteY65" fmla="*/ 303185 h 606369"/>
              <a:gd name="connsiteX66" fmla="*/ 147128 w 607215"/>
              <a:gd name="connsiteY66" fmla="*/ 324714 h 606369"/>
              <a:gd name="connsiteX67" fmla="*/ 45050 w 607215"/>
              <a:gd name="connsiteY67" fmla="*/ 324714 h 606369"/>
              <a:gd name="connsiteX68" fmla="*/ 45050 w 607215"/>
              <a:gd name="connsiteY68" fmla="*/ 325254 h 606369"/>
              <a:gd name="connsiteX69" fmla="*/ 120160 w 607215"/>
              <a:gd name="connsiteY69" fmla="*/ 486454 h 606369"/>
              <a:gd name="connsiteX70" fmla="*/ 281508 w 607215"/>
              <a:gd name="connsiteY70" fmla="*/ 561382 h 606369"/>
              <a:gd name="connsiteX71" fmla="*/ 282048 w 607215"/>
              <a:gd name="connsiteY71" fmla="*/ 561459 h 606369"/>
              <a:gd name="connsiteX72" fmla="*/ 282048 w 607215"/>
              <a:gd name="connsiteY72" fmla="*/ 459446 h 606369"/>
              <a:gd name="connsiteX73" fmla="*/ 303608 w 607215"/>
              <a:gd name="connsiteY73" fmla="*/ 437916 h 606369"/>
              <a:gd name="connsiteX74" fmla="*/ 325167 w 607215"/>
              <a:gd name="connsiteY74" fmla="*/ 459446 h 606369"/>
              <a:gd name="connsiteX75" fmla="*/ 325167 w 607215"/>
              <a:gd name="connsiteY75" fmla="*/ 561459 h 606369"/>
              <a:gd name="connsiteX76" fmla="*/ 325708 w 607215"/>
              <a:gd name="connsiteY76" fmla="*/ 561382 h 606369"/>
              <a:gd name="connsiteX77" fmla="*/ 487132 w 607215"/>
              <a:gd name="connsiteY77" fmla="*/ 486454 h 606369"/>
              <a:gd name="connsiteX78" fmla="*/ 562165 w 607215"/>
              <a:gd name="connsiteY78" fmla="*/ 325254 h 606369"/>
              <a:gd name="connsiteX79" fmla="*/ 562242 w 607215"/>
              <a:gd name="connsiteY79" fmla="*/ 324714 h 606369"/>
              <a:gd name="connsiteX80" fmla="*/ 460087 w 607215"/>
              <a:gd name="connsiteY80" fmla="*/ 324714 h 606369"/>
              <a:gd name="connsiteX81" fmla="*/ 438527 w 607215"/>
              <a:gd name="connsiteY81" fmla="*/ 303185 h 606369"/>
              <a:gd name="connsiteX82" fmla="*/ 460087 w 607215"/>
              <a:gd name="connsiteY82" fmla="*/ 281655 h 606369"/>
              <a:gd name="connsiteX83" fmla="*/ 562242 w 607215"/>
              <a:gd name="connsiteY83" fmla="*/ 281655 h 606369"/>
              <a:gd name="connsiteX84" fmla="*/ 562165 w 607215"/>
              <a:gd name="connsiteY84" fmla="*/ 281115 h 606369"/>
              <a:gd name="connsiteX85" fmla="*/ 487132 w 607215"/>
              <a:gd name="connsiteY85" fmla="*/ 119993 h 606369"/>
              <a:gd name="connsiteX86" fmla="*/ 325708 w 607215"/>
              <a:gd name="connsiteY86" fmla="*/ 44987 h 606369"/>
              <a:gd name="connsiteX87" fmla="*/ 325167 w 607215"/>
              <a:gd name="connsiteY87" fmla="*/ 44987 h 606369"/>
              <a:gd name="connsiteX88" fmla="*/ 325167 w 607215"/>
              <a:gd name="connsiteY88" fmla="*/ 146923 h 606369"/>
              <a:gd name="connsiteX89" fmla="*/ 303608 w 607215"/>
              <a:gd name="connsiteY89" fmla="*/ 168453 h 606369"/>
              <a:gd name="connsiteX90" fmla="*/ 282048 w 607215"/>
              <a:gd name="connsiteY90" fmla="*/ 146923 h 606369"/>
              <a:gd name="connsiteX91" fmla="*/ 282048 w 607215"/>
              <a:gd name="connsiteY91" fmla="*/ 44987 h 606369"/>
              <a:gd name="connsiteX92" fmla="*/ 303608 w 607215"/>
              <a:gd name="connsiteY92" fmla="*/ 1003 h 606369"/>
              <a:gd name="connsiteX93" fmla="*/ 421450 w 607215"/>
              <a:gd name="connsiteY93" fmla="*/ 24770 h 606369"/>
              <a:gd name="connsiteX94" fmla="*/ 517578 w 607215"/>
              <a:gd name="connsiteY94" fmla="*/ 89512 h 606369"/>
              <a:gd name="connsiteX95" fmla="*/ 582410 w 607215"/>
              <a:gd name="connsiteY95" fmla="*/ 185584 h 606369"/>
              <a:gd name="connsiteX96" fmla="*/ 606211 w 607215"/>
              <a:gd name="connsiteY96" fmla="*/ 303185 h 606369"/>
              <a:gd name="connsiteX97" fmla="*/ 582410 w 607215"/>
              <a:gd name="connsiteY97" fmla="*/ 420863 h 606369"/>
              <a:gd name="connsiteX98" fmla="*/ 517578 w 607215"/>
              <a:gd name="connsiteY98" fmla="*/ 516857 h 606369"/>
              <a:gd name="connsiteX99" fmla="*/ 421450 w 607215"/>
              <a:gd name="connsiteY99" fmla="*/ 581599 h 606369"/>
              <a:gd name="connsiteX100" fmla="*/ 303608 w 607215"/>
              <a:gd name="connsiteY100" fmla="*/ 605366 h 606369"/>
              <a:gd name="connsiteX101" fmla="*/ 185842 w 607215"/>
              <a:gd name="connsiteY101" fmla="*/ 581599 h 606369"/>
              <a:gd name="connsiteX102" fmla="*/ 89637 w 607215"/>
              <a:gd name="connsiteY102" fmla="*/ 516857 h 606369"/>
              <a:gd name="connsiteX103" fmla="*/ 24805 w 607215"/>
              <a:gd name="connsiteY103" fmla="*/ 420863 h 606369"/>
              <a:gd name="connsiteX104" fmla="*/ 1004 w 607215"/>
              <a:gd name="connsiteY104" fmla="*/ 303185 h 606369"/>
              <a:gd name="connsiteX105" fmla="*/ 24805 w 607215"/>
              <a:gd name="connsiteY105" fmla="*/ 185584 h 606369"/>
              <a:gd name="connsiteX106" fmla="*/ 89637 w 607215"/>
              <a:gd name="connsiteY106" fmla="*/ 89512 h 606369"/>
              <a:gd name="connsiteX107" fmla="*/ 185842 w 607215"/>
              <a:gd name="connsiteY107" fmla="*/ 24770 h 606369"/>
              <a:gd name="connsiteX108" fmla="*/ 303608 w 607215"/>
              <a:gd name="connsiteY108" fmla="*/ 1003 h 606369"/>
              <a:gd name="connsiteX109" fmla="*/ 303640 w 607215"/>
              <a:gd name="connsiteY109" fmla="*/ 565 h 606369"/>
              <a:gd name="connsiteX110" fmla="*/ 185640 w 607215"/>
              <a:gd name="connsiteY110" fmla="*/ 24330 h 606369"/>
              <a:gd name="connsiteX111" fmla="*/ 89354 w 607215"/>
              <a:gd name="connsiteY111" fmla="*/ 89220 h 606369"/>
              <a:gd name="connsiteX112" fmla="*/ 24366 w 607215"/>
              <a:gd name="connsiteY112" fmla="*/ 185360 h 606369"/>
              <a:gd name="connsiteX113" fmla="*/ 565 w 607215"/>
              <a:gd name="connsiteY113" fmla="*/ 303182 h 606369"/>
              <a:gd name="connsiteX114" fmla="*/ 24366 w 607215"/>
              <a:gd name="connsiteY114" fmla="*/ 421004 h 606369"/>
              <a:gd name="connsiteX115" fmla="*/ 89354 w 607215"/>
              <a:gd name="connsiteY115" fmla="*/ 517221 h 606369"/>
              <a:gd name="connsiteX116" fmla="*/ 185640 w 607215"/>
              <a:gd name="connsiteY116" fmla="*/ 582034 h 606369"/>
              <a:gd name="connsiteX117" fmla="*/ 303640 w 607215"/>
              <a:gd name="connsiteY117" fmla="*/ 605876 h 606369"/>
              <a:gd name="connsiteX118" fmla="*/ 421640 w 607215"/>
              <a:gd name="connsiteY118" fmla="*/ 582034 h 606369"/>
              <a:gd name="connsiteX119" fmla="*/ 518003 w 607215"/>
              <a:gd name="connsiteY119" fmla="*/ 517221 h 606369"/>
              <a:gd name="connsiteX120" fmla="*/ 582914 w 607215"/>
              <a:gd name="connsiteY120" fmla="*/ 421004 h 606369"/>
              <a:gd name="connsiteX121" fmla="*/ 606792 w 607215"/>
              <a:gd name="connsiteY121" fmla="*/ 303182 h 606369"/>
              <a:gd name="connsiteX122" fmla="*/ 582914 w 607215"/>
              <a:gd name="connsiteY122" fmla="*/ 185360 h 606369"/>
              <a:gd name="connsiteX123" fmla="*/ 518003 w 607215"/>
              <a:gd name="connsiteY123" fmla="*/ 89220 h 606369"/>
              <a:gd name="connsiteX124" fmla="*/ 421640 w 607215"/>
              <a:gd name="connsiteY124" fmla="*/ 24330 h 606369"/>
              <a:gd name="connsiteX125" fmla="*/ 303640 w 607215"/>
              <a:gd name="connsiteY125" fmla="*/ 565 h 606369"/>
              <a:gd name="connsiteX126" fmla="*/ 303608 w 607215"/>
              <a:gd name="connsiteY126" fmla="*/ 0 h 606369"/>
              <a:gd name="connsiteX127" fmla="*/ 421836 w 607215"/>
              <a:gd name="connsiteY127" fmla="*/ 23844 h 606369"/>
              <a:gd name="connsiteX128" fmla="*/ 518351 w 607215"/>
              <a:gd name="connsiteY128" fmla="*/ 88818 h 606369"/>
              <a:gd name="connsiteX129" fmla="*/ 583338 w 607215"/>
              <a:gd name="connsiteY129" fmla="*/ 185198 h 606369"/>
              <a:gd name="connsiteX130" fmla="*/ 607215 w 607215"/>
              <a:gd name="connsiteY130" fmla="*/ 303185 h 606369"/>
              <a:gd name="connsiteX131" fmla="*/ 583338 w 607215"/>
              <a:gd name="connsiteY131" fmla="*/ 421248 h 606369"/>
              <a:gd name="connsiteX132" fmla="*/ 518351 w 607215"/>
              <a:gd name="connsiteY132" fmla="*/ 517629 h 606369"/>
              <a:gd name="connsiteX133" fmla="*/ 421836 w 607215"/>
              <a:gd name="connsiteY133" fmla="*/ 582525 h 606369"/>
              <a:gd name="connsiteX134" fmla="*/ 303608 w 607215"/>
              <a:gd name="connsiteY134" fmla="*/ 606369 h 606369"/>
              <a:gd name="connsiteX135" fmla="*/ 185456 w 607215"/>
              <a:gd name="connsiteY135" fmla="*/ 582525 h 606369"/>
              <a:gd name="connsiteX136" fmla="*/ 88942 w 607215"/>
              <a:gd name="connsiteY136" fmla="*/ 517629 h 606369"/>
              <a:gd name="connsiteX137" fmla="*/ 23877 w 607215"/>
              <a:gd name="connsiteY137" fmla="*/ 421248 h 606369"/>
              <a:gd name="connsiteX138" fmla="*/ 0 w 607215"/>
              <a:gd name="connsiteY138" fmla="*/ 303185 h 606369"/>
              <a:gd name="connsiteX139" fmla="*/ 23877 w 607215"/>
              <a:gd name="connsiteY139" fmla="*/ 185198 h 606369"/>
              <a:gd name="connsiteX140" fmla="*/ 88942 w 607215"/>
              <a:gd name="connsiteY140" fmla="*/ 88818 h 606369"/>
              <a:gd name="connsiteX141" fmla="*/ 185456 w 607215"/>
              <a:gd name="connsiteY141" fmla="*/ 23844 h 606369"/>
              <a:gd name="connsiteX142" fmla="*/ 303608 w 607215"/>
              <a:gd name="connsiteY142" fmla="*/ 0 h 6063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Lst>
            <a:rect l="l" t="t" r="r" b="b"/>
            <a:pathLst>
              <a:path w="607215" h="606369">
                <a:moveTo>
                  <a:pt x="303643" y="280873"/>
                </a:moveTo>
                <a:cubicBezTo>
                  <a:pt x="315552" y="280873"/>
                  <a:pt x="325219" y="290523"/>
                  <a:pt x="325219" y="302335"/>
                </a:cubicBezTo>
                <a:cubicBezTo>
                  <a:pt x="325219" y="314223"/>
                  <a:pt x="315552" y="323873"/>
                  <a:pt x="303643" y="323873"/>
                </a:cubicBezTo>
                <a:cubicBezTo>
                  <a:pt x="291734" y="323873"/>
                  <a:pt x="282068" y="314223"/>
                  <a:pt x="282068" y="302335"/>
                </a:cubicBezTo>
                <a:cubicBezTo>
                  <a:pt x="282068" y="290523"/>
                  <a:pt x="291734" y="280873"/>
                  <a:pt x="303643" y="280873"/>
                </a:cubicBezTo>
                <a:close/>
                <a:moveTo>
                  <a:pt x="303678" y="280357"/>
                </a:moveTo>
                <a:cubicBezTo>
                  <a:pt x="291499" y="280357"/>
                  <a:pt x="281626" y="290214"/>
                  <a:pt x="281626" y="302374"/>
                </a:cubicBezTo>
                <a:cubicBezTo>
                  <a:pt x="281626" y="314534"/>
                  <a:pt x="291499" y="324391"/>
                  <a:pt x="303678" y="324391"/>
                </a:cubicBezTo>
                <a:cubicBezTo>
                  <a:pt x="315857" y="324391"/>
                  <a:pt x="325730" y="314534"/>
                  <a:pt x="325730" y="302374"/>
                </a:cubicBezTo>
                <a:cubicBezTo>
                  <a:pt x="325730" y="290214"/>
                  <a:pt x="315857" y="280357"/>
                  <a:pt x="303678" y="280357"/>
                </a:cubicBezTo>
                <a:close/>
                <a:moveTo>
                  <a:pt x="303643" y="279792"/>
                </a:moveTo>
                <a:cubicBezTo>
                  <a:pt x="316094" y="279792"/>
                  <a:pt x="326224" y="289905"/>
                  <a:pt x="326224" y="302335"/>
                </a:cubicBezTo>
                <a:cubicBezTo>
                  <a:pt x="326224" y="314841"/>
                  <a:pt x="316094" y="324954"/>
                  <a:pt x="303643" y="324954"/>
                </a:cubicBezTo>
                <a:cubicBezTo>
                  <a:pt x="291193" y="324954"/>
                  <a:pt x="281062" y="314841"/>
                  <a:pt x="281062" y="302335"/>
                </a:cubicBezTo>
                <a:cubicBezTo>
                  <a:pt x="281062" y="289905"/>
                  <a:pt x="291193" y="279792"/>
                  <a:pt x="303643" y="279792"/>
                </a:cubicBezTo>
                <a:close/>
                <a:moveTo>
                  <a:pt x="281043" y="46068"/>
                </a:moveTo>
                <a:cubicBezTo>
                  <a:pt x="220693" y="51315"/>
                  <a:pt x="163820" y="77783"/>
                  <a:pt x="120855" y="120687"/>
                </a:cubicBezTo>
                <a:cubicBezTo>
                  <a:pt x="77891" y="163591"/>
                  <a:pt x="51387" y="220385"/>
                  <a:pt x="46132" y="280652"/>
                </a:cubicBezTo>
                <a:lnTo>
                  <a:pt x="147128" y="280652"/>
                </a:lnTo>
                <a:cubicBezTo>
                  <a:pt x="159647" y="280652"/>
                  <a:pt x="169770" y="290761"/>
                  <a:pt x="169770" y="303185"/>
                </a:cubicBezTo>
                <a:cubicBezTo>
                  <a:pt x="169770" y="315608"/>
                  <a:pt x="159647" y="325717"/>
                  <a:pt x="147128" y="325717"/>
                </a:cubicBezTo>
                <a:lnTo>
                  <a:pt x="46132" y="325717"/>
                </a:lnTo>
                <a:cubicBezTo>
                  <a:pt x="51387" y="385984"/>
                  <a:pt x="77891" y="442778"/>
                  <a:pt x="120855" y="485682"/>
                </a:cubicBezTo>
                <a:cubicBezTo>
                  <a:pt x="163820" y="528586"/>
                  <a:pt x="220693" y="555131"/>
                  <a:pt x="281043" y="560301"/>
                </a:cubicBezTo>
                <a:lnTo>
                  <a:pt x="281043" y="459446"/>
                </a:lnTo>
                <a:cubicBezTo>
                  <a:pt x="281043" y="447022"/>
                  <a:pt x="291167" y="436913"/>
                  <a:pt x="303608" y="436913"/>
                </a:cubicBezTo>
                <a:cubicBezTo>
                  <a:pt x="316049" y="436913"/>
                  <a:pt x="326172" y="447022"/>
                  <a:pt x="326172" y="459446"/>
                </a:cubicBezTo>
                <a:lnTo>
                  <a:pt x="326172" y="560301"/>
                </a:lnTo>
                <a:cubicBezTo>
                  <a:pt x="386522" y="555131"/>
                  <a:pt x="443395" y="528586"/>
                  <a:pt x="486360" y="485682"/>
                </a:cubicBezTo>
                <a:cubicBezTo>
                  <a:pt x="529324" y="442778"/>
                  <a:pt x="555906" y="385984"/>
                  <a:pt x="561083" y="325717"/>
                </a:cubicBezTo>
                <a:lnTo>
                  <a:pt x="460087" y="325717"/>
                </a:lnTo>
                <a:cubicBezTo>
                  <a:pt x="447645" y="325717"/>
                  <a:pt x="437523" y="315608"/>
                  <a:pt x="437523" y="303185"/>
                </a:cubicBezTo>
                <a:cubicBezTo>
                  <a:pt x="437523" y="290761"/>
                  <a:pt x="447645" y="280652"/>
                  <a:pt x="460087" y="280652"/>
                </a:cubicBezTo>
                <a:lnTo>
                  <a:pt x="561083" y="280652"/>
                </a:lnTo>
                <a:cubicBezTo>
                  <a:pt x="555906" y="220385"/>
                  <a:pt x="529324" y="163591"/>
                  <a:pt x="486360" y="120687"/>
                </a:cubicBezTo>
                <a:cubicBezTo>
                  <a:pt x="443395" y="77783"/>
                  <a:pt x="386522" y="51315"/>
                  <a:pt x="326172" y="46068"/>
                </a:cubicBezTo>
                <a:lnTo>
                  <a:pt x="326172" y="146923"/>
                </a:lnTo>
                <a:cubicBezTo>
                  <a:pt x="326172" y="159424"/>
                  <a:pt x="316049" y="169533"/>
                  <a:pt x="303608" y="169533"/>
                </a:cubicBezTo>
                <a:cubicBezTo>
                  <a:pt x="291167" y="169533"/>
                  <a:pt x="281043" y="159424"/>
                  <a:pt x="281043" y="146923"/>
                </a:cubicBezTo>
                <a:close/>
                <a:moveTo>
                  <a:pt x="281617" y="45548"/>
                </a:moveTo>
                <a:lnTo>
                  <a:pt x="281617" y="146935"/>
                </a:lnTo>
                <a:cubicBezTo>
                  <a:pt x="281617" y="159126"/>
                  <a:pt x="291431" y="169002"/>
                  <a:pt x="303640" y="169002"/>
                </a:cubicBezTo>
                <a:cubicBezTo>
                  <a:pt x="315850" y="169002"/>
                  <a:pt x="325741" y="159126"/>
                  <a:pt x="325741" y="146935"/>
                </a:cubicBezTo>
                <a:lnTo>
                  <a:pt x="325741" y="45548"/>
                </a:lnTo>
                <a:cubicBezTo>
                  <a:pt x="451159" y="56119"/>
                  <a:pt x="551077" y="155963"/>
                  <a:pt x="561663" y="281192"/>
                </a:cubicBezTo>
                <a:lnTo>
                  <a:pt x="460123" y="281192"/>
                </a:lnTo>
                <a:cubicBezTo>
                  <a:pt x="447914" y="281192"/>
                  <a:pt x="438022" y="290991"/>
                  <a:pt x="438022" y="303182"/>
                </a:cubicBezTo>
                <a:cubicBezTo>
                  <a:pt x="438022" y="315373"/>
                  <a:pt x="447914" y="325250"/>
                  <a:pt x="460123" y="325250"/>
                </a:cubicBezTo>
                <a:lnTo>
                  <a:pt x="561663" y="325250"/>
                </a:lnTo>
                <a:cubicBezTo>
                  <a:pt x="551077" y="450478"/>
                  <a:pt x="451159" y="550245"/>
                  <a:pt x="325741" y="560815"/>
                </a:cubicBezTo>
                <a:lnTo>
                  <a:pt x="325741" y="459429"/>
                </a:lnTo>
                <a:cubicBezTo>
                  <a:pt x="325741" y="447238"/>
                  <a:pt x="315850" y="437361"/>
                  <a:pt x="303640" y="437361"/>
                </a:cubicBezTo>
                <a:cubicBezTo>
                  <a:pt x="291431" y="437361"/>
                  <a:pt x="281617" y="447238"/>
                  <a:pt x="281617" y="459429"/>
                </a:cubicBezTo>
                <a:lnTo>
                  <a:pt x="281617" y="560815"/>
                </a:lnTo>
                <a:cubicBezTo>
                  <a:pt x="156198" y="550245"/>
                  <a:pt x="56203" y="450478"/>
                  <a:pt x="45616" y="325250"/>
                </a:cubicBezTo>
                <a:lnTo>
                  <a:pt x="147157" y="325250"/>
                </a:lnTo>
                <a:cubicBezTo>
                  <a:pt x="159366" y="325250"/>
                  <a:pt x="169257" y="315373"/>
                  <a:pt x="169257" y="303182"/>
                </a:cubicBezTo>
                <a:cubicBezTo>
                  <a:pt x="169257" y="290991"/>
                  <a:pt x="159366" y="281192"/>
                  <a:pt x="147157" y="281192"/>
                </a:cubicBezTo>
                <a:lnTo>
                  <a:pt x="45616" y="281192"/>
                </a:lnTo>
                <a:cubicBezTo>
                  <a:pt x="56203" y="155963"/>
                  <a:pt x="156198" y="56119"/>
                  <a:pt x="281617" y="45548"/>
                </a:cubicBezTo>
                <a:close/>
                <a:moveTo>
                  <a:pt x="281508" y="44987"/>
                </a:moveTo>
                <a:cubicBezTo>
                  <a:pt x="220693" y="50158"/>
                  <a:pt x="163433" y="76780"/>
                  <a:pt x="120160" y="119993"/>
                </a:cubicBezTo>
                <a:cubicBezTo>
                  <a:pt x="76887" y="163205"/>
                  <a:pt x="50228" y="220385"/>
                  <a:pt x="45050" y="281115"/>
                </a:cubicBezTo>
                <a:lnTo>
                  <a:pt x="45050" y="281655"/>
                </a:lnTo>
                <a:lnTo>
                  <a:pt x="147128" y="281655"/>
                </a:lnTo>
                <a:cubicBezTo>
                  <a:pt x="159029" y="281655"/>
                  <a:pt x="168688" y="291301"/>
                  <a:pt x="168688" y="303185"/>
                </a:cubicBezTo>
                <a:cubicBezTo>
                  <a:pt x="168688" y="315068"/>
                  <a:pt x="159029" y="324714"/>
                  <a:pt x="147128" y="324714"/>
                </a:cubicBezTo>
                <a:lnTo>
                  <a:pt x="45050" y="324714"/>
                </a:lnTo>
                <a:lnTo>
                  <a:pt x="45050" y="325254"/>
                </a:lnTo>
                <a:cubicBezTo>
                  <a:pt x="50228" y="385984"/>
                  <a:pt x="76887" y="443241"/>
                  <a:pt x="120160" y="486454"/>
                </a:cubicBezTo>
                <a:cubicBezTo>
                  <a:pt x="163433" y="529666"/>
                  <a:pt x="220693" y="556289"/>
                  <a:pt x="281508" y="561382"/>
                </a:cubicBezTo>
                <a:lnTo>
                  <a:pt x="282048" y="561459"/>
                </a:lnTo>
                <a:lnTo>
                  <a:pt x="282048" y="459446"/>
                </a:lnTo>
                <a:cubicBezTo>
                  <a:pt x="282048" y="447562"/>
                  <a:pt x="291708" y="437916"/>
                  <a:pt x="303608" y="437916"/>
                </a:cubicBezTo>
                <a:cubicBezTo>
                  <a:pt x="315508" y="437916"/>
                  <a:pt x="325167" y="447562"/>
                  <a:pt x="325167" y="459446"/>
                </a:cubicBezTo>
                <a:lnTo>
                  <a:pt x="325167" y="561459"/>
                </a:lnTo>
                <a:lnTo>
                  <a:pt x="325708" y="561382"/>
                </a:lnTo>
                <a:cubicBezTo>
                  <a:pt x="386522" y="556289"/>
                  <a:pt x="443859" y="529666"/>
                  <a:pt x="487132" y="486454"/>
                </a:cubicBezTo>
                <a:cubicBezTo>
                  <a:pt x="530405" y="443241"/>
                  <a:pt x="557065" y="385984"/>
                  <a:pt x="562165" y="325254"/>
                </a:cubicBezTo>
                <a:lnTo>
                  <a:pt x="562242" y="324714"/>
                </a:lnTo>
                <a:lnTo>
                  <a:pt x="460087" y="324714"/>
                </a:lnTo>
                <a:cubicBezTo>
                  <a:pt x="448186" y="324714"/>
                  <a:pt x="438527" y="315068"/>
                  <a:pt x="438527" y="303185"/>
                </a:cubicBezTo>
                <a:cubicBezTo>
                  <a:pt x="438527" y="291301"/>
                  <a:pt x="448186" y="281655"/>
                  <a:pt x="460087" y="281655"/>
                </a:cubicBezTo>
                <a:lnTo>
                  <a:pt x="562242" y="281655"/>
                </a:lnTo>
                <a:lnTo>
                  <a:pt x="562165" y="281115"/>
                </a:lnTo>
                <a:cubicBezTo>
                  <a:pt x="557065" y="220385"/>
                  <a:pt x="530405" y="163205"/>
                  <a:pt x="487132" y="119993"/>
                </a:cubicBezTo>
                <a:cubicBezTo>
                  <a:pt x="443859" y="76780"/>
                  <a:pt x="386522" y="50158"/>
                  <a:pt x="325708" y="44987"/>
                </a:cubicBezTo>
                <a:lnTo>
                  <a:pt x="325167" y="44987"/>
                </a:lnTo>
                <a:lnTo>
                  <a:pt x="325167" y="146923"/>
                </a:lnTo>
                <a:cubicBezTo>
                  <a:pt x="325167" y="158807"/>
                  <a:pt x="315508" y="168453"/>
                  <a:pt x="303608" y="168453"/>
                </a:cubicBezTo>
                <a:cubicBezTo>
                  <a:pt x="291708" y="168453"/>
                  <a:pt x="282048" y="158807"/>
                  <a:pt x="282048" y="146923"/>
                </a:cubicBezTo>
                <a:lnTo>
                  <a:pt x="282048" y="44987"/>
                </a:lnTo>
                <a:close/>
                <a:moveTo>
                  <a:pt x="303608" y="1003"/>
                </a:moveTo>
                <a:cubicBezTo>
                  <a:pt x="344485" y="1003"/>
                  <a:pt x="384049" y="9028"/>
                  <a:pt x="421450" y="24770"/>
                </a:cubicBezTo>
                <a:cubicBezTo>
                  <a:pt x="457459" y="40049"/>
                  <a:pt x="489837" y="61810"/>
                  <a:pt x="517578" y="89512"/>
                </a:cubicBezTo>
                <a:cubicBezTo>
                  <a:pt x="545396" y="117292"/>
                  <a:pt x="567188" y="149547"/>
                  <a:pt x="582410" y="185584"/>
                </a:cubicBezTo>
                <a:cubicBezTo>
                  <a:pt x="598174" y="222855"/>
                  <a:pt x="606211" y="262441"/>
                  <a:pt x="606211" y="303185"/>
                </a:cubicBezTo>
                <a:cubicBezTo>
                  <a:pt x="606211" y="344005"/>
                  <a:pt x="598174" y="383514"/>
                  <a:pt x="582410" y="420863"/>
                </a:cubicBezTo>
                <a:cubicBezTo>
                  <a:pt x="567188" y="456822"/>
                  <a:pt x="545396" y="489154"/>
                  <a:pt x="517578" y="516857"/>
                </a:cubicBezTo>
                <a:cubicBezTo>
                  <a:pt x="489837" y="544637"/>
                  <a:pt x="457459" y="566397"/>
                  <a:pt x="421450" y="581599"/>
                </a:cubicBezTo>
                <a:cubicBezTo>
                  <a:pt x="384049" y="597341"/>
                  <a:pt x="344485" y="605366"/>
                  <a:pt x="303608" y="605366"/>
                </a:cubicBezTo>
                <a:cubicBezTo>
                  <a:pt x="262807" y="605366"/>
                  <a:pt x="223166" y="597341"/>
                  <a:pt x="185842" y="581599"/>
                </a:cubicBezTo>
                <a:cubicBezTo>
                  <a:pt x="149756" y="566397"/>
                  <a:pt x="117455" y="544637"/>
                  <a:pt x="89637" y="516857"/>
                </a:cubicBezTo>
                <a:cubicBezTo>
                  <a:pt x="61896" y="489154"/>
                  <a:pt x="40105" y="456822"/>
                  <a:pt x="24805" y="420863"/>
                </a:cubicBezTo>
                <a:cubicBezTo>
                  <a:pt x="9041" y="383514"/>
                  <a:pt x="1004" y="344005"/>
                  <a:pt x="1004" y="303185"/>
                </a:cubicBezTo>
                <a:cubicBezTo>
                  <a:pt x="1004" y="262441"/>
                  <a:pt x="9041" y="222855"/>
                  <a:pt x="24805" y="185584"/>
                </a:cubicBezTo>
                <a:cubicBezTo>
                  <a:pt x="40105" y="149547"/>
                  <a:pt x="61896" y="117292"/>
                  <a:pt x="89637" y="89512"/>
                </a:cubicBezTo>
                <a:cubicBezTo>
                  <a:pt x="117455" y="61810"/>
                  <a:pt x="149756" y="40049"/>
                  <a:pt x="185842" y="24770"/>
                </a:cubicBezTo>
                <a:cubicBezTo>
                  <a:pt x="223166" y="9028"/>
                  <a:pt x="262807" y="1003"/>
                  <a:pt x="303608" y="1003"/>
                </a:cubicBezTo>
                <a:close/>
                <a:moveTo>
                  <a:pt x="303640" y="565"/>
                </a:moveTo>
                <a:cubicBezTo>
                  <a:pt x="262761" y="565"/>
                  <a:pt x="223041" y="8512"/>
                  <a:pt x="185640" y="24330"/>
                </a:cubicBezTo>
                <a:cubicBezTo>
                  <a:pt x="149552" y="39607"/>
                  <a:pt x="117174" y="61366"/>
                  <a:pt x="89354" y="89220"/>
                </a:cubicBezTo>
                <a:cubicBezTo>
                  <a:pt x="61458" y="116997"/>
                  <a:pt x="39666" y="149327"/>
                  <a:pt x="24366" y="185360"/>
                </a:cubicBezTo>
                <a:cubicBezTo>
                  <a:pt x="8524" y="222705"/>
                  <a:pt x="565" y="262365"/>
                  <a:pt x="565" y="303182"/>
                </a:cubicBezTo>
                <a:cubicBezTo>
                  <a:pt x="565" y="343999"/>
                  <a:pt x="8524" y="383659"/>
                  <a:pt x="24366" y="421004"/>
                </a:cubicBezTo>
                <a:cubicBezTo>
                  <a:pt x="39666" y="457037"/>
                  <a:pt x="61458" y="489444"/>
                  <a:pt x="89354" y="517221"/>
                </a:cubicBezTo>
                <a:cubicBezTo>
                  <a:pt x="117174" y="544998"/>
                  <a:pt x="149552" y="566834"/>
                  <a:pt x="185640" y="582034"/>
                </a:cubicBezTo>
                <a:cubicBezTo>
                  <a:pt x="223041" y="597852"/>
                  <a:pt x="262761" y="605876"/>
                  <a:pt x="303640" y="605876"/>
                </a:cubicBezTo>
                <a:cubicBezTo>
                  <a:pt x="344596" y="605876"/>
                  <a:pt x="384239" y="597852"/>
                  <a:pt x="421640" y="582034"/>
                </a:cubicBezTo>
                <a:cubicBezTo>
                  <a:pt x="457728" y="566834"/>
                  <a:pt x="490183" y="544998"/>
                  <a:pt x="518003" y="517221"/>
                </a:cubicBezTo>
                <a:cubicBezTo>
                  <a:pt x="545822" y="489444"/>
                  <a:pt x="567691" y="457037"/>
                  <a:pt x="582914" y="421004"/>
                </a:cubicBezTo>
                <a:cubicBezTo>
                  <a:pt x="598756" y="383659"/>
                  <a:pt x="606792" y="343999"/>
                  <a:pt x="606792" y="303182"/>
                </a:cubicBezTo>
                <a:cubicBezTo>
                  <a:pt x="606792" y="262365"/>
                  <a:pt x="598756" y="222705"/>
                  <a:pt x="582914" y="185360"/>
                </a:cubicBezTo>
                <a:cubicBezTo>
                  <a:pt x="567691" y="149327"/>
                  <a:pt x="545822" y="116997"/>
                  <a:pt x="518003" y="89220"/>
                </a:cubicBezTo>
                <a:cubicBezTo>
                  <a:pt x="490183" y="61366"/>
                  <a:pt x="457728" y="39607"/>
                  <a:pt x="421640" y="24330"/>
                </a:cubicBezTo>
                <a:cubicBezTo>
                  <a:pt x="384239" y="8512"/>
                  <a:pt x="344519" y="565"/>
                  <a:pt x="303640" y="565"/>
                </a:cubicBezTo>
                <a:close/>
                <a:moveTo>
                  <a:pt x="303608" y="0"/>
                </a:moveTo>
                <a:cubicBezTo>
                  <a:pt x="344563" y="0"/>
                  <a:pt x="384359" y="8025"/>
                  <a:pt x="421836" y="23844"/>
                </a:cubicBezTo>
                <a:cubicBezTo>
                  <a:pt x="458000" y="39123"/>
                  <a:pt x="490455" y="60961"/>
                  <a:pt x="518351" y="88818"/>
                </a:cubicBezTo>
                <a:cubicBezTo>
                  <a:pt x="546169" y="116674"/>
                  <a:pt x="568038" y="149084"/>
                  <a:pt x="583338" y="185198"/>
                </a:cubicBezTo>
                <a:cubicBezTo>
                  <a:pt x="599179" y="222546"/>
                  <a:pt x="607215" y="262286"/>
                  <a:pt x="607215" y="303185"/>
                </a:cubicBezTo>
                <a:cubicBezTo>
                  <a:pt x="607215" y="344083"/>
                  <a:pt x="599179" y="383823"/>
                  <a:pt x="583338" y="421248"/>
                </a:cubicBezTo>
                <a:cubicBezTo>
                  <a:pt x="568038" y="457362"/>
                  <a:pt x="546169" y="489772"/>
                  <a:pt x="518351" y="517629"/>
                </a:cubicBezTo>
                <a:cubicBezTo>
                  <a:pt x="490455" y="545408"/>
                  <a:pt x="458000" y="567246"/>
                  <a:pt x="421836" y="582525"/>
                </a:cubicBezTo>
                <a:cubicBezTo>
                  <a:pt x="384359" y="598344"/>
                  <a:pt x="344563" y="606369"/>
                  <a:pt x="303608" y="606369"/>
                </a:cubicBezTo>
                <a:cubicBezTo>
                  <a:pt x="262652" y="606369"/>
                  <a:pt x="222856" y="598344"/>
                  <a:pt x="185456" y="582525"/>
                </a:cubicBezTo>
                <a:cubicBezTo>
                  <a:pt x="149292" y="567246"/>
                  <a:pt x="116760" y="545408"/>
                  <a:pt x="88942" y="517629"/>
                </a:cubicBezTo>
                <a:cubicBezTo>
                  <a:pt x="61046" y="489772"/>
                  <a:pt x="39177" y="457362"/>
                  <a:pt x="23877" y="421248"/>
                </a:cubicBezTo>
                <a:cubicBezTo>
                  <a:pt x="8036" y="383823"/>
                  <a:pt x="0" y="344083"/>
                  <a:pt x="0" y="303185"/>
                </a:cubicBezTo>
                <a:cubicBezTo>
                  <a:pt x="0" y="262286"/>
                  <a:pt x="8036" y="222546"/>
                  <a:pt x="23877" y="185198"/>
                </a:cubicBezTo>
                <a:cubicBezTo>
                  <a:pt x="39177" y="149084"/>
                  <a:pt x="61046" y="116674"/>
                  <a:pt x="88942" y="88818"/>
                </a:cubicBezTo>
                <a:cubicBezTo>
                  <a:pt x="116760" y="60961"/>
                  <a:pt x="149292" y="39123"/>
                  <a:pt x="185456" y="23844"/>
                </a:cubicBezTo>
                <a:cubicBezTo>
                  <a:pt x="222856" y="8025"/>
                  <a:pt x="262652" y="0"/>
                  <a:pt x="303608"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dirty="0"/>
          </a:p>
        </p:txBody>
      </p:sp>
      <p:sp>
        <p:nvSpPr>
          <p:cNvPr id="102" name="文本框 101">
            <a:extLst>
              <a:ext uri="{FF2B5EF4-FFF2-40B4-BE49-F238E27FC236}">
                <a16:creationId xmlns:a16="http://schemas.microsoft.com/office/drawing/2014/main" id="{8866EC7A-51EF-479A-B84C-1F4523105212}"/>
              </a:ext>
            </a:extLst>
          </p:cNvPr>
          <p:cNvSpPr txBox="1"/>
          <p:nvPr/>
        </p:nvSpPr>
        <p:spPr>
          <a:xfrm>
            <a:off x="373082" y="2808021"/>
            <a:ext cx="1660612" cy="338554"/>
          </a:xfrm>
          <a:prstGeom prst="rect">
            <a:avLst/>
          </a:prstGeom>
          <a:noFill/>
        </p:spPr>
        <p:txBody>
          <a:bodyPr wrap="square" rtlCol="0">
            <a:spAutoFit/>
          </a:bodyPr>
          <a:lstStyle/>
          <a:p>
            <a:r>
              <a:rPr lang="zh-CN" altLang="en-US" sz="1600" dirty="0">
                <a:solidFill>
                  <a:schemeClr val="bg1"/>
                </a:solidFill>
                <a:latin typeface="思源黑体 CN Regular" panose="020B0500000000000000" pitchFamily="34" charset="-122"/>
                <a:ea typeface="思源黑体 CN Regular" panose="020B0500000000000000" pitchFamily="34" charset="-122"/>
              </a:rPr>
              <a:t>研究目标和内容</a:t>
            </a:r>
          </a:p>
        </p:txBody>
      </p:sp>
      <p:sp>
        <p:nvSpPr>
          <p:cNvPr id="103" name="任意矩形：003">
            <a:extLst>
              <a:ext uri="{FF2B5EF4-FFF2-40B4-BE49-F238E27FC236}">
                <a16:creationId xmlns:a16="http://schemas.microsoft.com/office/drawing/2014/main" id="{06BC1536-CC5A-446E-B1D9-213B7C099D3F}"/>
              </a:ext>
            </a:extLst>
          </p:cNvPr>
          <p:cNvSpPr/>
          <p:nvPr/>
        </p:nvSpPr>
        <p:spPr>
          <a:xfrm rot="10800000" flipH="1" flipV="1">
            <a:off x="145020" y="3571293"/>
            <a:ext cx="199667" cy="199477"/>
          </a:xfrm>
          <a:custGeom>
            <a:avLst/>
            <a:gdLst>
              <a:gd name="connsiteX0" fmla="*/ 320200 w 604886"/>
              <a:gd name="connsiteY0" fmla="*/ 166778 h 604313"/>
              <a:gd name="connsiteX1" fmla="*/ 338200 w 604886"/>
              <a:gd name="connsiteY1" fmla="*/ 168153 h 604313"/>
              <a:gd name="connsiteX2" fmla="*/ 394904 w 604886"/>
              <a:gd name="connsiteY2" fmla="*/ 210003 h 604313"/>
              <a:gd name="connsiteX3" fmla="*/ 448997 w 604886"/>
              <a:gd name="connsiteY3" fmla="*/ 297466 h 604313"/>
              <a:gd name="connsiteX4" fmla="*/ 433479 w 604886"/>
              <a:gd name="connsiteY4" fmla="*/ 381599 h 604313"/>
              <a:gd name="connsiteX5" fmla="*/ 230304 w 604886"/>
              <a:gd name="connsiteY5" fmla="*/ 584474 h 604313"/>
              <a:gd name="connsiteX6" fmla="*/ 177952 w 604886"/>
              <a:gd name="connsiteY6" fmla="*/ 604313 h 604313"/>
              <a:gd name="connsiteX7" fmla="*/ 58454 w 604886"/>
              <a:gd name="connsiteY7" fmla="*/ 545956 h 604313"/>
              <a:gd name="connsiteX8" fmla="*/ 19733 w 604886"/>
              <a:gd name="connsiteY8" fmla="*/ 374359 h 604313"/>
              <a:gd name="connsiteX9" fmla="*/ 93549 w 604886"/>
              <a:gd name="connsiteY9" fmla="*/ 300652 h 604313"/>
              <a:gd name="connsiteX10" fmla="*/ 127049 w 604886"/>
              <a:gd name="connsiteY10" fmla="*/ 300652 h 604313"/>
              <a:gd name="connsiteX11" fmla="*/ 127049 w 604886"/>
              <a:gd name="connsiteY11" fmla="*/ 333958 h 604313"/>
              <a:gd name="connsiteX12" fmla="*/ 53233 w 604886"/>
              <a:gd name="connsiteY12" fmla="*/ 407665 h 604313"/>
              <a:gd name="connsiteX13" fmla="*/ 91809 w 604886"/>
              <a:gd name="connsiteY13" fmla="*/ 512650 h 604313"/>
              <a:gd name="connsiteX14" fmla="*/ 196950 w 604886"/>
              <a:gd name="connsiteY14" fmla="*/ 551169 h 604313"/>
              <a:gd name="connsiteX15" fmla="*/ 400124 w 604886"/>
              <a:gd name="connsiteY15" fmla="*/ 348294 h 604313"/>
              <a:gd name="connsiteX16" fmla="*/ 403460 w 604886"/>
              <a:gd name="connsiteY16" fmla="*/ 310065 h 604313"/>
              <a:gd name="connsiteX17" fmla="*/ 361549 w 604886"/>
              <a:gd name="connsiteY17" fmla="*/ 243308 h 604313"/>
              <a:gd name="connsiteX18" fmla="*/ 316737 w 604886"/>
              <a:gd name="connsiteY18" fmla="*/ 210147 h 604313"/>
              <a:gd name="connsiteX19" fmla="*/ 306441 w 604886"/>
              <a:gd name="connsiteY19" fmla="*/ 178435 h 604313"/>
              <a:gd name="connsiteX20" fmla="*/ 320200 w 604886"/>
              <a:gd name="connsiteY20" fmla="*/ 166778 h 604313"/>
              <a:gd name="connsiteX21" fmla="*/ 411085 w 604886"/>
              <a:gd name="connsiteY21" fmla="*/ 1388 h 604313"/>
              <a:gd name="connsiteX22" fmla="*/ 458862 w 604886"/>
              <a:gd name="connsiteY22" fmla="*/ 4683 h 604313"/>
              <a:gd name="connsiteX23" fmla="*/ 546442 w 604886"/>
              <a:gd name="connsiteY23" fmla="*/ 58698 h 604313"/>
              <a:gd name="connsiteX24" fmla="*/ 585156 w 604886"/>
              <a:gd name="connsiteY24" fmla="*/ 230302 h 604313"/>
              <a:gd name="connsiteX25" fmla="*/ 511352 w 604886"/>
              <a:gd name="connsiteY25" fmla="*/ 304012 h 604313"/>
              <a:gd name="connsiteX26" fmla="*/ 477857 w 604886"/>
              <a:gd name="connsiteY26" fmla="*/ 304012 h 604313"/>
              <a:gd name="connsiteX27" fmla="*/ 477857 w 604886"/>
              <a:gd name="connsiteY27" fmla="*/ 270705 h 604313"/>
              <a:gd name="connsiteX28" fmla="*/ 551662 w 604886"/>
              <a:gd name="connsiteY28" fmla="*/ 196995 h 604313"/>
              <a:gd name="connsiteX29" fmla="*/ 513092 w 604886"/>
              <a:gd name="connsiteY29" fmla="*/ 92005 h 604313"/>
              <a:gd name="connsiteX30" fmla="*/ 446247 w 604886"/>
              <a:gd name="connsiteY30" fmla="*/ 50154 h 604313"/>
              <a:gd name="connsiteX31" fmla="*/ 407968 w 604886"/>
              <a:gd name="connsiteY31" fmla="*/ 53485 h 604313"/>
              <a:gd name="connsiteX32" fmla="*/ 204825 w 604886"/>
              <a:gd name="connsiteY32" fmla="*/ 256368 h 604313"/>
              <a:gd name="connsiteX33" fmla="*/ 201490 w 604886"/>
              <a:gd name="connsiteY33" fmla="*/ 294599 h 604313"/>
              <a:gd name="connsiteX34" fmla="*/ 243394 w 604886"/>
              <a:gd name="connsiteY34" fmla="*/ 361358 h 604313"/>
              <a:gd name="connsiteX35" fmla="*/ 288199 w 604886"/>
              <a:gd name="connsiteY35" fmla="*/ 394520 h 604313"/>
              <a:gd name="connsiteX36" fmla="*/ 298494 w 604886"/>
              <a:gd name="connsiteY36" fmla="*/ 426234 h 604313"/>
              <a:gd name="connsiteX37" fmla="*/ 277469 w 604886"/>
              <a:gd name="connsiteY37" fmla="*/ 438978 h 604313"/>
              <a:gd name="connsiteX38" fmla="*/ 266739 w 604886"/>
              <a:gd name="connsiteY38" fmla="*/ 436516 h 604313"/>
              <a:gd name="connsiteX39" fmla="*/ 210044 w 604886"/>
              <a:gd name="connsiteY39" fmla="*/ 394665 h 604313"/>
              <a:gd name="connsiteX40" fmla="*/ 155960 w 604886"/>
              <a:gd name="connsiteY40" fmla="*/ 307198 h 604313"/>
              <a:gd name="connsiteX41" fmla="*/ 171330 w 604886"/>
              <a:gd name="connsiteY41" fmla="*/ 223061 h 604313"/>
              <a:gd name="connsiteX42" fmla="*/ 374618 w 604886"/>
              <a:gd name="connsiteY42" fmla="*/ 20033 h 604313"/>
              <a:gd name="connsiteX43" fmla="*/ 411085 w 604886"/>
              <a:gd name="connsiteY43" fmla="*/ 1388 h 6043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Lst>
            <a:rect l="l" t="t" r="r" b="b"/>
            <a:pathLst>
              <a:path w="604886" h="604313">
                <a:moveTo>
                  <a:pt x="320200" y="166778"/>
                </a:moveTo>
                <a:cubicBezTo>
                  <a:pt x="325946" y="164931"/>
                  <a:pt x="332399" y="165257"/>
                  <a:pt x="338200" y="168153"/>
                </a:cubicBezTo>
                <a:cubicBezTo>
                  <a:pt x="358068" y="178290"/>
                  <a:pt x="377646" y="192771"/>
                  <a:pt x="394904" y="210003"/>
                </a:cubicBezTo>
                <a:cubicBezTo>
                  <a:pt x="421443" y="236358"/>
                  <a:pt x="440585" y="267491"/>
                  <a:pt x="448997" y="297466"/>
                </a:cubicBezTo>
                <a:cubicBezTo>
                  <a:pt x="458568" y="332075"/>
                  <a:pt x="453202" y="362050"/>
                  <a:pt x="433479" y="381599"/>
                </a:cubicBezTo>
                <a:lnTo>
                  <a:pt x="230304" y="584474"/>
                </a:lnTo>
                <a:cubicBezTo>
                  <a:pt x="216962" y="597942"/>
                  <a:pt x="198690" y="604313"/>
                  <a:pt x="177952" y="604313"/>
                </a:cubicBezTo>
                <a:cubicBezTo>
                  <a:pt x="140971" y="604313"/>
                  <a:pt x="96305" y="583750"/>
                  <a:pt x="58454" y="545956"/>
                </a:cubicBezTo>
                <a:cubicBezTo>
                  <a:pt x="-570" y="487019"/>
                  <a:pt x="-17537" y="411575"/>
                  <a:pt x="19733" y="374359"/>
                </a:cubicBezTo>
                <a:lnTo>
                  <a:pt x="93549" y="300652"/>
                </a:lnTo>
                <a:cubicBezTo>
                  <a:pt x="102831" y="291384"/>
                  <a:pt x="117768" y="291384"/>
                  <a:pt x="127049" y="300652"/>
                </a:cubicBezTo>
                <a:cubicBezTo>
                  <a:pt x="136186" y="309775"/>
                  <a:pt x="136186" y="324690"/>
                  <a:pt x="127049" y="333958"/>
                </a:cubicBezTo>
                <a:lnTo>
                  <a:pt x="53233" y="407665"/>
                </a:lnTo>
                <a:cubicBezTo>
                  <a:pt x="37426" y="423304"/>
                  <a:pt x="50623" y="471525"/>
                  <a:pt x="91809" y="512650"/>
                </a:cubicBezTo>
                <a:cubicBezTo>
                  <a:pt x="132995" y="553631"/>
                  <a:pt x="181287" y="566808"/>
                  <a:pt x="196950" y="551169"/>
                </a:cubicBezTo>
                <a:lnTo>
                  <a:pt x="400124" y="348294"/>
                </a:lnTo>
                <a:cubicBezTo>
                  <a:pt x="407085" y="341343"/>
                  <a:pt x="408246" y="327441"/>
                  <a:pt x="403460" y="310065"/>
                </a:cubicBezTo>
                <a:cubicBezTo>
                  <a:pt x="397369" y="288199"/>
                  <a:pt x="381997" y="263871"/>
                  <a:pt x="361549" y="243308"/>
                </a:cubicBezTo>
                <a:cubicBezTo>
                  <a:pt x="347627" y="229552"/>
                  <a:pt x="332254" y="218112"/>
                  <a:pt x="316737" y="210147"/>
                </a:cubicBezTo>
                <a:cubicBezTo>
                  <a:pt x="305135" y="204355"/>
                  <a:pt x="300495" y="190019"/>
                  <a:pt x="306441" y="178435"/>
                </a:cubicBezTo>
                <a:cubicBezTo>
                  <a:pt x="309414" y="172642"/>
                  <a:pt x="314453" y="168624"/>
                  <a:pt x="320200" y="166778"/>
                </a:cubicBezTo>
                <a:close/>
                <a:moveTo>
                  <a:pt x="411085" y="1388"/>
                </a:moveTo>
                <a:cubicBezTo>
                  <a:pt x="425368" y="-1219"/>
                  <a:pt x="441535" y="-169"/>
                  <a:pt x="458862" y="4683"/>
                </a:cubicBezTo>
                <a:cubicBezTo>
                  <a:pt x="488877" y="13082"/>
                  <a:pt x="519907" y="32197"/>
                  <a:pt x="546442" y="58698"/>
                </a:cubicBezTo>
                <a:cubicBezTo>
                  <a:pt x="605456" y="117637"/>
                  <a:pt x="622421" y="192940"/>
                  <a:pt x="585156" y="230302"/>
                </a:cubicBezTo>
                <a:lnTo>
                  <a:pt x="511352" y="304012"/>
                </a:lnTo>
                <a:cubicBezTo>
                  <a:pt x="502072" y="313135"/>
                  <a:pt x="487137" y="313135"/>
                  <a:pt x="477857" y="304012"/>
                </a:cubicBezTo>
                <a:cubicBezTo>
                  <a:pt x="468722" y="294744"/>
                  <a:pt x="468722" y="279828"/>
                  <a:pt x="477857" y="270705"/>
                </a:cubicBezTo>
                <a:lnTo>
                  <a:pt x="551662" y="196995"/>
                </a:lnTo>
                <a:cubicBezTo>
                  <a:pt x="567321" y="181355"/>
                  <a:pt x="554127" y="133132"/>
                  <a:pt x="513092" y="92005"/>
                </a:cubicBezTo>
                <a:cubicBezTo>
                  <a:pt x="492502" y="71586"/>
                  <a:pt x="468142" y="56236"/>
                  <a:pt x="446247" y="50154"/>
                </a:cubicBezTo>
                <a:cubicBezTo>
                  <a:pt x="428848" y="45230"/>
                  <a:pt x="414928" y="46534"/>
                  <a:pt x="407968" y="53485"/>
                </a:cubicBezTo>
                <a:lnTo>
                  <a:pt x="204825" y="256368"/>
                </a:lnTo>
                <a:cubicBezTo>
                  <a:pt x="197865" y="263319"/>
                  <a:pt x="196560" y="277221"/>
                  <a:pt x="201490" y="294599"/>
                </a:cubicBezTo>
                <a:cubicBezTo>
                  <a:pt x="207579" y="316466"/>
                  <a:pt x="222949" y="340795"/>
                  <a:pt x="243394" y="361358"/>
                </a:cubicBezTo>
                <a:cubicBezTo>
                  <a:pt x="257169" y="375115"/>
                  <a:pt x="272684" y="386556"/>
                  <a:pt x="288199" y="394520"/>
                </a:cubicBezTo>
                <a:cubicBezTo>
                  <a:pt x="299799" y="400313"/>
                  <a:pt x="304439" y="414505"/>
                  <a:pt x="298494" y="426234"/>
                </a:cubicBezTo>
                <a:cubicBezTo>
                  <a:pt x="294289" y="434344"/>
                  <a:pt x="286024" y="438978"/>
                  <a:pt x="277469" y="438978"/>
                </a:cubicBezTo>
                <a:cubicBezTo>
                  <a:pt x="273844" y="438978"/>
                  <a:pt x="270219" y="438254"/>
                  <a:pt x="266739" y="436516"/>
                </a:cubicBezTo>
                <a:cubicBezTo>
                  <a:pt x="246874" y="426379"/>
                  <a:pt x="227299" y="411898"/>
                  <a:pt x="210044" y="394665"/>
                </a:cubicBezTo>
                <a:cubicBezTo>
                  <a:pt x="183510" y="368164"/>
                  <a:pt x="164370" y="337174"/>
                  <a:pt x="155960" y="307198"/>
                </a:cubicBezTo>
                <a:cubicBezTo>
                  <a:pt x="146245" y="272587"/>
                  <a:pt x="151755" y="242611"/>
                  <a:pt x="171330" y="223061"/>
                </a:cubicBezTo>
                <a:lnTo>
                  <a:pt x="374618" y="20033"/>
                </a:lnTo>
                <a:cubicBezTo>
                  <a:pt x="384406" y="10258"/>
                  <a:pt x="396803" y="3995"/>
                  <a:pt x="411085" y="1388"/>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104" name="文本框 103">
            <a:extLst>
              <a:ext uri="{FF2B5EF4-FFF2-40B4-BE49-F238E27FC236}">
                <a16:creationId xmlns:a16="http://schemas.microsoft.com/office/drawing/2014/main" id="{40F70965-29AB-4F11-B37D-52267A919265}"/>
              </a:ext>
            </a:extLst>
          </p:cNvPr>
          <p:cNvSpPr txBox="1"/>
          <p:nvPr/>
        </p:nvSpPr>
        <p:spPr>
          <a:xfrm>
            <a:off x="373082" y="3517143"/>
            <a:ext cx="1660612" cy="338554"/>
          </a:xfrm>
          <a:prstGeom prst="rect">
            <a:avLst/>
          </a:prstGeom>
          <a:noFill/>
        </p:spPr>
        <p:txBody>
          <a:bodyPr wrap="square" rtlCol="0">
            <a:spAutoFit/>
          </a:bodyPr>
          <a:lstStyle>
            <a:defPPr>
              <a:defRPr lang="zh-CN"/>
            </a:defPPr>
            <a:lvl1pPr>
              <a:defRPr sz="1600">
                <a:solidFill>
                  <a:schemeClr val="bg1"/>
                </a:solidFill>
                <a:latin typeface="思源黑体 CN Regular" panose="020B0500000000000000" pitchFamily="34" charset="-122"/>
                <a:ea typeface="思源黑体 CN Regular" panose="020B0500000000000000" pitchFamily="34" charset="-122"/>
              </a:defRPr>
            </a:lvl1pPr>
          </a:lstStyle>
          <a:p>
            <a:r>
              <a:rPr lang="zh-CN" altLang="en-US" dirty="0"/>
              <a:t>研究方法与思路</a:t>
            </a:r>
          </a:p>
        </p:txBody>
      </p:sp>
      <p:sp>
        <p:nvSpPr>
          <p:cNvPr id="105" name="文本框 104">
            <a:extLst>
              <a:ext uri="{FF2B5EF4-FFF2-40B4-BE49-F238E27FC236}">
                <a16:creationId xmlns:a16="http://schemas.microsoft.com/office/drawing/2014/main" id="{034591DC-2BAB-46FA-BEB4-F3D906271C7F}"/>
              </a:ext>
            </a:extLst>
          </p:cNvPr>
          <p:cNvSpPr txBox="1"/>
          <p:nvPr/>
        </p:nvSpPr>
        <p:spPr>
          <a:xfrm>
            <a:off x="373082" y="4226265"/>
            <a:ext cx="1660612" cy="338554"/>
          </a:xfrm>
          <a:prstGeom prst="rect">
            <a:avLst/>
          </a:prstGeom>
          <a:noFill/>
        </p:spPr>
        <p:txBody>
          <a:bodyPr wrap="square" rtlCol="0">
            <a:spAutoFit/>
          </a:bodyPr>
          <a:lstStyle/>
          <a:p>
            <a:r>
              <a:rPr lang="zh-CN" altLang="en-US" sz="1600" dirty="0">
                <a:solidFill>
                  <a:schemeClr val="accent1"/>
                </a:solidFill>
                <a:latin typeface="思源黑体 CN Regular" panose="020B0500000000000000" pitchFamily="34" charset="-122"/>
                <a:ea typeface="思源黑体 CN Regular" panose="020B0500000000000000" pitchFamily="34" charset="-122"/>
              </a:rPr>
              <a:t>关键技术与创新</a:t>
            </a:r>
          </a:p>
        </p:txBody>
      </p:sp>
      <p:sp>
        <p:nvSpPr>
          <p:cNvPr id="106" name="任意矩形：004">
            <a:extLst>
              <a:ext uri="{FF2B5EF4-FFF2-40B4-BE49-F238E27FC236}">
                <a16:creationId xmlns:a16="http://schemas.microsoft.com/office/drawing/2014/main" id="{31AACEE5-61A7-4D82-85C0-0DF82F988EA3}"/>
              </a:ext>
            </a:extLst>
          </p:cNvPr>
          <p:cNvSpPr/>
          <p:nvPr/>
        </p:nvSpPr>
        <p:spPr>
          <a:xfrm rot="20700000">
            <a:off x="101744" y="4285500"/>
            <a:ext cx="251496" cy="189307"/>
          </a:xfrm>
          <a:custGeom>
            <a:avLst/>
            <a:gdLst>
              <a:gd name="T0" fmla="*/ 6845 w 7011"/>
              <a:gd name="T1" fmla="*/ 1345 h 5286"/>
              <a:gd name="T2" fmla="*/ 5180 w 7011"/>
              <a:gd name="T3" fmla="*/ 598 h 5286"/>
              <a:gd name="T4" fmla="*/ 5179 w 7011"/>
              <a:gd name="T5" fmla="*/ 598 h 5286"/>
              <a:gd name="T6" fmla="*/ 3505 w 7011"/>
              <a:gd name="T7" fmla="*/ 0 h 5286"/>
              <a:gd name="T8" fmla="*/ 907 w 7011"/>
              <a:gd name="T9" fmla="*/ 2166 h 5286"/>
              <a:gd name="T10" fmla="*/ 167 w 7011"/>
              <a:gd name="T11" fmla="*/ 3741 h 5286"/>
              <a:gd name="T12" fmla="*/ 1605 w 7011"/>
              <a:gd name="T13" fmla="*/ 4477 h 5286"/>
              <a:gd name="T14" fmla="*/ 3505 w 7011"/>
              <a:gd name="T15" fmla="*/ 5286 h 5286"/>
              <a:gd name="T16" fmla="*/ 6136 w 7011"/>
              <a:gd name="T17" fmla="*/ 2888 h 5286"/>
              <a:gd name="T18" fmla="*/ 6845 w 7011"/>
              <a:gd name="T19" fmla="*/ 1345 h 5286"/>
              <a:gd name="T20" fmla="*/ 521 w 7011"/>
              <a:gd name="T21" fmla="*/ 3613 h 5286"/>
              <a:gd name="T22" fmla="*/ 865 w 7011"/>
              <a:gd name="T23" fmla="*/ 2729 h 5286"/>
              <a:gd name="T24" fmla="*/ 1279 w 7011"/>
              <a:gd name="T25" fmla="*/ 4061 h 5286"/>
              <a:gd name="T26" fmla="*/ 521 w 7011"/>
              <a:gd name="T27" fmla="*/ 3613 h 5286"/>
              <a:gd name="T28" fmla="*/ 3507 w 7011"/>
              <a:gd name="T29" fmla="*/ 4909 h 5286"/>
              <a:gd name="T30" fmla="*/ 2171 w 7011"/>
              <a:gd name="T31" fmla="*/ 4472 h 5286"/>
              <a:gd name="T32" fmla="*/ 4051 w 7011"/>
              <a:gd name="T33" fmla="*/ 4060 h 5286"/>
              <a:gd name="T34" fmla="*/ 5695 w 7011"/>
              <a:gd name="T35" fmla="*/ 3233 h 5286"/>
              <a:gd name="T36" fmla="*/ 3507 w 7011"/>
              <a:gd name="T37" fmla="*/ 4909 h 5286"/>
              <a:gd name="T38" fmla="*/ 5772 w 7011"/>
              <a:gd name="T39" fmla="*/ 2705 h 5286"/>
              <a:gd name="T40" fmla="*/ 3924 w 7011"/>
              <a:gd name="T41" fmla="*/ 3706 h 5286"/>
              <a:gd name="T42" fmla="*/ 1779 w 7011"/>
              <a:gd name="T43" fmla="*/ 4108 h 5286"/>
              <a:gd name="T44" fmla="*/ 1240 w 7011"/>
              <a:gd name="T45" fmla="*/ 2642 h 5286"/>
              <a:gd name="T46" fmla="*/ 3507 w 7011"/>
              <a:gd name="T47" fmla="*/ 376 h 5286"/>
              <a:gd name="T48" fmla="*/ 5773 w 7011"/>
              <a:gd name="T49" fmla="*/ 2642 h 5286"/>
              <a:gd name="T50" fmla="*/ 5772 w 7011"/>
              <a:gd name="T51" fmla="*/ 2705 h 5286"/>
              <a:gd name="T52" fmla="*/ 6133 w 7011"/>
              <a:gd name="T53" fmla="*/ 2364 h 5286"/>
              <a:gd name="T54" fmla="*/ 5571 w 7011"/>
              <a:gd name="T55" fmla="*/ 996 h 5286"/>
              <a:gd name="T56" fmla="*/ 6491 w 7011"/>
              <a:gd name="T57" fmla="*/ 1472 h 5286"/>
              <a:gd name="T58" fmla="*/ 6133 w 7011"/>
              <a:gd name="T59" fmla="*/ 2364 h 528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7011" h="5286">
                <a:moveTo>
                  <a:pt x="6845" y="1345"/>
                </a:moveTo>
                <a:cubicBezTo>
                  <a:pt x="6672" y="864"/>
                  <a:pt x="6081" y="598"/>
                  <a:pt x="5180" y="598"/>
                </a:cubicBezTo>
                <a:lnTo>
                  <a:pt x="5179" y="598"/>
                </a:lnTo>
                <a:cubicBezTo>
                  <a:pt x="4723" y="225"/>
                  <a:pt x="4140" y="0"/>
                  <a:pt x="3505" y="0"/>
                </a:cubicBezTo>
                <a:cubicBezTo>
                  <a:pt x="2212" y="0"/>
                  <a:pt x="1132" y="936"/>
                  <a:pt x="907" y="2166"/>
                </a:cubicBezTo>
                <a:cubicBezTo>
                  <a:pt x="264" y="2720"/>
                  <a:pt x="0" y="3278"/>
                  <a:pt x="167" y="3741"/>
                </a:cubicBezTo>
                <a:cubicBezTo>
                  <a:pt x="325" y="4184"/>
                  <a:pt x="863" y="4433"/>
                  <a:pt x="1605" y="4477"/>
                </a:cubicBezTo>
                <a:cubicBezTo>
                  <a:pt x="2087" y="4976"/>
                  <a:pt x="2760" y="5286"/>
                  <a:pt x="3505" y="5286"/>
                </a:cubicBezTo>
                <a:cubicBezTo>
                  <a:pt x="4880" y="5286"/>
                  <a:pt x="6012" y="4232"/>
                  <a:pt x="6136" y="2888"/>
                </a:cubicBezTo>
                <a:cubicBezTo>
                  <a:pt x="6728" y="2364"/>
                  <a:pt x="7011" y="1804"/>
                  <a:pt x="6845" y="1345"/>
                </a:cubicBezTo>
                <a:close/>
                <a:moveTo>
                  <a:pt x="521" y="3613"/>
                </a:moveTo>
                <a:cubicBezTo>
                  <a:pt x="437" y="3380"/>
                  <a:pt x="565" y="3064"/>
                  <a:pt x="865" y="2729"/>
                </a:cubicBezTo>
                <a:cubicBezTo>
                  <a:pt x="881" y="3218"/>
                  <a:pt x="1031" y="3673"/>
                  <a:pt x="1279" y="4061"/>
                </a:cubicBezTo>
                <a:cubicBezTo>
                  <a:pt x="871" y="3988"/>
                  <a:pt x="599" y="3830"/>
                  <a:pt x="521" y="3613"/>
                </a:cubicBezTo>
                <a:close/>
                <a:moveTo>
                  <a:pt x="3507" y="4909"/>
                </a:moveTo>
                <a:cubicBezTo>
                  <a:pt x="3008" y="4909"/>
                  <a:pt x="2545" y="4746"/>
                  <a:pt x="2171" y="4472"/>
                </a:cubicBezTo>
                <a:cubicBezTo>
                  <a:pt x="2740" y="4434"/>
                  <a:pt x="3384" y="4300"/>
                  <a:pt x="4051" y="4060"/>
                </a:cubicBezTo>
                <a:cubicBezTo>
                  <a:pt x="4684" y="3833"/>
                  <a:pt x="5243" y="3546"/>
                  <a:pt x="5695" y="3233"/>
                </a:cubicBezTo>
                <a:cubicBezTo>
                  <a:pt x="5433" y="4197"/>
                  <a:pt x="4552" y="4909"/>
                  <a:pt x="3507" y="4909"/>
                </a:cubicBezTo>
                <a:close/>
                <a:moveTo>
                  <a:pt x="5772" y="2705"/>
                </a:moveTo>
                <a:cubicBezTo>
                  <a:pt x="5328" y="3068"/>
                  <a:pt x="4700" y="3428"/>
                  <a:pt x="3924" y="3706"/>
                </a:cubicBezTo>
                <a:cubicBezTo>
                  <a:pt x="3111" y="3998"/>
                  <a:pt x="2365" y="4117"/>
                  <a:pt x="1779" y="4108"/>
                </a:cubicBezTo>
                <a:cubicBezTo>
                  <a:pt x="1443" y="3712"/>
                  <a:pt x="1240" y="3201"/>
                  <a:pt x="1240" y="2642"/>
                </a:cubicBezTo>
                <a:cubicBezTo>
                  <a:pt x="1240" y="1393"/>
                  <a:pt x="2256" y="376"/>
                  <a:pt x="3507" y="376"/>
                </a:cubicBezTo>
                <a:cubicBezTo>
                  <a:pt x="4756" y="376"/>
                  <a:pt x="5773" y="1393"/>
                  <a:pt x="5773" y="2642"/>
                </a:cubicBezTo>
                <a:cubicBezTo>
                  <a:pt x="5773" y="2664"/>
                  <a:pt x="5772" y="2684"/>
                  <a:pt x="5772" y="2705"/>
                </a:cubicBezTo>
                <a:close/>
                <a:moveTo>
                  <a:pt x="6133" y="2364"/>
                </a:moveTo>
                <a:cubicBezTo>
                  <a:pt x="6079" y="1849"/>
                  <a:pt x="5877" y="1380"/>
                  <a:pt x="5571" y="996"/>
                </a:cubicBezTo>
                <a:cubicBezTo>
                  <a:pt x="6067" y="1053"/>
                  <a:pt x="6401" y="1221"/>
                  <a:pt x="6491" y="1472"/>
                </a:cubicBezTo>
                <a:cubicBezTo>
                  <a:pt x="6573" y="1704"/>
                  <a:pt x="6443" y="2024"/>
                  <a:pt x="6133" y="2364"/>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107" name="文本框 106">
            <a:extLst>
              <a:ext uri="{FF2B5EF4-FFF2-40B4-BE49-F238E27FC236}">
                <a16:creationId xmlns:a16="http://schemas.microsoft.com/office/drawing/2014/main" id="{1D065B9D-9BA2-462D-BA6A-ED82F3EA91FA}"/>
              </a:ext>
            </a:extLst>
          </p:cNvPr>
          <p:cNvSpPr txBox="1"/>
          <p:nvPr/>
        </p:nvSpPr>
        <p:spPr>
          <a:xfrm>
            <a:off x="373082" y="4935387"/>
            <a:ext cx="1660612" cy="338554"/>
          </a:xfrm>
          <a:prstGeom prst="rect">
            <a:avLst/>
          </a:prstGeom>
          <a:noFill/>
        </p:spPr>
        <p:txBody>
          <a:bodyPr wrap="square" rtlCol="0">
            <a:spAutoFit/>
          </a:bodyPr>
          <a:lstStyle/>
          <a:p>
            <a:r>
              <a:rPr lang="zh-CN" altLang="en-US" sz="1600" dirty="0">
                <a:solidFill>
                  <a:schemeClr val="bg1"/>
                </a:solidFill>
                <a:latin typeface="思源黑体 CN Regular" panose="020B0500000000000000" pitchFamily="34" charset="-122"/>
                <a:ea typeface="思源黑体 CN Regular" panose="020B0500000000000000" pitchFamily="34" charset="-122"/>
              </a:rPr>
              <a:t>已开展工作</a:t>
            </a:r>
          </a:p>
        </p:txBody>
      </p:sp>
      <p:sp>
        <p:nvSpPr>
          <p:cNvPr id="108" name="任意矩形：005">
            <a:extLst>
              <a:ext uri="{FF2B5EF4-FFF2-40B4-BE49-F238E27FC236}">
                <a16:creationId xmlns:a16="http://schemas.microsoft.com/office/drawing/2014/main" id="{0A826E41-1BF2-4EA5-9CB1-AD59F03ED95B}"/>
              </a:ext>
            </a:extLst>
          </p:cNvPr>
          <p:cNvSpPr/>
          <p:nvPr/>
        </p:nvSpPr>
        <p:spPr>
          <a:xfrm>
            <a:off x="123946" y="4988361"/>
            <a:ext cx="201734" cy="201828"/>
          </a:xfrm>
          <a:custGeom>
            <a:avLst/>
            <a:gdLst>
              <a:gd name="T0" fmla="*/ 278945 h 440259"/>
              <a:gd name="T1" fmla="*/ 278945 h 440259"/>
              <a:gd name="T2" fmla="*/ 278945 h 440259"/>
              <a:gd name="T3" fmla="*/ 278945 h 440259"/>
              <a:gd name="T4" fmla="*/ 278945 h 440259"/>
              <a:gd name="T5" fmla="*/ 278945 h 440259"/>
              <a:gd name="T6" fmla="*/ 278945 h 440259"/>
              <a:gd name="T7" fmla="*/ 278945 h 440259"/>
              <a:gd name="T8" fmla="*/ 278945 h 440259"/>
              <a:gd name="T9" fmla="*/ 278945 h 440259"/>
              <a:gd name="T10" fmla="*/ 278945 h 440259"/>
              <a:gd name="T11" fmla="*/ 278945 h 440259"/>
              <a:gd name="T12" fmla="*/ 278945 h 440259"/>
              <a:gd name="T13" fmla="*/ 278945 h 440259"/>
              <a:gd name="T14" fmla="*/ 278945 h 440259"/>
              <a:gd name="T15" fmla="*/ 278945 h 440259"/>
              <a:gd name="T16" fmla="*/ 278945 h 440259"/>
              <a:gd name="T17" fmla="*/ 278945 h 440259"/>
              <a:gd name="T18" fmla="*/ 278945 h 440259"/>
              <a:gd name="T19" fmla="*/ 278945 h 440259"/>
              <a:gd name="T20" fmla="*/ 278945 h 440259"/>
              <a:gd name="T21" fmla="*/ 278945 h 440259"/>
              <a:gd name="T22" fmla="*/ 278945 h 440259"/>
              <a:gd name="T23" fmla="*/ 278945 h 440259"/>
              <a:gd name="T24" fmla="*/ 278945 h 440259"/>
              <a:gd name="T25" fmla="*/ 278945 h 440259"/>
              <a:gd name="T26" fmla="*/ 278945 h 440259"/>
              <a:gd name="T27" fmla="*/ 278945 h 440259"/>
              <a:gd name="T28" fmla="*/ 278945 h 440259"/>
              <a:gd name="T29" fmla="*/ 278945 h 440259"/>
              <a:gd name="T30" fmla="*/ 278945 h 440259"/>
              <a:gd name="T31" fmla="*/ 278945 h 440259"/>
              <a:gd name="T32" fmla="*/ 278945 h 440259"/>
              <a:gd name="T33" fmla="*/ 278945 h 440259"/>
              <a:gd name="T34" fmla="*/ 278945 h 440259"/>
              <a:gd name="T35" fmla="*/ 278945 h 440259"/>
              <a:gd name="T36" fmla="*/ 278945 h 440259"/>
              <a:gd name="T37" fmla="*/ 278945 h 440259"/>
              <a:gd name="T38" fmla="*/ 278945 h 440259"/>
              <a:gd name="T39" fmla="*/ 278945 h 440259"/>
              <a:gd name="T40" fmla="*/ 278945 h 440259"/>
              <a:gd name="T41" fmla="*/ 278945 h 440259"/>
              <a:gd name="T42" fmla="*/ 278945 h 440259"/>
              <a:gd name="T43" fmla="*/ 278945 h 440259"/>
              <a:gd name="T44" fmla="*/ 278945 h 440259"/>
              <a:gd name="T45" fmla="*/ 278945 h 440259"/>
              <a:gd name="T46" fmla="*/ 278945 h 440259"/>
              <a:gd name="T47" fmla="*/ 278945 h 440259"/>
              <a:gd name="T48" fmla="*/ 278945 h 440259"/>
              <a:gd name="T49" fmla="*/ 278945 h 440259"/>
              <a:gd name="T50" fmla="*/ 278945 h 440259"/>
              <a:gd name="T51" fmla="*/ 278945 h 440259"/>
              <a:gd name="T52" fmla="*/ 278945 h 440259"/>
              <a:gd name="T53" fmla="*/ 278945 h 440259"/>
              <a:gd name="T54" fmla="*/ 278945 h 440259"/>
              <a:gd name="T55" fmla="*/ 278945 h 440259"/>
              <a:gd name="T56" fmla="*/ 278945 h 440259"/>
              <a:gd name="T57" fmla="*/ 278945 h 440259"/>
              <a:gd name="T58" fmla="*/ 278945 h 440259"/>
              <a:gd name="T59" fmla="*/ 278945 h 440259"/>
              <a:gd name="T60" fmla="*/ 278945 h 440259"/>
              <a:gd name="T61" fmla="*/ 278945 h 440259"/>
              <a:gd name="T62" fmla="*/ 278945 h 440259"/>
              <a:gd name="T63" fmla="*/ 278945 h 440259"/>
              <a:gd name="T64" fmla="*/ 278945 h 440259"/>
              <a:gd name="T65" fmla="*/ 278945 h 440259"/>
              <a:gd name="T66" fmla="*/ 278945 h 440259"/>
              <a:gd name="T67" fmla="*/ 278945 h 440259"/>
              <a:gd name="T68" fmla="*/ 278945 h 440259"/>
              <a:gd name="T69" fmla="*/ 278945 h 440259"/>
              <a:gd name="T70" fmla="*/ 278945 h 440259"/>
              <a:gd name="T71" fmla="*/ 278945 h 440259"/>
              <a:gd name="T72" fmla="*/ 278945 h 440259"/>
              <a:gd name="T73" fmla="*/ 278945 h 440259"/>
              <a:gd name="T74" fmla="*/ 278945 h 440259"/>
              <a:gd name="T75" fmla="*/ 278945 h 440259"/>
              <a:gd name="T76" fmla="*/ 278945 h 440259"/>
              <a:gd name="T77" fmla="*/ 278945 h 440259"/>
              <a:gd name="T78" fmla="*/ 278945 h 440259"/>
              <a:gd name="T79" fmla="*/ 278945 h 440259"/>
              <a:gd name="T80" fmla="*/ 278945 h 440259"/>
              <a:gd name="T81" fmla="*/ 278945 h 440259"/>
              <a:gd name="T82" fmla="*/ 278945 h 440259"/>
              <a:gd name="T83" fmla="*/ 278945 h 440259"/>
              <a:gd name="T84" fmla="*/ 88862 h 440259"/>
              <a:gd name="T85" fmla="*/ 88862 h 440259"/>
              <a:gd name="T86" fmla="*/ 278945 h 440259"/>
              <a:gd name="T87" fmla="*/ 278945 h 44025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Lst>
            <a:rect l="0" t="0" r="r" b="b"/>
            <a:pathLst>
              <a:path w="6495" h="6508">
                <a:moveTo>
                  <a:pt x="6495" y="203"/>
                </a:moveTo>
                <a:lnTo>
                  <a:pt x="6495" y="197"/>
                </a:lnTo>
                <a:cubicBezTo>
                  <a:pt x="6495" y="193"/>
                  <a:pt x="6493" y="191"/>
                  <a:pt x="6493" y="187"/>
                </a:cubicBezTo>
                <a:cubicBezTo>
                  <a:pt x="6493" y="184"/>
                  <a:pt x="6493" y="181"/>
                  <a:pt x="6492" y="179"/>
                </a:cubicBezTo>
                <a:cubicBezTo>
                  <a:pt x="6492" y="176"/>
                  <a:pt x="6491" y="173"/>
                  <a:pt x="6491" y="172"/>
                </a:cubicBezTo>
                <a:cubicBezTo>
                  <a:pt x="6489" y="169"/>
                  <a:pt x="6489" y="165"/>
                  <a:pt x="6488" y="163"/>
                </a:cubicBezTo>
                <a:cubicBezTo>
                  <a:pt x="6488" y="161"/>
                  <a:pt x="6487" y="160"/>
                  <a:pt x="6487" y="157"/>
                </a:cubicBezTo>
                <a:lnTo>
                  <a:pt x="6483" y="145"/>
                </a:lnTo>
                <a:cubicBezTo>
                  <a:pt x="6483" y="144"/>
                  <a:pt x="6481" y="144"/>
                  <a:pt x="6481" y="143"/>
                </a:cubicBezTo>
                <a:cubicBezTo>
                  <a:pt x="6480" y="139"/>
                  <a:pt x="6477" y="133"/>
                  <a:pt x="6475" y="129"/>
                </a:cubicBezTo>
                <a:cubicBezTo>
                  <a:pt x="6475" y="128"/>
                  <a:pt x="6473" y="127"/>
                  <a:pt x="6473" y="127"/>
                </a:cubicBezTo>
                <a:cubicBezTo>
                  <a:pt x="6471" y="123"/>
                  <a:pt x="6469" y="119"/>
                  <a:pt x="6467" y="115"/>
                </a:cubicBezTo>
                <a:cubicBezTo>
                  <a:pt x="6457" y="101"/>
                  <a:pt x="6447" y="89"/>
                  <a:pt x="6435" y="79"/>
                </a:cubicBezTo>
                <a:cubicBezTo>
                  <a:pt x="6385" y="23"/>
                  <a:pt x="6304" y="0"/>
                  <a:pt x="6231" y="31"/>
                </a:cubicBezTo>
                <a:lnTo>
                  <a:pt x="112" y="2559"/>
                </a:lnTo>
                <a:cubicBezTo>
                  <a:pt x="111" y="2560"/>
                  <a:pt x="108" y="2560"/>
                  <a:pt x="107" y="2561"/>
                </a:cubicBezTo>
                <a:cubicBezTo>
                  <a:pt x="103" y="2563"/>
                  <a:pt x="100" y="2564"/>
                  <a:pt x="96" y="2567"/>
                </a:cubicBezTo>
                <a:lnTo>
                  <a:pt x="88" y="2571"/>
                </a:lnTo>
                <a:cubicBezTo>
                  <a:pt x="85" y="2572"/>
                  <a:pt x="83" y="2573"/>
                  <a:pt x="80" y="2576"/>
                </a:cubicBezTo>
                <a:cubicBezTo>
                  <a:pt x="77" y="2577"/>
                  <a:pt x="75" y="2580"/>
                  <a:pt x="72" y="2581"/>
                </a:cubicBezTo>
                <a:cubicBezTo>
                  <a:pt x="69" y="2583"/>
                  <a:pt x="68" y="2584"/>
                  <a:pt x="65" y="2587"/>
                </a:cubicBezTo>
                <a:cubicBezTo>
                  <a:pt x="63" y="2588"/>
                  <a:pt x="61" y="2591"/>
                  <a:pt x="59" y="2593"/>
                </a:cubicBezTo>
                <a:cubicBezTo>
                  <a:pt x="56" y="2595"/>
                  <a:pt x="55" y="2597"/>
                  <a:pt x="52" y="2599"/>
                </a:cubicBezTo>
                <a:lnTo>
                  <a:pt x="45" y="2605"/>
                </a:lnTo>
                <a:cubicBezTo>
                  <a:pt x="44" y="2608"/>
                  <a:pt x="41" y="2609"/>
                  <a:pt x="40" y="2612"/>
                </a:cubicBezTo>
                <a:cubicBezTo>
                  <a:pt x="39" y="2615"/>
                  <a:pt x="36" y="2617"/>
                  <a:pt x="35" y="2619"/>
                </a:cubicBezTo>
                <a:cubicBezTo>
                  <a:pt x="33" y="2621"/>
                  <a:pt x="31" y="2623"/>
                  <a:pt x="29" y="2625"/>
                </a:cubicBezTo>
                <a:cubicBezTo>
                  <a:pt x="28" y="2628"/>
                  <a:pt x="25" y="2631"/>
                  <a:pt x="24" y="2633"/>
                </a:cubicBezTo>
                <a:cubicBezTo>
                  <a:pt x="23" y="2636"/>
                  <a:pt x="21" y="2637"/>
                  <a:pt x="20" y="2640"/>
                </a:cubicBezTo>
                <a:cubicBezTo>
                  <a:pt x="17" y="2644"/>
                  <a:pt x="16" y="2648"/>
                  <a:pt x="15" y="2652"/>
                </a:cubicBezTo>
                <a:cubicBezTo>
                  <a:pt x="15" y="2653"/>
                  <a:pt x="13" y="2655"/>
                  <a:pt x="12" y="2656"/>
                </a:cubicBezTo>
                <a:lnTo>
                  <a:pt x="12" y="2656"/>
                </a:lnTo>
                <a:cubicBezTo>
                  <a:pt x="9" y="2661"/>
                  <a:pt x="8" y="2667"/>
                  <a:pt x="7" y="2672"/>
                </a:cubicBezTo>
                <a:lnTo>
                  <a:pt x="7" y="2673"/>
                </a:lnTo>
                <a:cubicBezTo>
                  <a:pt x="5" y="2679"/>
                  <a:pt x="4" y="2684"/>
                  <a:pt x="3" y="2691"/>
                </a:cubicBezTo>
                <a:cubicBezTo>
                  <a:pt x="3" y="2693"/>
                  <a:pt x="1" y="2696"/>
                  <a:pt x="1" y="2699"/>
                </a:cubicBezTo>
                <a:cubicBezTo>
                  <a:pt x="1" y="2701"/>
                  <a:pt x="0" y="2705"/>
                  <a:pt x="0" y="2708"/>
                </a:cubicBezTo>
                <a:lnTo>
                  <a:pt x="0" y="2716"/>
                </a:lnTo>
                <a:lnTo>
                  <a:pt x="0" y="2725"/>
                </a:lnTo>
                <a:lnTo>
                  <a:pt x="0" y="2733"/>
                </a:lnTo>
                <a:lnTo>
                  <a:pt x="0" y="2743"/>
                </a:lnTo>
                <a:cubicBezTo>
                  <a:pt x="0" y="2745"/>
                  <a:pt x="1" y="2748"/>
                  <a:pt x="1" y="2749"/>
                </a:cubicBezTo>
                <a:cubicBezTo>
                  <a:pt x="1" y="2753"/>
                  <a:pt x="3" y="2756"/>
                  <a:pt x="3" y="2760"/>
                </a:cubicBezTo>
                <a:cubicBezTo>
                  <a:pt x="4" y="2764"/>
                  <a:pt x="4" y="2768"/>
                  <a:pt x="5" y="2772"/>
                </a:cubicBezTo>
                <a:cubicBezTo>
                  <a:pt x="7" y="2775"/>
                  <a:pt x="7" y="2777"/>
                  <a:pt x="8" y="2780"/>
                </a:cubicBezTo>
                <a:cubicBezTo>
                  <a:pt x="9" y="2784"/>
                  <a:pt x="11" y="2789"/>
                  <a:pt x="13" y="2793"/>
                </a:cubicBezTo>
                <a:lnTo>
                  <a:pt x="13" y="2793"/>
                </a:lnTo>
                <a:cubicBezTo>
                  <a:pt x="15" y="2799"/>
                  <a:pt x="17" y="2803"/>
                  <a:pt x="20" y="2807"/>
                </a:cubicBezTo>
                <a:cubicBezTo>
                  <a:pt x="20" y="2808"/>
                  <a:pt x="21" y="2809"/>
                  <a:pt x="21" y="2809"/>
                </a:cubicBezTo>
                <a:cubicBezTo>
                  <a:pt x="23" y="2813"/>
                  <a:pt x="25" y="2816"/>
                  <a:pt x="28" y="2820"/>
                </a:cubicBezTo>
                <a:cubicBezTo>
                  <a:pt x="29" y="2821"/>
                  <a:pt x="29" y="2823"/>
                  <a:pt x="31" y="2824"/>
                </a:cubicBezTo>
                <a:cubicBezTo>
                  <a:pt x="33" y="2828"/>
                  <a:pt x="35" y="2831"/>
                  <a:pt x="37" y="2833"/>
                </a:cubicBezTo>
                <a:cubicBezTo>
                  <a:pt x="39" y="2835"/>
                  <a:pt x="39" y="2836"/>
                  <a:pt x="40" y="2836"/>
                </a:cubicBezTo>
                <a:cubicBezTo>
                  <a:pt x="44" y="2840"/>
                  <a:pt x="47" y="2844"/>
                  <a:pt x="51" y="2848"/>
                </a:cubicBezTo>
                <a:lnTo>
                  <a:pt x="51" y="2848"/>
                </a:lnTo>
                <a:cubicBezTo>
                  <a:pt x="55" y="2852"/>
                  <a:pt x="59" y="2855"/>
                  <a:pt x="63" y="2859"/>
                </a:cubicBezTo>
                <a:cubicBezTo>
                  <a:pt x="64" y="2860"/>
                  <a:pt x="65" y="2861"/>
                  <a:pt x="67" y="2861"/>
                </a:cubicBezTo>
                <a:cubicBezTo>
                  <a:pt x="69" y="2864"/>
                  <a:pt x="73" y="2867"/>
                  <a:pt x="76" y="2868"/>
                </a:cubicBezTo>
                <a:cubicBezTo>
                  <a:pt x="77" y="2869"/>
                  <a:pt x="79" y="2869"/>
                  <a:pt x="80" y="2871"/>
                </a:cubicBezTo>
                <a:cubicBezTo>
                  <a:pt x="84" y="2873"/>
                  <a:pt x="89" y="2876"/>
                  <a:pt x="93" y="2879"/>
                </a:cubicBezTo>
                <a:cubicBezTo>
                  <a:pt x="95" y="2879"/>
                  <a:pt x="95" y="2880"/>
                  <a:pt x="96" y="2880"/>
                </a:cubicBezTo>
                <a:cubicBezTo>
                  <a:pt x="100" y="2883"/>
                  <a:pt x="104" y="2884"/>
                  <a:pt x="109" y="2887"/>
                </a:cubicBezTo>
                <a:cubicBezTo>
                  <a:pt x="111" y="2887"/>
                  <a:pt x="111" y="2888"/>
                  <a:pt x="112" y="2888"/>
                </a:cubicBezTo>
                <a:lnTo>
                  <a:pt x="2579" y="3933"/>
                </a:lnTo>
                <a:lnTo>
                  <a:pt x="3624" y="6400"/>
                </a:lnTo>
                <a:cubicBezTo>
                  <a:pt x="3625" y="6405"/>
                  <a:pt x="3628" y="6409"/>
                  <a:pt x="3631" y="6413"/>
                </a:cubicBezTo>
                <a:cubicBezTo>
                  <a:pt x="3631" y="6415"/>
                  <a:pt x="3632" y="6416"/>
                  <a:pt x="3632" y="6416"/>
                </a:cubicBezTo>
                <a:cubicBezTo>
                  <a:pt x="3635" y="6420"/>
                  <a:pt x="3636" y="6423"/>
                  <a:pt x="3639" y="6427"/>
                </a:cubicBezTo>
                <a:cubicBezTo>
                  <a:pt x="3640" y="6428"/>
                  <a:pt x="3640" y="6429"/>
                  <a:pt x="3641" y="6431"/>
                </a:cubicBezTo>
                <a:cubicBezTo>
                  <a:pt x="3644" y="6435"/>
                  <a:pt x="3647" y="6437"/>
                  <a:pt x="3648" y="6440"/>
                </a:cubicBezTo>
                <a:cubicBezTo>
                  <a:pt x="3649" y="6441"/>
                  <a:pt x="3649" y="6443"/>
                  <a:pt x="3651" y="6443"/>
                </a:cubicBezTo>
                <a:cubicBezTo>
                  <a:pt x="3655" y="6447"/>
                  <a:pt x="3657" y="6451"/>
                  <a:pt x="3661" y="6455"/>
                </a:cubicBezTo>
                <a:lnTo>
                  <a:pt x="3663" y="6456"/>
                </a:lnTo>
                <a:cubicBezTo>
                  <a:pt x="3667" y="6459"/>
                  <a:pt x="3669" y="6463"/>
                  <a:pt x="3673" y="6465"/>
                </a:cubicBezTo>
                <a:cubicBezTo>
                  <a:pt x="3675" y="6467"/>
                  <a:pt x="3676" y="6468"/>
                  <a:pt x="3677" y="6468"/>
                </a:cubicBezTo>
                <a:cubicBezTo>
                  <a:pt x="3680" y="6471"/>
                  <a:pt x="3684" y="6473"/>
                  <a:pt x="3687" y="6475"/>
                </a:cubicBezTo>
                <a:cubicBezTo>
                  <a:pt x="3688" y="6476"/>
                  <a:pt x="3689" y="6476"/>
                  <a:pt x="3691" y="6477"/>
                </a:cubicBezTo>
                <a:cubicBezTo>
                  <a:pt x="3695" y="6480"/>
                  <a:pt x="3700" y="6483"/>
                  <a:pt x="3704" y="6485"/>
                </a:cubicBezTo>
                <a:cubicBezTo>
                  <a:pt x="3705" y="6485"/>
                  <a:pt x="3707" y="6487"/>
                  <a:pt x="3707" y="6487"/>
                </a:cubicBezTo>
                <a:cubicBezTo>
                  <a:pt x="3711" y="6489"/>
                  <a:pt x="3715" y="6491"/>
                  <a:pt x="3719" y="6492"/>
                </a:cubicBezTo>
                <a:cubicBezTo>
                  <a:pt x="3720" y="6492"/>
                  <a:pt x="3720" y="6493"/>
                  <a:pt x="3721" y="6493"/>
                </a:cubicBezTo>
                <a:cubicBezTo>
                  <a:pt x="3721" y="6493"/>
                  <a:pt x="3723" y="6493"/>
                  <a:pt x="3723" y="6495"/>
                </a:cubicBezTo>
                <a:cubicBezTo>
                  <a:pt x="3727" y="6496"/>
                  <a:pt x="3732" y="6499"/>
                  <a:pt x="3736" y="6500"/>
                </a:cubicBezTo>
                <a:lnTo>
                  <a:pt x="3737" y="6500"/>
                </a:lnTo>
                <a:cubicBezTo>
                  <a:pt x="3743" y="6501"/>
                  <a:pt x="3747" y="6503"/>
                  <a:pt x="3752" y="6504"/>
                </a:cubicBezTo>
                <a:cubicBezTo>
                  <a:pt x="3753" y="6504"/>
                  <a:pt x="3756" y="6504"/>
                  <a:pt x="3757" y="6505"/>
                </a:cubicBezTo>
                <a:cubicBezTo>
                  <a:pt x="3761" y="6505"/>
                  <a:pt x="3764" y="6507"/>
                  <a:pt x="3768" y="6507"/>
                </a:cubicBezTo>
                <a:lnTo>
                  <a:pt x="3773" y="6507"/>
                </a:lnTo>
                <a:cubicBezTo>
                  <a:pt x="3779" y="6507"/>
                  <a:pt x="3783" y="6508"/>
                  <a:pt x="3788" y="6508"/>
                </a:cubicBezTo>
                <a:lnTo>
                  <a:pt x="3788" y="6508"/>
                </a:lnTo>
                <a:lnTo>
                  <a:pt x="3788" y="6508"/>
                </a:lnTo>
                <a:lnTo>
                  <a:pt x="3788" y="6508"/>
                </a:lnTo>
                <a:lnTo>
                  <a:pt x="3788" y="6508"/>
                </a:lnTo>
                <a:cubicBezTo>
                  <a:pt x="3793" y="6508"/>
                  <a:pt x="3799" y="6508"/>
                  <a:pt x="3803" y="6507"/>
                </a:cubicBezTo>
                <a:lnTo>
                  <a:pt x="3808" y="6507"/>
                </a:lnTo>
                <a:cubicBezTo>
                  <a:pt x="3812" y="6507"/>
                  <a:pt x="3816" y="6505"/>
                  <a:pt x="3819" y="6505"/>
                </a:cubicBezTo>
                <a:cubicBezTo>
                  <a:pt x="3820" y="6505"/>
                  <a:pt x="3823" y="6505"/>
                  <a:pt x="3824" y="6504"/>
                </a:cubicBezTo>
                <a:cubicBezTo>
                  <a:pt x="3829" y="6503"/>
                  <a:pt x="3835" y="6501"/>
                  <a:pt x="3839" y="6500"/>
                </a:cubicBezTo>
                <a:cubicBezTo>
                  <a:pt x="3840" y="6500"/>
                  <a:pt x="3840" y="6500"/>
                  <a:pt x="3841" y="6499"/>
                </a:cubicBezTo>
                <a:cubicBezTo>
                  <a:pt x="3845" y="6497"/>
                  <a:pt x="3851" y="6496"/>
                  <a:pt x="3855" y="6493"/>
                </a:cubicBezTo>
                <a:cubicBezTo>
                  <a:pt x="3856" y="6493"/>
                  <a:pt x="3856" y="6493"/>
                  <a:pt x="3857" y="6492"/>
                </a:cubicBezTo>
                <a:cubicBezTo>
                  <a:pt x="3859" y="6492"/>
                  <a:pt x="3859" y="6491"/>
                  <a:pt x="3860" y="6491"/>
                </a:cubicBezTo>
                <a:cubicBezTo>
                  <a:pt x="3864" y="6489"/>
                  <a:pt x="3868" y="6487"/>
                  <a:pt x="3872" y="6484"/>
                </a:cubicBezTo>
                <a:cubicBezTo>
                  <a:pt x="3873" y="6484"/>
                  <a:pt x="3873" y="6483"/>
                  <a:pt x="3875" y="6483"/>
                </a:cubicBezTo>
                <a:cubicBezTo>
                  <a:pt x="3879" y="6480"/>
                  <a:pt x="3884" y="6477"/>
                  <a:pt x="3888" y="6475"/>
                </a:cubicBezTo>
                <a:cubicBezTo>
                  <a:pt x="3889" y="6473"/>
                  <a:pt x="3891" y="6473"/>
                  <a:pt x="3892" y="6472"/>
                </a:cubicBezTo>
                <a:cubicBezTo>
                  <a:pt x="3895" y="6469"/>
                  <a:pt x="3899" y="6468"/>
                  <a:pt x="3901" y="6465"/>
                </a:cubicBezTo>
                <a:cubicBezTo>
                  <a:pt x="3903" y="6464"/>
                  <a:pt x="3904" y="6463"/>
                  <a:pt x="3905" y="6463"/>
                </a:cubicBezTo>
                <a:cubicBezTo>
                  <a:pt x="3909" y="6459"/>
                  <a:pt x="3913" y="6456"/>
                  <a:pt x="3916" y="6452"/>
                </a:cubicBezTo>
                <a:lnTo>
                  <a:pt x="3916" y="6452"/>
                </a:lnTo>
                <a:cubicBezTo>
                  <a:pt x="3920" y="6448"/>
                  <a:pt x="3923" y="6444"/>
                  <a:pt x="3927" y="6440"/>
                </a:cubicBezTo>
                <a:cubicBezTo>
                  <a:pt x="3928" y="6439"/>
                  <a:pt x="3928" y="6437"/>
                  <a:pt x="3929" y="6436"/>
                </a:cubicBezTo>
                <a:cubicBezTo>
                  <a:pt x="3932" y="6433"/>
                  <a:pt x="3935" y="6429"/>
                  <a:pt x="3936" y="6427"/>
                </a:cubicBezTo>
                <a:cubicBezTo>
                  <a:pt x="3937" y="6425"/>
                  <a:pt x="3937" y="6424"/>
                  <a:pt x="3939" y="6423"/>
                </a:cubicBezTo>
                <a:cubicBezTo>
                  <a:pt x="3941" y="6419"/>
                  <a:pt x="3943" y="6416"/>
                  <a:pt x="3945" y="6412"/>
                </a:cubicBezTo>
                <a:cubicBezTo>
                  <a:pt x="3945" y="6411"/>
                  <a:pt x="3947" y="6409"/>
                  <a:pt x="3947" y="6409"/>
                </a:cubicBezTo>
                <a:cubicBezTo>
                  <a:pt x="3949" y="6405"/>
                  <a:pt x="3951" y="6400"/>
                  <a:pt x="3953" y="6396"/>
                </a:cubicBezTo>
                <a:lnTo>
                  <a:pt x="6481" y="284"/>
                </a:lnTo>
                <a:cubicBezTo>
                  <a:pt x="6485" y="273"/>
                  <a:pt x="6489" y="261"/>
                  <a:pt x="6492" y="249"/>
                </a:cubicBezTo>
                <a:cubicBezTo>
                  <a:pt x="6493" y="245"/>
                  <a:pt x="6493" y="240"/>
                  <a:pt x="6493" y="236"/>
                </a:cubicBezTo>
                <a:lnTo>
                  <a:pt x="6493" y="232"/>
                </a:lnTo>
                <a:cubicBezTo>
                  <a:pt x="6493" y="227"/>
                  <a:pt x="6493" y="223"/>
                  <a:pt x="6495" y="217"/>
                </a:cubicBezTo>
                <a:lnTo>
                  <a:pt x="6495" y="215"/>
                </a:lnTo>
                <a:lnTo>
                  <a:pt x="6495" y="203"/>
                </a:lnTo>
                <a:close/>
                <a:moveTo>
                  <a:pt x="648" y="2727"/>
                </a:moveTo>
                <a:lnTo>
                  <a:pt x="5589" y="687"/>
                </a:lnTo>
                <a:lnTo>
                  <a:pt x="2685" y="3589"/>
                </a:lnTo>
                <a:lnTo>
                  <a:pt x="648" y="2727"/>
                </a:lnTo>
                <a:close/>
                <a:moveTo>
                  <a:pt x="3787" y="5865"/>
                </a:moveTo>
                <a:lnTo>
                  <a:pt x="2933" y="3851"/>
                </a:lnTo>
                <a:lnTo>
                  <a:pt x="5804" y="981"/>
                </a:lnTo>
                <a:lnTo>
                  <a:pt x="3787" y="5865"/>
                </a:ln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cxnSp>
        <p:nvCxnSpPr>
          <p:cNvPr id="5" name="直接连接符 4">
            <a:extLst>
              <a:ext uri="{FF2B5EF4-FFF2-40B4-BE49-F238E27FC236}">
                <a16:creationId xmlns:a16="http://schemas.microsoft.com/office/drawing/2014/main" id="{0591B80B-BA5C-4DEC-9D03-B08D33E8D3BC}"/>
              </a:ext>
            </a:extLst>
          </p:cNvPr>
          <p:cNvCxnSpPr/>
          <p:nvPr/>
        </p:nvCxnSpPr>
        <p:spPr>
          <a:xfrm>
            <a:off x="2387600" y="3393440"/>
            <a:ext cx="9469438" cy="0"/>
          </a:xfrm>
          <a:prstGeom prst="line">
            <a:avLst/>
          </a:prstGeom>
          <a:ln w="15875">
            <a:prstDash val="dash"/>
          </a:ln>
        </p:spPr>
        <p:style>
          <a:lnRef idx="1">
            <a:schemeClr val="accent1"/>
          </a:lnRef>
          <a:fillRef idx="0">
            <a:schemeClr val="accent1"/>
          </a:fillRef>
          <a:effectRef idx="0">
            <a:schemeClr val="accent1"/>
          </a:effectRef>
          <a:fontRef idx="minor">
            <a:schemeClr val="tx1"/>
          </a:fontRef>
        </p:style>
      </p:cxnSp>
      <p:sp>
        <p:nvSpPr>
          <p:cNvPr id="111" name="文本框 110">
            <a:extLst>
              <a:ext uri="{FF2B5EF4-FFF2-40B4-BE49-F238E27FC236}">
                <a16:creationId xmlns:a16="http://schemas.microsoft.com/office/drawing/2014/main" id="{FC9D03FE-ECC2-42D8-97BD-44E98FD84916}"/>
              </a:ext>
            </a:extLst>
          </p:cNvPr>
          <p:cNvSpPr txBox="1"/>
          <p:nvPr/>
        </p:nvSpPr>
        <p:spPr>
          <a:xfrm>
            <a:off x="373082" y="5620123"/>
            <a:ext cx="1660612" cy="338554"/>
          </a:xfrm>
          <a:prstGeom prst="rect">
            <a:avLst/>
          </a:prstGeom>
          <a:noFill/>
        </p:spPr>
        <p:txBody>
          <a:bodyPr wrap="square" rtlCol="0">
            <a:spAutoFit/>
          </a:bodyPr>
          <a:lstStyle/>
          <a:p>
            <a:r>
              <a:rPr lang="zh-CN" altLang="en-US" sz="1600" dirty="0">
                <a:solidFill>
                  <a:schemeClr val="bg1"/>
                </a:solidFill>
                <a:latin typeface="思源黑体 CN Regular" panose="020B0500000000000000" pitchFamily="34" charset="-122"/>
                <a:ea typeface="思源黑体 CN Regular" panose="020B0500000000000000" pitchFamily="34" charset="-122"/>
              </a:rPr>
              <a:t>预期成果</a:t>
            </a:r>
          </a:p>
        </p:txBody>
      </p:sp>
      <p:sp>
        <p:nvSpPr>
          <p:cNvPr id="112" name="任意矩形：006">
            <a:extLst>
              <a:ext uri="{FF2B5EF4-FFF2-40B4-BE49-F238E27FC236}">
                <a16:creationId xmlns:a16="http://schemas.microsoft.com/office/drawing/2014/main" id="{94108A96-276D-41E4-92F5-4BB77EDAA87C}"/>
              </a:ext>
            </a:extLst>
          </p:cNvPr>
          <p:cNvSpPr/>
          <p:nvPr/>
        </p:nvSpPr>
        <p:spPr>
          <a:xfrm>
            <a:off x="125661" y="5689964"/>
            <a:ext cx="203662" cy="187126"/>
          </a:xfrm>
          <a:custGeom>
            <a:avLst/>
            <a:gdLst>
              <a:gd name="T0" fmla="*/ 11834 w 13933"/>
              <a:gd name="T1" fmla="*/ 1094 h 12800"/>
              <a:gd name="T2" fmla="*/ 10384 w 13933"/>
              <a:gd name="T3" fmla="*/ 1094 h 12800"/>
              <a:gd name="T4" fmla="*/ 10384 w 13933"/>
              <a:gd name="T5" fmla="*/ 315 h 12800"/>
              <a:gd name="T6" fmla="*/ 10069 w 13933"/>
              <a:gd name="T7" fmla="*/ 0 h 12800"/>
              <a:gd name="T8" fmla="*/ 9754 w 13933"/>
              <a:gd name="T9" fmla="*/ 315 h 12800"/>
              <a:gd name="T10" fmla="*/ 9754 w 13933"/>
              <a:gd name="T11" fmla="*/ 1094 h 12800"/>
              <a:gd name="T12" fmla="*/ 4056 w 13933"/>
              <a:gd name="T13" fmla="*/ 1094 h 12800"/>
              <a:gd name="T14" fmla="*/ 4056 w 13933"/>
              <a:gd name="T15" fmla="*/ 315 h 12800"/>
              <a:gd name="T16" fmla="*/ 3741 w 13933"/>
              <a:gd name="T17" fmla="*/ 0 h 12800"/>
              <a:gd name="T18" fmla="*/ 3426 w 13933"/>
              <a:gd name="T19" fmla="*/ 315 h 12800"/>
              <a:gd name="T20" fmla="*/ 3426 w 13933"/>
              <a:gd name="T21" fmla="*/ 1094 h 12800"/>
              <a:gd name="T22" fmla="*/ 2099 w 13933"/>
              <a:gd name="T23" fmla="*/ 1094 h 12800"/>
              <a:gd name="T24" fmla="*/ 0 w 13933"/>
              <a:gd name="T25" fmla="*/ 3193 h 12800"/>
              <a:gd name="T26" fmla="*/ 0 w 13933"/>
              <a:gd name="T27" fmla="*/ 10701 h 12800"/>
              <a:gd name="T28" fmla="*/ 2099 w 13933"/>
              <a:gd name="T29" fmla="*/ 12800 h 12800"/>
              <a:gd name="T30" fmla="*/ 11834 w 13933"/>
              <a:gd name="T31" fmla="*/ 12800 h 12800"/>
              <a:gd name="T32" fmla="*/ 13933 w 13933"/>
              <a:gd name="T33" fmla="*/ 10701 h 12800"/>
              <a:gd name="T34" fmla="*/ 13933 w 13933"/>
              <a:gd name="T35" fmla="*/ 3193 h 12800"/>
              <a:gd name="T36" fmla="*/ 11834 w 13933"/>
              <a:gd name="T37" fmla="*/ 1094 h 12800"/>
              <a:gd name="T38" fmla="*/ 2099 w 13933"/>
              <a:gd name="T39" fmla="*/ 1933 h 12800"/>
              <a:gd name="T40" fmla="*/ 3426 w 13933"/>
              <a:gd name="T41" fmla="*/ 1933 h 12800"/>
              <a:gd name="T42" fmla="*/ 3426 w 13933"/>
              <a:gd name="T43" fmla="*/ 2757 h 12800"/>
              <a:gd name="T44" fmla="*/ 3741 w 13933"/>
              <a:gd name="T45" fmla="*/ 3072 h 12800"/>
              <a:gd name="T46" fmla="*/ 4056 w 13933"/>
              <a:gd name="T47" fmla="*/ 2757 h 12800"/>
              <a:gd name="T48" fmla="*/ 4056 w 13933"/>
              <a:gd name="T49" fmla="*/ 1933 h 12800"/>
              <a:gd name="T50" fmla="*/ 9754 w 13933"/>
              <a:gd name="T51" fmla="*/ 1933 h 12800"/>
              <a:gd name="T52" fmla="*/ 9754 w 13933"/>
              <a:gd name="T53" fmla="*/ 2757 h 12800"/>
              <a:gd name="T54" fmla="*/ 10069 w 13933"/>
              <a:gd name="T55" fmla="*/ 3072 h 12800"/>
              <a:gd name="T56" fmla="*/ 10384 w 13933"/>
              <a:gd name="T57" fmla="*/ 2757 h 12800"/>
              <a:gd name="T58" fmla="*/ 10384 w 13933"/>
              <a:gd name="T59" fmla="*/ 1933 h 12800"/>
              <a:gd name="T60" fmla="*/ 11834 w 13933"/>
              <a:gd name="T61" fmla="*/ 1933 h 12800"/>
              <a:gd name="T62" fmla="*/ 13094 w 13933"/>
              <a:gd name="T63" fmla="*/ 3193 h 12800"/>
              <a:gd name="T64" fmla="*/ 13094 w 13933"/>
              <a:gd name="T65" fmla="*/ 4646 h 12800"/>
              <a:gd name="T66" fmla="*/ 840 w 13933"/>
              <a:gd name="T67" fmla="*/ 4646 h 12800"/>
              <a:gd name="T68" fmla="*/ 840 w 13933"/>
              <a:gd name="T69" fmla="*/ 3193 h 12800"/>
              <a:gd name="T70" fmla="*/ 2099 w 13933"/>
              <a:gd name="T71" fmla="*/ 1933 h 12800"/>
              <a:gd name="T72" fmla="*/ 11834 w 13933"/>
              <a:gd name="T73" fmla="*/ 11960 h 12800"/>
              <a:gd name="T74" fmla="*/ 2099 w 13933"/>
              <a:gd name="T75" fmla="*/ 11960 h 12800"/>
              <a:gd name="T76" fmla="*/ 840 w 13933"/>
              <a:gd name="T77" fmla="*/ 10701 h 12800"/>
              <a:gd name="T78" fmla="*/ 840 w 13933"/>
              <a:gd name="T79" fmla="*/ 5276 h 12800"/>
              <a:gd name="T80" fmla="*/ 13094 w 13933"/>
              <a:gd name="T81" fmla="*/ 5276 h 12800"/>
              <a:gd name="T82" fmla="*/ 13094 w 13933"/>
              <a:gd name="T83" fmla="*/ 10701 h 12800"/>
              <a:gd name="T84" fmla="*/ 11834 w 13933"/>
              <a:gd name="T85" fmla="*/ 11960 h 128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Lst>
            <a:rect l="0" t="0" r="r" b="b"/>
            <a:pathLst>
              <a:path w="13933" h="12800">
                <a:moveTo>
                  <a:pt x="11834" y="1094"/>
                </a:moveTo>
                <a:lnTo>
                  <a:pt x="10384" y="1094"/>
                </a:lnTo>
                <a:lnTo>
                  <a:pt x="10384" y="315"/>
                </a:lnTo>
                <a:cubicBezTo>
                  <a:pt x="10384" y="141"/>
                  <a:pt x="10243" y="0"/>
                  <a:pt x="10069" y="0"/>
                </a:cubicBezTo>
                <a:cubicBezTo>
                  <a:pt x="9895" y="0"/>
                  <a:pt x="9754" y="141"/>
                  <a:pt x="9754" y="315"/>
                </a:cubicBezTo>
                <a:lnTo>
                  <a:pt x="9754" y="1094"/>
                </a:lnTo>
                <a:lnTo>
                  <a:pt x="4056" y="1094"/>
                </a:lnTo>
                <a:lnTo>
                  <a:pt x="4056" y="315"/>
                </a:lnTo>
                <a:cubicBezTo>
                  <a:pt x="4056" y="141"/>
                  <a:pt x="3915" y="0"/>
                  <a:pt x="3741" y="0"/>
                </a:cubicBezTo>
                <a:cubicBezTo>
                  <a:pt x="3567" y="0"/>
                  <a:pt x="3426" y="141"/>
                  <a:pt x="3426" y="315"/>
                </a:cubicBezTo>
                <a:lnTo>
                  <a:pt x="3426" y="1094"/>
                </a:lnTo>
                <a:lnTo>
                  <a:pt x="2099" y="1094"/>
                </a:lnTo>
                <a:cubicBezTo>
                  <a:pt x="940" y="1095"/>
                  <a:pt x="1" y="2034"/>
                  <a:pt x="0" y="3193"/>
                </a:cubicBezTo>
                <a:lnTo>
                  <a:pt x="0" y="10701"/>
                </a:lnTo>
                <a:cubicBezTo>
                  <a:pt x="1" y="11860"/>
                  <a:pt x="940" y="12799"/>
                  <a:pt x="2099" y="12800"/>
                </a:cubicBezTo>
                <a:lnTo>
                  <a:pt x="11834" y="12800"/>
                </a:lnTo>
                <a:cubicBezTo>
                  <a:pt x="12993" y="12799"/>
                  <a:pt x="13932" y="11860"/>
                  <a:pt x="13933" y="10701"/>
                </a:cubicBezTo>
                <a:lnTo>
                  <a:pt x="13933" y="3193"/>
                </a:lnTo>
                <a:cubicBezTo>
                  <a:pt x="13932" y="2034"/>
                  <a:pt x="12993" y="1095"/>
                  <a:pt x="11834" y="1094"/>
                </a:cubicBezTo>
                <a:close/>
                <a:moveTo>
                  <a:pt x="2099" y="1933"/>
                </a:moveTo>
                <a:lnTo>
                  <a:pt x="3426" y="1933"/>
                </a:lnTo>
                <a:lnTo>
                  <a:pt x="3426" y="2757"/>
                </a:lnTo>
                <a:cubicBezTo>
                  <a:pt x="3426" y="2931"/>
                  <a:pt x="3567" y="3072"/>
                  <a:pt x="3741" y="3072"/>
                </a:cubicBezTo>
                <a:cubicBezTo>
                  <a:pt x="3915" y="3072"/>
                  <a:pt x="4056" y="2931"/>
                  <a:pt x="4056" y="2757"/>
                </a:cubicBezTo>
                <a:lnTo>
                  <a:pt x="4056" y="1933"/>
                </a:lnTo>
                <a:lnTo>
                  <a:pt x="9754" y="1933"/>
                </a:lnTo>
                <a:lnTo>
                  <a:pt x="9754" y="2757"/>
                </a:lnTo>
                <a:cubicBezTo>
                  <a:pt x="9754" y="2931"/>
                  <a:pt x="9895" y="3072"/>
                  <a:pt x="10069" y="3072"/>
                </a:cubicBezTo>
                <a:cubicBezTo>
                  <a:pt x="10243" y="3072"/>
                  <a:pt x="10384" y="2931"/>
                  <a:pt x="10384" y="2757"/>
                </a:cubicBezTo>
                <a:lnTo>
                  <a:pt x="10384" y="1933"/>
                </a:lnTo>
                <a:lnTo>
                  <a:pt x="11834" y="1933"/>
                </a:lnTo>
                <a:cubicBezTo>
                  <a:pt x="12529" y="1934"/>
                  <a:pt x="13093" y="2497"/>
                  <a:pt x="13094" y="3193"/>
                </a:cubicBezTo>
                <a:lnTo>
                  <a:pt x="13094" y="4646"/>
                </a:lnTo>
                <a:lnTo>
                  <a:pt x="840" y="4646"/>
                </a:lnTo>
                <a:lnTo>
                  <a:pt x="840" y="3193"/>
                </a:lnTo>
                <a:cubicBezTo>
                  <a:pt x="840" y="2497"/>
                  <a:pt x="1404" y="1934"/>
                  <a:pt x="2099" y="1933"/>
                </a:cubicBezTo>
                <a:close/>
                <a:moveTo>
                  <a:pt x="11834" y="11960"/>
                </a:moveTo>
                <a:lnTo>
                  <a:pt x="2099" y="11960"/>
                </a:lnTo>
                <a:cubicBezTo>
                  <a:pt x="1404" y="11960"/>
                  <a:pt x="840" y="11396"/>
                  <a:pt x="840" y="10701"/>
                </a:cubicBezTo>
                <a:lnTo>
                  <a:pt x="840" y="5276"/>
                </a:lnTo>
                <a:lnTo>
                  <a:pt x="13094" y="5276"/>
                </a:lnTo>
                <a:lnTo>
                  <a:pt x="13094" y="10701"/>
                </a:lnTo>
                <a:cubicBezTo>
                  <a:pt x="13093" y="11396"/>
                  <a:pt x="12529" y="11960"/>
                  <a:pt x="11834" y="1196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14272926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4" name="矩形 123">
            <a:extLst>
              <a:ext uri="{FF2B5EF4-FFF2-40B4-BE49-F238E27FC236}">
                <a16:creationId xmlns:a16="http://schemas.microsoft.com/office/drawing/2014/main" id="{9EDADD73-C589-48F6-8A29-C0D13336E3AA}"/>
              </a:ext>
            </a:extLst>
          </p:cNvPr>
          <p:cNvSpPr/>
          <p:nvPr/>
        </p:nvSpPr>
        <p:spPr>
          <a:xfrm>
            <a:off x="0" y="4807401"/>
            <a:ext cx="2052320" cy="56374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58" name="矩形: 圆角 57">
            <a:extLst>
              <a:ext uri="{FF2B5EF4-FFF2-40B4-BE49-F238E27FC236}">
                <a16:creationId xmlns:a16="http://schemas.microsoft.com/office/drawing/2014/main" id="{3808CFB2-1928-415D-9C91-29FD5B07BB38}"/>
              </a:ext>
            </a:extLst>
          </p:cNvPr>
          <p:cNvSpPr/>
          <p:nvPr/>
        </p:nvSpPr>
        <p:spPr>
          <a:xfrm>
            <a:off x="2395220" y="2316480"/>
            <a:ext cx="2581725" cy="3881120"/>
          </a:xfrm>
          <a:prstGeom prst="roundRect">
            <a:avLst>
              <a:gd name="adj" fmla="val 6584"/>
            </a:avLst>
          </a:prstGeom>
          <a:solidFill>
            <a:schemeClr val="bg1"/>
          </a:solidFill>
          <a:ln w="15875">
            <a:solidFill>
              <a:schemeClr val="accent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5" name="矩形: 圆角 4">
            <a:extLst>
              <a:ext uri="{FF2B5EF4-FFF2-40B4-BE49-F238E27FC236}">
                <a16:creationId xmlns:a16="http://schemas.microsoft.com/office/drawing/2014/main" id="{D7AD1FB2-59A5-43D0-868C-282D2D074E91}"/>
              </a:ext>
            </a:extLst>
          </p:cNvPr>
          <p:cNvSpPr/>
          <p:nvPr/>
        </p:nvSpPr>
        <p:spPr>
          <a:xfrm>
            <a:off x="2387600" y="1169234"/>
            <a:ext cx="9469434" cy="909234"/>
          </a:xfrm>
          <a:prstGeom prst="roundRect">
            <a:avLst>
              <a:gd name="adj" fmla="val 7418"/>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文本框 6">
            <a:extLst>
              <a:ext uri="{FF2B5EF4-FFF2-40B4-BE49-F238E27FC236}">
                <a16:creationId xmlns:a16="http://schemas.microsoft.com/office/drawing/2014/main" id="{FDB02A9E-4394-4D4F-8105-1E844ECA9B86}"/>
              </a:ext>
            </a:extLst>
          </p:cNvPr>
          <p:cNvSpPr txBox="1"/>
          <p:nvPr/>
        </p:nvSpPr>
        <p:spPr>
          <a:xfrm>
            <a:off x="2509520" y="1270614"/>
            <a:ext cx="9347514" cy="706475"/>
          </a:xfrm>
          <a:prstGeom prst="rect">
            <a:avLst/>
          </a:prstGeom>
          <a:noFill/>
        </p:spPr>
        <p:txBody>
          <a:bodyPr wrap="square" rtlCol="0">
            <a:spAutoFit/>
          </a:bodyPr>
          <a:lstStyle/>
          <a:p>
            <a:pPr>
              <a:lnSpc>
                <a:spcPct val="130000"/>
              </a:lnSpc>
            </a:pPr>
            <a:r>
              <a:rPr lang="zh-CN" altLang="en-US" sz="1600" dirty="0">
                <a:latin typeface="思源黑体 CN Regular" panose="020B0500000000000000" pitchFamily="34" charset="-122"/>
                <a:ea typeface="思源黑体 CN Regular" panose="020B0500000000000000" pitchFamily="34" charset="-122"/>
              </a:rPr>
              <a:t>围绕</a:t>
            </a:r>
            <a:r>
              <a:rPr lang="en-US" altLang="zh-CN" sz="1600" dirty="0">
                <a:latin typeface="思源黑体 CN Regular" panose="020B0500000000000000" pitchFamily="34" charset="-122"/>
                <a:ea typeface="思源黑体 CN Regular" panose="020B0500000000000000" pitchFamily="34" charset="-122"/>
              </a:rPr>
              <a:t>PRMT3</a:t>
            </a:r>
            <a:r>
              <a:rPr lang="zh-CN" altLang="en-US" sz="1600" dirty="0">
                <a:latin typeface="思源黑体 CN Regular" panose="020B0500000000000000" pitchFamily="34" charset="-122"/>
                <a:ea typeface="思源黑体 CN Regular" panose="020B0500000000000000" pitchFamily="34" charset="-122"/>
              </a:rPr>
              <a:t>介导</a:t>
            </a:r>
            <a:r>
              <a:rPr lang="en-US" altLang="zh-CN" sz="1600" dirty="0">
                <a:latin typeface="思源黑体 CN Regular" panose="020B0500000000000000" pitchFamily="34" charset="-122"/>
                <a:ea typeface="思源黑体 CN Regular" panose="020B0500000000000000" pitchFamily="34" charset="-122"/>
              </a:rPr>
              <a:t>IGF2BP1</a:t>
            </a:r>
            <a:r>
              <a:rPr lang="zh-CN" altLang="en-US" sz="1600" dirty="0">
                <a:latin typeface="思源黑体 CN Regular" panose="020B0500000000000000" pitchFamily="34" charset="-122"/>
                <a:ea typeface="思源黑体 CN Regular" panose="020B0500000000000000" pitchFamily="34" charset="-122"/>
              </a:rPr>
              <a:t>精氨酸甲基化促进肝癌奥沙利铂耐药性展开研究，构建耐药细胞模型，检测核心分子表达与甲基化水平，验证二者互作关系，初步明确</a:t>
            </a:r>
            <a:r>
              <a:rPr lang="en-US" altLang="zh-CN" sz="1600" dirty="0">
                <a:latin typeface="思源黑体 CN Regular" panose="020B0500000000000000" pitchFamily="34" charset="-122"/>
                <a:ea typeface="思源黑体 CN Regular" panose="020B0500000000000000" pitchFamily="34" charset="-122"/>
              </a:rPr>
              <a:t>PRMT3</a:t>
            </a:r>
            <a:r>
              <a:rPr lang="zh-CN" altLang="en-US" sz="1600" dirty="0">
                <a:latin typeface="思源黑体 CN Regular" panose="020B0500000000000000" pitchFamily="34" charset="-122"/>
                <a:ea typeface="思源黑体 CN Regular" panose="020B0500000000000000" pitchFamily="34" charset="-122"/>
              </a:rPr>
              <a:t>对耐药表型的调控作用。</a:t>
            </a:r>
          </a:p>
        </p:txBody>
      </p:sp>
      <p:pic>
        <p:nvPicPr>
          <p:cNvPr id="17" name="图片 16">
            <a:extLst>
              <a:ext uri="{FF2B5EF4-FFF2-40B4-BE49-F238E27FC236}">
                <a16:creationId xmlns:a16="http://schemas.microsoft.com/office/drawing/2014/main" id="{DCE4121D-5F8D-4835-9423-54D2178DE30C}"/>
              </a:ext>
            </a:extLst>
          </p:cNvPr>
          <p:cNvPicPr>
            <a:picLocks noChangeAspect="1"/>
          </p:cNvPicPr>
          <p:nvPr/>
        </p:nvPicPr>
        <p:blipFill>
          <a:blip r:embed="rId2"/>
          <a:srcRect l="8479" t="6998" r="2704" b="6235"/>
          <a:stretch>
            <a:fillRect/>
          </a:stretch>
        </p:blipFill>
        <p:spPr>
          <a:xfrm>
            <a:off x="2443048" y="2670153"/>
            <a:ext cx="2516219" cy="3072699"/>
          </a:xfrm>
          <a:custGeom>
            <a:avLst/>
            <a:gdLst>
              <a:gd name="connsiteX0" fmla="*/ 0 w 3586487"/>
              <a:gd name="connsiteY0" fmla="*/ 0 h 4379664"/>
              <a:gd name="connsiteX1" fmla="*/ 3586487 w 3586487"/>
              <a:gd name="connsiteY1" fmla="*/ 0 h 4379664"/>
              <a:gd name="connsiteX2" fmla="*/ 3586487 w 3586487"/>
              <a:gd name="connsiteY2" fmla="*/ 2136336 h 4379664"/>
              <a:gd name="connsiteX3" fmla="*/ 3586487 w 3586487"/>
              <a:gd name="connsiteY3" fmla="*/ 4379664 h 4379664"/>
              <a:gd name="connsiteX4" fmla="*/ 904247 w 3586487"/>
              <a:gd name="connsiteY4" fmla="*/ 4379664 h 4379664"/>
              <a:gd name="connsiteX5" fmla="*/ 904247 w 3586487"/>
              <a:gd name="connsiteY5" fmla="*/ 3867600 h 4379664"/>
              <a:gd name="connsiteX6" fmla="*/ 440950 w 3586487"/>
              <a:gd name="connsiteY6" fmla="*/ 3867600 h 4379664"/>
              <a:gd name="connsiteX7" fmla="*/ 440950 w 3586487"/>
              <a:gd name="connsiteY7" fmla="*/ 2136336 h 4379664"/>
              <a:gd name="connsiteX8" fmla="*/ 0 w 3586487"/>
              <a:gd name="connsiteY8" fmla="*/ 2136336 h 4379664"/>
              <a:gd name="connsiteX9" fmla="*/ 0 w 3586487"/>
              <a:gd name="connsiteY9" fmla="*/ 0 h 43796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586487" h="4379664">
                <a:moveTo>
                  <a:pt x="0" y="0"/>
                </a:moveTo>
                <a:lnTo>
                  <a:pt x="3586487" y="0"/>
                </a:lnTo>
                <a:lnTo>
                  <a:pt x="3586487" y="2136336"/>
                </a:lnTo>
                <a:lnTo>
                  <a:pt x="3586487" y="4379664"/>
                </a:lnTo>
                <a:lnTo>
                  <a:pt x="904247" y="4379664"/>
                </a:lnTo>
                <a:lnTo>
                  <a:pt x="904247" y="3867600"/>
                </a:lnTo>
                <a:lnTo>
                  <a:pt x="440950" y="3867600"/>
                </a:lnTo>
                <a:lnTo>
                  <a:pt x="440950" y="2136336"/>
                </a:lnTo>
                <a:lnTo>
                  <a:pt x="0" y="2136336"/>
                </a:lnTo>
                <a:lnTo>
                  <a:pt x="0" y="0"/>
                </a:lnTo>
                <a:close/>
              </a:path>
            </a:pathLst>
          </a:custGeom>
        </p:spPr>
      </p:pic>
      <p:sp>
        <p:nvSpPr>
          <p:cNvPr id="19" name="文本框 18">
            <a:extLst>
              <a:ext uri="{FF2B5EF4-FFF2-40B4-BE49-F238E27FC236}">
                <a16:creationId xmlns:a16="http://schemas.microsoft.com/office/drawing/2014/main" id="{0AD7C3E0-C8DB-4C43-A4C5-C2F95E5842C7}"/>
              </a:ext>
            </a:extLst>
          </p:cNvPr>
          <p:cNvSpPr txBox="1"/>
          <p:nvPr/>
        </p:nvSpPr>
        <p:spPr>
          <a:xfrm>
            <a:off x="2465235" y="6334538"/>
            <a:ext cx="2441694" cy="338554"/>
          </a:xfrm>
          <a:prstGeom prst="rect">
            <a:avLst/>
          </a:prstGeom>
          <a:noFill/>
        </p:spPr>
        <p:txBody>
          <a:bodyPr wrap="none" rtlCol="0">
            <a:spAutoFit/>
          </a:bodyPr>
          <a:lstStyle/>
          <a:p>
            <a:r>
              <a:rPr lang="zh-CN" altLang="en-US" sz="1600" dirty="0">
                <a:latin typeface="思源黑体 CN Bold" panose="020B0800000000000000" pitchFamily="34" charset="-122"/>
                <a:ea typeface="思源黑体 CN Bold" panose="020B0800000000000000" pitchFamily="34" charset="-122"/>
              </a:rPr>
              <a:t>研究体系构建与初步验证</a:t>
            </a:r>
          </a:p>
        </p:txBody>
      </p:sp>
      <p:sp>
        <p:nvSpPr>
          <p:cNvPr id="40" name="文本框 39">
            <a:extLst>
              <a:ext uri="{FF2B5EF4-FFF2-40B4-BE49-F238E27FC236}">
                <a16:creationId xmlns:a16="http://schemas.microsoft.com/office/drawing/2014/main" id="{29EB3A72-EC97-419C-8B10-C8330C142090}"/>
              </a:ext>
            </a:extLst>
          </p:cNvPr>
          <p:cNvSpPr txBox="1"/>
          <p:nvPr/>
        </p:nvSpPr>
        <p:spPr>
          <a:xfrm>
            <a:off x="5215288" y="2265415"/>
            <a:ext cx="2031325" cy="338554"/>
          </a:xfrm>
          <a:prstGeom prst="rect">
            <a:avLst/>
          </a:prstGeom>
          <a:noFill/>
        </p:spPr>
        <p:txBody>
          <a:bodyPr wrap="none" rtlCol="0">
            <a:spAutoFit/>
          </a:bodyPr>
          <a:lstStyle/>
          <a:p>
            <a:pPr algn="ctr"/>
            <a:r>
              <a:rPr lang="zh-CN" altLang="en-US" sz="1600" dirty="0">
                <a:latin typeface="思源黑体 CN Bold" panose="020B0800000000000000" pitchFamily="34" charset="-122"/>
                <a:ea typeface="思源黑体 CN Bold" panose="020B0800000000000000" pitchFamily="34" charset="-122"/>
              </a:rPr>
              <a:t>甲基化水平显著升高</a:t>
            </a:r>
          </a:p>
        </p:txBody>
      </p:sp>
      <p:sp>
        <p:nvSpPr>
          <p:cNvPr id="44" name="文本框 43">
            <a:extLst>
              <a:ext uri="{FF2B5EF4-FFF2-40B4-BE49-F238E27FC236}">
                <a16:creationId xmlns:a16="http://schemas.microsoft.com/office/drawing/2014/main" id="{A1B1EC59-65E4-42ED-8A28-47F831B54E71}"/>
              </a:ext>
            </a:extLst>
          </p:cNvPr>
          <p:cNvSpPr txBox="1"/>
          <p:nvPr/>
        </p:nvSpPr>
        <p:spPr>
          <a:xfrm>
            <a:off x="7658392" y="2265415"/>
            <a:ext cx="4166525" cy="338554"/>
          </a:xfrm>
          <a:prstGeom prst="rect">
            <a:avLst/>
          </a:prstGeom>
          <a:noFill/>
        </p:spPr>
        <p:txBody>
          <a:bodyPr wrap="none" rtlCol="0">
            <a:spAutoFit/>
          </a:bodyPr>
          <a:lstStyle/>
          <a:p>
            <a:pPr algn="ctr"/>
            <a:r>
              <a:rPr lang="en-US" altLang="zh-CN" sz="1600" dirty="0">
                <a:latin typeface="思源黑体 CN Bold" panose="020B0800000000000000" pitchFamily="34" charset="-122"/>
                <a:ea typeface="思源黑体 CN Bold" panose="020B0800000000000000" pitchFamily="34" charset="-122"/>
              </a:rPr>
              <a:t>PRMT3</a:t>
            </a:r>
            <a:r>
              <a:rPr lang="zh-CN" altLang="en-US" sz="1600" dirty="0">
                <a:latin typeface="思源黑体 CN Bold" panose="020B0800000000000000" pitchFamily="34" charset="-122"/>
                <a:ea typeface="思源黑体 CN Bold" panose="020B0800000000000000" pitchFamily="34" charset="-122"/>
              </a:rPr>
              <a:t>沉默可逆转肝癌细胞奥沙利铂耐药性</a:t>
            </a:r>
          </a:p>
        </p:txBody>
      </p:sp>
      <p:graphicFrame>
        <p:nvGraphicFramePr>
          <p:cNvPr id="7168" name="图表 7167">
            <a:extLst>
              <a:ext uri="{FF2B5EF4-FFF2-40B4-BE49-F238E27FC236}">
                <a16:creationId xmlns:a16="http://schemas.microsoft.com/office/drawing/2014/main" id="{323772A1-63EB-4A33-BEF8-8A5C91F51EE4}"/>
              </a:ext>
            </a:extLst>
          </p:cNvPr>
          <p:cNvGraphicFramePr/>
          <p:nvPr>
            <p:extLst/>
          </p:nvPr>
        </p:nvGraphicFramePr>
        <p:xfrm>
          <a:off x="5163562" y="2913190"/>
          <a:ext cx="2140689" cy="1651237"/>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60" name="图表 59">
            <a:extLst>
              <a:ext uri="{FF2B5EF4-FFF2-40B4-BE49-F238E27FC236}">
                <a16:creationId xmlns:a16="http://schemas.microsoft.com/office/drawing/2014/main" id="{57512FE3-58F1-4FA7-915A-14D4913FF4B0}"/>
              </a:ext>
            </a:extLst>
          </p:cNvPr>
          <p:cNvGraphicFramePr/>
          <p:nvPr>
            <p:extLst/>
          </p:nvPr>
        </p:nvGraphicFramePr>
        <p:xfrm>
          <a:off x="7600966" y="2913190"/>
          <a:ext cx="2140689" cy="1651237"/>
        </p:xfrm>
        <a:graphic>
          <a:graphicData uri="http://schemas.openxmlformats.org/drawingml/2006/chart">
            <c:chart xmlns:c="http://schemas.openxmlformats.org/drawingml/2006/chart" xmlns:r="http://schemas.openxmlformats.org/officeDocument/2006/relationships" r:id="rId4"/>
          </a:graphicData>
        </a:graphic>
      </p:graphicFrame>
      <p:graphicFrame>
        <p:nvGraphicFramePr>
          <p:cNvPr id="61" name="图表 60">
            <a:extLst>
              <a:ext uri="{FF2B5EF4-FFF2-40B4-BE49-F238E27FC236}">
                <a16:creationId xmlns:a16="http://schemas.microsoft.com/office/drawing/2014/main" id="{D75F35A2-6899-4325-B833-A1669453F901}"/>
              </a:ext>
            </a:extLst>
          </p:cNvPr>
          <p:cNvGraphicFramePr/>
          <p:nvPr>
            <p:extLst/>
          </p:nvPr>
        </p:nvGraphicFramePr>
        <p:xfrm>
          <a:off x="9867870" y="2913190"/>
          <a:ext cx="2140689" cy="1651237"/>
        </p:xfrm>
        <a:graphic>
          <a:graphicData uri="http://schemas.openxmlformats.org/drawingml/2006/chart">
            <c:chart xmlns:c="http://schemas.openxmlformats.org/drawingml/2006/chart" xmlns:r="http://schemas.openxmlformats.org/officeDocument/2006/relationships" r:id="rId5"/>
          </a:graphicData>
        </a:graphic>
      </p:graphicFrame>
      <p:cxnSp>
        <p:nvCxnSpPr>
          <p:cNvPr id="7172" name="直接连接符 7171">
            <a:extLst>
              <a:ext uri="{FF2B5EF4-FFF2-40B4-BE49-F238E27FC236}">
                <a16:creationId xmlns:a16="http://schemas.microsoft.com/office/drawing/2014/main" id="{9F67273D-6153-4F03-8E1A-5627A7EE8083}"/>
              </a:ext>
            </a:extLst>
          </p:cNvPr>
          <p:cNvCxnSpPr>
            <a:cxnSpLocks/>
          </p:cNvCxnSpPr>
          <p:nvPr/>
        </p:nvCxnSpPr>
        <p:spPr>
          <a:xfrm>
            <a:off x="7452608" y="2316480"/>
            <a:ext cx="0" cy="4281170"/>
          </a:xfrm>
          <a:prstGeom prst="line">
            <a:avLst/>
          </a:prstGeom>
          <a:ln w="12700">
            <a:solidFill>
              <a:schemeClr val="accent1"/>
            </a:solidFill>
            <a:prstDash val="dash"/>
          </a:ln>
        </p:spPr>
        <p:style>
          <a:lnRef idx="1">
            <a:schemeClr val="accent1"/>
          </a:lnRef>
          <a:fillRef idx="0">
            <a:schemeClr val="accent1"/>
          </a:fillRef>
          <a:effectRef idx="0">
            <a:schemeClr val="accent1"/>
          </a:effectRef>
          <a:fontRef idx="minor">
            <a:schemeClr val="tx1"/>
          </a:fontRef>
        </p:style>
      </p:cxnSp>
      <p:graphicFrame>
        <p:nvGraphicFramePr>
          <p:cNvPr id="68" name="图表 67">
            <a:extLst>
              <a:ext uri="{FF2B5EF4-FFF2-40B4-BE49-F238E27FC236}">
                <a16:creationId xmlns:a16="http://schemas.microsoft.com/office/drawing/2014/main" id="{C203286F-FC2F-4C80-AAA1-C000E99ADC74}"/>
              </a:ext>
            </a:extLst>
          </p:cNvPr>
          <p:cNvGraphicFramePr/>
          <p:nvPr>
            <p:extLst/>
          </p:nvPr>
        </p:nvGraphicFramePr>
        <p:xfrm>
          <a:off x="5163562" y="4952945"/>
          <a:ext cx="2140689" cy="1651237"/>
        </p:xfrm>
        <a:graphic>
          <a:graphicData uri="http://schemas.openxmlformats.org/drawingml/2006/chart">
            <c:chart xmlns:c="http://schemas.openxmlformats.org/drawingml/2006/chart" xmlns:r="http://schemas.openxmlformats.org/officeDocument/2006/relationships" r:id="rId6"/>
          </a:graphicData>
        </a:graphic>
      </p:graphicFrame>
      <p:graphicFrame>
        <p:nvGraphicFramePr>
          <p:cNvPr id="69" name="图表 68">
            <a:extLst>
              <a:ext uri="{FF2B5EF4-FFF2-40B4-BE49-F238E27FC236}">
                <a16:creationId xmlns:a16="http://schemas.microsoft.com/office/drawing/2014/main" id="{4AD04F68-638E-4FFB-AF33-675D731CF6DB}"/>
              </a:ext>
            </a:extLst>
          </p:cNvPr>
          <p:cNvGraphicFramePr/>
          <p:nvPr>
            <p:extLst/>
          </p:nvPr>
        </p:nvGraphicFramePr>
        <p:xfrm>
          <a:off x="7600966" y="4952945"/>
          <a:ext cx="2140689" cy="1651237"/>
        </p:xfrm>
        <a:graphic>
          <a:graphicData uri="http://schemas.openxmlformats.org/drawingml/2006/chart">
            <c:chart xmlns:c="http://schemas.openxmlformats.org/drawingml/2006/chart" xmlns:r="http://schemas.openxmlformats.org/officeDocument/2006/relationships" r:id="rId7"/>
          </a:graphicData>
        </a:graphic>
      </p:graphicFrame>
      <p:graphicFrame>
        <p:nvGraphicFramePr>
          <p:cNvPr id="70" name="图表 69">
            <a:extLst>
              <a:ext uri="{FF2B5EF4-FFF2-40B4-BE49-F238E27FC236}">
                <a16:creationId xmlns:a16="http://schemas.microsoft.com/office/drawing/2014/main" id="{F9A0FAAC-7C7D-466F-84FB-2AF9FA761BB4}"/>
              </a:ext>
            </a:extLst>
          </p:cNvPr>
          <p:cNvGraphicFramePr/>
          <p:nvPr>
            <p:extLst/>
          </p:nvPr>
        </p:nvGraphicFramePr>
        <p:xfrm>
          <a:off x="9867870" y="4952945"/>
          <a:ext cx="2140689" cy="1651237"/>
        </p:xfrm>
        <a:graphic>
          <a:graphicData uri="http://schemas.openxmlformats.org/drawingml/2006/chart">
            <c:chart xmlns:c="http://schemas.openxmlformats.org/drawingml/2006/chart" xmlns:r="http://schemas.openxmlformats.org/officeDocument/2006/relationships" r:id="rId8"/>
          </a:graphicData>
        </a:graphic>
      </p:graphicFrame>
      <p:sp>
        <p:nvSpPr>
          <p:cNvPr id="125" name="文本框 124">
            <a:extLst>
              <a:ext uri="{FF2B5EF4-FFF2-40B4-BE49-F238E27FC236}">
                <a16:creationId xmlns:a16="http://schemas.microsoft.com/office/drawing/2014/main" id="{BB0D138B-2924-408E-BE89-60C8B097CD7C}"/>
              </a:ext>
            </a:extLst>
          </p:cNvPr>
          <p:cNvSpPr txBox="1"/>
          <p:nvPr/>
        </p:nvSpPr>
        <p:spPr>
          <a:xfrm>
            <a:off x="2209656" y="248670"/>
            <a:ext cx="1947969" cy="461665"/>
          </a:xfrm>
          <a:prstGeom prst="rect">
            <a:avLst/>
          </a:prstGeom>
          <a:noFill/>
        </p:spPr>
        <p:txBody>
          <a:bodyPr wrap="none" rtlCol="0">
            <a:spAutoFit/>
          </a:bodyPr>
          <a:lstStyle/>
          <a:p>
            <a:r>
              <a:rPr lang="en-US" altLang="zh-CN" sz="2400" dirty="0">
                <a:solidFill>
                  <a:schemeClr val="accent1"/>
                </a:solidFill>
                <a:latin typeface="思源黑体 CN Bold" panose="020B0800000000000000" pitchFamily="34" charset="-122"/>
                <a:ea typeface="思源黑体 CN Bold" panose="020B0800000000000000" pitchFamily="34" charset="-122"/>
              </a:rPr>
              <a:t>5.1 </a:t>
            </a:r>
            <a:r>
              <a:rPr lang="zh-CN" altLang="en-US" sz="2400" dirty="0">
                <a:solidFill>
                  <a:schemeClr val="accent1"/>
                </a:solidFill>
                <a:latin typeface="思源黑体 CN Bold" panose="020B0800000000000000" pitchFamily="34" charset="-122"/>
                <a:ea typeface="思源黑体 CN Bold" panose="020B0800000000000000" pitchFamily="34" charset="-122"/>
              </a:rPr>
              <a:t>初步明确</a:t>
            </a:r>
          </a:p>
        </p:txBody>
      </p:sp>
      <p:sp>
        <p:nvSpPr>
          <p:cNvPr id="126" name="文本框 125">
            <a:extLst>
              <a:ext uri="{FF2B5EF4-FFF2-40B4-BE49-F238E27FC236}">
                <a16:creationId xmlns:a16="http://schemas.microsoft.com/office/drawing/2014/main" id="{33B2C15C-CD6F-436C-B942-90E90DD54040}"/>
              </a:ext>
            </a:extLst>
          </p:cNvPr>
          <p:cNvSpPr txBox="1"/>
          <p:nvPr/>
        </p:nvSpPr>
        <p:spPr>
          <a:xfrm>
            <a:off x="373082" y="2098899"/>
            <a:ext cx="1660612" cy="338554"/>
          </a:xfrm>
          <a:prstGeom prst="rect">
            <a:avLst/>
          </a:prstGeom>
          <a:noFill/>
        </p:spPr>
        <p:txBody>
          <a:bodyPr wrap="square" rtlCol="0">
            <a:spAutoFit/>
          </a:bodyPr>
          <a:lstStyle/>
          <a:p>
            <a:r>
              <a:rPr lang="zh-CN" altLang="en-US" sz="1600" dirty="0">
                <a:solidFill>
                  <a:schemeClr val="bg1"/>
                </a:solidFill>
                <a:latin typeface="思源黑体 CN Regular" panose="020B0500000000000000" pitchFamily="34" charset="-122"/>
                <a:ea typeface="思源黑体 CN Regular" panose="020B0500000000000000" pitchFamily="34" charset="-122"/>
              </a:rPr>
              <a:t>研究背景及现状</a:t>
            </a:r>
          </a:p>
        </p:txBody>
      </p:sp>
      <p:sp>
        <p:nvSpPr>
          <p:cNvPr id="127" name="任意矩形：001">
            <a:extLst>
              <a:ext uri="{FF2B5EF4-FFF2-40B4-BE49-F238E27FC236}">
                <a16:creationId xmlns:a16="http://schemas.microsoft.com/office/drawing/2014/main" id="{8B63503F-5F6B-465B-9338-121F7A38B1BC}"/>
              </a:ext>
            </a:extLst>
          </p:cNvPr>
          <p:cNvSpPr/>
          <p:nvPr/>
        </p:nvSpPr>
        <p:spPr>
          <a:xfrm>
            <a:off x="131492" y="2145245"/>
            <a:ext cx="226722" cy="202893"/>
          </a:xfrm>
          <a:custGeom>
            <a:avLst/>
            <a:gdLst>
              <a:gd name="connsiteX0" fmla="*/ 79591 w 607005"/>
              <a:gd name="connsiteY0" fmla="*/ 373864 h 543210"/>
              <a:gd name="connsiteX1" fmla="*/ 33701 w 607005"/>
              <a:gd name="connsiteY1" fmla="*/ 461494 h 543210"/>
              <a:gd name="connsiteX2" fmla="*/ 79501 w 607005"/>
              <a:gd name="connsiteY2" fmla="*/ 507233 h 543210"/>
              <a:gd name="connsiteX3" fmla="*/ 125392 w 607005"/>
              <a:gd name="connsiteY3" fmla="*/ 461494 h 543210"/>
              <a:gd name="connsiteX4" fmla="*/ 79591 w 607005"/>
              <a:gd name="connsiteY4" fmla="*/ 373864 h 543210"/>
              <a:gd name="connsiteX5" fmla="*/ 79501 w 607005"/>
              <a:gd name="connsiteY5" fmla="*/ 328661 h 543210"/>
              <a:gd name="connsiteX6" fmla="*/ 92856 w 607005"/>
              <a:gd name="connsiteY6" fmla="*/ 335106 h 543210"/>
              <a:gd name="connsiteX7" fmla="*/ 158913 w 607005"/>
              <a:gd name="connsiteY7" fmla="*/ 461404 h 543210"/>
              <a:gd name="connsiteX8" fmla="*/ 79501 w 607005"/>
              <a:gd name="connsiteY8" fmla="*/ 540710 h 543210"/>
              <a:gd name="connsiteX9" fmla="*/ 0 w 607005"/>
              <a:gd name="connsiteY9" fmla="*/ 461404 h 543210"/>
              <a:gd name="connsiteX10" fmla="*/ 66236 w 607005"/>
              <a:gd name="connsiteY10" fmla="*/ 335195 h 543210"/>
              <a:gd name="connsiteX11" fmla="*/ 79501 w 607005"/>
              <a:gd name="connsiteY11" fmla="*/ 328661 h 543210"/>
              <a:gd name="connsiteX12" fmla="*/ 196548 w 607005"/>
              <a:gd name="connsiteY12" fmla="*/ 281688 h 543210"/>
              <a:gd name="connsiteX13" fmla="*/ 391755 w 607005"/>
              <a:gd name="connsiteY13" fmla="*/ 476431 h 543210"/>
              <a:gd name="connsiteX14" fmla="*/ 540265 w 607005"/>
              <a:gd name="connsiteY14" fmla="*/ 476431 h 543210"/>
              <a:gd name="connsiteX15" fmla="*/ 540265 w 607005"/>
              <a:gd name="connsiteY15" fmla="*/ 328047 h 543210"/>
              <a:gd name="connsiteX16" fmla="*/ 493749 w 607005"/>
              <a:gd name="connsiteY16" fmla="*/ 281688 h 543210"/>
              <a:gd name="connsiteX17" fmla="*/ 261707 w 607005"/>
              <a:gd name="connsiteY17" fmla="*/ 49894 h 543210"/>
              <a:gd name="connsiteX18" fmla="*/ 113017 w 607005"/>
              <a:gd name="connsiteY18" fmla="*/ 198278 h 543210"/>
              <a:gd name="connsiteX19" fmla="*/ 163028 w 607005"/>
              <a:gd name="connsiteY19" fmla="*/ 248127 h 543210"/>
              <a:gd name="connsiteX20" fmla="*/ 460229 w 607005"/>
              <a:gd name="connsiteY20" fmla="*/ 248127 h 543210"/>
              <a:gd name="connsiteX21" fmla="*/ 271073 w 607005"/>
              <a:gd name="connsiteY21" fmla="*/ 0 h 543210"/>
              <a:gd name="connsiteX22" fmla="*/ 282948 w 607005"/>
              <a:gd name="connsiteY22" fmla="*/ 4967 h 543210"/>
              <a:gd name="connsiteX23" fmla="*/ 285099 w 607005"/>
              <a:gd name="connsiteY23" fmla="*/ 25909 h 543210"/>
              <a:gd name="connsiteX24" fmla="*/ 563927 w 607005"/>
              <a:gd name="connsiteY24" fmla="*/ 304331 h 543210"/>
              <a:gd name="connsiteX25" fmla="*/ 563927 w 607005"/>
              <a:gd name="connsiteY25" fmla="*/ 500148 h 543210"/>
              <a:gd name="connsiteX26" fmla="*/ 367824 w 607005"/>
              <a:gd name="connsiteY26" fmla="*/ 500148 h 543210"/>
              <a:gd name="connsiteX27" fmla="*/ 88997 w 607005"/>
              <a:gd name="connsiteY27" fmla="*/ 221726 h 543210"/>
              <a:gd name="connsiteX28" fmla="*/ 68024 w 607005"/>
              <a:gd name="connsiteY28" fmla="*/ 219578 h 543210"/>
              <a:gd name="connsiteX29" fmla="*/ 68024 w 607005"/>
              <a:gd name="connsiteY29" fmla="*/ 195862 h 543210"/>
              <a:gd name="connsiteX30" fmla="*/ 259197 w 607005"/>
              <a:gd name="connsiteY30" fmla="*/ 4967 h 543210"/>
              <a:gd name="connsiteX31" fmla="*/ 271073 w 607005"/>
              <a:gd name="connsiteY31" fmla="*/ 0 h 5432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607005" h="543210">
                <a:moveTo>
                  <a:pt x="79591" y="373864"/>
                </a:moveTo>
                <a:cubicBezTo>
                  <a:pt x="57452" y="405192"/>
                  <a:pt x="33701" y="445024"/>
                  <a:pt x="33701" y="461494"/>
                </a:cubicBezTo>
                <a:cubicBezTo>
                  <a:pt x="33701" y="486646"/>
                  <a:pt x="54226" y="507233"/>
                  <a:pt x="79501" y="507233"/>
                </a:cubicBezTo>
                <a:cubicBezTo>
                  <a:pt x="104687" y="507233"/>
                  <a:pt x="125212" y="486646"/>
                  <a:pt x="125392" y="461494"/>
                </a:cubicBezTo>
                <a:cubicBezTo>
                  <a:pt x="125392" y="445024"/>
                  <a:pt x="101729" y="405282"/>
                  <a:pt x="79591" y="373864"/>
                </a:cubicBezTo>
                <a:close/>
                <a:moveTo>
                  <a:pt x="79501" y="328661"/>
                </a:moveTo>
                <a:cubicBezTo>
                  <a:pt x="84610" y="328661"/>
                  <a:pt x="89540" y="331078"/>
                  <a:pt x="92856" y="335106"/>
                </a:cubicBezTo>
                <a:cubicBezTo>
                  <a:pt x="103881" y="349517"/>
                  <a:pt x="158913" y="423094"/>
                  <a:pt x="158913" y="461404"/>
                </a:cubicBezTo>
                <a:cubicBezTo>
                  <a:pt x="158913" y="505175"/>
                  <a:pt x="123240" y="540710"/>
                  <a:pt x="79501" y="540710"/>
                </a:cubicBezTo>
                <a:cubicBezTo>
                  <a:pt x="35583" y="540710"/>
                  <a:pt x="0" y="505085"/>
                  <a:pt x="0" y="461404"/>
                </a:cubicBezTo>
                <a:cubicBezTo>
                  <a:pt x="0" y="423094"/>
                  <a:pt x="55122" y="349517"/>
                  <a:pt x="66236" y="335195"/>
                </a:cubicBezTo>
                <a:cubicBezTo>
                  <a:pt x="69284" y="331078"/>
                  <a:pt x="74213" y="328661"/>
                  <a:pt x="79501" y="328661"/>
                </a:cubicBezTo>
                <a:close/>
                <a:moveTo>
                  <a:pt x="196548" y="281688"/>
                </a:moveTo>
                <a:lnTo>
                  <a:pt x="391755" y="476431"/>
                </a:lnTo>
                <a:cubicBezTo>
                  <a:pt x="420525" y="505249"/>
                  <a:pt x="488999" y="527623"/>
                  <a:pt x="540265" y="476431"/>
                </a:cubicBezTo>
                <a:cubicBezTo>
                  <a:pt x="592249" y="424524"/>
                  <a:pt x="570290" y="358028"/>
                  <a:pt x="540265" y="328047"/>
                </a:cubicBezTo>
                <a:lnTo>
                  <a:pt x="493749" y="281688"/>
                </a:lnTo>
                <a:close/>
                <a:moveTo>
                  <a:pt x="261707" y="49894"/>
                </a:moveTo>
                <a:lnTo>
                  <a:pt x="113017" y="198278"/>
                </a:lnTo>
                <a:lnTo>
                  <a:pt x="163028" y="248127"/>
                </a:lnTo>
                <a:lnTo>
                  <a:pt x="460229" y="248127"/>
                </a:lnTo>
                <a:close/>
                <a:moveTo>
                  <a:pt x="271073" y="0"/>
                </a:moveTo>
                <a:cubicBezTo>
                  <a:pt x="275375" y="0"/>
                  <a:pt x="279677" y="1655"/>
                  <a:pt x="282948" y="4967"/>
                </a:cubicBezTo>
                <a:cubicBezTo>
                  <a:pt x="288595" y="10694"/>
                  <a:pt x="289312" y="19465"/>
                  <a:pt x="285099" y="25909"/>
                </a:cubicBezTo>
                <a:lnTo>
                  <a:pt x="563927" y="304331"/>
                </a:lnTo>
                <a:cubicBezTo>
                  <a:pt x="604528" y="344872"/>
                  <a:pt x="636076" y="428104"/>
                  <a:pt x="563927" y="500148"/>
                </a:cubicBezTo>
                <a:cubicBezTo>
                  <a:pt x="492495" y="571476"/>
                  <a:pt x="409501" y="541763"/>
                  <a:pt x="367824" y="500148"/>
                </a:cubicBezTo>
                <a:lnTo>
                  <a:pt x="88997" y="221726"/>
                </a:lnTo>
                <a:cubicBezTo>
                  <a:pt x="81468" y="226380"/>
                  <a:pt x="73850" y="225485"/>
                  <a:pt x="68024" y="219578"/>
                </a:cubicBezTo>
                <a:cubicBezTo>
                  <a:pt x="61392" y="213045"/>
                  <a:pt x="61392" y="202395"/>
                  <a:pt x="68024" y="195862"/>
                </a:cubicBezTo>
                <a:lnTo>
                  <a:pt x="259197" y="4967"/>
                </a:lnTo>
                <a:cubicBezTo>
                  <a:pt x="262469" y="1655"/>
                  <a:pt x="266771" y="0"/>
                  <a:pt x="271073"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8" name="任意矩形：002">
            <a:extLst>
              <a:ext uri="{FF2B5EF4-FFF2-40B4-BE49-F238E27FC236}">
                <a16:creationId xmlns:a16="http://schemas.microsoft.com/office/drawing/2014/main" id="{1117E88F-5C88-4CD3-8604-A596276E702C}"/>
              </a:ext>
            </a:extLst>
          </p:cNvPr>
          <p:cNvSpPr/>
          <p:nvPr/>
        </p:nvSpPr>
        <p:spPr>
          <a:xfrm>
            <a:off x="143798" y="2860995"/>
            <a:ext cx="202111" cy="201828"/>
          </a:xfrm>
          <a:custGeom>
            <a:avLst/>
            <a:gdLst>
              <a:gd name="connsiteX0" fmla="*/ 303643 w 607215"/>
              <a:gd name="connsiteY0" fmla="*/ 280873 h 606369"/>
              <a:gd name="connsiteX1" fmla="*/ 325219 w 607215"/>
              <a:gd name="connsiteY1" fmla="*/ 302335 h 606369"/>
              <a:gd name="connsiteX2" fmla="*/ 303643 w 607215"/>
              <a:gd name="connsiteY2" fmla="*/ 323873 h 606369"/>
              <a:gd name="connsiteX3" fmla="*/ 282068 w 607215"/>
              <a:gd name="connsiteY3" fmla="*/ 302335 h 606369"/>
              <a:gd name="connsiteX4" fmla="*/ 303643 w 607215"/>
              <a:gd name="connsiteY4" fmla="*/ 280873 h 606369"/>
              <a:gd name="connsiteX5" fmla="*/ 303678 w 607215"/>
              <a:gd name="connsiteY5" fmla="*/ 280357 h 606369"/>
              <a:gd name="connsiteX6" fmla="*/ 281626 w 607215"/>
              <a:gd name="connsiteY6" fmla="*/ 302374 h 606369"/>
              <a:gd name="connsiteX7" fmla="*/ 303678 w 607215"/>
              <a:gd name="connsiteY7" fmla="*/ 324391 h 606369"/>
              <a:gd name="connsiteX8" fmla="*/ 325730 w 607215"/>
              <a:gd name="connsiteY8" fmla="*/ 302374 h 606369"/>
              <a:gd name="connsiteX9" fmla="*/ 303678 w 607215"/>
              <a:gd name="connsiteY9" fmla="*/ 280357 h 606369"/>
              <a:gd name="connsiteX10" fmla="*/ 303643 w 607215"/>
              <a:gd name="connsiteY10" fmla="*/ 279792 h 606369"/>
              <a:gd name="connsiteX11" fmla="*/ 326224 w 607215"/>
              <a:gd name="connsiteY11" fmla="*/ 302335 h 606369"/>
              <a:gd name="connsiteX12" fmla="*/ 303643 w 607215"/>
              <a:gd name="connsiteY12" fmla="*/ 324954 h 606369"/>
              <a:gd name="connsiteX13" fmla="*/ 281062 w 607215"/>
              <a:gd name="connsiteY13" fmla="*/ 302335 h 606369"/>
              <a:gd name="connsiteX14" fmla="*/ 303643 w 607215"/>
              <a:gd name="connsiteY14" fmla="*/ 279792 h 606369"/>
              <a:gd name="connsiteX15" fmla="*/ 281043 w 607215"/>
              <a:gd name="connsiteY15" fmla="*/ 46068 h 606369"/>
              <a:gd name="connsiteX16" fmla="*/ 120855 w 607215"/>
              <a:gd name="connsiteY16" fmla="*/ 120687 h 606369"/>
              <a:gd name="connsiteX17" fmla="*/ 46132 w 607215"/>
              <a:gd name="connsiteY17" fmla="*/ 280652 h 606369"/>
              <a:gd name="connsiteX18" fmla="*/ 147128 w 607215"/>
              <a:gd name="connsiteY18" fmla="*/ 280652 h 606369"/>
              <a:gd name="connsiteX19" fmla="*/ 169770 w 607215"/>
              <a:gd name="connsiteY19" fmla="*/ 303185 h 606369"/>
              <a:gd name="connsiteX20" fmla="*/ 147128 w 607215"/>
              <a:gd name="connsiteY20" fmla="*/ 325717 h 606369"/>
              <a:gd name="connsiteX21" fmla="*/ 46132 w 607215"/>
              <a:gd name="connsiteY21" fmla="*/ 325717 h 606369"/>
              <a:gd name="connsiteX22" fmla="*/ 120855 w 607215"/>
              <a:gd name="connsiteY22" fmla="*/ 485682 h 606369"/>
              <a:gd name="connsiteX23" fmla="*/ 281043 w 607215"/>
              <a:gd name="connsiteY23" fmla="*/ 560301 h 606369"/>
              <a:gd name="connsiteX24" fmla="*/ 281043 w 607215"/>
              <a:gd name="connsiteY24" fmla="*/ 459446 h 606369"/>
              <a:gd name="connsiteX25" fmla="*/ 303608 w 607215"/>
              <a:gd name="connsiteY25" fmla="*/ 436913 h 606369"/>
              <a:gd name="connsiteX26" fmla="*/ 326172 w 607215"/>
              <a:gd name="connsiteY26" fmla="*/ 459446 h 606369"/>
              <a:gd name="connsiteX27" fmla="*/ 326172 w 607215"/>
              <a:gd name="connsiteY27" fmla="*/ 560301 h 606369"/>
              <a:gd name="connsiteX28" fmla="*/ 486360 w 607215"/>
              <a:gd name="connsiteY28" fmla="*/ 485682 h 606369"/>
              <a:gd name="connsiteX29" fmla="*/ 561083 w 607215"/>
              <a:gd name="connsiteY29" fmla="*/ 325717 h 606369"/>
              <a:gd name="connsiteX30" fmla="*/ 460087 w 607215"/>
              <a:gd name="connsiteY30" fmla="*/ 325717 h 606369"/>
              <a:gd name="connsiteX31" fmla="*/ 437523 w 607215"/>
              <a:gd name="connsiteY31" fmla="*/ 303185 h 606369"/>
              <a:gd name="connsiteX32" fmla="*/ 460087 w 607215"/>
              <a:gd name="connsiteY32" fmla="*/ 280652 h 606369"/>
              <a:gd name="connsiteX33" fmla="*/ 561083 w 607215"/>
              <a:gd name="connsiteY33" fmla="*/ 280652 h 606369"/>
              <a:gd name="connsiteX34" fmla="*/ 486360 w 607215"/>
              <a:gd name="connsiteY34" fmla="*/ 120687 h 606369"/>
              <a:gd name="connsiteX35" fmla="*/ 326172 w 607215"/>
              <a:gd name="connsiteY35" fmla="*/ 46068 h 606369"/>
              <a:gd name="connsiteX36" fmla="*/ 326172 w 607215"/>
              <a:gd name="connsiteY36" fmla="*/ 146923 h 606369"/>
              <a:gd name="connsiteX37" fmla="*/ 303608 w 607215"/>
              <a:gd name="connsiteY37" fmla="*/ 169533 h 606369"/>
              <a:gd name="connsiteX38" fmla="*/ 281043 w 607215"/>
              <a:gd name="connsiteY38" fmla="*/ 146923 h 606369"/>
              <a:gd name="connsiteX39" fmla="*/ 281617 w 607215"/>
              <a:gd name="connsiteY39" fmla="*/ 45548 h 606369"/>
              <a:gd name="connsiteX40" fmla="*/ 281617 w 607215"/>
              <a:gd name="connsiteY40" fmla="*/ 146935 h 606369"/>
              <a:gd name="connsiteX41" fmla="*/ 303640 w 607215"/>
              <a:gd name="connsiteY41" fmla="*/ 169002 h 606369"/>
              <a:gd name="connsiteX42" fmla="*/ 325741 w 607215"/>
              <a:gd name="connsiteY42" fmla="*/ 146935 h 606369"/>
              <a:gd name="connsiteX43" fmla="*/ 325741 w 607215"/>
              <a:gd name="connsiteY43" fmla="*/ 45548 h 606369"/>
              <a:gd name="connsiteX44" fmla="*/ 561663 w 607215"/>
              <a:gd name="connsiteY44" fmla="*/ 281192 h 606369"/>
              <a:gd name="connsiteX45" fmla="*/ 460123 w 607215"/>
              <a:gd name="connsiteY45" fmla="*/ 281192 h 606369"/>
              <a:gd name="connsiteX46" fmla="*/ 438022 w 607215"/>
              <a:gd name="connsiteY46" fmla="*/ 303182 h 606369"/>
              <a:gd name="connsiteX47" fmla="*/ 460123 w 607215"/>
              <a:gd name="connsiteY47" fmla="*/ 325250 h 606369"/>
              <a:gd name="connsiteX48" fmla="*/ 561663 w 607215"/>
              <a:gd name="connsiteY48" fmla="*/ 325250 h 606369"/>
              <a:gd name="connsiteX49" fmla="*/ 325741 w 607215"/>
              <a:gd name="connsiteY49" fmla="*/ 560815 h 606369"/>
              <a:gd name="connsiteX50" fmla="*/ 325741 w 607215"/>
              <a:gd name="connsiteY50" fmla="*/ 459429 h 606369"/>
              <a:gd name="connsiteX51" fmla="*/ 303640 w 607215"/>
              <a:gd name="connsiteY51" fmla="*/ 437361 h 606369"/>
              <a:gd name="connsiteX52" fmla="*/ 281617 w 607215"/>
              <a:gd name="connsiteY52" fmla="*/ 459429 h 606369"/>
              <a:gd name="connsiteX53" fmla="*/ 281617 w 607215"/>
              <a:gd name="connsiteY53" fmla="*/ 560815 h 606369"/>
              <a:gd name="connsiteX54" fmla="*/ 45616 w 607215"/>
              <a:gd name="connsiteY54" fmla="*/ 325250 h 606369"/>
              <a:gd name="connsiteX55" fmla="*/ 147157 w 607215"/>
              <a:gd name="connsiteY55" fmla="*/ 325250 h 606369"/>
              <a:gd name="connsiteX56" fmla="*/ 169257 w 607215"/>
              <a:gd name="connsiteY56" fmla="*/ 303182 h 606369"/>
              <a:gd name="connsiteX57" fmla="*/ 147157 w 607215"/>
              <a:gd name="connsiteY57" fmla="*/ 281192 h 606369"/>
              <a:gd name="connsiteX58" fmla="*/ 45616 w 607215"/>
              <a:gd name="connsiteY58" fmla="*/ 281192 h 606369"/>
              <a:gd name="connsiteX59" fmla="*/ 281617 w 607215"/>
              <a:gd name="connsiteY59" fmla="*/ 45548 h 606369"/>
              <a:gd name="connsiteX60" fmla="*/ 281508 w 607215"/>
              <a:gd name="connsiteY60" fmla="*/ 44987 h 606369"/>
              <a:gd name="connsiteX61" fmla="*/ 120160 w 607215"/>
              <a:gd name="connsiteY61" fmla="*/ 119993 h 606369"/>
              <a:gd name="connsiteX62" fmla="*/ 45050 w 607215"/>
              <a:gd name="connsiteY62" fmla="*/ 281115 h 606369"/>
              <a:gd name="connsiteX63" fmla="*/ 45050 w 607215"/>
              <a:gd name="connsiteY63" fmla="*/ 281655 h 606369"/>
              <a:gd name="connsiteX64" fmla="*/ 147128 w 607215"/>
              <a:gd name="connsiteY64" fmla="*/ 281655 h 606369"/>
              <a:gd name="connsiteX65" fmla="*/ 168688 w 607215"/>
              <a:gd name="connsiteY65" fmla="*/ 303185 h 606369"/>
              <a:gd name="connsiteX66" fmla="*/ 147128 w 607215"/>
              <a:gd name="connsiteY66" fmla="*/ 324714 h 606369"/>
              <a:gd name="connsiteX67" fmla="*/ 45050 w 607215"/>
              <a:gd name="connsiteY67" fmla="*/ 324714 h 606369"/>
              <a:gd name="connsiteX68" fmla="*/ 45050 w 607215"/>
              <a:gd name="connsiteY68" fmla="*/ 325254 h 606369"/>
              <a:gd name="connsiteX69" fmla="*/ 120160 w 607215"/>
              <a:gd name="connsiteY69" fmla="*/ 486454 h 606369"/>
              <a:gd name="connsiteX70" fmla="*/ 281508 w 607215"/>
              <a:gd name="connsiteY70" fmla="*/ 561382 h 606369"/>
              <a:gd name="connsiteX71" fmla="*/ 282048 w 607215"/>
              <a:gd name="connsiteY71" fmla="*/ 561459 h 606369"/>
              <a:gd name="connsiteX72" fmla="*/ 282048 w 607215"/>
              <a:gd name="connsiteY72" fmla="*/ 459446 h 606369"/>
              <a:gd name="connsiteX73" fmla="*/ 303608 w 607215"/>
              <a:gd name="connsiteY73" fmla="*/ 437916 h 606369"/>
              <a:gd name="connsiteX74" fmla="*/ 325167 w 607215"/>
              <a:gd name="connsiteY74" fmla="*/ 459446 h 606369"/>
              <a:gd name="connsiteX75" fmla="*/ 325167 w 607215"/>
              <a:gd name="connsiteY75" fmla="*/ 561459 h 606369"/>
              <a:gd name="connsiteX76" fmla="*/ 325708 w 607215"/>
              <a:gd name="connsiteY76" fmla="*/ 561382 h 606369"/>
              <a:gd name="connsiteX77" fmla="*/ 487132 w 607215"/>
              <a:gd name="connsiteY77" fmla="*/ 486454 h 606369"/>
              <a:gd name="connsiteX78" fmla="*/ 562165 w 607215"/>
              <a:gd name="connsiteY78" fmla="*/ 325254 h 606369"/>
              <a:gd name="connsiteX79" fmla="*/ 562242 w 607215"/>
              <a:gd name="connsiteY79" fmla="*/ 324714 h 606369"/>
              <a:gd name="connsiteX80" fmla="*/ 460087 w 607215"/>
              <a:gd name="connsiteY80" fmla="*/ 324714 h 606369"/>
              <a:gd name="connsiteX81" fmla="*/ 438527 w 607215"/>
              <a:gd name="connsiteY81" fmla="*/ 303185 h 606369"/>
              <a:gd name="connsiteX82" fmla="*/ 460087 w 607215"/>
              <a:gd name="connsiteY82" fmla="*/ 281655 h 606369"/>
              <a:gd name="connsiteX83" fmla="*/ 562242 w 607215"/>
              <a:gd name="connsiteY83" fmla="*/ 281655 h 606369"/>
              <a:gd name="connsiteX84" fmla="*/ 562165 w 607215"/>
              <a:gd name="connsiteY84" fmla="*/ 281115 h 606369"/>
              <a:gd name="connsiteX85" fmla="*/ 487132 w 607215"/>
              <a:gd name="connsiteY85" fmla="*/ 119993 h 606369"/>
              <a:gd name="connsiteX86" fmla="*/ 325708 w 607215"/>
              <a:gd name="connsiteY86" fmla="*/ 44987 h 606369"/>
              <a:gd name="connsiteX87" fmla="*/ 325167 w 607215"/>
              <a:gd name="connsiteY87" fmla="*/ 44987 h 606369"/>
              <a:gd name="connsiteX88" fmla="*/ 325167 w 607215"/>
              <a:gd name="connsiteY88" fmla="*/ 146923 h 606369"/>
              <a:gd name="connsiteX89" fmla="*/ 303608 w 607215"/>
              <a:gd name="connsiteY89" fmla="*/ 168453 h 606369"/>
              <a:gd name="connsiteX90" fmla="*/ 282048 w 607215"/>
              <a:gd name="connsiteY90" fmla="*/ 146923 h 606369"/>
              <a:gd name="connsiteX91" fmla="*/ 282048 w 607215"/>
              <a:gd name="connsiteY91" fmla="*/ 44987 h 606369"/>
              <a:gd name="connsiteX92" fmla="*/ 303608 w 607215"/>
              <a:gd name="connsiteY92" fmla="*/ 1003 h 606369"/>
              <a:gd name="connsiteX93" fmla="*/ 421450 w 607215"/>
              <a:gd name="connsiteY93" fmla="*/ 24770 h 606369"/>
              <a:gd name="connsiteX94" fmla="*/ 517578 w 607215"/>
              <a:gd name="connsiteY94" fmla="*/ 89512 h 606369"/>
              <a:gd name="connsiteX95" fmla="*/ 582410 w 607215"/>
              <a:gd name="connsiteY95" fmla="*/ 185584 h 606369"/>
              <a:gd name="connsiteX96" fmla="*/ 606211 w 607215"/>
              <a:gd name="connsiteY96" fmla="*/ 303185 h 606369"/>
              <a:gd name="connsiteX97" fmla="*/ 582410 w 607215"/>
              <a:gd name="connsiteY97" fmla="*/ 420863 h 606369"/>
              <a:gd name="connsiteX98" fmla="*/ 517578 w 607215"/>
              <a:gd name="connsiteY98" fmla="*/ 516857 h 606369"/>
              <a:gd name="connsiteX99" fmla="*/ 421450 w 607215"/>
              <a:gd name="connsiteY99" fmla="*/ 581599 h 606369"/>
              <a:gd name="connsiteX100" fmla="*/ 303608 w 607215"/>
              <a:gd name="connsiteY100" fmla="*/ 605366 h 606369"/>
              <a:gd name="connsiteX101" fmla="*/ 185842 w 607215"/>
              <a:gd name="connsiteY101" fmla="*/ 581599 h 606369"/>
              <a:gd name="connsiteX102" fmla="*/ 89637 w 607215"/>
              <a:gd name="connsiteY102" fmla="*/ 516857 h 606369"/>
              <a:gd name="connsiteX103" fmla="*/ 24805 w 607215"/>
              <a:gd name="connsiteY103" fmla="*/ 420863 h 606369"/>
              <a:gd name="connsiteX104" fmla="*/ 1004 w 607215"/>
              <a:gd name="connsiteY104" fmla="*/ 303185 h 606369"/>
              <a:gd name="connsiteX105" fmla="*/ 24805 w 607215"/>
              <a:gd name="connsiteY105" fmla="*/ 185584 h 606369"/>
              <a:gd name="connsiteX106" fmla="*/ 89637 w 607215"/>
              <a:gd name="connsiteY106" fmla="*/ 89512 h 606369"/>
              <a:gd name="connsiteX107" fmla="*/ 185842 w 607215"/>
              <a:gd name="connsiteY107" fmla="*/ 24770 h 606369"/>
              <a:gd name="connsiteX108" fmla="*/ 303608 w 607215"/>
              <a:gd name="connsiteY108" fmla="*/ 1003 h 606369"/>
              <a:gd name="connsiteX109" fmla="*/ 303640 w 607215"/>
              <a:gd name="connsiteY109" fmla="*/ 565 h 606369"/>
              <a:gd name="connsiteX110" fmla="*/ 185640 w 607215"/>
              <a:gd name="connsiteY110" fmla="*/ 24330 h 606369"/>
              <a:gd name="connsiteX111" fmla="*/ 89354 w 607215"/>
              <a:gd name="connsiteY111" fmla="*/ 89220 h 606369"/>
              <a:gd name="connsiteX112" fmla="*/ 24366 w 607215"/>
              <a:gd name="connsiteY112" fmla="*/ 185360 h 606369"/>
              <a:gd name="connsiteX113" fmla="*/ 565 w 607215"/>
              <a:gd name="connsiteY113" fmla="*/ 303182 h 606369"/>
              <a:gd name="connsiteX114" fmla="*/ 24366 w 607215"/>
              <a:gd name="connsiteY114" fmla="*/ 421004 h 606369"/>
              <a:gd name="connsiteX115" fmla="*/ 89354 w 607215"/>
              <a:gd name="connsiteY115" fmla="*/ 517221 h 606369"/>
              <a:gd name="connsiteX116" fmla="*/ 185640 w 607215"/>
              <a:gd name="connsiteY116" fmla="*/ 582034 h 606369"/>
              <a:gd name="connsiteX117" fmla="*/ 303640 w 607215"/>
              <a:gd name="connsiteY117" fmla="*/ 605876 h 606369"/>
              <a:gd name="connsiteX118" fmla="*/ 421640 w 607215"/>
              <a:gd name="connsiteY118" fmla="*/ 582034 h 606369"/>
              <a:gd name="connsiteX119" fmla="*/ 518003 w 607215"/>
              <a:gd name="connsiteY119" fmla="*/ 517221 h 606369"/>
              <a:gd name="connsiteX120" fmla="*/ 582914 w 607215"/>
              <a:gd name="connsiteY120" fmla="*/ 421004 h 606369"/>
              <a:gd name="connsiteX121" fmla="*/ 606792 w 607215"/>
              <a:gd name="connsiteY121" fmla="*/ 303182 h 606369"/>
              <a:gd name="connsiteX122" fmla="*/ 582914 w 607215"/>
              <a:gd name="connsiteY122" fmla="*/ 185360 h 606369"/>
              <a:gd name="connsiteX123" fmla="*/ 518003 w 607215"/>
              <a:gd name="connsiteY123" fmla="*/ 89220 h 606369"/>
              <a:gd name="connsiteX124" fmla="*/ 421640 w 607215"/>
              <a:gd name="connsiteY124" fmla="*/ 24330 h 606369"/>
              <a:gd name="connsiteX125" fmla="*/ 303640 w 607215"/>
              <a:gd name="connsiteY125" fmla="*/ 565 h 606369"/>
              <a:gd name="connsiteX126" fmla="*/ 303608 w 607215"/>
              <a:gd name="connsiteY126" fmla="*/ 0 h 606369"/>
              <a:gd name="connsiteX127" fmla="*/ 421836 w 607215"/>
              <a:gd name="connsiteY127" fmla="*/ 23844 h 606369"/>
              <a:gd name="connsiteX128" fmla="*/ 518351 w 607215"/>
              <a:gd name="connsiteY128" fmla="*/ 88818 h 606369"/>
              <a:gd name="connsiteX129" fmla="*/ 583338 w 607215"/>
              <a:gd name="connsiteY129" fmla="*/ 185198 h 606369"/>
              <a:gd name="connsiteX130" fmla="*/ 607215 w 607215"/>
              <a:gd name="connsiteY130" fmla="*/ 303185 h 606369"/>
              <a:gd name="connsiteX131" fmla="*/ 583338 w 607215"/>
              <a:gd name="connsiteY131" fmla="*/ 421248 h 606369"/>
              <a:gd name="connsiteX132" fmla="*/ 518351 w 607215"/>
              <a:gd name="connsiteY132" fmla="*/ 517629 h 606369"/>
              <a:gd name="connsiteX133" fmla="*/ 421836 w 607215"/>
              <a:gd name="connsiteY133" fmla="*/ 582525 h 606369"/>
              <a:gd name="connsiteX134" fmla="*/ 303608 w 607215"/>
              <a:gd name="connsiteY134" fmla="*/ 606369 h 606369"/>
              <a:gd name="connsiteX135" fmla="*/ 185456 w 607215"/>
              <a:gd name="connsiteY135" fmla="*/ 582525 h 606369"/>
              <a:gd name="connsiteX136" fmla="*/ 88942 w 607215"/>
              <a:gd name="connsiteY136" fmla="*/ 517629 h 606369"/>
              <a:gd name="connsiteX137" fmla="*/ 23877 w 607215"/>
              <a:gd name="connsiteY137" fmla="*/ 421248 h 606369"/>
              <a:gd name="connsiteX138" fmla="*/ 0 w 607215"/>
              <a:gd name="connsiteY138" fmla="*/ 303185 h 606369"/>
              <a:gd name="connsiteX139" fmla="*/ 23877 w 607215"/>
              <a:gd name="connsiteY139" fmla="*/ 185198 h 606369"/>
              <a:gd name="connsiteX140" fmla="*/ 88942 w 607215"/>
              <a:gd name="connsiteY140" fmla="*/ 88818 h 606369"/>
              <a:gd name="connsiteX141" fmla="*/ 185456 w 607215"/>
              <a:gd name="connsiteY141" fmla="*/ 23844 h 606369"/>
              <a:gd name="connsiteX142" fmla="*/ 303608 w 607215"/>
              <a:gd name="connsiteY142" fmla="*/ 0 h 6063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Lst>
            <a:rect l="l" t="t" r="r" b="b"/>
            <a:pathLst>
              <a:path w="607215" h="606369">
                <a:moveTo>
                  <a:pt x="303643" y="280873"/>
                </a:moveTo>
                <a:cubicBezTo>
                  <a:pt x="315552" y="280873"/>
                  <a:pt x="325219" y="290523"/>
                  <a:pt x="325219" y="302335"/>
                </a:cubicBezTo>
                <a:cubicBezTo>
                  <a:pt x="325219" y="314223"/>
                  <a:pt x="315552" y="323873"/>
                  <a:pt x="303643" y="323873"/>
                </a:cubicBezTo>
                <a:cubicBezTo>
                  <a:pt x="291734" y="323873"/>
                  <a:pt x="282068" y="314223"/>
                  <a:pt x="282068" y="302335"/>
                </a:cubicBezTo>
                <a:cubicBezTo>
                  <a:pt x="282068" y="290523"/>
                  <a:pt x="291734" y="280873"/>
                  <a:pt x="303643" y="280873"/>
                </a:cubicBezTo>
                <a:close/>
                <a:moveTo>
                  <a:pt x="303678" y="280357"/>
                </a:moveTo>
                <a:cubicBezTo>
                  <a:pt x="291499" y="280357"/>
                  <a:pt x="281626" y="290214"/>
                  <a:pt x="281626" y="302374"/>
                </a:cubicBezTo>
                <a:cubicBezTo>
                  <a:pt x="281626" y="314534"/>
                  <a:pt x="291499" y="324391"/>
                  <a:pt x="303678" y="324391"/>
                </a:cubicBezTo>
                <a:cubicBezTo>
                  <a:pt x="315857" y="324391"/>
                  <a:pt x="325730" y="314534"/>
                  <a:pt x="325730" y="302374"/>
                </a:cubicBezTo>
                <a:cubicBezTo>
                  <a:pt x="325730" y="290214"/>
                  <a:pt x="315857" y="280357"/>
                  <a:pt x="303678" y="280357"/>
                </a:cubicBezTo>
                <a:close/>
                <a:moveTo>
                  <a:pt x="303643" y="279792"/>
                </a:moveTo>
                <a:cubicBezTo>
                  <a:pt x="316094" y="279792"/>
                  <a:pt x="326224" y="289905"/>
                  <a:pt x="326224" y="302335"/>
                </a:cubicBezTo>
                <a:cubicBezTo>
                  <a:pt x="326224" y="314841"/>
                  <a:pt x="316094" y="324954"/>
                  <a:pt x="303643" y="324954"/>
                </a:cubicBezTo>
                <a:cubicBezTo>
                  <a:pt x="291193" y="324954"/>
                  <a:pt x="281062" y="314841"/>
                  <a:pt x="281062" y="302335"/>
                </a:cubicBezTo>
                <a:cubicBezTo>
                  <a:pt x="281062" y="289905"/>
                  <a:pt x="291193" y="279792"/>
                  <a:pt x="303643" y="279792"/>
                </a:cubicBezTo>
                <a:close/>
                <a:moveTo>
                  <a:pt x="281043" y="46068"/>
                </a:moveTo>
                <a:cubicBezTo>
                  <a:pt x="220693" y="51315"/>
                  <a:pt x="163820" y="77783"/>
                  <a:pt x="120855" y="120687"/>
                </a:cubicBezTo>
                <a:cubicBezTo>
                  <a:pt x="77891" y="163591"/>
                  <a:pt x="51387" y="220385"/>
                  <a:pt x="46132" y="280652"/>
                </a:cubicBezTo>
                <a:lnTo>
                  <a:pt x="147128" y="280652"/>
                </a:lnTo>
                <a:cubicBezTo>
                  <a:pt x="159647" y="280652"/>
                  <a:pt x="169770" y="290761"/>
                  <a:pt x="169770" y="303185"/>
                </a:cubicBezTo>
                <a:cubicBezTo>
                  <a:pt x="169770" y="315608"/>
                  <a:pt x="159647" y="325717"/>
                  <a:pt x="147128" y="325717"/>
                </a:cubicBezTo>
                <a:lnTo>
                  <a:pt x="46132" y="325717"/>
                </a:lnTo>
                <a:cubicBezTo>
                  <a:pt x="51387" y="385984"/>
                  <a:pt x="77891" y="442778"/>
                  <a:pt x="120855" y="485682"/>
                </a:cubicBezTo>
                <a:cubicBezTo>
                  <a:pt x="163820" y="528586"/>
                  <a:pt x="220693" y="555131"/>
                  <a:pt x="281043" y="560301"/>
                </a:cubicBezTo>
                <a:lnTo>
                  <a:pt x="281043" y="459446"/>
                </a:lnTo>
                <a:cubicBezTo>
                  <a:pt x="281043" y="447022"/>
                  <a:pt x="291167" y="436913"/>
                  <a:pt x="303608" y="436913"/>
                </a:cubicBezTo>
                <a:cubicBezTo>
                  <a:pt x="316049" y="436913"/>
                  <a:pt x="326172" y="447022"/>
                  <a:pt x="326172" y="459446"/>
                </a:cubicBezTo>
                <a:lnTo>
                  <a:pt x="326172" y="560301"/>
                </a:lnTo>
                <a:cubicBezTo>
                  <a:pt x="386522" y="555131"/>
                  <a:pt x="443395" y="528586"/>
                  <a:pt x="486360" y="485682"/>
                </a:cubicBezTo>
                <a:cubicBezTo>
                  <a:pt x="529324" y="442778"/>
                  <a:pt x="555906" y="385984"/>
                  <a:pt x="561083" y="325717"/>
                </a:cubicBezTo>
                <a:lnTo>
                  <a:pt x="460087" y="325717"/>
                </a:lnTo>
                <a:cubicBezTo>
                  <a:pt x="447645" y="325717"/>
                  <a:pt x="437523" y="315608"/>
                  <a:pt x="437523" y="303185"/>
                </a:cubicBezTo>
                <a:cubicBezTo>
                  <a:pt x="437523" y="290761"/>
                  <a:pt x="447645" y="280652"/>
                  <a:pt x="460087" y="280652"/>
                </a:cubicBezTo>
                <a:lnTo>
                  <a:pt x="561083" y="280652"/>
                </a:lnTo>
                <a:cubicBezTo>
                  <a:pt x="555906" y="220385"/>
                  <a:pt x="529324" y="163591"/>
                  <a:pt x="486360" y="120687"/>
                </a:cubicBezTo>
                <a:cubicBezTo>
                  <a:pt x="443395" y="77783"/>
                  <a:pt x="386522" y="51315"/>
                  <a:pt x="326172" y="46068"/>
                </a:cubicBezTo>
                <a:lnTo>
                  <a:pt x="326172" y="146923"/>
                </a:lnTo>
                <a:cubicBezTo>
                  <a:pt x="326172" y="159424"/>
                  <a:pt x="316049" y="169533"/>
                  <a:pt x="303608" y="169533"/>
                </a:cubicBezTo>
                <a:cubicBezTo>
                  <a:pt x="291167" y="169533"/>
                  <a:pt x="281043" y="159424"/>
                  <a:pt x="281043" y="146923"/>
                </a:cubicBezTo>
                <a:close/>
                <a:moveTo>
                  <a:pt x="281617" y="45548"/>
                </a:moveTo>
                <a:lnTo>
                  <a:pt x="281617" y="146935"/>
                </a:lnTo>
                <a:cubicBezTo>
                  <a:pt x="281617" y="159126"/>
                  <a:pt x="291431" y="169002"/>
                  <a:pt x="303640" y="169002"/>
                </a:cubicBezTo>
                <a:cubicBezTo>
                  <a:pt x="315850" y="169002"/>
                  <a:pt x="325741" y="159126"/>
                  <a:pt x="325741" y="146935"/>
                </a:cubicBezTo>
                <a:lnTo>
                  <a:pt x="325741" y="45548"/>
                </a:lnTo>
                <a:cubicBezTo>
                  <a:pt x="451159" y="56119"/>
                  <a:pt x="551077" y="155963"/>
                  <a:pt x="561663" y="281192"/>
                </a:cubicBezTo>
                <a:lnTo>
                  <a:pt x="460123" y="281192"/>
                </a:lnTo>
                <a:cubicBezTo>
                  <a:pt x="447914" y="281192"/>
                  <a:pt x="438022" y="290991"/>
                  <a:pt x="438022" y="303182"/>
                </a:cubicBezTo>
                <a:cubicBezTo>
                  <a:pt x="438022" y="315373"/>
                  <a:pt x="447914" y="325250"/>
                  <a:pt x="460123" y="325250"/>
                </a:cubicBezTo>
                <a:lnTo>
                  <a:pt x="561663" y="325250"/>
                </a:lnTo>
                <a:cubicBezTo>
                  <a:pt x="551077" y="450478"/>
                  <a:pt x="451159" y="550245"/>
                  <a:pt x="325741" y="560815"/>
                </a:cubicBezTo>
                <a:lnTo>
                  <a:pt x="325741" y="459429"/>
                </a:lnTo>
                <a:cubicBezTo>
                  <a:pt x="325741" y="447238"/>
                  <a:pt x="315850" y="437361"/>
                  <a:pt x="303640" y="437361"/>
                </a:cubicBezTo>
                <a:cubicBezTo>
                  <a:pt x="291431" y="437361"/>
                  <a:pt x="281617" y="447238"/>
                  <a:pt x="281617" y="459429"/>
                </a:cubicBezTo>
                <a:lnTo>
                  <a:pt x="281617" y="560815"/>
                </a:lnTo>
                <a:cubicBezTo>
                  <a:pt x="156198" y="550245"/>
                  <a:pt x="56203" y="450478"/>
                  <a:pt x="45616" y="325250"/>
                </a:cubicBezTo>
                <a:lnTo>
                  <a:pt x="147157" y="325250"/>
                </a:lnTo>
                <a:cubicBezTo>
                  <a:pt x="159366" y="325250"/>
                  <a:pt x="169257" y="315373"/>
                  <a:pt x="169257" y="303182"/>
                </a:cubicBezTo>
                <a:cubicBezTo>
                  <a:pt x="169257" y="290991"/>
                  <a:pt x="159366" y="281192"/>
                  <a:pt x="147157" y="281192"/>
                </a:cubicBezTo>
                <a:lnTo>
                  <a:pt x="45616" y="281192"/>
                </a:lnTo>
                <a:cubicBezTo>
                  <a:pt x="56203" y="155963"/>
                  <a:pt x="156198" y="56119"/>
                  <a:pt x="281617" y="45548"/>
                </a:cubicBezTo>
                <a:close/>
                <a:moveTo>
                  <a:pt x="281508" y="44987"/>
                </a:moveTo>
                <a:cubicBezTo>
                  <a:pt x="220693" y="50158"/>
                  <a:pt x="163433" y="76780"/>
                  <a:pt x="120160" y="119993"/>
                </a:cubicBezTo>
                <a:cubicBezTo>
                  <a:pt x="76887" y="163205"/>
                  <a:pt x="50228" y="220385"/>
                  <a:pt x="45050" y="281115"/>
                </a:cubicBezTo>
                <a:lnTo>
                  <a:pt x="45050" y="281655"/>
                </a:lnTo>
                <a:lnTo>
                  <a:pt x="147128" y="281655"/>
                </a:lnTo>
                <a:cubicBezTo>
                  <a:pt x="159029" y="281655"/>
                  <a:pt x="168688" y="291301"/>
                  <a:pt x="168688" y="303185"/>
                </a:cubicBezTo>
                <a:cubicBezTo>
                  <a:pt x="168688" y="315068"/>
                  <a:pt x="159029" y="324714"/>
                  <a:pt x="147128" y="324714"/>
                </a:cubicBezTo>
                <a:lnTo>
                  <a:pt x="45050" y="324714"/>
                </a:lnTo>
                <a:lnTo>
                  <a:pt x="45050" y="325254"/>
                </a:lnTo>
                <a:cubicBezTo>
                  <a:pt x="50228" y="385984"/>
                  <a:pt x="76887" y="443241"/>
                  <a:pt x="120160" y="486454"/>
                </a:cubicBezTo>
                <a:cubicBezTo>
                  <a:pt x="163433" y="529666"/>
                  <a:pt x="220693" y="556289"/>
                  <a:pt x="281508" y="561382"/>
                </a:cubicBezTo>
                <a:lnTo>
                  <a:pt x="282048" y="561459"/>
                </a:lnTo>
                <a:lnTo>
                  <a:pt x="282048" y="459446"/>
                </a:lnTo>
                <a:cubicBezTo>
                  <a:pt x="282048" y="447562"/>
                  <a:pt x="291708" y="437916"/>
                  <a:pt x="303608" y="437916"/>
                </a:cubicBezTo>
                <a:cubicBezTo>
                  <a:pt x="315508" y="437916"/>
                  <a:pt x="325167" y="447562"/>
                  <a:pt x="325167" y="459446"/>
                </a:cubicBezTo>
                <a:lnTo>
                  <a:pt x="325167" y="561459"/>
                </a:lnTo>
                <a:lnTo>
                  <a:pt x="325708" y="561382"/>
                </a:lnTo>
                <a:cubicBezTo>
                  <a:pt x="386522" y="556289"/>
                  <a:pt x="443859" y="529666"/>
                  <a:pt x="487132" y="486454"/>
                </a:cubicBezTo>
                <a:cubicBezTo>
                  <a:pt x="530405" y="443241"/>
                  <a:pt x="557065" y="385984"/>
                  <a:pt x="562165" y="325254"/>
                </a:cubicBezTo>
                <a:lnTo>
                  <a:pt x="562242" y="324714"/>
                </a:lnTo>
                <a:lnTo>
                  <a:pt x="460087" y="324714"/>
                </a:lnTo>
                <a:cubicBezTo>
                  <a:pt x="448186" y="324714"/>
                  <a:pt x="438527" y="315068"/>
                  <a:pt x="438527" y="303185"/>
                </a:cubicBezTo>
                <a:cubicBezTo>
                  <a:pt x="438527" y="291301"/>
                  <a:pt x="448186" y="281655"/>
                  <a:pt x="460087" y="281655"/>
                </a:cubicBezTo>
                <a:lnTo>
                  <a:pt x="562242" y="281655"/>
                </a:lnTo>
                <a:lnTo>
                  <a:pt x="562165" y="281115"/>
                </a:lnTo>
                <a:cubicBezTo>
                  <a:pt x="557065" y="220385"/>
                  <a:pt x="530405" y="163205"/>
                  <a:pt x="487132" y="119993"/>
                </a:cubicBezTo>
                <a:cubicBezTo>
                  <a:pt x="443859" y="76780"/>
                  <a:pt x="386522" y="50158"/>
                  <a:pt x="325708" y="44987"/>
                </a:cubicBezTo>
                <a:lnTo>
                  <a:pt x="325167" y="44987"/>
                </a:lnTo>
                <a:lnTo>
                  <a:pt x="325167" y="146923"/>
                </a:lnTo>
                <a:cubicBezTo>
                  <a:pt x="325167" y="158807"/>
                  <a:pt x="315508" y="168453"/>
                  <a:pt x="303608" y="168453"/>
                </a:cubicBezTo>
                <a:cubicBezTo>
                  <a:pt x="291708" y="168453"/>
                  <a:pt x="282048" y="158807"/>
                  <a:pt x="282048" y="146923"/>
                </a:cubicBezTo>
                <a:lnTo>
                  <a:pt x="282048" y="44987"/>
                </a:lnTo>
                <a:close/>
                <a:moveTo>
                  <a:pt x="303608" y="1003"/>
                </a:moveTo>
                <a:cubicBezTo>
                  <a:pt x="344485" y="1003"/>
                  <a:pt x="384049" y="9028"/>
                  <a:pt x="421450" y="24770"/>
                </a:cubicBezTo>
                <a:cubicBezTo>
                  <a:pt x="457459" y="40049"/>
                  <a:pt x="489837" y="61810"/>
                  <a:pt x="517578" y="89512"/>
                </a:cubicBezTo>
                <a:cubicBezTo>
                  <a:pt x="545396" y="117292"/>
                  <a:pt x="567188" y="149547"/>
                  <a:pt x="582410" y="185584"/>
                </a:cubicBezTo>
                <a:cubicBezTo>
                  <a:pt x="598174" y="222855"/>
                  <a:pt x="606211" y="262441"/>
                  <a:pt x="606211" y="303185"/>
                </a:cubicBezTo>
                <a:cubicBezTo>
                  <a:pt x="606211" y="344005"/>
                  <a:pt x="598174" y="383514"/>
                  <a:pt x="582410" y="420863"/>
                </a:cubicBezTo>
                <a:cubicBezTo>
                  <a:pt x="567188" y="456822"/>
                  <a:pt x="545396" y="489154"/>
                  <a:pt x="517578" y="516857"/>
                </a:cubicBezTo>
                <a:cubicBezTo>
                  <a:pt x="489837" y="544637"/>
                  <a:pt x="457459" y="566397"/>
                  <a:pt x="421450" y="581599"/>
                </a:cubicBezTo>
                <a:cubicBezTo>
                  <a:pt x="384049" y="597341"/>
                  <a:pt x="344485" y="605366"/>
                  <a:pt x="303608" y="605366"/>
                </a:cubicBezTo>
                <a:cubicBezTo>
                  <a:pt x="262807" y="605366"/>
                  <a:pt x="223166" y="597341"/>
                  <a:pt x="185842" y="581599"/>
                </a:cubicBezTo>
                <a:cubicBezTo>
                  <a:pt x="149756" y="566397"/>
                  <a:pt x="117455" y="544637"/>
                  <a:pt x="89637" y="516857"/>
                </a:cubicBezTo>
                <a:cubicBezTo>
                  <a:pt x="61896" y="489154"/>
                  <a:pt x="40105" y="456822"/>
                  <a:pt x="24805" y="420863"/>
                </a:cubicBezTo>
                <a:cubicBezTo>
                  <a:pt x="9041" y="383514"/>
                  <a:pt x="1004" y="344005"/>
                  <a:pt x="1004" y="303185"/>
                </a:cubicBezTo>
                <a:cubicBezTo>
                  <a:pt x="1004" y="262441"/>
                  <a:pt x="9041" y="222855"/>
                  <a:pt x="24805" y="185584"/>
                </a:cubicBezTo>
                <a:cubicBezTo>
                  <a:pt x="40105" y="149547"/>
                  <a:pt x="61896" y="117292"/>
                  <a:pt x="89637" y="89512"/>
                </a:cubicBezTo>
                <a:cubicBezTo>
                  <a:pt x="117455" y="61810"/>
                  <a:pt x="149756" y="40049"/>
                  <a:pt x="185842" y="24770"/>
                </a:cubicBezTo>
                <a:cubicBezTo>
                  <a:pt x="223166" y="9028"/>
                  <a:pt x="262807" y="1003"/>
                  <a:pt x="303608" y="1003"/>
                </a:cubicBezTo>
                <a:close/>
                <a:moveTo>
                  <a:pt x="303640" y="565"/>
                </a:moveTo>
                <a:cubicBezTo>
                  <a:pt x="262761" y="565"/>
                  <a:pt x="223041" y="8512"/>
                  <a:pt x="185640" y="24330"/>
                </a:cubicBezTo>
                <a:cubicBezTo>
                  <a:pt x="149552" y="39607"/>
                  <a:pt x="117174" y="61366"/>
                  <a:pt x="89354" y="89220"/>
                </a:cubicBezTo>
                <a:cubicBezTo>
                  <a:pt x="61458" y="116997"/>
                  <a:pt x="39666" y="149327"/>
                  <a:pt x="24366" y="185360"/>
                </a:cubicBezTo>
                <a:cubicBezTo>
                  <a:pt x="8524" y="222705"/>
                  <a:pt x="565" y="262365"/>
                  <a:pt x="565" y="303182"/>
                </a:cubicBezTo>
                <a:cubicBezTo>
                  <a:pt x="565" y="343999"/>
                  <a:pt x="8524" y="383659"/>
                  <a:pt x="24366" y="421004"/>
                </a:cubicBezTo>
                <a:cubicBezTo>
                  <a:pt x="39666" y="457037"/>
                  <a:pt x="61458" y="489444"/>
                  <a:pt x="89354" y="517221"/>
                </a:cubicBezTo>
                <a:cubicBezTo>
                  <a:pt x="117174" y="544998"/>
                  <a:pt x="149552" y="566834"/>
                  <a:pt x="185640" y="582034"/>
                </a:cubicBezTo>
                <a:cubicBezTo>
                  <a:pt x="223041" y="597852"/>
                  <a:pt x="262761" y="605876"/>
                  <a:pt x="303640" y="605876"/>
                </a:cubicBezTo>
                <a:cubicBezTo>
                  <a:pt x="344596" y="605876"/>
                  <a:pt x="384239" y="597852"/>
                  <a:pt x="421640" y="582034"/>
                </a:cubicBezTo>
                <a:cubicBezTo>
                  <a:pt x="457728" y="566834"/>
                  <a:pt x="490183" y="544998"/>
                  <a:pt x="518003" y="517221"/>
                </a:cubicBezTo>
                <a:cubicBezTo>
                  <a:pt x="545822" y="489444"/>
                  <a:pt x="567691" y="457037"/>
                  <a:pt x="582914" y="421004"/>
                </a:cubicBezTo>
                <a:cubicBezTo>
                  <a:pt x="598756" y="383659"/>
                  <a:pt x="606792" y="343999"/>
                  <a:pt x="606792" y="303182"/>
                </a:cubicBezTo>
                <a:cubicBezTo>
                  <a:pt x="606792" y="262365"/>
                  <a:pt x="598756" y="222705"/>
                  <a:pt x="582914" y="185360"/>
                </a:cubicBezTo>
                <a:cubicBezTo>
                  <a:pt x="567691" y="149327"/>
                  <a:pt x="545822" y="116997"/>
                  <a:pt x="518003" y="89220"/>
                </a:cubicBezTo>
                <a:cubicBezTo>
                  <a:pt x="490183" y="61366"/>
                  <a:pt x="457728" y="39607"/>
                  <a:pt x="421640" y="24330"/>
                </a:cubicBezTo>
                <a:cubicBezTo>
                  <a:pt x="384239" y="8512"/>
                  <a:pt x="344519" y="565"/>
                  <a:pt x="303640" y="565"/>
                </a:cubicBezTo>
                <a:close/>
                <a:moveTo>
                  <a:pt x="303608" y="0"/>
                </a:moveTo>
                <a:cubicBezTo>
                  <a:pt x="344563" y="0"/>
                  <a:pt x="384359" y="8025"/>
                  <a:pt x="421836" y="23844"/>
                </a:cubicBezTo>
                <a:cubicBezTo>
                  <a:pt x="458000" y="39123"/>
                  <a:pt x="490455" y="60961"/>
                  <a:pt x="518351" y="88818"/>
                </a:cubicBezTo>
                <a:cubicBezTo>
                  <a:pt x="546169" y="116674"/>
                  <a:pt x="568038" y="149084"/>
                  <a:pt x="583338" y="185198"/>
                </a:cubicBezTo>
                <a:cubicBezTo>
                  <a:pt x="599179" y="222546"/>
                  <a:pt x="607215" y="262286"/>
                  <a:pt x="607215" y="303185"/>
                </a:cubicBezTo>
                <a:cubicBezTo>
                  <a:pt x="607215" y="344083"/>
                  <a:pt x="599179" y="383823"/>
                  <a:pt x="583338" y="421248"/>
                </a:cubicBezTo>
                <a:cubicBezTo>
                  <a:pt x="568038" y="457362"/>
                  <a:pt x="546169" y="489772"/>
                  <a:pt x="518351" y="517629"/>
                </a:cubicBezTo>
                <a:cubicBezTo>
                  <a:pt x="490455" y="545408"/>
                  <a:pt x="458000" y="567246"/>
                  <a:pt x="421836" y="582525"/>
                </a:cubicBezTo>
                <a:cubicBezTo>
                  <a:pt x="384359" y="598344"/>
                  <a:pt x="344563" y="606369"/>
                  <a:pt x="303608" y="606369"/>
                </a:cubicBezTo>
                <a:cubicBezTo>
                  <a:pt x="262652" y="606369"/>
                  <a:pt x="222856" y="598344"/>
                  <a:pt x="185456" y="582525"/>
                </a:cubicBezTo>
                <a:cubicBezTo>
                  <a:pt x="149292" y="567246"/>
                  <a:pt x="116760" y="545408"/>
                  <a:pt x="88942" y="517629"/>
                </a:cubicBezTo>
                <a:cubicBezTo>
                  <a:pt x="61046" y="489772"/>
                  <a:pt x="39177" y="457362"/>
                  <a:pt x="23877" y="421248"/>
                </a:cubicBezTo>
                <a:cubicBezTo>
                  <a:pt x="8036" y="383823"/>
                  <a:pt x="0" y="344083"/>
                  <a:pt x="0" y="303185"/>
                </a:cubicBezTo>
                <a:cubicBezTo>
                  <a:pt x="0" y="262286"/>
                  <a:pt x="8036" y="222546"/>
                  <a:pt x="23877" y="185198"/>
                </a:cubicBezTo>
                <a:cubicBezTo>
                  <a:pt x="39177" y="149084"/>
                  <a:pt x="61046" y="116674"/>
                  <a:pt x="88942" y="88818"/>
                </a:cubicBezTo>
                <a:cubicBezTo>
                  <a:pt x="116760" y="60961"/>
                  <a:pt x="149292" y="39123"/>
                  <a:pt x="185456" y="23844"/>
                </a:cubicBezTo>
                <a:cubicBezTo>
                  <a:pt x="222856" y="8025"/>
                  <a:pt x="262652" y="0"/>
                  <a:pt x="303608"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dirty="0"/>
          </a:p>
        </p:txBody>
      </p:sp>
      <p:sp>
        <p:nvSpPr>
          <p:cNvPr id="129" name="文本框 128">
            <a:extLst>
              <a:ext uri="{FF2B5EF4-FFF2-40B4-BE49-F238E27FC236}">
                <a16:creationId xmlns:a16="http://schemas.microsoft.com/office/drawing/2014/main" id="{9BC41950-B9CC-42B1-A663-8054CD46281C}"/>
              </a:ext>
            </a:extLst>
          </p:cNvPr>
          <p:cNvSpPr txBox="1"/>
          <p:nvPr/>
        </p:nvSpPr>
        <p:spPr>
          <a:xfrm>
            <a:off x="373082" y="2808021"/>
            <a:ext cx="1660612" cy="338554"/>
          </a:xfrm>
          <a:prstGeom prst="rect">
            <a:avLst/>
          </a:prstGeom>
          <a:noFill/>
        </p:spPr>
        <p:txBody>
          <a:bodyPr wrap="square" rtlCol="0">
            <a:spAutoFit/>
          </a:bodyPr>
          <a:lstStyle/>
          <a:p>
            <a:r>
              <a:rPr lang="zh-CN" altLang="en-US" sz="1600" dirty="0">
                <a:solidFill>
                  <a:schemeClr val="bg1"/>
                </a:solidFill>
                <a:latin typeface="思源黑体 CN Regular" panose="020B0500000000000000" pitchFamily="34" charset="-122"/>
                <a:ea typeface="思源黑体 CN Regular" panose="020B0500000000000000" pitchFamily="34" charset="-122"/>
              </a:rPr>
              <a:t>研究目标和内容</a:t>
            </a:r>
          </a:p>
        </p:txBody>
      </p:sp>
      <p:sp>
        <p:nvSpPr>
          <p:cNvPr id="130" name="任意矩形：003">
            <a:extLst>
              <a:ext uri="{FF2B5EF4-FFF2-40B4-BE49-F238E27FC236}">
                <a16:creationId xmlns:a16="http://schemas.microsoft.com/office/drawing/2014/main" id="{1EC24CA1-35B7-49EC-9962-519344A7FB69}"/>
              </a:ext>
            </a:extLst>
          </p:cNvPr>
          <p:cNvSpPr/>
          <p:nvPr/>
        </p:nvSpPr>
        <p:spPr>
          <a:xfrm rot="10800000" flipH="1" flipV="1">
            <a:off x="145020" y="3571293"/>
            <a:ext cx="199667" cy="199477"/>
          </a:xfrm>
          <a:custGeom>
            <a:avLst/>
            <a:gdLst>
              <a:gd name="connsiteX0" fmla="*/ 320200 w 604886"/>
              <a:gd name="connsiteY0" fmla="*/ 166778 h 604313"/>
              <a:gd name="connsiteX1" fmla="*/ 338200 w 604886"/>
              <a:gd name="connsiteY1" fmla="*/ 168153 h 604313"/>
              <a:gd name="connsiteX2" fmla="*/ 394904 w 604886"/>
              <a:gd name="connsiteY2" fmla="*/ 210003 h 604313"/>
              <a:gd name="connsiteX3" fmla="*/ 448997 w 604886"/>
              <a:gd name="connsiteY3" fmla="*/ 297466 h 604313"/>
              <a:gd name="connsiteX4" fmla="*/ 433479 w 604886"/>
              <a:gd name="connsiteY4" fmla="*/ 381599 h 604313"/>
              <a:gd name="connsiteX5" fmla="*/ 230304 w 604886"/>
              <a:gd name="connsiteY5" fmla="*/ 584474 h 604313"/>
              <a:gd name="connsiteX6" fmla="*/ 177952 w 604886"/>
              <a:gd name="connsiteY6" fmla="*/ 604313 h 604313"/>
              <a:gd name="connsiteX7" fmla="*/ 58454 w 604886"/>
              <a:gd name="connsiteY7" fmla="*/ 545956 h 604313"/>
              <a:gd name="connsiteX8" fmla="*/ 19733 w 604886"/>
              <a:gd name="connsiteY8" fmla="*/ 374359 h 604313"/>
              <a:gd name="connsiteX9" fmla="*/ 93549 w 604886"/>
              <a:gd name="connsiteY9" fmla="*/ 300652 h 604313"/>
              <a:gd name="connsiteX10" fmla="*/ 127049 w 604886"/>
              <a:gd name="connsiteY10" fmla="*/ 300652 h 604313"/>
              <a:gd name="connsiteX11" fmla="*/ 127049 w 604886"/>
              <a:gd name="connsiteY11" fmla="*/ 333958 h 604313"/>
              <a:gd name="connsiteX12" fmla="*/ 53233 w 604886"/>
              <a:gd name="connsiteY12" fmla="*/ 407665 h 604313"/>
              <a:gd name="connsiteX13" fmla="*/ 91809 w 604886"/>
              <a:gd name="connsiteY13" fmla="*/ 512650 h 604313"/>
              <a:gd name="connsiteX14" fmla="*/ 196950 w 604886"/>
              <a:gd name="connsiteY14" fmla="*/ 551169 h 604313"/>
              <a:gd name="connsiteX15" fmla="*/ 400124 w 604886"/>
              <a:gd name="connsiteY15" fmla="*/ 348294 h 604313"/>
              <a:gd name="connsiteX16" fmla="*/ 403460 w 604886"/>
              <a:gd name="connsiteY16" fmla="*/ 310065 h 604313"/>
              <a:gd name="connsiteX17" fmla="*/ 361549 w 604886"/>
              <a:gd name="connsiteY17" fmla="*/ 243308 h 604313"/>
              <a:gd name="connsiteX18" fmla="*/ 316737 w 604886"/>
              <a:gd name="connsiteY18" fmla="*/ 210147 h 604313"/>
              <a:gd name="connsiteX19" fmla="*/ 306441 w 604886"/>
              <a:gd name="connsiteY19" fmla="*/ 178435 h 604313"/>
              <a:gd name="connsiteX20" fmla="*/ 320200 w 604886"/>
              <a:gd name="connsiteY20" fmla="*/ 166778 h 604313"/>
              <a:gd name="connsiteX21" fmla="*/ 411085 w 604886"/>
              <a:gd name="connsiteY21" fmla="*/ 1388 h 604313"/>
              <a:gd name="connsiteX22" fmla="*/ 458862 w 604886"/>
              <a:gd name="connsiteY22" fmla="*/ 4683 h 604313"/>
              <a:gd name="connsiteX23" fmla="*/ 546442 w 604886"/>
              <a:gd name="connsiteY23" fmla="*/ 58698 h 604313"/>
              <a:gd name="connsiteX24" fmla="*/ 585156 w 604886"/>
              <a:gd name="connsiteY24" fmla="*/ 230302 h 604313"/>
              <a:gd name="connsiteX25" fmla="*/ 511352 w 604886"/>
              <a:gd name="connsiteY25" fmla="*/ 304012 h 604313"/>
              <a:gd name="connsiteX26" fmla="*/ 477857 w 604886"/>
              <a:gd name="connsiteY26" fmla="*/ 304012 h 604313"/>
              <a:gd name="connsiteX27" fmla="*/ 477857 w 604886"/>
              <a:gd name="connsiteY27" fmla="*/ 270705 h 604313"/>
              <a:gd name="connsiteX28" fmla="*/ 551662 w 604886"/>
              <a:gd name="connsiteY28" fmla="*/ 196995 h 604313"/>
              <a:gd name="connsiteX29" fmla="*/ 513092 w 604886"/>
              <a:gd name="connsiteY29" fmla="*/ 92005 h 604313"/>
              <a:gd name="connsiteX30" fmla="*/ 446247 w 604886"/>
              <a:gd name="connsiteY30" fmla="*/ 50154 h 604313"/>
              <a:gd name="connsiteX31" fmla="*/ 407968 w 604886"/>
              <a:gd name="connsiteY31" fmla="*/ 53485 h 604313"/>
              <a:gd name="connsiteX32" fmla="*/ 204825 w 604886"/>
              <a:gd name="connsiteY32" fmla="*/ 256368 h 604313"/>
              <a:gd name="connsiteX33" fmla="*/ 201490 w 604886"/>
              <a:gd name="connsiteY33" fmla="*/ 294599 h 604313"/>
              <a:gd name="connsiteX34" fmla="*/ 243394 w 604886"/>
              <a:gd name="connsiteY34" fmla="*/ 361358 h 604313"/>
              <a:gd name="connsiteX35" fmla="*/ 288199 w 604886"/>
              <a:gd name="connsiteY35" fmla="*/ 394520 h 604313"/>
              <a:gd name="connsiteX36" fmla="*/ 298494 w 604886"/>
              <a:gd name="connsiteY36" fmla="*/ 426234 h 604313"/>
              <a:gd name="connsiteX37" fmla="*/ 277469 w 604886"/>
              <a:gd name="connsiteY37" fmla="*/ 438978 h 604313"/>
              <a:gd name="connsiteX38" fmla="*/ 266739 w 604886"/>
              <a:gd name="connsiteY38" fmla="*/ 436516 h 604313"/>
              <a:gd name="connsiteX39" fmla="*/ 210044 w 604886"/>
              <a:gd name="connsiteY39" fmla="*/ 394665 h 604313"/>
              <a:gd name="connsiteX40" fmla="*/ 155960 w 604886"/>
              <a:gd name="connsiteY40" fmla="*/ 307198 h 604313"/>
              <a:gd name="connsiteX41" fmla="*/ 171330 w 604886"/>
              <a:gd name="connsiteY41" fmla="*/ 223061 h 604313"/>
              <a:gd name="connsiteX42" fmla="*/ 374618 w 604886"/>
              <a:gd name="connsiteY42" fmla="*/ 20033 h 604313"/>
              <a:gd name="connsiteX43" fmla="*/ 411085 w 604886"/>
              <a:gd name="connsiteY43" fmla="*/ 1388 h 6043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Lst>
            <a:rect l="l" t="t" r="r" b="b"/>
            <a:pathLst>
              <a:path w="604886" h="604313">
                <a:moveTo>
                  <a:pt x="320200" y="166778"/>
                </a:moveTo>
                <a:cubicBezTo>
                  <a:pt x="325946" y="164931"/>
                  <a:pt x="332399" y="165257"/>
                  <a:pt x="338200" y="168153"/>
                </a:cubicBezTo>
                <a:cubicBezTo>
                  <a:pt x="358068" y="178290"/>
                  <a:pt x="377646" y="192771"/>
                  <a:pt x="394904" y="210003"/>
                </a:cubicBezTo>
                <a:cubicBezTo>
                  <a:pt x="421443" y="236358"/>
                  <a:pt x="440585" y="267491"/>
                  <a:pt x="448997" y="297466"/>
                </a:cubicBezTo>
                <a:cubicBezTo>
                  <a:pt x="458568" y="332075"/>
                  <a:pt x="453202" y="362050"/>
                  <a:pt x="433479" y="381599"/>
                </a:cubicBezTo>
                <a:lnTo>
                  <a:pt x="230304" y="584474"/>
                </a:lnTo>
                <a:cubicBezTo>
                  <a:pt x="216962" y="597942"/>
                  <a:pt x="198690" y="604313"/>
                  <a:pt x="177952" y="604313"/>
                </a:cubicBezTo>
                <a:cubicBezTo>
                  <a:pt x="140971" y="604313"/>
                  <a:pt x="96305" y="583750"/>
                  <a:pt x="58454" y="545956"/>
                </a:cubicBezTo>
                <a:cubicBezTo>
                  <a:pt x="-570" y="487019"/>
                  <a:pt x="-17537" y="411575"/>
                  <a:pt x="19733" y="374359"/>
                </a:cubicBezTo>
                <a:lnTo>
                  <a:pt x="93549" y="300652"/>
                </a:lnTo>
                <a:cubicBezTo>
                  <a:pt x="102831" y="291384"/>
                  <a:pt x="117768" y="291384"/>
                  <a:pt x="127049" y="300652"/>
                </a:cubicBezTo>
                <a:cubicBezTo>
                  <a:pt x="136186" y="309775"/>
                  <a:pt x="136186" y="324690"/>
                  <a:pt x="127049" y="333958"/>
                </a:cubicBezTo>
                <a:lnTo>
                  <a:pt x="53233" y="407665"/>
                </a:lnTo>
                <a:cubicBezTo>
                  <a:pt x="37426" y="423304"/>
                  <a:pt x="50623" y="471525"/>
                  <a:pt x="91809" y="512650"/>
                </a:cubicBezTo>
                <a:cubicBezTo>
                  <a:pt x="132995" y="553631"/>
                  <a:pt x="181287" y="566808"/>
                  <a:pt x="196950" y="551169"/>
                </a:cubicBezTo>
                <a:lnTo>
                  <a:pt x="400124" y="348294"/>
                </a:lnTo>
                <a:cubicBezTo>
                  <a:pt x="407085" y="341343"/>
                  <a:pt x="408246" y="327441"/>
                  <a:pt x="403460" y="310065"/>
                </a:cubicBezTo>
                <a:cubicBezTo>
                  <a:pt x="397369" y="288199"/>
                  <a:pt x="381997" y="263871"/>
                  <a:pt x="361549" y="243308"/>
                </a:cubicBezTo>
                <a:cubicBezTo>
                  <a:pt x="347627" y="229552"/>
                  <a:pt x="332254" y="218112"/>
                  <a:pt x="316737" y="210147"/>
                </a:cubicBezTo>
                <a:cubicBezTo>
                  <a:pt x="305135" y="204355"/>
                  <a:pt x="300495" y="190019"/>
                  <a:pt x="306441" y="178435"/>
                </a:cubicBezTo>
                <a:cubicBezTo>
                  <a:pt x="309414" y="172642"/>
                  <a:pt x="314453" y="168624"/>
                  <a:pt x="320200" y="166778"/>
                </a:cubicBezTo>
                <a:close/>
                <a:moveTo>
                  <a:pt x="411085" y="1388"/>
                </a:moveTo>
                <a:cubicBezTo>
                  <a:pt x="425368" y="-1219"/>
                  <a:pt x="441535" y="-169"/>
                  <a:pt x="458862" y="4683"/>
                </a:cubicBezTo>
                <a:cubicBezTo>
                  <a:pt x="488877" y="13082"/>
                  <a:pt x="519907" y="32197"/>
                  <a:pt x="546442" y="58698"/>
                </a:cubicBezTo>
                <a:cubicBezTo>
                  <a:pt x="605456" y="117637"/>
                  <a:pt x="622421" y="192940"/>
                  <a:pt x="585156" y="230302"/>
                </a:cubicBezTo>
                <a:lnTo>
                  <a:pt x="511352" y="304012"/>
                </a:lnTo>
                <a:cubicBezTo>
                  <a:pt x="502072" y="313135"/>
                  <a:pt x="487137" y="313135"/>
                  <a:pt x="477857" y="304012"/>
                </a:cubicBezTo>
                <a:cubicBezTo>
                  <a:pt x="468722" y="294744"/>
                  <a:pt x="468722" y="279828"/>
                  <a:pt x="477857" y="270705"/>
                </a:cubicBezTo>
                <a:lnTo>
                  <a:pt x="551662" y="196995"/>
                </a:lnTo>
                <a:cubicBezTo>
                  <a:pt x="567321" y="181355"/>
                  <a:pt x="554127" y="133132"/>
                  <a:pt x="513092" y="92005"/>
                </a:cubicBezTo>
                <a:cubicBezTo>
                  <a:pt x="492502" y="71586"/>
                  <a:pt x="468142" y="56236"/>
                  <a:pt x="446247" y="50154"/>
                </a:cubicBezTo>
                <a:cubicBezTo>
                  <a:pt x="428848" y="45230"/>
                  <a:pt x="414928" y="46534"/>
                  <a:pt x="407968" y="53485"/>
                </a:cubicBezTo>
                <a:lnTo>
                  <a:pt x="204825" y="256368"/>
                </a:lnTo>
                <a:cubicBezTo>
                  <a:pt x="197865" y="263319"/>
                  <a:pt x="196560" y="277221"/>
                  <a:pt x="201490" y="294599"/>
                </a:cubicBezTo>
                <a:cubicBezTo>
                  <a:pt x="207579" y="316466"/>
                  <a:pt x="222949" y="340795"/>
                  <a:pt x="243394" y="361358"/>
                </a:cubicBezTo>
                <a:cubicBezTo>
                  <a:pt x="257169" y="375115"/>
                  <a:pt x="272684" y="386556"/>
                  <a:pt x="288199" y="394520"/>
                </a:cubicBezTo>
                <a:cubicBezTo>
                  <a:pt x="299799" y="400313"/>
                  <a:pt x="304439" y="414505"/>
                  <a:pt x="298494" y="426234"/>
                </a:cubicBezTo>
                <a:cubicBezTo>
                  <a:pt x="294289" y="434344"/>
                  <a:pt x="286024" y="438978"/>
                  <a:pt x="277469" y="438978"/>
                </a:cubicBezTo>
                <a:cubicBezTo>
                  <a:pt x="273844" y="438978"/>
                  <a:pt x="270219" y="438254"/>
                  <a:pt x="266739" y="436516"/>
                </a:cubicBezTo>
                <a:cubicBezTo>
                  <a:pt x="246874" y="426379"/>
                  <a:pt x="227299" y="411898"/>
                  <a:pt x="210044" y="394665"/>
                </a:cubicBezTo>
                <a:cubicBezTo>
                  <a:pt x="183510" y="368164"/>
                  <a:pt x="164370" y="337174"/>
                  <a:pt x="155960" y="307198"/>
                </a:cubicBezTo>
                <a:cubicBezTo>
                  <a:pt x="146245" y="272587"/>
                  <a:pt x="151755" y="242611"/>
                  <a:pt x="171330" y="223061"/>
                </a:cubicBezTo>
                <a:lnTo>
                  <a:pt x="374618" y="20033"/>
                </a:lnTo>
                <a:cubicBezTo>
                  <a:pt x="384406" y="10258"/>
                  <a:pt x="396803" y="3995"/>
                  <a:pt x="411085" y="1388"/>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131" name="文本框 130">
            <a:extLst>
              <a:ext uri="{FF2B5EF4-FFF2-40B4-BE49-F238E27FC236}">
                <a16:creationId xmlns:a16="http://schemas.microsoft.com/office/drawing/2014/main" id="{8CCBBE44-DF9E-4C0F-B2E5-CEBF99D12269}"/>
              </a:ext>
            </a:extLst>
          </p:cNvPr>
          <p:cNvSpPr txBox="1"/>
          <p:nvPr/>
        </p:nvSpPr>
        <p:spPr>
          <a:xfrm>
            <a:off x="373082" y="3517143"/>
            <a:ext cx="1660612" cy="338554"/>
          </a:xfrm>
          <a:prstGeom prst="rect">
            <a:avLst/>
          </a:prstGeom>
          <a:noFill/>
        </p:spPr>
        <p:txBody>
          <a:bodyPr wrap="square" rtlCol="0">
            <a:spAutoFit/>
          </a:bodyPr>
          <a:lstStyle>
            <a:defPPr>
              <a:defRPr lang="zh-CN"/>
            </a:defPPr>
            <a:lvl1pPr>
              <a:defRPr sz="1600">
                <a:solidFill>
                  <a:schemeClr val="bg1"/>
                </a:solidFill>
                <a:latin typeface="思源黑体 CN Regular" panose="020B0500000000000000" pitchFamily="34" charset="-122"/>
                <a:ea typeface="思源黑体 CN Regular" panose="020B0500000000000000" pitchFamily="34" charset="-122"/>
              </a:defRPr>
            </a:lvl1pPr>
          </a:lstStyle>
          <a:p>
            <a:r>
              <a:rPr lang="zh-CN" altLang="en-US" dirty="0"/>
              <a:t>研究方法与思路</a:t>
            </a:r>
          </a:p>
        </p:txBody>
      </p:sp>
      <p:sp>
        <p:nvSpPr>
          <p:cNvPr id="132" name="文本框 131">
            <a:extLst>
              <a:ext uri="{FF2B5EF4-FFF2-40B4-BE49-F238E27FC236}">
                <a16:creationId xmlns:a16="http://schemas.microsoft.com/office/drawing/2014/main" id="{97FD83DE-CED2-4EB8-B200-7AC0146D9C15}"/>
              </a:ext>
            </a:extLst>
          </p:cNvPr>
          <p:cNvSpPr txBox="1"/>
          <p:nvPr/>
        </p:nvSpPr>
        <p:spPr>
          <a:xfrm>
            <a:off x="373082" y="4226265"/>
            <a:ext cx="1660612" cy="338554"/>
          </a:xfrm>
          <a:prstGeom prst="rect">
            <a:avLst/>
          </a:prstGeom>
          <a:noFill/>
        </p:spPr>
        <p:txBody>
          <a:bodyPr wrap="square" rtlCol="0">
            <a:spAutoFit/>
          </a:bodyPr>
          <a:lstStyle>
            <a:defPPr>
              <a:defRPr lang="zh-CN"/>
            </a:defPPr>
            <a:lvl1pPr>
              <a:defRPr sz="1600">
                <a:solidFill>
                  <a:schemeClr val="bg1"/>
                </a:solidFill>
                <a:latin typeface="思源黑体 CN Regular" panose="020B0500000000000000" pitchFamily="34" charset="-122"/>
                <a:ea typeface="思源黑体 CN Regular" panose="020B0500000000000000" pitchFamily="34" charset="-122"/>
              </a:defRPr>
            </a:lvl1pPr>
          </a:lstStyle>
          <a:p>
            <a:r>
              <a:rPr lang="zh-CN" altLang="en-US" dirty="0"/>
              <a:t>关键技术与创新</a:t>
            </a:r>
          </a:p>
        </p:txBody>
      </p:sp>
      <p:sp>
        <p:nvSpPr>
          <p:cNvPr id="133" name="任意矩形：004">
            <a:extLst>
              <a:ext uri="{FF2B5EF4-FFF2-40B4-BE49-F238E27FC236}">
                <a16:creationId xmlns:a16="http://schemas.microsoft.com/office/drawing/2014/main" id="{F5DFB88B-E58D-40A3-A35C-B1AFD3B46C81}"/>
              </a:ext>
            </a:extLst>
          </p:cNvPr>
          <p:cNvSpPr/>
          <p:nvPr/>
        </p:nvSpPr>
        <p:spPr>
          <a:xfrm rot="20700000">
            <a:off x="101744" y="4285500"/>
            <a:ext cx="251496" cy="189307"/>
          </a:xfrm>
          <a:custGeom>
            <a:avLst/>
            <a:gdLst>
              <a:gd name="T0" fmla="*/ 6845 w 7011"/>
              <a:gd name="T1" fmla="*/ 1345 h 5286"/>
              <a:gd name="T2" fmla="*/ 5180 w 7011"/>
              <a:gd name="T3" fmla="*/ 598 h 5286"/>
              <a:gd name="T4" fmla="*/ 5179 w 7011"/>
              <a:gd name="T5" fmla="*/ 598 h 5286"/>
              <a:gd name="T6" fmla="*/ 3505 w 7011"/>
              <a:gd name="T7" fmla="*/ 0 h 5286"/>
              <a:gd name="T8" fmla="*/ 907 w 7011"/>
              <a:gd name="T9" fmla="*/ 2166 h 5286"/>
              <a:gd name="T10" fmla="*/ 167 w 7011"/>
              <a:gd name="T11" fmla="*/ 3741 h 5286"/>
              <a:gd name="T12" fmla="*/ 1605 w 7011"/>
              <a:gd name="T13" fmla="*/ 4477 h 5286"/>
              <a:gd name="T14" fmla="*/ 3505 w 7011"/>
              <a:gd name="T15" fmla="*/ 5286 h 5286"/>
              <a:gd name="T16" fmla="*/ 6136 w 7011"/>
              <a:gd name="T17" fmla="*/ 2888 h 5286"/>
              <a:gd name="T18" fmla="*/ 6845 w 7011"/>
              <a:gd name="T19" fmla="*/ 1345 h 5286"/>
              <a:gd name="T20" fmla="*/ 521 w 7011"/>
              <a:gd name="T21" fmla="*/ 3613 h 5286"/>
              <a:gd name="T22" fmla="*/ 865 w 7011"/>
              <a:gd name="T23" fmla="*/ 2729 h 5286"/>
              <a:gd name="T24" fmla="*/ 1279 w 7011"/>
              <a:gd name="T25" fmla="*/ 4061 h 5286"/>
              <a:gd name="T26" fmla="*/ 521 w 7011"/>
              <a:gd name="T27" fmla="*/ 3613 h 5286"/>
              <a:gd name="T28" fmla="*/ 3507 w 7011"/>
              <a:gd name="T29" fmla="*/ 4909 h 5286"/>
              <a:gd name="T30" fmla="*/ 2171 w 7011"/>
              <a:gd name="T31" fmla="*/ 4472 h 5286"/>
              <a:gd name="T32" fmla="*/ 4051 w 7011"/>
              <a:gd name="T33" fmla="*/ 4060 h 5286"/>
              <a:gd name="T34" fmla="*/ 5695 w 7011"/>
              <a:gd name="T35" fmla="*/ 3233 h 5286"/>
              <a:gd name="T36" fmla="*/ 3507 w 7011"/>
              <a:gd name="T37" fmla="*/ 4909 h 5286"/>
              <a:gd name="T38" fmla="*/ 5772 w 7011"/>
              <a:gd name="T39" fmla="*/ 2705 h 5286"/>
              <a:gd name="T40" fmla="*/ 3924 w 7011"/>
              <a:gd name="T41" fmla="*/ 3706 h 5286"/>
              <a:gd name="T42" fmla="*/ 1779 w 7011"/>
              <a:gd name="T43" fmla="*/ 4108 h 5286"/>
              <a:gd name="T44" fmla="*/ 1240 w 7011"/>
              <a:gd name="T45" fmla="*/ 2642 h 5286"/>
              <a:gd name="T46" fmla="*/ 3507 w 7011"/>
              <a:gd name="T47" fmla="*/ 376 h 5286"/>
              <a:gd name="T48" fmla="*/ 5773 w 7011"/>
              <a:gd name="T49" fmla="*/ 2642 h 5286"/>
              <a:gd name="T50" fmla="*/ 5772 w 7011"/>
              <a:gd name="T51" fmla="*/ 2705 h 5286"/>
              <a:gd name="T52" fmla="*/ 6133 w 7011"/>
              <a:gd name="T53" fmla="*/ 2364 h 5286"/>
              <a:gd name="T54" fmla="*/ 5571 w 7011"/>
              <a:gd name="T55" fmla="*/ 996 h 5286"/>
              <a:gd name="T56" fmla="*/ 6491 w 7011"/>
              <a:gd name="T57" fmla="*/ 1472 h 5286"/>
              <a:gd name="T58" fmla="*/ 6133 w 7011"/>
              <a:gd name="T59" fmla="*/ 2364 h 528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7011" h="5286">
                <a:moveTo>
                  <a:pt x="6845" y="1345"/>
                </a:moveTo>
                <a:cubicBezTo>
                  <a:pt x="6672" y="864"/>
                  <a:pt x="6081" y="598"/>
                  <a:pt x="5180" y="598"/>
                </a:cubicBezTo>
                <a:lnTo>
                  <a:pt x="5179" y="598"/>
                </a:lnTo>
                <a:cubicBezTo>
                  <a:pt x="4723" y="225"/>
                  <a:pt x="4140" y="0"/>
                  <a:pt x="3505" y="0"/>
                </a:cubicBezTo>
                <a:cubicBezTo>
                  <a:pt x="2212" y="0"/>
                  <a:pt x="1132" y="936"/>
                  <a:pt x="907" y="2166"/>
                </a:cubicBezTo>
                <a:cubicBezTo>
                  <a:pt x="264" y="2720"/>
                  <a:pt x="0" y="3278"/>
                  <a:pt x="167" y="3741"/>
                </a:cubicBezTo>
                <a:cubicBezTo>
                  <a:pt x="325" y="4184"/>
                  <a:pt x="863" y="4433"/>
                  <a:pt x="1605" y="4477"/>
                </a:cubicBezTo>
                <a:cubicBezTo>
                  <a:pt x="2087" y="4976"/>
                  <a:pt x="2760" y="5286"/>
                  <a:pt x="3505" y="5286"/>
                </a:cubicBezTo>
                <a:cubicBezTo>
                  <a:pt x="4880" y="5286"/>
                  <a:pt x="6012" y="4232"/>
                  <a:pt x="6136" y="2888"/>
                </a:cubicBezTo>
                <a:cubicBezTo>
                  <a:pt x="6728" y="2364"/>
                  <a:pt x="7011" y="1804"/>
                  <a:pt x="6845" y="1345"/>
                </a:cubicBezTo>
                <a:close/>
                <a:moveTo>
                  <a:pt x="521" y="3613"/>
                </a:moveTo>
                <a:cubicBezTo>
                  <a:pt x="437" y="3380"/>
                  <a:pt x="565" y="3064"/>
                  <a:pt x="865" y="2729"/>
                </a:cubicBezTo>
                <a:cubicBezTo>
                  <a:pt x="881" y="3218"/>
                  <a:pt x="1031" y="3673"/>
                  <a:pt x="1279" y="4061"/>
                </a:cubicBezTo>
                <a:cubicBezTo>
                  <a:pt x="871" y="3988"/>
                  <a:pt x="599" y="3830"/>
                  <a:pt x="521" y="3613"/>
                </a:cubicBezTo>
                <a:close/>
                <a:moveTo>
                  <a:pt x="3507" y="4909"/>
                </a:moveTo>
                <a:cubicBezTo>
                  <a:pt x="3008" y="4909"/>
                  <a:pt x="2545" y="4746"/>
                  <a:pt x="2171" y="4472"/>
                </a:cubicBezTo>
                <a:cubicBezTo>
                  <a:pt x="2740" y="4434"/>
                  <a:pt x="3384" y="4300"/>
                  <a:pt x="4051" y="4060"/>
                </a:cubicBezTo>
                <a:cubicBezTo>
                  <a:pt x="4684" y="3833"/>
                  <a:pt x="5243" y="3546"/>
                  <a:pt x="5695" y="3233"/>
                </a:cubicBezTo>
                <a:cubicBezTo>
                  <a:pt x="5433" y="4197"/>
                  <a:pt x="4552" y="4909"/>
                  <a:pt x="3507" y="4909"/>
                </a:cubicBezTo>
                <a:close/>
                <a:moveTo>
                  <a:pt x="5772" y="2705"/>
                </a:moveTo>
                <a:cubicBezTo>
                  <a:pt x="5328" y="3068"/>
                  <a:pt x="4700" y="3428"/>
                  <a:pt x="3924" y="3706"/>
                </a:cubicBezTo>
                <a:cubicBezTo>
                  <a:pt x="3111" y="3998"/>
                  <a:pt x="2365" y="4117"/>
                  <a:pt x="1779" y="4108"/>
                </a:cubicBezTo>
                <a:cubicBezTo>
                  <a:pt x="1443" y="3712"/>
                  <a:pt x="1240" y="3201"/>
                  <a:pt x="1240" y="2642"/>
                </a:cubicBezTo>
                <a:cubicBezTo>
                  <a:pt x="1240" y="1393"/>
                  <a:pt x="2256" y="376"/>
                  <a:pt x="3507" y="376"/>
                </a:cubicBezTo>
                <a:cubicBezTo>
                  <a:pt x="4756" y="376"/>
                  <a:pt x="5773" y="1393"/>
                  <a:pt x="5773" y="2642"/>
                </a:cubicBezTo>
                <a:cubicBezTo>
                  <a:pt x="5773" y="2664"/>
                  <a:pt x="5772" y="2684"/>
                  <a:pt x="5772" y="2705"/>
                </a:cubicBezTo>
                <a:close/>
                <a:moveTo>
                  <a:pt x="6133" y="2364"/>
                </a:moveTo>
                <a:cubicBezTo>
                  <a:pt x="6079" y="1849"/>
                  <a:pt x="5877" y="1380"/>
                  <a:pt x="5571" y="996"/>
                </a:cubicBezTo>
                <a:cubicBezTo>
                  <a:pt x="6067" y="1053"/>
                  <a:pt x="6401" y="1221"/>
                  <a:pt x="6491" y="1472"/>
                </a:cubicBezTo>
                <a:cubicBezTo>
                  <a:pt x="6573" y="1704"/>
                  <a:pt x="6443" y="2024"/>
                  <a:pt x="6133" y="2364"/>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134" name="文本框 133">
            <a:extLst>
              <a:ext uri="{FF2B5EF4-FFF2-40B4-BE49-F238E27FC236}">
                <a16:creationId xmlns:a16="http://schemas.microsoft.com/office/drawing/2014/main" id="{7567D2B6-B02D-4F67-BF1B-B711482E857D}"/>
              </a:ext>
            </a:extLst>
          </p:cNvPr>
          <p:cNvSpPr txBox="1"/>
          <p:nvPr/>
        </p:nvSpPr>
        <p:spPr>
          <a:xfrm>
            <a:off x="373082" y="4935387"/>
            <a:ext cx="1660612" cy="338554"/>
          </a:xfrm>
          <a:prstGeom prst="rect">
            <a:avLst/>
          </a:prstGeom>
          <a:noFill/>
        </p:spPr>
        <p:txBody>
          <a:bodyPr wrap="square" rtlCol="0">
            <a:spAutoFit/>
          </a:bodyPr>
          <a:lstStyle>
            <a:defPPr>
              <a:defRPr lang="zh-CN"/>
            </a:defPPr>
            <a:lvl1pPr>
              <a:defRPr sz="1600">
                <a:solidFill>
                  <a:schemeClr val="accent1"/>
                </a:solidFill>
                <a:latin typeface="思源黑体 CN Regular" panose="020B0500000000000000" pitchFamily="34" charset="-122"/>
                <a:ea typeface="思源黑体 CN Regular" panose="020B0500000000000000" pitchFamily="34" charset="-122"/>
              </a:defRPr>
            </a:lvl1pPr>
          </a:lstStyle>
          <a:p>
            <a:r>
              <a:rPr lang="zh-CN" altLang="en-US" dirty="0"/>
              <a:t>已开展工作</a:t>
            </a:r>
          </a:p>
        </p:txBody>
      </p:sp>
      <p:sp>
        <p:nvSpPr>
          <p:cNvPr id="135" name="任意矩形：005">
            <a:extLst>
              <a:ext uri="{FF2B5EF4-FFF2-40B4-BE49-F238E27FC236}">
                <a16:creationId xmlns:a16="http://schemas.microsoft.com/office/drawing/2014/main" id="{8E07B85F-7E4A-4954-B9F5-0D413138EAA4}"/>
              </a:ext>
            </a:extLst>
          </p:cNvPr>
          <p:cNvSpPr/>
          <p:nvPr/>
        </p:nvSpPr>
        <p:spPr>
          <a:xfrm>
            <a:off x="123946" y="4988361"/>
            <a:ext cx="201734" cy="201828"/>
          </a:xfrm>
          <a:custGeom>
            <a:avLst/>
            <a:gdLst>
              <a:gd name="T0" fmla="*/ 278945 h 440259"/>
              <a:gd name="T1" fmla="*/ 278945 h 440259"/>
              <a:gd name="T2" fmla="*/ 278945 h 440259"/>
              <a:gd name="T3" fmla="*/ 278945 h 440259"/>
              <a:gd name="T4" fmla="*/ 278945 h 440259"/>
              <a:gd name="T5" fmla="*/ 278945 h 440259"/>
              <a:gd name="T6" fmla="*/ 278945 h 440259"/>
              <a:gd name="T7" fmla="*/ 278945 h 440259"/>
              <a:gd name="T8" fmla="*/ 278945 h 440259"/>
              <a:gd name="T9" fmla="*/ 278945 h 440259"/>
              <a:gd name="T10" fmla="*/ 278945 h 440259"/>
              <a:gd name="T11" fmla="*/ 278945 h 440259"/>
              <a:gd name="T12" fmla="*/ 278945 h 440259"/>
              <a:gd name="T13" fmla="*/ 278945 h 440259"/>
              <a:gd name="T14" fmla="*/ 278945 h 440259"/>
              <a:gd name="T15" fmla="*/ 278945 h 440259"/>
              <a:gd name="T16" fmla="*/ 278945 h 440259"/>
              <a:gd name="T17" fmla="*/ 278945 h 440259"/>
              <a:gd name="T18" fmla="*/ 278945 h 440259"/>
              <a:gd name="T19" fmla="*/ 278945 h 440259"/>
              <a:gd name="T20" fmla="*/ 278945 h 440259"/>
              <a:gd name="T21" fmla="*/ 278945 h 440259"/>
              <a:gd name="T22" fmla="*/ 278945 h 440259"/>
              <a:gd name="T23" fmla="*/ 278945 h 440259"/>
              <a:gd name="T24" fmla="*/ 278945 h 440259"/>
              <a:gd name="T25" fmla="*/ 278945 h 440259"/>
              <a:gd name="T26" fmla="*/ 278945 h 440259"/>
              <a:gd name="T27" fmla="*/ 278945 h 440259"/>
              <a:gd name="T28" fmla="*/ 278945 h 440259"/>
              <a:gd name="T29" fmla="*/ 278945 h 440259"/>
              <a:gd name="T30" fmla="*/ 278945 h 440259"/>
              <a:gd name="T31" fmla="*/ 278945 h 440259"/>
              <a:gd name="T32" fmla="*/ 278945 h 440259"/>
              <a:gd name="T33" fmla="*/ 278945 h 440259"/>
              <a:gd name="T34" fmla="*/ 278945 h 440259"/>
              <a:gd name="T35" fmla="*/ 278945 h 440259"/>
              <a:gd name="T36" fmla="*/ 278945 h 440259"/>
              <a:gd name="T37" fmla="*/ 278945 h 440259"/>
              <a:gd name="T38" fmla="*/ 278945 h 440259"/>
              <a:gd name="T39" fmla="*/ 278945 h 440259"/>
              <a:gd name="T40" fmla="*/ 278945 h 440259"/>
              <a:gd name="T41" fmla="*/ 278945 h 440259"/>
              <a:gd name="T42" fmla="*/ 278945 h 440259"/>
              <a:gd name="T43" fmla="*/ 278945 h 440259"/>
              <a:gd name="T44" fmla="*/ 278945 h 440259"/>
              <a:gd name="T45" fmla="*/ 278945 h 440259"/>
              <a:gd name="T46" fmla="*/ 278945 h 440259"/>
              <a:gd name="T47" fmla="*/ 278945 h 440259"/>
              <a:gd name="T48" fmla="*/ 278945 h 440259"/>
              <a:gd name="T49" fmla="*/ 278945 h 440259"/>
              <a:gd name="T50" fmla="*/ 278945 h 440259"/>
              <a:gd name="T51" fmla="*/ 278945 h 440259"/>
              <a:gd name="T52" fmla="*/ 278945 h 440259"/>
              <a:gd name="T53" fmla="*/ 278945 h 440259"/>
              <a:gd name="T54" fmla="*/ 278945 h 440259"/>
              <a:gd name="T55" fmla="*/ 278945 h 440259"/>
              <a:gd name="T56" fmla="*/ 278945 h 440259"/>
              <a:gd name="T57" fmla="*/ 278945 h 440259"/>
              <a:gd name="T58" fmla="*/ 278945 h 440259"/>
              <a:gd name="T59" fmla="*/ 278945 h 440259"/>
              <a:gd name="T60" fmla="*/ 278945 h 440259"/>
              <a:gd name="T61" fmla="*/ 278945 h 440259"/>
              <a:gd name="T62" fmla="*/ 278945 h 440259"/>
              <a:gd name="T63" fmla="*/ 278945 h 440259"/>
              <a:gd name="T64" fmla="*/ 278945 h 440259"/>
              <a:gd name="T65" fmla="*/ 278945 h 440259"/>
              <a:gd name="T66" fmla="*/ 278945 h 440259"/>
              <a:gd name="T67" fmla="*/ 278945 h 440259"/>
              <a:gd name="T68" fmla="*/ 278945 h 440259"/>
              <a:gd name="T69" fmla="*/ 278945 h 440259"/>
              <a:gd name="T70" fmla="*/ 278945 h 440259"/>
              <a:gd name="T71" fmla="*/ 278945 h 440259"/>
              <a:gd name="T72" fmla="*/ 278945 h 440259"/>
              <a:gd name="T73" fmla="*/ 278945 h 440259"/>
              <a:gd name="T74" fmla="*/ 278945 h 440259"/>
              <a:gd name="T75" fmla="*/ 278945 h 440259"/>
              <a:gd name="T76" fmla="*/ 278945 h 440259"/>
              <a:gd name="T77" fmla="*/ 278945 h 440259"/>
              <a:gd name="T78" fmla="*/ 278945 h 440259"/>
              <a:gd name="T79" fmla="*/ 278945 h 440259"/>
              <a:gd name="T80" fmla="*/ 278945 h 440259"/>
              <a:gd name="T81" fmla="*/ 278945 h 440259"/>
              <a:gd name="T82" fmla="*/ 278945 h 440259"/>
              <a:gd name="T83" fmla="*/ 278945 h 440259"/>
              <a:gd name="T84" fmla="*/ 88862 h 440259"/>
              <a:gd name="T85" fmla="*/ 88862 h 440259"/>
              <a:gd name="T86" fmla="*/ 278945 h 440259"/>
              <a:gd name="T87" fmla="*/ 278945 h 44025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Lst>
            <a:rect l="0" t="0" r="r" b="b"/>
            <a:pathLst>
              <a:path w="6495" h="6508">
                <a:moveTo>
                  <a:pt x="6495" y="203"/>
                </a:moveTo>
                <a:lnTo>
                  <a:pt x="6495" y="197"/>
                </a:lnTo>
                <a:cubicBezTo>
                  <a:pt x="6495" y="193"/>
                  <a:pt x="6493" y="191"/>
                  <a:pt x="6493" y="187"/>
                </a:cubicBezTo>
                <a:cubicBezTo>
                  <a:pt x="6493" y="184"/>
                  <a:pt x="6493" y="181"/>
                  <a:pt x="6492" y="179"/>
                </a:cubicBezTo>
                <a:cubicBezTo>
                  <a:pt x="6492" y="176"/>
                  <a:pt x="6491" y="173"/>
                  <a:pt x="6491" y="172"/>
                </a:cubicBezTo>
                <a:cubicBezTo>
                  <a:pt x="6489" y="169"/>
                  <a:pt x="6489" y="165"/>
                  <a:pt x="6488" y="163"/>
                </a:cubicBezTo>
                <a:cubicBezTo>
                  <a:pt x="6488" y="161"/>
                  <a:pt x="6487" y="160"/>
                  <a:pt x="6487" y="157"/>
                </a:cubicBezTo>
                <a:lnTo>
                  <a:pt x="6483" y="145"/>
                </a:lnTo>
                <a:cubicBezTo>
                  <a:pt x="6483" y="144"/>
                  <a:pt x="6481" y="144"/>
                  <a:pt x="6481" y="143"/>
                </a:cubicBezTo>
                <a:cubicBezTo>
                  <a:pt x="6480" y="139"/>
                  <a:pt x="6477" y="133"/>
                  <a:pt x="6475" y="129"/>
                </a:cubicBezTo>
                <a:cubicBezTo>
                  <a:pt x="6475" y="128"/>
                  <a:pt x="6473" y="127"/>
                  <a:pt x="6473" y="127"/>
                </a:cubicBezTo>
                <a:cubicBezTo>
                  <a:pt x="6471" y="123"/>
                  <a:pt x="6469" y="119"/>
                  <a:pt x="6467" y="115"/>
                </a:cubicBezTo>
                <a:cubicBezTo>
                  <a:pt x="6457" y="101"/>
                  <a:pt x="6447" y="89"/>
                  <a:pt x="6435" y="79"/>
                </a:cubicBezTo>
                <a:cubicBezTo>
                  <a:pt x="6385" y="23"/>
                  <a:pt x="6304" y="0"/>
                  <a:pt x="6231" y="31"/>
                </a:cubicBezTo>
                <a:lnTo>
                  <a:pt x="112" y="2559"/>
                </a:lnTo>
                <a:cubicBezTo>
                  <a:pt x="111" y="2560"/>
                  <a:pt x="108" y="2560"/>
                  <a:pt x="107" y="2561"/>
                </a:cubicBezTo>
                <a:cubicBezTo>
                  <a:pt x="103" y="2563"/>
                  <a:pt x="100" y="2564"/>
                  <a:pt x="96" y="2567"/>
                </a:cubicBezTo>
                <a:lnTo>
                  <a:pt x="88" y="2571"/>
                </a:lnTo>
                <a:cubicBezTo>
                  <a:pt x="85" y="2572"/>
                  <a:pt x="83" y="2573"/>
                  <a:pt x="80" y="2576"/>
                </a:cubicBezTo>
                <a:cubicBezTo>
                  <a:pt x="77" y="2577"/>
                  <a:pt x="75" y="2580"/>
                  <a:pt x="72" y="2581"/>
                </a:cubicBezTo>
                <a:cubicBezTo>
                  <a:pt x="69" y="2583"/>
                  <a:pt x="68" y="2584"/>
                  <a:pt x="65" y="2587"/>
                </a:cubicBezTo>
                <a:cubicBezTo>
                  <a:pt x="63" y="2588"/>
                  <a:pt x="61" y="2591"/>
                  <a:pt x="59" y="2593"/>
                </a:cubicBezTo>
                <a:cubicBezTo>
                  <a:pt x="56" y="2595"/>
                  <a:pt x="55" y="2597"/>
                  <a:pt x="52" y="2599"/>
                </a:cubicBezTo>
                <a:lnTo>
                  <a:pt x="45" y="2605"/>
                </a:lnTo>
                <a:cubicBezTo>
                  <a:pt x="44" y="2608"/>
                  <a:pt x="41" y="2609"/>
                  <a:pt x="40" y="2612"/>
                </a:cubicBezTo>
                <a:cubicBezTo>
                  <a:pt x="39" y="2615"/>
                  <a:pt x="36" y="2617"/>
                  <a:pt x="35" y="2619"/>
                </a:cubicBezTo>
                <a:cubicBezTo>
                  <a:pt x="33" y="2621"/>
                  <a:pt x="31" y="2623"/>
                  <a:pt x="29" y="2625"/>
                </a:cubicBezTo>
                <a:cubicBezTo>
                  <a:pt x="28" y="2628"/>
                  <a:pt x="25" y="2631"/>
                  <a:pt x="24" y="2633"/>
                </a:cubicBezTo>
                <a:cubicBezTo>
                  <a:pt x="23" y="2636"/>
                  <a:pt x="21" y="2637"/>
                  <a:pt x="20" y="2640"/>
                </a:cubicBezTo>
                <a:cubicBezTo>
                  <a:pt x="17" y="2644"/>
                  <a:pt x="16" y="2648"/>
                  <a:pt x="15" y="2652"/>
                </a:cubicBezTo>
                <a:cubicBezTo>
                  <a:pt x="15" y="2653"/>
                  <a:pt x="13" y="2655"/>
                  <a:pt x="12" y="2656"/>
                </a:cubicBezTo>
                <a:lnTo>
                  <a:pt x="12" y="2656"/>
                </a:lnTo>
                <a:cubicBezTo>
                  <a:pt x="9" y="2661"/>
                  <a:pt x="8" y="2667"/>
                  <a:pt x="7" y="2672"/>
                </a:cubicBezTo>
                <a:lnTo>
                  <a:pt x="7" y="2673"/>
                </a:lnTo>
                <a:cubicBezTo>
                  <a:pt x="5" y="2679"/>
                  <a:pt x="4" y="2684"/>
                  <a:pt x="3" y="2691"/>
                </a:cubicBezTo>
                <a:cubicBezTo>
                  <a:pt x="3" y="2693"/>
                  <a:pt x="1" y="2696"/>
                  <a:pt x="1" y="2699"/>
                </a:cubicBezTo>
                <a:cubicBezTo>
                  <a:pt x="1" y="2701"/>
                  <a:pt x="0" y="2705"/>
                  <a:pt x="0" y="2708"/>
                </a:cubicBezTo>
                <a:lnTo>
                  <a:pt x="0" y="2716"/>
                </a:lnTo>
                <a:lnTo>
                  <a:pt x="0" y="2725"/>
                </a:lnTo>
                <a:lnTo>
                  <a:pt x="0" y="2733"/>
                </a:lnTo>
                <a:lnTo>
                  <a:pt x="0" y="2743"/>
                </a:lnTo>
                <a:cubicBezTo>
                  <a:pt x="0" y="2745"/>
                  <a:pt x="1" y="2748"/>
                  <a:pt x="1" y="2749"/>
                </a:cubicBezTo>
                <a:cubicBezTo>
                  <a:pt x="1" y="2753"/>
                  <a:pt x="3" y="2756"/>
                  <a:pt x="3" y="2760"/>
                </a:cubicBezTo>
                <a:cubicBezTo>
                  <a:pt x="4" y="2764"/>
                  <a:pt x="4" y="2768"/>
                  <a:pt x="5" y="2772"/>
                </a:cubicBezTo>
                <a:cubicBezTo>
                  <a:pt x="7" y="2775"/>
                  <a:pt x="7" y="2777"/>
                  <a:pt x="8" y="2780"/>
                </a:cubicBezTo>
                <a:cubicBezTo>
                  <a:pt x="9" y="2784"/>
                  <a:pt x="11" y="2789"/>
                  <a:pt x="13" y="2793"/>
                </a:cubicBezTo>
                <a:lnTo>
                  <a:pt x="13" y="2793"/>
                </a:lnTo>
                <a:cubicBezTo>
                  <a:pt x="15" y="2799"/>
                  <a:pt x="17" y="2803"/>
                  <a:pt x="20" y="2807"/>
                </a:cubicBezTo>
                <a:cubicBezTo>
                  <a:pt x="20" y="2808"/>
                  <a:pt x="21" y="2809"/>
                  <a:pt x="21" y="2809"/>
                </a:cubicBezTo>
                <a:cubicBezTo>
                  <a:pt x="23" y="2813"/>
                  <a:pt x="25" y="2816"/>
                  <a:pt x="28" y="2820"/>
                </a:cubicBezTo>
                <a:cubicBezTo>
                  <a:pt x="29" y="2821"/>
                  <a:pt x="29" y="2823"/>
                  <a:pt x="31" y="2824"/>
                </a:cubicBezTo>
                <a:cubicBezTo>
                  <a:pt x="33" y="2828"/>
                  <a:pt x="35" y="2831"/>
                  <a:pt x="37" y="2833"/>
                </a:cubicBezTo>
                <a:cubicBezTo>
                  <a:pt x="39" y="2835"/>
                  <a:pt x="39" y="2836"/>
                  <a:pt x="40" y="2836"/>
                </a:cubicBezTo>
                <a:cubicBezTo>
                  <a:pt x="44" y="2840"/>
                  <a:pt x="47" y="2844"/>
                  <a:pt x="51" y="2848"/>
                </a:cubicBezTo>
                <a:lnTo>
                  <a:pt x="51" y="2848"/>
                </a:lnTo>
                <a:cubicBezTo>
                  <a:pt x="55" y="2852"/>
                  <a:pt x="59" y="2855"/>
                  <a:pt x="63" y="2859"/>
                </a:cubicBezTo>
                <a:cubicBezTo>
                  <a:pt x="64" y="2860"/>
                  <a:pt x="65" y="2861"/>
                  <a:pt x="67" y="2861"/>
                </a:cubicBezTo>
                <a:cubicBezTo>
                  <a:pt x="69" y="2864"/>
                  <a:pt x="73" y="2867"/>
                  <a:pt x="76" y="2868"/>
                </a:cubicBezTo>
                <a:cubicBezTo>
                  <a:pt x="77" y="2869"/>
                  <a:pt x="79" y="2869"/>
                  <a:pt x="80" y="2871"/>
                </a:cubicBezTo>
                <a:cubicBezTo>
                  <a:pt x="84" y="2873"/>
                  <a:pt x="89" y="2876"/>
                  <a:pt x="93" y="2879"/>
                </a:cubicBezTo>
                <a:cubicBezTo>
                  <a:pt x="95" y="2879"/>
                  <a:pt x="95" y="2880"/>
                  <a:pt x="96" y="2880"/>
                </a:cubicBezTo>
                <a:cubicBezTo>
                  <a:pt x="100" y="2883"/>
                  <a:pt x="104" y="2884"/>
                  <a:pt x="109" y="2887"/>
                </a:cubicBezTo>
                <a:cubicBezTo>
                  <a:pt x="111" y="2887"/>
                  <a:pt x="111" y="2888"/>
                  <a:pt x="112" y="2888"/>
                </a:cubicBezTo>
                <a:lnTo>
                  <a:pt x="2579" y="3933"/>
                </a:lnTo>
                <a:lnTo>
                  <a:pt x="3624" y="6400"/>
                </a:lnTo>
                <a:cubicBezTo>
                  <a:pt x="3625" y="6405"/>
                  <a:pt x="3628" y="6409"/>
                  <a:pt x="3631" y="6413"/>
                </a:cubicBezTo>
                <a:cubicBezTo>
                  <a:pt x="3631" y="6415"/>
                  <a:pt x="3632" y="6416"/>
                  <a:pt x="3632" y="6416"/>
                </a:cubicBezTo>
                <a:cubicBezTo>
                  <a:pt x="3635" y="6420"/>
                  <a:pt x="3636" y="6423"/>
                  <a:pt x="3639" y="6427"/>
                </a:cubicBezTo>
                <a:cubicBezTo>
                  <a:pt x="3640" y="6428"/>
                  <a:pt x="3640" y="6429"/>
                  <a:pt x="3641" y="6431"/>
                </a:cubicBezTo>
                <a:cubicBezTo>
                  <a:pt x="3644" y="6435"/>
                  <a:pt x="3647" y="6437"/>
                  <a:pt x="3648" y="6440"/>
                </a:cubicBezTo>
                <a:cubicBezTo>
                  <a:pt x="3649" y="6441"/>
                  <a:pt x="3649" y="6443"/>
                  <a:pt x="3651" y="6443"/>
                </a:cubicBezTo>
                <a:cubicBezTo>
                  <a:pt x="3655" y="6447"/>
                  <a:pt x="3657" y="6451"/>
                  <a:pt x="3661" y="6455"/>
                </a:cubicBezTo>
                <a:lnTo>
                  <a:pt x="3663" y="6456"/>
                </a:lnTo>
                <a:cubicBezTo>
                  <a:pt x="3667" y="6459"/>
                  <a:pt x="3669" y="6463"/>
                  <a:pt x="3673" y="6465"/>
                </a:cubicBezTo>
                <a:cubicBezTo>
                  <a:pt x="3675" y="6467"/>
                  <a:pt x="3676" y="6468"/>
                  <a:pt x="3677" y="6468"/>
                </a:cubicBezTo>
                <a:cubicBezTo>
                  <a:pt x="3680" y="6471"/>
                  <a:pt x="3684" y="6473"/>
                  <a:pt x="3687" y="6475"/>
                </a:cubicBezTo>
                <a:cubicBezTo>
                  <a:pt x="3688" y="6476"/>
                  <a:pt x="3689" y="6476"/>
                  <a:pt x="3691" y="6477"/>
                </a:cubicBezTo>
                <a:cubicBezTo>
                  <a:pt x="3695" y="6480"/>
                  <a:pt x="3700" y="6483"/>
                  <a:pt x="3704" y="6485"/>
                </a:cubicBezTo>
                <a:cubicBezTo>
                  <a:pt x="3705" y="6485"/>
                  <a:pt x="3707" y="6487"/>
                  <a:pt x="3707" y="6487"/>
                </a:cubicBezTo>
                <a:cubicBezTo>
                  <a:pt x="3711" y="6489"/>
                  <a:pt x="3715" y="6491"/>
                  <a:pt x="3719" y="6492"/>
                </a:cubicBezTo>
                <a:cubicBezTo>
                  <a:pt x="3720" y="6492"/>
                  <a:pt x="3720" y="6493"/>
                  <a:pt x="3721" y="6493"/>
                </a:cubicBezTo>
                <a:cubicBezTo>
                  <a:pt x="3721" y="6493"/>
                  <a:pt x="3723" y="6493"/>
                  <a:pt x="3723" y="6495"/>
                </a:cubicBezTo>
                <a:cubicBezTo>
                  <a:pt x="3727" y="6496"/>
                  <a:pt x="3732" y="6499"/>
                  <a:pt x="3736" y="6500"/>
                </a:cubicBezTo>
                <a:lnTo>
                  <a:pt x="3737" y="6500"/>
                </a:lnTo>
                <a:cubicBezTo>
                  <a:pt x="3743" y="6501"/>
                  <a:pt x="3747" y="6503"/>
                  <a:pt x="3752" y="6504"/>
                </a:cubicBezTo>
                <a:cubicBezTo>
                  <a:pt x="3753" y="6504"/>
                  <a:pt x="3756" y="6504"/>
                  <a:pt x="3757" y="6505"/>
                </a:cubicBezTo>
                <a:cubicBezTo>
                  <a:pt x="3761" y="6505"/>
                  <a:pt x="3764" y="6507"/>
                  <a:pt x="3768" y="6507"/>
                </a:cubicBezTo>
                <a:lnTo>
                  <a:pt x="3773" y="6507"/>
                </a:lnTo>
                <a:cubicBezTo>
                  <a:pt x="3779" y="6507"/>
                  <a:pt x="3783" y="6508"/>
                  <a:pt x="3788" y="6508"/>
                </a:cubicBezTo>
                <a:lnTo>
                  <a:pt x="3788" y="6508"/>
                </a:lnTo>
                <a:lnTo>
                  <a:pt x="3788" y="6508"/>
                </a:lnTo>
                <a:lnTo>
                  <a:pt x="3788" y="6508"/>
                </a:lnTo>
                <a:lnTo>
                  <a:pt x="3788" y="6508"/>
                </a:lnTo>
                <a:cubicBezTo>
                  <a:pt x="3793" y="6508"/>
                  <a:pt x="3799" y="6508"/>
                  <a:pt x="3803" y="6507"/>
                </a:cubicBezTo>
                <a:lnTo>
                  <a:pt x="3808" y="6507"/>
                </a:lnTo>
                <a:cubicBezTo>
                  <a:pt x="3812" y="6507"/>
                  <a:pt x="3816" y="6505"/>
                  <a:pt x="3819" y="6505"/>
                </a:cubicBezTo>
                <a:cubicBezTo>
                  <a:pt x="3820" y="6505"/>
                  <a:pt x="3823" y="6505"/>
                  <a:pt x="3824" y="6504"/>
                </a:cubicBezTo>
                <a:cubicBezTo>
                  <a:pt x="3829" y="6503"/>
                  <a:pt x="3835" y="6501"/>
                  <a:pt x="3839" y="6500"/>
                </a:cubicBezTo>
                <a:cubicBezTo>
                  <a:pt x="3840" y="6500"/>
                  <a:pt x="3840" y="6500"/>
                  <a:pt x="3841" y="6499"/>
                </a:cubicBezTo>
                <a:cubicBezTo>
                  <a:pt x="3845" y="6497"/>
                  <a:pt x="3851" y="6496"/>
                  <a:pt x="3855" y="6493"/>
                </a:cubicBezTo>
                <a:cubicBezTo>
                  <a:pt x="3856" y="6493"/>
                  <a:pt x="3856" y="6493"/>
                  <a:pt x="3857" y="6492"/>
                </a:cubicBezTo>
                <a:cubicBezTo>
                  <a:pt x="3859" y="6492"/>
                  <a:pt x="3859" y="6491"/>
                  <a:pt x="3860" y="6491"/>
                </a:cubicBezTo>
                <a:cubicBezTo>
                  <a:pt x="3864" y="6489"/>
                  <a:pt x="3868" y="6487"/>
                  <a:pt x="3872" y="6484"/>
                </a:cubicBezTo>
                <a:cubicBezTo>
                  <a:pt x="3873" y="6484"/>
                  <a:pt x="3873" y="6483"/>
                  <a:pt x="3875" y="6483"/>
                </a:cubicBezTo>
                <a:cubicBezTo>
                  <a:pt x="3879" y="6480"/>
                  <a:pt x="3884" y="6477"/>
                  <a:pt x="3888" y="6475"/>
                </a:cubicBezTo>
                <a:cubicBezTo>
                  <a:pt x="3889" y="6473"/>
                  <a:pt x="3891" y="6473"/>
                  <a:pt x="3892" y="6472"/>
                </a:cubicBezTo>
                <a:cubicBezTo>
                  <a:pt x="3895" y="6469"/>
                  <a:pt x="3899" y="6468"/>
                  <a:pt x="3901" y="6465"/>
                </a:cubicBezTo>
                <a:cubicBezTo>
                  <a:pt x="3903" y="6464"/>
                  <a:pt x="3904" y="6463"/>
                  <a:pt x="3905" y="6463"/>
                </a:cubicBezTo>
                <a:cubicBezTo>
                  <a:pt x="3909" y="6459"/>
                  <a:pt x="3913" y="6456"/>
                  <a:pt x="3916" y="6452"/>
                </a:cubicBezTo>
                <a:lnTo>
                  <a:pt x="3916" y="6452"/>
                </a:lnTo>
                <a:cubicBezTo>
                  <a:pt x="3920" y="6448"/>
                  <a:pt x="3923" y="6444"/>
                  <a:pt x="3927" y="6440"/>
                </a:cubicBezTo>
                <a:cubicBezTo>
                  <a:pt x="3928" y="6439"/>
                  <a:pt x="3928" y="6437"/>
                  <a:pt x="3929" y="6436"/>
                </a:cubicBezTo>
                <a:cubicBezTo>
                  <a:pt x="3932" y="6433"/>
                  <a:pt x="3935" y="6429"/>
                  <a:pt x="3936" y="6427"/>
                </a:cubicBezTo>
                <a:cubicBezTo>
                  <a:pt x="3937" y="6425"/>
                  <a:pt x="3937" y="6424"/>
                  <a:pt x="3939" y="6423"/>
                </a:cubicBezTo>
                <a:cubicBezTo>
                  <a:pt x="3941" y="6419"/>
                  <a:pt x="3943" y="6416"/>
                  <a:pt x="3945" y="6412"/>
                </a:cubicBezTo>
                <a:cubicBezTo>
                  <a:pt x="3945" y="6411"/>
                  <a:pt x="3947" y="6409"/>
                  <a:pt x="3947" y="6409"/>
                </a:cubicBezTo>
                <a:cubicBezTo>
                  <a:pt x="3949" y="6405"/>
                  <a:pt x="3951" y="6400"/>
                  <a:pt x="3953" y="6396"/>
                </a:cubicBezTo>
                <a:lnTo>
                  <a:pt x="6481" y="284"/>
                </a:lnTo>
                <a:cubicBezTo>
                  <a:pt x="6485" y="273"/>
                  <a:pt x="6489" y="261"/>
                  <a:pt x="6492" y="249"/>
                </a:cubicBezTo>
                <a:cubicBezTo>
                  <a:pt x="6493" y="245"/>
                  <a:pt x="6493" y="240"/>
                  <a:pt x="6493" y="236"/>
                </a:cubicBezTo>
                <a:lnTo>
                  <a:pt x="6493" y="232"/>
                </a:lnTo>
                <a:cubicBezTo>
                  <a:pt x="6493" y="227"/>
                  <a:pt x="6493" y="223"/>
                  <a:pt x="6495" y="217"/>
                </a:cubicBezTo>
                <a:lnTo>
                  <a:pt x="6495" y="215"/>
                </a:lnTo>
                <a:lnTo>
                  <a:pt x="6495" y="203"/>
                </a:lnTo>
                <a:close/>
                <a:moveTo>
                  <a:pt x="648" y="2727"/>
                </a:moveTo>
                <a:lnTo>
                  <a:pt x="5589" y="687"/>
                </a:lnTo>
                <a:lnTo>
                  <a:pt x="2685" y="3589"/>
                </a:lnTo>
                <a:lnTo>
                  <a:pt x="648" y="2727"/>
                </a:lnTo>
                <a:close/>
                <a:moveTo>
                  <a:pt x="3787" y="5865"/>
                </a:moveTo>
                <a:lnTo>
                  <a:pt x="2933" y="3851"/>
                </a:lnTo>
                <a:lnTo>
                  <a:pt x="5804" y="981"/>
                </a:lnTo>
                <a:lnTo>
                  <a:pt x="3787" y="5865"/>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138" name="文本框 137">
            <a:extLst>
              <a:ext uri="{FF2B5EF4-FFF2-40B4-BE49-F238E27FC236}">
                <a16:creationId xmlns:a16="http://schemas.microsoft.com/office/drawing/2014/main" id="{70027444-D39F-4CFD-BAF5-6F09C492F4E5}"/>
              </a:ext>
            </a:extLst>
          </p:cNvPr>
          <p:cNvSpPr txBox="1"/>
          <p:nvPr/>
        </p:nvSpPr>
        <p:spPr>
          <a:xfrm>
            <a:off x="373082" y="5620123"/>
            <a:ext cx="1660612" cy="338554"/>
          </a:xfrm>
          <a:prstGeom prst="rect">
            <a:avLst/>
          </a:prstGeom>
          <a:noFill/>
        </p:spPr>
        <p:txBody>
          <a:bodyPr wrap="square" rtlCol="0">
            <a:spAutoFit/>
          </a:bodyPr>
          <a:lstStyle/>
          <a:p>
            <a:r>
              <a:rPr lang="zh-CN" altLang="en-US" sz="1600" dirty="0">
                <a:solidFill>
                  <a:schemeClr val="bg1"/>
                </a:solidFill>
                <a:latin typeface="思源黑体 CN Regular" panose="020B0500000000000000" pitchFamily="34" charset="-122"/>
                <a:ea typeface="思源黑体 CN Regular" panose="020B0500000000000000" pitchFamily="34" charset="-122"/>
              </a:rPr>
              <a:t>预期成果</a:t>
            </a:r>
          </a:p>
        </p:txBody>
      </p:sp>
      <p:sp>
        <p:nvSpPr>
          <p:cNvPr id="139" name="任意矩形：006">
            <a:extLst>
              <a:ext uri="{FF2B5EF4-FFF2-40B4-BE49-F238E27FC236}">
                <a16:creationId xmlns:a16="http://schemas.microsoft.com/office/drawing/2014/main" id="{B7E90DE1-B1D8-453D-A7F3-285B3154D668}"/>
              </a:ext>
            </a:extLst>
          </p:cNvPr>
          <p:cNvSpPr/>
          <p:nvPr/>
        </p:nvSpPr>
        <p:spPr>
          <a:xfrm>
            <a:off x="125661" y="5689964"/>
            <a:ext cx="203662" cy="187126"/>
          </a:xfrm>
          <a:custGeom>
            <a:avLst/>
            <a:gdLst>
              <a:gd name="T0" fmla="*/ 11834 w 13933"/>
              <a:gd name="T1" fmla="*/ 1094 h 12800"/>
              <a:gd name="T2" fmla="*/ 10384 w 13933"/>
              <a:gd name="T3" fmla="*/ 1094 h 12800"/>
              <a:gd name="T4" fmla="*/ 10384 w 13933"/>
              <a:gd name="T5" fmla="*/ 315 h 12800"/>
              <a:gd name="T6" fmla="*/ 10069 w 13933"/>
              <a:gd name="T7" fmla="*/ 0 h 12800"/>
              <a:gd name="T8" fmla="*/ 9754 w 13933"/>
              <a:gd name="T9" fmla="*/ 315 h 12800"/>
              <a:gd name="T10" fmla="*/ 9754 w 13933"/>
              <a:gd name="T11" fmla="*/ 1094 h 12800"/>
              <a:gd name="T12" fmla="*/ 4056 w 13933"/>
              <a:gd name="T13" fmla="*/ 1094 h 12800"/>
              <a:gd name="T14" fmla="*/ 4056 w 13933"/>
              <a:gd name="T15" fmla="*/ 315 h 12800"/>
              <a:gd name="T16" fmla="*/ 3741 w 13933"/>
              <a:gd name="T17" fmla="*/ 0 h 12800"/>
              <a:gd name="T18" fmla="*/ 3426 w 13933"/>
              <a:gd name="T19" fmla="*/ 315 h 12800"/>
              <a:gd name="T20" fmla="*/ 3426 w 13933"/>
              <a:gd name="T21" fmla="*/ 1094 h 12800"/>
              <a:gd name="T22" fmla="*/ 2099 w 13933"/>
              <a:gd name="T23" fmla="*/ 1094 h 12800"/>
              <a:gd name="T24" fmla="*/ 0 w 13933"/>
              <a:gd name="T25" fmla="*/ 3193 h 12800"/>
              <a:gd name="T26" fmla="*/ 0 w 13933"/>
              <a:gd name="T27" fmla="*/ 10701 h 12800"/>
              <a:gd name="T28" fmla="*/ 2099 w 13933"/>
              <a:gd name="T29" fmla="*/ 12800 h 12800"/>
              <a:gd name="T30" fmla="*/ 11834 w 13933"/>
              <a:gd name="T31" fmla="*/ 12800 h 12800"/>
              <a:gd name="T32" fmla="*/ 13933 w 13933"/>
              <a:gd name="T33" fmla="*/ 10701 h 12800"/>
              <a:gd name="T34" fmla="*/ 13933 w 13933"/>
              <a:gd name="T35" fmla="*/ 3193 h 12800"/>
              <a:gd name="T36" fmla="*/ 11834 w 13933"/>
              <a:gd name="T37" fmla="*/ 1094 h 12800"/>
              <a:gd name="T38" fmla="*/ 2099 w 13933"/>
              <a:gd name="T39" fmla="*/ 1933 h 12800"/>
              <a:gd name="T40" fmla="*/ 3426 w 13933"/>
              <a:gd name="T41" fmla="*/ 1933 h 12800"/>
              <a:gd name="T42" fmla="*/ 3426 w 13933"/>
              <a:gd name="T43" fmla="*/ 2757 h 12800"/>
              <a:gd name="T44" fmla="*/ 3741 w 13933"/>
              <a:gd name="T45" fmla="*/ 3072 h 12800"/>
              <a:gd name="T46" fmla="*/ 4056 w 13933"/>
              <a:gd name="T47" fmla="*/ 2757 h 12800"/>
              <a:gd name="T48" fmla="*/ 4056 w 13933"/>
              <a:gd name="T49" fmla="*/ 1933 h 12800"/>
              <a:gd name="T50" fmla="*/ 9754 w 13933"/>
              <a:gd name="T51" fmla="*/ 1933 h 12800"/>
              <a:gd name="T52" fmla="*/ 9754 w 13933"/>
              <a:gd name="T53" fmla="*/ 2757 h 12800"/>
              <a:gd name="T54" fmla="*/ 10069 w 13933"/>
              <a:gd name="T55" fmla="*/ 3072 h 12800"/>
              <a:gd name="T56" fmla="*/ 10384 w 13933"/>
              <a:gd name="T57" fmla="*/ 2757 h 12800"/>
              <a:gd name="T58" fmla="*/ 10384 w 13933"/>
              <a:gd name="T59" fmla="*/ 1933 h 12800"/>
              <a:gd name="T60" fmla="*/ 11834 w 13933"/>
              <a:gd name="T61" fmla="*/ 1933 h 12800"/>
              <a:gd name="T62" fmla="*/ 13094 w 13933"/>
              <a:gd name="T63" fmla="*/ 3193 h 12800"/>
              <a:gd name="T64" fmla="*/ 13094 w 13933"/>
              <a:gd name="T65" fmla="*/ 4646 h 12800"/>
              <a:gd name="T66" fmla="*/ 840 w 13933"/>
              <a:gd name="T67" fmla="*/ 4646 h 12800"/>
              <a:gd name="T68" fmla="*/ 840 w 13933"/>
              <a:gd name="T69" fmla="*/ 3193 h 12800"/>
              <a:gd name="T70" fmla="*/ 2099 w 13933"/>
              <a:gd name="T71" fmla="*/ 1933 h 12800"/>
              <a:gd name="T72" fmla="*/ 11834 w 13933"/>
              <a:gd name="T73" fmla="*/ 11960 h 12800"/>
              <a:gd name="T74" fmla="*/ 2099 w 13933"/>
              <a:gd name="T75" fmla="*/ 11960 h 12800"/>
              <a:gd name="T76" fmla="*/ 840 w 13933"/>
              <a:gd name="T77" fmla="*/ 10701 h 12800"/>
              <a:gd name="T78" fmla="*/ 840 w 13933"/>
              <a:gd name="T79" fmla="*/ 5276 h 12800"/>
              <a:gd name="T80" fmla="*/ 13094 w 13933"/>
              <a:gd name="T81" fmla="*/ 5276 h 12800"/>
              <a:gd name="T82" fmla="*/ 13094 w 13933"/>
              <a:gd name="T83" fmla="*/ 10701 h 12800"/>
              <a:gd name="T84" fmla="*/ 11834 w 13933"/>
              <a:gd name="T85" fmla="*/ 11960 h 128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Lst>
            <a:rect l="0" t="0" r="r" b="b"/>
            <a:pathLst>
              <a:path w="13933" h="12800">
                <a:moveTo>
                  <a:pt x="11834" y="1094"/>
                </a:moveTo>
                <a:lnTo>
                  <a:pt x="10384" y="1094"/>
                </a:lnTo>
                <a:lnTo>
                  <a:pt x="10384" y="315"/>
                </a:lnTo>
                <a:cubicBezTo>
                  <a:pt x="10384" y="141"/>
                  <a:pt x="10243" y="0"/>
                  <a:pt x="10069" y="0"/>
                </a:cubicBezTo>
                <a:cubicBezTo>
                  <a:pt x="9895" y="0"/>
                  <a:pt x="9754" y="141"/>
                  <a:pt x="9754" y="315"/>
                </a:cubicBezTo>
                <a:lnTo>
                  <a:pt x="9754" y="1094"/>
                </a:lnTo>
                <a:lnTo>
                  <a:pt x="4056" y="1094"/>
                </a:lnTo>
                <a:lnTo>
                  <a:pt x="4056" y="315"/>
                </a:lnTo>
                <a:cubicBezTo>
                  <a:pt x="4056" y="141"/>
                  <a:pt x="3915" y="0"/>
                  <a:pt x="3741" y="0"/>
                </a:cubicBezTo>
                <a:cubicBezTo>
                  <a:pt x="3567" y="0"/>
                  <a:pt x="3426" y="141"/>
                  <a:pt x="3426" y="315"/>
                </a:cubicBezTo>
                <a:lnTo>
                  <a:pt x="3426" y="1094"/>
                </a:lnTo>
                <a:lnTo>
                  <a:pt x="2099" y="1094"/>
                </a:lnTo>
                <a:cubicBezTo>
                  <a:pt x="940" y="1095"/>
                  <a:pt x="1" y="2034"/>
                  <a:pt x="0" y="3193"/>
                </a:cubicBezTo>
                <a:lnTo>
                  <a:pt x="0" y="10701"/>
                </a:lnTo>
                <a:cubicBezTo>
                  <a:pt x="1" y="11860"/>
                  <a:pt x="940" y="12799"/>
                  <a:pt x="2099" y="12800"/>
                </a:cubicBezTo>
                <a:lnTo>
                  <a:pt x="11834" y="12800"/>
                </a:lnTo>
                <a:cubicBezTo>
                  <a:pt x="12993" y="12799"/>
                  <a:pt x="13932" y="11860"/>
                  <a:pt x="13933" y="10701"/>
                </a:cubicBezTo>
                <a:lnTo>
                  <a:pt x="13933" y="3193"/>
                </a:lnTo>
                <a:cubicBezTo>
                  <a:pt x="13932" y="2034"/>
                  <a:pt x="12993" y="1095"/>
                  <a:pt x="11834" y="1094"/>
                </a:cubicBezTo>
                <a:close/>
                <a:moveTo>
                  <a:pt x="2099" y="1933"/>
                </a:moveTo>
                <a:lnTo>
                  <a:pt x="3426" y="1933"/>
                </a:lnTo>
                <a:lnTo>
                  <a:pt x="3426" y="2757"/>
                </a:lnTo>
                <a:cubicBezTo>
                  <a:pt x="3426" y="2931"/>
                  <a:pt x="3567" y="3072"/>
                  <a:pt x="3741" y="3072"/>
                </a:cubicBezTo>
                <a:cubicBezTo>
                  <a:pt x="3915" y="3072"/>
                  <a:pt x="4056" y="2931"/>
                  <a:pt x="4056" y="2757"/>
                </a:cubicBezTo>
                <a:lnTo>
                  <a:pt x="4056" y="1933"/>
                </a:lnTo>
                <a:lnTo>
                  <a:pt x="9754" y="1933"/>
                </a:lnTo>
                <a:lnTo>
                  <a:pt x="9754" y="2757"/>
                </a:lnTo>
                <a:cubicBezTo>
                  <a:pt x="9754" y="2931"/>
                  <a:pt x="9895" y="3072"/>
                  <a:pt x="10069" y="3072"/>
                </a:cubicBezTo>
                <a:cubicBezTo>
                  <a:pt x="10243" y="3072"/>
                  <a:pt x="10384" y="2931"/>
                  <a:pt x="10384" y="2757"/>
                </a:cubicBezTo>
                <a:lnTo>
                  <a:pt x="10384" y="1933"/>
                </a:lnTo>
                <a:lnTo>
                  <a:pt x="11834" y="1933"/>
                </a:lnTo>
                <a:cubicBezTo>
                  <a:pt x="12529" y="1934"/>
                  <a:pt x="13093" y="2497"/>
                  <a:pt x="13094" y="3193"/>
                </a:cubicBezTo>
                <a:lnTo>
                  <a:pt x="13094" y="4646"/>
                </a:lnTo>
                <a:lnTo>
                  <a:pt x="840" y="4646"/>
                </a:lnTo>
                <a:lnTo>
                  <a:pt x="840" y="3193"/>
                </a:lnTo>
                <a:cubicBezTo>
                  <a:pt x="840" y="2497"/>
                  <a:pt x="1404" y="1934"/>
                  <a:pt x="2099" y="1933"/>
                </a:cubicBezTo>
                <a:close/>
                <a:moveTo>
                  <a:pt x="11834" y="11960"/>
                </a:moveTo>
                <a:lnTo>
                  <a:pt x="2099" y="11960"/>
                </a:lnTo>
                <a:cubicBezTo>
                  <a:pt x="1404" y="11960"/>
                  <a:pt x="840" y="11396"/>
                  <a:pt x="840" y="10701"/>
                </a:cubicBezTo>
                <a:lnTo>
                  <a:pt x="840" y="5276"/>
                </a:lnTo>
                <a:lnTo>
                  <a:pt x="13094" y="5276"/>
                </a:lnTo>
                <a:lnTo>
                  <a:pt x="13094" y="10701"/>
                </a:lnTo>
                <a:cubicBezTo>
                  <a:pt x="13093" y="11396"/>
                  <a:pt x="12529" y="11960"/>
                  <a:pt x="11834" y="1196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88119286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3" name="矩形: 圆角 112">
            <a:extLst>
              <a:ext uri="{FF2B5EF4-FFF2-40B4-BE49-F238E27FC236}">
                <a16:creationId xmlns:a16="http://schemas.microsoft.com/office/drawing/2014/main" id="{FD4AFA34-24DA-4A10-84A6-0A6FBC36F154}"/>
              </a:ext>
            </a:extLst>
          </p:cNvPr>
          <p:cNvSpPr/>
          <p:nvPr/>
        </p:nvSpPr>
        <p:spPr>
          <a:xfrm>
            <a:off x="2387600" y="1169234"/>
            <a:ext cx="9469434" cy="909234"/>
          </a:xfrm>
          <a:prstGeom prst="roundRect">
            <a:avLst>
              <a:gd name="adj" fmla="val 7418"/>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8" name="矩形: 圆角 57">
            <a:extLst>
              <a:ext uri="{FF2B5EF4-FFF2-40B4-BE49-F238E27FC236}">
                <a16:creationId xmlns:a16="http://schemas.microsoft.com/office/drawing/2014/main" id="{3808CFB2-1928-415D-9C91-29FD5B07BB38}"/>
              </a:ext>
            </a:extLst>
          </p:cNvPr>
          <p:cNvSpPr/>
          <p:nvPr/>
        </p:nvSpPr>
        <p:spPr>
          <a:xfrm>
            <a:off x="2398581" y="2316480"/>
            <a:ext cx="9469434" cy="4281170"/>
          </a:xfrm>
          <a:prstGeom prst="roundRect">
            <a:avLst>
              <a:gd name="adj" fmla="val 3024"/>
            </a:avLst>
          </a:prstGeom>
          <a:solidFill>
            <a:schemeClr val="bg1"/>
          </a:solidFill>
          <a:ln w="15875">
            <a:solidFill>
              <a:schemeClr val="accent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7" name="文本框 6">
            <a:extLst>
              <a:ext uri="{FF2B5EF4-FFF2-40B4-BE49-F238E27FC236}">
                <a16:creationId xmlns:a16="http://schemas.microsoft.com/office/drawing/2014/main" id="{FDB02A9E-4394-4D4F-8105-1E844ECA9B86}"/>
              </a:ext>
            </a:extLst>
          </p:cNvPr>
          <p:cNvSpPr txBox="1"/>
          <p:nvPr/>
        </p:nvSpPr>
        <p:spPr>
          <a:xfrm>
            <a:off x="2509520" y="1221619"/>
            <a:ext cx="8668511" cy="422552"/>
          </a:xfrm>
          <a:prstGeom prst="rect">
            <a:avLst/>
          </a:prstGeom>
          <a:noFill/>
        </p:spPr>
        <p:txBody>
          <a:bodyPr wrap="square" rtlCol="0">
            <a:spAutoFit/>
          </a:bodyPr>
          <a:lstStyle/>
          <a:p>
            <a:pPr marL="285750" indent="-285750">
              <a:lnSpc>
                <a:spcPct val="130000"/>
              </a:lnSpc>
              <a:buFont typeface="Wingdings" panose="05000000000000000000" pitchFamily="2" charset="2"/>
              <a:buChar char="u"/>
            </a:pPr>
            <a:r>
              <a:rPr lang="zh-CN" altLang="en-US" dirty="0">
                <a:latin typeface="思源黑体 CN Bold" panose="020B0800000000000000" pitchFamily="34" charset="-122"/>
                <a:ea typeface="思源黑体 CN Bold" panose="020B0800000000000000" pitchFamily="34" charset="-122"/>
              </a:rPr>
              <a:t>初步结果：</a:t>
            </a:r>
            <a:r>
              <a:rPr lang="en-US" altLang="zh-CN" sz="1600" dirty="0">
                <a:latin typeface="思源黑体 CN Regular" panose="020B0500000000000000" pitchFamily="34" charset="-122"/>
                <a:ea typeface="思源黑体 CN Regular" panose="020B0500000000000000" pitchFamily="34" charset="-122"/>
              </a:rPr>
              <a:t>PRMT3 </a:t>
            </a:r>
            <a:r>
              <a:rPr lang="zh-CN" altLang="en-US" sz="1600" dirty="0">
                <a:latin typeface="思源黑体 CN Regular" panose="020B0500000000000000" pitchFamily="34" charset="-122"/>
                <a:ea typeface="思源黑体 CN Regular" panose="020B0500000000000000" pitchFamily="34" charset="-122"/>
              </a:rPr>
              <a:t>高表达肝癌细胞耐药性增强，</a:t>
            </a:r>
            <a:r>
              <a:rPr lang="en-US" altLang="zh-CN" sz="1600" dirty="0">
                <a:latin typeface="思源黑体 CN Regular" panose="020B0500000000000000" pitchFamily="34" charset="-122"/>
                <a:ea typeface="思源黑体 CN Regular" panose="020B0500000000000000" pitchFamily="34" charset="-122"/>
              </a:rPr>
              <a:t>IGF2BP1 </a:t>
            </a:r>
            <a:r>
              <a:rPr lang="zh-CN" altLang="en-US" sz="1600" dirty="0">
                <a:latin typeface="思源黑体 CN Regular" panose="020B0500000000000000" pitchFamily="34" charset="-122"/>
                <a:ea typeface="思源黑体 CN Regular" panose="020B0500000000000000" pitchFamily="34" charset="-122"/>
              </a:rPr>
              <a:t>精氨酸甲基化水平显著升高</a:t>
            </a:r>
          </a:p>
        </p:txBody>
      </p:sp>
      <p:sp>
        <p:nvSpPr>
          <p:cNvPr id="71" name="文本框 70">
            <a:extLst>
              <a:ext uri="{FF2B5EF4-FFF2-40B4-BE49-F238E27FC236}">
                <a16:creationId xmlns:a16="http://schemas.microsoft.com/office/drawing/2014/main" id="{4A0828E0-A545-4F8C-8181-34B4E872F2BC}"/>
              </a:ext>
            </a:extLst>
          </p:cNvPr>
          <p:cNvSpPr txBox="1"/>
          <p:nvPr/>
        </p:nvSpPr>
        <p:spPr>
          <a:xfrm>
            <a:off x="2509520" y="1600622"/>
            <a:ext cx="8668511" cy="422552"/>
          </a:xfrm>
          <a:prstGeom prst="rect">
            <a:avLst/>
          </a:prstGeom>
          <a:noFill/>
        </p:spPr>
        <p:txBody>
          <a:bodyPr wrap="square" rtlCol="0">
            <a:spAutoFit/>
          </a:bodyPr>
          <a:lstStyle/>
          <a:p>
            <a:pPr marL="285750" indent="-285750">
              <a:lnSpc>
                <a:spcPct val="130000"/>
              </a:lnSpc>
              <a:buFont typeface="Wingdings" panose="05000000000000000000" pitchFamily="2" charset="2"/>
              <a:buChar char="u"/>
            </a:pPr>
            <a:r>
              <a:rPr lang="zh-CN" altLang="en-US" dirty="0">
                <a:latin typeface="思源黑体 CN Bold" panose="020B0800000000000000" pitchFamily="34" charset="-122"/>
                <a:ea typeface="思源黑体 CN Bold" panose="020B0800000000000000" pitchFamily="34" charset="-122"/>
              </a:rPr>
              <a:t>启发：</a:t>
            </a:r>
            <a:r>
              <a:rPr lang="zh-CN" altLang="en-US" sz="1600" dirty="0">
                <a:latin typeface="思源黑体 CN Regular" panose="020B0500000000000000" pitchFamily="34" charset="-122"/>
                <a:ea typeface="思源黑体 CN Regular" panose="020B0500000000000000" pitchFamily="34" charset="-122"/>
              </a:rPr>
              <a:t>靶向 </a:t>
            </a:r>
            <a:r>
              <a:rPr lang="en-US" altLang="zh-CN" sz="1600" dirty="0">
                <a:latin typeface="思源黑体 CN Regular" panose="020B0500000000000000" pitchFamily="34" charset="-122"/>
                <a:ea typeface="思源黑体 CN Regular" panose="020B0500000000000000" pitchFamily="34" charset="-122"/>
              </a:rPr>
              <a:t>PRMT3 </a:t>
            </a:r>
            <a:r>
              <a:rPr lang="zh-CN" altLang="en-US" sz="1600" dirty="0">
                <a:latin typeface="思源黑体 CN Regular" panose="020B0500000000000000" pitchFamily="34" charset="-122"/>
                <a:ea typeface="思源黑体 CN Regular" panose="020B0500000000000000" pitchFamily="34" charset="-122"/>
              </a:rPr>
              <a:t>或可逆转耐药，为肝癌化疗联合治疗提供新的潜在靶点</a:t>
            </a:r>
          </a:p>
        </p:txBody>
      </p:sp>
      <p:pic>
        <p:nvPicPr>
          <p:cNvPr id="75" name="Picture 2" descr="查看图片">
            <a:extLst>
              <a:ext uri="{FF2B5EF4-FFF2-40B4-BE49-F238E27FC236}">
                <a16:creationId xmlns:a16="http://schemas.microsoft.com/office/drawing/2014/main" id="{D71AEFEC-336A-4B07-9B74-5F9E8995AF77}"/>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1" t="24081" r="70293" b="56414"/>
          <a:stretch/>
        </p:blipFill>
        <p:spPr bwMode="auto">
          <a:xfrm>
            <a:off x="6043770" y="2510058"/>
            <a:ext cx="2292757" cy="1745753"/>
          </a:xfrm>
          <a:prstGeom prst="rect">
            <a:avLst/>
          </a:prstGeom>
          <a:noFill/>
          <a:extLst>
            <a:ext uri="{909E8E84-426E-40DD-AFC4-6F175D3DCCD1}">
              <a14:hiddenFill xmlns:a14="http://schemas.microsoft.com/office/drawing/2010/main">
                <a:solidFill>
                  <a:srgbClr val="FFFFFF"/>
                </a:solidFill>
              </a14:hiddenFill>
            </a:ext>
          </a:extLst>
        </p:spPr>
      </p:pic>
      <p:grpSp>
        <p:nvGrpSpPr>
          <p:cNvPr id="7180" name="组合 7179">
            <a:extLst>
              <a:ext uri="{FF2B5EF4-FFF2-40B4-BE49-F238E27FC236}">
                <a16:creationId xmlns:a16="http://schemas.microsoft.com/office/drawing/2014/main" id="{F6612AFB-93AE-449F-8471-82DAED3415AC}"/>
              </a:ext>
            </a:extLst>
          </p:cNvPr>
          <p:cNvGrpSpPr/>
          <p:nvPr/>
        </p:nvGrpSpPr>
        <p:grpSpPr>
          <a:xfrm>
            <a:off x="2545896" y="2442840"/>
            <a:ext cx="3448971" cy="1777908"/>
            <a:chOff x="1036741" y="2442840"/>
            <a:chExt cx="3550104" cy="1830041"/>
          </a:xfrm>
        </p:grpSpPr>
        <p:pic>
          <p:nvPicPr>
            <p:cNvPr id="72" name="Picture 6" descr="查看图片">
              <a:extLst>
                <a:ext uri="{FF2B5EF4-FFF2-40B4-BE49-F238E27FC236}">
                  <a16:creationId xmlns:a16="http://schemas.microsoft.com/office/drawing/2014/main" id="{8F85894E-FDBC-4B97-BCF6-C034BDAC77F2}"/>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t="50000" r="73875" b="39983"/>
            <a:stretch/>
          </p:blipFill>
          <p:spPr bwMode="auto">
            <a:xfrm>
              <a:off x="1036741" y="2458081"/>
              <a:ext cx="3550104" cy="1814800"/>
            </a:xfrm>
            <a:prstGeom prst="rect">
              <a:avLst/>
            </a:prstGeom>
            <a:noFill/>
            <a:extLst>
              <a:ext uri="{909E8E84-426E-40DD-AFC4-6F175D3DCCD1}">
                <a14:hiddenFill xmlns:a14="http://schemas.microsoft.com/office/drawing/2010/main">
                  <a:solidFill>
                    <a:srgbClr val="FFFFFF"/>
                  </a:solidFill>
                </a14:hiddenFill>
              </a:ext>
            </a:extLst>
          </p:spPr>
        </p:pic>
        <p:sp>
          <p:nvSpPr>
            <p:cNvPr id="7179" name="文本框 7178">
              <a:extLst>
                <a:ext uri="{FF2B5EF4-FFF2-40B4-BE49-F238E27FC236}">
                  <a16:creationId xmlns:a16="http://schemas.microsoft.com/office/drawing/2014/main" id="{20D47A2D-88D7-4F2D-93F3-D6C3D1166F66}"/>
                </a:ext>
              </a:extLst>
            </p:cNvPr>
            <p:cNvSpPr txBox="1"/>
            <p:nvPr/>
          </p:nvSpPr>
          <p:spPr>
            <a:xfrm>
              <a:off x="1055296" y="2442840"/>
              <a:ext cx="284266" cy="276999"/>
            </a:xfrm>
            <a:prstGeom prst="rect">
              <a:avLst/>
            </a:prstGeom>
            <a:solidFill>
              <a:schemeClr val="bg1"/>
            </a:solidFill>
          </p:spPr>
          <p:txBody>
            <a:bodyPr wrap="square" rtlCol="0">
              <a:spAutoFit/>
            </a:bodyPr>
            <a:lstStyle/>
            <a:p>
              <a:r>
                <a:rPr lang="en-US" altLang="zh-CN" sz="1200" dirty="0">
                  <a:latin typeface="思源黑体 CN Bold" panose="020B0800000000000000" pitchFamily="34" charset="-122"/>
                  <a:ea typeface="思源黑体 CN Bold" panose="020B0800000000000000" pitchFamily="34" charset="-122"/>
                </a:rPr>
                <a:t>A</a:t>
              </a:r>
              <a:endParaRPr lang="zh-CN" altLang="en-US" sz="1200" dirty="0">
                <a:latin typeface="思源黑体 CN Bold" panose="020B0800000000000000" pitchFamily="34" charset="-122"/>
                <a:ea typeface="思源黑体 CN Bold" panose="020B0800000000000000" pitchFamily="34" charset="-122"/>
              </a:endParaRPr>
            </a:p>
          </p:txBody>
        </p:sp>
      </p:grpSp>
      <p:pic>
        <p:nvPicPr>
          <p:cNvPr id="77" name="Picture 2" descr="查看图片">
            <a:extLst>
              <a:ext uri="{FF2B5EF4-FFF2-40B4-BE49-F238E27FC236}">
                <a16:creationId xmlns:a16="http://schemas.microsoft.com/office/drawing/2014/main" id="{9CC2E2D0-49DB-4EDA-B9EC-5CAB8EF2ACF9}"/>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t="43626" r="64584" b="33690"/>
          <a:stretch/>
        </p:blipFill>
        <p:spPr bwMode="auto">
          <a:xfrm>
            <a:off x="6043770" y="4414326"/>
            <a:ext cx="2813898" cy="2090101"/>
          </a:xfrm>
          <a:prstGeom prst="rect">
            <a:avLst/>
          </a:prstGeom>
          <a:noFill/>
          <a:extLst>
            <a:ext uri="{909E8E84-426E-40DD-AFC4-6F175D3DCCD1}">
              <a14:hiddenFill xmlns:a14="http://schemas.microsoft.com/office/drawing/2010/main">
                <a:solidFill>
                  <a:srgbClr val="FFFFFF"/>
                </a:solidFill>
              </a14:hiddenFill>
            </a:ext>
          </a:extLst>
        </p:spPr>
      </p:pic>
      <p:pic>
        <p:nvPicPr>
          <p:cNvPr id="79" name="Picture 2" descr="查看图片">
            <a:extLst>
              <a:ext uri="{FF2B5EF4-FFF2-40B4-BE49-F238E27FC236}">
                <a16:creationId xmlns:a16="http://schemas.microsoft.com/office/drawing/2014/main" id="{8BE5C0C8-8103-48B2-B232-A536D6563F0A}"/>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30458" t="24081" r="37425" b="56414"/>
          <a:stretch/>
        </p:blipFill>
        <p:spPr bwMode="auto">
          <a:xfrm>
            <a:off x="8998012" y="2510058"/>
            <a:ext cx="2478650" cy="1745753"/>
          </a:xfrm>
          <a:prstGeom prst="rect">
            <a:avLst/>
          </a:prstGeom>
          <a:noFill/>
          <a:extLst>
            <a:ext uri="{909E8E84-426E-40DD-AFC4-6F175D3DCCD1}">
              <a14:hiddenFill xmlns:a14="http://schemas.microsoft.com/office/drawing/2010/main">
                <a:solidFill>
                  <a:srgbClr val="FFFFFF"/>
                </a:solidFill>
              </a14:hiddenFill>
            </a:ext>
          </a:extLst>
        </p:spPr>
      </p:pic>
      <p:pic>
        <p:nvPicPr>
          <p:cNvPr id="80" name="Picture 2" descr="查看图片">
            <a:extLst>
              <a:ext uri="{FF2B5EF4-FFF2-40B4-BE49-F238E27FC236}">
                <a16:creationId xmlns:a16="http://schemas.microsoft.com/office/drawing/2014/main" id="{44F3A4B7-DC50-48A3-8047-1D5D82275C7E}"/>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63757" t="23648" r="370" b="56847"/>
          <a:stretch/>
        </p:blipFill>
        <p:spPr bwMode="auto">
          <a:xfrm>
            <a:off x="2649231" y="4546109"/>
            <a:ext cx="2768591" cy="1745753"/>
          </a:xfrm>
          <a:prstGeom prst="rect">
            <a:avLst/>
          </a:prstGeom>
          <a:noFill/>
          <a:extLst>
            <a:ext uri="{909E8E84-426E-40DD-AFC4-6F175D3DCCD1}">
              <a14:hiddenFill xmlns:a14="http://schemas.microsoft.com/office/drawing/2010/main">
                <a:solidFill>
                  <a:srgbClr val="FFFFFF"/>
                </a:solidFill>
              </a14:hiddenFill>
            </a:ext>
          </a:extLst>
        </p:spPr>
      </p:pic>
      <p:pic>
        <p:nvPicPr>
          <p:cNvPr id="81" name="Picture 2" descr="查看图片">
            <a:extLst>
              <a:ext uri="{FF2B5EF4-FFF2-40B4-BE49-F238E27FC236}">
                <a16:creationId xmlns:a16="http://schemas.microsoft.com/office/drawing/2014/main" id="{EBC01E19-A181-4DC4-9A5F-B5658F23E65D}"/>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35869" t="43626" r="28715" b="33690"/>
          <a:stretch/>
        </p:blipFill>
        <p:spPr bwMode="auto">
          <a:xfrm>
            <a:off x="8998012" y="4414326"/>
            <a:ext cx="2813898" cy="2090101"/>
          </a:xfrm>
          <a:prstGeom prst="rect">
            <a:avLst/>
          </a:prstGeom>
          <a:noFill/>
          <a:extLst>
            <a:ext uri="{909E8E84-426E-40DD-AFC4-6F175D3DCCD1}">
              <a14:hiddenFill xmlns:a14="http://schemas.microsoft.com/office/drawing/2010/main">
                <a:solidFill>
                  <a:srgbClr val="FFFFFF"/>
                </a:solidFill>
              </a14:hiddenFill>
            </a:ext>
          </a:extLst>
        </p:spPr>
      </p:pic>
      <p:sp>
        <p:nvSpPr>
          <p:cNvPr id="99" name="矩形 98">
            <a:extLst>
              <a:ext uri="{FF2B5EF4-FFF2-40B4-BE49-F238E27FC236}">
                <a16:creationId xmlns:a16="http://schemas.microsoft.com/office/drawing/2014/main" id="{61E3B5B6-F446-4D37-B501-A703771FBA53}"/>
              </a:ext>
            </a:extLst>
          </p:cNvPr>
          <p:cNvSpPr/>
          <p:nvPr/>
        </p:nvSpPr>
        <p:spPr>
          <a:xfrm>
            <a:off x="0" y="4807401"/>
            <a:ext cx="2052320" cy="56374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00" name="文本框 99">
            <a:extLst>
              <a:ext uri="{FF2B5EF4-FFF2-40B4-BE49-F238E27FC236}">
                <a16:creationId xmlns:a16="http://schemas.microsoft.com/office/drawing/2014/main" id="{DA960F68-406C-42FE-B6D9-6A5AC1AFB3EC}"/>
              </a:ext>
            </a:extLst>
          </p:cNvPr>
          <p:cNvSpPr txBox="1"/>
          <p:nvPr/>
        </p:nvSpPr>
        <p:spPr>
          <a:xfrm>
            <a:off x="2209656" y="248670"/>
            <a:ext cx="1947969" cy="461665"/>
          </a:xfrm>
          <a:prstGeom prst="rect">
            <a:avLst/>
          </a:prstGeom>
          <a:noFill/>
        </p:spPr>
        <p:txBody>
          <a:bodyPr wrap="none" rtlCol="0">
            <a:spAutoFit/>
          </a:bodyPr>
          <a:lstStyle/>
          <a:p>
            <a:r>
              <a:rPr lang="en-US" altLang="zh-CN" sz="2400" dirty="0">
                <a:solidFill>
                  <a:schemeClr val="accent1"/>
                </a:solidFill>
                <a:latin typeface="思源黑体 CN Bold" panose="020B0800000000000000" pitchFamily="34" charset="-122"/>
                <a:ea typeface="思源黑体 CN Bold" panose="020B0800000000000000" pitchFamily="34" charset="-122"/>
              </a:rPr>
              <a:t>5.2 </a:t>
            </a:r>
            <a:r>
              <a:rPr lang="zh-CN" altLang="en-US" sz="2400" dirty="0">
                <a:solidFill>
                  <a:schemeClr val="accent1"/>
                </a:solidFill>
                <a:latin typeface="思源黑体 CN Bold" panose="020B0800000000000000" pitchFamily="34" charset="-122"/>
                <a:ea typeface="思源黑体 CN Bold" panose="020B0800000000000000" pitchFamily="34" charset="-122"/>
              </a:rPr>
              <a:t>初步结果</a:t>
            </a:r>
          </a:p>
        </p:txBody>
      </p:sp>
      <p:sp>
        <p:nvSpPr>
          <p:cNvPr id="101" name="文本框 100">
            <a:extLst>
              <a:ext uri="{FF2B5EF4-FFF2-40B4-BE49-F238E27FC236}">
                <a16:creationId xmlns:a16="http://schemas.microsoft.com/office/drawing/2014/main" id="{AAEC0B70-3189-414B-97FE-1B7339447AFA}"/>
              </a:ext>
            </a:extLst>
          </p:cNvPr>
          <p:cNvSpPr txBox="1"/>
          <p:nvPr/>
        </p:nvSpPr>
        <p:spPr>
          <a:xfrm>
            <a:off x="373082" y="2098899"/>
            <a:ext cx="1660612" cy="338554"/>
          </a:xfrm>
          <a:prstGeom prst="rect">
            <a:avLst/>
          </a:prstGeom>
          <a:noFill/>
        </p:spPr>
        <p:txBody>
          <a:bodyPr wrap="square" rtlCol="0">
            <a:spAutoFit/>
          </a:bodyPr>
          <a:lstStyle/>
          <a:p>
            <a:r>
              <a:rPr lang="zh-CN" altLang="en-US" sz="1600" dirty="0">
                <a:solidFill>
                  <a:schemeClr val="bg1"/>
                </a:solidFill>
                <a:latin typeface="思源黑体 CN Regular" panose="020B0500000000000000" pitchFamily="34" charset="-122"/>
                <a:ea typeface="思源黑体 CN Regular" panose="020B0500000000000000" pitchFamily="34" charset="-122"/>
              </a:rPr>
              <a:t>研究背景及现状</a:t>
            </a:r>
          </a:p>
        </p:txBody>
      </p:sp>
      <p:sp>
        <p:nvSpPr>
          <p:cNvPr id="102" name="任意矩形：001">
            <a:extLst>
              <a:ext uri="{FF2B5EF4-FFF2-40B4-BE49-F238E27FC236}">
                <a16:creationId xmlns:a16="http://schemas.microsoft.com/office/drawing/2014/main" id="{BA573D36-B3F3-4E7C-8128-E2FF1688D6EF}"/>
              </a:ext>
            </a:extLst>
          </p:cNvPr>
          <p:cNvSpPr/>
          <p:nvPr/>
        </p:nvSpPr>
        <p:spPr>
          <a:xfrm>
            <a:off x="131492" y="2145245"/>
            <a:ext cx="226722" cy="202893"/>
          </a:xfrm>
          <a:custGeom>
            <a:avLst/>
            <a:gdLst>
              <a:gd name="connsiteX0" fmla="*/ 79591 w 607005"/>
              <a:gd name="connsiteY0" fmla="*/ 373864 h 543210"/>
              <a:gd name="connsiteX1" fmla="*/ 33701 w 607005"/>
              <a:gd name="connsiteY1" fmla="*/ 461494 h 543210"/>
              <a:gd name="connsiteX2" fmla="*/ 79501 w 607005"/>
              <a:gd name="connsiteY2" fmla="*/ 507233 h 543210"/>
              <a:gd name="connsiteX3" fmla="*/ 125392 w 607005"/>
              <a:gd name="connsiteY3" fmla="*/ 461494 h 543210"/>
              <a:gd name="connsiteX4" fmla="*/ 79591 w 607005"/>
              <a:gd name="connsiteY4" fmla="*/ 373864 h 543210"/>
              <a:gd name="connsiteX5" fmla="*/ 79501 w 607005"/>
              <a:gd name="connsiteY5" fmla="*/ 328661 h 543210"/>
              <a:gd name="connsiteX6" fmla="*/ 92856 w 607005"/>
              <a:gd name="connsiteY6" fmla="*/ 335106 h 543210"/>
              <a:gd name="connsiteX7" fmla="*/ 158913 w 607005"/>
              <a:gd name="connsiteY7" fmla="*/ 461404 h 543210"/>
              <a:gd name="connsiteX8" fmla="*/ 79501 w 607005"/>
              <a:gd name="connsiteY8" fmla="*/ 540710 h 543210"/>
              <a:gd name="connsiteX9" fmla="*/ 0 w 607005"/>
              <a:gd name="connsiteY9" fmla="*/ 461404 h 543210"/>
              <a:gd name="connsiteX10" fmla="*/ 66236 w 607005"/>
              <a:gd name="connsiteY10" fmla="*/ 335195 h 543210"/>
              <a:gd name="connsiteX11" fmla="*/ 79501 w 607005"/>
              <a:gd name="connsiteY11" fmla="*/ 328661 h 543210"/>
              <a:gd name="connsiteX12" fmla="*/ 196548 w 607005"/>
              <a:gd name="connsiteY12" fmla="*/ 281688 h 543210"/>
              <a:gd name="connsiteX13" fmla="*/ 391755 w 607005"/>
              <a:gd name="connsiteY13" fmla="*/ 476431 h 543210"/>
              <a:gd name="connsiteX14" fmla="*/ 540265 w 607005"/>
              <a:gd name="connsiteY14" fmla="*/ 476431 h 543210"/>
              <a:gd name="connsiteX15" fmla="*/ 540265 w 607005"/>
              <a:gd name="connsiteY15" fmla="*/ 328047 h 543210"/>
              <a:gd name="connsiteX16" fmla="*/ 493749 w 607005"/>
              <a:gd name="connsiteY16" fmla="*/ 281688 h 543210"/>
              <a:gd name="connsiteX17" fmla="*/ 261707 w 607005"/>
              <a:gd name="connsiteY17" fmla="*/ 49894 h 543210"/>
              <a:gd name="connsiteX18" fmla="*/ 113017 w 607005"/>
              <a:gd name="connsiteY18" fmla="*/ 198278 h 543210"/>
              <a:gd name="connsiteX19" fmla="*/ 163028 w 607005"/>
              <a:gd name="connsiteY19" fmla="*/ 248127 h 543210"/>
              <a:gd name="connsiteX20" fmla="*/ 460229 w 607005"/>
              <a:gd name="connsiteY20" fmla="*/ 248127 h 543210"/>
              <a:gd name="connsiteX21" fmla="*/ 271073 w 607005"/>
              <a:gd name="connsiteY21" fmla="*/ 0 h 543210"/>
              <a:gd name="connsiteX22" fmla="*/ 282948 w 607005"/>
              <a:gd name="connsiteY22" fmla="*/ 4967 h 543210"/>
              <a:gd name="connsiteX23" fmla="*/ 285099 w 607005"/>
              <a:gd name="connsiteY23" fmla="*/ 25909 h 543210"/>
              <a:gd name="connsiteX24" fmla="*/ 563927 w 607005"/>
              <a:gd name="connsiteY24" fmla="*/ 304331 h 543210"/>
              <a:gd name="connsiteX25" fmla="*/ 563927 w 607005"/>
              <a:gd name="connsiteY25" fmla="*/ 500148 h 543210"/>
              <a:gd name="connsiteX26" fmla="*/ 367824 w 607005"/>
              <a:gd name="connsiteY26" fmla="*/ 500148 h 543210"/>
              <a:gd name="connsiteX27" fmla="*/ 88997 w 607005"/>
              <a:gd name="connsiteY27" fmla="*/ 221726 h 543210"/>
              <a:gd name="connsiteX28" fmla="*/ 68024 w 607005"/>
              <a:gd name="connsiteY28" fmla="*/ 219578 h 543210"/>
              <a:gd name="connsiteX29" fmla="*/ 68024 w 607005"/>
              <a:gd name="connsiteY29" fmla="*/ 195862 h 543210"/>
              <a:gd name="connsiteX30" fmla="*/ 259197 w 607005"/>
              <a:gd name="connsiteY30" fmla="*/ 4967 h 543210"/>
              <a:gd name="connsiteX31" fmla="*/ 271073 w 607005"/>
              <a:gd name="connsiteY31" fmla="*/ 0 h 5432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607005" h="543210">
                <a:moveTo>
                  <a:pt x="79591" y="373864"/>
                </a:moveTo>
                <a:cubicBezTo>
                  <a:pt x="57452" y="405192"/>
                  <a:pt x="33701" y="445024"/>
                  <a:pt x="33701" y="461494"/>
                </a:cubicBezTo>
                <a:cubicBezTo>
                  <a:pt x="33701" y="486646"/>
                  <a:pt x="54226" y="507233"/>
                  <a:pt x="79501" y="507233"/>
                </a:cubicBezTo>
                <a:cubicBezTo>
                  <a:pt x="104687" y="507233"/>
                  <a:pt x="125212" y="486646"/>
                  <a:pt x="125392" y="461494"/>
                </a:cubicBezTo>
                <a:cubicBezTo>
                  <a:pt x="125392" y="445024"/>
                  <a:pt x="101729" y="405282"/>
                  <a:pt x="79591" y="373864"/>
                </a:cubicBezTo>
                <a:close/>
                <a:moveTo>
                  <a:pt x="79501" y="328661"/>
                </a:moveTo>
                <a:cubicBezTo>
                  <a:pt x="84610" y="328661"/>
                  <a:pt x="89540" y="331078"/>
                  <a:pt x="92856" y="335106"/>
                </a:cubicBezTo>
                <a:cubicBezTo>
                  <a:pt x="103881" y="349517"/>
                  <a:pt x="158913" y="423094"/>
                  <a:pt x="158913" y="461404"/>
                </a:cubicBezTo>
                <a:cubicBezTo>
                  <a:pt x="158913" y="505175"/>
                  <a:pt x="123240" y="540710"/>
                  <a:pt x="79501" y="540710"/>
                </a:cubicBezTo>
                <a:cubicBezTo>
                  <a:pt x="35583" y="540710"/>
                  <a:pt x="0" y="505085"/>
                  <a:pt x="0" y="461404"/>
                </a:cubicBezTo>
                <a:cubicBezTo>
                  <a:pt x="0" y="423094"/>
                  <a:pt x="55122" y="349517"/>
                  <a:pt x="66236" y="335195"/>
                </a:cubicBezTo>
                <a:cubicBezTo>
                  <a:pt x="69284" y="331078"/>
                  <a:pt x="74213" y="328661"/>
                  <a:pt x="79501" y="328661"/>
                </a:cubicBezTo>
                <a:close/>
                <a:moveTo>
                  <a:pt x="196548" y="281688"/>
                </a:moveTo>
                <a:lnTo>
                  <a:pt x="391755" y="476431"/>
                </a:lnTo>
                <a:cubicBezTo>
                  <a:pt x="420525" y="505249"/>
                  <a:pt x="488999" y="527623"/>
                  <a:pt x="540265" y="476431"/>
                </a:cubicBezTo>
                <a:cubicBezTo>
                  <a:pt x="592249" y="424524"/>
                  <a:pt x="570290" y="358028"/>
                  <a:pt x="540265" y="328047"/>
                </a:cubicBezTo>
                <a:lnTo>
                  <a:pt x="493749" y="281688"/>
                </a:lnTo>
                <a:close/>
                <a:moveTo>
                  <a:pt x="261707" y="49894"/>
                </a:moveTo>
                <a:lnTo>
                  <a:pt x="113017" y="198278"/>
                </a:lnTo>
                <a:lnTo>
                  <a:pt x="163028" y="248127"/>
                </a:lnTo>
                <a:lnTo>
                  <a:pt x="460229" y="248127"/>
                </a:lnTo>
                <a:close/>
                <a:moveTo>
                  <a:pt x="271073" y="0"/>
                </a:moveTo>
                <a:cubicBezTo>
                  <a:pt x="275375" y="0"/>
                  <a:pt x="279677" y="1655"/>
                  <a:pt x="282948" y="4967"/>
                </a:cubicBezTo>
                <a:cubicBezTo>
                  <a:pt x="288595" y="10694"/>
                  <a:pt x="289312" y="19465"/>
                  <a:pt x="285099" y="25909"/>
                </a:cubicBezTo>
                <a:lnTo>
                  <a:pt x="563927" y="304331"/>
                </a:lnTo>
                <a:cubicBezTo>
                  <a:pt x="604528" y="344872"/>
                  <a:pt x="636076" y="428104"/>
                  <a:pt x="563927" y="500148"/>
                </a:cubicBezTo>
                <a:cubicBezTo>
                  <a:pt x="492495" y="571476"/>
                  <a:pt x="409501" y="541763"/>
                  <a:pt x="367824" y="500148"/>
                </a:cubicBezTo>
                <a:lnTo>
                  <a:pt x="88997" y="221726"/>
                </a:lnTo>
                <a:cubicBezTo>
                  <a:pt x="81468" y="226380"/>
                  <a:pt x="73850" y="225485"/>
                  <a:pt x="68024" y="219578"/>
                </a:cubicBezTo>
                <a:cubicBezTo>
                  <a:pt x="61392" y="213045"/>
                  <a:pt x="61392" y="202395"/>
                  <a:pt x="68024" y="195862"/>
                </a:cubicBezTo>
                <a:lnTo>
                  <a:pt x="259197" y="4967"/>
                </a:lnTo>
                <a:cubicBezTo>
                  <a:pt x="262469" y="1655"/>
                  <a:pt x="266771" y="0"/>
                  <a:pt x="271073"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3" name="任意矩形：002">
            <a:extLst>
              <a:ext uri="{FF2B5EF4-FFF2-40B4-BE49-F238E27FC236}">
                <a16:creationId xmlns:a16="http://schemas.microsoft.com/office/drawing/2014/main" id="{D5CFECFC-5E10-4520-922F-E00F8A461E76}"/>
              </a:ext>
            </a:extLst>
          </p:cNvPr>
          <p:cNvSpPr/>
          <p:nvPr/>
        </p:nvSpPr>
        <p:spPr>
          <a:xfrm>
            <a:off x="143798" y="2860995"/>
            <a:ext cx="202111" cy="201828"/>
          </a:xfrm>
          <a:custGeom>
            <a:avLst/>
            <a:gdLst>
              <a:gd name="connsiteX0" fmla="*/ 303643 w 607215"/>
              <a:gd name="connsiteY0" fmla="*/ 280873 h 606369"/>
              <a:gd name="connsiteX1" fmla="*/ 325219 w 607215"/>
              <a:gd name="connsiteY1" fmla="*/ 302335 h 606369"/>
              <a:gd name="connsiteX2" fmla="*/ 303643 w 607215"/>
              <a:gd name="connsiteY2" fmla="*/ 323873 h 606369"/>
              <a:gd name="connsiteX3" fmla="*/ 282068 w 607215"/>
              <a:gd name="connsiteY3" fmla="*/ 302335 h 606369"/>
              <a:gd name="connsiteX4" fmla="*/ 303643 w 607215"/>
              <a:gd name="connsiteY4" fmla="*/ 280873 h 606369"/>
              <a:gd name="connsiteX5" fmla="*/ 303678 w 607215"/>
              <a:gd name="connsiteY5" fmla="*/ 280357 h 606369"/>
              <a:gd name="connsiteX6" fmla="*/ 281626 w 607215"/>
              <a:gd name="connsiteY6" fmla="*/ 302374 h 606369"/>
              <a:gd name="connsiteX7" fmla="*/ 303678 w 607215"/>
              <a:gd name="connsiteY7" fmla="*/ 324391 h 606369"/>
              <a:gd name="connsiteX8" fmla="*/ 325730 w 607215"/>
              <a:gd name="connsiteY8" fmla="*/ 302374 h 606369"/>
              <a:gd name="connsiteX9" fmla="*/ 303678 w 607215"/>
              <a:gd name="connsiteY9" fmla="*/ 280357 h 606369"/>
              <a:gd name="connsiteX10" fmla="*/ 303643 w 607215"/>
              <a:gd name="connsiteY10" fmla="*/ 279792 h 606369"/>
              <a:gd name="connsiteX11" fmla="*/ 326224 w 607215"/>
              <a:gd name="connsiteY11" fmla="*/ 302335 h 606369"/>
              <a:gd name="connsiteX12" fmla="*/ 303643 w 607215"/>
              <a:gd name="connsiteY12" fmla="*/ 324954 h 606369"/>
              <a:gd name="connsiteX13" fmla="*/ 281062 w 607215"/>
              <a:gd name="connsiteY13" fmla="*/ 302335 h 606369"/>
              <a:gd name="connsiteX14" fmla="*/ 303643 w 607215"/>
              <a:gd name="connsiteY14" fmla="*/ 279792 h 606369"/>
              <a:gd name="connsiteX15" fmla="*/ 281043 w 607215"/>
              <a:gd name="connsiteY15" fmla="*/ 46068 h 606369"/>
              <a:gd name="connsiteX16" fmla="*/ 120855 w 607215"/>
              <a:gd name="connsiteY16" fmla="*/ 120687 h 606369"/>
              <a:gd name="connsiteX17" fmla="*/ 46132 w 607215"/>
              <a:gd name="connsiteY17" fmla="*/ 280652 h 606369"/>
              <a:gd name="connsiteX18" fmla="*/ 147128 w 607215"/>
              <a:gd name="connsiteY18" fmla="*/ 280652 h 606369"/>
              <a:gd name="connsiteX19" fmla="*/ 169770 w 607215"/>
              <a:gd name="connsiteY19" fmla="*/ 303185 h 606369"/>
              <a:gd name="connsiteX20" fmla="*/ 147128 w 607215"/>
              <a:gd name="connsiteY20" fmla="*/ 325717 h 606369"/>
              <a:gd name="connsiteX21" fmla="*/ 46132 w 607215"/>
              <a:gd name="connsiteY21" fmla="*/ 325717 h 606369"/>
              <a:gd name="connsiteX22" fmla="*/ 120855 w 607215"/>
              <a:gd name="connsiteY22" fmla="*/ 485682 h 606369"/>
              <a:gd name="connsiteX23" fmla="*/ 281043 w 607215"/>
              <a:gd name="connsiteY23" fmla="*/ 560301 h 606369"/>
              <a:gd name="connsiteX24" fmla="*/ 281043 w 607215"/>
              <a:gd name="connsiteY24" fmla="*/ 459446 h 606369"/>
              <a:gd name="connsiteX25" fmla="*/ 303608 w 607215"/>
              <a:gd name="connsiteY25" fmla="*/ 436913 h 606369"/>
              <a:gd name="connsiteX26" fmla="*/ 326172 w 607215"/>
              <a:gd name="connsiteY26" fmla="*/ 459446 h 606369"/>
              <a:gd name="connsiteX27" fmla="*/ 326172 w 607215"/>
              <a:gd name="connsiteY27" fmla="*/ 560301 h 606369"/>
              <a:gd name="connsiteX28" fmla="*/ 486360 w 607215"/>
              <a:gd name="connsiteY28" fmla="*/ 485682 h 606369"/>
              <a:gd name="connsiteX29" fmla="*/ 561083 w 607215"/>
              <a:gd name="connsiteY29" fmla="*/ 325717 h 606369"/>
              <a:gd name="connsiteX30" fmla="*/ 460087 w 607215"/>
              <a:gd name="connsiteY30" fmla="*/ 325717 h 606369"/>
              <a:gd name="connsiteX31" fmla="*/ 437523 w 607215"/>
              <a:gd name="connsiteY31" fmla="*/ 303185 h 606369"/>
              <a:gd name="connsiteX32" fmla="*/ 460087 w 607215"/>
              <a:gd name="connsiteY32" fmla="*/ 280652 h 606369"/>
              <a:gd name="connsiteX33" fmla="*/ 561083 w 607215"/>
              <a:gd name="connsiteY33" fmla="*/ 280652 h 606369"/>
              <a:gd name="connsiteX34" fmla="*/ 486360 w 607215"/>
              <a:gd name="connsiteY34" fmla="*/ 120687 h 606369"/>
              <a:gd name="connsiteX35" fmla="*/ 326172 w 607215"/>
              <a:gd name="connsiteY35" fmla="*/ 46068 h 606369"/>
              <a:gd name="connsiteX36" fmla="*/ 326172 w 607215"/>
              <a:gd name="connsiteY36" fmla="*/ 146923 h 606369"/>
              <a:gd name="connsiteX37" fmla="*/ 303608 w 607215"/>
              <a:gd name="connsiteY37" fmla="*/ 169533 h 606369"/>
              <a:gd name="connsiteX38" fmla="*/ 281043 w 607215"/>
              <a:gd name="connsiteY38" fmla="*/ 146923 h 606369"/>
              <a:gd name="connsiteX39" fmla="*/ 281617 w 607215"/>
              <a:gd name="connsiteY39" fmla="*/ 45548 h 606369"/>
              <a:gd name="connsiteX40" fmla="*/ 281617 w 607215"/>
              <a:gd name="connsiteY40" fmla="*/ 146935 h 606369"/>
              <a:gd name="connsiteX41" fmla="*/ 303640 w 607215"/>
              <a:gd name="connsiteY41" fmla="*/ 169002 h 606369"/>
              <a:gd name="connsiteX42" fmla="*/ 325741 w 607215"/>
              <a:gd name="connsiteY42" fmla="*/ 146935 h 606369"/>
              <a:gd name="connsiteX43" fmla="*/ 325741 w 607215"/>
              <a:gd name="connsiteY43" fmla="*/ 45548 h 606369"/>
              <a:gd name="connsiteX44" fmla="*/ 561663 w 607215"/>
              <a:gd name="connsiteY44" fmla="*/ 281192 h 606369"/>
              <a:gd name="connsiteX45" fmla="*/ 460123 w 607215"/>
              <a:gd name="connsiteY45" fmla="*/ 281192 h 606369"/>
              <a:gd name="connsiteX46" fmla="*/ 438022 w 607215"/>
              <a:gd name="connsiteY46" fmla="*/ 303182 h 606369"/>
              <a:gd name="connsiteX47" fmla="*/ 460123 w 607215"/>
              <a:gd name="connsiteY47" fmla="*/ 325250 h 606369"/>
              <a:gd name="connsiteX48" fmla="*/ 561663 w 607215"/>
              <a:gd name="connsiteY48" fmla="*/ 325250 h 606369"/>
              <a:gd name="connsiteX49" fmla="*/ 325741 w 607215"/>
              <a:gd name="connsiteY49" fmla="*/ 560815 h 606369"/>
              <a:gd name="connsiteX50" fmla="*/ 325741 w 607215"/>
              <a:gd name="connsiteY50" fmla="*/ 459429 h 606369"/>
              <a:gd name="connsiteX51" fmla="*/ 303640 w 607215"/>
              <a:gd name="connsiteY51" fmla="*/ 437361 h 606369"/>
              <a:gd name="connsiteX52" fmla="*/ 281617 w 607215"/>
              <a:gd name="connsiteY52" fmla="*/ 459429 h 606369"/>
              <a:gd name="connsiteX53" fmla="*/ 281617 w 607215"/>
              <a:gd name="connsiteY53" fmla="*/ 560815 h 606369"/>
              <a:gd name="connsiteX54" fmla="*/ 45616 w 607215"/>
              <a:gd name="connsiteY54" fmla="*/ 325250 h 606369"/>
              <a:gd name="connsiteX55" fmla="*/ 147157 w 607215"/>
              <a:gd name="connsiteY55" fmla="*/ 325250 h 606369"/>
              <a:gd name="connsiteX56" fmla="*/ 169257 w 607215"/>
              <a:gd name="connsiteY56" fmla="*/ 303182 h 606369"/>
              <a:gd name="connsiteX57" fmla="*/ 147157 w 607215"/>
              <a:gd name="connsiteY57" fmla="*/ 281192 h 606369"/>
              <a:gd name="connsiteX58" fmla="*/ 45616 w 607215"/>
              <a:gd name="connsiteY58" fmla="*/ 281192 h 606369"/>
              <a:gd name="connsiteX59" fmla="*/ 281617 w 607215"/>
              <a:gd name="connsiteY59" fmla="*/ 45548 h 606369"/>
              <a:gd name="connsiteX60" fmla="*/ 281508 w 607215"/>
              <a:gd name="connsiteY60" fmla="*/ 44987 h 606369"/>
              <a:gd name="connsiteX61" fmla="*/ 120160 w 607215"/>
              <a:gd name="connsiteY61" fmla="*/ 119993 h 606369"/>
              <a:gd name="connsiteX62" fmla="*/ 45050 w 607215"/>
              <a:gd name="connsiteY62" fmla="*/ 281115 h 606369"/>
              <a:gd name="connsiteX63" fmla="*/ 45050 w 607215"/>
              <a:gd name="connsiteY63" fmla="*/ 281655 h 606369"/>
              <a:gd name="connsiteX64" fmla="*/ 147128 w 607215"/>
              <a:gd name="connsiteY64" fmla="*/ 281655 h 606369"/>
              <a:gd name="connsiteX65" fmla="*/ 168688 w 607215"/>
              <a:gd name="connsiteY65" fmla="*/ 303185 h 606369"/>
              <a:gd name="connsiteX66" fmla="*/ 147128 w 607215"/>
              <a:gd name="connsiteY66" fmla="*/ 324714 h 606369"/>
              <a:gd name="connsiteX67" fmla="*/ 45050 w 607215"/>
              <a:gd name="connsiteY67" fmla="*/ 324714 h 606369"/>
              <a:gd name="connsiteX68" fmla="*/ 45050 w 607215"/>
              <a:gd name="connsiteY68" fmla="*/ 325254 h 606369"/>
              <a:gd name="connsiteX69" fmla="*/ 120160 w 607215"/>
              <a:gd name="connsiteY69" fmla="*/ 486454 h 606369"/>
              <a:gd name="connsiteX70" fmla="*/ 281508 w 607215"/>
              <a:gd name="connsiteY70" fmla="*/ 561382 h 606369"/>
              <a:gd name="connsiteX71" fmla="*/ 282048 w 607215"/>
              <a:gd name="connsiteY71" fmla="*/ 561459 h 606369"/>
              <a:gd name="connsiteX72" fmla="*/ 282048 w 607215"/>
              <a:gd name="connsiteY72" fmla="*/ 459446 h 606369"/>
              <a:gd name="connsiteX73" fmla="*/ 303608 w 607215"/>
              <a:gd name="connsiteY73" fmla="*/ 437916 h 606369"/>
              <a:gd name="connsiteX74" fmla="*/ 325167 w 607215"/>
              <a:gd name="connsiteY74" fmla="*/ 459446 h 606369"/>
              <a:gd name="connsiteX75" fmla="*/ 325167 w 607215"/>
              <a:gd name="connsiteY75" fmla="*/ 561459 h 606369"/>
              <a:gd name="connsiteX76" fmla="*/ 325708 w 607215"/>
              <a:gd name="connsiteY76" fmla="*/ 561382 h 606369"/>
              <a:gd name="connsiteX77" fmla="*/ 487132 w 607215"/>
              <a:gd name="connsiteY77" fmla="*/ 486454 h 606369"/>
              <a:gd name="connsiteX78" fmla="*/ 562165 w 607215"/>
              <a:gd name="connsiteY78" fmla="*/ 325254 h 606369"/>
              <a:gd name="connsiteX79" fmla="*/ 562242 w 607215"/>
              <a:gd name="connsiteY79" fmla="*/ 324714 h 606369"/>
              <a:gd name="connsiteX80" fmla="*/ 460087 w 607215"/>
              <a:gd name="connsiteY80" fmla="*/ 324714 h 606369"/>
              <a:gd name="connsiteX81" fmla="*/ 438527 w 607215"/>
              <a:gd name="connsiteY81" fmla="*/ 303185 h 606369"/>
              <a:gd name="connsiteX82" fmla="*/ 460087 w 607215"/>
              <a:gd name="connsiteY82" fmla="*/ 281655 h 606369"/>
              <a:gd name="connsiteX83" fmla="*/ 562242 w 607215"/>
              <a:gd name="connsiteY83" fmla="*/ 281655 h 606369"/>
              <a:gd name="connsiteX84" fmla="*/ 562165 w 607215"/>
              <a:gd name="connsiteY84" fmla="*/ 281115 h 606369"/>
              <a:gd name="connsiteX85" fmla="*/ 487132 w 607215"/>
              <a:gd name="connsiteY85" fmla="*/ 119993 h 606369"/>
              <a:gd name="connsiteX86" fmla="*/ 325708 w 607215"/>
              <a:gd name="connsiteY86" fmla="*/ 44987 h 606369"/>
              <a:gd name="connsiteX87" fmla="*/ 325167 w 607215"/>
              <a:gd name="connsiteY87" fmla="*/ 44987 h 606369"/>
              <a:gd name="connsiteX88" fmla="*/ 325167 w 607215"/>
              <a:gd name="connsiteY88" fmla="*/ 146923 h 606369"/>
              <a:gd name="connsiteX89" fmla="*/ 303608 w 607215"/>
              <a:gd name="connsiteY89" fmla="*/ 168453 h 606369"/>
              <a:gd name="connsiteX90" fmla="*/ 282048 w 607215"/>
              <a:gd name="connsiteY90" fmla="*/ 146923 h 606369"/>
              <a:gd name="connsiteX91" fmla="*/ 282048 w 607215"/>
              <a:gd name="connsiteY91" fmla="*/ 44987 h 606369"/>
              <a:gd name="connsiteX92" fmla="*/ 303608 w 607215"/>
              <a:gd name="connsiteY92" fmla="*/ 1003 h 606369"/>
              <a:gd name="connsiteX93" fmla="*/ 421450 w 607215"/>
              <a:gd name="connsiteY93" fmla="*/ 24770 h 606369"/>
              <a:gd name="connsiteX94" fmla="*/ 517578 w 607215"/>
              <a:gd name="connsiteY94" fmla="*/ 89512 h 606369"/>
              <a:gd name="connsiteX95" fmla="*/ 582410 w 607215"/>
              <a:gd name="connsiteY95" fmla="*/ 185584 h 606369"/>
              <a:gd name="connsiteX96" fmla="*/ 606211 w 607215"/>
              <a:gd name="connsiteY96" fmla="*/ 303185 h 606369"/>
              <a:gd name="connsiteX97" fmla="*/ 582410 w 607215"/>
              <a:gd name="connsiteY97" fmla="*/ 420863 h 606369"/>
              <a:gd name="connsiteX98" fmla="*/ 517578 w 607215"/>
              <a:gd name="connsiteY98" fmla="*/ 516857 h 606369"/>
              <a:gd name="connsiteX99" fmla="*/ 421450 w 607215"/>
              <a:gd name="connsiteY99" fmla="*/ 581599 h 606369"/>
              <a:gd name="connsiteX100" fmla="*/ 303608 w 607215"/>
              <a:gd name="connsiteY100" fmla="*/ 605366 h 606369"/>
              <a:gd name="connsiteX101" fmla="*/ 185842 w 607215"/>
              <a:gd name="connsiteY101" fmla="*/ 581599 h 606369"/>
              <a:gd name="connsiteX102" fmla="*/ 89637 w 607215"/>
              <a:gd name="connsiteY102" fmla="*/ 516857 h 606369"/>
              <a:gd name="connsiteX103" fmla="*/ 24805 w 607215"/>
              <a:gd name="connsiteY103" fmla="*/ 420863 h 606369"/>
              <a:gd name="connsiteX104" fmla="*/ 1004 w 607215"/>
              <a:gd name="connsiteY104" fmla="*/ 303185 h 606369"/>
              <a:gd name="connsiteX105" fmla="*/ 24805 w 607215"/>
              <a:gd name="connsiteY105" fmla="*/ 185584 h 606369"/>
              <a:gd name="connsiteX106" fmla="*/ 89637 w 607215"/>
              <a:gd name="connsiteY106" fmla="*/ 89512 h 606369"/>
              <a:gd name="connsiteX107" fmla="*/ 185842 w 607215"/>
              <a:gd name="connsiteY107" fmla="*/ 24770 h 606369"/>
              <a:gd name="connsiteX108" fmla="*/ 303608 w 607215"/>
              <a:gd name="connsiteY108" fmla="*/ 1003 h 606369"/>
              <a:gd name="connsiteX109" fmla="*/ 303640 w 607215"/>
              <a:gd name="connsiteY109" fmla="*/ 565 h 606369"/>
              <a:gd name="connsiteX110" fmla="*/ 185640 w 607215"/>
              <a:gd name="connsiteY110" fmla="*/ 24330 h 606369"/>
              <a:gd name="connsiteX111" fmla="*/ 89354 w 607215"/>
              <a:gd name="connsiteY111" fmla="*/ 89220 h 606369"/>
              <a:gd name="connsiteX112" fmla="*/ 24366 w 607215"/>
              <a:gd name="connsiteY112" fmla="*/ 185360 h 606369"/>
              <a:gd name="connsiteX113" fmla="*/ 565 w 607215"/>
              <a:gd name="connsiteY113" fmla="*/ 303182 h 606369"/>
              <a:gd name="connsiteX114" fmla="*/ 24366 w 607215"/>
              <a:gd name="connsiteY114" fmla="*/ 421004 h 606369"/>
              <a:gd name="connsiteX115" fmla="*/ 89354 w 607215"/>
              <a:gd name="connsiteY115" fmla="*/ 517221 h 606369"/>
              <a:gd name="connsiteX116" fmla="*/ 185640 w 607215"/>
              <a:gd name="connsiteY116" fmla="*/ 582034 h 606369"/>
              <a:gd name="connsiteX117" fmla="*/ 303640 w 607215"/>
              <a:gd name="connsiteY117" fmla="*/ 605876 h 606369"/>
              <a:gd name="connsiteX118" fmla="*/ 421640 w 607215"/>
              <a:gd name="connsiteY118" fmla="*/ 582034 h 606369"/>
              <a:gd name="connsiteX119" fmla="*/ 518003 w 607215"/>
              <a:gd name="connsiteY119" fmla="*/ 517221 h 606369"/>
              <a:gd name="connsiteX120" fmla="*/ 582914 w 607215"/>
              <a:gd name="connsiteY120" fmla="*/ 421004 h 606369"/>
              <a:gd name="connsiteX121" fmla="*/ 606792 w 607215"/>
              <a:gd name="connsiteY121" fmla="*/ 303182 h 606369"/>
              <a:gd name="connsiteX122" fmla="*/ 582914 w 607215"/>
              <a:gd name="connsiteY122" fmla="*/ 185360 h 606369"/>
              <a:gd name="connsiteX123" fmla="*/ 518003 w 607215"/>
              <a:gd name="connsiteY123" fmla="*/ 89220 h 606369"/>
              <a:gd name="connsiteX124" fmla="*/ 421640 w 607215"/>
              <a:gd name="connsiteY124" fmla="*/ 24330 h 606369"/>
              <a:gd name="connsiteX125" fmla="*/ 303640 w 607215"/>
              <a:gd name="connsiteY125" fmla="*/ 565 h 606369"/>
              <a:gd name="connsiteX126" fmla="*/ 303608 w 607215"/>
              <a:gd name="connsiteY126" fmla="*/ 0 h 606369"/>
              <a:gd name="connsiteX127" fmla="*/ 421836 w 607215"/>
              <a:gd name="connsiteY127" fmla="*/ 23844 h 606369"/>
              <a:gd name="connsiteX128" fmla="*/ 518351 w 607215"/>
              <a:gd name="connsiteY128" fmla="*/ 88818 h 606369"/>
              <a:gd name="connsiteX129" fmla="*/ 583338 w 607215"/>
              <a:gd name="connsiteY129" fmla="*/ 185198 h 606369"/>
              <a:gd name="connsiteX130" fmla="*/ 607215 w 607215"/>
              <a:gd name="connsiteY130" fmla="*/ 303185 h 606369"/>
              <a:gd name="connsiteX131" fmla="*/ 583338 w 607215"/>
              <a:gd name="connsiteY131" fmla="*/ 421248 h 606369"/>
              <a:gd name="connsiteX132" fmla="*/ 518351 w 607215"/>
              <a:gd name="connsiteY132" fmla="*/ 517629 h 606369"/>
              <a:gd name="connsiteX133" fmla="*/ 421836 w 607215"/>
              <a:gd name="connsiteY133" fmla="*/ 582525 h 606369"/>
              <a:gd name="connsiteX134" fmla="*/ 303608 w 607215"/>
              <a:gd name="connsiteY134" fmla="*/ 606369 h 606369"/>
              <a:gd name="connsiteX135" fmla="*/ 185456 w 607215"/>
              <a:gd name="connsiteY135" fmla="*/ 582525 h 606369"/>
              <a:gd name="connsiteX136" fmla="*/ 88942 w 607215"/>
              <a:gd name="connsiteY136" fmla="*/ 517629 h 606369"/>
              <a:gd name="connsiteX137" fmla="*/ 23877 w 607215"/>
              <a:gd name="connsiteY137" fmla="*/ 421248 h 606369"/>
              <a:gd name="connsiteX138" fmla="*/ 0 w 607215"/>
              <a:gd name="connsiteY138" fmla="*/ 303185 h 606369"/>
              <a:gd name="connsiteX139" fmla="*/ 23877 w 607215"/>
              <a:gd name="connsiteY139" fmla="*/ 185198 h 606369"/>
              <a:gd name="connsiteX140" fmla="*/ 88942 w 607215"/>
              <a:gd name="connsiteY140" fmla="*/ 88818 h 606369"/>
              <a:gd name="connsiteX141" fmla="*/ 185456 w 607215"/>
              <a:gd name="connsiteY141" fmla="*/ 23844 h 606369"/>
              <a:gd name="connsiteX142" fmla="*/ 303608 w 607215"/>
              <a:gd name="connsiteY142" fmla="*/ 0 h 6063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Lst>
            <a:rect l="l" t="t" r="r" b="b"/>
            <a:pathLst>
              <a:path w="607215" h="606369">
                <a:moveTo>
                  <a:pt x="303643" y="280873"/>
                </a:moveTo>
                <a:cubicBezTo>
                  <a:pt x="315552" y="280873"/>
                  <a:pt x="325219" y="290523"/>
                  <a:pt x="325219" y="302335"/>
                </a:cubicBezTo>
                <a:cubicBezTo>
                  <a:pt x="325219" y="314223"/>
                  <a:pt x="315552" y="323873"/>
                  <a:pt x="303643" y="323873"/>
                </a:cubicBezTo>
                <a:cubicBezTo>
                  <a:pt x="291734" y="323873"/>
                  <a:pt x="282068" y="314223"/>
                  <a:pt x="282068" y="302335"/>
                </a:cubicBezTo>
                <a:cubicBezTo>
                  <a:pt x="282068" y="290523"/>
                  <a:pt x="291734" y="280873"/>
                  <a:pt x="303643" y="280873"/>
                </a:cubicBezTo>
                <a:close/>
                <a:moveTo>
                  <a:pt x="303678" y="280357"/>
                </a:moveTo>
                <a:cubicBezTo>
                  <a:pt x="291499" y="280357"/>
                  <a:pt x="281626" y="290214"/>
                  <a:pt x="281626" y="302374"/>
                </a:cubicBezTo>
                <a:cubicBezTo>
                  <a:pt x="281626" y="314534"/>
                  <a:pt x="291499" y="324391"/>
                  <a:pt x="303678" y="324391"/>
                </a:cubicBezTo>
                <a:cubicBezTo>
                  <a:pt x="315857" y="324391"/>
                  <a:pt x="325730" y="314534"/>
                  <a:pt x="325730" y="302374"/>
                </a:cubicBezTo>
                <a:cubicBezTo>
                  <a:pt x="325730" y="290214"/>
                  <a:pt x="315857" y="280357"/>
                  <a:pt x="303678" y="280357"/>
                </a:cubicBezTo>
                <a:close/>
                <a:moveTo>
                  <a:pt x="303643" y="279792"/>
                </a:moveTo>
                <a:cubicBezTo>
                  <a:pt x="316094" y="279792"/>
                  <a:pt x="326224" y="289905"/>
                  <a:pt x="326224" y="302335"/>
                </a:cubicBezTo>
                <a:cubicBezTo>
                  <a:pt x="326224" y="314841"/>
                  <a:pt x="316094" y="324954"/>
                  <a:pt x="303643" y="324954"/>
                </a:cubicBezTo>
                <a:cubicBezTo>
                  <a:pt x="291193" y="324954"/>
                  <a:pt x="281062" y="314841"/>
                  <a:pt x="281062" y="302335"/>
                </a:cubicBezTo>
                <a:cubicBezTo>
                  <a:pt x="281062" y="289905"/>
                  <a:pt x="291193" y="279792"/>
                  <a:pt x="303643" y="279792"/>
                </a:cubicBezTo>
                <a:close/>
                <a:moveTo>
                  <a:pt x="281043" y="46068"/>
                </a:moveTo>
                <a:cubicBezTo>
                  <a:pt x="220693" y="51315"/>
                  <a:pt x="163820" y="77783"/>
                  <a:pt x="120855" y="120687"/>
                </a:cubicBezTo>
                <a:cubicBezTo>
                  <a:pt x="77891" y="163591"/>
                  <a:pt x="51387" y="220385"/>
                  <a:pt x="46132" y="280652"/>
                </a:cubicBezTo>
                <a:lnTo>
                  <a:pt x="147128" y="280652"/>
                </a:lnTo>
                <a:cubicBezTo>
                  <a:pt x="159647" y="280652"/>
                  <a:pt x="169770" y="290761"/>
                  <a:pt x="169770" y="303185"/>
                </a:cubicBezTo>
                <a:cubicBezTo>
                  <a:pt x="169770" y="315608"/>
                  <a:pt x="159647" y="325717"/>
                  <a:pt x="147128" y="325717"/>
                </a:cubicBezTo>
                <a:lnTo>
                  <a:pt x="46132" y="325717"/>
                </a:lnTo>
                <a:cubicBezTo>
                  <a:pt x="51387" y="385984"/>
                  <a:pt x="77891" y="442778"/>
                  <a:pt x="120855" y="485682"/>
                </a:cubicBezTo>
                <a:cubicBezTo>
                  <a:pt x="163820" y="528586"/>
                  <a:pt x="220693" y="555131"/>
                  <a:pt x="281043" y="560301"/>
                </a:cubicBezTo>
                <a:lnTo>
                  <a:pt x="281043" y="459446"/>
                </a:lnTo>
                <a:cubicBezTo>
                  <a:pt x="281043" y="447022"/>
                  <a:pt x="291167" y="436913"/>
                  <a:pt x="303608" y="436913"/>
                </a:cubicBezTo>
                <a:cubicBezTo>
                  <a:pt x="316049" y="436913"/>
                  <a:pt x="326172" y="447022"/>
                  <a:pt x="326172" y="459446"/>
                </a:cubicBezTo>
                <a:lnTo>
                  <a:pt x="326172" y="560301"/>
                </a:lnTo>
                <a:cubicBezTo>
                  <a:pt x="386522" y="555131"/>
                  <a:pt x="443395" y="528586"/>
                  <a:pt x="486360" y="485682"/>
                </a:cubicBezTo>
                <a:cubicBezTo>
                  <a:pt x="529324" y="442778"/>
                  <a:pt x="555906" y="385984"/>
                  <a:pt x="561083" y="325717"/>
                </a:cubicBezTo>
                <a:lnTo>
                  <a:pt x="460087" y="325717"/>
                </a:lnTo>
                <a:cubicBezTo>
                  <a:pt x="447645" y="325717"/>
                  <a:pt x="437523" y="315608"/>
                  <a:pt x="437523" y="303185"/>
                </a:cubicBezTo>
                <a:cubicBezTo>
                  <a:pt x="437523" y="290761"/>
                  <a:pt x="447645" y="280652"/>
                  <a:pt x="460087" y="280652"/>
                </a:cubicBezTo>
                <a:lnTo>
                  <a:pt x="561083" y="280652"/>
                </a:lnTo>
                <a:cubicBezTo>
                  <a:pt x="555906" y="220385"/>
                  <a:pt x="529324" y="163591"/>
                  <a:pt x="486360" y="120687"/>
                </a:cubicBezTo>
                <a:cubicBezTo>
                  <a:pt x="443395" y="77783"/>
                  <a:pt x="386522" y="51315"/>
                  <a:pt x="326172" y="46068"/>
                </a:cubicBezTo>
                <a:lnTo>
                  <a:pt x="326172" y="146923"/>
                </a:lnTo>
                <a:cubicBezTo>
                  <a:pt x="326172" y="159424"/>
                  <a:pt x="316049" y="169533"/>
                  <a:pt x="303608" y="169533"/>
                </a:cubicBezTo>
                <a:cubicBezTo>
                  <a:pt x="291167" y="169533"/>
                  <a:pt x="281043" y="159424"/>
                  <a:pt x="281043" y="146923"/>
                </a:cubicBezTo>
                <a:close/>
                <a:moveTo>
                  <a:pt x="281617" y="45548"/>
                </a:moveTo>
                <a:lnTo>
                  <a:pt x="281617" y="146935"/>
                </a:lnTo>
                <a:cubicBezTo>
                  <a:pt x="281617" y="159126"/>
                  <a:pt x="291431" y="169002"/>
                  <a:pt x="303640" y="169002"/>
                </a:cubicBezTo>
                <a:cubicBezTo>
                  <a:pt x="315850" y="169002"/>
                  <a:pt x="325741" y="159126"/>
                  <a:pt x="325741" y="146935"/>
                </a:cubicBezTo>
                <a:lnTo>
                  <a:pt x="325741" y="45548"/>
                </a:lnTo>
                <a:cubicBezTo>
                  <a:pt x="451159" y="56119"/>
                  <a:pt x="551077" y="155963"/>
                  <a:pt x="561663" y="281192"/>
                </a:cubicBezTo>
                <a:lnTo>
                  <a:pt x="460123" y="281192"/>
                </a:lnTo>
                <a:cubicBezTo>
                  <a:pt x="447914" y="281192"/>
                  <a:pt x="438022" y="290991"/>
                  <a:pt x="438022" y="303182"/>
                </a:cubicBezTo>
                <a:cubicBezTo>
                  <a:pt x="438022" y="315373"/>
                  <a:pt x="447914" y="325250"/>
                  <a:pt x="460123" y="325250"/>
                </a:cubicBezTo>
                <a:lnTo>
                  <a:pt x="561663" y="325250"/>
                </a:lnTo>
                <a:cubicBezTo>
                  <a:pt x="551077" y="450478"/>
                  <a:pt x="451159" y="550245"/>
                  <a:pt x="325741" y="560815"/>
                </a:cubicBezTo>
                <a:lnTo>
                  <a:pt x="325741" y="459429"/>
                </a:lnTo>
                <a:cubicBezTo>
                  <a:pt x="325741" y="447238"/>
                  <a:pt x="315850" y="437361"/>
                  <a:pt x="303640" y="437361"/>
                </a:cubicBezTo>
                <a:cubicBezTo>
                  <a:pt x="291431" y="437361"/>
                  <a:pt x="281617" y="447238"/>
                  <a:pt x="281617" y="459429"/>
                </a:cubicBezTo>
                <a:lnTo>
                  <a:pt x="281617" y="560815"/>
                </a:lnTo>
                <a:cubicBezTo>
                  <a:pt x="156198" y="550245"/>
                  <a:pt x="56203" y="450478"/>
                  <a:pt x="45616" y="325250"/>
                </a:cubicBezTo>
                <a:lnTo>
                  <a:pt x="147157" y="325250"/>
                </a:lnTo>
                <a:cubicBezTo>
                  <a:pt x="159366" y="325250"/>
                  <a:pt x="169257" y="315373"/>
                  <a:pt x="169257" y="303182"/>
                </a:cubicBezTo>
                <a:cubicBezTo>
                  <a:pt x="169257" y="290991"/>
                  <a:pt x="159366" y="281192"/>
                  <a:pt x="147157" y="281192"/>
                </a:cubicBezTo>
                <a:lnTo>
                  <a:pt x="45616" y="281192"/>
                </a:lnTo>
                <a:cubicBezTo>
                  <a:pt x="56203" y="155963"/>
                  <a:pt x="156198" y="56119"/>
                  <a:pt x="281617" y="45548"/>
                </a:cubicBezTo>
                <a:close/>
                <a:moveTo>
                  <a:pt x="281508" y="44987"/>
                </a:moveTo>
                <a:cubicBezTo>
                  <a:pt x="220693" y="50158"/>
                  <a:pt x="163433" y="76780"/>
                  <a:pt x="120160" y="119993"/>
                </a:cubicBezTo>
                <a:cubicBezTo>
                  <a:pt x="76887" y="163205"/>
                  <a:pt x="50228" y="220385"/>
                  <a:pt x="45050" y="281115"/>
                </a:cubicBezTo>
                <a:lnTo>
                  <a:pt x="45050" y="281655"/>
                </a:lnTo>
                <a:lnTo>
                  <a:pt x="147128" y="281655"/>
                </a:lnTo>
                <a:cubicBezTo>
                  <a:pt x="159029" y="281655"/>
                  <a:pt x="168688" y="291301"/>
                  <a:pt x="168688" y="303185"/>
                </a:cubicBezTo>
                <a:cubicBezTo>
                  <a:pt x="168688" y="315068"/>
                  <a:pt x="159029" y="324714"/>
                  <a:pt x="147128" y="324714"/>
                </a:cubicBezTo>
                <a:lnTo>
                  <a:pt x="45050" y="324714"/>
                </a:lnTo>
                <a:lnTo>
                  <a:pt x="45050" y="325254"/>
                </a:lnTo>
                <a:cubicBezTo>
                  <a:pt x="50228" y="385984"/>
                  <a:pt x="76887" y="443241"/>
                  <a:pt x="120160" y="486454"/>
                </a:cubicBezTo>
                <a:cubicBezTo>
                  <a:pt x="163433" y="529666"/>
                  <a:pt x="220693" y="556289"/>
                  <a:pt x="281508" y="561382"/>
                </a:cubicBezTo>
                <a:lnTo>
                  <a:pt x="282048" y="561459"/>
                </a:lnTo>
                <a:lnTo>
                  <a:pt x="282048" y="459446"/>
                </a:lnTo>
                <a:cubicBezTo>
                  <a:pt x="282048" y="447562"/>
                  <a:pt x="291708" y="437916"/>
                  <a:pt x="303608" y="437916"/>
                </a:cubicBezTo>
                <a:cubicBezTo>
                  <a:pt x="315508" y="437916"/>
                  <a:pt x="325167" y="447562"/>
                  <a:pt x="325167" y="459446"/>
                </a:cubicBezTo>
                <a:lnTo>
                  <a:pt x="325167" y="561459"/>
                </a:lnTo>
                <a:lnTo>
                  <a:pt x="325708" y="561382"/>
                </a:lnTo>
                <a:cubicBezTo>
                  <a:pt x="386522" y="556289"/>
                  <a:pt x="443859" y="529666"/>
                  <a:pt x="487132" y="486454"/>
                </a:cubicBezTo>
                <a:cubicBezTo>
                  <a:pt x="530405" y="443241"/>
                  <a:pt x="557065" y="385984"/>
                  <a:pt x="562165" y="325254"/>
                </a:cubicBezTo>
                <a:lnTo>
                  <a:pt x="562242" y="324714"/>
                </a:lnTo>
                <a:lnTo>
                  <a:pt x="460087" y="324714"/>
                </a:lnTo>
                <a:cubicBezTo>
                  <a:pt x="448186" y="324714"/>
                  <a:pt x="438527" y="315068"/>
                  <a:pt x="438527" y="303185"/>
                </a:cubicBezTo>
                <a:cubicBezTo>
                  <a:pt x="438527" y="291301"/>
                  <a:pt x="448186" y="281655"/>
                  <a:pt x="460087" y="281655"/>
                </a:cubicBezTo>
                <a:lnTo>
                  <a:pt x="562242" y="281655"/>
                </a:lnTo>
                <a:lnTo>
                  <a:pt x="562165" y="281115"/>
                </a:lnTo>
                <a:cubicBezTo>
                  <a:pt x="557065" y="220385"/>
                  <a:pt x="530405" y="163205"/>
                  <a:pt x="487132" y="119993"/>
                </a:cubicBezTo>
                <a:cubicBezTo>
                  <a:pt x="443859" y="76780"/>
                  <a:pt x="386522" y="50158"/>
                  <a:pt x="325708" y="44987"/>
                </a:cubicBezTo>
                <a:lnTo>
                  <a:pt x="325167" y="44987"/>
                </a:lnTo>
                <a:lnTo>
                  <a:pt x="325167" y="146923"/>
                </a:lnTo>
                <a:cubicBezTo>
                  <a:pt x="325167" y="158807"/>
                  <a:pt x="315508" y="168453"/>
                  <a:pt x="303608" y="168453"/>
                </a:cubicBezTo>
                <a:cubicBezTo>
                  <a:pt x="291708" y="168453"/>
                  <a:pt x="282048" y="158807"/>
                  <a:pt x="282048" y="146923"/>
                </a:cubicBezTo>
                <a:lnTo>
                  <a:pt x="282048" y="44987"/>
                </a:lnTo>
                <a:close/>
                <a:moveTo>
                  <a:pt x="303608" y="1003"/>
                </a:moveTo>
                <a:cubicBezTo>
                  <a:pt x="344485" y="1003"/>
                  <a:pt x="384049" y="9028"/>
                  <a:pt x="421450" y="24770"/>
                </a:cubicBezTo>
                <a:cubicBezTo>
                  <a:pt x="457459" y="40049"/>
                  <a:pt x="489837" y="61810"/>
                  <a:pt x="517578" y="89512"/>
                </a:cubicBezTo>
                <a:cubicBezTo>
                  <a:pt x="545396" y="117292"/>
                  <a:pt x="567188" y="149547"/>
                  <a:pt x="582410" y="185584"/>
                </a:cubicBezTo>
                <a:cubicBezTo>
                  <a:pt x="598174" y="222855"/>
                  <a:pt x="606211" y="262441"/>
                  <a:pt x="606211" y="303185"/>
                </a:cubicBezTo>
                <a:cubicBezTo>
                  <a:pt x="606211" y="344005"/>
                  <a:pt x="598174" y="383514"/>
                  <a:pt x="582410" y="420863"/>
                </a:cubicBezTo>
                <a:cubicBezTo>
                  <a:pt x="567188" y="456822"/>
                  <a:pt x="545396" y="489154"/>
                  <a:pt x="517578" y="516857"/>
                </a:cubicBezTo>
                <a:cubicBezTo>
                  <a:pt x="489837" y="544637"/>
                  <a:pt x="457459" y="566397"/>
                  <a:pt x="421450" y="581599"/>
                </a:cubicBezTo>
                <a:cubicBezTo>
                  <a:pt x="384049" y="597341"/>
                  <a:pt x="344485" y="605366"/>
                  <a:pt x="303608" y="605366"/>
                </a:cubicBezTo>
                <a:cubicBezTo>
                  <a:pt x="262807" y="605366"/>
                  <a:pt x="223166" y="597341"/>
                  <a:pt x="185842" y="581599"/>
                </a:cubicBezTo>
                <a:cubicBezTo>
                  <a:pt x="149756" y="566397"/>
                  <a:pt x="117455" y="544637"/>
                  <a:pt x="89637" y="516857"/>
                </a:cubicBezTo>
                <a:cubicBezTo>
                  <a:pt x="61896" y="489154"/>
                  <a:pt x="40105" y="456822"/>
                  <a:pt x="24805" y="420863"/>
                </a:cubicBezTo>
                <a:cubicBezTo>
                  <a:pt x="9041" y="383514"/>
                  <a:pt x="1004" y="344005"/>
                  <a:pt x="1004" y="303185"/>
                </a:cubicBezTo>
                <a:cubicBezTo>
                  <a:pt x="1004" y="262441"/>
                  <a:pt x="9041" y="222855"/>
                  <a:pt x="24805" y="185584"/>
                </a:cubicBezTo>
                <a:cubicBezTo>
                  <a:pt x="40105" y="149547"/>
                  <a:pt x="61896" y="117292"/>
                  <a:pt x="89637" y="89512"/>
                </a:cubicBezTo>
                <a:cubicBezTo>
                  <a:pt x="117455" y="61810"/>
                  <a:pt x="149756" y="40049"/>
                  <a:pt x="185842" y="24770"/>
                </a:cubicBezTo>
                <a:cubicBezTo>
                  <a:pt x="223166" y="9028"/>
                  <a:pt x="262807" y="1003"/>
                  <a:pt x="303608" y="1003"/>
                </a:cubicBezTo>
                <a:close/>
                <a:moveTo>
                  <a:pt x="303640" y="565"/>
                </a:moveTo>
                <a:cubicBezTo>
                  <a:pt x="262761" y="565"/>
                  <a:pt x="223041" y="8512"/>
                  <a:pt x="185640" y="24330"/>
                </a:cubicBezTo>
                <a:cubicBezTo>
                  <a:pt x="149552" y="39607"/>
                  <a:pt x="117174" y="61366"/>
                  <a:pt x="89354" y="89220"/>
                </a:cubicBezTo>
                <a:cubicBezTo>
                  <a:pt x="61458" y="116997"/>
                  <a:pt x="39666" y="149327"/>
                  <a:pt x="24366" y="185360"/>
                </a:cubicBezTo>
                <a:cubicBezTo>
                  <a:pt x="8524" y="222705"/>
                  <a:pt x="565" y="262365"/>
                  <a:pt x="565" y="303182"/>
                </a:cubicBezTo>
                <a:cubicBezTo>
                  <a:pt x="565" y="343999"/>
                  <a:pt x="8524" y="383659"/>
                  <a:pt x="24366" y="421004"/>
                </a:cubicBezTo>
                <a:cubicBezTo>
                  <a:pt x="39666" y="457037"/>
                  <a:pt x="61458" y="489444"/>
                  <a:pt x="89354" y="517221"/>
                </a:cubicBezTo>
                <a:cubicBezTo>
                  <a:pt x="117174" y="544998"/>
                  <a:pt x="149552" y="566834"/>
                  <a:pt x="185640" y="582034"/>
                </a:cubicBezTo>
                <a:cubicBezTo>
                  <a:pt x="223041" y="597852"/>
                  <a:pt x="262761" y="605876"/>
                  <a:pt x="303640" y="605876"/>
                </a:cubicBezTo>
                <a:cubicBezTo>
                  <a:pt x="344596" y="605876"/>
                  <a:pt x="384239" y="597852"/>
                  <a:pt x="421640" y="582034"/>
                </a:cubicBezTo>
                <a:cubicBezTo>
                  <a:pt x="457728" y="566834"/>
                  <a:pt x="490183" y="544998"/>
                  <a:pt x="518003" y="517221"/>
                </a:cubicBezTo>
                <a:cubicBezTo>
                  <a:pt x="545822" y="489444"/>
                  <a:pt x="567691" y="457037"/>
                  <a:pt x="582914" y="421004"/>
                </a:cubicBezTo>
                <a:cubicBezTo>
                  <a:pt x="598756" y="383659"/>
                  <a:pt x="606792" y="343999"/>
                  <a:pt x="606792" y="303182"/>
                </a:cubicBezTo>
                <a:cubicBezTo>
                  <a:pt x="606792" y="262365"/>
                  <a:pt x="598756" y="222705"/>
                  <a:pt x="582914" y="185360"/>
                </a:cubicBezTo>
                <a:cubicBezTo>
                  <a:pt x="567691" y="149327"/>
                  <a:pt x="545822" y="116997"/>
                  <a:pt x="518003" y="89220"/>
                </a:cubicBezTo>
                <a:cubicBezTo>
                  <a:pt x="490183" y="61366"/>
                  <a:pt x="457728" y="39607"/>
                  <a:pt x="421640" y="24330"/>
                </a:cubicBezTo>
                <a:cubicBezTo>
                  <a:pt x="384239" y="8512"/>
                  <a:pt x="344519" y="565"/>
                  <a:pt x="303640" y="565"/>
                </a:cubicBezTo>
                <a:close/>
                <a:moveTo>
                  <a:pt x="303608" y="0"/>
                </a:moveTo>
                <a:cubicBezTo>
                  <a:pt x="344563" y="0"/>
                  <a:pt x="384359" y="8025"/>
                  <a:pt x="421836" y="23844"/>
                </a:cubicBezTo>
                <a:cubicBezTo>
                  <a:pt x="458000" y="39123"/>
                  <a:pt x="490455" y="60961"/>
                  <a:pt x="518351" y="88818"/>
                </a:cubicBezTo>
                <a:cubicBezTo>
                  <a:pt x="546169" y="116674"/>
                  <a:pt x="568038" y="149084"/>
                  <a:pt x="583338" y="185198"/>
                </a:cubicBezTo>
                <a:cubicBezTo>
                  <a:pt x="599179" y="222546"/>
                  <a:pt x="607215" y="262286"/>
                  <a:pt x="607215" y="303185"/>
                </a:cubicBezTo>
                <a:cubicBezTo>
                  <a:pt x="607215" y="344083"/>
                  <a:pt x="599179" y="383823"/>
                  <a:pt x="583338" y="421248"/>
                </a:cubicBezTo>
                <a:cubicBezTo>
                  <a:pt x="568038" y="457362"/>
                  <a:pt x="546169" y="489772"/>
                  <a:pt x="518351" y="517629"/>
                </a:cubicBezTo>
                <a:cubicBezTo>
                  <a:pt x="490455" y="545408"/>
                  <a:pt x="458000" y="567246"/>
                  <a:pt x="421836" y="582525"/>
                </a:cubicBezTo>
                <a:cubicBezTo>
                  <a:pt x="384359" y="598344"/>
                  <a:pt x="344563" y="606369"/>
                  <a:pt x="303608" y="606369"/>
                </a:cubicBezTo>
                <a:cubicBezTo>
                  <a:pt x="262652" y="606369"/>
                  <a:pt x="222856" y="598344"/>
                  <a:pt x="185456" y="582525"/>
                </a:cubicBezTo>
                <a:cubicBezTo>
                  <a:pt x="149292" y="567246"/>
                  <a:pt x="116760" y="545408"/>
                  <a:pt x="88942" y="517629"/>
                </a:cubicBezTo>
                <a:cubicBezTo>
                  <a:pt x="61046" y="489772"/>
                  <a:pt x="39177" y="457362"/>
                  <a:pt x="23877" y="421248"/>
                </a:cubicBezTo>
                <a:cubicBezTo>
                  <a:pt x="8036" y="383823"/>
                  <a:pt x="0" y="344083"/>
                  <a:pt x="0" y="303185"/>
                </a:cubicBezTo>
                <a:cubicBezTo>
                  <a:pt x="0" y="262286"/>
                  <a:pt x="8036" y="222546"/>
                  <a:pt x="23877" y="185198"/>
                </a:cubicBezTo>
                <a:cubicBezTo>
                  <a:pt x="39177" y="149084"/>
                  <a:pt x="61046" y="116674"/>
                  <a:pt x="88942" y="88818"/>
                </a:cubicBezTo>
                <a:cubicBezTo>
                  <a:pt x="116760" y="60961"/>
                  <a:pt x="149292" y="39123"/>
                  <a:pt x="185456" y="23844"/>
                </a:cubicBezTo>
                <a:cubicBezTo>
                  <a:pt x="222856" y="8025"/>
                  <a:pt x="262652" y="0"/>
                  <a:pt x="303608"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dirty="0"/>
          </a:p>
        </p:txBody>
      </p:sp>
      <p:sp>
        <p:nvSpPr>
          <p:cNvPr id="104" name="文本框 103">
            <a:extLst>
              <a:ext uri="{FF2B5EF4-FFF2-40B4-BE49-F238E27FC236}">
                <a16:creationId xmlns:a16="http://schemas.microsoft.com/office/drawing/2014/main" id="{74F560CD-0C25-41DD-9004-C0B84D638407}"/>
              </a:ext>
            </a:extLst>
          </p:cNvPr>
          <p:cNvSpPr txBox="1"/>
          <p:nvPr/>
        </p:nvSpPr>
        <p:spPr>
          <a:xfrm>
            <a:off x="373082" y="2808021"/>
            <a:ext cx="1660612" cy="338554"/>
          </a:xfrm>
          <a:prstGeom prst="rect">
            <a:avLst/>
          </a:prstGeom>
          <a:noFill/>
        </p:spPr>
        <p:txBody>
          <a:bodyPr wrap="square" rtlCol="0">
            <a:spAutoFit/>
          </a:bodyPr>
          <a:lstStyle/>
          <a:p>
            <a:r>
              <a:rPr lang="zh-CN" altLang="en-US" sz="1600" dirty="0">
                <a:solidFill>
                  <a:schemeClr val="bg1"/>
                </a:solidFill>
                <a:latin typeface="思源黑体 CN Regular" panose="020B0500000000000000" pitchFamily="34" charset="-122"/>
                <a:ea typeface="思源黑体 CN Regular" panose="020B0500000000000000" pitchFamily="34" charset="-122"/>
              </a:rPr>
              <a:t>研究目标和内容</a:t>
            </a:r>
          </a:p>
        </p:txBody>
      </p:sp>
      <p:sp>
        <p:nvSpPr>
          <p:cNvPr id="105" name="任意矩形：003">
            <a:extLst>
              <a:ext uri="{FF2B5EF4-FFF2-40B4-BE49-F238E27FC236}">
                <a16:creationId xmlns:a16="http://schemas.microsoft.com/office/drawing/2014/main" id="{D2359D2C-7AF2-42BB-9350-F0CCAE64C031}"/>
              </a:ext>
            </a:extLst>
          </p:cNvPr>
          <p:cNvSpPr/>
          <p:nvPr/>
        </p:nvSpPr>
        <p:spPr>
          <a:xfrm rot="10800000" flipH="1" flipV="1">
            <a:off x="145020" y="3571293"/>
            <a:ext cx="199667" cy="199477"/>
          </a:xfrm>
          <a:custGeom>
            <a:avLst/>
            <a:gdLst>
              <a:gd name="connsiteX0" fmla="*/ 320200 w 604886"/>
              <a:gd name="connsiteY0" fmla="*/ 166778 h 604313"/>
              <a:gd name="connsiteX1" fmla="*/ 338200 w 604886"/>
              <a:gd name="connsiteY1" fmla="*/ 168153 h 604313"/>
              <a:gd name="connsiteX2" fmla="*/ 394904 w 604886"/>
              <a:gd name="connsiteY2" fmla="*/ 210003 h 604313"/>
              <a:gd name="connsiteX3" fmla="*/ 448997 w 604886"/>
              <a:gd name="connsiteY3" fmla="*/ 297466 h 604313"/>
              <a:gd name="connsiteX4" fmla="*/ 433479 w 604886"/>
              <a:gd name="connsiteY4" fmla="*/ 381599 h 604313"/>
              <a:gd name="connsiteX5" fmla="*/ 230304 w 604886"/>
              <a:gd name="connsiteY5" fmla="*/ 584474 h 604313"/>
              <a:gd name="connsiteX6" fmla="*/ 177952 w 604886"/>
              <a:gd name="connsiteY6" fmla="*/ 604313 h 604313"/>
              <a:gd name="connsiteX7" fmla="*/ 58454 w 604886"/>
              <a:gd name="connsiteY7" fmla="*/ 545956 h 604313"/>
              <a:gd name="connsiteX8" fmla="*/ 19733 w 604886"/>
              <a:gd name="connsiteY8" fmla="*/ 374359 h 604313"/>
              <a:gd name="connsiteX9" fmla="*/ 93549 w 604886"/>
              <a:gd name="connsiteY9" fmla="*/ 300652 h 604313"/>
              <a:gd name="connsiteX10" fmla="*/ 127049 w 604886"/>
              <a:gd name="connsiteY10" fmla="*/ 300652 h 604313"/>
              <a:gd name="connsiteX11" fmla="*/ 127049 w 604886"/>
              <a:gd name="connsiteY11" fmla="*/ 333958 h 604313"/>
              <a:gd name="connsiteX12" fmla="*/ 53233 w 604886"/>
              <a:gd name="connsiteY12" fmla="*/ 407665 h 604313"/>
              <a:gd name="connsiteX13" fmla="*/ 91809 w 604886"/>
              <a:gd name="connsiteY13" fmla="*/ 512650 h 604313"/>
              <a:gd name="connsiteX14" fmla="*/ 196950 w 604886"/>
              <a:gd name="connsiteY14" fmla="*/ 551169 h 604313"/>
              <a:gd name="connsiteX15" fmla="*/ 400124 w 604886"/>
              <a:gd name="connsiteY15" fmla="*/ 348294 h 604313"/>
              <a:gd name="connsiteX16" fmla="*/ 403460 w 604886"/>
              <a:gd name="connsiteY16" fmla="*/ 310065 h 604313"/>
              <a:gd name="connsiteX17" fmla="*/ 361549 w 604886"/>
              <a:gd name="connsiteY17" fmla="*/ 243308 h 604313"/>
              <a:gd name="connsiteX18" fmla="*/ 316737 w 604886"/>
              <a:gd name="connsiteY18" fmla="*/ 210147 h 604313"/>
              <a:gd name="connsiteX19" fmla="*/ 306441 w 604886"/>
              <a:gd name="connsiteY19" fmla="*/ 178435 h 604313"/>
              <a:gd name="connsiteX20" fmla="*/ 320200 w 604886"/>
              <a:gd name="connsiteY20" fmla="*/ 166778 h 604313"/>
              <a:gd name="connsiteX21" fmla="*/ 411085 w 604886"/>
              <a:gd name="connsiteY21" fmla="*/ 1388 h 604313"/>
              <a:gd name="connsiteX22" fmla="*/ 458862 w 604886"/>
              <a:gd name="connsiteY22" fmla="*/ 4683 h 604313"/>
              <a:gd name="connsiteX23" fmla="*/ 546442 w 604886"/>
              <a:gd name="connsiteY23" fmla="*/ 58698 h 604313"/>
              <a:gd name="connsiteX24" fmla="*/ 585156 w 604886"/>
              <a:gd name="connsiteY24" fmla="*/ 230302 h 604313"/>
              <a:gd name="connsiteX25" fmla="*/ 511352 w 604886"/>
              <a:gd name="connsiteY25" fmla="*/ 304012 h 604313"/>
              <a:gd name="connsiteX26" fmla="*/ 477857 w 604886"/>
              <a:gd name="connsiteY26" fmla="*/ 304012 h 604313"/>
              <a:gd name="connsiteX27" fmla="*/ 477857 w 604886"/>
              <a:gd name="connsiteY27" fmla="*/ 270705 h 604313"/>
              <a:gd name="connsiteX28" fmla="*/ 551662 w 604886"/>
              <a:gd name="connsiteY28" fmla="*/ 196995 h 604313"/>
              <a:gd name="connsiteX29" fmla="*/ 513092 w 604886"/>
              <a:gd name="connsiteY29" fmla="*/ 92005 h 604313"/>
              <a:gd name="connsiteX30" fmla="*/ 446247 w 604886"/>
              <a:gd name="connsiteY30" fmla="*/ 50154 h 604313"/>
              <a:gd name="connsiteX31" fmla="*/ 407968 w 604886"/>
              <a:gd name="connsiteY31" fmla="*/ 53485 h 604313"/>
              <a:gd name="connsiteX32" fmla="*/ 204825 w 604886"/>
              <a:gd name="connsiteY32" fmla="*/ 256368 h 604313"/>
              <a:gd name="connsiteX33" fmla="*/ 201490 w 604886"/>
              <a:gd name="connsiteY33" fmla="*/ 294599 h 604313"/>
              <a:gd name="connsiteX34" fmla="*/ 243394 w 604886"/>
              <a:gd name="connsiteY34" fmla="*/ 361358 h 604313"/>
              <a:gd name="connsiteX35" fmla="*/ 288199 w 604886"/>
              <a:gd name="connsiteY35" fmla="*/ 394520 h 604313"/>
              <a:gd name="connsiteX36" fmla="*/ 298494 w 604886"/>
              <a:gd name="connsiteY36" fmla="*/ 426234 h 604313"/>
              <a:gd name="connsiteX37" fmla="*/ 277469 w 604886"/>
              <a:gd name="connsiteY37" fmla="*/ 438978 h 604313"/>
              <a:gd name="connsiteX38" fmla="*/ 266739 w 604886"/>
              <a:gd name="connsiteY38" fmla="*/ 436516 h 604313"/>
              <a:gd name="connsiteX39" fmla="*/ 210044 w 604886"/>
              <a:gd name="connsiteY39" fmla="*/ 394665 h 604313"/>
              <a:gd name="connsiteX40" fmla="*/ 155960 w 604886"/>
              <a:gd name="connsiteY40" fmla="*/ 307198 h 604313"/>
              <a:gd name="connsiteX41" fmla="*/ 171330 w 604886"/>
              <a:gd name="connsiteY41" fmla="*/ 223061 h 604313"/>
              <a:gd name="connsiteX42" fmla="*/ 374618 w 604886"/>
              <a:gd name="connsiteY42" fmla="*/ 20033 h 604313"/>
              <a:gd name="connsiteX43" fmla="*/ 411085 w 604886"/>
              <a:gd name="connsiteY43" fmla="*/ 1388 h 6043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Lst>
            <a:rect l="l" t="t" r="r" b="b"/>
            <a:pathLst>
              <a:path w="604886" h="604313">
                <a:moveTo>
                  <a:pt x="320200" y="166778"/>
                </a:moveTo>
                <a:cubicBezTo>
                  <a:pt x="325946" y="164931"/>
                  <a:pt x="332399" y="165257"/>
                  <a:pt x="338200" y="168153"/>
                </a:cubicBezTo>
                <a:cubicBezTo>
                  <a:pt x="358068" y="178290"/>
                  <a:pt x="377646" y="192771"/>
                  <a:pt x="394904" y="210003"/>
                </a:cubicBezTo>
                <a:cubicBezTo>
                  <a:pt x="421443" y="236358"/>
                  <a:pt x="440585" y="267491"/>
                  <a:pt x="448997" y="297466"/>
                </a:cubicBezTo>
                <a:cubicBezTo>
                  <a:pt x="458568" y="332075"/>
                  <a:pt x="453202" y="362050"/>
                  <a:pt x="433479" y="381599"/>
                </a:cubicBezTo>
                <a:lnTo>
                  <a:pt x="230304" y="584474"/>
                </a:lnTo>
                <a:cubicBezTo>
                  <a:pt x="216962" y="597942"/>
                  <a:pt x="198690" y="604313"/>
                  <a:pt x="177952" y="604313"/>
                </a:cubicBezTo>
                <a:cubicBezTo>
                  <a:pt x="140971" y="604313"/>
                  <a:pt x="96305" y="583750"/>
                  <a:pt x="58454" y="545956"/>
                </a:cubicBezTo>
                <a:cubicBezTo>
                  <a:pt x="-570" y="487019"/>
                  <a:pt x="-17537" y="411575"/>
                  <a:pt x="19733" y="374359"/>
                </a:cubicBezTo>
                <a:lnTo>
                  <a:pt x="93549" y="300652"/>
                </a:lnTo>
                <a:cubicBezTo>
                  <a:pt x="102831" y="291384"/>
                  <a:pt x="117768" y="291384"/>
                  <a:pt x="127049" y="300652"/>
                </a:cubicBezTo>
                <a:cubicBezTo>
                  <a:pt x="136186" y="309775"/>
                  <a:pt x="136186" y="324690"/>
                  <a:pt x="127049" y="333958"/>
                </a:cubicBezTo>
                <a:lnTo>
                  <a:pt x="53233" y="407665"/>
                </a:lnTo>
                <a:cubicBezTo>
                  <a:pt x="37426" y="423304"/>
                  <a:pt x="50623" y="471525"/>
                  <a:pt x="91809" y="512650"/>
                </a:cubicBezTo>
                <a:cubicBezTo>
                  <a:pt x="132995" y="553631"/>
                  <a:pt x="181287" y="566808"/>
                  <a:pt x="196950" y="551169"/>
                </a:cubicBezTo>
                <a:lnTo>
                  <a:pt x="400124" y="348294"/>
                </a:lnTo>
                <a:cubicBezTo>
                  <a:pt x="407085" y="341343"/>
                  <a:pt x="408246" y="327441"/>
                  <a:pt x="403460" y="310065"/>
                </a:cubicBezTo>
                <a:cubicBezTo>
                  <a:pt x="397369" y="288199"/>
                  <a:pt x="381997" y="263871"/>
                  <a:pt x="361549" y="243308"/>
                </a:cubicBezTo>
                <a:cubicBezTo>
                  <a:pt x="347627" y="229552"/>
                  <a:pt x="332254" y="218112"/>
                  <a:pt x="316737" y="210147"/>
                </a:cubicBezTo>
                <a:cubicBezTo>
                  <a:pt x="305135" y="204355"/>
                  <a:pt x="300495" y="190019"/>
                  <a:pt x="306441" y="178435"/>
                </a:cubicBezTo>
                <a:cubicBezTo>
                  <a:pt x="309414" y="172642"/>
                  <a:pt x="314453" y="168624"/>
                  <a:pt x="320200" y="166778"/>
                </a:cubicBezTo>
                <a:close/>
                <a:moveTo>
                  <a:pt x="411085" y="1388"/>
                </a:moveTo>
                <a:cubicBezTo>
                  <a:pt x="425368" y="-1219"/>
                  <a:pt x="441535" y="-169"/>
                  <a:pt x="458862" y="4683"/>
                </a:cubicBezTo>
                <a:cubicBezTo>
                  <a:pt x="488877" y="13082"/>
                  <a:pt x="519907" y="32197"/>
                  <a:pt x="546442" y="58698"/>
                </a:cubicBezTo>
                <a:cubicBezTo>
                  <a:pt x="605456" y="117637"/>
                  <a:pt x="622421" y="192940"/>
                  <a:pt x="585156" y="230302"/>
                </a:cubicBezTo>
                <a:lnTo>
                  <a:pt x="511352" y="304012"/>
                </a:lnTo>
                <a:cubicBezTo>
                  <a:pt x="502072" y="313135"/>
                  <a:pt x="487137" y="313135"/>
                  <a:pt x="477857" y="304012"/>
                </a:cubicBezTo>
                <a:cubicBezTo>
                  <a:pt x="468722" y="294744"/>
                  <a:pt x="468722" y="279828"/>
                  <a:pt x="477857" y="270705"/>
                </a:cubicBezTo>
                <a:lnTo>
                  <a:pt x="551662" y="196995"/>
                </a:lnTo>
                <a:cubicBezTo>
                  <a:pt x="567321" y="181355"/>
                  <a:pt x="554127" y="133132"/>
                  <a:pt x="513092" y="92005"/>
                </a:cubicBezTo>
                <a:cubicBezTo>
                  <a:pt x="492502" y="71586"/>
                  <a:pt x="468142" y="56236"/>
                  <a:pt x="446247" y="50154"/>
                </a:cubicBezTo>
                <a:cubicBezTo>
                  <a:pt x="428848" y="45230"/>
                  <a:pt x="414928" y="46534"/>
                  <a:pt x="407968" y="53485"/>
                </a:cubicBezTo>
                <a:lnTo>
                  <a:pt x="204825" y="256368"/>
                </a:lnTo>
                <a:cubicBezTo>
                  <a:pt x="197865" y="263319"/>
                  <a:pt x="196560" y="277221"/>
                  <a:pt x="201490" y="294599"/>
                </a:cubicBezTo>
                <a:cubicBezTo>
                  <a:pt x="207579" y="316466"/>
                  <a:pt x="222949" y="340795"/>
                  <a:pt x="243394" y="361358"/>
                </a:cubicBezTo>
                <a:cubicBezTo>
                  <a:pt x="257169" y="375115"/>
                  <a:pt x="272684" y="386556"/>
                  <a:pt x="288199" y="394520"/>
                </a:cubicBezTo>
                <a:cubicBezTo>
                  <a:pt x="299799" y="400313"/>
                  <a:pt x="304439" y="414505"/>
                  <a:pt x="298494" y="426234"/>
                </a:cubicBezTo>
                <a:cubicBezTo>
                  <a:pt x="294289" y="434344"/>
                  <a:pt x="286024" y="438978"/>
                  <a:pt x="277469" y="438978"/>
                </a:cubicBezTo>
                <a:cubicBezTo>
                  <a:pt x="273844" y="438978"/>
                  <a:pt x="270219" y="438254"/>
                  <a:pt x="266739" y="436516"/>
                </a:cubicBezTo>
                <a:cubicBezTo>
                  <a:pt x="246874" y="426379"/>
                  <a:pt x="227299" y="411898"/>
                  <a:pt x="210044" y="394665"/>
                </a:cubicBezTo>
                <a:cubicBezTo>
                  <a:pt x="183510" y="368164"/>
                  <a:pt x="164370" y="337174"/>
                  <a:pt x="155960" y="307198"/>
                </a:cubicBezTo>
                <a:cubicBezTo>
                  <a:pt x="146245" y="272587"/>
                  <a:pt x="151755" y="242611"/>
                  <a:pt x="171330" y="223061"/>
                </a:cubicBezTo>
                <a:lnTo>
                  <a:pt x="374618" y="20033"/>
                </a:lnTo>
                <a:cubicBezTo>
                  <a:pt x="384406" y="10258"/>
                  <a:pt x="396803" y="3995"/>
                  <a:pt x="411085" y="1388"/>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106" name="文本框 105">
            <a:extLst>
              <a:ext uri="{FF2B5EF4-FFF2-40B4-BE49-F238E27FC236}">
                <a16:creationId xmlns:a16="http://schemas.microsoft.com/office/drawing/2014/main" id="{5B6F4AA8-6B7B-4554-A61A-98D9A7849386}"/>
              </a:ext>
            </a:extLst>
          </p:cNvPr>
          <p:cNvSpPr txBox="1"/>
          <p:nvPr/>
        </p:nvSpPr>
        <p:spPr>
          <a:xfrm>
            <a:off x="373082" y="3517143"/>
            <a:ext cx="1660612" cy="338554"/>
          </a:xfrm>
          <a:prstGeom prst="rect">
            <a:avLst/>
          </a:prstGeom>
          <a:noFill/>
        </p:spPr>
        <p:txBody>
          <a:bodyPr wrap="square" rtlCol="0">
            <a:spAutoFit/>
          </a:bodyPr>
          <a:lstStyle>
            <a:defPPr>
              <a:defRPr lang="zh-CN"/>
            </a:defPPr>
            <a:lvl1pPr>
              <a:defRPr sz="1600">
                <a:solidFill>
                  <a:schemeClr val="bg1"/>
                </a:solidFill>
                <a:latin typeface="思源黑体 CN Regular" panose="020B0500000000000000" pitchFamily="34" charset="-122"/>
                <a:ea typeface="思源黑体 CN Regular" panose="020B0500000000000000" pitchFamily="34" charset="-122"/>
              </a:defRPr>
            </a:lvl1pPr>
          </a:lstStyle>
          <a:p>
            <a:r>
              <a:rPr lang="zh-CN" altLang="en-US" dirty="0"/>
              <a:t>研究方法与思路</a:t>
            </a:r>
          </a:p>
        </p:txBody>
      </p:sp>
      <p:sp>
        <p:nvSpPr>
          <p:cNvPr id="107" name="文本框 106">
            <a:extLst>
              <a:ext uri="{FF2B5EF4-FFF2-40B4-BE49-F238E27FC236}">
                <a16:creationId xmlns:a16="http://schemas.microsoft.com/office/drawing/2014/main" id="{3775B89D-798E-4DD9-BCF2-FAC43876C213}"/>
              </a:ext>
            </a:extLst>
          </p:cNvPr>
          <p:cNvSpPr txBox="1"/>
          <p:nvPr/>
        </p:nvSpPr>
        <p:spPr>
          <a:xfrm>
            <a:off x="373082" y="4226265"/>
            <a:ext cx="1660612" cy="338554"/>
          </a:xfrm>
          <a:prstGeom prst="rect">
            <a:avLst/>
          </a:prstGeom>
          <a:noFill/>
        </p:spPr>
        <p:txBody>
          <a:bodyPr wrap="square" rtlCol="0">
            <a:spAutoFit/>
          </a:bodyPr>
          <a:lstStyle>
            <a:defPPr>
              <a:defRPr lang="zh-CN"/>
            </a:defPPr>
            <a:lvl1pPr>
              <a:defRPr sz="1600">
                <a:solidFill>
                  <a:schemeClr val="bg1"/>
                </a:solidFill>
                <a:latin typeface="思源黑体 CN Regular" panose="020B0500000000000000" pitchFamily="34" charset="-122"/>
                <a:ea typeface="思源黑体 CN Regular" panose="020B0500000000000000" pitchFamily="34" charset="-122"/>
              </a:defRPr>
            </a:lvl1pPr>
          </a:lstStyle>
          <a:p>
            <a:r>
              <a:rPr lang="zh-CN" altLang="en-US" dirty="0"/>
              <a:t>关键技术与创新</a:t>
            </a:r>
          </a:p>
        </p:txBody>
      </p:sp>
      <p:sp>
        <p:nvSpPr>
          <p:cNvPr id="108" name="任意矩形：004">
            <a:extLst>
              <a:ext uri="{FF2B5EF4-FFF2-40B4-BE49-F238E27FC236}">
                <a16:creationId xmlns:a16="http://schemas.microsoft.com/office/drawing/2014/main" id="{8897FE03-478F-4A25-A50A-AC334FD1631E}"/>
              </a:ext>
            </a:extLst>
          </p:cNvPr>
          <p:cNvSpPr/>
          <p:nvPr/>
        </p:nvSpPr>
        <p:spPr>
          <a:xfrm rot="20700000">
            <a:off x="101744" y="4285500"/>
            <a:ext cx="251496" cy="189307"/>
          </a:xfrm>
          <a:custGeom>
            <a:avLst/>
            <a:gdLst>
              <a:gd name="T0" fmla="*/ 6845 w 7011"/>
              <a:gd name="T1" fmla="*/ 1345 h 5286"/>
              <a:gd name="T2" fmla="*/ 5180 w 7011"/>
              <a:gd name="T3" fmla="*/ 598 h 5286"/>
              <a:gd name="T4" fmla="*/ 5179 w 7011"/>
              <a:gd name="T5" fmla="*/ 598 h 5286"/>
              <a:gd name="T6" fmla="*/ 3505 w 7011"/>
              <a:gd name="T7" fmla="*/ 0 h 5286"/>
              <a:gd name="T8" fmla="*/ 907 w 7011"/>
              <a:gd name="T9" fmla="*/ 2166 h 5286"/>
              <a:gd name="T10" fmla="*/ 167 w 7011"/>
              <a:gd name="T11" fmla="*/ 3741 h 5286"/>
              <a:gd name="T12" fmla="*/ 1605 w 7011"/>
              <a:gd name="T13" fmla="*/ 4477 h 5286"/>
              <a:gd name="T14" fmla="*/ 3505 w 7011"/>
              <a:gd name="T15" fmla="*/ 5286 h 5286"/>
              <a:gd name="T16" fmla="*/ 6136 w 7011"/>
              <a:gd name="T17" fmla="*/ 2888 h 5286"/>
              <a:gd name="T18" fmla="*/ 6845 w 7011"/>
              <a:gd name="T19" fmla="*/ 1345 h 5286"/>
              <a:gd name="T20" fmla="*/ 521 w 7011"/>
              <a:gd name="T21" fmla="*/ 3613 h 5286"/>
              <a:gd name="T22" fmla="*/ 865 w 7011"/>
              <a:gd name="T23" fmla="*/ 2729 h 5286"/>
              <a:gd name="T24" fmla="*/ 1279 w 7011"/>
              <a:gd name="T25" fmla="*/ 4061 h 5286"/>
              <a:gd name="T26" fmla="*/ 521 w 7011"/>
              <a:gd name="T27" fmla="*/ 3613 h 5286"/>
              <a:gd name="T28" fmla="*/ 3507 w 7011"/>
              <a:gd name="T29" fmla="*/ 4909 h 5286"/>
              <a:gd name="T30" fmla="*/ 2171 w 7011"/>
              <a:gd name="T31" fmla="*/ 4472 h 5286"/>
              <a:gd name="T32" fmla="*/ 4051 w 7011"/>
              <a:gd name="T33" fmla="*/ 4060 h 5286"/>
              <a:gd name="T34" fmla="*/ 5695 w 7011"/>
              <a:gd name="T35" fmla="*/ 3233 h 5286"/>
              <a:gd name="T36" fmla="*/ 3507 w 7011"/>
              <a:gd name="T37" fmla="*/ 4909 h 5286"/>
              <a:gd name="T38" fmla="*/ 5772 w 7011"/>
              <a:gd name="T39" fmla="*/ 2705 h 5286"/>
              <a:gd name="T40" fmla="*/ 3924 w 7011"/>
              <a:gd name="T41" fmla="*/ 3706 h 5286"/>
              <a:gd name="T42" fmla="*/ 1779 w 7011"/>
              <a:gd name="T43" fmla="*/ 4108 h 5286"/>
              <a:gd name="T44" fmla="*/ 1240 w 7011"/>
              <a:gd name="T45" fmla="*/ 2642 h 5286"/>
              <a:gd name="T46" fmla="*/ 3507 w 7011"/>
              <a:gd name="T47" fmla="*/ 376 h 5286"/>
              <a:gd name="T48" fmla="*/ 5773 w 7011"/>
              <a:gd name="T49" fmla="*/ 2642 h 5286"/>
              <a:gd name="T50" fmla="*/ 5772 w 7011"/>
              <a:gd name="T51" fmla="*/ 2705 h 5286"/>
              <a:gd name="T52" fmla="*/ 6133 w 7011"/>
              <a:gd name="T53" fmla="*/ 2364 h 5286"/>
              <a:gd name="T54" fmla="*/ 5571 w 7011"/>
              <a:gd name="T55" fmla="*/ 996 h 5286"/>
              <a:gd name="T56" fmla="*/ 6491 w 7011"/>
              <a:gd name="T57" fmla="*/ 1472 h 5286"/>
              <a:gd name="T58" fmla="*/ 6133 w 7011"/>
              <a:gd name="T59" fmla="*/ 2364 h 528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7011" h="5286">
                <a:moveTo>
                  <a:pt x="6845" y="1345"/>
                </a:moveTo>
                <a:cubicBezTo>
                  <a:pt x="6672" y="864"/>
                  <a:pt x="6081" y="598"/>
                  <a:pt x="5180" y="598"/>
                </a:cubicBezTo>
                <a:lnTo>
                  <a:pt x="5179" y="598"/>
                </a:lnTo>
                <a:cubicBezTo>
                  <a:pt x="4723" y="225"/>
                  <a:pt x="4140" y="0"/>
                  <a:pt x="3505" y="0"/>
                </a:cubicBezTo>
                <a:cubicBezTo>
                  <a:pt x="2212" y="0"/>
                  <a:pt x="1132" y="936"/>
                  <a:pt x="907" y="2166"/>
                </a:cubicBezTo>
                <a:cubicBezTo>
                  <a:pt x="264" y="2720"/>
                  <a:pt x="0" y="3278"/>
                  <a:pt x="167" y="3741"/>
                </a:cubicBezTo>
                <a:cubicBezTo>
                  <a:pt x="325" y="4184"/>
                  <a:pt x="863" y="4433"/>
                  <a:pt x="1605" y="4477"/>
                </a:cubicBezTo>
                <a:cubicBezTo>
                  <a:pt x="2087" y="4976"/>
                  <a:pt x="2760" y="5286"/>
                  <a:pt x="3505" y="5286"/>
                </a:cubicBezTo>
                <a:cubicBezTo>
                  <a:pt x="4880" y="5286"/>
                  <a:pt x="6012" y="4232"/>
                  <a:pt x="6136" y="2888"/>
                </a:cubicBezTo>
                <a:cubicBezTo>
                  <a:pt x="6728" y="2364"/>
                  <a:pt x="7011" y="1804"/>
                  <a:pt x="6845" y="1345"/>
                </a:cubicBezTo>
                <a:close/>
                <a:moveTo>
                  <a:pt x="521" y="3613"/>
                </a:moveTo>
                <a:cubicBezTo>
                  <a:pt x="437" y="3380"/>
                  <a:pt x="565" y="3064"/>
                  <a:pt x="865" y="2729"/>
                </a:cubicBezTo>
                <a:cubicBezTo>
                  <a:pt x="881" y="3218"/>
                  <a:pt x="1031" y="3673"/>
                  <a:pt x="1279" y="4061"/>
                </a:cubicBezTo>
                <a:cubicBezTo>
                  <a:pt x="871" y="3988"/>
                  <a:pt x="599" y="3830"/>
                  <a:pt x="521" y="3613"/>
                </a:cubicBezTo>
                <a:close/>
                <a:moveTo>
                  <a:pt x="3507" y="4909"/>
                </a:moveTo>
                <a:cubicBezTo>
                  <a:pt x="3008" y="4909"/>
                  <a:pt x="2545" y="4746"/>
                  <a:pt x="2171" y="4472"/>
                </a:cubicBezTo>
                <a:cubicBezTo>
                  <a:pt x="2740" y="4434"/>
                  <a:pt x="3384" y="4300"/>
                  <a:pt x="4051" y="4060"/>
                </a:cubicBezTo>
                <a:cubicBezTo>
                  <a:pt x="4684" y="3833"/>
                  <a:pt x="5243" y="3546"/>
                  <a:pt x="5695" y="3233"/>
                </a:cubicBezTo>
                <a:cubicBezTo>
                  <a:pt x="5433" y="4197"/>
                  <a:pt x="4552" y="4909"/>
                  <a:pt x="3507" y="4909"/>
                </a:cubicBezTo>
                <a:close/>
                <a:moveTo>
                  <a:pt x="5772" y="2705"/>
                </a:moveTo>
                <a:cubicBezTo>
                  <a:pt x="5328" y="3068"/>
                  <a:pt x="4700" y="3428"/>
                  <a:pt x="3924" y="3706"/>
                </a:cubicBezTo>
                <a:cubicBezTo>
                  <a:pt x="3111" y="3998"/>
                  <a:pt x="2365" y="4117"/>
                  <a:pt x="1779" y="4108"/>
                </a:cubicBezTo>
                <a:cubicBezTo>
                  <a:pt x="1443" y="3712"/>
                  <a:pt x="1240" y="3201"/>
                  <a:pt x="1240" y="2642"/>
                </a:cubicBezTo>
                <a:cubicBezTo>
                  <a:pt x="1240" y="1393"/>
                  <a:pt x="2256" y="376"/>
                  <a:pt x="3507" y="376"/>
                </a:cubicBezTo>
                <a:cubicBezTo>
                  <a:pt x="4756" y="376"/>
                  <a:pt x="5773" y="1393"/>
                  <a:pt x="5773" y="2642"/>
                </a:cubicBezTo>
                <a:cubicBezTo>
                  <a:pt x="5773" y="2664"/>
                  <a:pt x="5772" y="2684"/>
                  <a:pt x="5772" y="2705"/>
                </a:cubicBezTo>
                <a:close/>
                <a:moveTo>
                  <a:pt x="6133" y="2364"/>
                </a:moveTo>
                <a:cubicBezTo>
                  <a:pt x="6079" y="1849"/>
                  <a:pt x="5877" y="1380"/>
                  <a:pt x="5571" y="996"/>
                </a:cubicBezTo>
                <a:cubicBezTo>
                  <a:pt x="6067" y="1053"/>
                  <a:pt x="6401" y="1221"/>
                  <a:pt x="6491" y="1472"/>
                </a:cubicBezTo>
                <a:cubicBezTo>
                  <a:pt x="6573" y="1704"/>
                  <a:pt x="6443" y="2024"/>
                  <a:pt x="6133" y="2364"/>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109" name="文本框 108">
            <a:extLst>
              <a:ext uri="{FF2B5EF4-FFF2-40B4-BE49-F238E27FC236}">
                <a16:creationId xmlns:a16="http://schemas.microsoft.com/office/drawing/2014/main" id="{646A4059-CFE2-491F-9E3C-F96F07B506CF}"/>
              </a:ext>
            </a:extLst>
          </p:cNvPr>
          <p:cNvSpPr txBox="1"/>
          <p:nvPr/>
        </p:nvSpPr>
        <p:spPr>
          <a:xfrm>
            <a:off x="373082" y="4935387"/>
            <a:ext cx="1660612" cy="338554"/>
          </a:xfrm>
          <a:prstGeom prst="rect">
            <a:avLst/>
          </a:prstGeom>
          <a:noFill/>
        </p:spPr>
        <p:txBody>
          <a:bodyPr wrap="square" rtlCol="0">
            <a:spAutoFit/>
          </a:bodyPr>
          <a:lstStyle>
            <a:defPPr>
              <a:defRPr lang="zh-CN"/>
            </a:defPPr>
            <a:lvl1pPr>
              <a:defRPr sz="1600">
                <a:solidFill>
                  <a:schemeClr val="accent1"/>
                </a:solidFill>
                <a:latin typeface="思源黑体 CN Regular" panose="020B0500000000000000" pitchFamily="34" charset="-122"/>
                <a:ea typeface="思源黑体 CN Regular" panose="020B0500000000000000" pitchFamily="34" charset="-122"/>
              </a:defRPr>
            </a:lvl1pPr>
          </a:lstStyle>
          <a:p>
            <a:r>
              <a:rPr lang="zh-CN" altLang="en-US" dirty="0"/>
              <a:t>已开展工作</a:t>
            </a:r>
          </a:p>
        </p:txBody>
      </p:sp>
      <p:sp>
        <p:nvSpPr>
          <p:cNvPr id="110" name="任意矩形：005">
            <a:extLst>
              <a:ext uri="{FF2B5EF4-FFF2-40B4-BE49-F238E27FC236}">
                <a16:creationId xmlns:a16="http://schemas.microsoft.com/office/drawing/2014/main" id="{53FA425E-49E6-4848-8143-615796C094BC}"/>
              </a:ext>
            </a:extLst>
          </p:cNvPr>
          <p:cNvSpPr/>
          <p:nvPr/>
        </p:nvSpPr>
        <p:spPr>
          <a:xfrm>
            <a:off x="123946" y="4988361"/>
            <a:ext cx="201734" cy="201828"/>
          </a:xfrm>
          <a:custGeom>
            <a:avLst/>
            <a:gdLst>
              <a:gd name="T0" fmla="*/ 278945 h 440259"/>
              <a:gd name="T1" fmla="*/ 278945 h 440259"/>
              <a:gd name="T2" fmla="*/ 278945 h 440259"/>
              <a:gd name="T3" fmla="*/ 278945 h 440259"/>
              <a:gd name="T4" fmla="*/ 278945 h 440259"/>
              <a:gd name="T5" fmla="*/ 278945 h 440259"/>
              <a:gd name="T6" fmla="*/ 278945 h 440259"/>
              <a:gd name="T7" fmla="*/ 278945 h 440259"/>
              <a:gd name="T8" fmla="*/ 278945 h 440259"/>
              <a:gd name="T9" fmla="*/ 278945 h 440259"/>
              <a:gd name="T10" fmla="*/ 278945 h 440259"/>
              <a:gd name="T11" fmla="*/ 278945 h 440259"/>
              <a:gd name="T12" fmla="*/ 278945 h 440259"/>
              <a:gd name="T13" fmla="*/ 278945 h 440259"/>
              <a:gd name="T14" fmla="*/ 278945 h 440259"/>
              <a:gd name="T15" fmla="*/ 278945 h 440259"/>
              <a:gd name="T16" fmla="*/ 278945 h 440259"/>
              <a:gd name="T17" fmla="*/ 278945 h 440259"/>
              <a:gd name="T18" fmla="*/ 278945 h 440259"/>
              <a:gd name="T19" fmla="*/ 278945 h 440259"/>
              <a:gd name="T20" fmla="*/ 278945 h 440259"/>
              <a:gd name="T21" fmla="*/ 278945 h 440259"/>
              <a:gd name="T22" fmla="*/ 278945 h 440259"/>
              <a:gd name="T23" fmla="*/ 278945 h 440259"/>
              <a:gd name="T24" fmla="*/ 278945 h 440259"/>
              <a:gd name="T25" fmla="*/ 278945 h 440259"/>
              <a:gd name="T26" fmla="*/ 278945 h 440259"/>
              <a:gd name="T27" fmla="*/ 278945 h 440259"/>
              <a:gd name="T28" fmla="*/ 278945 h 440259"/>
              <a:gd name="T29" fmla="*/ 278945 h 440259"/>
              <a:gd name="T30" fmla="*/ 278945 h 440259"/>
              <a:gd name="T31" fmla="*/ 278945 h 440259"/>
              <a:gd name="T32" fmla="*/ 278945 h 440259"/>
              <a:gd name="T33" fmla="*/ 278945 h 440259"/>
              <a:gd name="T34" fmla="*/ 278945 h 440259"/>
              <a:gd name="T35" fmla="*/ 278945 h 440259"/>
              <a:gd name="T36" fmla="*/ 278945 h 440259"/>
              <a:gd name="T37" fmla="*/ 278945 h 440259"/>
              <a:gd name="T38" fmla="*/ 278945 h 440259"/>
              <a:gd name="T39" fmla="*/ 278945 h 440259"/>
              <a:gd name="T40" fmla="*/ 278945 h 440259"/>
              <a:gd name="T41" fmla="*/ 278945 h 440259"/>
              <a:gd name="T42" fmla="*/ 278945 h 440259"/>
              <a:gd name="T43" fmla="*/ 278945 h 440259"/>
              <a:gd name="T44" fmla="*/ 278945 h 440259"/>
              <a:gd name="T45" fmla="*/ 278945 h 440259"/>
              <a:gd name="T46" fmla="*/ 278945 h 440259"/>
              <a:gd name="T47" fmla="*/ 278945 h 440259"/>
              <a:gd name="T48" fmla="*/ 278945 h 440259"/>
              <a:gd name="T49" fmla="*/ 278945 h 440259"/>
              <a:gd name="T50" fmla="*/ 278945 h 440259"/>
              <a:gd name="T51" fmla="*/ 278945 h 440259"/>
              <a:gd name="T52" fmla="*/ 278945 h 440259"/>
              <a:gd name="T53" fmla="*/ 278945 h 440259"/>
              <a:gd name="T54" fmla="*/ 278945 h 440259"/>
              <a:gd name="T55" fmla="*/ 278945 h 440259"/>
              <a:gd name="T56" fmla="*/ 278945 h 440259"/>
              <a:gd name="T57" fmla="*/ 278945 h 440259"/>
              <a:gd name="T58" fmla="*/ 278945 h 440259"/>
              <a:gd name="T59" fmla="*/ 278945 h 440259"/>
              <a:gd name="T60" fmla="*/ 278945 h 440259"/>
              <a:gd name="T61" fmla="*/ 278945 h 440259"/>
              <a:gd name="T62" fmla="*/ 278945 h 440259"/>
              <a:gd name="T63" fmla="*/ 278945 h 440259"/>
              <a:gd name="T64" fmla="*/ 278945 h 440259"/>
              <a:gd name="T65" fmla="*/ 278945 h 440259"/>
              <a:gd name="T66" fmla="*/ 278945 h 440259"/>
              <a:gd name="T67" fmla="*/ 278945 h 440259"/>
              <a:gd name="T68" fmla="*/ 278945 h 440259"/>
              <a:gd name="T69" fmla="*/ 278945 h 440259"/>
              <a:gd name="T70" fmla="*/ 278945 h 440259"/>
              <a:gd name="T71" fmla="*/ 278945 h 440259"/>
              <a:gd name="T72" fmla="*/ 278945 h 440259"/>
              <a:gd name="T73" fmla="*/ 278945 h 440259"/>
              <a:gd name="T74" fmla="*/ 278945 h 440259"/>
              <a:gd name="T75" fmla="*/ 278945 h 440259"/>
              <a:gd name="T76" fmla="*/ 278945 h 440259"/>
              <a:gd name="T77" fmla="*/ 278945 h 440259"/>
              <a:gd name="T78" fmla="*/ 278945 h 440259"/>
              <a:gd name="T79" fmla="*/ 278945 h 440259"/>
              <a:gd name="T80" fmla="*/ 278945 h 440259"/>
              <a:gd name="T81" fmla="*/ 278945 h 440259"/>
              <a:gd name="T82" fmla="*/ 278945 h 440259"/>
              <a:gd name="T83" fmla="*/ 278945 h 440259"/>
              <a:gd name="T84" fmla="*/ 88862 h 440259"/>
              <a:gd name="T85" fmla="*/ 88862 h 440259"/>
              <a:gd name="T86" fmla="*/ 278945 h 440259"/>
              <a:gd name="T87" fmla="*/ 278945 h 44025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Lst>
            <a:rect l="0" t="0" r="r" b="b"/>
            <a:pathLst>
              <a:path w="6495" h="6508">
                <a:moveTo>
                  <a:pt x="6495" y="203"/>
                </a:moveTo>
                <a:lnTo>
                  <a:pt x="6495" y="197"/>
                </a:lnTo>
                <a:cubicBezTo>
                  <a:pt x="6495" y="193"/>
                  <a:pt x="6493" y="191"/>
                  <a:pt x="6493" y="187"/>
                </a:cubicBezTo>
                <a:cubicBezTo>
                  <a:pt x="6493" y="184"/>
                  <a:pt x="6493" y="181"/>
                  <a:pt x="6492" y="179"/>
                </a:cubicBezTo>
                <a:cubicBezTo>
                  <a:pt x="6492" y="176"/>
                  <a:pt x="6491" y="173"/>
                  <a:pt x="6491" y="172"/>
                </a:cubicBezTo>
                <a:cubicBezTo>
                  <a:pt x="6489" y="169"/>
                  <a:pt x="6489" y="165"/>
                  <a:pt x="6488" y="163"/>
                </a:cubicBezTo>
                <a:cubicBezTo>
                  <a:pt x="6488" y="161"/>
                  <a:pt x="6487" y="160"/>
                  <a:pt x="6487" y="157"/>
                </a:cubicBezTo>
                <a:lnTo>
                  <a:pt x="6483" y="145"/>
                </a:lnTo>
                <a:cubicBezTo>
                  <a:pt x="6483" y="144"/>
                  <a:pt x="6481" y="144"/>
                  <a:pt x="6481" y="143"/>
                </a:cubicBezTo>
                <a:cubicBezTo>
                  <a:pt x="6480" y="139"/>
                  <a:pt x="6477" y="133"/>
                  <a:pt x="6475" y="129"/>
                </a:cubicBezTo>
                <a:cubicBezTo>
                  <a:pt x="6475" y="128"/>
                  <a:pt x="6473" y="127"/>
                  <a:pt x="6473" y="127"/>
                </a:cubicBezTo>
                <a:cubicBezTo>
                  <a:pt x="6471" y="123"/>
                  <a:pt x="6469" y="119"/>
                  <a:pt x="6467" y="115"/>
                </a:cubicBezTo>
                <a:cubicBezTo>
                  <a:pt x="6457" y="101"/>
                  <a:pt x="6447" y="89"/>
                  <a:pt x="6435" y="79"/>
                </a:cubicBezTo>
                <a:cubicBezTo>
                  <a:pt x="6385" y="23"/>
                  <a:pt x="6304" y="0"/>
                  <a:pt x="6231" y="31"/>
                </a:cubicBezTo>
                <a:lnTo>
                  <a:pt x="112" y="2559"/>
                </a:lnTo>
                <a:cubicBezTo>
                  <a:pt x="111" y="2560"/>
                  <a:pt x="108" y="2560"/>
                  <a:pt x="107" y="2561"/>
                </a:cubicBezTo>
                <a:cubicBezTo>
                  <a:pt x="103" y="2563"/>
                  <a:pt x="100" y="2564"/>
                  <a:pt x="96" y="2567"/>
                </a:cubicBezTo>
                <a:lnTo>
                  <a:pt x="88" y="2571"/>
                </a:lnTo>
                <a:cubicBezTo>
                  <a:pt x="85" y="2572"/>
                  <a:pt x="83" y="2573"/>
                  <a:pt x="80" y="2576"/>
                </a:cubicBezTo>
                <a:cubicBezTo>
                  <a:pt x="77" y="2577"/>
                  <a:pt x="75" y="2580"/>
                  <a:pt x="72" y="2581"/>
                </a:cubicBezTo>
                <a:cubicBezTo>
                  <a:pt x="69" y="2583"/>
                  <a:pt x="68" y="2584"/>
                  <a:pt x="65" y="2587"/>
                </a:cubicBezTo>
                <a:cubicBezTo>
                  <a:pt x="63" y="2588"/>
                  <a:pt x="61" y="2591"/>
                  <a:pt x="59" y="2593"/>
                </a:cubicBezTo>
                <a:cubicBezTo>
                  <a:pt x="56" y="2595"/>
                  <a:pt x="55" y="2597"/>
                  <a:pt x="52" y="2599"/>
                </a:cubicBezTo>
                <a:lnTo>
                  <a:pt x="45" y="2605"/>
                </a:lnTo>
                <a:cubicBezTo>
                  <a:pt x="44" y="2608"/>
                  <a:pt x="41" y="2609"/>
                  <a:pt x="40" y="2612"/>
                </a:cubicBezTo>
                <a:cubicBezTo>
                  <a:pt x="39" y="2615"/>
                  <a:pt x="36" y="2617"/>
                  <a:pt x="35" y="2619"/>
                </a:cubicBezTo>
                <a:cubicBezTo>
                  <a:pt x="33" y="2621"/>
                  <a:pt x="31" y="2623"/>
                  <a:pt x="29" y="2625"/>
                </a:cubicBezTo>
                <a:cubicBezTo>
                  <a:pt x="28" y="2628"/>
                  <a:pt x="25" y="2631"/>
                  <a:pt x="24" y="2633"/>
                </a:cubicBezTo>
                <a:cubicBezTo>
                  <a:pt x="23" y="2636"/>
                  <a:pt x="21" y="2637"/>
                  <a:pt x="20" y="2640"/>
                </a:cubicBezTo>
                <a:cubicBezTo>
                  <a:pt x="17" y="2644"/>
                  <a:pt x="16" y="2648"/>
                  <a:pt x="15" y="2652"/>
                </a:cubicBezTo>
                <a:cubicBezTo>
                  <a:pt x="15" y="2653"/>
                  <a:pt x="13" y="2655"/>
                  <a:pt x="12" y="2656"/>
                </a:cubicBezTo>
                <a:lnTo>
                  <a:pt x="12" y="2656"/>
                </a:lnTo>
                <a:cubicBezTo>
                  <a:pt x="9" y="2661"/>
                  <a:pt x="8" y="2667"/>
                  <a:pt x="7" y="2672"/>
                </a:cubicBezTo>
                <a:lnTo>
                  <a:pt x="7" y="2673"/>
                </a:lnTo>
                <a:cubicBezTo>
                  <a:pt x="5" y="2679"/>
                  <a:pt x="4" y="2684"/>
                  <a:pt x="3" y="2691"/>
                </a:cubicBezTo>
                <a:cubicBezTo>
                  <a:pt x="3" y="2693"/>
                  <a:pt x="1" y="2696"/>
                  <a:pt x="1" y="2699"/>
                </a:cubicBezTo>
                <a:cubicBezTo>
                  <a:pt x="1" y="2701"/>
                  <a:pt x="0" y="2705"/>
                  <a:pt x="0" y="2708"/>
                </a:cubicBezTo>
                <a:lnTo>
                  <a:pt x="0" y="2716"/>
                </a:lnTo>
                <a:lnTo>
                  <a:pt x="0" y="2725"/>
                </a:lnTo>
                <a:lnTo>
                  <a:pt x="0" y="2733"/>
                </a:lnTo>
                <a:lnTo>
                  <a:pt x="0" y="2743"/>
                </a:lnTo>
                <a:cubicBezTo>
                  <a:pt x="0" y="2745"/>
                  <a:pt x="1" y="2748"/>
                  <a:pt x="1" y="2749"/>
                </a:cubicBezTo>
                <a:cubicBezTo>
                  <a:pt x="1" y="2753"/>
                  <a:pt x="3" y="2756"/>
                  <a:pt x="3" y="2760"/>
                </a:cubicBezTo>
                <a:cubicBezTo>
                  <a:pt x="4" y="2764"/>
                  <a:pt x="4" y="2768"/>
                  <a:pt x="5" y="2772"/>
                </a:cubicBezTo>
                <a:cubicBezTo>
                  <a:pt x="7" y="2775"/>
                  <a:pt x="7" y="2777"/>
                  <a:pt x="8" y="2780"/>
                </a:cubicBezTo>
                <a:cubicBezTo>
                  <a:pt x="9" y="2784"/>
                  <a:pt x="11" y="2789"/>
                  <a:pt x="13" y="2793"/>
                </a:cubicBezTo>
                <a:lnTo>
                  <a:pt x="13" y="2793"/>
                </a:lnTo>
                <a:cubicBezTo>
                  <a:pt x="15" y="2799"/>
                  <a:pt x="17" y="2803"/>
                  <a:pt x="20" y="2807"/>
                </a:cubicBezTo>
                <a:cubicBezTo>
                  <a:pt x="20" y="2808"/>
                  <a:pt x="21" y="2809"/>
                  <a:pt x="21" y="2809"/>
                </a:cubicBezTo>
                <a:cubicBezTo>
                  <a:pt x="23" y="2813"/>
                  <a:pt x="25" y="2816"/>
                  <a:pt x="28" y="2820"/>
                </a:cubicBezTo>
                <a:cubicBezTo>
                  <a:pt x="29" y="2821"/>
                  <a:pt x="29" y="2823"/>
                  <a:pt x="31" y="2824"/>
                </a:cubicBezTo>
                <a:cubicBezTo>
                  <a:pt x="33" y="2828"/>
                  <a:pt x="35" y="2831"/>
                  <a:pt x="37" y="2833"/>
                </a:cubicBezTo>
                <a:cubicBezTo>
                  <a:pt x="39" y="2835"/>
                  <a:pt x="39" y="2836"/>
                  <a:pt x="40" y="2836"/>
                </a:cubicBezTo>
                <a:cubicBezTo>
                  <a:pt x="44" y="2840"/>
                  <a:pt x="47" y="2844"/>
                  <a:pt x="51" y="2848"/>
                </a:cubicBezTo>
                <a:lnTo>
                  <a:pt x="51" y="2848"/>
                </a:lnTo>
                <a:cubicBezTo>
                  <a:pt x="55" y="2852"/>
                  <a:pt x="59" y="2855"/>
                  <a:pt x="63" y="2859"/>
                </a:cubicBezTo>
                <a:cubicBezTo>
                  <a:pt x="64" y="2860"/>
                  <a:pt x="65" y="2861"/>
                  <a:pt x="67" y="2861"/>
                </a:cubicBezTo>
                <a:cubicBezTo>
                  <a:pt x="69" y="2864"/>
                  <a:pt x="73" y="2867"/>
                  <a:pt x="76" y="2868"/>
                </a:cubicBezTo>
                <a:cubicBezTo>
                  <a:pt x="77" y="2869"/>
                  <a:pt x="79" y="2869"/>
                  <a:pt x="80" y="2871"/>
                </a:cubicBezTo>
                <a:cubicBezTo>
                  <a:pt x="84" y="2873"/>
                  <a:pt x="89" y="2876"/>
                  <a:pt x="93" y="2879"/>
                </a:cubicBezTo>
                <a:cubicBezTo>
                  <a:pt x="95" y="2879"/>
                  <a:pt x="95" y="2880"/>
                  <a:pt x="96" y="2880"/>
                </a:cubicBezTo>
                <a:cubicBezTo>
                  <a:pt x="100" y="2883"/>
                  <a:pt x="104" y="2884"/>
                  <a:pt x="109" y="2887"/>
                </a:cubicBezTo>
                <a:cubicBezTo>
                  <a:pt x="111" y="2887"/>
                  <a:pt x="111" y="2888"/>
                  <a:pt x="112" y="2888"/>
                </a:cubicBezTo>
                <a:lnTo>
                  <a:pt x="2579" y="3933"/>
                </a:lnTo>
                <a:lnTo>
                  <a:pt x="3624" y="6400"/>
                </a:lnTo>
                <a:cubicBezTo>
                  <a:pt x="3625" y="6405"/>
                  <a:pt x="3628" y="6409"/>
                  <a:pt x="3631" y="6413"/>
                </a:cubicBezTo>
                <a:cubicBezTo>
                  <a:pt x="3631" y="6415"/>
                  <a:pt x="3632" y="6416"/>
                  <a:pt x="3632" y="6416"/>
                </a:cubicBezTo>
                <a:cubicBezTo>
                  <a:pt x="3635" y="6420"/>
                  <a:pt x="3636" y="6423"/>
                  <a:pt x="3639" y="6427"/>
                </a:cubicBezTo>
                <a:cubicBezTo>
                  <a:pt x="3640" y="6428"/>
                  <a:pt x="3640" y="6429"/>
                  <a:pt x="3641" y="6431"/>
                </a:cubicBezTo>
                <a:cubicBezTo>
                  <a:pt x="3644" y="6435"/>
                  <a:pt x="3647" y="6437"/>
                  <a:pt x="3648" y="6440"/>
                </a:cubicBezTo>
                <a:cubicBezTo>
                  <a:pt x="3649" y="6441"/>
                  <a:pt x="3649" y="6443"/>
                  <a:pt x="3651" y="6443"/>
                </a:cubicBezTo>
                <a:cubicBezTo>
                  <a:pt x="3655" y="6447"/>
                  <a:pt x="3657" y="6451"/>
                  <a:pt x="3661" y="6455"/>
                </a:cubicBezTo>
                <a:lnTo>
                  <a:pt x="3663" y="6456"/>
                </a:lnTo>
                <a:cubicBezTo>
                  <a:pt x="3667" y="6459"/>
                  <a:pt x="3669" y="6463"/>
                  <a:pt x="3673" y="6465"/>
                </a:cubicBezTo>
                <a:cubicBezTo>
                  <a:pt x="3675" y="6467"/>
                  <a:pt x="3676" y="6468"/>
                  <a:pt x="3677" y="6468"/>
                </a:cubicBezTo>
                <a:cubicBezTo>
                  <a:pt x="3680" y="6471"/>
                  <a:pt x="3684" y="6473"/>
                  <a:pt x="3687" y="6475"/>
                </a:cubicBezTo>
                <a:cubicBezTo>
                  <a:pt x="3688" y="6476"/>
                  <a:pt x="3689" y="6476"/>
                  <a:pt x="3691" y="6477"/>
                </a:cubicBezTo>
                <a:cubicBezTo>
                  <a:pt x="3695" y="6480"/>
                  <a:pt x="3700" y="6483"/>
                  <a:pt x="3704" y="6485"/>
                </a:cubicBezTo>
                <a:cubicBezTo>
                  <a:pt x="3705" y="6485"/>
                  <a:pt x="3707" y="6487"/>
                  <a:pt x="3707" y="6487"/>
                </a:cubicBezTo>
                <a:cubicBezTo>
                  <a:pt x="3711" y="6489"/>
                  <a:pt x="3715" y="6491"/>
                  <a:pt x="3719" y="6492"/>
                </a:cubicBezTo>
                <a:cubicBezTo>
                  <a:pt x="3720" y="6492"/>
                  <a:pt x="3720" y="6493"/>
                  <a:pt x="3721" y="6493"/>
                </a:cubicBezTo>
                <a:cubicBezTo>
                  <a:pt x="3721" y="6493"/>
                  <a:pt x="3723" y="6493"/>
                  <a:pt x="3723" y="6495"/>
                </a:cubicBezTo>
                <a:cubicBezTo>
                  <a:pt x="3727" y="6496"/>
                  <a:pt x="3732" y="6499"/>
                  <a:pt x="3736" y="6500"/>
                </a:cubicBezTo>
                <a:lnTo>
                  <a:pt x="3737" y="6500"/>
                </a:lnTo>
                <a:cubicBezTo>
                  <a:pt x="3743" y="6501"/>
                  <a:pt x="3747" y="6503"/>
                  <a:pt x="3752" y="6504"/>
                </a:cubicBezTo>
                <a:cubicBezTo>
                  <a:pt x="3753" y="6504"/>
                  <a:pt x="3756" y="6504"/>
                  <a:pt x="3757" y="6505"/>
                </a:cubicBezTo>
                <a:cubicBezTo>
                  <a:pt x="3761" y="6505"/>
                  <a:pt x="3764" y="6507"/>
                  <a:pt x="3768" y="6507"/>
                </a:cubicBezTo>
                <a:lnTo>
                  <a:pt x="3773" y="6507"/>
                </a:lnTo>
                <a:cubicBezTo>
                  <a:pt x="3779" y="6507"/>
                  <a:pt x="3783" y="6508"/>
                  <a:pt x="3788" y="6508"/>
                </a:cubicBezTo>
                <a:lnTo>
                  <a:pt x="3788" y="6508"/>
                </a:lnTo>
                <a:lnTo>
                  <a:pt x="3788" y="6508"/>
                </a:lnTo>
                <a:lnTo>
                  <a:pt x="3788" y="6508"/>
                </a:lnTo>
                <a:lnTo>
                  <a:pt x="3788" y="6508"/>
                </a:lnTo>
                <a:cubicBezTo>
                  <a:pt x="3793" y="6508"/>
                  <a:pt x="3799" y="6508"/>
                  <a:pt x="3803" y="6507"/>
                </a:cubicBezTo>
                <a:lnTo>
                  <a:pt x="3808" y="6507"/>
                </a:lnTo>
                <a:cubicBezTo>
                  <a:pt x="3812" y="6507"/>
                  <a:pt x="3816" y="6505"/>
                  <a:pt x="3819" y="6505"/>
                </a:cubicBezTo>
                <a:cubicBezTo>
                  <a:pt x="3820" y="6505"/>
                  <a:pt x="3823" y="6505"/>
                  <a:pt x="3824" y="6504"/>
                </a:cubicBezTo>
                <a:cubicBezTo>
                  <a:pt x="3829" y="6503"/>
                  <a:pt x="3835" y="6501"/>
                  <a:pt x="3839" y="6500"/>
                </a:cubicBezTo>
                <a:cubicBezTo>
                  <a:pt x="3840" y="6500"/>
                  <a:pt x="3840" y="6500"/>
                  <a:pt x="3841" y="6499"/>
                </a:cubicBezTo>
                <a:cubicBezTo>
                  <a:pt x="3845" y="6497"/>
                  <a:pt x="3851" y="6496"/>
                  <a:pt x="3855" y="6493"/>
                </a:cubicBezTo>
                <a:cubicBezTo>
                  <a:pt x="3856" y="6493"/>
                  <a:pt x="3856" y="6493"/>
                  <a:pt x="3857" y="6492"/>
                </a:cubicBezTo>
                <a:cubicBezTo>
                  <a:pt x="3859" y="6492"/>
                  <a:pt x="3859" y="6491"/>
                  <a:pt x="3860" y="6491"/>
                </a:cubicBezTo>
                <a:cubicBezTo>
                  <a:pt x="3864" y="6489"/>
                  <a:pt x="3868" y="6487"/>
                  <a:pt x="3872" y="6484"/>
                </a:cubicBezTo>
                <a:cubicBezTo>
                  <a:pt x="3873" y="6484"/>
                  <a:pt x="3873" y="6483"/>
                  <a:pt x="3875" y="6483"/>
                </a:cubicBezTo>
                <a:cubicBezTo>
                  <a:pt x="3879" y="6480"/>
                  <a:pt x="3884" y="6477"/>
                  <a:pt x="3888" y="6475"/>
                </a:cubicBezTo>
                <a:cubicBezTo>
                  <a:pt x="3889" y="6473"/>
                  <a:pt x="3891" y="6473"/>
                  <a:pt x="3892" y="6472"/>
                </a:cubicBezTo>
                <a:cubicBezTo>
                  <a:pt x="3895" y="6469"/>
                  <a:pt x="3899" y="6468"/>
                  <a:pt x="3901" y="6465"/>
                </a:cubicBezTo>
                <a:cubicBezTo>
                  <a:pt x="3903" y="6464"/>
                  <a:pt x="3904" y="6463"/>
                  <a:pt x="3905" y="6463"/>
                </a:cubicBezTo>
                <a:cubicBezTo>
                  <a:pt x="3909" y="6459"/>
                  <a:pt x="3913" y="6456"/>
                  <a:pt x="3916" y="6452"/>
                </a:cubicBezTo>
                <a:lnTo>
                  <a:pt x="3916" y="6452"/>
                </a:lnTo>
                <a:cubicBezTo>
                  <a:pt x="3920" y="6448"/>
                  <a:pt x="3923" y="6444"/>
                  <a:pt x="3927" y="6440"/>
                </a:cubicBezTo>
                <a:cubicBezTo>
                  <a:pt x="3928" y="6439"/>
                  <a:pt x="3928" y="6437"/>
                  <a:pt x="3929" y="6436"/>
                </a:cubicBezTo>
                <a:cubicBezTo>
                  <a:pt x="3932" y="6433"/>
                  <a:pt x="3935" y="6429"/>
                  <a:pt x="3936" y="6427"/>
                </a:cubicBezTo>
                <a:cubicBezTo>
                  <a:pt x="3937" y="6425"/>
                  <a:pt x="3937" y="6424"/>
                  <a:pt x="3939" y="6423"/>
                </a:cubicBezTo>
                <a:cubicBezTo>
                  <a:pt x="3941" y="6419"/>
                  <a:pt x="3943" y="6416"/>
                  <a:pt x="3945" y="6412"/>
                </a:cubicBezTo>
                <a:cubicBezTo>
                  <a:pt x="3945" y="6411"/>
                  <a:pt x="3947" y="6409"/>
                  <a:pt x="3947" y="6409"/>
                </a:cubicBezTo>
                <a:cubicBezTo>
                  <a:pt x="3949" y="6405"/>
                  <a:pt x="3951" y="6400"/>
                  <a:pt x="3953" y="6396"/>
                </a:cubicBezTo>
                <a:lnTo>
                  <a:pt x="6481" y="284"/>
                </a:lnTo>
                <a:cubicBezTo>
                  <a:pt x="6485" y="273"/>
                  <a:pt x="6489" y="261"/>
                  <a:pt x="6492" y="249"/>
                </a:cubicBezTo>
                <a:cubicBezTo>
                  <a:pt x="6493" y="245"/>
                  <a:pt x="6493" y="240"/>
                  <a:pt x="6493" y="236"/>
                </a:cubicBezTo>
                <a:lnTo>
                  <a:pt x="6493" y="232"/>
                </a:lnTo>
                <a:cubicBezTo>
                  <a:pt x="6493" y="227"/>
                  <a:pt x="6493" y="223"/>
                  <a:pt x="6495" y="217"/>
                </a:cubicBezTo>
                <a:lnTo>
                  <a:pt x="6495" y="215"/>
                </a:lnTo>
                <a:lnTo>
                  <a:pt x="6495" y="203"/>
                </a:lnTo>
                <a:close/>
                <a:moveTo>
                  <a:pt x="648" y="2727"/>
                </a:moveTo>
                <a:lnTo>
                  <a:pt x="5589" y="687"/>
                </a:lnTo>
                <a:lnTo>
                  <a:pt x="2685" y="3589"/>
                </a:lnTo>
                <a:lnTo>
                  <a:pt x="648" y="2727"/>
                </a:lnTo>
                <a:close/>
                <a:moveTo>
                  <a:pt x="3787" y="5865"/>
                </a:moveTo>
                <a:lnTo>
                  <a:pt x="2933" y="3851"/>
                </a:lnTo>
                <a:lnTo>
                  <a:pt x="5804" y="981"/>
                </a:lnTo>
                <a:lnTo>
                  <a:pt x="3787" y="5865"/>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114" name="文本框 113">
            <a:extLst>
              <a:ext uri="{FF2B5EF4-FFF2-40B4-BE49-F238E27FC236}">
                <a16:creationId xmlns:a16="http://schemas.microsoft.com/office/drawing/2014/main" id="{C70D9582-1D76-4209-B3AD-537EC187F03E}"/>
              </a:ext>
            </a:extLst>
          </p:cNvPr>
          <p:cNvSpPr txBox="1"/>
          <p:nvPr/>
        </p:nvSpPr>
        <p:spPr>
          <a:xfrm>
            <a:off x="373082" y="5620123"/>
            <a:ext cx="1660612" cy="338554"/>
          </a:xfrm>
          <a:prstGeom prst="rect">
            <a:avLst/>
          </a:prstGeom>
          <a:noFill/>
        </p:spPr>
        <p:txBody>
          <a:bodyPr wrap="square" rtlCol="0">
            <a:spAutoFit/>
          </a:bodyPr>
          <a:lstStyle/>
          <a:p>
            <a:r>
              <a:rPr lang="zh-CN" altLang="en-US" sz="1600" dirty="0">
                <a:solidFill>
                  <a:schemeClr val="bg1"/>
                </a:solidFill>
                <a:latin typeface="思源黑体 CN Regular" panose="020B0500000000000000" pitchFamily="34" charset="-122"/>
                <a:ea typeface="思源黑体 CN Regular" panose="020B0500000000000000" pitchFamily="34" charset="-122"/>
              </a:rPr>
              <a:t>预期成果</a:t>
            </a:r>
          </a:p>
        </p:txBody>
      </p:sp>
      <p:sp>
        <p:nvSpPr>
          <p:cNvPr id="115" name="任意矩形：006">
            <a:extLst>
              <a:ext uri="{FF2B5EF4-FFF2-40B4-BE49-F238E27FC236}">
                <a16:creationId xmlns:a16="http://schemas.microsoft.com/office/drawing/2014/main" id="{5F5B61BA-6026-45E4-B3BE-32BEA46F27F0}"/>
              </a:ext>
            </a:extLst>
          </p:cNvPr>
          <p:cNvSpPr/>
          <p:nvPr/>
        </p:nvSpPr>
        <p:spPr>
          <a:xfrm>
            <a:off x="125661" y="5689964"/>
            <a:ext cx="203662" cy="187126"/>
          </a:xfrm>
          <a:custGeom>
            <a:avLst/>
            <a:gdLst>
              <a:gd name="T0" fmla="*/ 11834 w 13933"/>
              <a:gd name="T1" fmla="*/ 1094 h 12800"/>
              <a:gd name="T2" fmla="*/ 10384 w 13933"/>
              <a:gd name="T3" fmla="*/ 1094 h 12800"/>
              <a:gd name="T4" fmla="*/ 10384 w 13933"/>
              <a:gd name="T5" fmla="*/ 315 h 12800"/>
              <a:gd name="T6" fmla="*/ 10069 w 13933"/>
              <a:gd name="T7" fmla="*/ 0 h 12800"/>
              <a:gd name="T8" fmla="*/ 9754 w 13933"/>
              <a:gd name="T9" fmla="*/ 315 h 12800"/>
              <a:gd name="T10" fmla="*/ 9754 w 13933"/>
              <a:gd name="T11" fmla="*/ 1094 h 12800"/>
              <a:gd name="T12" fmla="*/ 4056 w 13933"/>
              <a:gd name="T13" fmla="*/ 1094 h 12800"/>
              <a:gd name="T14" fmla="*/ 4056 w 13933"/>
              <a:gd name="T15" fmla="*/ 315 h 12800"/>
              <a:gd name="T16" fmla="*/ 3741 w 13933"/>
              <a:gd name="T17" fmla="*/ 0 h 12800"/>
              <a:gd name="T18" fmla="*/ 3426 w 13933"/>
              <a:gd name="T19" fmla="*/ 315 h 12800"/>
              <a:gd name="T20" fmla="*/ 3426 w 13933"/>
              <a:gd name="T21" fmla="*/ 1094 h 12800"/>
              <a:gd name="T22" fmla="*/ 2099 w 13933"/>
              <a:gd name="T23" fmla="*/ 1094 h 12800"/>
              <a:gd name="T24" fmla="*/ 0 w 13933"/>
              <a:gd name="T25" fmla="*/ 3193 h 12800"/>
              <a:gd name="T26" fmla="*/ 0 w 13933"/>
              <a:gd name="T27" fmla="*/ 10701 h 12800"/>
              <a:gd name="T28" fmla="*/ 2099 w 13933"/>
              <a:gd name="T29" fmla="*/ 12800 h 12800"/>
              <a:gd name="T30" fmla="*/ 11834 w 13933"/>
              <a:gd name="T31" fmla="*/ 12800 h 12800"/>
              <a:gd name="T32" fmla="*/ 13933 w 13933"/>
              <a:gd name="T33" fmla="*/ 10701 h 12800"/>
              <a:gd name="T34" fmla="*/ 13933 w 13933"/>
              <a:gd name="T35" fmla="*/ 3193 h 12800"/>
              <a:gd name="T36" fmla="*/ 11834 w 13933"/>
              <a:gd name="T37" fmla="*/ 1094 h 12800"/>
              <a:gd name="T38" fmla="*/ 2099 w 13933"/>
              <a:gd name="T39" fmla="*/ 1933 h 12800"/>
              <a:gd name="T40" fmla="*/ 3426 w 13933"/>
              <a:gd name="T41" fmla="*/ 1933 h 12800"/>
              <a:gd name="T42" fmla="*/ 3426 w 13933"/>
              <a:gd name="T43" fmla="*/ 2757 h 12800"/>
              <a:gd name="T44" fmla="*/ 3741 w 13933"/>
              <a:gd name="T45" fmla="*/ 3072 h 12800"/>
              <a:gd name="T46" fmla="*/ 4056 w 13933"/>
              <a:gd name="T47" fmla="*/ 2757 h 12800"/>
              <a:gd name="T48" fmla="*/ 4056 w 13933"/>
              <a:gd name="T49" fmla="*/ 1933 h 12800"/>
              <a:gd name="T50" fmla="*/ 9754 w 13933"/>
              <a:gd name="T51" fmla="*/ 1933 h 12800"/>
              <a:gd name="T52" fmla="*/ 9754 w 13933"/>
              <a:gd name="T53" fmla="*/ 2757 h 12800"/>
              <a:gd name="T54" fmla="*/ 10069 w 13933"/>
              <a:gd name="T55" fmla="*/ 3072 h 12800"/>
              <a:gd name="T56" fmla="*/ 10384 w 13933"/>
              <a:gd name="T57" fmla="*/ 2757 h 12800"/>
              <a:gd name="T58" fmla="*/ 10384 w 13933"/>
              <a:gd name="T59" fmla="*/ 1933 h 12800"/>
              <a:gd name="T60" fmla="*/ 11834 w 13933"/>
              <a:gd name="T61" fmla="*/ 1933 h 12800"/>
              <a:gd name="T62" fmla="*/ 13094 w 13933"/>
              <a:gd name="T63" fmla="*/ 3193 h 12800"/>
              <a:gd name="T64" fmla="*/ 13094 w 13933"/>
              <a:gd name="T65" fmla="*/ 4646 h 12800"/>
              <a:gd name="T66" fmla="*/ 840 w 13933"/>
              <a:gd name="T67" fmla="*/ 4646 h 12800"/>
              <a:gd name="T68" fmla="*/ 840 w 13933"/>
              <a:gd name="T69" fmla="*/ 3193 h 12800"/>
              <a:gd name="T70" fmla="*/ 2099 w 13933"/>
              <a:gd name="T71" fmla="*/ 1933 h 12800"/>
              <a:gd name="T72" fmla="*/ 11834 w 13933"/>
              <a:gd name="T73" fmla="*/ 11960 h 12800"/>
              <a:gd name="T74" fmla="*/ 2099 w 13933"/>
              <a:gd name="T75" fmla="*/ 11960 h 12800"/>
              <a:gd name="T76" fmla="*/ 840 w 13933"/>
              <a:gd name="T77" fmla="*/ 10701 h 12800"/>
              <a:gd name="T78" fmla="*/ 840 w 13933"/>
              <a:gd name="T79" fmla="*/ 5276 h 12800"/>
              <a:gd name="T80" fmla="*/ 13094 w 13933"/>
              <a:gd name="T81" fmla="*/ 5276 h 12800"/>
              <a:gd name="T82" fmla="*/ 13094 w 13933"/>
              <a:gd name="T83" fmla="*/ 10701 h 12800"/>
              <a:gd name="T84" fmla="*/ 11834 w 13933"/>
              <a:gd name="T85" fmla="*/ 11960 h 128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Lst>
            <a:rect l="0" t="0" r="r" b="b"/>
            <a:pathLst>
              <a:path w="13933" h="12800">
                <a:moveTo>
                  <a:pt x="11834" y="1094"/>
                </a:moveTo>
                <a:lnTo>
                  <a:pt x="10384" y="1094"/>
                </a:lnTo>
                <a:lnTo>
                  <a:pt x="10384" y="315"/>
                </a:lnTo>
                <a:cubicBezTo>
                  <a:pt x="10384" y="141"/>
                  <a:pt x="10243" y="0"/>
                  <a:pt x="10069" y="0"/>
                </a:cubicBezTo>
                <a:cubicBezTo>
                  <a:pt x="9895" y="0"/>
                  <a:pt x="9754" y="141"/>
                  <a:pt x="9754" y="315"/>
                </a:cubicBezTo>
                <a:lnTo>
                  <a:pt x="9754" y="1094"/>
                </a:lnTo>
                <a:lnTo>
                  <a:pt x="4056" y="1094"/>
                </a:lnTo>
                <a:lnTo>
                  <a:pt x="4056" y="315"/>
                </a:lnTo>
                <a:cubicBezTo>
                  <a:pt x="4056" y="141"/>
                  <a:pt x="3915" y="0"/>
                  <a:pt x="3741" y="0"/>
                </a:cubicBezTo>
                <a:cubicBezTo>
                  <a:pt x="3567" y="0"/>
                  <a:pt x="3426" y="141"/>
                  <a:pt x="3426" y="315"/>
                </a:cubicBezTo>
                <a:lnTo>
                  <a:pt x="3426" y="1094"/>
                </a:lnTo>
                <a:lnTo>
                  <a:pt x="2099" y="1094"/>
                </a:lnTo>
                <a:cubicBezTo>
                  <a:pt x="940" y="1095"/>
                  <a:pt x="1" y="2034"/>
                  <a:pt x="0" y="3193"/>
                </a:cubicBezTo>
                <a:lnTo>
                  <a:pt x="0" y="10701"/>
                </a:lnTo>
                <a:cubicBezTo>
                  <a:pt x="1" y="11860"/>
                  <a:pt x="940" y="12799"/>
                  <a:pt x="2099" y="12800"/>
                </a:cubicBezTo>
                <a:lnTo>
                  <a:pt x="11834" y="12800"/>
                </a:lnTo>
                <a:cubicBezTo>
                  <a:pt x="12993" y="12799"/>
                  <a:pt x="13932" y="11860"/>
                  <a:pt x="13933" y="10701"/>
                </a:cubicBezTo>
                <a:lnTo>
                  <a:pt x="13933" y="3193"/>
                </a:lnTo>
                <a:cubicBezTo>
                  <a:pt x="13932" y="2034"/>
                  <a:pt x="12993" y="1095"/>
                  <a:pt x="11834" y="1094"/>
                </a:cubicBezTo>
                <a:close/>
                <a:moveTo>
                  <a:pt x="2099" y="1933"/>
                </a:moveTo>
                <a:lnTo>
                  <a:pt x="3426" y="1933"/>
                </a:lnTo>
                <a:lnTo>
                  <a:pt x="3426" y="2757"/>
                </a:lnTo>
                <a:cubicBezTo>
                  <a:pt x="3426" y="2931"/>
                  <a:pt x="3567" y="3072"/>
                  <a:pt x="3741" y="3072"/>
                </a:cubicBezTo>
                <a:cubicBezTo>
                  <a:pt x="3915" y="3072"/>
                  <a:pt x="4056" y="2931"/>
                  <a:pt x="4056" y="2757"/>
                </a:cubicBezTo>
                <a:lnTo>
                  <a:pt x="4056" y="1933"/>
                </a:lnTo>
                <a:lnTo>
                  <a:pt x="9754" y="1933"/>
                </a:lnTo>
                <a:lnTo>
                  <a:pt x="9754" y="2757"/>
                </a:lnTo>
                <a:cubicBezTo>
                  <a:pt x="9754" y="2931"/>
                  <a:pt x="9895" y="3072"/>
                  <a:pt x="10069" y="3072"/>
                </a:cubicBezTo>
                <a:cubicBezTo>
                  <a:pt x="10243" y="3072"/>
                  <a:pt x="10384" y="2931"/>
                  <a:pt x="10384" y="2757"/>
                </a:cubicBezTo>
                <a:lnTo>
                  <a:pt x="10384" y="1933"/>
                </a:lnTo>
                <a:lnTo>
                  <a:pt x="11834" y="1933"/>
                </a:lnTo>
                <a:cubicBezTo>
                  <a:pt x="12529" y="1934"/>
                  <a:pt x="13093" y="2497"/>
                  <a:pt x="13094" y="3193"/>
                </a:cubicBezTo>
                <a:lnTo>
                  <a:pt x="13094" y="4646"/>
                </a:lnTo>
                <a:lnTo>
                  <a:pt x="840" y="4646"/>
                </a:lnTo>
                <a:lnTo>
                  <a:pt x="840" y="3193"/>
                </a:lnTo>
                <a:cubicBezTo>
                  <a:pt x="840" y="2497"/>
                  <a:pt x="1404" y="1934"/>
                  <a:pt x="2099" y="1933"/>
                </a:cubicBezTo>
                <a:close/>
                <a:moveTo>
                  <a:pt x="11834" y="11960"/>
                </a:moveTo>
                <a:lnTo>
                  <a:pt x="2099" y="11960"/>
                </a:lnTo>
                <a:cubicBezTo>
                  <a:pt x="1404" y="11960"/>
                  <a:pt x="840" y="11396"/>
                  <a:pt x="840" y="10701"/>
                </a:cubicBezTo>
                <a:lnTo>
                  <a:pt x="840" y="5276"/>
                </a:lnTo>
                <a:lnTo>
                  <a:pt x="13094" y="5276"/>
                </a:lnTo>
                <a:lnTo>
                  <a:pt x="13094" y="10701"/>
                </a:lnTo>
                <a:cubicBezTo>
                  <a:pt x="13093" y="11396"/>
                  <a:pt x="12529" y="11960"/>
                  <a:pt x="11834" y="1196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69227676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 name="矩形: 圆角 57">
            <a:extLst>
              <a:ext uri="{FF2B5EF4-FFF2-40B4-BE49-F238E27FC236}">
                <a16:creationId xmlns:a16="http://schemas.microsoft.com/office/drawing/2014/main" id="{3808CFB2-1928-415D-9C91-29FD5B07BB38}"/>
              </a:ext>
            </a:extLst>
          </p:cNvPr>
          <p:cNvSpPr/>
          <p:nvPr/>
        </p:nvSpPr>
        <p:spPr>
          <a:xfrm>
            <a:off x="2391537" y="1258891"/>
            <a:ext cx="9465502" cy="2682361"/>
          </a:xfrm>
          <a:prstGeom prst="roundRect">
            <a:avLst>
              <a:gd name="adj" fmla="val 6584"/>
            </a:avLst>
          </a:prstGeom>
          <a:solidFill>
            <a:schemeClr val="bg1"/>
          </a:solidFill>
          <a:ln w="15875">
            <a:solidFill>
              <a:schemeClr val="accent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pic>
        <p:nvPicPr>
          <p:cNvPr id="77" name="Picture 2" descr="查看图片">
            <a:extLst>
              <a:ext uri="{FF2B5EF4-FFF2-40B4-BE49-F238E27FC236}">
                <a16:creationId xmlns:a16="http://schemas.microsoft.com/office/drawing/2014/main" id="{9CC2E2D0-49DB-4EDA-B9EC-5CAB8EF2ACF9}"/>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1" t="80009" r="66779" b="919"/>
          <a:stretch/>
        </p:blipFill>
        <p:spPr bwMode="auto">
          <a:xfrm>
            <a:off x="7429025" y="1300234"/>
            <a:ext cx="3818095" cy="2541954"/>
          </a:xfrm>
          <a:prstGeom prst="rect">
            <a:avLst/>
          </a:prstGeom>
          <a:noFill/>
          <a:extLst>
            <a:ext uri="{909E8E84-426E-40DD-AFC4-6F175D3DCCD1}">
              <a14:hiddenFill xmlns:a14="http://schemas.microsoft.com/office/drawing/2010/main">
                <a:solidFill>
                  <a:srgbClr val="FFFFFF"/>
                </a:solidFill>
              </a14:hiddenFill>
            </a:ext>
          </a:extLst>
        </p:spPr>
      </p:pic>
      <p:sp>
        <p:nvSpPr>
          <p:cNvPr id="34" name="矩形: 圆角 33">
            <a:extLst>
              <a:ext uri="{FF2B5EF4-FFF2-40B4-BE49-F238E27FC236}">
                <a16:creationId xmlns:a16="http://schemas.microsoft.com/office/drawing/2014/main" id="{A83483C7-6B85-4F97-880C-7BBE8981B708}"/>
              </a:ext>
            </a:extLst>
          </p:cNvPr>
          <p:cNvSpPr/>
          <p:nvPr/>
        </p:nvSpPr>
        <p:spPr>
          <a:xfrm>
            <a:off x="2391537" y="4170556"/>
            <a:ext cx="4870975" cy="2427094"/>
          </a:xfrm>
          <a:prstGeom prst="roundRect">
            <a:avLst>
              <a:gd name="adj" fmla="val 5622"/>
            </a:avLst>
          </a:prstGeom>
          <a:solidFill>
            <a:schemeClr val="bg1"/>
          </a:solidFill>
          <a:ln w="15875">
            <a:solidFill>
              <a:schemeClr val="accent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pic>
        <p:nvPicPr>
          <p:cNvPr id="23" name="Picture 2" descr="查看图片">
            <a:extLst>
              <a:ext uri="{FF2B5EF4-FFF2-40B4-BE49-F238E27FC236}">
                <a16:creationId xmlns:a16="http://schemas.microsoft.com/office/drawing/2014/main" id="{BC33D385-F385-48D5-B3AA-B96D800B97D9}"/>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35254" t="80009" r="11567" b="919"/>
          <a:stretch/>
        </p:blipFill>
        <p:spPr bwMode="auto">
          <a:xfrm>
            <a:off x="2569593" y="4232439"/>
            <a:ext cx="4502182" cy="1872486"/>
          </a:xfrm>
          <a:prstGeom prst="rect">
            <a:avLst/>
          </a:prstGeom>
          <a:noFill/>
          <a:extLst>
            <a:ext uri="{909E8E84-426E-40DD-AFC4-6F175D3DCCD1}">
              <a14:hiddenFill xmlns:a14="http://schemas.microsoft.com/office/drawing/2010/main">
                <a:solidFill>
                  <a:srgbClr val="FFFFFF"/>
                </a:solidFill>
              </a14:hiddenFill>
            </a:ext>
          </a:extLst>
        </p:spPr>
      </p:pic>
      <p:sp>
        <p:nvSpPr>
          <p:cNvPr id="36" name="矩形: 圆角 35">
            <a:extLst>
              <a:ext uri="{FF2B5EF4-FFF2-40B4-BE49-F238E27FC236}">
                <a16:creationId xmlns:a16="http://schemas.microsoft.com/office/drawing/2014/main" id="{8122EB69-6BB6-4BDD-A0D2-9F974D333983}"/>
              </a:ext>
            </a:extLst>
          </p:cNvPr>
          <p:cNvSpPr/>
          <p:nvPr/>
        </p:nvSpPr>
        <p:spPr>
          <a:xfrm>
            <a:off x="7806082" y="5718892"/>
            <a:ext cx="3714724" cy="698462"/>
          </a:xfrm>
          <a:prstGeom prst="roundRect">
            <a:avLst>
              <a:gd name="adj" fmla="val 10948"/>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37" name="文本框 36">
            <a:extLst>
              <a:ext uri="{FF2B5EF4-FFF2-40B4-BE49-F238E27FC236}">
                <a16:creationId xmlns:a16="http://schemas.microsoft.com/office/drawing/2014/main" id="{C5B810A5-4FC5-4F8D-A639-06BCF0876087}"/>
              </a:ext>
            </a:extLst>
          </p:cNvPr>
          <p:cNvSpPr txBox="1"/>
          <p:nvPr/>
        </p:nvSpPr>
        <p:spPr>
          <a:xfrm>
            <a:off x="7860333" y="5866946"/>
            <a:ext cx="3606222" cy="367408"/>
          </a:xfrm>
          <a:prstGeom prst="rect">
            <a:avLst/>
          </a:prstGeom>
          <a:noFill/>
        </p:spPr>
        <p:txBody>
          <a:bodyPr wrap="square" rtlCol="0">
            <a:spAutoFit/>
          </a:bodyPr>
          <a:lstStyle/>
          <a:p>
            <a:pPr algn="ctr">
              <a:lnSpc>
                <a:spcPct val="120000"/>
              </a:lnSpc>
            </a:pPr>
            <a:r>
              <a:rPr lang="zh-CN" altLang="en-US" sz="1600" dirty="0">
                <a:solidFill>
                  <a:schemeClr val="bg1"/>
                </a:solidFill>
                <a:latin typeface="思源黑体 CN Bold" panose="020B0800000000000000" pitchFamily="34" charset="-122"/>
                <a:ea typeface="思源黑体 CN Bold" panose="020B0800000000000000" pitchFamily="34" charset="-122"/>
              </a:rPr>
              <a:t>初步验证</a:t>
            </a:r>
            <a:r>
              <a:rPr lang="en-US" altLang="zh-CN" sz="1600" dirty="0">
                <a:solidFill>
                  <a:schemeClr val="bg1"/>
                </a:solidFill>
                <a:latin typeface="思源黑体 CN Bold" panose="020B0800000000000000" pitchFamily="34" charset="-122"/>
                <a:ea typeface="思源黑体 CN Bold" panose="020B0800000000000000" pitchFamily="34" charset="-122"/>
              </a:rPr>
              <a:t>PRMT3-IGF2BP1</a:t>
            </a:r>
            <a:r>
              <a:rPr lang="zh-CN" altLang="en-US" sz="1600" dirty="0">
                <a:solidFill>
                  <a:schemeClr val="bg1"/>
                </a:solidFill>
                <a:latin typeface="思源黑体 CN Bold" panose="020B0800000000000000" pitchFamily="34" charset="-122"/>
                <a:ea typeface="思源黑体 CN Bold" panose="020B0800000000000000" pitchFamily="34" charset="-122"/>
              </a:rPr>
              <a:t>调控耐药</a:t>
            </a:r>
          </a:p>
        </p:txBody>
      </p:sp>
      <p:grpSp>
        <p:nvGrpSpPr>
          <p:cNvPr id="10" name="组合 9">
            <a:extLst>
              <a:ext uri="{FF2B5EF4-FFF2-40B4-BE49-F238E27FC236}">
                <a16:creationId xmlns:a16="http://schemas.microsoft.com/office/drawing/2014/main" id="{AE8B8A4E-CFB0-4937-9F10-39E39D6D2C14}"/>
              </a:ext>
            </a:extLst>
          </p:cNvPr>
          <p:cNvGrpSpPr/>
          <p:nvPr/>
        </p:nvGrpSpPr>
        <p:grpSpPr>
          <a:xfrm>
            <a:off x="9768045" y="4350852"/>
            <a:ext cx="2087129" cy="1269477"/>
            <a:chOff x="9647671" y="4350852"/>
            <a:chExt cx="2087129" cy="1269477"/>
          </a:xfrm>
        </p:grpSpPr>
        <p:sp>
          <p:nvSpPr>
            <p:cNvPr id="35" name="矩形: 圆角 34">
              <a:extLst>
                <a:ext uri="{FF2B5EF4-FFF2-40B4-BE49-F238E27FC236}">
                  <a16:creationId xmlns:a16="http://schemas.microsoft.com/office/drawing/2014/main" id="{934B5386-AFD2-4370-8345-64E0CFA974EE}"/>
                </a:ext>
              </a:extLst>
            </p:cNvPr>
            <p:cNvSpPr/>
            <p:nvPr/>
          </p:nvSpPr>
          <p:spPr>
            <a:xfrm>
              <a:off x="9647671" y="4350852"/>
              <a:ext cx="2087129" cy="804292"/>
            </a:xfrm>
            <a:prstGeom prst="roundRect">
              <a:avLst>
                <a:gd name="adj" fmla="val 10948"/>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39" name="文本框 38">
              <a:extLst>
                <a:ext uri="{FF2B5EF4-FFF2-40B4-BE49-F238E27FC236}">
                  <a16:creationId xmlns:a16="http://schemas.microsoft.com/office/drawing/2014/main" id="{AC2204AE-81FC-43F0-9B0C-6CBB7D91700F}"/>
                </a:ext>
              </a:extLst>
            </p:cNvPr>
            <p:cNvSpPr txBox="1"/>
            <p:nvPr/>
          </p:nvSpPr>
          <p:spPr>
            <a:xfrm>
              <a:off x="9669586" y="4421305"/>
              <a:ext cx="2043300" cy="663387"/>
            </a:xfrm>
            <a:prstGeom prst="rect">
              <a:avLst/>
            </a:prstGeom>
            <a:noFill/>
          </p:spPr>
          <p:txBody>
            <a:bodyPr wrap="square" rtlCol="0">
              <a:spAutoFit/>
            </a:bodyPr>
            <a:lstStyle/>
            <a:p>
              <a:pPr algn="ctr">
                <a:lnSpc>
                  <a:spcPct val="120000"/>
                </a:lnSpc>
              </a:pPr>
              <a:r>
                <a:rPr lang="zh-CN" altLang="en-US" sz="1600" dirty="0">
                  <a:latin typeface="思源黑体 CN Regular" panose="020B0500000000000000" pitchFamily="34" charset="-122"/>
                  <a:ea typeface="思源黑体 CN Regular" panose="020B0500000000000000" pitchFamily="34" charset="-122"/>
                </a:rPr>
                <a:t>为耐药逆转及靶点研究奠定基础</a:t>
              </a:r>
            </a:p>
          </p:txBody>
        </p:sp>
        <p:sp>
          <p:nvSpPr>
            <p:cNvPr id="40" name="箭头: 右 39">
              <a:extLst>
                <a:ext uri="{FF2B5EF4-FFF2-40B4-BE49-F238E27FC236}">
                  <a16:creationId xmlns:a16="http://schemas.microsoft.com/office/drawing/2014/main" id="{DA5834B9-02AA-46BB-8A6A-CB5A8359D431}"/>
                </a:ext>
              </a:extLst>
            </p:cNvPr>
            <p:cNvSpPr/>
            <p:nvPr/>
          </p:nvSpPr>
          <p:spPr>
            <a:xfrm rot="5400000">
              <a:off x="10507924" y="5386922"/>
              <a:ext cx="366622" cy="100192"/>
            </a:xfrm>
            <a:prstGeom prst="rightArrow">
              <a:avLst>
                <a:gd name="adj1" fmla="val 21026"/>
                <a:gd name="adj2" fmla="val 87974"/>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11" name="组合 10">
            <a:extLst>
              <a:ext uri="{FF2B5EF4-FFF2-40B4-BE49-F238E27FC236}">
                <a16:creationId xmlns:a16="http://schemas.microsoft.com/office/drawing/2014/main" id="{E4C5E538-227E-44D9-B73F-8E1FA9429B5D}"/>
              </a:ext>
            </a:extLst>
          </p:cNvPr>
          <p:cNvGrpSpPr/>
          <p:nvPr/>
        </p:nvGrpSpPr>
        <p:grpSpPr>
          <a:xfrm>
            <a:off x="7471714" y="4350852"/>
            <a:ext cx="2087129" cy="1269477"/>
            <a:chOff x="7351340" y="4350852"/>
            <a:chExt cx="2087129" cy="1269477"/>
          </a:xfrm>
        </p:grpSpPr>
        <p:sp>
          <p:nvSpPr>
            <p:cNvPr id="33" name="矩形: 圆角 32">
              <a:extLst>
                <a:ext uri="{FF2B5EF4-FFF2-40B4-BE49-F238E27FC236}">
                  <a16:creationId xmlns:a16="http://schemas.microsoft.com/office/drawing/2014/main" id="{37A4C69C-607C-48E2-A617-A7269016395D}"/>
                </a:ext>
              </a:extLst>
            </p:cNvPr>
            <p:cNvSpPr/>
            <p:nvPr/>
          </p:nvSpPr>
          <p:spPr>
            <a:xfrm>
              <a:off x="7351340" y="4350852"/>
              <a:ext cx="2087129" cy="804292"/>
            </a:xfrm>
            <a:prstGeom prst="roundRect">
              <a:avLst>
                <a:gd name="adj" fmla="val 10948"/>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38" name="文本框 37">
              <a:extLst>
                <a:ext uri="{FF2B5EF4-FFF2-40B4-BE49-F238E27FC236}">
                  <a16:creationId xmlns:a16="http://schemas.microsoft.com/office/drawing/2014/main" id="{501765A0-FBDD-49F7-A5A0-9C6A4171408E}"/>
                </a:ext>
              </a:extLst>
            </p:cNvPr>
            <p:cNvSpPr txBox="1"/>
            <p:nvPr/>
          </p:nvSpPr>
          <p:spPr>
            <a:xfrm>
              <a:off x="7373255" y="4421305"/>
              <a:ext cx="2043300" cy="663387"/>
            </a:xfrm>
            <a:prstGeom prst="rect">
              <a:avLst/>
            </a:prstGeom>
            <a:noFill/>
          </p:spPr>
          <p:txBody>
            <a:bodyPr wrap="square" rtlCol="0">
              <a:spAutoFit/>
            </a:bodyPr>
            <a:lstStyle/>
            <a:p>
              <a:pPr algn="ctr">
                <a:lnSpc>
                  <a:spcPct val="120000"/>
                </a:lnSpc>
              </a:pPr>
              <a:r>
                <a:rPr lang="zh-CN" altLang="en-US" sz="1600" dirty="0">
                  <a:latin typeface="思源黑体 CN Regular" panose="020B0500000000000000" pitchFamily="34" charset="-122"/>
                  <a:ea typeface="思源黑体 CN Regular" panose="020B0500000000000000" pitchFamily="34" charset="-122"/>
                </a:rPr>
                <a:t>细胞与蛋白实验证实核心调控关系</a:t>
              </a:r>
            </a:p>
          </p:txBody>
        </p:sp>
        <p:sp>
          <p:nvSpPr>
            <p:cNvPr id="41" name="箭头: 右 40">
              <a:extLst>
                <a:ext uri="{FF2B5EF4-FFF2-40B4-BE49-F238E27FC236}">
                  <a16:creationId xmlns:a16="http://schemas.microsoft.com/office/drawing/2014/main" id="{275ACEE4-97F5-4343-841A-4E562D7659F6}"/>
                </a:ext>
              </a:extLst>
            </p:cNvPr>
            <p:cNvSpPr/>
            <p:nvPr/>
          </p:nvSpPr>
          <p:spPr>
            <a:xfrm rot="5400000">
              <a:off x="8211593" y="5386922"/>
              <a:ext cx="366622" cy="100192"/>
            </a:xfrm>
            <a:prstGeom prst="rightArrow">
              <a:avLst>
                <a:gd name="adj1" fmla="val 21026"/>
                <a:gd name="adj2" fmla="val 87974"/>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104" name="矩形 103">
            <a:extLst>
              <a:ext uri="{FF2B5EF4-FFF2-40B4-BE49-F238E27FC236}">
                <a16:creationId xmlns:a16="http://schemas.microsoft.com/office/drawing/2014/main" id="{EBDE20DC-7DB8-4A80-9767-671F526EEB0A}"/>
              </a:ext>
            </a:extLst>
          </p:cNvPr>
          <p:cNvSpPr/>
          <p:nvPr/>
        </p:nvSpPr>
        <p:spPr>
          <a:xfrm>
            <a:off x="0" y="4807401"/>
            <a:ext cx="2052320" cy="56374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05" name="文本框 104">
            <a:extLst>
              <a:ext uri="{FF2B5EF4-FFF2-40B4-BE49-F238E27FC236}">
                <a16:creationId xmlns:a16="http://schemas.microsoft.com/office/drawing/2014/main" id="{0D823774-2982-4BEA-A055-2EA40F0FD499}"/>
              </a:ext>
            </a:extLst>
          </p:cNvPr>
          <p:cNvSpPr txBox="1"/>
          <p:nvPr/>
        </p:nvSpPr>
        <p:spPr>
          <a:xfrm>
            <a:off x="2209656" y="248670"/>
            <a:ext cx="1947969" cy="461665"/>
          </a:xfrm>
          <a:prstGeom prst="rect">
            <a:avLst/>
          </a:prstGeom>
          <a:noFill/>
        </p:spPr>
        <p:txBody>
          <a:bodyPr wrap="none" rtlCol="0">
            <a:spAutoFit/>
          </a:bodyPr>
          <a:lstStyle/>
          <a:p>
            <a:r>
              <a:rPr lang="en-US" altLang="zh-CN" sz="2400" dirty="0">
                <a:solidFill>
                  <a:schemeClr val="accent1"/>
                </a:solidFill>
                <a:latin typeface="思源黑体 CN Bold" panose="020B0800000000000000" pitchFamily="34" charset="-122"/>
                <a:ea typeface="思源黑体 CN Bold" panose="020B0800000000000000" pitchFamily="34" charset="-122"/>
              </a:rPr>
              <a:t>5.2 </a:t>
            </a:r>
            <a:r>
              <a:rPr lang="zh-CN" altLang="en-US" sz="2400" dirty="0">
                <a:solidFill>
                  <a:schemeClr val="accent1"/>
                </a:solidFill>
                <a:latin typeface="思源黑体 CN Bold" panose="020B0800000000000000" pitchFamily="34" charset="-122"/>
                <a:ea typeface="思源黑体 CN Bold" panose="020B0800000000000000" pitchFamily="34" charset="-122"/>
              </a:rPr>
              <a:t>初步结果</a:t>
            </a:r>
          </a:p>
        </p:txBody>
      </p:sp>
      <p:sp>
        <p:nvSpPr>
          <p:cNvPr id="106" name="文本框 105">
            <a:extLst>
              <a:ext uri="{FF2B5EF4-FFF2-40B4-BE49-F238E27FC236}">
                <a16:creationId xmlns:a16="http://schemas.microsoft.com/office/drawing/2014/main" id="{6D5D2C7D-712C-41B1-8C48-6FFCC6D4AB32}"/>
              </a:ext>
            </a:extLst>
          </p:cNvPr>
          <p:cNvSpPr txBox="1"/>
          <p:nvPr/>
        </p:nvSpPr>
        <p:spPr>
          <a:xfrm>
            <a:off x="373082" y="2098899"/>
            <a:ext cx="1660612" cy="338554"/>
          </a:xfrm>
          <a:prstGeom prst="rect">
            <a:avLst/>
          </a:prstGeom>
          <a:noFill/>
        </p:spPr>
        <p:txBody>
          <a:bodyPr wrap="square" rtlCol="0">
            <a:spAutoFit/>
          </a:bodyPr>
          <a:lstStyle/>
          <a:p>
            <a:r>
              <a:rPr lang="zh-CN" altLang="en-US" sz="1600" dirty="0">
                <a:solidFill>
                  <a:schemeClr val="bg1"/>
                </a:solidFill>
                <a:latin typeface="思源黑体 CN Regular" panose="020B0500000000000000" pitchFamily="34" charset="-122"/>
                <a:ea typeface="思源黑体 CN Regular" panose="020B0500000000000000" pitchFamily="34" charset="-122"/>
              </a:rPr>
              <a:t>研究背景及现状</a:t>
            </a:r>
          </a:p>
        </p:txBody>
      </p:sp>
      <p:sp>
        <p:nvSpPr>
          <p:cNvPr id="107" name="任意矩形：001">
            <a:extLst>
              <a:ext uri="{FF2B5EF4-FFF2-40B4-BE49-F238E27FC236}">
                <a16:creationId xmlns:a16="http://schemas.microsoft.com/office/drawing/2014/main" id="{9C812503-FB92-42B6-B32C-37FB1E03D088}"/>
              </a:ext>
            </a:extLst>
          </p:cNvPr>
          <p:cNvSpPr/>
          <p:nvPr/>
        </p:nvSpPr>
        <p:spPr>
          <a:xfrm>
            <a:off x="131492" y="2145245"/>
            <a:ext cx="226722" cy="202893"/>
          </a:xfrm>
          <a:custGeom>
            <a:avLst/>
            <a:gdLst>
              <a:gd name="connsiteX0" fmla="*/ 79591 w 607005"/>
              <a:gd name="connsiteY0" fmla="*/ 373864 h 543210"/>
              <a:gd name="connsiteX1" fmla="*/ 33701 w 607005"/>
              <a:gd name="connsiteY1" fmla="*/ 461494 h 543210"/>
              <a:gd name="connsiteX2" fmla="*/ 79501 w 607005"/>
              <a:gd name="connsiteY2" fmla="*/ 507233 h 543210"/>
              <a:gd name="connsiteX3" fmla="*/ 125392 w 607005"/>
              <a:gd name="connsiteY3" fmla="*/ 461494 h 543210"/>
              <a:gd name="connsiteX4" fmla="*/ 79591 w 607005"/>
              <a:gd name="connsiteY4" fmla="*/ 373864 h 543210"/>
              <a:gd name="connsiteX5" fmla="*/ 79501 w 607005"/>
              <a:gd name="connsiteY5" fmla="*/ 328661 h 543210"/>
              <a:gd name="connsiteX6" fmla="*/ 92856 w 607005"/>
              <a:gd name="connsiteY6" fmla="*/ 335106 h 543210"/>
              <a:gd name="connsiteX7" fmla="*/ 158913 w 607005"/>
              <a:gd name="connsiteY7" fmla="*/ 461404 h 543210"/>
              <a:gd name="connsiteX8" fmla="*/ 79501 w 607005"/>
              <a:gd name="connsiteY8" fmla="*/ 540710 h 543210"/>
              <a:gd name="connsiteX9" fmla="*/ 0 w 607005"/>
              <a:gd name="connsiteY9" fmla="*/ 461404 h 543210"/>
              <a:gd name="connsiteX10" fmla="*/ 66236 w 607005"/>
              <a:gd name="connsiteY10" fmla="*/ 335195 h 543210"/>
              <a:gd name="connsiteX11" fmla="*/ 79501 w 607005"/>
              <a:gd name="connsiteY11" fmla="*/ 328661 h 543210"/>
              <a:gd name="connsiteX12" fmla="*/ 196548 w 607005"/>
              <a:gd name="connsiteY12" fmla="*/ 281688 h 543210"/>
              <a:gd name="connsiteX13" fmla="*/ 391755 w 607005"/>
              <a:gd name="connsiteY13" fmla="*/ 476431 h 543210"/>
              <a:gd name="connsiteX14" fmla="*/ 540265 w 607005"/>
              <a:gd name="connsiteY14" fmla="*/ 476431 h 543210"/>
              <a:gd name="connsiteX15" fmla="*/ 540265 w 607005"/>
              <a:gd name="connsiteY15" fmla="*/ 328047 h 543210"/>
              <a:gd name="connsiteX16" fmla="*/ 493749 w 607005"/>
              <a:gd name="connsiteY16" fmla="*/ 281688 h 543210"/>
              <a:gd name="connsiteX17" fmla="*/ 261707 w 607005"/>
              <a:gd name="connsiteY17" fmla="*/ 49894 h 543210"/>
              <a:gd name="connsiteX18" fmla="*/ 113017 w 607005"/>
              <a:gd name="connsiteY18" fmla="*/ 198278 h 543210"/>
              <a:gd name="connsiteX19" fmla="*/ 163028 w 607005"/>
              <a:gd name="connsiteY19" fmla="*/ 248127 h 543210"/>
              <a:gd name="connsiteX20" fmla="*/ 460229 w 607005"/>
              <a:gd name="connsiteY20" fmla="*/ 248127 h 543210"/>
              <a:gd name="connsiteX21" fmla="*/ 271073 w 607005"/>
              <a:gd name="connsiteY21" fmla="*/ 0 h 543210"/>
              <a:gd name="connsiteX22" fmla="*/ 282948 w 607005"/>
              <a:gd name="connsiteY22" fmla="*/ 4967 h 543210"/>
              <a:gd name="connsiteX23" fmla="*/ 285099 w 607005"/>
              <a:gd name="connsiteY23" fmla="*/ 25909 h 543210"/>
              <a:gd name="connsiteX24" fmla="*/ 563927 w 607005"/>
              <a:gd name="connsiteY24" fmla="*/ 304331 h 543210"/>
              <a:gd name="connsiteX25" fmla="*/ 563927 w 607005"/>
              <a:gd name="connsiteY25" fmla="*/ 500148 h 543210"/>
              <a:gd name="connsiteX26" fmla="*/ 367824 w 607005"/>
              <a:gd name="connsiteY26" fmla="*/ 500148 h 543210"/>
              <a:gd name="connsiteX27" fmla="*/ 88997 w 607005"/>
              <a:gd name="connsiteY27" fmla="*/ 221726 h 543210"/>
              <a:gd name="connsiteX28" fmla="*/ 68024 w 607005"/>
              <a:gd name="connsiteY28" fmla="*/ 219578 h 543210"/>
              <a:gd name="connsiteX29" fmla="*/ 68024 w 607005"/>
              <a:gd name="connsiteY29" fmla="*/ 195862 h 543210"/>
              <a:gd name="connsiteX30" fmla="*/ 259197 w 607005"/>
              <a:gd name="connsiteY30" fmla="*/ 4967 h 543210"/>
              <a:gd name="connsiteX31" fmla="*/ 271073 w 607005"/>
              <a:gd name="connsiteY31" fmla="*/ 0 h 5432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607005" h="543210">
                <a:moveTo>
                  <a:pt x="79591" y="373864"/>
                </a:moveTo>
                <a:cubicBezTo>
                  <a:pt x="57452" y="405192"/>
                  <a:pt x="33701" y="445024"/>
                  <a:pt x="33701" y="461494"/>
                </a:cubicBezTo>
                <a:cubicBezTo>
                  <a:pt x="33701" y="486646"/>
                  <a:pt x="54226" y="507233"/>
                  <a:pt x="79501" y="507233"/>
                </a:cubicBezTo>
                <a:cubicBezTo>
                  <a:pt x="104687" y="507233"/>
                  <a:pt x="125212" y="486646"/>
                  <a:pt x="125392" y="461494"/>
                </a:cubicBezTo>
                <a:cubicBezTo>
                  <a:pt x="125392" y="445024"/>
                  <a:pt x="101729" y="405282"/>
                  <a:pt x="79591" y="373864"/>
                </a:cubicBezTo>
                <a:close/>
                <a:moveTo>
                  <a:pt x="79501" y="328661"/>
                </a:moveTo>
                <a:cubicBezTo>
                  <a:pt x="84610" y="328661"/>
                  <a:pt x="89540" y="331078"/>
                  <a:pt x="92856" y="335106"/>
                </a:cubicBezTo>
                <a:cubicBezTo>
                  <a:pt x="103881" y="349517"/>
                  <a:pt x="158913" y="423094"/>
                  <a:pt x="158913" y="461404"/>
                </a:cubicBezTo>
                <a:cubicBezTo>
                  <a:pt x="158913" y="505175"/>
                  <a:pt x="123240" y="540710"/>
                  <a:pt x="79501" y="540710"/>
                </a:cubicBezTo>
                <a:cubicBezTo>
                  <a:pt x="35583" y="540710"/>
                  <a:pt x="0" y="505085"/>
                  <a:pt x="0" y="461404"/>
                </a:cubicBezTo>
                <a:cubicBezTo>
                  <a:pt x="0" y="423094"/>
                  <a:pt x="55122" y="349517"/>
                  <a:pt x="66236" y="335195"/>
                </a:cubicBezTo>
                <a:cubicBezTo>
                  <a:pt x="69284" y="331078"/>
                  <a:pt x="74213" y="328661"/>
                  <a:pt x="79501" y="328661"/>
                </a:cubicBezTo>
                <a:close/>
                <a:moveTo>
                  <a:pt x="196548" y="281688"/>
                </a:moveTo>
                <a:lnTo>
                  <a:pt x="391755" y="476431"/>
                </a:lnTo>
                <a:cubicBezTo>
                  <a:pt x="420525" y="505249"/>
                  <a:pt x="488999" y="527623"/>
                  <a:pt x="540265" y="476431"/>
                </a:cubicBezTo>
                <a:cubicBezTo>
                  <a:pt x="592249" y="424524"/>
                  <a:pt x="570290" y="358028"/>
                  <a:pt x="540265" y="328047"/>
                </a:cubicBezTo>
                <a:lnTo>
                  <a:pt x="493749" y="281688"/>
                </a:lnTo>
                <a:close/>
                <a:moveTo>
                  <a:pt x="261707" y="49894"/>
                </a:moveTo>
                <a:lnTo>
                  <a:pt x="113017" y="198278"/>
                </a:lnTo>
                <a:lnTo>
                  <a:pt x="163028" y="248127"/>
                </a:lnTo>
                <a:lnTo>
                  <a:pt x="460229" y="248127"/>
                </a:lnTo>
                <a:close/>
                <a:moveTo>
                  <a:pt x="271073" y="0"/>
                </a:moveTo>
                <a:cubicBezTo>
                  <a:pt x="275375" y="0"/>
                  <a:pt x="279677" y="1655"/>
                  <a:pt x="282948" y="4967"/>
                </a:cubicBezTo>
                <a:cubicBezTo>
                  <a:pt x="288595" y="10694"/>
                  <a:pt x="289312" y="19465"/>
                  <a:pt x="285099" y="25909"/>
                </a:cubicBezTo>
                <a:lnTo>
                  <a:pt x="563927" y="304331"/>
                </a:lnTo>
                <a:cubicBezTo>
                  <a:pt x="604528" y="344872"/>
                  <a:pt x="636076" y="428104"/>
                  <a:pt x="563927" y="500148"/>
                </a:cubicBezTo>
                <a:cubicBezTo>
                  <a:pt x="492495" y="571476"/>
                  <a:pt x="409501" y="541763"/>
                  <a:pt x="367824" y="500148"/>
                </a:cubicBezTo>
                <a:lnTo>
                  <a:pt x="88997" y="221726"/>
                </a:lnTo>
                <a:cubicBezTo>
                  <a:pt x="81468" y="226380"/>
                  <a:pt x="73850" y="225485"/>
                  <a:pt x="68024" y="219578"/>
                </a:cubicBezTo>
                <a:cubicBezTo>
                  <a:pt x="61392" y="213045"/>
                  <a:pt x="61392" y="202395"/>
                  <a:pt x="68024" y="195862"/>
                </a:cubicBezTo>
                <a:lnTo>
                  <a:pt x="259197" y="4967"/>
                </a:lnTo>
                <a:cubicBezTo>
                  <a:pt x="262469" y="1655"/>
                  <a:pt x="266771" y="0"/>
                  <a:pt x="271073"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8" name="任意矩形：002">
            <a:extLst>
              <a:ext uri="{FF2B5EF4-FFF2-40B4-BE49-F238E27FC236}">
                <a16:creationId xmlns:a16="http://schemas.microsoft.com/office/drawing/2014/main" id="{BFC6D32A-D636-4FE2-B284-0C631A3E298E}"/>
              </a:ext>
            </a:extLst>
          </p:cNvPr>
          <p:cNvSpPr/>
          <p:nvPr/>
        </p:nvSpPr>
        <p:spPr>
          <a:xfrm>
            <a:off x="143798" y="2860995"/>
            <a:ext cx="202111" cy="201828"/>
          </a:xfrm>
          <a:custGeom>
            <a:avLst/>
            <a:gdLst>
              <a:gd name="connsiteX0" fmla="*/ 303643 w 607215"/>
              <a:gd name="connsiteY0" fmla="*/ 280873 h 606369"/>
              <a:gd name="connsiteX1" fmla="*/ 325219 w 607215"/>
              <a:gd name="connsiteY1" fmla="*/ 302335 h 606369"/>
              <a:gd name="connsiteX2" fmla="*/ 303643 w 607215"/>
              <a:gd name="connsiteY2" fmla="*/ 323873 h 606369"/>
              <a:gd name="connsiteX3" fmla="*/ 282068 w 607215"/>
              <a:gd name="connsiteY3" fmla="*/ 302335 h 606369"/>
              <a:gd name="connsiteX4" fmla="*/ 303643 w 607215"/>
              <a:gd name="connsiteY4" fmla="*/ 280873 h 606369"/>
              <a:gd name="connsiteX5" fmla="*/ 303678 w 607215"/>
              <a:gd name="connsiteY5" fmla="*/ 280357 h 606369"/>
              <a:gd name="connsiteX6" fmla="*/ 281626 w 607215"/>
              <a:gd name="connsiteY6" fmla="*/ 302374 h 606369"/>
              <a:gd name="connsiteX7" fmla="*/ 303678 w 607215"/>
              <a:gd name="connsiteY7" fmla="*/ 324391 h 606369"/>
              <a:gd name="connsiteX8" fmla="*/ 325730 w 607215"/>
              <a:gd name="connsiteY8" fmla="*/ 302374 h 606369"/>
              <a:gd name="connsiteX9" fmla="*/ 303678 w 607215"/>
              <a:gd name="connsiteY9" fmla="*/ 280357 h 606369"/>
              <a:gd name="connsiteX10" fmla="*/ 303643 w 607215"/>
              <a:gd name="connsiteY10" fmla="*/ 279792 h 606369"/>
              <a:gd name="connsiteX11" fmla="*/ 326224 w 607215"/>
              <a:gd name="connsiteY11" fmla="*/ 302335 h 606369"/>
              <a:gd name="connsiteX12" fmla="*/ 303643 w 607215"/>
              <a:gd name="connsiteY12" fmla="*/ 324954 h 606369"/>
              <a:gd name="connsiteX13" fmla="*/ 281062 w 607215"/>
              <a:gd name="connsiteY13" fmla="*/ 302335 h 606369"/>
              <a:gd name="connsiteX14" fmla="*/ 303643 w 607215"/>
              <a:gd name="connsiteY14" fmla="*/ 279792 h 606369"/>
              <a:gd name="connsiteX15" fmla="*/ 281043 w 607215"/>
              <a:gd name="connsiteY15" fmla="*/ 46068 h 606369"/>
              <a:gd name="connsiteX16" fmla="*/ 120855 w 607215"/>
              <a:gd name="connsiteY16" fmla="*/ 120687 h 606369"/>
              <a:gd name="connsiteX17" fmla="*/ 46132 w 607215"/>
              <a:gd name="connsiteY17" fmla="*/ 280652 h 606369"/>
              <a:gd name="connsiteX18" fmla="*/ 147128 w 607215"/>
              <a:gd name="connsiteY18" fmla="*/ 280652 h 606369"/>
              <a:gd name="connsiteX19" fmla="*/ 169770 w 607215"/>
              <a:gd name="connsiteY19" fmla="*/ 303185 h 606369"/>
              <a:gd name="connsiteX20" fmla="*/ 147128 w 607215"/>
              <a:gd name="connsiteY20" fmla="*/ 325717 h 606369"/>
              <a:gd name="connsiteX21" fmla="*/ 46132 w 607215"/>
              <a:gd name="connsiteY21" fmla="*/ 325717 h 606369"/>
              <a:gd name="connsiteX22" fmla="*/ 120855 w 607215"/>
              <a:gd name="connsiteY22" fmla="*/ 485682 h 606369"/>
              <a:gd name="connsiteX23" fmla="*/ 281043 w 607215"/>
              <a:gd name="connsiteY23" fmla="*/ 560301 h 606369"/>
              <a:gd name="connsiteX24" fmla="*/ 281043 w 607215"/>
              <a:gd name="connsiteY24" fmla="*/ 459446 h 606369"/>
              <a:gd name="connsiteX25" fmla="*/ 303608 w 607215"/>
              <a:gd name="connsiteY25" fmla="*/ 436913 h 606369"/>
              <a:gd name="connsiteX26" fmla="*/ 326172 w 607215"/>
              <a:gd name="connsiteY26" fmla="*/ 459446 h 606369"/>
              <a:gd name="connsiteX27" fmla="*/ 326172 w 607215"/>
              <a:gd name="connsiteY27" fmla="*/ 560301 h 606369"/>
              <a:gd name="connsiteX28" fmla="*/ 486360 w 607215"/>
              <a:gd name="connsiteY28" fmla="*/ 485682 h 606369"/>
              <a:gd name="connsiteX29" fmla="*/ 561083 w 607215"/>
              <a:gd name="connsiteY29" fmla="*/ 325717 h 606369"/>
              <a:gd name="connsiteX30" fmla="*/ 460087 w 607215"/>
              <a:gd name="connsiteY30" fmla="*/ 325717 h 606369"/>
              <a:gd name="connsiteX31" fmla="*/ 437523 w 607215"/>
              <a:gd name="connsiteY31" fmla="*/ 303185 h 606369"/>
              <a:gd name="connsiteX32" fmla="*/ 460087 w 607215"/>
              <a:gd name="connsiteY32" fmla="*/ 280652 h 606369"/>
              <a:gd name="connsiteX33" fmla="*/ 561083 w 607215"/>
              <a:gd name="connsiteY33" fmla="*/ 280652 h 606369"/>
              <a:gd name="connsiteX34" fmla="*/ 486360 w 607215"/>
              <a:gd name="connsiteY34" fmla="*/ 120687 h 606369"/>
              <a:gd name="connsiteX35" fmla="*/ 326172 w 607215"/>
              <a:gd name="connsiteY35" fmla="*/ 46068 h 606369"/>
              <a:gd name="connsiteX36" fmla="*/ 326172 w 607215"/>
              <a:gd name="connsiteY36" fmla="*/ 146923 h 606369"/>
              <a:gd name="connsiteX37" fmla="*/ 303608 w 607215"/>
              <a:gd name="connsiteY37" fmla="*/ 169533 h 606369"/>
              <a:gd name="connsiteX38" fmla="*/ 281043 w 607215"/>
              <a:gd name="connsiteY38" fmla="*/ 146923 h 606369"/>
              <a:gd name="connsiteX39" fmla="*/ 281617 w 607215"/>
              <a:gd name="connsiteY39" fmla="*/ 45548 h 606369"/>
              <a:gd name="connsiteX40" fmla="*/ 281617 w 607215"/>
              <a:gd name="connsiteY40" fmla="*/ 146935 h 606369"/>
              <a:gd name="connsiteX41" fmla="*/ 303640 w 607215"/>
              <a:gd name="connsiteY41" fmla="*/ 169002 h 606369"/>
              <a:gd name="connsiteX42" fmla="*/ 325741 w 607215"/>
              <a:gd name="connsiteY42" fmla="*/ 146935 h 606369"/>
              <a:gd name="connsiteX43" fmla="*/ 325741 w 607215"/>
              <a:gd name="connsiteY43" fmla="*/ 45548 h 606369"/>
              <a:gd name="connsiteX44" fmla="*/ 561663 w 607215"/>
              <a:gd name="connsiteY44" fmla="*/ 281192 h 606369"/>
              <a:gd name="connsiteX45" fmla="*/ 460123 w 607215"/>
              <a:gd name="connsiteY45" fmla="*/ 281192 h 606369"/>
              <a:gd name="connsiteX46" fmla="*/ 438022 w 607215"/>
              <a:gd name="connsiteY46" fmla="*/ 303182 h 606369"/>
              <a:gd name="connsiteX47" fmla="*/ 460123 w 607215"/>
              <a:gd name="connsiteY47" fmla="*/ 325250 h 606369"/>
              <a:gd name="connsiteX48" fmla="*/ 561663 w 607215"/>
              <a:gd name="connsiteY48" fmla="*/ 325250 h 606369"/>
              <a:gd name="connsiteX49" fmla="*/ 325741 w 607215"/>
              <a:gd name="connsiteY49" fmla="*/ 560815 h 606369"/>
              <a:gd name="connsiteX50" fmla="*/ 325741 w 607215"/>
              <a:gd name="connsiteY50" fmla="*/ 459429 h 606369"/>
              <a:gd name="connsiteX51" fmla="*/ 303640 w 607215"/>
              <a:gd name="connsiteY51" fmla="*/ 437361 h 606369"/>
              <a:gd name="connsiteX52" fmla="*/ 281617 w 607215"/>
              <a:gd name="connsiteY52" fmla="*/ 459429 h 606369"/>
              <a:gd name="connsiteX53" fmla="*/ 281617 w 607215"/>
              <a:gd name="connsiteY53" fmla="*/ 560815 h 606369"/>
              <a:gd name="connsiteX54" fmla="*/ 45616 w 607215"/>
              <a:gd name="connsiteY54" fmla="*/ 325250 h 606369"/>
              <a:gd name="connsiteX55" fmla="*/ 147157 w 607215"/>
              <a:gd name="connsiteY55" fmla="*/ 325250 h 606369"/>
              <a:gd name="connsiteX56" fmla="*/ 169257 w 607215"/>
              <a:gd name="connsiteY56" fmla="*/ 303182 h 606369"/>
              <a:gd name="connsiteX57" fmla="*/ 147157 w 607215"/>
              <a:gd name="connsiteY57" fmla="*/ 281192 h 606369"/>
              <a:gd name="connsiteX58" fmla="*/ 45616 w 607215"/>
              <a:gd name="connsiteY58" fmla="*/ 281192 h 606369"/>
              <a:gd name="connsiteX59" fmla="*/ 281617 w 607215"/>
              <a:gd name="connsiteY59" fmla="*/ 45548 h 606369"/>
              <a:gd name="connsiteX60" fmla="*/ 281508 w 607215"/>
              <a:gd name="connsiteY60" fmla="*/ 44987 h 606369"/>
              <a:gd name="connsiteX61" fmla="*/ 120160 w 607215"/>
              <a:gd name="connsiteY61" fmla="*/ 119993 h 606369"/>
              <a:gd name="connsiteX62" fmla="*/ 45050 w 607215"/>
              <a:gd name="connsiteY62" fmla="*/ 281115 h 606369"/>
              <a:gd name="connsiteX63" fmla="*/ 45050 w 607215"/>
              <a:gd name="connsiteY63" fmla="*/ 281655 h 606369"/>
              <a:gd name="connsiteX64" fmla="*/ 147128 w 607215"/>
              <a:gd name="connsiteY64" fmla="*/ 281655 h 606369"/>
              <a:gd name="connsiteX65" fmla="*/ 168688 w 607215"/>
              <a:gd name="connsiteY65" fmla="*/ 303185 h 606369"/>
              <a:gd name="connsiteX66" fmla="*/ 147128 w 607215"/>
              <a:gd name="connsiteY66" fmla="*/ 324714 h 606369"/>
              <a:gd name="connsiteX67" fmla="*/ 45050 w 607215"/>
              <a:gd name="connsiteY67" fmla="*/ 324714 h 606369"/>
              <a:gd name="connsiteX68" fmla="*/ 45050 w 607215"/>
              <a:gd name="connsiteY68" fmla="*/ 325254 h 606369"/>
              <a:gd name="connsiteX69" fmla="*/ 120160 w 607215"/>
              <a:gd name="connsiteY69" fmla="*/ 486454 h 606369"/>
              <a:gd name="connsiteX70" fmla="*/ 281508 w 607215"/>
              <a:gd name="connsiteY70" fmla="*/ 561382 h 606369"/>
              <a:gd name="connsiteX71" fmla="*/ 282048 w 607215"/>
              <a:gd name="connsiteY71" fmla="*/ 561459 h 606369"/>
              <a:gd name="connsiteX72" fmla="*/ 282048 w 607215"/>
              <a:gd name="connsiteY72" fmla="*/ 459446 h 606369"/>
              <a:gd name="connsiteX73" fmla="*/ 303608 w 607215"/>
              <a:gd name="connsiteY73" fmla="*/ 437916 h 606369"/>
              <a:gd name="connsiteX74" fmla="*/ 325167 w 607215"/>
              <a:gd name="connsiteY74" fmla="*/ 459446 h 606369"/>
              <a:gd name="connsiteX75" fmla="*/ 325167 w 607215"/>
              <a:gd name="connsiteY75" fmla="*/ 561459 h 606369"/>
              <a:gd name="connsiteX76" fmla="*/ 325708 w 607215"/>
              <a:gd name="connsiteY76" fmla="*/ 561382 h 606369"/>
              <a:gd name="connsiteX77" fmla="*/ 487132 w 607215"/>
              <a:gd name="connsiteY77" fmla="*/ 486454 h 606369"/>
              <a:gd name="connsiteX78" fmla="*/ 562165 w 607215"/>
              <a:gd name="connsiteY78" fmla="*/ 325254 h 606369"/>
              <a:gd name="connsiteX79" fmla="*/ 562242 w 607215"/>
              <a:gd name="connsiteY79" fmla="*/ 324714 h 606369"/>
              <a:gd name="connsiteX80" fmla="*/ 460087 w 607215"/>
              <a:gd name="connsiteY80" fmla="*/ 324714 h 606369"/>
              <a:gd name="connsiteX81" fmla="*/ 438527 w 607215"/>
              <a:gd name="connsiteY81" fmla="*/ 303185 h 606369"/>
              <a:gd name="connsiteX82" fmla="*/ 460087 w 607215"/>
              <a:gd name="connsiteY82" fmla="*/ 281655 h 606369"/>
              <a:gd name="connsiteX83" fmla="*/ 562242 w 607215"/>
              <a:gd name="connsiteY83" fmla="*/ 281655 h 606369"/>
              <a:gd name="connsiteX84" fmla="*/ 562165 w 607215"/>
              <a:gd name="connsiteY84" fmla="*/ 281115 h 606369"/>
              <a:gd name="connsiteX85" fmla="*/ 487132 w 607215"/>
              <a:gd name="connsiteY85" fmla="*/ 119993 h 606369"/>
              <a:gd name="connsiteX86" fmla="*/ 325708 w 607215"/>
              <a:gd name="connsiteY86" fmla="*/ 44987 h 606369"/>
              <a:gd name="connsiteX87" fmla="*/ 325167 w 607215"/>
              <a:gd name="connsiteY87" fmla="*/ 44987 h 606369"/>
              <a:gd name="connsiteX88" fmla="*/ 325167 w 607215"/>
              <a:gd name="connsiteY88" fmla="*/ 146923 h 606369"/>
              <a:gd name="connsiteX89" fmla="*/ 303608 w 607215"/>
              <a:gd name="connsiteY89" fmla="*/ 168453 h 606369"/>
              <a:gd name="connsiteX90" fmla="*/ 282048 w 607215"/>
              <a:gd name="connsiteY90" fmla="*/ 146923 h 606369"/>
              <a:gd name="connsiteX91" fmla="*/ 282048 w 607215"/>
              <a:gd name="connsiteY91" fmla="*/ 44987 h 606369"/>
              <a:gd name="connsiteX92" fmla="*/ 303608 w 607215"/>
              <a:gd name="connsiteY92" fmla="*/ 1003 h 606369"/>
              <a:gd name="connsiteX93" fmla="*/ 421450 w 607215"/>
              <a:gd name="connsiteY93" fmla="*/ 24770 h 606369"/>
              <a:gd name="connsiteX94" fmla="*/ 517578 w 607215"/>
              <a:gd name="connsiteY94" fmla="*/ 89512 h 606369"/>
              <a:gd name="connsiteX95" fmla="*/ 582410 w 607215"/>
              <a:gd name="connsiteY95" fmla="*/ 185584 h 606369"/>
              <a:gd name="connsiteX96" fmla="*/ 606211 w 607215"/>
              <a:gd name="connsiteY96" fmla="*/ 303185 h 606369"/>
              <a:gd name="connsiteX97" fmla="*/ 582410 w 607215"/>
              <a:gd name="connsiteY97" fmla="*/ 420863 h 606369"/>
              <a:gd name="connsiteX98" fmla="*/ 517578 w 607215"/>
              <a:gd name="connsiteY98" fmla="*/ 516857 h 606369"/>
              <a:gd name="connsiteX99" fmla="*/ 421450 w 607215"/>
              <a:gd name="connsiteY99" fmla="*/ 581599 h 606369"/>
              <a:gd name="connsiteX100" fmla="*/ 303608 w 607215"/>
              <a:gd name="connsiteY100" fmla="*/ 605366 h 606369"/>
              <a:gd name="connsiteX101" fmla="*/ 185842 w 607215"/>
              <a:gd name="connsiteY101" fmla="*/ 581599 h 606369"/>
              <a:gd name="connsiteX102" fmla="*/ 89637 w 607215"/>
              <a:gd name="connsiteY102" fmla="*/ 516857 h 606369"/>
              <a:gd name="connsiteX103" fmla="*/ 24805 w 607215"/>
              <a:gd name="connsiteY103" fmla="*/ 420863 h 606369"/>
              <a:gd name="connsiteX104" fmla="*/ 1004 w 607215"/>
              <a:gd name="connsiteY104" fmla="*/ 303185 h 606369"/>
              <a:gd name="connsiteX105" fmla="*/ 24805 w 607215"/>
              <a:gd name="connsiteY105" fmla="*/ 185584 h 606369"/>
              <a:gd name="connsiteX106" fmla="*/ 89637 w 607215"/>
              <a:gd name="connsiteY106" fmla="*/ 89512 h 606369"/>
              <a:gd name="connsiteX107" fmla="*/ 185842 w 607215"/>
              <a:gd name="connsiteY107" fmla="*/ 24770 h 606369"/>
              <a:gd name="connsiteX108" fmla="*/ 303608 w 607215"/>
              <a:gd name="connsiteY108" fmla="*/ 1003 h 606369"/>
              <a:gd name="connsiteX109" fmla="*/ 303640 w 607215"/>
              <a:gd name="connsiteY109" fmla="*/ 565 h 606369"/>
              <a:gd name="connsiteX110" fmla="*/ 185640 w 607215"/>
              <a:gd name="connsiteY110" fmla="*/ 24330 h 606369"/>
              <a:gd name="connsiteX111" fmla="*/ 89354 w 607215"/>
              <a:gd name="connsiteY111" fmla="*/ 89220 h 606369"/>
              <a:gd name="connsiteX112" fmla="*/ 24366 w 607215"/>
              <a:gd name="connsiteY112" fmla="*/ 185360 h 606369"/>
              <a:gd name="connsiteX113" fmla="*/ 565 w 607215"/>
              <a:gd name="connsiteY113" fmla="*/ 303182 h 606369"/>
              <a:gd name="connsiteX114" fmla="*/ 24366 w 607215"/>
              <a:gd name="connsiteY114" fmla="*/ 421004 h 606369"/>
              <a:gd name="connsiteX115" fmla="*/ 89354 w 607215"/>
              <a:gd name="connsiteY115" fmla="*/ 517221 h 606369"/>
              <a:gd name="connsiteX116" fmla="*/ 185640 w 607215"/>
              <a:gd name="connsiteY116" fmla="*/ 582034 h 606369"/>
              <a:gd name="connsiteX117" fmla="*/ 303640 w 607215"/>
              <a:gd name="connsiteY117" fmla="*/ 605876 h 606369"/>
              <a:gd name="connsiteX118" fmla="*/ 421640 w 607215"/>
              <a:gd name="connsiteY118" fmla="*/ 582034 h 606369"/>
              <a:gd name="connsiteX119" fmla="*/ 518003 w 607215"/>
              <a:gd name="connsiteY119" fmla="*/ 517221 h 606369"/>
              <a:gd name="connsiteX120" fmla="*/ 582914 w 607215"/>
              <a:gd name="connsiteY120" fmla="*/ 421004 h 606369"/>
              <a:gd name="connsiteX121" fmla="*/ 606792 w 607215"/>
              <a:gd name="connsiteY121" fmla="*/ 303182 h 606369"/>
              <a:gd name="connsiteX122" fmla="*/ 582914 w 607215"/>
              <a:gd name="connsiteY122" fmla="*/ 185360 h 606369"/>
              <a:gd name="connsiteX123" fmla="*/ 518003 w 607215"/>
              <a:gd name="connsiteY123" fmla="*/ 89220 h 606369"/>
              <a:gd name="connsiteX124" fmla="*/ 421640 w 607215"/>
              <a:gd name="connsiteY124" fmla="*/ 24330 h 606369"/>
              <a:gd name="connsiteX125" fmla="*/ 303640 w 607215"/>
              <a:gd name="connsiteY125" fmla="*/ 565 h 606369"/>
              <a:gd name="connsiteX126" fmla="*/ 303608 w 607215"/>
              <a:gd name="connsiteY126" fmla="*/ 0 h 606369"/>
              <a:gd name="connsiteX127" fmla="*/ 421836 w 607215"/>
              <a:gd name="connsiteY127" fmla="*/ 23844 h 606369"/>
              <a:gd name="connsiteX128" fmla="*/ 518351 w 607215"/>
              <a:gd name="connsiteY128" fmla="*/ 88818 h 606369"/>
              <a:gd name="connsiteX129" fmla="*/ 583338 w 607215"/>
              <a:gd name="connsiteY129" fmla="*/ 185198 h 606369"/>
              <a:gd name="connsiteX130" fmla="*/ 607215 w 607215"/>
              <a:gd name="connsiteY130" fmla="*/ 303185 h 606369"/>
              <a:gd name="connsiteX131" fmla="*/ 583338 w 607215"/>
              <a:gd name="connsiteY131" fmla="*/ 421248 h 606369"/>
              <a:gd name="connsiteX132" fmla="*/ 518351 w 607215"/>
              <a:gd name="connsiteY132" fmla="*/ 517629 h 606369"/>
              <a:gd name="connsiteX133" fmla="*/ 421836 w 607215"/>
              <a:gd name="connsiteY133" fmla="*/ 582525 h 606369"/>
              <a:gd name="connsiteX134" fmla="*/ 303608 w 607215"/>
              <a:gd name="connsiteY134" fmla="*/ 606369 h 606369"/>
              <a:gd name="connsiteX135" fmla="*/ 185456 w 607215"/>
              <a:gd name="connsiteY135" fmla="*/ 582525 h 606369"/>
              <a:gd name="connsiteX136" fmla="*/ 88942 w 607215"/>
              <a:gd name="connsiteY136" fmla="*/ 517629 h 606369"/>
              <a:gd name="connsiteX137" fmla="*/ 23877 w 607215"/>
              <a:gd name="connsiteY137" fmla="*/ 421248 h 606369"/>
              <a:gd name="connsiteX138" fmla="*/ 0 w 607215"/>
              <a:gd name="connsiteY138" fmla="*/ 303185 h 606369"/>
              <a:gd name="connsiteX139" fmla="*/ 23877 w 607215"/>
              <a:gd name="connsiteY139" fmla="*/ 185198 h 606369"/>
              <a:gd name="connsiteX140" fmla="*/ 88942 w 607215"/>
              <a:gd name="connsiteY140" fmla="*/ 88818 h 606369"/>
              <a:gd name="connsiteX141" fmla="*/ 185456 w 607215"/>
              <a:gd name="connsiteY141" fmla="*/ 23844 h 606369"/>
              <a:gd name="connsiteX142" fmla="*/ 303608 w 607215"/>
              <a:gd name="connsiteY142" fmla="*/ 0 h 6063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Lst>
            <a:rect l="l" t="t" r="r" b="b"/>
            <a:pathLst>
              <a:path w="607215" h="606369">
                <a:moveTo>
                  <a:pt x="303643" y="280873"/>
                </a:moveTo>
                <a:cubicBezTo>
                  <a:pt x="315552" y="280873"/>
                  <a:pt x="325219" y="290523"/>
                  <a:pt x="325219" y="302335"/>
                </a:cubicBezTo>
                <a:cubicBezTo>
                  <a:pt x="325219" y="314223"/>
                  <a:pt x="315552" y="323873"/>
                  <a:pt x="303643" y="323873"/>
                </a:cubicBezTo>
                <a:cubicBezTo>
                  <a:pt x="291734" y="323873"/>
                  <a:pt x="282068" y="314223"/>
                  <a:pt x="282068" y="302335"/>
                </a:cubicBezTo>
                <a:cubicBezTo>
                  <a:pt x="282068" y="290523"/>
                  <a:pt x="291734" y="280873"/>
                  <a:pt x="303643" y="280873"/>
                </a:cubicBezTo>
                <a:close/>
                <a:moveTo>
                  <a:pt x="303678" y="280357"/>
                </a:moveTo>
                <a:cubicBezTo>
                  <a:pt x="291499" y="280357"/>
                  <a:pt x="281626" y="290214"/>
                  <a:pt x="281626" y="302374"/>
                </a:cubicBezTo>
                <a:cubicBezTo>
                  <a:pt x="281626" y="314534"/>
                  <a:pt x="291499" y="324391"/>
                  <a:pt x="303678" y="324391"/>
                </a:cubicBezTo>
                <a:cubicBezTo>
                  <a:pt x="315857" y="324391"/>
                  <a:pt x="325730" y="314534"/>
                  <a:pt x="325730" y="302374"/>
                </a:cubicBezTo>
                <a:cubicBezTo>
                  <a:pt x="325730" y="290214"/>
                  <a:pt x="315857" y="280357"/>
                  <a:pt x="303678" y="280357"/>
                </a:cubicBezTo>
                <a:close/>
                <a:moveTo>
                  <a:pt x="303643" y="279792"/>
                </a:moveTo>
                <a:cubicBezTo>
                  <a:pt x="316094" y="279792"/>
                  <a:pt x="326224" y="289905"/>
                  <a:pt x="326224" y="302335"/>
                </a:cubicBezTo>
                <a:cubicBezTo>
                  <a:pt x="326224" y="314841"/>
                  <a:pt x="316094" y="324954"/>
                  <a:pt x="303643" y="324954"/>
                </a:cubicBezTo>
                <a:cubicBezTo>
                  <a:pt x="291193" y="324954"/>
                  <a:pt x="281062" y="314841"/>
                  <a:pt x="281062" y="302335"/>
                </a:cubicBezTo>
                <a:cubicBezTo>
                  <a:pt x="281062" y="289905"/>
                  <a:pt x="291193" y="279792"/>
                  <a:pt x="303643" y="279792"/>
                </a:cubicBezTo>
                <a:close/>
                <a:moveTo>
                  <a:pt x="281043" y="46068"/>
                </a:moveTo>
                <a:cubicBezTo>
                  <a:pt x="220693" y="51315"/>
                  <a:pt x="163820" y="77783"/>
                  <a:pt x="120855" y="120687"/>
                </a:cubicBezTo>
                <a:cubicBezTo>
                  <a:pt x="77891" y="163591"/>
                  <a:pt x="51387" y="220385"/>
                  <a:pt x="46132" y="280652"/>
                </a:cubicBezTo>
                <a:lnTo>
                  <a:pt x="147128" y="280652"/>
                </a:lnTo>
                <a:cubicBezTo>
                  <a:pt x="159647" y="280652"/>
                  <a:pt x="169770" y="290761"/>
                  <a:pt x="169770" y="303185"/>
                </a:cubicBezTo>
                <a:cubicBezTo>
                  <a:pt x="169770" y="315608"/>
                  <a:pt x="159647" y="325717"/>
                  <a:pt x="147128" y="325717"/>
                </a:cubicBezTo>
                <a:lnTo>
                  <a:pt x="46132" y="325717"/>
                </a:lnTo>
                <a:cubicBezTo>
                  <a:pt x="51387" y="385984"/>
                  <a:pt x="77891" y="442778"/>
                  <a:pt x="120855" y="485682"/>
                </a:cubicBezTo>
                <a:cubicBezTo>
                  <a:pt x="163820" y="528586"/>
                  <a:pt x="220693" y="555131"/>
                  <a:pt x="281043" y="560301"/>
                </a:cubicBezTo>
                <a:lnTo>
                  <a:pt x="281043" y="459446"/>
                </a:lnTo>
                <a:cubicBezTo>
                  <a:pt x="281043" y="447022"/>
                  <a:pt x="291167" y="436913"/>
                  <a:pt x="303608" y="436913"/>
                </a:cubicBezTo>
                <a:cubicBezTo>
                  <a:pt x="316049" y="436913"/>
                  <a:pt x="326172" y="447022"/>
                  <a:pt x="326172" y="459446"/>
                </a:cubicBezTo>
                <a:lnTo>
                  <a:pt x="326172" y="560301"/>
                </a:lnTo>
                <a:cubicBezTo>
                  <a:pt x="386522" y="555131"/>
                  <a:pt x="443395" y="528586"/>
                  <a:pt x="486360" y="485682"/>
                </a:cubicBezTo>
                <a:cubicBezTo>
                  <a:pt x="529324" y="442778"/>
                  <a:pt x="555906" y="385984"/>
                  <a:pt x="561083" y="325717"/>
                </a:cubicBezTo>
                <a:lnTo>
                  <a:pt x="460087" y="325717"/>
                </a:lnTo>
                <a:cubicBezTo>
                  <a:pt x="447645" y="325717"/>
                  <a:pt x="437523" y="315608"/>
                  <a:pt x="437523" y="303185"/>
                </a:cubicBezTo>
                <a:cubicBezTo>
                  <a:pt x="437523" y="290761"/>
                  <a:pt x="447645" y="280652"/>
                  <a:pt x="460087" y="280652"/>
                </a:cubicBezTo>
                <a:lnTo>
                  <a:pt x="561083" y="280652"/>
                </a:lnTo>
                <a:cubicBezTo>
                  <a:pt x="555906" y="220385"/>
                  <a:pt x="529324" y="163591"/>
                  <a:pt x="486360" y="120687"/>
                </a:cubicBezTo>
                <a:cubicBezTo>
                  <a:pt x="443395" y="77783"/>
                  <a:pt x="386522" y="51315"/>
                  <a:pt x="326172" y="46068"/>
                </a:cubicBezTo>
                <a:lnTo>
                  <a:pt x="326172" y="146923"/>
                </a:lnTo>
                <a:cubicBezTo>
                  <a:pt x="326172" y="159424"/>
                  <a:pt x="316049" y="169533"/>
                  <a:pt x="303608" y="169533"/>
                </a:cubicBezTo>
                <a:cubicBezTo>
                  <a:pt x="291167" y="169533"/>
                  <a:pt x="281043" y="159424"/>
                  <a:pt x="281043" y="146923"/>
                </a:cubicBezTo>
                <a:close/>
                <a:moveTo>
                  <a:pt x="281617" y="45548"/>
                </a:moveTo>
                <a:lnTo>
                  <a:pt x="281617" y="146935"/>
                </a:lnTo>
                <a:cubicBezTo>
                  <a:pt x="281617" y="159126"/>
                  <a:pt x="291431" y="169002"/>
                  <a:pt x="303640" y="169002"/>
                </a:cubicBezTo>
                <a:cubicBezTo>
                  <a:pt x="315850" y="169002"/>
                  <a:pt x="325741" y="159126"/>
                  <a:pt x="325741" y="146935"/>
                </a:cubicBezTo>
                <a:lnTo>
                  <a:pt x="325741" y="45548"/>
                </a:lnTo>
                <a:cubicBezTo>
                  <a:pt x="451159" y="56119"/>
                  <a:pt x="551077" y="155963"/>
                  <a:pt x="561663" y="281192"/>
                </a:cubicBezTo>
                <a:lnTo>
                  <a:pt x="460123" y="281192"/>
                </a:lnTo>
                <a:cubicBezTo>
                  <a:pt x="447914" y="281192"/>
                  <a:pt x="438022" y="290991"/>
                  <a:pt x="438022" y="303182"/>
                </a:cubicBezTo>
                <a:cubicBezTo>
                  <a:pt x="438022" y="315373"/>
                  <a:pt x="447914" y="325250"/>
                  <a:pt x="460123" y="325250"/>
                </a:cubicBezTo>
                <a:lnTo>
                  <a:pt x="561663" y="325250"/>
                </a:lnTo>
                <a:cubicBezTo>
                  <a:pt x="551077" y="450478"/>
                  <a:pt x="451159" y="550245"/>
                  <a:pt x="325741" y="560815"/>
                </a:cubicBezTo>
                <a:lnTo>
                  <a:pt x="325741" y="459429"/>
                </a:lnTo>
                <a:cubicBezTo>
                  <a:pt x="325741" y="447238"/>
                  <a:pt x="315850" y="437361"/>
                  <a:pt x="303640" y="437361"/>
                </a:cubicBezTo>
                <a:cubicBezTo>
                  <a:pt x="291431" y="437361"/>
                  <a:pt x="281617" y="447238"/>
                  <a:pt x="281617" y="459429"/>
                </a:cubicBezTo>
                <a:lnTo>
                  <a:pt x="281617" y="560815"/>
                </a:lnTo>
                <a:cubicBezTo>
                  <a:pt x="156198" y="550245"/>
                  <a:pt x="56203" y="450478"/>
                  <a:pt x="45616" y="325250"/>
                </a:cubicBezTo>
                <a:lnTo>
                  <a:pt x="147157" y="325250"/>
                </a:lnTo>
                <a:cubicBezTo>
                  <a:pt x="159366" y="325250"/>
                  <a:pt x="169257" y="315373"/>
                  <a:pt x="169257" y="303182"/>
                </a:cubicBezTo>
                <a:cubicBezTo>
                  <a:pt x="169257" y="290991"/>
                  <a:pt x="159366" y="281192"/>
                  <a:pt x="147157" y="281192"/>
                </a:cubicBezTo>
                <a:lnTo>
                  <a:pt x="45616" y="281192"/>
                </a:lnTo>
                <a:cubicBezTo>
                  <a:pt x="56203" y="155963"/>
                  <a:pt x="156198" y="56119"/>
                  <a:pt x="281617" y="45548"/>
                </a:cubicBezTo>
                <a:close/>
                <a:moveTo>
                  <a:pt x="281508" y="44987"/>
                </a:moveTo>
                <a:cubicBezTo>
                  <a:pt x="220693" y="50158"/>
                  <a:pt x="163433" y="76780"/>
                  <a:pt x="120160" y="119993"/>
                </a:cubicBezTo>
                <a:cubicBezTo>
                  <a:pt x="76887" y="163205"/>
                  <a:pt x="50228" y="220385"/>
                  <a:pt x="45050" y="281115"/>
                </a:cubicBezTo>
                <a:lnTo>
                  <a:pt x="45050" y="281655"/>
                </a:lnTo>
                <a:lnTo>
                  <a:pt x="147128" y="281655"/>
                </a:lnTo>
                <a:cubicBezTo>
                  <a:pt x="159029" y="281655"/>
                  <a:pt x="168688" y="291301"/>
                  <a:pt x="168688" y="303185"/>
                </a:cubicBezTo>
                <a:cubicBezTo>
                  <a:pt x="168688" y="315068"/>
                  <a:pt x="159029" y="324714"/>
                  <a:pt x="147128" y="324714"/>
                </a:cubicBezTo>
                <a:lnTo>
                  <a:pt x="45050" y="324714"/>
                </a:lnTo>
                <a:lnTo>
                  <a:pt x="45050" y="325254"/>
                </a:lnTo>
                <a:cubicBezTo>
                  <a:pt x="50228" y="385984"/>
                  <a:pt x="76887" y="443241"/>
                  <a:pt x="120160" y="486454"/>
                </a:cubicBezTo>
                <a:cubicBezTo>
                  <a:pt x="163433" y="529666"/>
                  <a:pt x="220693" y="556289"/>
                  <a:pt x="281508" y="561382"/>
                </a:cubicBezTo>
                <a:lnTo>
                  <a:pt x="282048" y="561459"/>
                </a:lnTo>
                <a:lnTo>
                  <a:pt x="282048" y="459446"/>
                </a:lnTo>
                <a:cubicBezTo>
                  <a:pt x="282048" y="447562"/>
                  <a:pt x="291708" y="437916"/>
                  <a:pt x="303608" y="437916"/>
                </a:cubicBezTo>
                <a:cubicBezTo>
                  <a:pt x="315508" y="437916"/>
                  <a:pt x="325167" y="447562"/>
                  <a:pt x="325167" y="459446"/>
                </a:cubicBezTo>
                <a:lnTo>
                  <a:pt x="325167" y="561459"/>
                </a:lnTo>
                <a:lnTo>
                  <a:pt x="325708" y="561382"/>
                </a:lnTo>
                <a:cubicBezTo>
                  <a:pt x="386522" y="556289"/>
                  <a:pt x="443859" y="529666"/>
                  <a:pt x="487132" y="486454"/>
                </a:cubicBezTo>
                <a:cubicBezTo>
                  <a:pt x="530405" y="443241"/>
                  <a:pt x="557065" y="385984"/>
                  <a:pt x="562165" y="325254"/>
                </a:cubicBezTo>
                <a:lnTo>
                  <a:pt x="562242" y="324714"/>
                </a:lnTo>
                <a:lnTo>
                  <a:pt x="460087" y="324714"/>
                </a:lnTo>
                <a:cubicBezTo>
                  <a:pt x="448186" y="324714"/>
                  <a:pt x="438527" y="315068"/>
                  <a:pt x="438527" y="303185"/>
                </a:cubicBezTo>
                <a:cubicBezTo>
                  <a:pt x="438527" y="291301"/>
                  <a:pt x="448186" y="281655"/>
                  <a:pt x="460087" y="281655"/>
                </a:cubicBezTo>
                <a:lnTo>
                  <a:pt x="562242" y="281655"/>
                </a:lnTo>
                <a:lnTo>
                  <a:pt x="562165" y="281115"/>
                </a:lnTo>
                <a:cubicBezTo>
                  <a:pt x="557065" y="220385"/>
                  <a:pt x="530405" y="163205"/>
                  <a:pt x="487132" y="119993"/>
                </a:cubicBezTo>
                <a:cubicBezTo>
                  <a:pt x="443859" y="76780"/>
                  <a:pt x="386522" y="50158"/>
                  <a:pt x="325708" y="44987"/>
                </a:cubicBezTo>
                <a:lnTo>
                  <a:pt x="325167" y="44987"/>
                </a:lnTo>
                <a:lnTo>
                  <a:pt x="325167" y="146923"/>
                </a:lnTo>
                <a:cubicBezTo>
                  <a:pt x="325167" y="158807"/>
                  <a:pt x="315508" y="168453"/>
                  <a:pt x="303608" y="168453"/>
                </a:cubicBezTo>
                <a:cubicBezTo>
                  <a:pt x="291708" y="168453"/>
                  <a:pt x="282048" y="158807"/>
                  <a:pt x="282048" y="146923"/>
                </a:cubicBezTo>
                <a:lnTo>
                  <a:pt x="282048" y="44987"/>
                </a:lnTo>
                <a:close/>
                <a:moveTo>
                  <a:pt x="303608" y="1003"/>
                </a:moveTo>
                <a:cubicBezTo>
                  <a:pt x="344485" y="1003"/>
                  <a:pt x="384049" y="9028"/>
                  <a:pt x="421450" y="24770"/>
                </a:cubicBezTo>
                <a:cubicBezTo>
                  <a:pt x="457459" y="40049"/>
                  <a:pt x="489837" y="61810"/>
                  <a:pt x="517578" y="89512"/>
                </a:cubicBezTo>
                <a:cubicBezTo>
                  <a:pt x="545396" y="117292"/>
                  <a:pt x="567188" y="149547"/>
                  <a:pt x="582410" y="185584"/>
                </a:cubicBezTo>
                <a:cubicBezTo>
                  <a:pt x="598174" y="222855"/>
                  <a:pt x="606211" y="262441"/>
                  <a:pt x="606211" y="303185"/>
                </a:cubicBezTo>
                <a:cubicBezTo>
                  <a:pt x="606211" y="344005"/>
                  <a:pt x="598174" y="383514"/>
                  <a:pt x="582410" y="420863"/>
                </a:cubicBezTo>
                <a:cubicBezTo>
                  <a:pt x="567188" y="456822"/>
                  <a:pt x="545396" y="489154"/>
                  <a:pt x="517578" y="516857"/>
                </a:cubicBezTo>
                <a:cubicBezTo>
                  <a:pt x="489837" y="544637"/>
                  <a:pt x="457459" y="566397"/>
                  <a:pt x="421450" y="581599"/>
                </a:cubicBezTo>
                <a:cubicBezTo>
                  <a:pt x="384049" y="597341"/>
                  <a:pt x="344485" y="605366"/>
                  <a:pt x="303608" y="605366"/>
                </a:cubicBezTo>
                <a:cubicBezTo>
                  <a:pt x="262807" y="605366"/>
                  <a:pt x="223166" y="597341"/>
                  <a:pt x="185842" y="581599"/>
                </a:cubicBezTo>
                <a:cubicBezTo>
                  <a:pt x="149756" y="566397"/>
                  <a:pt x="117455" y="544637"/>
                  <a:pt x="89637" y="516857"/>
                </a:cubicBezTo>
                <a:cubicBezTo>
                  <a:pt x="61896" y="489154"/>
                  <a:pt x="40105" y="456822"/>
                  <a:pt x="24805" y="420863"/>
                </a:cubicBezTo>
                <a:cubicBezTo>
                  <a:pt x="9041" y="383514"/>
                  <a:pt x="1004" y="344005"/>
                  <a:pt x="1004" y="303185"/>
                </a:cubicBezTo>
                <a:cubicBezTo>
                  <a:pt x="1004" y="262441"/>
                  <a:pt x="9041" y="222855"/>
                  <a:pt x="24805" y="185584"/>
                </a:cubicBezTo>
                <a:cubicBezTo>
                  <a:pt x="40105" y="149547"/>
                  <a:pt x="61896" y="117292"/>
                  <a:pt x="89637" y="89512"/>
                </a:cubicBezTo>
                <a:cubicBezTo>
                  <a:pt x="117455" y="61810"/>
                  <a:pt x="149756" y="40049"/>
                  <a:pt x="185842" y="24770"/>
                </a:cubicBezTo>
                <a:cubicBezTo>
                  <a:pt x="223166" y="9028"/>
                  <a:pt x="262807" y="1003"/>
                  <a:pt x="303608" y="1003"/>
                </a:cubicBezTo>
                <a:close/>
                <a:moveTo>
                  <a:pt x="303640" y="565"/>
                </a:moveTo>
                <a:cubicBezTo>
                  <a:pt x="262761" y="565"/>
                  <a:pt x="223041" y="8512"/>
                  <a:pt x="185640" y="24330"/>
                </a:cubicBezTo>
                <a:cubicBezTo>
                  <a:pt x="149552" y="39607"/>
                  <a:pt x="117174" y="61366"/>
                  <a:pt x="89354" y="89220"/>
                </a:cubicBezTo>
                <a:cubicBezTo>
                  <a:pt x="61458" y="116997"/>
                  <a:pt x="39666" y="149327"/>
                  <a:pt x="24366" y="185360"/>
                </a:cubicBezTo>
                <a:cubicBezTo>
                  <a:pt x="8524" y="222705"/>
                  <a:pt x="565" y="262365"/>
                  <a:pt x="565" y="303182"/>
                </a:cubicBezTo>
                <a:cubicBezTo>
                  <a:pt x="565" y="343999"/>
                  <a:pt x="8524" y="383659"/>
                  <a:pt x="24366" y="421004"/>
                </a:cubicBezTo>
                <a:cubicBezTo>
                  <a:pt x="39666" y="457037"/>
                  <a:pt x="61458" y="489444"/>
                  <a:pt x="89354" y="517221"/>
                </a:cubicBezTo>
                <a:cubicBezTo>
                  <a:pt x="117174" y="544998"/>
                  <a:pt x="149552" y="566834"/>
                  <a:pt x="185640" y="582034"/>
                </a:cubicBezTo>
                <a:cubicBezTo>
                  <a:pt x="223041" y="597852"/>
                  <a:pt x="262761" y="605876"/>
                  <a:pt x="303640" y="605876"/>
                </a:cubicBezTo>
                <a:cubicBezTo>
                  <a:pt x="344596" y="605876"/>
                  <a:pt x="384239" y="597852"/>
                  <a:pt x="421640" y="582034"/>
                </a:cubicBezTo>
                <a:cubicBezTo>
                  <a:pt x="457728" y="566834"/>
                  <a:pt x="490183" y="544998"/>
                  <a:pt x="518003" y="517221"/>
                </a:cubicBezTo>
                <a:cubicBezTo>
                  <a:pt x="545822" y="489444"/>
                  <a:pt x="567691" y="457037"/>
                  <a:pt x="582914" y="421004"/>
                </a:cubicBezTo>
                <a:cubicBezTo>
                  <a:pt x="598756" y="383659"/>
                  <a:pt x="606792" y="343999"/>
                  <a:pt x="606792" y="303182"/>
                </a:cubicBezTo>
                <a:cubicBezTo>
                  <a:pt x="606792" y="262365"/>
                  <a:pt x="598756" y="222705"/>
                  <a:pt x="582914" y="185360"/>
                </a:cubicBezTo>
                <a:cubicBezTo>
                  <a:pt x="567691" y="149327"/>
                  <a:pt x="545822" y="116997"/>
                  <a:pt x="518003" y="89220"/>
                </a:cubicBezTo>
                <a:cubicBezTo>
                  <a:pt x="490183" y="61366"/>
                  <a:pt x="457728" y="39607"/>
                  <a:pt x="421640" y="24330"/>
                </a:cubicBezTo>
                <a:cubicBezTo>
                  <a:pt x="384239" y="8512"/>
                  <a:pt x="344519" y="565"/>
                  <a:pt x="303640" y="565"/>
                </a:cubicBezTo>
                <a:close/>
                <a:moveTo>
                  <a:pt x="303608" y="0"/>
                </a:moveTo>
                <a:cubicBezTo>
                  <a:pt x="344563" y="0"/>
                  <a:pt x="384359" y="8025"/>
                  <a:pt x="421836" y="23844"/>
                </a:cubicBezTo>
                <a:cubicBezTo>
                  <a:pt x="458000" y="39123"/>
                  <a:pt x="490455" y="60961"/>
                  <a:pt x="518351" y="88818"/>
                </a:cubicBezTo>
                <a:cubicBezTo>
                  <a:pt x="546169" y="116674"/>
                  <a:pt x="568038" y="149084"/>
                  <a:pt x="583338" y="185198"/>
                </a:cubicBezTo>
                <a:cubicBezTo>
                  <a:pt x="599179" y="222546"/>
                  <a:pt x="607215" y="262286"/>
                  <a:pt x="607215" y="303185"/>
                </a:cubicBezTo>
                <a:cubicBezTo>
                  <a:pt x="607215" y="344083"/>
                  <a:pt x="599179" y="383823"/>
                  <a:pt x="583338" y="421248"/>
                </a:cubicBezTo>
                <a:cubicBezTo>
                  <a:pt x="568038" y="457362"/>
                  <a:pt x="546169" y="489772"/>
                  <a:pt x="518351" y="517629"/>
                </a:cubicBezTo>
                <a:cubicBezTo>
                  <a:pt x="490455" y="545408"/>
                  <a:pt x="458000" y="567246"/>
                  <a:pt x="421836" y="582525"/>
                </a:cubicBezTo>
                <a:cubicBezTo>
                  <a:pt x="384359" y="598344"/>
                  <a:pt x="344563" y="606369"/>
                  <a:pt x="303608" y="606369"/>
                </a:cubicBezTo>
                <a:cubicBezTo>
                  <a:pt x="262652" y="606369"/>
                  <a:pt x="222856" y="598344"/>
                  <a:pt x="185456" y="582525"/>
                </a:cubicBezTo>
                <a:cubicBezTo>
                  <a:pt x="149292" y="567246"/>
                  <a:pt x="116760" y="545408"/>
                  <a:pt x="88942" y="517629"/>
                </a:cubicBezTo>
                <a:cubicBezTo>
                  <a:pt x="61046" y="489772"/>
                  <a:pt x="39177" y="457362"/>
                  <a:pt x="23877" y="421248"/>
                </a:cubicBezTo>
                <a:cubicBezTo>
                  <a:pt x="8036" y="383823"/>
                  <a:pt x="0" y="344083"/>
                  <a:pt x="0" y="303185"/>
                </a:cubicBezTo>
                <a:cubicBezTo>
                  <a:pt x="0" y="262286"/>
                  <a:pt x="8036" y="222546"/>
                  <a:pt x="23877" y="185198"/>
                </a:cubicBezTo>
                <a:cubicBezTo>
                  <a:pt x="39177" y="149084"/>
                  <a:pt x="61046" y="116674"/>
                  <a:pt x="88942" y="88818"/>
                </a:cubicBezTo>
                <a:cubicBezTo>
                  <a:pt x="116760" y="60961"/>
                  <a:pt x="149292" y="39123"/>
                  <a:pt x="185456" y="23844"/>
                </a:cubicBezTo>
                <a:cubicBezTo>
                  <a:pt x="222856" y="8025"/>
                  <a:pt x="262652" y="0"/>
                  <a:pt x="303608"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dirty="0"/>
          </a:p>
        </p:txBody>
      </p:sp>
      <p:sp>
        <p:nvSpPr>
          <p:cNvPr id="109" name="文本框 108">
            <a:extLst>
              <a:ext uri="{FF2B5EF4-FFF2-40B4-BE49-F238E27FC236}">
                <a16:creationId xmlns:a16="http://schemas.microsoft.com/office/drawing/2014/main" id="{2862802E-77E6-4A59-BD6F-861FBDD4866B}"/>
              </a:ext>
            </a:extLst>
          </p:cNvPr>
          <p:cNvSpPr txBox="1"/>
          <p:nvPr/>
        </p:nvSpPr>
        <p:spPr>
          <a:xfrm>
            <a:off x="373082" y="2808021"/>
            <a:ext cx="1660612" cy="338554"/>
          </a:xfrm>
          <a:prstGeom prst="rect">
            <a:avLst/>
          </a:prstGeom>
          <a:noFill/>
        </p:spPr>
        <p:txBody>
          <a:bodyPr wrap="square" rtlCol="0">
            <a:spAutoFit/>
          </a:bodyPr>
          <a:lstStyle/>
          <a:p>
            <a:r>
              <a:rPr lang="zh-CN" altLang="en-US" sz="1600" dirty="0">
                <a:solidFill>
                  <a:schemeClr val="bg1"/>
                </a:solidFill>
                <a:latin typeface="思源黑体 CN Regular" panose="020B0500000000000000" pitchFamily="34" charset="-122"/>
                <a:ea typeface="思源黑体 CN Regular" panose="020B0500000000000000" pitchFamily="34" charset="-122"/>
              </a:rPr>
              <a:t>研究目标和内容</a:t>
            </a:r>
          </a:p>
        </p:txBody>
      </p:sp>
      <p:sp>
        <p:nvSpPr>
          <p:cNvPr id="110" name="任意矩形：003">
            <a:extLst>
              <a:ext uri="{FF2B5EF4-FFF2-40B4-BE49-F238E27FC236}">
                <a16:creationId xmlns:a16="http://schemas.microsoft.com/office/drawing/2014/main" id="{66376D77-8264-402B-9F40-7560311DEDD4}"/>
              </a:ext>
            </a:extLst>
          </p:cNvPr>
          <p:cNvSpPr/>
          <p:nvPr/>
        </p:nvSpPr>
        <p:spPr>
          <a:xfrm rot="10800000" flipH="1" flipV="1">
            <a:off x="145020" y="3571293"/>
            <a:ext cx="199667" cy="199477"/>
          </a:xfrm>
          <a:custGeom>
            <a:avLst/>
            <a:gdLst>
              <a:gd name="connsiteX0" fmla="*/ 320200 w 604886"/>
              <a:gd name="connsiteY0" fmla="*/ 166778 h 604313"/>
              <a:gd name="connsiteX1" fmla="*/ 338200 w 604886"/>
              <a:gd name="connsiteY1" fmla="*/ 168153 h 604313"/>
              <a:gd name="connsiteX2" fmla="*/ 394904 w 604886"/>
              <a:gd name="connsiteY2" fmla="*/ 210003 h 604313"/>
              <a:gd name="connsiteX3" fmla="*/ 448997 w 604886"/>
              <a:gd name="connsiteY3" fmla="*/ 297466 h 604313"/>
              <a:gd name="connsiteX4" fmla="*/ 433479 w 604886"/>
              <a:gd name="connsiteY4" fmla="*/ 381599 h 604313"/>
              <a:gd name="connsiteX5" fmla="*/ 230304 w 604886"/>
              <a:gd name="connsiteY5" fmla="*/ 584474 h 604313"/>
              <a:gd name="connsiteX6" fmla="*/ 177952 w 604886"/>
              <a:gd name="connsiteY6" fmla="*/ 604313 h 604313"/>
              <a:gd name="connsiteX7" fmla="*/ 58454 w 604886"/>
              <a:gd name="connsiteY7" fmla="*/ 545956 h 604313"/>
              <a:gd name="connsiteX8" fmla="*/ 19733 w 604886"/>
              <a:gd name="connsiteY8" fmla="*/ 374359 h 604313"/>
              <a:gd name="connsiteX9" fmla="*/ 93549 w 604886"/>
              <a:gd name="connsiteY9" fmla="*/ 300652 h 604313"/>
              <a:gd name="connsiteX10" fmla="*/ 127049 w 604886"/>
              <a:gd name="connsiteY10" fmla="*/ 300652 h 604313"/>
              <a:gd name="connsiteX11" fmla="*/ 127049 w 604886"/>
              <a:gd name="connsiteY11" fmla="*/ 333958 h 604313"/>
              <a:gd name="connsiteX12" fmla="*/ 53233 w 604886"/>
              <a:gd name="connsiteY12" fmla="*/ 407665 h 604313"/>
              <a:gd name="connsiteX13" fmla="*/ 91809 w 604886"/>
              <a:gd name="connsiteY13" fmla="*/ 512650 h 604313"/>
              <a:gd name="connsiteX14" fmla="*/ 196950 w 604886"/>
              <a:gd name="connsiteY14" fmla="*/ 551169 h 604313"/>
              <a:gd name="connsiteX15" fmla="*/ 400124 w 604886"/>
              <a:gd name="connsiteY15" fmla="*/ 348294 h 604313"/>
              <a:gd name="connsiteX16" fmla="*/ 403460 w 604886"/>
              <a:gd name="connsiteY16" fmla="*/ 310065 h 604313"/>
              <a:gd name="connsiteX17" fmla="*/ 361549 w 604886"/>
              <a:gd name="connsiteY17" fmla="*/ 243308 h 604313"/>
              <a:gd name="connsiteX18" fmla="*/ 316737 w 604886"/>
              <a:gd name="connsiteY18" fmla="*/ 210147 h 604313"/>
              <a:gd name="connsiteX19" fmla="*/ 306441 w 604886"/>
              <a:gd name="connsiteY19" fmla="*/ 178435 h 604313"/>
              <a:gd name="connsiteX20" fmla="*/ 320200 w 604886"/>
              <a:gd name="connsiteY20" fmla="*/ 166778 h 604313"/>
              <a:gd name="connsiteX21" fmla="*/ 411085 w 604886"/>
              <a:gd name="connsiteY21" fmla="*/ 1388 h 604313"/>
              <a:gd name="connsiteX22" fmla="*/ 458862 w 604886"/>
              <a:gd name="connsiteY22" fmla="*/ 4683 h 604313"/>
              <a:gd name="connsiteX23" fmla="*/ 546442 w 604886"/>
              <a:gd name="connsiteY23" fmla="*/ 58698 h 604313"/>
              <a:gd name="connsiteX24" fmla="*/ 585156 w 604886"/>
              <a:gd name="connsiteY24" fmla="*/ 230302 h 604313"/>
              <a:gd name="connsiteX25" fmla="*/ 511352 w 604886"/>
              <a:gd name="connsiteY25" fmla="*/ 304012 h 604313"/>
              <a:gd name="connsiteX26" fmla="*/ 477857 w 604886"/>
              <a:gd name="connsiteY26" fmla="*/ 304012 h 604313"/>
              <a:gd name="connsiteX27" fmla="*/ 477857 w 604886"/>
              <a:gd name="connsiteY27" fmla="*/ 270705 h 604313"/>
              <a:gd name="connsiteX28" fmla="*/ 551662 w 604886"/>
              <a:gd name="connsiteY28" fmla="*/ 196995 h 604313"/>
              <a:gd name="connsiteX29" fmla="*/ 513092 w 604886"/>
              <a:gd name="connsiteY29" fmla="*/ 92005 h 604313"/>
              <a:gd name="connsiteX30" fmla="*/ 446247 w 604886"/>
              <a:gd name="connsiteY30" fmla="*/ 50154 h 604313"/>
              <a:gd name="connsiteX31" fmla="*/ 407968 w 604886"/>
              <a:gd name="connsiteY31" fmla="*/ 53485 h 604313"/>
              <a:gd name="connsiteX32" fmla="*/ 204825 w 604886"/>
              <a:gd name="connsiteY32" fmla="*/ 256368 h 604313"/>
              <a:gd name="connsiteX33" fmla="*/ 201490 w 604886"/>
              <a:gd name="connsiteY33" fmla="*/ 294599 h 604313"/>
              <a:gd name="connsiteX34" fmla="*/ 243394 w 604886"/>
              <a:gd name="connsiteY34" fmla="*/ 361358 h 604313"/>
              <a:gd name="connsiteX35" fmla="*/ 288199 w 604886"/>
              <a:gd name="connsiteY35" fmla="*/ 394520 h 604313"/>
              <a:gd name="connsiteX36" fmla="*/ 298494 w 604886"/>
              <a:gd name="connsiteY36" fmla="*/ 426234 h 604313"/>
              <a:gd name="connsiteX37" fmla="*/ 277469 w 604886"/>
              <a:gd name="connsiteY37" fmla="*/ 438978 h 604313"/>
              <a:gd name="connsiteX38" fmla="*/ 266739 w 604886"/>
              <a:gd name="connsiteY38" fmla="*/ 436516 h 604313"/>
              <a:gd name="connsiteX39" fmla="*/ 210044 w 604886"/>
              <a:gd name="connsiteY39" fmla="*/ 394665 h 604313"/>
              <a:gd name="connsiteX40" fmla="*/ 155960 w 604886"/>
              <a:gd name="connsiteY40" fmla="*/ 307198 h 604313"/>
              <a:gd name="connsiteX41" fmla="*/ 171330 w 604886"/>
              <a:gd name="connsiteY41" fmla="*/ 223061 h 604313"/>
              <a:gd name="connsiteX42" fmla="*/ 374618 w 604886"/>
              <a:gd name="connsiteY42" fmla="*/ 20033 h 604313"/>
              <a:gd name="connsiteX43" fmla="*/ 411085 w 604886"/>
              <a:gd name="connsiteY43" fmla="*/ 1388 h 6043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Lst>
            <a:rect l="l" t="t" r="r" b="b"/>
            <a:pathLst>
              <a:path w="604886" h="604313">
                <a:moveTo>
                  <a:pt x="320200" y="166778"/>
                </a:moveTo>
                <a:cubicBezTo>
                  <a:pt x="325946" y="164931"/>
                  <a:pt x="332399" y="165257"/>
                  <a:pt x="338200" y="168153"/>
                </a:cubicBezTo>
                <a:cubicBezTo>
                  <a:pt x="358068" y="178290"/>
                  <a:pt x="377646" y="192771"/>
                  <a:pt x="394904" y="210003"/>
                </a:cubicBezTo>
                <a:cubicBezTo>
                  <a:pt x="421443" y="236358"/>
                  <a:pt x="440585" y="267491"/>
                  <a:pt x="448997" y="297466"/>
                </a:cubicBezTo>
                <a:cubicBezTo>
                  <a:pt x="458568" y="332075"/>
                  <a:pt x="453202" y="362050"/>
                  <a:pt x="433479" y="381599"/>
                </a:cubicBezTo>
                <a:lnTo>
                  <a:pt x="230304" y="584474"/>
                </a:lnTo>
                <a:cubicBezTo>
                  <a:pt x="216962" y="597942"/>
                  <a:pt x="198690" y="604313"/>
                  <a:pt x="177952" y="604313"/>
                </a:cubicBezTo>
                <a:cubicBezTo>
                  <a:pt x="140971" y="604313"/>
                  <a:pt x="96305" y="583750"/>
                  <a:pt x="58454" y="545956"/>
                </a:cubicBezTo>
                <a:cubicBezTo>
                  <a:pt x="-570" y="487019"/>
                  <a:pt x="-17537" y="411575"/>
                  <a:pt x="19733" y="374359"/>
                </a:cubicBezTo>
                <a:lnTo>
                  <a:pt x="93549" y="300652"/>
                </a:lnTo>
                <a:cubicBezTo>
                  <a:pt x="102831" y="291384"/>
                  <a:pt x="117768" y="291384"/>
                  <a:pt x="127049" y="300652"/>
                </a:cubicBezTo>
                <a:cubicBezTo>
                  <a:pt x="136186" y="309775"/>
                  <a:pt x="136186" y="324690"/>
                  <a:pt x="127049" y="333958"/>
                </a:cubicBezTo>
                <a:lnTo>
                  <a:pt x="53233" y="407665"/>
                </a:lnTo>
                <a:cubicBezTo>
                  <a:pt x="37426" y="423304"/>
                  <a:pt x="50623" y="471525"/>
                  <a:pt x="91809" y="512650"/>
                </a:cubicBezTo>
                <a:cubicBezTo>
                  <a:pt x="132995" y="553631"/>
                  <a:pt x="181287" y="566808"/>
                  <a:pt x="196950" y="551169"/>
                </a:cubicBezTo>
                <a:lnTo>
                  <a:pt x="400124" y="348294"/>
                </a:lnTo>
                <a:cubicBezTo>
                  <a:pt x="407085" y="341343"/>
                  <a:pt x="408246" y="327441"/>
                  <a:pt x="403460" y="310065"/>
                </a:cubicBezTo>
                <a:cubicBezTo>
                  <a:pt x="397369" y="288199"/>
                  <a:pt x="381997" y="263871"/>
                  <a:pt x="361549" y="243308"/>
                </a:cubicBezTo>
                <a:cubicBezTo>
                  <a:pt x="347627" y="229552"/>
                  <a:pt x="332254" y="218112"/>
                  <a:pt x="316737" y="210147"/>
                </a:cubicBezTo>
                <a:cubicBezTo>
                  <a:pt x="305135" y="204355"/>
                  <a:pt x="300495" y="190019"/>
                  <a:pt x="306441" y="178435"/>
                </a:cubicBezTo>
                <a:cubicBezTo>
                  <a:pt x="309414" y="172642"/>
                  <a:pt x="314453" y="168624"/>
                  <a:pt x="320200" y="166778"/>
                </a:cubicBezTo>
                <a:close/>
                <a:moveTo>
                  <a:pt x="411085" y="1388"/>
                </a:moveTo>
                <a:cubicBezTo>
                  <a:pt x="425368" y="-1219"/>
                  <a:pt x="441535" y="-169"/>
                  <a:pt x="458862" y="4683"/>
                </a:cubicBezTo>
                <a:cubicBezTo>
                  <a:pt x="488877" y="13082"/>
                  <a:pt x="519907" y="32197"/>
                  <a:pt x="546442" y="58698"/>
                </a:cubicBezTo>
                <a:cubicBezTo>
                  <a:pt x="605456" y="117637"/>
                  <a:pt x="622421" y="192940"/>
                  <a:pt x="585156" y="230302"/>
                </a:cubicBezTo>
                <a:lnTo>
                  <a:pt x="511352" y="304012"/>
                </a:lnTo>
                <a:cubicBezTo>
                  <a:pt x="502072" y="313135"/>
                  <a:pt x="487137" y="313135"/>
                  <a:pt x="477857" y="304012"/>
                </a:cubicBezTo>
                <a:cubicBezTo>
                  <a:pt x="468722" y="294744"/>
                  <a:pt x="468722" y="279828"/>
                  <a:pt x="477857" y="270705"/>
                </a:cubicBezTo>
                <a:lnTo>
                  <a:pt x="551662" y="196995"/>
                </a:lnTo>
                <a:cubicBezTo>
                  <a:pt x="567321" y="181355"/>
                  <a:pt x="554127" y="133132"/>
                  <a:pt x="513092" y="92005"/>
                </a:cubicBezTo>
                <a:cubicBezTo>
                  <a:pt x="492502" y="71586"/>
                  <a:pt x="468142" y="56236"/>
                  <a:pt x="446247" y="50154"/>
                </a:cubicBezTo>
                <a:cubicBezTo>
                  <a:pt x="428848" y="45230"/>
                  <a:pt x="414928" y="46534"/>
                  <a:pt x="407968" y="53485"/>
                </a:cubicBezTo>
                <a:lnTo>
                  <a:pt x="204825" y="256368"/>
                </a:lnTo>
                <a:cubicBezTo>
                  <a:pt x="197865" y="263319"/>
                  <a:pt x="196560" y="277221"/>
                  <a:pt x="201490" y="294599"/>
                </a:cubicBezTo>
                <a:cubicBezTo>
                  <a:pt x="207579" y="316466"/>
                  <a:pt x="222949" y="340795"/>
                  <a:pt x="243394" y="361358"/>
                </a:cubicBezTo>
                <a:cubicBezTo>
                  <a:pt x="257169" y="375115"/>
                  <a:pt x="272684" y="386556"/>
                  <a:pt x="288199" y="394520"/>
                </a:cubicBezTo>
                <a:cubicBezTo>
                  <a:pt x="299799" y="400313"/>
                  <a:pt x="304439" y="414505"/>
                  <a:pt x="298494" y="426234"/>
                </a:cubicBezTo>
                <a:cubicBezTo>
                  <a:pt x="294289" y="434344"/>
                  <a:pt x="286024" y="438978"/>
                  <a:pt x="277469" y="438978"/>
                </a:cubicBezTo>
                <a:cubicBezTo>
                  <a:pt x="273844" y="438978"/>
                  <a:pt x="270219" y="438254"/>
                  <a:pt x="266739" y="436516"/>
                </a:cubicBezTo>
                <a:cubicBezTo>
                  <a:pt x="246874" y="426379"/>
                  <a:pt x="227299" y="411898"/>
                  <a:pt x="210044" y="394665"/>
                </a:cubicBezTo>
                <a:cubicBezTo>
                  <a:pt x="183510" y="368164"/>
                  <a:pt x="164370" y="337174"/>
                  <a:pt x="155960" y="307198"/>
                </a:cubicBezTo>
                <a:cubicBezTo>
                  <a:pt x="146245" y="272587"/>
                  <a:pt x="151755" y="242611"/>
                  <a:pt x="171330" y="223061"/>
                </a:cubicBezTo>
                <a:lnTo>
                  <a:pt x="374618" y="20033"/>
                </a:lnTo>
                <a:cubicBezTo>
                  <a:pt x="384406" y="10258"/>
                  <a:pt x="396803" y="3995"/>
                  <a:pt x="411085" y="1388"/>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111" name="文本框 110">
            <a:extLst>
              <a:ext uri="{FF2B5EF4-FFF2-40B4-BE49-F238E27FC236}">
                <a16:creationId xmlns:a16="http://schemas.microsoft.com/office/drawing/2014/main" id="{0259BB2A-5558-45F2-ABEB-344C801C9243}"/>
              </a:ext>
            </a:extLst>
          </p:cNvPr>
          <p:cNvSpPr txBox="1"/>
          <p:nvPr/>
        </p:nvSpPr>
        <p:spPr>
          <a:xfrm>
            <a:off x="373082" y="3517143"/>
            <a:ext cx="1660612" cy="338554"/>
          </a:xfrm>
          <a:prstGeom prst="rect">
            <a:avLst/>
          </a:prstGeom>
          <a:noFill/>
        </p:spPr>
        <p:txBody>
          <a:bodyPr wrap="square" rtlCol="0">
            <a:spAutoFit/>
          </a:bodyPr>
          <a:lstStyle>
            <a:defPPr>
              <a:defRPr lang="zh-CN"/>
            </a:defPPr>
            <a:lvl1pPr>
              <a:defRPr sz="1600">
                <a:solidFill>
                  <a:schemeClr val="bg1"/>
                </a:solidFill>
                <a:latin typeface="思源黑体 CN Regular" panose="020B0500000000000000" pitchFamily="34" charset="-122"/>
                <a:ea typeface="思源黑体 CN Regular" panose="020B0500000000000000" pitchFamily="34" charset="-122"/>
              </a:defRPr>
            </a:lvl1pPr>
          </a:lstStyle>
          <a:p>
            <a:r>
              <a:rPr lang="zh-CN" altLang="en-US" dirty="0"/>
              <a:t>研究方法与思路</a:t>
            </a:r>
          </a:p>
        </p:txBody>
      </p:sp>
      <p:sp>
        <p:nvSpPr>
          <p:cNvPr id="112" name="文本框 111">
            <a:extLst>
              <a:ext uri="{FF2B5EF4-FFF2-40B4-BE49-F238E27FC236}">
                <a16:creationId xmlns:a16="http://schemas.microsoft.com/office/drawing/2014/main" id="{B7E91DE3-C267-49DC-8B11-9FE1C84E49B8}"/>
              </a:ext>
            </a:extLst>
          </p:cNvPr>
          <p:cNvSpPr txBox="1"/>
          <p:nvPr/>
        </p:nvSpPr>
        <p:spPr>
          <a:xfrm>
            <a:off x="373082" y="4226265"/>
            <a:ext cx="1660612" cy="338554"/>
          </a:xfrm>
          <a:prstGeom prst="rect">
            <a:avLst/>
          </a:prstGeom>
          <a:noFill/>
        </p:spPr>
        <p:txBody>
          <a:bodyPr wrap="square" rtlCol="0">
            <a:spAutoFit/>
          </a:bodyPr>
          <a:lstStyle>
            <a:defPPr>
              <a:defRPr lang="zh-CN"/>
            </a:defPPr>
            <a:lvl1pPr>
              <a:defRPr sz="1600">
                <a:solidFill>
                  <a:schemeClr val="bg1"/>
                </a:solidFill>
                <a:latin typeface="思源黑体 CN Regular" panose="020B0500000000000000" pitchFamily="34" charset="-122"/>
                <a:ea typeface="思源黑体 CN Regular" panose="020B0500000000000000" pitchFamily="34" charset="-122"/>
              </a:defRPr>
            </a:lvl1pPr>
          </a:lstStyle>
          <a:p>
            <a:r>
              <a:rPr lang="zh-CN" altLang="en-US" dirty="0"/>
              <a:t>关键技术与创新</a:t>
            </a:r>
          </a:p>
        </p:txBody>
      </p:sp>
      <p:sp>
        <p:nvSpPr>
          <p:cNvPr id="113" name="任意矩形：004">
            <a:extLst>
              <a:ext uri="{FF2B5EF4-FFF2-40B4-BE49-F238E27FC236}">
                <a16:creationId xmlns:a16="http://schemas.microsoft.com/office/drawing/2014/main" id="{E5FB78B8-0003-46B9-87A8-D3FF90EDBF44}"/>
              </a:ext>
            </a:extLst>
          </p:cNvPr>
          <p:cNvSpPr/>
          <p:nvPr/>
        </p:nvSpPr>
        <p:spPr>
          <a:xfrm rot="20700000">
            <a:off x="101744" y="4285500"/>
            <a:ext cx="251496" cy="189307"/>
          </a:xfrm>
          <a:custGeom>
            <a:avLst/>
            <a:gdLst>
              <a:gd name="T0" fmla="*/ 6845 w 7011"/>
              <a:gd name="T1" fmla="*/ 1345 h 5286"/>
              <a:gd name="T2" fmla="*/ 5180 w 7011"/>
              <a:gd name="T3" fmla="*/ 598 h 5286"/>
              <a:gd name="T4" fmla="*/ 5179 w 7011"/>
              <a:gd name="T5" fmla="*/ 598 h 5286"/>
              <a:gd name="T6" fmla="*/ 3505 w 7011"/>
              <a:gd name="T7" fmla="*/ 0 h 5286"/>
              <a:gd name="T8" fmla="*/ 907 w 7011"/>
              <a:gd name="T9" fmla="*/ 2166 h 5286"/>
              <a:gd name="T10" fmla="*/ 167 w 7011"/>
              <a:gd name="T11" fmla="*/ 3741 h 5286"/>
              <a:gd name="T12" fmla="*/ 1605 w 7011"/>
              <a:gd name="T13" fmla="*/ 4477 h 5286"/>
              <a:gd name="T14" fmla="*/ 3505 w 7011"/>
              <a:gd name="T15" fmla="*/ 5286 h 5286"/>
              <a:gd name="T16" fmla="*/ 6136 w 7011"/>
              <a:gd name="T17" fmla="*/ 2888 h 5286"/>
              <a:gd name="T18" fmla="*/ 6845 w 7011"/>
              <a:gd name="T19" fmla="*/ 1345 h 5286"/>
              <a:gd name="T20" fmla="*/ 521 w 7011"/>
              <a:gd name="T21" fmla="*/ 3613 h 5286"/>
              <a:gd name="T22" fmla="*/ 865 w 7011"/>
              <a:gd name="T23" fmla="*/ 2729 h 5286"/>
              <a:gd name="T24" fmla="*/ 1279 w 7011"/>
              <a:gd name="T25" fmla="*/ 4061 h 5286"/>
              <a:gd name="T26" fmla="*/ 521 w 7011"/>
              <a:gd name="T27" fmla="*/ 3613 h 5286"/>
              <a:gd name="T28" fmla="*/ 3507 w 7011"/>
              <a:gd name="T29" fmla="*/ 4909 h 5286"/>
              <a:gd name="T30" fmla="*/ 2171 w 7011"/>
              <a:gd name="T31" fmla="*/ 4472 h 5286"/>
              <a:gd name="T32" fmla="*/ 4051 w 7011"/>
              <a:gd name="T33" fmla="*/ 4060 h 5286"/>
              <a:gd name="T34" fmla="*/ 5695 w 7011"/>
              <a:gd name="T35" fmla="*/ 3233 h 5286"/>
              <a:gd name="T36" fmla="*/ 3507 w 7011"/>
              <a:gd name="T37" fmla="*/ 4909 h 5286"/>
              <a:gd name="T38" fmla="*/ 5772 w 7011"/>
              <a:gd name="T39" fmla="*/ 2705 h 5286"/>
              <a:gd name="T40" fmla="*/ 3924 w 7011"/>
              <a:gd name="T41" fmla="*/ 3706 h 5286"/>
              <a:gd name="T42" fmla="*/ 1779 w 7011"/>
              <a:gd name="T43" fmla="*/ 4108 h 5286"/>
              <a:gd name="T44" fmla="*/ 1240 w 7011"/>
              <a:gd name="T45" fmla="*/ 2642 h 5286"/>
              <a:gd name="T46" fmla="*/ 3507 w 7011"/>
              <a:gd name="T47" fmla="*/ 376 h 5286"/>
              <a:gd name="T48" fmla="*/ 5773 w 7011"/>
              <a:gd name="T49" fmla="*/ 2642 h 5286"/>
              <a:gd name="T50" fmla="*/ 5772 w 7011"/>
              <a:gd name="T51" fmla="*/ 2705 h 5286"/>
              <a:gd name="T52" fmla="*/ 6133 w 7011"/>
              <a:gd name="T53" fmla="*/ 2364 h 5286"/>
              <a:gd name="T54" fmla="*/ 5571 w 7011"/>
              <a:gd name="T55" fmla="*/ 996 h 5286"/>
              <a:gd name="T56" fmla="*/ 6491 w 7011"/>
              <a:gd name="T57" fmla="*/ 1472 h 5286"/>
              <a:gd name="T58" fmla="*/ 6133 w 7011"/>
              <a:gd name="T59" fmla="*/ 2364 h 528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7011" h="5286">
                <a:moveTo>
                  <a:pt x="6845" y="1345"/>
                </a:moveTo>
                <a:cubicBezTo>
                  <a:pt x="6672" y="864"/>
                  <a:pt x="6081" y="598"/>
                  <a:pt x="5180" y="598"/>
                </a:cubicBezTo>
                <a:lnTo>
                  <a:pt x="5179" y="598"/>
                </a:lnTo>
                <a:cubicBezTo>
                  <a:pt x="4723" y="225"/>
                  <a:pt x="4140" y="0"/>
                  <a:pt x="3505" y="0"/>
                </a:cubicBezTo>
                <a:cubicBezTo>
                  <a:pt x="2212" y="0"/>
                  <a:pt x="1132" y="936"/>
                  <a:pt x="907" y="2166"/>
                </a:cubicBezTo>
                <a:cubicBezTo>
                  <a:pt x="264" y="2720"/>
                  <a:pt x="0" y="3278"/>
                  <a:pt x="167" y="3741"/>
                </a:cubicBezTo>
                <a:cubicBezTo>
                  <a:pt x="325" y="4184"/>
                  <a:pt x="863" y="4433"/>
                  <a:pt x="1605" y="4477"/>
                </a:cubicBezTo>
                <a:cubicBezTo>
                  <a:pt x="2087" y="4976"/>
                  <a:pt x="2760" y="5286"/>
                  <a:pt x="3505" y="5286"/>
                </a:cubicBezTo>
                <a:cubicBezTo>
                  <a:pt x="4880" y="5286"/>
                  <a:pt x="6012" y="4232"/>
                  <a:pt x="6136" y="2888"/>
                </a:cubicBezTo>
                <a:cubicBezTo>
                  <a:pt x="6728" y="2364"/>
                  <a:pt x="7011" y="1804"/>
                  <a:pt x="6845" y="1345"/>
                </a:cubicBezTo>
                <a:close/>
                <a:moveTo>
                  <a:pt x="521" y="3613"/>
                </a:moveTo>
                <a:cubicBezTo>
                  <a:pt x="437" y="3380"/>
                  <a:pt x="565" y="3064"/>
                  <a:pt x="865" y="2729"/>
                </a:cubicBezTo>
                <a:cubicBezTo>
                  <a:pt x="881" y="3218"/>
                  <a:pt x="1031" y="3673"/>
                  <a:pt x="1279" y="4061"/>
                </a:cubicBezTo>
                <a:cubicBezTo>
                  <a:pt x="871" y="3988"/>
                  <a:pt x="599" y="3830"/>
                  <a:pt x="521" y="3613"/>
                </a:cubicBezTo>
                <a:close/>
                <a:moveTo>
                  <a:pt x="3507" y="4909"/>
                </a:moveTo>
                <a:cubicBezTo>
                  <a:pt x="3008" y="4909"/>
                  <a:pt x="2545" y="4746"/>
                  <a:pt x="2171" y="4472"/>
                </a:cubicBezTo>
                <a:cubicBezTo>
                  <a:pt x="2740" y="4434"/>
                  <a:pt x="3384" y="4300"/>
                  <a:pt x="4051" y="4060"/>
                </a:cubicBezTo>
                <a:cubicBezTo>
                  <a:pt x="4684" y="3833"/>
                  <a:pt x="5243" y="3546"/>
                  <a:pt x="5695" y="3233"/>
                </a:cubicBezTo>
                <a:cubicBezTo>
                  <a:pt x="5433" y="4197"/>
                  <a:pt x="4552" y="4909"/>
                  <a:pt x="3507" y="4909"/>
                </a:cubicBezTo>
                <a:close/>
                <a:moveTo>
                  <a:pt x="5772" y="2705"/>
                </a:moveTo>
                <a:cubicBezTo>
                  <a:pt x="5328" y="3068"/>
                  <a:pt x="4700" y="3428"/>
                  <a:pt x="3924" y="3706"/>
                </a:cubicBezTo>
                <a:cubicBezTo>
                  <a:pt x="3111" y="3998"/>
                  <a:pt x="2365" y="4117"/>
                  <a:pt x="1779" y="4108"/>
                </a:cubicBezTo>
                <a:cubicBezTo>
                  <a:pt x="1443" y="3712"/>
                  <a:pt x="1240" y="3201"/>
                  <a:pt x="1240" y="2642"/>
                </a:cubicBezTo>
                <a:cubicBezTo>
                  <a:pt x="1240" y="1393"/>
                  <a:pt x="2256" y="376"/>
                  <a:pt x="3507" y="376"/>
                </a:cubicBezTo>
                <a:cubicBezTo>
                  <a:pt x="4756" y="376"/>
                  <a:pt x="5773" y="1393"/>
                  <a:pt x="5773" y="2642"/>
                </a:cubicBezTo>
                <a:cubicBezTo>
                  <a:pt x="5773" y="2664"/>
                  <a:pt x="5772" y="2684"/>
                  <a:pt x="5772" y="2705"/>
                </a:cubicBezTo>
                <a:close/>
                <a:moveTo>
                  <a:pt x="6133" y="2364"/>
                </a:moveTo>
                <a:cubicBezTo>
                  <a:pt x="6079" y="1849"/>
                  <a:pt x="5877" y="1380"/>
                  <a:pt x="5571" y="996"/>
                </a:cubicBezTo>
                <a:cubicBezTo>
                  <a:pt x="6067" y="1053"/>
                  <a:pt x="6401" y="1221"/>
                  <a:pt x="6491" y="1472"/>
                </a:cubicBezTo>
                <a:cubicBezTo>
                  <a:pt x="6573" y="1704"/>
                  <a:pt x="6443" y="2024"/>
                  <a:pt x="6133" y="2364"/>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114" name="文本框 113">
            <a:extLst>
              <a:ext uri="{FF2B5EF4-FFF2-40B4-BE49-F238E27FC236}">
                <a16:creationId xmlns:a16="http://schemas.microsoft.com/office/drawing/2014/main" id="{CEAD1A7E-3FC9-4A36-BA2C-4616FB53E7B2}"/>
              </a:ext>
            </a:extLst>
          </p:cNvPr>
          <p:cNvSpPr txBox="1"/>
          <p:nvPr/>
        </p:nvSpPr>
        <p:spPr>
          <a:xfrm>
            <a:off x="373082" y="4935387"/>
            <a:ext cx="1660612" cy="338554"/>
          </a:xfrm>
          <a:prstGeom prst="rect">
            <a:avLst/>
          </a:prstGeom>
          <a:noFill/>
        </p:spPr>
        <p:txBody>
          <a:bodyPr wrap="square" rtlCol="0">
            <a:spAutoFit/>
          </a:bodyPr>
          <a:lstStyle>
            <a:defPPr>
              <a:defRPr lang="zh-CN"/>
            </a:defPPr>
            <a:lvl1pPr>
              <a:defRPr sz="1600">
                <a:solidFill>
                  <a:schemeClr val="accent1"/>
                </a:solidFill>
                <a:latin typeface="思源黑体 CN Regular" panose="020B0500000000000000" pitchFamily="34" charset="-122"/>
                <a:ea typeface="思源黑体 CN Regular" panose="020B0500000000000000" pitchFamily="34" charset="-122"/>
              </a:defRPr>
            </a:lvl1pPr>
          </a:lstStyle>
          <a:p>
            <a:r>
              <a:rPr lang="zh-CN" altLang="en-US" dirty="0"/>
              <a:t>已开展工作</a:t>
            </a:r>
          </a:p>
        </p:txBody>
      </p:sp>
      <p:sp>
        <p:nvSpPr>
          <p:cNvPr id="115" name="任意矩形：005">
            <a:extLst>
              <a:ext uri="{FF2B5EF4-FFF2-40B4-BE49-F238E27FC236}">
                <a16:creationId xmlns:a16="http://schemas.microsoft.com/office/drawing/2014/main" id="{D0D58B8B-2F3D-4EFF-896E-223927769072}"/>
              </a:ext>
            </a:extLst>
          </p:cNvPr>
          <p:cNvSpPr/>
          <p:nvPr/>
        </p:nvSpPr>
        <p:spPr>
          <a:xfrm>
            <a:off x="123946" y="4988361"/>
            <a:ext cx="201734" cy="201828"/>
          </a:xfrm>
          <a:custGeom>
            <a:avLst/>
            <a:gdLst>
              <a:gd name="T0" fmla="*/ 278945 h 440259"/>
              <a:gd name="T1" fmla="*/ 278945 h 440259"/>
              <a:gd name="T2" fmla="*/ 278945 h 440259"/>
              <a:gd name="T3" fmla="*/ 278945 h 440259"/>
              <a:gd name="T4" fmla="*/ 278945 h 440259"/>
              <a:gd name="T5" fmla="*/ 278945 h 440259"/>
              <a:gd name="T6" fmla="*/ 278945 h 440259"/>
              <a:gd name="T7" fmla="*/ 278945 h 440259"/>
              <a:gd name="T8" fmla="*/ 278945 h 440259"/>
              <a:gd name="T9" fmla="*/ 278945 h 440259"/>
              <a:gd name="T10" fmla="*/ 278945 h 440259"/>
              <a:gd name="T11" fmla="*/ 278945 h 440259"/>
              <a:gd name="T12" fmla="*/ 278945 h 440259"/>
              <a:gd name="T13" fmla="*/ 278945 h 440259"/>
              <a:gd name="T14" fmla="*/ 278945 h 440259"/>
              <a:gd name="T15" fmla="*/ 278945 h 440259"/>
              <a:gd name="T16" fmla="*/ 278945 h 440259"/>
              <a:gd name="T17" fmla="*/ 278945 h 440259"/>
              <a:gd name="T18" fmla="*/ 278945 h 440259"/>
              <a:gd name="T19" fmla="*/ 278945 h 440259"/>
              <a:gd name="T20" fmla="*/ 278945 h 440259"/>
              <a:gd name="T21" fmla="*/ 278945 h 440259"/>
              <a:gd name="T22" fmla="*/ 278945 h 440259"/>
              <a:gd name="T23" fmla="*/ 278945 h 440259"/>
              <a:gd name="T24" fmla="*/ 278945 h 440259"/>
              <a:gd name="T25" fmla="*/ 278945 h 440259"/>
              <a:gd name="T26" fmla="*/ 278945 h 440259"/>
              <a:gd name="T27" fmla="*/ 278945 h 440259"/>
              <a:gd name="T28" fmla="*/ 278945 h 440259"/>
              <a:gd name="T29" fmla="*/ 278945 h 440259"/>
              <a:gd name="T30" fmla="*/ 278945 h 440259"/>
              <a:gd name="T31" fmla="*/ 278945 h 440259"/>
              <a:gd name="T32" fmla="*/ 278945 h 440259"/>
              <a:gd name="T33" fmla="*/ 278945 h 440259"/>
              <a:gd name="T34" fmla="*/ 278945 h 440259"/>
              <a:gd name="T35" fmla="*/ 278945 h 440259"/>
              <a:gd name="T36" fmla="*/ 278945 h 440259"/>
              <a:gd name="T37" fmla="*/ 278945 h 440259"/>
              <a:gd name="T38" fmla="*/ 278945 h 440259"/>
              <a:gd name="T39" fmla="*/ 278945 h 440259"/>
              <a:gd name="T40" fmla="*/ 278945 h 440259"/>
              <a:gd name="T41" fmla="*/ 278945 h 440259"/>
              <a:gd name="T42" fmla="*/ 278945 h 440259"/>
              <a:gd name="T43" fmla="*/ 278945 h 440259"/>
              <a:gd name="T44" fmla="*/ 278945 h 440259"/>
              <a:gd name="T45" fmla="*/ 278945 h 440259"/>
              <a:gd name="T46" fmla="*/ 278945 h 440259"/>
              <a:gd name="T47" fmla="*/ 278945 h 440259"/>
              <a:gd name="T48" fmla="*/ 278945 h 440259"/>
              <a:gd name="T49" fmla="*/ 278945 h 440259"/>
              <a:gd name="T50" fmla="*/ 278945 h 440259"/>
              <a:gd name="T51" fmla="*/ 278945 h 440259"/>
              <a:gd name="T52" fmla="*/ 278945 h 440259"/>
              <a:gd name="T53" fmla="*/ 278945 h 440259"/>
              <a:gd name="T54" fmla="*/ 278945 h 440259"/>
              <a:gd name="T55" fmla="*/ 278945 h 440259"/>
              <a:gd name="T56" fmla="*/ 278945 h 440259"/>
              <a:gd name="T57" fmla="*/ 278945 h 440259"/>
              <a:gd name="T58" fmla="*/ 278945 h 440259"/>
              <a:gd name="T59" fmla="*/ 278945 h 440259"/>
              <a:gd name="T60" fmla="*/ 278945 h 440259"/>
              <a:gd name="T61" fmla="*/ 278945 h 440259"/>
              <a:gd name="T62" fmla="*/ 278945 h 440259"/>
              <a:gd name="T63" fmla="*/ 278945 h 440259"/>
              <a:gd name="T64" fmla="*/ 278945 h 440259"/>
              <a:gd name="T65" fmla="*/ 278945 h 440259"/>
              <a:gd name="T66" fmla="*/ 278945 h 440259"/>
              <a:gd name="T67" fmla="*/ 278945 h 440259"/>
              <a:gd name="T68" fmla="*/ 278945 h 440259"/>
              <a:gd name="T69" fmla="*/ 278945 h 440259"/>
              <a:gd name="T70" fmla="*/ 278945 h 440259"/>
              <a:gd name="T71" fmla="*/ 278945 h 440259"/>
              <a:gd name="T72" fmla="*/ 278945 h 440259"/>
              <a:gd name="T73" fmla="*/ 278945 h 440259"/>
              <a:gd name="T74" fmla="*/ 278945 h 440259"/>
              <a:gd name="T75" fmla="*/ 278945 h 440259"/>
              <a:gd name="T76" fmla="*/ 278945 h 440259"/>
              <a:gd name="T77" fmla="*/ 278945 h 440259"/>
              <a:gd name="T78" fmla="*/ 278945 h 440259"/>
              <a:gd name="T79" fmla="*/ 278945 h 440259"/>
              <a:gd name="T80" fmla="*/ 278945 h 440259"/>
              <a:gd name="T81" fmla="*/ 278945 h 440259"/>
              <a:gd name="T82" fmla="*/ 278945 h 440259"/>
              <a:gd name="T83" fmla="*/ 278945 h 440259"/>
              <a:gd name="T84" fmla="*/ 88862 h 440259"/>
              <a:gd name="T85" fmla="*/ 88862 h 440259"/>
              <a:gd name="T86" fmla="*/ 278945 h 440259"/>
              <a:gd name="T87" fmla="*/ 278945 h 44025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Lst>
            <a:rect l="0" t="0" r="r" b="b"/>
            <a:pathLst>
              <a:path w="6495" h="6508">
                <a:moveTo>
                  <a:pt x="6495" y="203"/>
                </a:moveTo>
                <a:lnTo>
                  <a:pt x="6495" y="197"/>
                </a:lnTo>
                <a:cubicBezTo>
                  <a:pt x="6495" y="193"/>
                  <a:pt x="6493" y="191"/>
                  <a:pt x="6493" y="187"/>
                </a:cubicBezTo>
                <a:cubicBezTo>
                  <a:pt x="6493" y="184"/>
                  <a:pt x="6493" y="181"/>
                  <a:pt x="6492" y="179"/>
                </a:cubicBezTo>
                <a:cubicBezTo>
                  <a:pt x="6492" y="176"/>
                  <a:pt x="6491" y="173"/>
                  <a:pt x="6491" y="172"/>
                </a:cubicBezTo>
                <a:cubicBezTo>
                  <a:pt x="6489" y="169"/>
                  <a:pt x="6489" y="165"/>
                  <a:pt x="6488" y="163"/>
                </a:cubicBezTo>
                <a:cubicBezTo>
                  <a:pt x="6488" y="161"/>
                  <a:pt x="6487" y="160"/>
                  <a:pt x="6487" y="157"/>
                </a:cubicBezTo>
                <a:lnTo>
                  <a:pt x="6483" y="145"/>
                </a:lnTo>
                <a:cubicBezTo>
                  <a:pt x="6483" y="144"/>
                  <a:pt x="6481" y="144"/>
                  <a:pt x="6481" y="143"/>
                </a:cubicBezTo>
                <a:cubicBezTo>
                  <a:pt x="6480" y="139"/>
                  <a:pt x="6477" y="133"/>
                  <a:pt x="6475" y="129"/>
                </a:cubicBezTo>
                <a:cubicBezTo>
                  <a:pt x="6475" y="128"/>
                  <a:pt x="6473" y="127"/>
                  <a:pt x="6473" y="127"/>
                </a:cubicBezTo>
                <a:cubicBezTo>
                  <a:pt x="6471" y="123"/>
                  <a:pt x="6469" y="119"/>
                  <a:pt x="6467" y="115"/>
                </a:cubicBezTo>
                <a:cubicBezTo>
                  <a:pt x="6457" y="101"/>
                  <a:pt x="6447" y="89"/>
                  <a:pt x="6435" y="79"/>
                </a:cubicBezTo>
                <a:cubicBezTo>
                  <a:pt x="6385" y="23"/>
                  <a:pt x="6304" y="0"/>
                  <a:pt x="6231" y="31"/>
                </a:cubicBezTo>
                <a:lnTo>
                  <a:pt x="112" y="2559"/>
                </a:lnTo>
                <a:cubicBezTo>
                  <a:pt x="111" y="2560"/>
                  <a:pt x="108" y="2560"/>
                  <a:pt x="107" y="2561"/>
                </a:cubicBezTo>
                <a:cubicBezTo>
                  <a:pt x="103" y="2563"/>
                  <a:pt x="100" y="2564"/>
                  <a:pt x="96" y="2567"/>
                </a:cubicBezTo>
                <a:lnTo>
                  <a:pt x="88" y="2571"/>
                </a:lnTo>
                <a:cubicBezTo>
                  <a:pt x="85" y="2572"/>
                  <a:pt x="83" y="2573"/>
                  <a:pt x="80" y="2576"/>
                </a:cubicBezTo>
                <a:cubicBezTo>
                  <a:pt x="77" y="2577"/>
                  <a:pt x="75" y="2580"/>
                  <a:pt x="72" y="2581"/>
                </a:cubicBezTo>
                <a:cubicBezTo>
                  <a:pt x="69" y="2583"/>
                  <a:pt x="68" y="2584"/>
                  <a:pt x="65" y="2587"/>
                </a:cubicBezTo>
                <a:cubicBezTo>
                  <a:pt x="63" y="2588"/>
                  <a:pt x="61" y="2591"/>
                  <a:pt x="59" y="2593"/>
                </a:cubicBezTo>
                <a:cubicBezTo>
                  <a:pt x="56" y="2595"/>
                  <a:pt x="55" y="2597"/>
                  <a:pt x="52" y="2599"/>
                </a:cubicBezTo>
                <a:lnTo>
                  <a:pt x="45" y="2605"/>
                </a:lnTo>
                <a:cubicBezTo>
                  <a:pt x="44" y="2608"/>
                  <a:pt x="41" y="2609"/>
                  <a:pt x="40" y="2612"/>
                </a:cubicBezTo>
                <a:cubicBezTo>
                  <a:pt x="39" y="2615"/>
                  <a:pt x="36" y="2617"/>
                  <a:pt x="35" y="2619"/>
                </a:cubicBezTo>
                <a:cubicBezTo>
                  <a:pt x="33" y="2621"/>
                  <a:pt x="31" y="2623"/>
                  <a:pt x="29" y="2625"/>
                </a:cubicBezTo>
                <a:cubicBezTo>
                  <a:pt x="28" y="2628"/>
                  <a:pt x="25" y="2631"/>
                  <a:pt x="24" y="2633"/>
                </a:cubicBezTo>
                <a:cubicBezTo>
                  <a:pt x="23" y="2636"/>
                  <a:pt x="21" y="2637"/>
                  <a:pt x="20" y="2640"/>
                </a:cubicBezTo>
                <a:cubicBezTo>
                  <a:pt x="17" y="2644"/>
                  <a:pt x="16" y="2648"/>
                  <a:pt x="15" y="2652"/>
                </a:cubicBezTo>
                <a:cubicBezTo>
                  <a:pt x="15" y="2653"/>
                  <a:pt x="13" y="2655"/>
                  <a:pt x="12" y="2656"/>
                </a:cubicBezTo>
                <a:lnTo>
                  <a:pt x="12" y="2656"/>
                </a:lnTo>
                <a:cubicBezTo>
                  <a:pt x="9" y="2661"/>
                  <a:pt x="8" y="2667"/>
                  <a:pt x="7" y="2672"/>
                </a:cubicBezTo>
                <a:lnTo>
                  <a:pt x="7" y="2673"/>
                </a:lnTo>
                <a:cubicBezTo>
                  <a:pt x="5" y="2679"/>
                  <a:pt x="4" y="2684"/>
                  <a:pt x="3" y="2691"/>
                </a:cubicBezTo>
                <a:cubicBezTo>
                  <a:pt x="3" y="2693"/>
                  <a:pt x="1" y="2696"/>
                  <a:pt x="1" y="2699"/>
                </a:cubicBezTo>
                <a:cubicBezTo>
                  <a:pt x="1" y="2701"/>
                  <a:pt x="0" y="2705"/>
                  <a:pt x="0" y="2708"/>
                </a:cubicBezTo>
                <a:lnTo>
                  <a:pt x="0" y="2716"/>
                </a:lnTo>
                <a:lnTo>
                  <a:pt x="0" y="2725"/>
                </a:lnTo>
                <a:lnTo>
                  <a:pt x="0" y="2733"/>
                </a:lnTo>
                <a:lnTo>
                  <a:pt x="0" y="2743"/>
                </a:lnTo>
                <a:cubicBezTo>
                  <a:pt x="0" y="2745"/>
                  <a:pt x="1" y="2748"/>
                  <a:pt x="1" y="2749"/>
                </a:cubicBezTo>
                <a:cubicBezTo>
                  <a:pt x="1" y="2753"/>
                  <a:pt x="3" y="2756"/>
                  <a:pt x="3" y="2760"/>
                </a:cubicBezTo>
                <a:cubicBezTo>
                  <a:pt x="4" y="2764"/>
                  <a:pt x="4" y="2768"/>
                  <a:pt x="5" y="2772"/>
                </a:cubicBezTo>
                <a:cubicBezTo>
                  <a:pt x="7" y="2775"/>
                  <a:pt x="7" y="2777"/>
                  <a:pt x="8" y="2780"/>
                </a:cubicBezTo>
                <a:cubicBezTo>
                  <a:pt x="9" y="2784"/>
                  <a:pt x="11" y="2789"/>
                  <a:pt x="13" y="2793"/>
                </a:cubicBezTo>
                <a:lnTo>
                  <a:pt x="13" y="2793"/>
                </a:lnTo>
                <a:cubicBezTo>
                  <a:pt x="15" y="2799"/>
                  <a:pt x="17" y="2803"/>
                  <a:pt x="20" y="2807"/>
                </a:cubicBezTo>
                <a:cubicBezTo>
                  <a:pt x="20" y="2808"/>
                  <a:pt x="21" y="2809"/>
                  <a:pt x="21" y="2809"/>
                </a:cubicBezTo>
                <a:cubicBezTo>
                  <a:pt x="23" y="2813"/>
                  <a:pt x="25" y="2816"/>
                  <a:pt x="28" y="2820"/>
                </a:cubicBezTo>
                <a:cubicBezTo>
                  <a:pt x="29" y="2821"/>
                  <a:pt x="29" y="2823"/>
                  <a:pt x="31" y="2824"/>
                </a:cubicBezTo>
                <a:cubicBezTo>
                  <a:pt x="33" y="2828"/>
                  <a:pt x="35" y="2831"/>
                  <a:pt x="37" y="2833"/>
                </a:cubicBezTo>
                <a:cubicBezTo>
                  <a:pt x="39" y="2835"/>
                  <a:pt x="39" y="2836"/>
                  <a:pt x="40" y="2836"/>
                </a:cubicBezTo>
                <a:cubicBezTo>
                  <a:pt x="44" y="2840"/>
                  <a:pt x="47" y="2844"/>
                  <a:pt x="51" y="2848"/>
                </a:cubicBezTo>
                <a:lnTo>
                  <a:pt x="51" y="2848"/>
                </a:lnTo>
                <a:cubicBezTo>
                  <a:pt x="55" y="2852"/>
                  <a:pt x="59" y="2855"/>
                  <a:pt x="63" y="2859"/>
                </a:cubicBezTo>
                <a:cubicBezTo>
                  <a:pt x="64" y="2860"/>
                  <a:pt x="65" y="2861"/>
                  <a:pt x="67" y="2861"/>
                </a:cubicBezTo>
                <a:cubicBezTo>
                  <a:pt x="69" y="2864"/>
                  <a:pt x="73" y="2867"/>
                  <a:pt x="76" y="2868"/>
                </a:cubicBezTo>
                <a:cubicBezTo>
                  <a:pt x="77" y="2869"/>
                  <a:pt x="79" y="2869"/>
                  <a:pt x="80" y="2871"/>
                </a:cubicBezTo>
                <a:cubicBezTo>
                  <a:pt x="84" y="2873"/>
                  <a:pt x="89" y="2876"/>
                  <a:pt x="93" y="2879"/>
                </a:cubicBezTo>
                <a:cubicBezTo>
                  <a:pt x="95" y="2879"/>
                  <a:pt x="95" y="2880"/>
                  <a:pt x="96" y="2880"/>
                </a:cubicBezTo>
                <a:cubicBezTo>
                  <a:pt x="100" y="2883"/>
                  <a:pt x="104" y="2884"/>
                  <a:pt x="109" y="2887"/>
                </a:cubicBezTo>
                <a:cubicBezTo>
                  <a:pt x="111" y="2887"/>
                  <a:pt x="111" y="2888"/>
                  <a:pt x="112" y="2888"/>
                </a:cubicBezTo>
                <a:lnTo>
                  <a:pt x="2579" y="3933"/>
                </a:lnTo>
                <a:lnTo>
                  <a:pt x="3624" y="6400"/>
                </a:lnTo>
                <a:cubicBezTo>
                  <a:pt x="3625" y="6405"/>
                  <a:pt x="3628" y="6409"/>
                  <a:pt x="3631" y="6413"/>
                </a:cubicBezTo>
                <a:cubicBezTo>
                  <a:pt x="3631" y="6415"/>
                  <a:pt x="3632" y="6416"/>
                  <a:pt x="3632" y="6416"/>
                </a:cubicBezTo>
                <a:cubicBezTo>
                  <a:pt x="3635" y="6420"/>
                  <a:pt x="3636" y="6423"/>
                  <a:pt x="3639" y="6427"/>
                </a:cubicBezTo>
                <a:cubicBezTo>
                  <a:pt x="3640" y="6428"/>
                  <a:pt x="3640" y="6429"/>
                  <a:pt x="3641" y="6431"/>
                </a:cubicBezTo>
                <a:cubicBezTo>
                  <a:pt x="3644" y="6435"/>
                  <a:pt x="3647" y="6437"/>
                  <a:pt x="3648" y="6440"/>
                </a:cubicBezTo>
                <a:cubicBezTo>
                  <a:pt x="3649" y="6441"/>
                  <a:pt x="3649" y="6443"/>
                  <a:pt x="3651" y="6443"/>
                </a:cubicBezTo>
                <a:cubicBezTo>
                  <a:pt x="3655" y="6447"/>
                  <a:pt x="3657" y="6451"/>
                  <a:pt x="3661" y="6455"/>
                </a:cubicBezTo>
                <a:lnTo>
                  <a:pt x="3663" y="6456"/>
                </a:lnTo>
                <a:cubicBezTo>
                  <a:pt x="3667" y="6459"/>
                  <a:pt x="3669" y="6463"/>
                  <a:pt x="3673" y="6465"/>
                </a:cubicBezTo>
                <a:cubicBezTo>
                  <a:pt x="3675" y="6467"/>
                  <a:pt x="3676" y="6468"/>
                  <a:pt x="3677" y="6468"/>
                </a:cubicBezTo>
                <a:cubicBezTo>
                  <a:pt x="3680" y="6471"/>
                  <a:pt x="3684" y="6473"/>
                  <a:pt x="3687" y="6475"/>
                </a:cubicBezTo>
                <a:cubicBezTo>
                  <a:pt x="3688" y="6476"/>
                  <a:pt x="3689" y="6476"/>
                  <a:pt x="3691" y="6477"/>
                </a:cubicBezTo>
                <a:cubicBezTo>
                  <a:pt x="3695" y="6480"/>
                  <a:pt x="3700" y="6483"/>
                  <a:pt x="3704" y="6485"/>
                </a:cubicBezTo>
                <a:cubicBezTo>
                  <a:pt x="3705" y="6485"/>
                  <a:pt x="3707" y="6487"/>
                  <a:pt x="3707" y="6487"/>
                </a:cubicBezTo>
                <a:cubicBezTo>
                  <a:pt x="3711" y="6489"/>
                  <a:pt x="3715" y="6491"/>
                  <a:pt x="3719" y="6492"/>
                </a:cubicBezTo>
                <a:cubicBezTo>
                  <a:pt x="3720" y="6492"/>
                  <a:pt x="3720" y="6493"/>
                  <a:pt x="3721" y="6493"/>
                </a:cubicBezTo>
                <a:cubicBezTo>
                  <a:pt x="3721" y="6493"/>
                  <a:pt x="3723" y="6493"/>
                  <a:pt x="3723" y="6495"/>
                </a:cubicBezTo>
                <a:cubicBezTo>
                  <a:pt x="3727" y="6496"/>
                  <a:pt x="3732" y="6499"/>
                  <a:pt x="3736" y="6500"/>
                </a:cubicBezTo>
                <a:lnTo>
                  <a:pt x="3737" y="6500"/>
                </a:lnTo>
                <a:cubicBezTo>
                  <a:pt x="3743" y="6501"/>
                  <a:pt x="3747" y="6503"/>
                  <a:pt x="3752" y="6504"/>
                </a:cubicBezTo>
                <a:cubicBezTo>
                  <a:pt x="3753" y="6504"/>
                  <a:pt x="3756" y="6504"/>
                  <a:pt x="3757" y="6505"/>
                </a:cubicBezTo>
                <a:cubicBezTo>
                  <a:pt x="3761" y="6505"/>
                  <a:pt x="3764" y="6507"/>
                  <a:pt x="3768" y="6507"/>
                </a:cubicBezTo>
                <a:lnTo>
                  <a:pt x="3773" y="6507"/>
                </a:lnTo>
                <a:cubicBezTo>
                  <a:pt x="3779" y="6507"/>
                  <a:pt x="3783" y="6508"/>
                  <a:pt x="3788" y="6508"/>
                </a:cubicBezTo>
                <a:lnTo>
                  <a:pt x="3788" y="6508"/>
                </a:lnTo>
                <a:lnTo>
                  <a:pt x="3788" y="6508"/>
                </a:lnTo>
                <a:lnTo>
                  <a:pt x="3788" y="6508"/>
                </a:lnTo>
                <a:lnTo>
                  <a:pt x="3788" y="6508"/>
                </a:lnTo>
                <a:cubicBezTo>
                  <a:pt x="3793" y="6508"/>
                  <a:pt x="3799" y="6508"/>
                  <a:pt x="3803" y="6507"/>
                </a:cubicBezTo>
                <a:lnTo>
                  <a:pt x="3808" y="6507"/>
                </a:lnTo>
                <a:cubicBezTo>
                  <a:pt x="3812" y="6507"/>
                  <a:pt x="3816" y="6505"/>
                  <a:pt x="3819" y="6505"/>
                </a:cubicBezTo>
                <a:cubicBezTo>
                  <a:pt x="3820" y="6505"/>
                  <a:pt x="3823" y="6505"/>
                  <a:pt x="3824" y="6504"/>
                </a:cubicBezTo>
                <a:cubicBezTo>
                  <a:pt x="3829" y="6503"/>
                  <a:pt x="3835" y="6501"/>
                  <a:pt x="3839" y="6500"/>
                </a:cubicBezTo>
                <a:cubicBezTo>
                  <a:pt x="3840" y="6500"/>
                  <a:pt x="3840" y="6500"/>
                  <a:pt x="3841" y="6499"/>
                </a:cubicBezTo>
                <a:cubicBezTo>
                  <a:pt x="3845" y="6497"/>
                  <a:pt x="3851" y="6496"/>
                  <a:pt x="3855" y="6493"/>
                </a:cubicBezTo>
                <a:cubicBezTo>
                  <a:pt x="3856" y="6493"/>
                  <a:pt x="3856" y="6493"/>
                  <a:pt x="3857" y="6492"/>
                </a:cubicBezTo>
                <a:cubicBezTo>
                  <a:pt x="3859" y="6492"/>
                  <a:pt x="3859" y="6491"/>
                  <a:pt x="3860" y="6491"/>
                </a:cubicBezTo>
                <a:cubicBezTo>
                  <a:pt x="3864" y="6489"/>
                  <a:pt x="3868" y="6487"/>
                  <a:pt x="3872" y="6484"/>
                </a:cubicBezTo>
                <a:cubicBezTo>
                  <a:pt x="3873" y="6484"/>
                  <a:pt x="3873" y="6483"/>
                  <a:pt x="3875" y="6483"/>
                </a:cubicBezTo>
                <a:cubicBezTo>
                  <a:pt x="3879" y="6480"/>
                  <a:pt x="3884" y="6477"/>
                  <a:pt x="3888" y="6475"/>
                </a:cubicBezTo>
                <a:cubicBezTo>
                  <a:pt x="3889" y="6473"/>
                  <a:pt x="3891" y="6473"/>
                  <a:pt x="3892" y="6472"/>
                </a:cubicBezTo>
                <a:cubicBezTo>
                  <a:pt x="3895" y="6469"/>
                  <a:pt x="3899" y="6468"/>
                  <a:pt x="3901" y="6465"/>
                </a:cubicBezTo>
                <a:cubicBezTo>
                  <a:pt x="3903" y="6464"/>
                  <a:pt x="3904" y="6463"/>
                  <a:pt x="3905" y="6463"/>
                </a:cubicBezTo>
                <a:cubicBezTo>
                  <a:pt x="3909" y="6459"/>
                  <a:pt x="3913" y="6456"/>
                  <a:pt x="3916" y="6452"/>
                </a:cubicBezTo>
                <a:lnTo>
                  <a:pt x="3916" y="6452"/>
                </a:lnTo>
                <a:cubicBezTo>
                  <a:pt x="3920" y="6448"/>
                  <a:pt x="3923" y="6444"/>
                  <a:pt x="3927" y="6440"/>
                </a:cubicBezTo>
                <a:cubicBezTo>
                  <a:pt x="3928" y="6439"/>
                  <a:pt x="3928" y="6437"/>
                  <a:pt x="3929" y="6436"/>
                </a:cubicBezTo>
                <a:cubicBezTo>
                  <a:pt x="3932" y="6433"/>
                  <a:pt x="3935" y="6429"/>
                  <a:pt x="3936" y="6427"/>
                </a:cubicBezTo>
                <a:cubicBezTo>
                  <a:pt x="3937" y="6425"/>
                  <a:pt x="3937" y="6424"/>
                  <a:pt x="3939" y="6423"/>
                </a:cubicBezTo>
                <a:cubicBezTo>
                  <a:pt x="3941" y="6419"/>
                  <a:pt x="3943" y="6416"/>
                  <a:pt x="3945" y="6412"/>
                </a:cubicBezTo>
                <a:cubicBezTo>
                  <a:pt x="3945" y="6411"/>
                  <a:pt x="3947" y="6409"/>
                  <a:pt x="3947" y="6409"/>
                </a:cubicBezTo>
                <a:cubicBezTo>
                  <a:pt x="3949" y="6405"/>
                  <a:pt x="3951" y="6400"/>
                  <a:pt x="3953" y="6396"/>
                </a:cubicBezTo>
                <a:lnTo>
                  <a:pt x="6481" y="284"/>
                </a:lnTo>
                <a:cubicBezTo>
                  <a:pt x="6485" y="273"/>
                  <a:pt x="6489" y="261"/>
                  <a:pt x="6492" y="249"/>
                </a:cubicBezTo>
                <a:cubicBezTo>
                  <a:pt x="6493" y="245"/>
                  <a:pt x="6493" y="240"/>
                  <a:pt x="6493" y="236"/>
                </a:cubicBezTo>
                <a:lnTo>
                  <a:pt x="6493" y="232"/>
                </a:lnTo>
                <a:cubicBezTo>
                  <a:pt x="6493" y="227"/>
                  <a:pt x="6493" y="223"/>
                  <a:pt x="6495" y="217"/>
                </a:cubicBezTo>
                <a:lnTo>
                  <a:pt x="6495" y="215"/>
                </a:lnTo>
                <a:lnTo>
                  <a:pt x="6495" y="203"/>
                </a:lnTo>
                <a:close/>
                <a:moveTo>
                  <a:pt x="648" y="2727"/>
                </a:moveTo>
                <a:lnTo>
                  <a:pt x="5589" y="687"/>
                </a:lnTo>
                <a:lnTo>
                  <a:pt x="2685" y="3589"/>
                </a:lnTo>
                <a:lnTo>
                  <a:pt x="648" y="2727"/>
                </a:lnTo>
                <a:close/>
                <a:moveTo>
                  <a:pt x="3787" y="5865"/>
                </a:moveTo>
                <a:lnTo>
                  <a:pt x="2933" y="3851"/>
                </a:lnTo>
                <a:lnTo>
                  <a:pt x="5804" y="981"/>
                </a:lnTo>
                <a:lnTo>
                  <a:pt x="3787" y="5865"/>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grpSp>
        <p:nvGrpSpPr>
          <p:cNvPr id="8" name="组合 7">
            <a:extLst>
              <a:ext uri="{FF2B5EF4-FFF2-40B4-BE49-F238E27FC236}">
                <a16:creationId xmlns:a16="http://schemas.microsoft.com/office/drawing/2014/main" id="{FAAE7E29-9AFD-4E0F-BB1C-9FB4CE05C54D}"/>
              </a:ext>
            </a:extLst>
          </p:cNvPr>
          <p:cNvGrpSpPr/>
          <p:nvPr/>
        </p:nvGrpSpPr>
        <p:grpSpPr>
          <a:xfrm>
            <a:off x="2622086" y="6176130"/>
            <a:ext cx="4407558" cy="279933"/>
            <a:chOff x="2550240" y="6130410"/>
            <a:chExt cx="4407558" cy="279933"/>
          </a:xfrm>
        </p:grpSpPr>
        <p:pic>
          <p:nvPicPr>
            <p:cNvPr id="132" name="Picture 2" descr="查看图片">
              <a:extLst>
                <a:ext uri="{FF2B5EF4-FFF2-40B4-BE49-F238E27FC236}">
                  <a16:creationId xmlns:a16="http://schemas.microsoft.com/office/drawing/2014/main" id="{FD147175-CEE7-4F94-B7FF-65BA0639D00A}"/>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89408" t="82278" r="2123" b="16476"/>
            <a:stretch/>
          </p:blipFill>
          <p:spPr bwMode="auto">
            <a:xfrm>
              <a:off x="2550240" y="6130410"/>
              <a:ext cx="692597" cy="118111"/>
            </a:xfrm>
            <a:prstGeom prst="rect">
              <a:avLst/>
            </a:prstGeom>
            <a:noFill/>
            <a:extLst>
              <a:ext uri="{909E8E84-426E-40DD-AFC4-6F175D3DCCD1}">
                <a14:hiddenFill xmlns:a14="http://schemas.microsoft.com/office/drawing/2010/main">
                  <a:solidFill>
                    <a:srgbClr val="FFFFFF"/>
                  </a:solidFill>
                </a14:hiddenFill>
              </a:ext>
            </a:extLst>
          </p:spPr>
        </p:pic>
        <p:pic>
          <p:nvPicPr>
            <p:cNvPr id="133" name="Picture 2" descr="查看图片">
              <a:extLst>
                <a:ext uri="{FF2B5EF4-FFF2-40B4-BE49-F238E27FC236}">
                  <a16:creationId xmlns:a16="http://schemas.microsoft.com/office/drawing/2014/main" id="{C6E8D8D4-ECB4-4AB8-966B-CE97A85B401C}"/>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89358" t="83669" r="2173" b="15085"/>
            <a:stretch/>
          </p:blipFill>
          <p:spPr bwMode="auto">
            <a:xfrm>
              <a:off x="3217991" y="6130410"/>
              <a:ext cx="692597" cy="118111"/>
            </a:xfrm>
            <a:prstGeom prst="rect">
              <a:avLst/>
            </a:prstGeom>
            <a:noFill/>
            <a:extLst>
              <a:ext uri="{909E8E84-426E-40DD-AFC4-6F175D3DCCD1}">
                <a14:hiddenFill xmlns:a14="http://schemas.microsoft.com/office/drawing/2010/main">
                  <a:solidFill>
                    <a:srgbClr val="FFFFFF"/>
                  </a:solidFill>
                </a14:hiddenFill>
              </a:ext>
            </a:extLst>
          </p:spPr>
        </p:pic>
        <p:pic>
          <p:nvPicPr>
            <p:cNvPr id="134" name="Picture 2" descr="查看图片">
              <a:extLst>
                <a:ext uri="{FF2B5EF4-FFF2-40B4-BE49-F238E27FC236}">
                  <a16:creationId xmlns:a16="http://schemas.microsoft.com/office/drawing/2014/main" id="{337C7290-D77D-410A-B607-786B2040C8D1}"/>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89358" t="84935" r="404" b="13819"/>
            <a:stretch/>
          </p:blipFill>
          <p:spPr bwMode="auto">
            <a:xfrm>
              <a:off x="3827692" y="6130410"/>
              <a:ext cx="837280" cy="118111"/>
            </a:xfrm>
            <a:prstGeom prst="rect">
              <a:avLst/>
            </a:prstGeom>
            <a:noFill/>
            <a:extLst>
              <a:ext uri="{909E8E84-426E-40DD-AFC4-6F175D3DCCD1}">
                <a14:hiddenFill xmlns:a14="http://schemas.microsoft.com/office/drawing/2010/main">
                  <a:solidFill>
                    <a:srgbClr val="FFFFFF"/>
                  </a:solidFill>
                </a14:hiddenFill>
              </a:ext>
            </a:extLst>
          </p:spPr>
        </p:pic>
        <p:pic>
          <p:nvPicPr>
            <p:cNvPr id="135" name="Picture 2" descr="查看图片">
              <a:extLst>
                <a:ext uri="{FF2B5EF4-FFF2-40B4-BE49-F238E27FC236}">
                  <a16:creationId xmlns:a16="http://schemas.microsoft.com/office/drawing/2014/main" id="{ED97297F-3F8B-4EDF-A70B-D09621F60E8D}"/>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89358" t="86281" r="404" b="12473"/>
            <a:stretch/>
          </p:blipFill>
          <p:spPr bwMode="auto">
            <a:xfrm>
              <a:off x="4641465" y="6130410"/>
              <a:ext cx="837280" cy="118111"/>
            </a:xfrm>
            <a:prstGeom prst="rect">
              <a:avLst/>
            </a:prstGeom>
            <a:noFill/>
            <a:extLst>
              <a:ext uri="{909E8E84-426E-40DD-AFC4-6F175D3DCCD1}">
                <a14:hiddenFill xmlns:a14="http://schemas.microsoft.com/office/drawing/2010/main">
                  <a:solidFill>
                    <a:srgbClr val="FFFFFF"/>
                  </a:solidFill>
                </a14:hiddenFill>
              </a:ext>
            </a:extLst>
          </p:spPr>
        </p:pic>
        <p:pic>
          <p:nvPicPr>
            <p:cNvPr id="136" name="Picture 2" descr="查看图片">
              <a:extLst>
                <a:ext uri="{FF2B5EF4-FFF2-40B4-BE49-F238E27FC236}">
                  <a16:creationId xmlns:a16="http://schemas.microsoft.com/office/drawing/2014/main" id="{6B1F2687-A625-4206-8B1F-BDAF3092B796}"/>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89358" t="87527" r="404" b="11227"/>
            <a:stretch/>
          </p:blipFill>
          <p:spPr bwMode="auto">
            <a:xfrm>
              <a:off x="5436998" y="6130410"/>
              <a:ext cx="837280" cy="118111"/>
            </a:xfrm>
            <a:prstGeom prst="rect">
              <a:avLst/>
            </a:prstGeom>
            <a:noFill/>
            <a:extLst>
              <a:ext uri="{909E8E84-426E-40DD-AFC4-6F175D3DCCD1}">
                <a14:hiddenFill xmlns:a14="http://schemas.microsoft.com/office/drawing/2010/main">
                  <a:solidFill>
                    <a:srgbClr val="FFFFFF"/>
                  </a:solidFill>
                </a14:hiddenFill>
              </a:ext>
            </a:extLst>
          </p:spPr>
        </p:pic>
        <p:pic>
          <p:nvPicPr>
            <p:cNvPr id="137" name="Picture 2" descr="查看图片">
              <a:extLst>
                <a:ext uri="{FF2B5EF4-FFF2-40B4-BE49-F238E27FC236}">
                  <a16:creationId xmlns:a16="http://schemas.microsoft.com/office/drawing/2014/main" id="{57563543-05C9-4565-BCF1-EBA6CF31F69F}"/>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89358" t="88773" r="2620" b="9981"/>
            <a:stretch/>
          </p:blipFill>
          <p:spPr bwMode="auto">
            <a:xfrm>
              <a:off x="6117302" y="6130410"/>
              <a:ext cx="656031" cy="118111"/>
            </a:xfrm>
            <a:prstGeom prst="rect">
              <a:avLst/>
            </a:prstGeom>
            <a:noFill/>
            <a:extLst>
              <a:ext uri="{909E8E84-426E-40DD-AFC4-6F175D3DCCD1}">
                <a14:hiddenFill xmlns:a14="http://schemas.microsoft.com/office/drawing/2010/main">
                  <a:solidFill>
                    <a:srgbClr val="FFFFFF"/>
                  </a:solidFill>
                </a14:hiddenFill>
              </a:ext>
            </a:extLst>
          </p:spPr>
        </p:pic>
        <p:pic>
          <p:nvPicPr>
            <p:cNvPr id="138" name="Picture 2" descr="查看图片">
              <a:extLst>
                <a:ext uri="{FF2B5EF4-FFF2-40B4-BE49-F238E27FC236}">
                  <a16:creationId xmlns:a16="http://schemas.microsoft.com/office/drawing/2014/main" id="{0A637C57-178B-46A5-9507-DEFE707C9256}"/>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89408" t="90236" r="2123" b="8518"/>
            <a:stretch/>
          </p:blipFill>
          <p:spPr bwMode="auto">
            <a:xfrm>
              <a:off x="2550240" y="6292232"/>
              <a:ext cx="692597" cy="118111"/>
            </a:xfrm>
            <a:prstGeom prst="rect">
              <a:avLst/>
            </a:prstGeom>
            <a:noFill/>
            <a:extLst>
              <a:ext uri="{909E8E84-426E-40DD-AFC4-6F175D3DCCD1}">
                <a14:hiddenFill xmlns:a14="http://schemas.microsoft.com/office/drawing/2010/main">
                  <a:solidFill>
                    <a:srgbClr val="FFFFFF"/>
                  </a:solidFill>
                </a14:hiddenFill>
              </a:ext>
            </a:extLst>
          </p:spPr>
        </p:pic>
        <p:pic>
          <p:nvPicPr>
            <p:cNvPr id="140" name="Picture 2" descr="查看图片">
              <a:extLst>
                <a:ext uri="{FF2B5EF4-FFF2-40B4-BE49-F238E27FC236}">
                  <a16:creationId xmlns:a16="http://schemas.microsoft.com/office/drawing/2014/main" id="{E9939007-0494-4305-811F-EC67D5DB170B}"/>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89358" t="92836" r="404" b="5918"/>
            <a:stretch/>
          </p:blipFill>
          <p:spPr bwMode="auto">
            <a:xfrm>
              <a:off x="4082067" y="6292232"/>
              <a:ext cx="837280" cy="118111"/>
            </a:xfrm>
            <a:prstGeom prst="rect">
              <a:avLst/>
            </a:prstGeom>
            <a:noFill/>
            <a:extLst>
              <a:ext uri="{909E8E84-426E-40DD-AFC4-6F175D3DCCD1}">
                <a14:hiddenFill xmlns:a14="http://schemas.microsoft.com/office/drawing/2010/main">
                  <a:solidFill>
                    <a:srgbClr val="FFFFFF"/>
                  </a:solidFill>
                </a14:hiddenFill>
              </a:ext>
            </a:extLst>
          </p:spPr>
        </p:pic>
        <p:pic>
          <p:nvPicPr>
            <p:cNvPr id="141" name="Picture 2" descr="查看图片">
              <a:extLst>
                <a:ext uri="{FF2B5EF4-FFF2-40B4-BE49-F238E27FC236}">
                  <a16:creationId xmlns:a16="http://schemas.microsoft.com/office/drawing/2014/main" id="{602B875A-3A6B-4A5C-A979-E58AED896D60}"/>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89358" t="94206" r="404" b="4548"/>
            <a:stretch/>
          </p:blipFill>
          <p:spPr bwMode="auto">
            <a:xfrm>
              <a:off x="4903460" y="6292232"/>
              <a:ext cx="837280" cy="118111"/>
            </a:xfrm>
            <a:prstGeom prst="rect">
              <a:avLst/>
            </a:prstGeom>
            <a:noFill/>
            <a:extLst>
              <a:ext uri="{909E8E84-426E-40DD-AFC4-6F175D3DCCD1}">
                <a14:hiddenFill xmlns:a14="http://schemas.microsoft.com/office/drawing/2010/main">
                  <a:solidFill>
                    <a:srgbClr val="FFFFFF"/>
                  </a:solidFill>
                </a14:hiddenFill>
              </a:ext>
            </a:extLst>
          </p:spPr>
        </p:pic>
        <p:pic>
          <p:nvPicPr>
            <p:cNvPr id="142" name="Picture 2" descr="查看图片">
              <a:extLst>
                <a:ext uri="{FF2B5EF4-FFF2-40B4-BE49-F238E27FC236}">
                  <a16:creationId xmlns:a16="http://schemas.microsoft.com/office/drawing/2014/main" id="{C6AE5D5A-7E9D-4480-B703-C78651281ADA}"/>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89358" t="95465" r="404" b="3289"/>
            <a:stretch/>
          </p:blipFill>
          <p:spPr bwMode="auto">
            <a:xfrm>
              <a:off x="5691373" y="6292232"/>
              <a:ext cx="837280" cy="118111"/>
            </a:xfrm>
            <a:prstGeom prst="rect">
              <a:avLst/>
            </a:prstGeom>
            <a:noFill/>
            <a:extLst>
              <a:ext uri="{909E8E84-426E-40DD-AFC4-6F175D3DCCD1}">
                <a14:hiddenFill xmlns:a14="http://schemas.microsoft.com/office/drawing/2010/main">
                  <a:solidFill>
                    <a:srgbClr val="FFFFFF"/>
                  </a:solidFill>
                </a14:hiddenFill>
              </a:ext>
            </a:extLst>
          </p:spPr>
        </p:pic>
        <p:pic>
          <p:nvPicPr>
            <p:cNvPr id="143" name="Picture 2" descr="查看图片">
              <a:extLst>
                <a:ext uri="{FF2B5EF4-FFF2-40B4-BE49-F238E27FC236}">
                  <a16:creationId xmlns:a16="http://schemas.microsoft.com/office/drawing/2014/main" id="{CB9D762E-4997-4EFB-B122-D3AEF2CE295D}"/>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89358" t="96771" r="2620" b="1983"/>
            <a:stretch/>
          </p:blipFill>
          <p:spPr bwMode="auto">
            <a:xfrm>
              <a:off x="6301767" y="6292232"/>
              <a:ext cx="656031" cy="118111"/>
            </a:xfrm>
            <a:prstGeom prst="rect">
              <a:avLst/>
            </a:prstGeom>
            <a:noFill/>
            <a:extLst>
              <a:ext uri="{909E8E84-426E-40DD-AFC4-6F175D3DCCD1}">
                <a14:hiddenFill xmlns:a14="http://schemas.microsoft.com/office/drawing/2010/main">
                  <a:solidFill>
                    <a:srgbClr val="FFFFFF"/>
                  </a:solidFill>
                </a14:hiddenFill>
              </a:ext>
            </a:extLst>
          </p:spPr>
        </p:pic>
        <p:pic>
          <p:nvPicPr>
            <p:cNvPr id="139" name="Picture 2" descr="查看图片">
              <a:extLst>
                <a:ext uri="{FF2B5EF4-FFF2-40B4-BE49-F238E27FC236}">
                  <a16:creationId xmlns:a16="http://schemas.microsoft.com/office/drawing/2014/main" id="{273902B2-B2F3-4C3F-BE1F-742147881179}"/>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89358" t="91507" r="188" b="7247"/>
            <a:stretch/>
          </p:blipFill>
          <p:spPr bwMode="auto">
            <a:xfrm>
              <a:off x="3217991" y="6292232"/>
              <a:ext cx="854899" cy="118111"/>
            </a:xfrm>
            <a:prstGeom prst="rect">
              <a:avLst/>
            </a:prstGeom>
            <a:noFill/>
            <a:extLst>
              <a:ext uri="{909E8E84-426E-40DD-AFC4-6F175D3DCCD1}">
                <a14:hiddenFill xmlns:a14="http://schemas.microsoft.com/office/drawing/2010/main">
                  <a:solidFill>
                    <a:srgbClr val="FFFFFF"/>
                  </a:solidFill>
                </a14:hiddenFill>
              </a:ext>
            </a:extLst>
          </p:spPr>
        </p:pic>
      </p:grpSp>
      <p:grpSp>
        <p:nvGrpSpPr>
          <p:cNvPr id="7" name="组合 6">
            <a:extLst>
              <a:ext uri="{FF2B5EF4-FFF2-40B4-BE49-F238E27FC236}">
                <a16:creationId xmlns:a16="http://schemas.microsoft.com/office/drawing/2014/main" id="{71C31FE9-AACA-47DC-B97E-BC7235757EA8}"/>
              </a:ext>
            </a:extLst>
          </p:cNvPr>
          <p:cNvGrpSpPr/>
          <p:nvPr/>
        </p:nvGrpSpPr>
        <p:grpSpPr>
          <a:xfrm>
            <a:off x="2655484" y="1312955"/>
            <a:ext cx="4156228" cy="2505200"/>
            <a:chOff x="2542619" y="1350497"/>
            <a:chExt cx="3858181" cy="2325550"/>
          </a:xfrm>
        </p:grpSpPr>
        <p:pic>
          <p:nvPicPr>
            <p:cNvPr id="80" name="Picture 2" descr="查看图片">
              <a:extLst>
                <a:ext uri="{FF2B5EF4-FFF2-40B4-BE49-F238E27FC236}">
                  <a16:creationId xmlns:a16="http://schemas.microsoft.com/office/drawing/2014/main" id="{44F3A4B7-DC50-48A3-8047-1D5D82275C7E}"/>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1299" t="66984" r="50229" b="20259"/>
            <a:stretch/>
          </p:blipFill>
          <p:spPr bwMode="auto">
            <a:xfrm>
              <a:off x="2542619" y="1350497"/>
              <a:ext cx="3850747" cy="1175331"/>
            </a:xfrm>
            <a:prstGeom prst="rect">
              <a:avLst/>
            </a:prstGeom>
            <a:noFill/>
            <a:extLst>
              <a:ext uri="{909E8E84-426E-40DD-AFC4-6F175D3DCCD1}">
                <a14:hiddenFill xmlns:a14="http://schemas.microsoft.com/office/drawing/2010/main">
                  <a:solidFill>
                    <a:srgbClr val="FFFFFF"/>
                  </a:solidFill>
                </a14:hiddenFill>
              </a:ext>
            </a:extLst>
          </p:spPr>
        </p:pic>
        <p:pic>
          <p:nvPicPr>
            <p:cNvPr id="146" name="Picture 2" descr="查看图片">
              <a:extLst>
                <a:ext uri="{FF2B5EF4-FFF2-40B4-BE49-F238E27FC236}">
                  <a16:creationId xmlns:a16="http://schemas.microsoft.com/office/drawing/2014/main" id="{C7DC8CB4-1AD8-4692-A713-766964C2C51A}"/>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49527" t="66984" r="3403" b="20452"/>
            <a:stretch/>
          </p:blipFill>
          <p:spPr bwMode="auto">
            <a:xfrm>
              <a:off x="2661424" y="2518522"/>
              <a:ext cx="3739376" cy="1157525"/>
            </a:xfrm>
            <a:prstGeom prst="rect">
              <a:avLst/>
            </a:prstGeom>
            <a:noFill/>
            <a:extLst>
              <a:ext uri="{909E8E84-426E-40DD-AFC4-6F175D3DCCD1}">
                <a14:hiddenFill xmlns:a14="http://schemas.microsoft.com/office/drawing/2010/main">
                  <a:solidFill>
                    <a:srgbClr val="FFFFFF"/>
                  </a:solidFill>
                </a14:hiddenFill>
              </a:ext>
            </a:extLst>
          </p:spPr>
        </p:pic>
      </p:grpSp>
      <p:sp>
        <p:nvSpPr>
          <p:cNvPr id="147" name="文本框 146">
            <a:extLst>
              <a:ext uri="{FF2B5EF4-FFF2-40B4-BE49-F238E27FC236}">
                <a16:creationId xmlns:a16="http://schemas.microsoft.com/office/drawing/2014/main" id="{E302B6E5-972C-4A41-98A9-D554FA037C7B}"/>
              </a:ext>
            </a:extLst>
          </p:cNvPr>
          <p:cNvSpPr txBox="1"/>
          <p:nvPr/>
        </p:nvSpPr>
        <p:spPr>
          <a:xfrm>
            <a:off x="373082" y="5620123"/>
            <a:ext cx="1660612" cy="338554"/>
          </a:xfrm>
          <a:prstGeom prst="rect">
            <a:avLst/>
          </a:prstGeom>
          <a:noFill/>
        </p:spPr>
        <p:txBody>
          <a:bodyPr wrap="square" rtlCol="0">
            <a:spAutoFit/>
          </a:bodyPr>
          <a:lstStyle/>
          <a:p>
            <a:r>
              <a:rPr lang="zh-CN" altLang="en-US" sz="1600" dirty="0">
                <a:solidFill>
                  <a:schemeClr val="bg1"/>
                </a:solidFill>
                <a:latin typeface="思源黑体 CN Regular" panose="020B0500000000000000" pitchFamily="34" charset="-122"/>
                <a:ea typeface="思源黑体 CN Regular" panose="020B0500000000000000" pitchFamily="34" charset="-122"/>
              </a:rPr>
              <a:t>预期成果</a:t>
            </a:r>
          </a:p>
        </p:txBody>
      </p:sp>
      <p:sp>
        <p:nvSpPr>
          <p:cNvPr id="148" name="任意矩形：006">
            <a:extLst>
              <a:ext uri="{FF2B5EF4-FFF2-40B4-BE49-F238E27FC236}">
                <a16:creationId xmlns:a16="http://schemas.microsoft.com/office/drawing/2014/main" id="{C7D2078D-48D8-463E-B7BA-6F1861B364E7}"/>
              </a:ext>
            </a:extLst>
          </p:cNvPr>
          <p:cNvSpPr/>
          <p:nvPr/>
        </p:nvSpPr>
        <p:spPr>
          <a:xfrm>
            <a:off x="125661" y="5689964"/>
            <a:ext cx="203662" cy="187126"/>
          </a:xfrm>
          <a:custGeom>
            <a:avLst/>
            <a:gdLst>
              <a:gd name="T0" fmla="*/ 11834 w 13933"/>
              <a:gd name="T1" fmla="*/ 1094 h 12800"/>
              <a:gd name="T2" fmla="*/ 10384 w 13933"/>
              <a:gd name="T3" fmla="*/ 1094 h 12800"/>
              <a:gd name="T4" fmla="*/ 10384 w 13933"/>
              <a:gd name="T5" fmla="*/ 315 h 12800"/>
              <a:gd name="T6" fmla="*/ 10069 w 13933"/>
              <a:gd name="T7" fmla="*/ 0 h 12800"/>
              <a:gd name="T8" fmla="*/ 9754 w 13933"/>
              <a:gd name="T9" fmla="*/ 315 h 12800"/>
              <a:gd name="T10" fmla="*/ 9754 w 13933"/>
              <a:gd name="T11" fmla="*/ 1094 h 12800"/>
              <a:gd name="T12" fmla="*/ 4056 w 13933"/>
              <a:gd name="T13" fmla="*/ 1094 h 12800"/>
              <a:gd name="T14" fmla="*/ 4056 w 13933"/>
              <a:gd name="T15" fmla="*/ 315 h 12800"/>
              <a:gd name="T16" fmla="*/ 3741 w 13933"/>
              <a:gd name="T17" fmla="*/ 0 h 12800"/>
              <a:gd name="T18" fmla="*/ 3426 w 13933"/>
              <a:gd name="T19" fmla="*/ 315 h 12800"/>
              <a:gd name="T20" fmla="*/ 3426 w 13933"/>
              <a:gd name="T21" fmla="*/ 1094 h 12800"/>
              <a:gd name="T22" fmla="*/ 2099 w 13933"/>
              <a:gd name="T23" fmla="*/ 1094 h 12800"/>
              <a:gd name="T24" fmla="*/ 0 w 13933"/>
              <a:gd name="T25" fmla="*/ 3193 h 12800"/>
              <a:gd name="T26" fmla="*/ 0 w 13933"/>
              <a:gd name="T27" fmla="*/ 10701 h 12800"/>
              <a:gd name="T28" fmla="*/ 2099 w 13933"/>
              <a:gd name="T29" fmla="*/ 12800 h 12800"/>
              <a:gd name="T30" fmla="*/ 11834 w 13933"/>
              <a:gd name="T31" fmla="*/ 12800 h 12800"/>
              <a:gd name="T32" fmla="*/ 13933 w 13933"/>
              <a:gd name="T33" fmla="*/ 10701 h 12800"/>
              <a:gd name="T34" fmla="*/ 13933 w 13933"/>
              <a:gd name="T35" fmla="*/ 3193 h 12800"/>
              <a:gd name="T36" fmla="*/ 11834 w 13933"/>
              <a:gd name="T37" fmla="*/ 1094 h 12800"/>
              <a:gd name="T38" fmla="*/ 2099 w 13933"/>
              <a:gd name="T39" fmla="*/ 1933 h 12800"/>
              <a:gd name="T40" fmla="*/ 3426 w 13933"/>
              <a:gd name="T41" fmla="*/ 1933 h 12800"/>
              <a:gd name="T42" fmla="*/ 3426 w 13933"/>
              <a:gd name="T43" fmla="*/ 2757 h 12800"/>
              <a:gd name="T44" fmla="*/ 3741 w 13933"/>
              <a:gd name="T45" fmla="*/ 3072 h 12800"/>
              <a:gd name="T46" fmla="*/ 4056 w 13933"/>
              <a:gd name="T47" fmla="*/ 2757 h 12800"/>
              <a:gd name="T48" fmla="*/ 4056 w 13933"/>
              <a:gd name="T49" fmla="*/ 1933 h 12800"/>
              <a:gd name="T50" fmla="*/ 9754 w 13933"/>
              <a:gd name="T51" fmla="*/ 1933 h 12800"/>
              <a:gd name="T52" fmla="*/ 9754 w 13933"/>
              <a:gd name="T53" fmla="*/ 2757 h 12800"/>
              <a:gd name="T54" fmla="*/ 10069 w 13933"/>
              <a:gd name="T55" fmla="*/ 3072 h 12800"/>
              <a:gd name="T56" fmla="*/ 10384 w 13933"/>
              <a:gd name="T57" fmla="*/ 2757 h 12800"/>
              <a:gd name="T58" fmla="*/ 10384 w 13933"/>
              <a:gd name="T59" fmla="*/ 1933 h 12800"/>
              <a:gd name="T60" fmla="*/ 11834 w 13933"/>
              <a:gd name="T61" fmla="*/ 1933 h 12800"/>
              <a:gd name="T62" fmla="*/ 13094 w 13933"/>
              <a:gd name="T63" fmla="*/ 3193 h 12800"/>
              <a:gd name="T64" fmla="*/ 13094 w 13933"/>
              <a:gd name="T65" fmla="*/ 4646 h 12800"/>
              <a:gd name="T66" fmla="*/ 840 w 13933"/>
              <a:gd name="T67" fmla="*/ 4646 h 12800"/>
              <a:gd name="T68" fmla="*/ 840 w 13933"/>
              <a:gd name="T69" fmla="*/ 3193 h 12800"/>
              <a:gd name="T70" fmla="*/ 2099 w 13933"/>
              <a:gd name="T71" fmla="*/ 1933 h 12800"/>
              <a:gd name="T72" fmla="*/ 11834 w 13933"/>
              <a:gd name="T73" fmla="*/ 11960 h 12800"/>
              <a:gd name="T74" fmla="*/ 2099 w 13933"/>
              <a:gd name="T75" fmla="*/ 11960 h 12800"/>
              <a:gd name="T76" fmla="*/ 840 w 13933"/>
              <a:gd name="T77" fmla="*/ 10701 h 12800"/>
              <a:gd name="T78" fmla="*/ 840 w 13933"/>
              <a:gd name="T79" fmla="*/ 5276 h 12800"/>
              <a:gd name="T80" fmla="*/ 13094 w 13933"/>
              <a:gd name="T81" fmla="*/ 5276 h 12800"/>
              <a:gd name="T82" fmla="*/ 13094 w 13933"/>
              <a:gd name="T83" fmla="*/ 10701 h 12800"/>
              <a:gd name="T84" fmla="*/ 11834 w 13933"/>
              <a:gd name="T85" fmla="*/ 11960 h 128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Lst>
            <a:rect l="0" t="0" r="r" b="b"/>
            <a:pathLst>
              <a:path w="13933" h="12800">
                <a:moveTo>
                  <a:pt x="11834" y="1094"/>
                </a:moveTo>
                <a:lnTo>
                  <a:pt x="10384" y="1094"/>
                </a:lnTo>
                <a:lnTo>
                  <a:pt x="10384" y="315"/>
                </a:lnTo>
                <a:cubicBezTo>
                  <a:pt x="10384" y="141"/>
                  <a:pt x="10243" y="0"/>
                  <a:pt x="10069" y="0"/>
                </a:cubicBezTo>
                <a:cubicBezTo>
                  <a:pt x="9895" y="0"/>
                  <a:pt x="9754" y="141"/>
                  <a:pt x="9754" y="315"/>
                </a:cubicBezTo>
                <a:lnTo>
                  <a:pt x="9754" y="1094"/>
                </a:lnTo>
                <a:lnTo>
                  <a:pt x="4056" y="1094"/>
                </a:lnTo>
                <a:lnTo>
                  <a:pt x="4056" y="315"/>
                </a:lnTo>
                <a:cubicBezTo>
                  <a:pt x="4056" y="141"/>
                  <a:pt x="3915" y="0"/>
                  <a:pt x="3741" y="0"/>
                </a:cubicBezTo>
                <a:cubicBezTo>
                  <a:pt x="3567" y="0"/>
                  <a:pt x="3426" y="141"/>
                  <a:pt x="3426" y="315"/>
                </a:cubicBezTo>
                <a:lnTo>
                  <a:pt x="3426" y="1094"/>
                </a:lnTo>
                <a:lnTo>
                  <a:pt x="2099" y="1094"/>
                </a:lnTo>
                <a:cubicBezTo>
                  <a:pt x="940" y="1095"/>
                  <a:pt x="1" y="2034"/>
                  <a:pt x="0" y="3193"/>
                </a:cubicBezTo>
                <a:lnTo>
                  <a:pt x="0" y="10701"/>
                </a:lnTo>
                <a:cubicBezTo>
                  <a:pt x="1" y="11860"/>
                  <a:pt x="940" y="12799"/>
                  <a:pt x="2099" y="12800"/>
                </a:cubicBezTo>
                <a:lnTo>
                  <a:pt x="11834" y="12800"/>
                </a:lnTo>
                <a:cubicBezTo>
                  <a:pt x="12993" y="12799"/>
                  <a:pt x="13932" y="11860"/>
                  <a:pt x="13933" y="10701"/>
                </a:cubicBezTo>
                <a:lnTo>
                  <a:pt x="13933" y="3193"/>
                </a:lnTo>
                <a:cubicBezTo>
                  <a:pt x="13932" y="2034"/>
                  <a:pt x="12993" y="1095"/>
                  <a:pt x="11834" y="1094"/>
                </a:cubicBezTo>
                <a:close/>
                <a:moveTo>
                  <a:pt x="2099" y="1933"/>
                </a:moveTo>
                <a:lnTo>
                  <a:pt x="3426" y="1933"/>
                </a:lnTo>
                <a:lnTo>
                  <a:pt x="3426" y="2757"/>
                </a:lnTo>
                <a:cubicBezTo>
                  <a:pt x="3426" y="2931"/>
                  <a:pt x="3567" y="3072"/>
                  <a:pt x="3741" y="3072"/>
                </a:cubicBezTo>
                <a:cubicBezTo>
                  <a:pt x="3915" y="3072"/>
                  <a:pt x="4056" y="2931"/>
                  <a:pt x="4056" y="2757"/>
                </a:cubicBezTo>
                <a:lnTo>
                  <a:pt x="4056" y="1933"/>
                </a:lnTo>
                <a:lnTo>
                  <a:pt x="9754" y="1933"/>
                </a:lnTo>
                <a:lnTo>
                  <a:pt x="9754" y="2757"/>
                </a:lnTo>
                <a:cubicBezTo>
                  <a:pt x="9754" y="2931"/>
                  <a:pt x="9895" y="3072"/>
                  <a:pt x="10069" y="3072"/>
                </a:cubicBezTo>
                <a:cubicBezTo>
                  <a:pt x="10243" y="3072"/>
                  <a:pt x="10384" y="2931"/>
                  <a:pt x="10384" y="2757"/>
                </a:cubicBezTo>
                <a:lnTo>
                  <a:pt x="10384" y="1933"/>
                </a:lnTo>
                <a:lnTo>
                  <a:pt x="11834" y="1933"/>
                </a:lnTo>
                <a:cubicBezTo>
                  <a:pt x="12529" y="1934"/>
                  <a:pt x="13093" y="2497"/>
                  <a:pt x="13094" y="3193"/>
                </a:cubicBezTo>
                <a:lnTo>
                  <a:pt x="13094" y="4646"/>
                </a:lnTo>
                <a:lnTo>
                  <a:pt x="840" y="4646"/>
                </a:lnTo>
                <a:lnTo>
                  <a:pt x="840" y="3193"/>
                </a:lnTo>
                <a:cubicBezTo>
                  <a:pt x="840" y="2497"/>
                  <a:pt x="1404" y="1934"/>
                  <a:pt x="2099" y="1933"/>
                </a:cubicBezTo>
                <a:close/>
                <a:moveTo>
                  <a:pt x="11834" y="11960"/>
                </a:moveTo>
                <a:lnTo>
                  <a:pt x="2099" y="11960"/>
                </a:lnTo>
                <a:cubicBezTo>
                  <a:pt x="1404" y="11960"/>
                  <a:pt x="840" y="11396"/>
                  <a:pt x="840" y="10701"/>
                </a:cubicBezTo>
                <a:lnTo>
                  <a:pt x="840" y="5276"/>
                </a:lnTo>
                <a:lnTo>
                  <a:pt x="13094" y="5276"/>
                </a:lnTo>
                <a:lnTo>
                  <a:pt x="13094" y="10701"/>
                </a:lnTo>
                <a:cubicBezTo>
                  <a:pt x="13093" y="11396"/>
                  <a:pt x="12529" y="11960"/>
                  <a:pt x="11834" y="1196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7149583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矩形: 圆角 10">
            <a:extLst>
              <a:ext uri="{FF2B5EF4-FFF2-40B4-BE49-F238E27FC236}">
                <a16:creationId xmlns:a16="http://schemas.microsoft.com/office/drawing/2014/main" id="{8BE4F5B9-0A7A-4D0C-81A2-093ACA468498}"/>
              </a:ext>
            </a:extLst>
          </p:cNvPr>
          <p:cNvSpPr/>
          <p:nvPr/>
        </p:nvSpPr>
        <p:spPr>
          <a:xfrm>
            <a:off x="2394177" y="1231500"/>
            <a:ext cx="9424741" cy="1683021"/>
          </a:xfrm>
          <a:prstGeom prst="roundRect">
            <a:avLst>
              <a:gd name="adj" fmla="val 4721"/>
            </a:avLst>
          </a:prstGeom>
          <a:solidFill>
            <a:schemeClr val="accent1"/>
          </a:solidFill>
          <a:ln w="15875">
            <a:solidFill>
              <a:schemeClr val="accent1"/>
            </a:solidFill>
            <a:prstDash val="solid"/>
          </a:ln>
          <a:effectLst>
            <a:outerShdw dist="76200" dir="2400000" algn="tl" rotWithShape="0">
              <a:schemeClr val="bg2"/>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52" name="矩形: 圆角 51">
            <a:extLst>
              <a:ext uri="{FF2B5EF4-FFF2-40B4-BE49-F238E27FC236}">
                <a16:creationId xmlns:a16="http://schemas.microsoft.com/office/drawing/2014/main" id="{C65CA254-39A6-4840-899F-F4F9E86A7B1A}"/>
              </a:ext>
            </a:extLst>
          </p:cNvPr>
          <p:cNvSpPr/>
          <p:nvPr/>
        </p:nvSpPr>
        <p:spPr>
          <a:xfrm>
            <a:off x="2394177" y="3073064"/>
            <a:ext cx="9424741" cy="1683021"/>
          </a:xfrm>
          <a:prstGeom prst="roundRect">
            <a:avLst>
              <a:gd name="adj" fmla="val 4721"/>
            </a:avLst>
          </a:prstGeom>
          <a:solidFill>
            <a:schemeClr val="accent1"/>
          </a:solidFill>
          <a:ln w="15875">
            <a:solidFill>
              <a:schemeClr val="accent1"/>
            </a:solidFill>
            <a:prstDash val="solid"/>
          </a:ln>
          <a:effectLst>
            <a:outerShdw dist="76200" dir="2400000" algn="tl" rotWithShape="0">
              <a:schemeClr val="bg2"/>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62" name="矩形: 圆角 61">
            <a:extLst>
              <a:ext uri="{FF2B5EF4-FFF2-40B4-BE49-F238E27FC236}">
                <a16:creationId xmlns:a16="http://schemas.microsoft.com/office/drawing/2014/main" id="{460A7BA7-AFFE-4994-A09D-7E412E9CA041}"/>
              </a:ext>
            </a:extLst>
          </p:cNvPr>
          <p:cNvSpPr/>
          <p:nvPr/>
        </p:nvSpPr>
        <p:spPr>
          <a:xfrm>
            <a:off x="2394177" y="4914628"/>
            <a:ext cx="9424741" cy="1683021"/>
          </a:xfrm>
          <a:prstGeom prst="roundRect">
            <a:avLst>
              <a:gd name="adj" fmla="val 4721"/>
            </a:avLst>
          </a:prstGeom>
          <a:solidFill>
            <a:schemeClr val="accent1"/>
          </a:solidFill>
          <a:ln w="15875">
            <a:solidFill>
              <a:schemeClr val="accent1"/>
            </a:solidFill>
            <a:prstDash val="solid"/>
          </a:ln>
          <a:effectLst>
            <a:outerShdw dist="76200" dir="2400000" algn="tl" rotWithShape="0">
              <a:schemeClr val="bg2"/>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38" name="文本框 37">
            <a:extLst>
              <a:ext uri="{FF2B5EF4-FFF2-40B4-BE49-F238E27FC236}">
                <a16:creationId xmlns:a16="http://schemas.microsoft.com/office/drawing/2014/main" id="{D6593B7F-1563-4BAB-BE8E-21994BB37D8C}"/>
              </a:ext>
            </a:extLst>
          </p:cNvPr>
          <p:cNvSpPr txBox="1"/>
          <p:nvPr/>
        </p:nvSpPr>
        <p:spPr>
          <a:xfrm>
            <a:off x="2729964" y="1550159"/>
            <a:ext cx="1723549" cy="400110"/>
          </a:xfrm>
          <a:prstGeom prst="rect">
            <a:avLst/>
          </a:prstGeom>
          <a:noFill/>
        </p:spPr>
        <p:txBody>
          <a:bodyPr wrap="none" rtlCol="0">
            <a:spAutoFit/>
          </a:bodyPr>
          <a:lstStyle/>
          <a:p>
            <a:r>
              <a:rPr lang="zh-CN" altLang="en-US" sz="2000" dirty="0">
                <a:solidFill>
                  <a:schemeClr val="bg1"/>
                </a:solidFill>
                <a:latin typeface="思源黑体 CN Bold" panose="020B0800000000000000" pitchFamily="34" charset="-122"/>
                <a:ea typeface="思源黑体 CN Bold" panose="020B0800000000000000" pitchFamily="34" charset="-122"/>
              </a:rPr>
              <a:t>研究基础支撑</a:t>
            </a:r>
          </a:p>
        </p:txBody>
      </p:sp>
      <p:sp>
        <p:nvSpPr>
          <p:cNvPr id="43" name="文本框 42">
            <a:extLst>
              <a:ext uri="{FF2B5EF4-FFF2-40B4-BE49-F238E27FC236}">
                <a16:creationId xmlns:a16="http://schemas.microsoft.com/office/drawing/2014/main" id="{0469BDE5-58E9-4E06-A3C4-504481206547}"/>
              </a:ext>
            </a:extLst>
          </p:cNvPr>
          <p:cNvSpPr txBox="1"/>
          <p:nvPr/>
        </p:nvSpPr>
        <p:spPr>
          <a:xfrm>
            <a:off x="2729964" y="1932474"/>
            <a:ext cx="7067859" cy="663387"/>
          </a:xfrm>
          <a:prstGeom prst="rect">
            <a:avLst/>
          </a:prstGeom>
          <a:noFill/>
        </p:spPr>
        <p:txBody>
          <a:bodyPr wrap="square" rtlCol="0">
            <a:spAutoFit/>
          </a:bodyPr>
          <a:lstStyle/>
          <a:p>
            <a:pPr>
              <a:lnSpc>
                <a:spcPct val="120000"/>
              </a:lnSpc>
            </a:pPr>
            <a:r>
              <a:rPr lang="zh-CN" altLang="en-US" sz="1600" dirty="0">
                <a:solidFill>
                  <a:schemeClr val="bg1"/>
                </a:solidFill>
                <a:latin typeface="思源黑体 CN Regular" panose="020B0500000000000000" pitchFamily="34" charset="-122"/>
                <a:ea typeface="思源黑体 CN Regular" panose="020B0500000000000000" pitchFamily="34" charset="-122"/>
              </a:rPr>
              <a:t>前期检测到肝癌奥沙利铂耐药组织中</a:t>
            </a:r>
            <a:r>
              <a:rPr lang="en-US" altLang="zh-CN" sz="1600" dirty="0">
                <a:solidFill>
                  <a:schemeClr val="bg1"/>
                </a:solidFill>
                <a:latin typeface="思源黑体 CN Regular" panose="020B0500000000000000" pitchFamily="34" charset="-122"/>
                <a:ea typeface="思源黑体 CN Regular" panose="020B0500000000000000" pitchFamily="34" charset="-122"/>
              </a:rPr>
              <a:t>PRMT3</a:t>
            </a:r>
            <a:r>
              <a:rPr lang="zh-CN" altLang="en-US" sz="1600" dirty="0">
                <a:solidFill>
                  <a:schemeClr val="bg1"/>
                </a:solidFill>
                <a:latin typeface="思源黑体 CN Regular" panose="020B0500000000000000" pitchFamily="34" charset="-122"/>
                <a:ea typeface="思源黑体 CN Regular" panose="020B0500000000000000" pitchFamily="34" charset="-122"/>
              </a:rPr>
              <a:t>、</a:t>
            </a:r>
            <a:r>
              <a:rPr lang="en-US" altLang="zh-CN" sz="1600" dirty="0">
                <a:solidFill>
                  <a:schemeClr val="bg1"/>
                </a:solidFill>
                <a:latin typeface="思源黑体 CN Regular" panose="020B0500000000000000" pitchFamily="34" charset="-122"/>
                <a:ea typeface="思源黑体 CN Regular" panose="020B0500000000000000" pitchFamily="34" charset="-122"/>
              </a:rPr>
              <a:t>IGF2BP1</a:t>
            </a:r>
            <a:r>
              <a:rPr lang="zh-CN" altLang="en-US" sz="1600" dirty="0">
                <a:solidFill>
                  <a:schemeClr val="bg1"/>
                </a:solidFill>
                <a:latin typeface="思源黑体 CN Regular" panose="020B0500000000000000" pitchFamily="34" charset="-122"/>
                <a:ea typeface="思源黑体 CN Regular" panose="020B0500000000000000" pitchFamily="34" charset="-122"/>
              </a:rPr>
              <a:t>表达显著升高，二者存在蛋白互作，为机制研究提供核心依据。</a:t>
            </a:r>
          </a:p>
        </p:txBody>
      </p:sp>
      <p:sp>
        <p:nvSpPr>
          <p:cNvPr id="46" name="矩形: 圆角 45">
            <a:extLst>
              <a:ext uri="{FF2B5EF4-FFF2-40B4-BE49-F238E27FC236}">
                <a16:creationId xmlns:a16="http://schemas.microsoft.com/office/drawing/2014/main" id="{B577B889-BFB6-4FC9-B87F-3C14B1DAF23A}"/>
              </a:ext>
            </a:extLst>
          </p:cNvPr>
          <p:cNvSpPr/>
          <p:nvPr/>
        </p:nvSpPr>
        <p:spPr>
          <a:xfrm>
            <a:off x="10034228" y="1558300"/>
            <a:ext cx="1495932" cy="434674"/>
          </a:xfrm>
          <a:prstGeom prst="roundRect">
            <a:avLst>
              <a:gd name="adj" fmla="val 50000"/>
            </a:avLst>
          </a:prstGeom>
          <a:solidFill>
            <a:schemeClr val="accent1"/>
          </a:solidFill>
          <a:ln w="15875">
            <a:solidFill>
              <a:schemeClr val="bg1"/>
            </a:solidFill>
            <a:prstDash val="solid"/>
          </a:ln>
          <a:effectLst>
            <a:outerShdw dist="50800" dir="5400000" algn="t" rotWithShape="0">
              <a:schemeClr val="bg1">
                <a:alpha val="15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47" name="文本框 46">
            <a:extLst>
              <a:ext uri="{FF2B5EF4-FFF2-40B4-BE49-F238E27FC236}">
                <a16:creationId xmlns:a16="http://schemas.microsoft.com/office/drawing/2014/main" id="{8A39F97E-D909-40B2-9E9B-7585D36C3C44}"/>
              </a:ext>
            </a:extLst>
          </p:cNvPr>
          <p:cNvSpPr txBox="1"/>
          <p:nvPr/>
        </p:nvSpPr>
        <p:spPr>
          <a:xfrm>
            <a:off x="10034230" y="1591933"/>
            <a:ext cx="1495930" cy="367408"/>
          </a:xfrm>
          <a:prstGeom prst="rect">
            <a:avLst/>
          </a:prstGeom>
          <a:noFill/>
        </p:spPr>
        <p:txBody>
          <a:bodyPr wrap="square" rtlCol="0">
            <a:spAutoFit/>
          </a:bodyPr>
          <a:lstStyle/>
          <a:p>
            <a:pPr algn="ctr">
              <a:lnSpc>
                <a:spcPct val="120000"/>
              </a:lnSpc>
            </a:pPr>
            <a:r>
              <a:rPr lang="zh-CN" altLang="en-US" sz="1600" dirty="0">
                <a:solidFill>
                  <a:schemeClr val="bg1"/>
                </a:solidFill>
                <a:latin typeface="思源黑体 CN Regular" panose="020B0500000000000000" pitchFamily="34" charset="-122"/>
                <a:ea typeface="思源黑体 CN Regular" panose="020B0500000000000000" pitchFamily="34" charset="-122"/>
              </a:rPr>
              <a:t>前期数据支撑</a:t>
            </a:r>
          </a:p>
        </p:txBody>
      </p:sp>
      <p:sp>
        <p:nvSpPr>
          <p:cNvPr id="49" name="矩形: 圆角 48">
            <a:extLst>
              <a:ext uri="{FF2B5EF4-FFF2-40B4-BE49-F238E27FC236}">
                <a16:creationId xmlns:a16="http://schemas.microsoft.com/office/drawing/2014/main" id="{4D50FBAF-DBC1-4394-B540-188FC43FB639}"/>
              </a:ext>
            </a:extLst>
          </p:cNvPr>
          <p:cNvSpPr/>
          <p:nvPr/>
        </p:nvSpPr>
        <p:spPr>
          <a:xfrm>
            <a:off x="10034228" y="2153047"/>
            <a:ext cx="1495932" cy="434674"/>
          </a:xfrm>
          <a:prstGeom prst="roundRect">
            <a:avLst>
              <a:gd name="adj" fmla="val 50000"/>
            </a:avLst>
          </a:prstGeom>
          <a:solidFill>
            <a:schemeClr val="accent1"/>
          </a:solidFill>
          <a:ln w="15875">
            <a:solidFill>
              <a:schemeClr val="bg1"/>
            </a:solidFill>
            <a:prstDash val="solid"/>
          </a:ln>
          <a:effectLst>
            <a:outerShdw dist="50800" dir="5400000" algn="t" rotWithShape="0">
              <a:schemeClr val="bg1">
                <a:alpha val="15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50" name="文本框 49">
            <a:extLst>
              <a:ext uri="{FF2B5EF4-FFF2-40B4-BE49-F238E27FC236}">
                <a16:creationId xmlns:a16="http://schemas.microsoft.com/office/drawing/2014/main" id="{CDDC01F1-DECC-4103-85B4-C65C088E7D40}"/>
              </a:ext>
            </a:extLst>
          </p:cNvPr>
          <p:cNvSpPr txBox="1"/>
          <p:nvPr/>
        </p:nvSpPr>
        <p:spPr>
          <a:xfrm>
            <a:off x="10034230" y="2186680"/>
            <a:ext cx="1495930" cy="367408"/>
          </a:xfrm>
          <a:prstGeom prst="rect">
            <a:avLst/>
          </a:prstGeom>
          <a:noFill/>
        </p:spPr>
        <p:txBody>
          <a:bodyPr wrap="square" rtlCol="0">
            <a:spAutoFit/>
          </a:bodyPr>
          <a:lstStyle/>
          <a:p>
            <a:pPr algn="ctr">
              <a:lnSpc>
                <a:spcPct val="120000"/>
              </a:lnSpc>
            </a:pPr>
            <a:r>
              <a:rPr lang="zh-CN" altLang="en-US" sz="1600" dirty="0">
                <a:solidFill>
                  <a:schemeClr val="bg1"/>
                </a:solidFill>
                <a:latin typeface="思源黑体 CN Regular" panose="020B0500000000000000" pitchFamily="34" charset="-122"/>
                <a:ea typeface="思源黑体 CN Regular" panose="020B0500000000000000" pitchFamily="34" charset="-122"/>
              </a:rPr>
              <a:t>靶点关联明确</a:t>
            </a:r>
          </a:p>
        </p:txBody>
      </p:sp>
      <p:sp>
        <p:nvSpPr>
          <p:cNvPr id="53" name="文本框 52">
            <a:extLst>
              <a:ext uri="{FF2B5EF4-FFF2-40B4-BE49-F238E27FC236}">
                <a16:creationId xmlns:a16="http://schemas.microsoft.com/office/drawing/2014/main" id="{69011767-41A5-4C40-9716-6EDFCE5B8E97}"/>
              </a:ext>
            </a:extLst>
          </p:cNvPr>
          <p:cNvSpPr txBox="1"/>
          <p:nvPr/>
        </p:nvSpPr>
        <p:spPr>
          <a:xfrm>
            <a:off x="2729964" y="3391723"/>
            <a:ext cx="1723549" cy="400110"/>
          </a:xfrm>
          <a:prstGeom prst="rect">
            <a:avLst/>
          </a:prstGeom>
          <a:noFill/>
        </p:spPr>
        <p:txBody>
          <a:bodyPr wrap="none" rtlCol="0">
            <a:spAutoFit/>
          </a:bodyPr>
          <a:lstStyle/>
          <a:p>
            <a:r>
              <a:rPr lang="zh-CN" altLang="en-US" sz="2000" dirty="0">
                <a:solidFill>
                  <a:schemeClr val="bg1"/>
                </a:solidFill>
                <a:latin typeface="思源黑体 CN Bold" panose="020B0800000000000000" pitchFamily="34" charset="-122"/>
                <a:ea typeface="思源黑体 CN Bold" panose="020B0800000000000000" pitchFamily="34" charset="-122"/>
              </a:rPr>
              <a:t>机制逻辑可行</a:t>
            </a:r>
          </a:p>
        </p:txBody>
      </p:sp>
      <p:sp>
        <p:nvSpPr>
          <p:cNvPr id="54" name="文本框 53">
            <a:extLst>
              <a:ext uri="{FF2B5EF4-FFF2-40B4-BE49-F238E27FC236}">
                <a16:creationId xmlns:a16="http://schemas.microsoft.com/office/drawing/2014/main" id="{EDD25A30-F5D1-428E-A1D9-1622D32544E0}"/>
              </a:ext>
            </a:extLst>
          </p:cNvPr>
          <p:cNvSpPr txBox="1"/>
          <p:nvPr/>
        </p:nvSpPr>
        <p:spPr>
          <a:xfrm>
            <a:off x="2729964" y="3774038"/>
            <a:ext cx="7067859" cy="663387"/>
          </a:xfrm>
          <a:prstGeom prst="rect">
            <a:avLst/>
          </a:prstGeom>
          <a:noFill/>
        </p:spPr>
        <p:txBody>
          <a:bodyPr wrap="square" rtlCol="0">
            <a:spAutoFit/>
          </a:bodyPr>
          <a:lstStyle/>
          <a:p>
            <a:pPr>
              <a:lnSpc>
                <a:spcPct val="120000"/>
              </a:lnSpc>
            </a:pPr>
            <a:r>
              <a:rPr lang="en-US" altLang="zh-CN" sz="1600" dirty="0">
                <a:solidFill>
                  <a:schemeClr val="bg1"/>
                </a:solidFill>
                <a:latin typeface="思源黑体 CN Regular" panose="020B0500000000000000" pitchFamily="34" charset="-122"/>
                <a:ea typeface="思源黑体 CN Regular" panose="020B0500000000000000" pitchFamily="34" charset="-122"/>
              </a:rPr>
              <a:t>PRMT3</a:t>
            </a:r>
            <a:r>
              <a:rPr lang="zh-CN" altLang="en-US" sz="1600" dirty="0">
                <a:solidFill>
                  <a:schemeClr val="bg1"/>
                </a:solidFill>
                <a:latin typeface="思源黑体 CN Regular" panose="020B0500000000000000" pitchFamily="34" charset="-122"/>
                <a:ea typeface="思源黑体 CN Regular" panose="020B0500000000000000" pitchFamily="34" charset="-122"/>
              </a:rPr>
              <a:t>可催化</a:t>
            </a:r>
            <a:r>
              <a:rPr lang="en-US" altLang="zh-CN" sz="1600" dirty="0">
                <a:solidFill>
                  <a:schemeClr val="bg1"/>
                </a:solidFill>
                <a:latin typeface="思源黑体 CN Regular" panose="020B0500000000000000" pitchFamily="34" charset="-122"/>
                <a:ea typeface="思源黑体 CN Regular" panose="020B0500000000000000" pitchFamily="34" charset="-122"/>
              </a:rPr>
              <a:t>IGF2BP1</a:t>
            </a:r>
            <a:r>
              <a:rPr lang="zh-CN" altLang="en-US" sz="1600" dirty="0">
                <a:solidFill>
                  <a:schemeClr val="bg1"/>
                </a:solidFill>
                <a:latin typeface="思源黑体 CN Regular" panose="020B0500000000000000" pitchFamily="34" charset="-122"/>
                <a:ea typeface="思源黑体 CN Regular" panose="020B0500000000000000" pitchFamily="34" charset="-122"/>
              </a:rPr>
              <a:t>精氨酸甲基化，修饰后</a:t>
            </a:r>
            <a:r>
              <a:rPr lang="en-US" altLang="zh-CN" sz="1600" dirty="0">
                <a:solidFill>
                  <a:schemeClr val="bg1"/>
                </a:solidFill>
                <a:latin typeface="思源黑体 CN Regular" panose="020B0500000000000000" pitchFamily="34" charset="-122"/>
                <a:ea typeface="思源黑体 CN Regular" panose="020B0500000000000000" pitchFamily="34" charset="-122"/>
              </a:rPr>
              <a:t>IGF2BP1</a:t>
            </a:r>
            <a:r>
              <a:rPr lang="zh-CN" altLang="en-US" sz="1600" dirty="0">
                <a:solidFill>
                  <a:schemeClr val="bg1"/>
                </a:solidFill>
                <a:latin typeface="思源黑体 CN Regular" panose="020B0500000000000000" pitchFamily="34" charset="-122"/>
                <a:ea typeface="思源黑体 CN Regular" panose="020B0500000000000000" pitchFamily="34" charset="-122"/>
              </a:rPr>
              <a:t>稳定性增强，进而调控耐药相关</a:t>
            </a:r>
            <a:r>
              <a:rPr lang="en-US" altLang="zh-CN" sz="1600" dirty="0">
                <a:solidFill>
                  <a:schemeClr val="bg1"/>
                </a:solidFill>
                <a:latin typeface="思源黑体 CN Regular" panose="020B0500000000000000" pitchFamily="34" charset="-122"/>
                <a:ea typeface="思源黑体 CN Regular" panose="020B0500000000000000" pitchFamily="34" charset="-122"/>
              </a:rPr>
              <a:t>mRNA</a:t>
            </a:r>
            <a:r>
              <a:rPr lang="zh-CN" altLang="en-US" sz="1600" dirty="0">
                <a:solidFill>
                  <a:schemeClr val="bg1"/>
                </a:solidFill>
                <a:latin typeface="思源黑体 CN Regular" panose="020B0500000000000000" pitchFamily="34" charset="-122"/>
                <a:ea typeface="思源黑体 CN Regular" panose="020B0500000000000000" pitchFamily="34" charset="-122"/>
              </a:rPr>
              <a:t>翻译，符合现有甲基化调控研究范式。</a:t>
            </a:r>
          </a:p>
        </p:txBody>
      </p:sp>
      <p:sp>
        <p:nvSpPr>
          <p:cNvPr id="56" name="矩形: 圆角 55">
            <a:extLst>
              <a:ext uri="{FF2B5EF4-FFF2-40B4-BE49-F238E27FC236}">
                <a16:creationId xmlns:a16="http://schemas.microsoft.com/office/drawing/2014/main" id="{4F11D03B-15C3-4F2D-A676-2ED2085D3D97}"/>
              </a:ext>
            </a:extLst>
          </p:cNvPr>
          <p:cNvSpPr/>
          <p:nvPr/>
        </p:nvSpPr>
        <p:spPr>
          <a:xfrm>
            <a:off x="10034228" y="3399864"/>
            <a:ext cx="1495932" cy="434674"/>
          </a:xfrm>
          <a:prstGeom prst="roundRect">
            <a:avLst>
              <a:gd name="adj" fmla="val 50000"/>
            </a:avLst>
          </a:prstGeom>
          <a:solidFill>
            <a:schemeClr val="accent1"/>
          </a:solidFill>
          <a:ln w="15875">
            <a:solidFill>
              <a:schemeClr val="bg1"/>
            </a:solidFill>
            <a:prstDash val="solid"/>
          </a:ln>
          <a:effectLst>
            <a:outerShdw dist="50800" dir="5400000" algn="t" rotWithShape="0">
              <a:schemeClr val="bg1">
                <a:alpha val="15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57" name="文本框 56">
            <a:extLst>
              <a:ext uri="{FF2B5EF4-FFF2-40B4-BE49-F238E27FC236}">
                <a16:creationId xmlns:a16="http://schemas.microsoft.com/office/drawing/2014/main" id="{E36A55A0-4D2E-4E0B-A93B-87AD6D036C4E}"/>
              </a:ext>
            </a:extLst>
          </p:cNvPr>
          <p:cNvSpPr txBox="1"/>
          <p:nvPr/>
        </p:nvSpPr>
        <p:spPr>
          <a:xfrm>
            <a:off x="10034230" y="3433497"/>
            <a:ext cx="1495930" cy="367408"/>
          </a:xfrm>
          <a:prstGeom prst="rect">
            <a:avLst/>
          </a:prstGeom>
          <a:noFill/>
        </p:spPr>
        <p:txBody>
          <a:bodyPr wrap="square" rtlCol="0">
            <a:spAutoFit/>
          </a:bodyPr>
          <a:lstStyle/>
          <a:p>
            <a:pPr algn="ctr">
              <a:lnSpc>
                <a:spcPct val="120000"/>
              </a:lnSpc>
            </a:pPr>
            <a:r>
              <a:rPr lang="zh-CN" altLang="en-US" sz="1600" dirty="0">
                <a:solidFill>
                  <a:schemeClr val="bg1"/>
                </a:solidFill>
                <a:latin typeface="思源黑体 CN Regular" panose="020B0500000000000000" pitchFamily="34" charset="-122"/>
                <a:ea typeface="思源黑体 CN Regular" panose="020B0500000000000000" pitchFamily="34" charset="-122"/>
              </a:rPr>
              <a:t>甲基化修饰</a:t>
            </a:r>
          </a:p>
        </p:txBody>
      </p:sp>
      <p:sp>
        <p:nvSpPr>
          <p:cNvPr id="58" name="矩形: 圆角 57">
            <a:extLst>
              <a:ext uri="{FF2B5EF4-FFF2-40B4-BE49-F238E27FC236}">
                <a16:creationId xmlns:a16="http://schemas.microsoft.com/office/drawing/2014/main" id="{D6F1C24F-0C29-482C-A957-9A50C540EEF9}"/>
              </a:ext>
            </a:extLst>
          </p:cNvPr>
          <p:cNvSpPr/>
          <p:nvPr/>
        </p:nvSpPr>
        <p:spPr>
          <a:xfrm>
            <a:off x="10034228" y="3994611"/>
            <a:ext cx="1495932" cy="434674"/>
          </a:xfrm>
          <a:prstGeom prst="roundRect">
            <a:avLst>
              <a:gd name="adj" fmla="val 50000"/>
            </a:avLst>
          </a:prstGeom>
          <a:solidFill>
            <a:schemeClr val="accent1"/>
          </a:solidFill>
          <a:ln w="15875">
            <a:solidFill>
              <a:schemeClr val="bg1"/>
            </a:solidFill>
            <a:prstDash val="solid"/>
          </a:ln>
          <a:effectLst>
            <a:outerShdw dist="50800" dir="5400000" algn="t" rotWithShape="0">
              <a:schemeClr val="bg1">
                <a:alpha val="15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59" name="文本框 58">
            <a:extLst>
              <a:ext uri="{FF2B5EF4-FFF2-40B4-BE49-F238E27FC236}">
                <a16:creationId xmlns:a16="http://schemas.microsoft.com/office/drawing/2014/main" id="{9D91FC89-0ED4-41DD-BD13-C8B312DE72BC}"/>
              </a:ext>
            </a:extLst>
          </p:cNvPr>
          <p:cNvSpPr txBox="1"/>
          <p:nvPr/>
        </p:nvSpPr>
        <p:spPr>
          <a:xfrm>
            <a:off x="10034230" y="4028244"/>
            <a:ext cx="1495930" cy="367408"/>
          </a:xfrm>
          <a:prstGeom prst="rect">
            <a:avLst/>
          </a:prstGeom>
          <a:noFill/>
        </p:spPr>
        <p:txBody>
          <a:bodyPr wrap="square" rtlCol="0">
            <a:spAutoFit/>
          </a:bodyPr>
          <a:lstStyle/>
          <a:p>
            <a:pPr algn="ctr">
              <a:lnSpc>
                <a:spcPct val="120000"/>
              </a:lnSpc>
            </a:pPr>
            <a:r>
              <a:rPr lang="zh-CN" altLang="en-US" sz="1600" dirty="0">
                <a:solidFill>
                  <a:schemeClr val="bg1"/>
                </a:solidFill>
                <a:latin typeface="思源黑体 CN Regular" panose="020B0500000000000000" pitchFamily="34" charset="-122"/>
                <a:ea typeface="思源黑体 CN Regular" panose="020B0500000000000000" pitchFamily="34" charset="-122"/>
              </a:rPr>
              <a:t>耐药基因调控</a:t>
            </a:r>
          </a:p>
        </p:txBody>
      </p:sp>
      <p:sp>
        <p:nvSpPr>
          <p:cNvPr id="68" name="文本框 67">
            <a:extLst>
              <a:ext uri="{FF2B5EF4-FFF2-40B4-BE49-F238E27FC236}">
                <a16:creationId xmlns:a16="http://schemas.microsoft.com/office/drawing/2014/main" id="{42F6DE39-236F-41D5-8476-D989DC0BDFFA}"/>
              </a:ext>
            </a:extLst>
          </p:cNvPr>
          <p:cNvSpPr txBox="1"/>
          <p:nvPr/>
        </p:nvSpPr>
        <p:spPr>
          <a:xfrm>
            <a:off x="2729964" y="5233287"/>
            <a:ext cx="1723549" cy="400110"/>
          </a:xfrm>
          <a:prstGeom prst="rect">
            <a:avLst/>
          </a:prstGeom>
          <a:noFill/>
        </p:spPr>
        <p:txBody>
          <a:bodyPr wrap="none" rtlCol="0">
            <a:spAutoFit/>
          </a:bodyPr>
          <a:lstStyle/>
          <a:p>
            <a:r>
              <a:rPr lang="zh-CN" altLang="en-US" sz="2000" dirty="0">
                <a:solidFill>
                  <a:schemeClr val="bg1"/>
                </a:solidFill>
                <a:latin typeface="思源黑体 CN Bold" panose="020B0800000000000000" pitchFamily="34" charset="-122"/>
                <a:ea typeface="思源黑体 CN Bold" panose="020B0800000000000000" pitchFamily="34" charset="-122"/>
              </a:rPr>
              <a:t>技术方案成熟</a:t>
            </a:r>
          </a:p>
        </p:txBody>
      </p:sp>
      <p:sp>
        <p:nvSpPr>
          <p:cNvPr id="69" name="文本框 68">
            <a:extLst>
              <a:ext uri="{FF2B5EF4-FFF2-40B4-BE49-F238E27FC236}">
                <a16:creationId xmlns:a16="http://schemas.microsoft.com/office/drawing/2014/main" id="{38672070-F83A-4485-9B96-605F36D30768}"/>
              </a:ext>
            </a:extLst>
          </p:cNvPr>
          <p:cNvSpPr txBox="1"/>
          <p:nvPr/>
        </p:nvSpPr>
        <p:spPr>
          <a:xfrm>
            <a:off x="2729964" y="5615602"/>
            <a:ext cx="7067859" cy="663387"/>
          </a:xfrm>
          <a:prstGeom prst="rect">
            <a:avLst/>
          </a:prstGeom>
          <a:noFill/>
        </p:spPr>
        <p:txBody>
          <a:bodyPr wrap="square" rtlCol="0">
            <a:spAutoFit/>
          </a:bodyPr>
          <a:lstStyle/>
          <a:p>
            <a:pPr>
              <a:lnSpc>
                <a:spcPct val="120000"/>
              </a:lnSpc>
            </a:pPr>
            <a:r>
              <a:rPr lang="zh-CN" altLang="en-US" sz="1600" dirty="0">
                <a:solidFill>
                  <a:schemeClr val="bg1"/>
                </a:solidFill>
                <a:latin typeface="思源黑体 CN Regular" panose="020B0500000000000000" pitchFamily="34" charset="-122"/>
                <a:ea typeface="思源黑体 CN Regular" panose="020B0500000000000000" pitchFamily="34" charset="-122"/>
              </a:rPr>
              <a:t>采用</a:t>
            </a:r>
            <a:r>
              <a:rPr lang="en-US" altLang="zh-CN" sz="1600" dirty="0">
                <a:solidFill>
                  <a:schemeClr val="bg1"/>
                </a:solidFill>
                <a:latin typeface="思源黑体 CN Regular" panose="020B0500000000000000" pitchFamily="34" charset="-122"/>
                <a:ea typeface="思源黑体 CN Regular" panose="020B0500000000000000" pitchFamily="34" charset="-122"/>
              </a:rPr>
              <a:t>Western blot</a:t>
            </a:r>
            <a:r>
              <a:rPr lang="zh-CN" altLang="en-US" sz="1600" dirty="0">
                <a:solidFill>
                  <a:schemeClr val="bg1"/>
                </a:solidFill>
                <a:latin typeface="思源黑体 CN Regular" panose="020B0500000000000000" pitchFamily="34" charset="-122"/>
                <a:ea typeface="思源黑体 CN Regular" panose="020B0500000000000000" pitchFamily="34" charset="-122"/>
              </a:rPr>
              <a:t>、</a:t>
            </a:r>
            <a:r>
              <a:rPr lang="en-US" altLang="zh-CN" sz="1600" dirty="0">
                <a:solidFill>
                  <a:schemeClr val="bg1"/>
                </a:solidFill>
                <a:latin typeface="思源黑体 CN Regular" panose="020B0500000000000000" pitchFamily="34" charset="-122"/>
                <a:ea typeface="思源黑体 CN Regular" panose="020B0500000000000000" pitchFamily="34" charset="-122"/>
              </a:rPr>
              <a:t>Co-IP</a:t>
            </a:r>
            <a:r>
              <a:rPr lang="zh-CN" altLang="en-US" sz="1600" dirty="0">
                <a:solidFill>
                  <a:schemeClr val="bg1"/>
                </a:solidFill>
                <a:latin typeface="思源黑体 CN Regular" panose="020B0500000000000000" pitchFamily="34" charset="-122"/>
                <a:ea typeface="思源黑体 CN Regular" panose="020B0500000000000000" pitchFamily="34" charset="-122"/>
              </a:rPr>
              <a:t>、甲基化检测等成熟技术，可构建</a:t>
            </a:r>
            <a:r>
              <a:rPr lang="en-US" altLang="zh-CN" sz="1600" dirty="0">
                <a:solidFill>
                  <a:schemeClr val="bg1"/>
                </a:solidFill>
                <a:latin typeface="思源黑体 CN Regular" panose="020B0500000000000000" pitchFamily="34" charset="-122"/>
                <a:ea typeface="思源黑体 CN Regular" panose="020B0500000000000000" pitchFamily="34" charset="-122"/>
              </a:rPr>
              <a:t>PRMT3</a:t>
            </a:r>
            <a:r>
              <a:rPr lang="zh-CN" altLang="en-US" sz="1600" dirty="0">
                <a:solidFill>
                  <a:schemeClr val="bg1"/>
                </a:solidFill>
                <a:latin typeface="思源黑体 CN Regular" panose="020B0500000000000000" pitchFamily="34" charset="-122"/>
                <a:ea typeface="思源黑体 CN Regular" panose="020B0500000000000000" pitchFamily="34" charset="-122"/>
              </a:rPr>
              <a:t>敲低</a:t>
            </a:r>
            <a:r>
              <a:rPr lang="en-US" altLang="zh-CN" sz="1600" dirty="0">
                <a:solidFill>
                  <a:schemeClr val="bg1"/>
                </a:solidFill>
                <a:latin typeface="思源黑体 CN Regular" panose="020B0500000000000000" pitchFamily="34" charset="-122"/>
                <a:ea typeface="思源黑体 CN Regular" panose="020B0500000000000000" pitchFamily="34" charset="-122"/>
              </a:rPr>
              <a:t>/</a:t>
            </a:r>
            <a:r>
              <a:rPr lang="zh-CN" altLang="en-US" sz="1600" dirty="0">
                <a:solidFill>
                  <a:schemeClr val="bg1"/>
                </a:solidFill>
                <a:latin typeface="思源黑体 CN Regular" panose="020B0500000000000000" pitchFamily="34" charset="-122"/>
                <a:ea typeface="思源黑体 CN Regular" panose="020B0500000000000000" pitchFamily="34" charset="-122"/>
              </a:rPr>
              <a:t>过表达耐药细胞株，实验室具备全套实验设备与操作经验。</a:t>
            </a:r>
          </a:p>
        </p:txBody>
      </p:sp>
      <p:sp>
        <p:nvSpPr>
          <p:cNvPr id="71" name="矩形: 圆角 70">
            <a:extLst>
              <a:ext uri="{FF2B5EF4-FFF2-40B4-BE49-F238E27FC236}">
                <a16:creationId xmlns:a16="http://schemas.microsoft.com/office/drawing/2014/main" id="{CF39135E-E5E4-4B44-9EE5-E5E84A0F22C4}"/>
              </a:ext>
            </a:extLst>
          </p:cNvPr>
          <p:cNvSpPr/>
          <p:nvPr/>
        </p:nvSpPr>
        <p:spPr>
          <a:xfrm>
            <a:off x="10034228" y="5241428"/>
            <a:ext cx="1495932" cy="434674"/>
          </a:xfrm>
          <a:prstGeom prst="roundRect">
            <a:avLst>
              <a:gd name="adj" fmla="val 50000"/>
            </a:avLst>
          </a:prstGeom>
          <a:solidFill>
            <a:schemeClr val="accent1"/>
          </a:solidFill>
          <a:ln w="15875">
            <a:solidFill>
              <a:schemeClr val="bg1"/>
            </a:solidFill>
            <a:prstDash val="solid"/>
          </a:ln>
          <a:effectLst>
            <a:outerShdw dist="50800" dir="5400000" algn="t" rotWithShape="0">
              <a:schemeClr val="bg1">
                <a:alpha val="15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72" name="文本框 71">
            <a:extLst>
              <a:ext uri="{FF2B5EF4-FFF2-40B4-BE49-F238E27FC236}">
                <a16:creationId xmlns:a16="http://schemas.microsoft.com/office/drawing/2014/main" id="{A2DCF551-FD82-4D12-8B9F-355F20F7D031}"/>
              </a:ext>
            </a:extLst>
          </p:cNvPr>
          <p:cNvSpPr txBox="1"/>
          <p:nvPr/>
        </p:nvSpPr>
        <p:spPr>
          <a:xfrm>
            <a:off x="10034230" y="5275061"/>
            <a:ext cx="1495930" cy="367408"/>
          </a:xfrm>
          <a:prstGeom prst="rect">
            <a:avLst/>
          </a:prstGeom>
          <a:noFill/>
        </p:spPr>
        <p:txBody>
          <a:bodyPr wrap="square" rtlCol="0">
            <a:spAutoFit/>
          </a:bodyPr>
          <a:lstStyle/>
          <a:p>
            <a:pPr algn="ctr">
              <a:lnSpc>
                <a:spcPct val="120000"/>
              </a:lnSpc>
            </a:pPr>
            <a:r>
              <a:rPr lang="zh-CN" altLang="en-US" sz="1600" dirty="0">
                <a:solidFill>
                  <a:schemeClr val="bg1"/>
                </a:solidFill>
                <a:latin typeface="思源黑体 CN Regular" panose="020B0500000000000000" pitchFamily="34" charset="-122"/>
                <a:ea typeface="思源黑体 CN Regular" panose="020B0500000000000000" pitchFamily="34" charset="-122"/>
              </a:rPr>
              <a:t>技术手段成熟</a:t>
            </a:r>
          </a:p>
        </p:txBody>
      </p:sp>
      <p:sp>
        <p:nvSpPr>
          <p:cNvPr id="73" name="矩形: 圆角 72">
            <a:extLst>
              <a:ext uri="{FF2B5EF4-FFF2-40B4-BE49-F238E27FC236}">
                <a16:creationId xmlns:a16="http://schemas.microsoft.com/office/drawing/2014/main" id="{5D464504-283E-4E72-BB2C-A5800785AB7E}"/>
              </a:ext>
            </a:extLst>
          </p:cNvPr>
          <p:cNvSpPr/>
          <p:nvPr/>
        </p:nvSpPr>
        <p:spPr>
          <a:xfrm>
            <a:off x="10034228" y="5836175"/>
            <a:ext cx="1495932" cy="434674"/>
          </a:xfrm>
          <a:prstGeom prst="roundRect">
            <a:avLst>
              <a:gd name="adj" fmla="val 50000"/>
            </a:avLst>
          </a:prstGeom>
          <a:solidFill>
            <a:schemeClr val="accent1"/>
          </a:solidFill>
          <a:ln w="15875">
            <a:solidFill>
              <a:schemeClr val="bg1"/>
            </a:solidFill>
            <a:prstDash val="solid"/>
          </a:ln>
          <a:effectLst>
            <a:outerShdw dist="50800" dir="5400000" algn="t" rotWithShape="0">
              <a:schemeClr val="bg1">
                <a:alpha val="15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74" name="文本框 73">
            <a:extLst>
              <a:ext uri="{FF2B5EF4-FFF2-40B4-BE49-F238E27FC236}">
                <a16:creationId xmlns:a16="http://schemas.microsoft.com/office/drawing/2014/main" id="{022432F9-BC6F-435B-A6AD-EFDEA8BB10B1}"/>
              </a:ext>
            </a:extLst>
          </p:cNvPr>
          <p:cNvSpPr txBox="1"/>
          <p:nvPr/>
        </p:nvSpPr>
        <p:spPr>
          <a:xfrm>
            <a:off x="10034230" y="5869808"/>
            <a:ext cx="1495930" cy="367408"/>
          </a:xfrm>
          <a:prstGeom prst="rect">
            <a:avLst/>
          </a:prstGeom>
          <a:noFill/>
        </p:spPr>
        <p:txBody>
          <a:bodyPr wrap="square" rtlCol="0">
            <a:spAutoFit/>
          </a:bodyPr>
          <a:lstStyle/>
          <a:p>
            <a:pPr algn="ctr">
              <a:lnSpc>
                <a:spcPct val="120000"/>
              </a:lnSpc>
            </a:pPr>
            <a:r>
              <a:rPr lang="zh-CN" altLang="en-US" sz="1600" dirty="0">
                <a:solidFill>
                  <a:schemeClr val="bg1"/>
                </a:solidFill>
                <a:latin typeface="思源黑体 CN Regular" panose="020B0500000000000000" pitchFamily="34" charset="-122"/>
                <a:ea typeface="思源黑体 CN Regular" panose="020B0500000000000000" pitchFamily="34" charset="-122"/>
              </a:rPr>
              <a:t>实验条件完备</a:t>
            </a:r>
          </a:p>
        </p:txBody>
      </p:sp>
      <p:sp>
        <p:nvSpPr>
          <p:cNvPr id="121" name="矩形 120">
            <a:extLst>
              <a:ext uri="{FF2B5EF4-FFF2-40B4-BE49-F238E27FC236}">
                <a16:creationId xmlns:a16="http://schemas.microsoft.com/office/drawing/2014/main" id="{402031BB-3324-47DC-A6AB-C331C71B29C0}"/>
              </a:ext>
            </a:extLst>
          </p:cNvPr>
          <p:cNvSpPr/>
          <p:nvPr/>
        </p:nvSpPr>
        <p:spPr>
          <a:xfrm>
            <a:off x="0" y="4807401"/>
            <a:ext cx="2052320" cy="56374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22" name="文本框 121">
            <a:extLst>
              <a:ext uri="{FF2B5EF4-FFF2-40B4-BE49-F238E27FC236}">
                <a16:creationId xmlns:a16="http://schemas.microsoft.com/office/drawing/2014/main" id="{042522C8-F8B8-409D-AD52-B5F8E34549B4}"/>
              </a:ext>
            </a:extLst>
          </p:cNvPr>
          <p:cNvSpPr txBox="1"/>
          <p:nvPr/>
        </p:nvSpPr>
        <p:spPr>
          <a:xfrm>
            <a:off x="2209656" y="248670"/>
            <a:ext cx="2255746" cy="461665"/>
          </a:xfrm>
          <a:prstGeom prst="rect">
            <a:avLst/>
          </a:prstGeom>
          <a:noFill/>
        </p:spPr>
        <p:txBody>
          <a:bodyPr wrap="none" rtlCol="0">
            <a:spAutoFit/>
          </a:bodyPr>
          <a:lstStyle/>
          <a:p>
            <a:r>
              <a:rPr lang="en-US" altLang="zh-CN" sz="2400" dirty="0">
                <a:solidFill>
                  <a:schemeClr val="accent1"/>
                </a:solidFill>
                <a:latin typeface="思源黑体 CN Bold" panose="020B0800000000000000" pitchFamily="34" charset="-122"/>
                <a:ea typeface="思源黑体 CN Bold" panose="020B0800000000000000" pitchFamily="34" charset="-122"/>
              </a:rPr>
              <a:t>5.3 </a:t>
            </a:r>
            <a:r>
              <a:rPr lang="zh-CN" altLang="en-US" sz="2400" dirty="0">
                <a:solidFill>
                  <a:schemeClr val="accent1"/>
                </a:solidFill>
                <a:latin typeface="思源黑体 CN Bold" panose="020B0800000000000000" pitchFamily="34" charset="-122"/>
                <a:ea typeface="思源黑体 CN Bold" panose="020B0800000000000000" pitchFamily="34" charset="-122"/>
              </a:rPr>
              <a:t>可行性分析</a:t>
            </a:r>
          </a:p>
        </p:txBody>
      </p:sp>
      <p:sp>
        <p:nvSpPr>
          <p:cNvPr id="123" name="文本框 122">
            <a:extLst>
              <a:ext uri="{FF2B5EF4-FFF2-40B4-BE49-F238E27FC236}">
                <a16:creationId xmlns:a16="http://schemas.microsoft.com/office/drawing/2014/main" id="{C062D898-32C0-479A-9141-9123F0C9ACC9}"/>
              </a:ext>
            </a:extLst>
          </p:cNvPr>
          <p:cNvSpPr txBox="1"/>
          <p:nvPr/>
        </p:nvSpPr>
        <p:spPr>
          <a:xfrm>
            <a:off x="373082" y="2098899"/>
            <a:ext cx="1660612" cy="338554"/>
          </a:xfrm>
          <a:prstGeom prst="rect">
            <a:avLst/>
          </a:prstGeom>
          <a:noFill/>
        </p:spPr>
        <p:txBody>
          <a:bodyPr wrap="square" rtlCol="0">
            <a:spAutoFit/>
          </a:bodyPr>
          <a:lstStyle/>
          <a:p>
            <a:r>
              <a:rPr lang="zh-CN" altLang="en-US" sz="1600" dirty="0">
                <a:solidFill>
                  <a:schemeClr val="bg1"/>
                </a:solidFill>
                <a:latin typeface="思源黑体 CN Regular" panose="020B0500000000000000" pitchFamily="34" charset="-122"/>
                <a:ea typeface="思源黑体 CN Regular" panose="020B0500000000000000" pitchFamily="34" charset="-122"/>
              </a:rPr>
              <a:t>研究背景及现状</a:t>
            </a:r>
          </a:p>
        </p:txBody>
      </p:sp>
      <p:sp>
        <p:nvSpPr>
          <p:cNvPr id="124" name="任意矩形：001">
            <a:extLst>
              <a:ext uri="{FF2B5EF4-FFF2-40B4-BE49-F238E27FC236}">
                <a16:creationId xmlns:a16="http://schemas.microsoft.com/office/drawing/2014/main" id="{DBD5FFBF-2B0E-43B3-9B90-919C7380BA58}"/>
              </a:ext>
            </a:extLst>
          </p:cNvPr>
          <p:cNvSpPr/>
          <p:nvPr/>
        </p:nvSpPr>
        <p:spPr>
          <a:xfrm>
            <a:off x="131492" y="2145245"/>
            <a:ext cx="226722" cy="202893"/>
          </a:xfrm>
          <a:custGeom>
            <a:avLst/>
            <a:gdLst>
              <a:gd name="connsiteX0" fmla="*/ 79591 w 607005"/>
              <a:gd name="connsiteY0" fmla="*/ 373864 h 543210"/>
              <a:gd name="connsiteX1" fmla="*/ 33701 w 607005"/>
              <a:gd name="connsiteY1" fmla="*/ 461494 h 543210"/>
              <a:gd name="connsiteX2" fmla="*/ 79501 w 607005"/>
              <a:gd name="connsiteY2" fmla="*/ 507233 h 543210"/>
              <a:gd name="connsiteX3" fmla="*/ 125392 w 607005"/>
              <a:gd name="connsiteY3" fmla="*/ 461494 h 543210"/>
              <a:gd name="connsiteX4" fmla="*/ 79591 w 607005"/>
              <a:gd name="connsiteY4" fmla="*/ 373864 h 543210"/>
              <a:gd name="connsiteX5" fmla="*/ 79501 w 607005"/>
              <a:gd name="connsiteY5" fmla="*/ 328661 h 543210"/>
              <a:gd name="connsiteX6" fmla="*/ 92856 w 607005"/>
              <a:gd name="connsiteY6" fmla="*/ 335106 h 543210"/>
              <a:gd name="connsiteX7" fmla="*/ 158913 w 607005"/>
              <a:gd name="connsiteY7" fmla="*/ 461404 h 543210"/>
              <a:gd name="connsiteX8" fmla="*/ 79501 w 607005"/>
              <a:gd name="connsiteY8" fmla="*/ 540710 h 543210"/>
              <a:gd name="connsiteX9" fmla="*/ 0 w 607005"/>
              <a:gd name="connsiteY9" fmla="*/ 461404 h 543210"/>
              <a:gd name="connsiteX10" fmla="*/ 66236 w 607005"/>
              <a:gd name="connsiteY10" fmla="*/ 335195 h 543210"/>
              <a:gd name="connsiteX11" fmla="*/ 79501 w 607005"/>
              <a:gd name="connsiteY11" fmla="*/ 328661 h 543210"/>
              <a:gd name="connsiteX12" fmla="*/ 196548 w 607005"/>
              <a:gd name="connsiteY12" fmla="*/ 281688 h 543210"/>
              <a:gd name="connsiteX13" fmla="*/ 391755 w 607005"/>
              <a:gd name="connsiteY13" fmla="*/ 476431 h 543210"/>
              <a:gd name="connsiteX14" fmla="*/ 540265 w 607005"/>
              <a:gd name="connsiteY14" fmla="*/ 476431 h 543210"/>
              <a:gd name="connsiteX15" fmla="*/ 540265 w 607005"/>
              <a:gd name="connsiteY15" fmla="*/ 328047 h 543210"/>
              <a:gd name="connsiteX16" fmla="*/ 493749 w 607005"/>
              <a:gd name="connsiteY16" fmla="*/ 281688 h 543210"/>
              <a:gd name="connsiteX17" fmla="*/ 261707 w 607005"/>
              <a:gd name="connsiteY17" fmla="*/ 49894 h 543210"/>
              <a:gd name="connsiteX18" fmla="*/ 113017 w 607005"/>
              <a:gd name="connsiteY18" fmla="*/ 198278 h 543210"/>
              <a:gd name="connsiteX19" fmla="*/ 163028 w 607005"/>
              <a:gd name="connsiteY19" fmla="*/ 248127 h 543210"/>
              <a:gd name="connsiteX20" fmla="*/ 460229 w 607005"/>
              <a:gd name="connsiteY20" fmla="*/ 248127 h 543210"/>
              <a:gd name="connsiteX21" fmla="*/ 271073 w 607005"/>
              <a:gd name="connsiteY21" fmla="*/ 0 h 543210"/>
              <a:gd name="connsiteX22" fmla="*/ 282948 w 607005"/>
              <a:gd name="connsiteY22" fmla="*/ 4967 h 543210"/>
              <a:gd name="connsiteX23" fmla="*/ 285099 w 607005"/>
              <a:gd name="connsiteY23" fmla="*/ 25909 h 543210"/>
              <a:gd name="connsiteX24" fmla="*/ 563927 w 607005"/>
              <a:gd name="connsiteY24" fmla="*/ 304331 h 543210"/>
              <a:gd name="connsiteX25" fmla="*/ 563927 w 607005"/>
              <a:gd name="connsiteY25" fmla="*/ 500148 h 543210"/>
              <a:gd name="connsiteX26" fmla="*/ 367824 w 607005"/>
              <a:gd name="connsiteY26" fmla="*/ 500148 h 543210"/>
              <a:gd name="connsiteX27" fmla="*/ 88997 w 607005"/>
              <a:gd name="connsiteY27" fmla="*/ 221726 h 543210"/>
              <a:gd name="connsiteX28" fmla="*/ 68024 w 607005"/>
              <a:gd name="connsiteY28" fmla="*/ 219578 h 543210"/>
              <a:gd name="connsiteX29" fmla="*/ 68024 w 607005"/>
              <a:gd name="connsiteY29" fmla="*/ 195862 h 543210"/>
              <a:gd name="connsiteX30" fmla="*/ 259197 w 607005"/>
              <a:gd name="connsiteY30" fmla="*/ 4967 h 543210"/>
              <a:gd name="connsiteX31" fmla="*/ 271073 w 607005"/>
              <a:gd name="connsiteY31" fmla="*/ 0 h 5432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607005" h="543210">
                <a:moveTo>
                  <a:pt x="79591" y="373864"/>
                </a:moveTo>
                <a:cubicBezTo>
                  <a:pt x="57452" y="405192"/>
                  <a:pt x="33701" y="445024"/>
                  <a:pt x="33701" y="461494"/>
                </a:cubicBezTo>
                <a:cubicBezTo>
                  <a:pt x="33701" y="486646"/>
                  <a:pt x="54226" y="507233"/>
                  <a:pt x="79501" y="507233"/>
                </a:cubicBezTo>
                <a:cubicBezTo>
                  <a:pt x="104687" y="507233"/>
                  <a:pt x="125212" y="486646"/>
                  <a:pt x="125392" y="461494"/>
                </a:cubicBezTo>
                <a:cubicBezTo>
                  <a:pt x="125392" y="445024"/>
                  <a:pt x="101729" y="405282"/>
                  <a:pt x="79591" y="373864"/>
                </a:cubicBezTo>
                <a:close/>
                <a:moveTo>
                  <a:pt x="79501" y="328661"/>
                </a:moveTo>
                <a:cubicBezTo>
                  <a:pt x="84610" y="328661"/>
                  <a:pt x="89540" y="331078"/>
                  <a:pt x="92856" y="335106"/>
                </a:cubicBezTo>
                <a:cubicBezTo>
                  <a:pt x="103881" y="349517"/>
                  <a:pt x="158913" y="423094"/>
                  <a:pt x="158913" y="461404"/>
                </a:cubicBezTo>
                <a:cubicBezTo>
                  <a:pt x="158913" y="505175"/>
                  <a:pt x="123240" y="540710"/>
                  <a:pt x="79501" y="540710"/>
                </a:cubicBezTo>
                <a:cubicBezTo>
                  <a:pt x="35583" y="540710"/>
                  <a:pt x="0" y="505085"/>
                  <a:pt x="0" y="461404"/>
                </a:cubicBezTo>
                <a:cubicBezTo>
                  <a:pt x="0" y="423094"/>
                  <a:pt x="55122" y="349517"/>
                  <a:pt x="66236" y="335195"/>
                </a:cubicBezTo>
                <a:cubicBezTo>
                  <a:pt x="69284" y="331078"/>
                  <a:pt x="74213" y="328661"/>
                  <a:pt x="79501" y="328661"/>
                </a:cubicBezTo>
                <a:close/>
                <a:moveTo>
                  <a:pt x="196548" y="281688"/>
                </a:moveTo>
                <a:lnTo>
                  <a:pt x="391755" y="476431"/>
                </a:lnTo>
                <a:cubicBezTo>
                  <a:pt x="420525" y="505249"/>
                  <a:pt x="488999" y="527623"/>
                  <a:pt x="540265" y="476431"/>
                </a:cubicBezTo>
                <a:cubicBezTo>
                  <a:pt x="592249" y="424524"/>
                  <a:pt x="570290" y="358028"/>
                  <a:pt x="540265" y="328047"/>
                </a:cubicBezTo>
                <a:lnTo>
                  <a:pt x="493749" y="281688"/>
                </a:lnTo>
                <a:close/>
                <a:moveTo>
                  <a:pt x="261707" y="49894"/>
                </a:moveTo>
                <a:lnTo>
                  <a:pt x="113017" y="198278"/>
                </a:lnTo>
                <a:lnTo>
                  <a:pt x="163028" y="248127"/>
                </a:lnTo>
                <a:lnTo>
                  <a:pt x="460229" y="248127"/>
                </a:lnTo>
                <a:close/>
                <a:moveTo>
                  <a:pt x="271073" y="0"/>
                </a:moveTo>
                <a:cubicBezTo>
                  <a:pt x="275375" y="0"/>
                  <a:pt x="279677" y="1655"/>
                  <a:pt x="282948" y="4967"/>
                </a:cubicBezTo>
                <a:cubicBezTo>
                  <a:pt x="288595" y="10694"/>
                  <a:pt x="289312" y="19465"/>
                  <a:pt x="285099" y="25909"/>
                </a:cubicBezTo>
                <a:lnTo>
                  <a:pt x="563927" y="304331"/>
                </a:lnTo>
                <a:cubicBezTo>
                  <a:pt x="604528" y="344872"/>
                  <a:pt x="636076" y="428104"/>
                  <a:pt x="563927" y="500148"/>
                </a:cubicBezTo>
                <a:cubicBezTo>
                  <a:pt x="492495" y="571476"/>
                  <a:pt x="409501" y="541763"/>
                  <a:pt x="367824" y="500148"/>
                </a:cubicBezTo>
                <a:lnTo>
                  <a:pt x="88997" y="221726"/>
                </a:lnTo>
                <a:cubicBezTo>
                  <a:pt x="81468" y="226380"/>
                  <a:pt x="73850" y="225485"/>
                  <a:pt x="68024" y="219578"/>
                </a:cubicBezTo>
                <a:cubicBezTo>
                  <a:pt x="61392" y="213045"/>
                  <a:pt x="61392" y="202395"/>
                  <a:pt x="68024" y="195862"/>
                </a:cubicBezTo>
                <a:lnTo>
                  <a:pt x="259197" y="4967"/>
                </a:lnTo>
                <a:cubicBezTo>
                  <a:pt x="262469" y="1655"/>
                  <a:pt x="266771" y="0"/>
                  <a:pt x="271073"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5" name="任意矩形：002">
            <a:extLst>
              <a:ext uri="{FF2B5EF4-FFF2-40B4-BE49-F238E27FC236}">
                <a16:creationId xmlns:a16="http://schemas.microsoft.com/office/drawing/2014/main" id="{6BAD6569-466C-49CD-9681-8D91748243EF}"/>
              </a:ext>
            </a:extLst>
          </p:cNvPr>
          <p:cNvSpPr/>
          <p:nvPr/>
        </p:nvSpPr>
        <p:spPr>
          <a:xfrm>
            <a:off x="143798" y="2860995"/>
            <a:ext cx="202111" cy="201828"/>
          </a:xfrm>
          <a:custGeom>
            <a:avLst/>
            <a:gdLst>
              <a:gd name="connsiteX0" fmla="*/ 303643 w 607215"/>
              <a:gd name="connsiteY0" fmla="*/ 280873 h 606369"/>
              <a:gd name="connsiteX1" fmla="*/ 325219 w 607215"/>
              <a:gd name="connsiteY1" fmla="*/ 302335 h 606369"/>
              <a:gd name="connsiteX2" fmla="*/ 303643 w 607215"/>
              <a:gd name="connsiteY2" fmla="*/ 323873 h 606369"/>
              <a:gd name="connsiteX3" fmla="*/ 282068 w 607215"/>
              <a:gd name="connsiteY3" fmla="*/ 302335 h 606369"/>
              <a:gd name="connsiteX4" fmla="*/ 303643 w 607215"/>
              <a:gd name="connsiteY4" fmla="*/ 280873 h 606369"/>
              <a:gd name="connsiteX5" fmla="*/ 303678 w 607215"/>
              <a:gd name="connsiteY5" fmla="*/ 280357 h 606369"/>
              <a:gd name="connsiteX6" fmla="*/ 281626 w 607215"/>
              <a:gd name="connsiteY6" fmla="*/ 302374 h 606369"/>
              <a:gd name="connsiteX7" fmla="*/ 303678 w 607215"/>
              <a:gd name="connsiteY7" fmla="*/ 324391 h 606369"/>
              <a:gd name="connsiteX8" fmla="*/ 325730 w 607215"/>
              <a:gd name="connsiteY8" fmla="*/ 302374 h 606369"/>
              <a:gd name="connsiteX9" fmla="*/ 303678 w 607215"/>
              <a:gd name="connsiteY9" fmla="*/ 280357 h 606369"/>
              <a:gd name="connsiteX10" fmla="*/ 303643 w 607215"/>
              <a:gd name="connsiteY10" fmla="*/ 279792 h 606369"/>
              <a:gd name="connsiteX11" fmla="*/ 326224 w 607215"/>
              <a:gd name="connsiteY11" fmla="*/ 302335 h 606369"/>
              <a:gd name="connsiteX12" fmla="*/ 303643 w 607215"/>
              <a:gd name="connsiteY12" fmla="*/ 324954 h 606369"/>
              <a:gd name="connsiteX13" fmla="*/ 281062 w 607215"/>
              <a:gd name="connsiteY13" fmla="*/ 302335 h 606369"/>
              <a:gd name="connsiteX14" fmla="*/ 303643 w 607215"/>
              <a:gd name="connsiteY14" fmla="*/ 279792 h 606369"/>
              <a:gd name="connsiteX15" fmla="*/ 281043 w 607215"/>
              <a:gd name="connsiteY15" fmla="*/ 46068 h 606369"/>
              <a:gd name="connsiteX16" fmla="*/ 120855 w 607215"/>
              <a:gd name="connsiteY16" fmla="*/ 120687 h 606369"/>
              <a:gd name="connsiteX17" fmla="*/ 46132 w 607215"/>
              <a:gd name="connsiteY17" fmla="*/ 280652 h 606369"/>
              <a:gd name="connsiteX18" fmla="*/ 147128 w 607215"/>
              <a:gd name="connsiteY18" fmla="*/ 280652 h 606369"/>
              <a:gd name="connsiteX19" fmla="*/ 169770 w 607215"/>
              <a:gd name="connsiteY19" fmla="*/ 303185 h 606369"/>
              <a:gd name="connsiteX20" fmla="*/ 147128 w 607215"/>
              <a:gd name="connsiteY20" fmla="*/ 325717 h 606369"/>
              <a:gd name="connsiteX21" fmla="*/ 46132 w 607215"/>
              <a:gd name="connsiteY21" fmla="*/ 325717 h 606369"/>
              <a:gd name="connsiteX22" fmla="*/ 120855 w 607215"/>
              <a:gd name="connsiteY22" fmla="*/ 485682 h 606369"/>
              <a:gd name="connsiteX23" fmla="*/ 281043 w 607215"/>
              <a:gd name="connsiteY23" fmla="*/ 560301 h 606369"/>
              <a:gd name="connsiteX24" fmla="*/ 281043 w 607215"/>
              <a:gd name="connsiteY24" fmla="*/ 459446 h 606369"/>
              <a:gd name="connsiteX25" fmla="*/ 303608 w 607215"/>
              <a:gd name="connsiteY25" fmla="*/ 436913 h 606369"/>
              <a:gd name="connsiteX26" fmla="*/ 326172 w 607215"/>
              <a:gd name="connsiteY26" fmla="*/ 459446 h 606369"/>
              <a:gd name="connsiteX27" fmla="*/ 326172 w 607215"/>
              <a:gd name="connsiteY27" fmla="*/ 560301 h 606369"/>
              <a:gd name="connsiteX28" fmla="*/ 486360 w 607215"/>
              <a:gd name="connsiteY28" fmla="*/ 485682 h 606369"/>
              <a:gd name="connsiteX29" fmla="*/ 561083 w 607215"/>
              <a:gd name="connsiteY29" fmla="*/ 325717 h 606369"/>
              <a:gd name="connsiteX30" fmla="*/ 460087 w 607215"/>
              <a:gd name="connsiteY30" fmla="*/ 325717 h 606369"/>
              <a:gd name="connsiteX31" fmla="*/ 437523 w 607215"/>
              <a:gd name="connsiteY31" fmla="*/ 303185 h 606369"/>
              <a:gd name="connsiteX32" fmla="*/ 460087 w 607215"/>
              <a:gd name="connsiteY32" fmla="*/ 280652 h 606369"/>
              <a:gd name="connsiteX33" fmla="*/ 561083 w 607215"/>
              <a:gd name="connsiteY33" fmla="*/ 280652 h 606369"/>
              <a:gd name="connsiteX34" fmla="*/ 486360 w 607215"/>
              <a:gd name="connsiteY34" fmla="*/ 120687 h 606369"/>
              <a:gd name="connsiteX35" fmla="*/ 326172 w 607215"/>
              <a:gd name="connsiteY35" fmla="*/ 46068 h 606369"/>
              <a:gd name="connsiteX36" fmla="*/ 326172 w 607215"/>
              <a:gd name="connsiteY36" fmla="*/ 146923 h 606369"/>
              <a:gd name="connsiteX37" fmla="*/ 303608 w 607215"/>
              <a:gd name="connsiteY37" fmla="*/ 169533 h 606369"/>
              <a:gd name="connsiteX38" fmla="*/ 281043 w 607215"/>
              <a:gd name="connsiteY38" fmla="*/ 146923 h 606369"/>
              <a:gd name="connsiteX39" fmla="*/ 281617 w 607215"/>
              <a:gd name="connsiteY39" fmla="*/ 45548 h 606369"/>
              <a:gd name="connsiteX40" fmla="*/ 281617 w 607215"/>
              <a:gd name="connsiteY40" fmla="*/ 146935 h 606369"/>
              <a:gd name="connsiteX41" fmla="*/ 303640 w 607215"/>
              <a:gd name="connsiteY41" fmla="*/ 169002 h 606369"/>
              <a:gd name="connsiteX42" fmla="*/ 325741 w 607215"/>
              <a:gd name="connsiteY42" fmla="*/ 146935 h 606369"/>
              <a:gd name="connsiteX43" fmla="*/ 325741 w 607215"/>
              <a:gd name="connsiteY43" fmla="*/ 45548 h 606369"/>
              <a:gd name="connsiteX44" fmla="*/ 561663 w 607215"/>
              <a:gd name="connsiteY44" fmla="*/ 281192 h 606369"/>
              <a:gd name="connsiteX45" fmla="*/ 460123 w 607215"/>
              <a:gd name="connsiteY45" fmla="*/ 281192 h 606369"/>
              <a:gd name="connsiteX46" fmla="*/ 438022 w 607215"/>
              <a:gd name="connsiteY46" fmla="*/ 303182 h 606369"/>
              <a:gd name="connsiteX47" fmla="*/ 460123 w 607215"/>
              <a:gd name="connsiteY47" fmla="*/ 325250 h 606369"/>
              <a:gd name="connsiteX48" fmla="*/ 561663 w 607215"/>
              <a:gd name="connsiteY48" fmla="*/ 325250 h 606369"/>
              <a:gd name="connsiteX49" fmla="*/ 325741 w 607215"/>
              <a:gd name="connsiteY49" fmla="*/ 560815 h 606369"/>
              <a:gd name="connsiteX50" fmla="*/ 325741 w 607215"/>
              <a:gd name="connsiteY50" fmla="*/ 459429 h 606369"/>
              <a:gd name="connsiteX51" fmla="*/ 303640 w 607215"/>
              <a:gd name="connsiteY51" fmla="*/ 437361 h 606369"/>
              <a:gd name="connsiteX52" fmla="*/ 281617 w 607215"/>
              <a:gd name="connsiteY52" fmla="*/ 459429 h 606369"/>
              <a:gd name="connsiteX53" fmla="*/ 281617 w 607215"/>
              <a:gd name="connsiteY53" fmla="*/ 560815 h 606369"/>
              <a:gd name="connsiteX54" fmla="*/ 45616 w 607215"/>
              <a:gd name="connsiteY54" fmla="*/ 325250 h 606369"/>
              <a:gd name="connsiteX55" fmla="*/ 147157 w 607215"/>
              <a:gd name="connsiteY55" fmla="*/ 325250 h 606369"/>
              <a:gd name="connsiteX56" fmla="*/ 169257 w 607215"/>
              <a:gd name="connsiteY56" fmla="*/ 303182 h 606369"/>
              <a:gd name="connsiteX57" fmla="*/ 147157 w 607215"/>
              <a:gd name="connsiteY57" fmla="*/ 281192 h 606369"/>
              <a:gd name="connsiteX58" fmla="*/ 45616 w 607215"/>
              <a:gd name="connsiteY58" fmla="*/ 281192 h 606369"/>
              <a:gd name="connsiteX59" fmla="*/ 281617 w 607215"/>
              <a:gd name="connsiteY59" fmla="*/ 45548 h 606369"/>
              <a:gd name="connsiteX60" fmla="*/ 281508 w 607215"/>
              <a:gd name="connsiteY60" fmla="*/ 44987 h 606369"/>
              <a:gd name="connsiteX61" fmla="*/ 120160 w 607215"/>
              <a:gd name="connsiteY61" fmla="*/ 119993 h 606369"/>
              <a:gd name="connsiteX62" fmla="*/ 45050 w 607215"/>
              <a:gd name="connsiteY62" fmla="*/ 281115 h 606369"/>
              <a:gd name="connsiteX63" fmla="*/ 45050 w 607215"/>
              <a:gd name="connsiteY63" fmla="*/ 281655 h 606369"/>
              <a:gd name="connsiteX64" fmla="*/ 147128 w 607215"/>
              <a:gd name="connsiteY64" fmla="*/ 281655 h 606369"/>
              <a:gd name="connsiteX65" fmla="*/ 168688 w 607215"/>
              <a:gd name="connsiteY65" fmla="*/ 303185 h 606369"/>
              <a:gd name="connsiteX66" fmla="*/ 147128 w 607215"/>
              <a:gd name="connsiteY66" fmla="*/ 324714 h 606369"/>
              <a:gd name="connsiteX67" fmla="*/ 45050 w 607215"/>
              <a:gd name="connsiteY67" fmla="*/ 324714 h 606369"/>
              <a:gd name="connsiteX68" fmla="*/ 45050 w 607215"/>
              <a:gd name="connsiteY68" fmla="*/ 325254 h 606369"/>
              <a:gd name="connsiteX69" fmla="*/ 120160 w 607215"/>
              <a:gd name="connsiteY69" fmla="*/ 486454 h 606369"/>
              <a:gd name="connsiteX70" fmla="*/ 281508 w 607215"/>
              <a:gd name="connsiteY70" fmla="*/ 561382 h 606369"/>
              <a:gd name="connsiteX71" fmla="*/ 282048 w 607215"/>
              <a:gd name="connsiteY71" fmla="*/ 561459 h 606369"/>
              <a:gd name="connsiteX72" fmla="*/ 282048 w 607215"/>
              <a:gd name="connsiteY72" fmla="*/ 459446 h 606369"/>
              <a:gd name="connsiteX73" fmla="*/ 303608 w 607215"/>
              <a:gd name="connsiteY73" fmla="*/ 437916 h 606369"/>
              <a:gd name="connsiteX74" fmla="*/ 325167 w 607215"/>
              <a:gd name="connsiteY74" fmla="*/ 459446 h 606369"/>
              <a:gd name="connsiteX75" fmla="*/ 325167 w 607215"/>
              <a:gd name="connsiteY75" fmla="*/ 561459 h 606369"/>
              <a:gd name="connsiteX76" fmla="*/ 325708 w 607215"/>
              <a:gd name="connsiteY76" fmla="*/ 561382 h 606369"/>
              <a:gd name="connsiteX77" fmla="*/ 487132 w 607215"/>
              <a:gd name="connsiteY77" fmla="*/ 486454 h 606369"/>
              <a:gd name="connsiteX78" fmla="*/ 562165 w 607215"/>
              <a:gd name="connsiteY78" fmla="*/ 325254 h 606369"/>
              <a:gd name="connsiteX79" fmla="*/ 562242 w 607215"/>
              <a:gd name="connsiteY79" fmla="*/ 324714 h 606369"/>
              <a:gd name="connsiteX80" fmla="*/ 460087 w 607215"/>
              <a:gd name="connsiteY80" fmla="*/ 324714 h 606369"/>
              <a:gd name="connsiteX81" fmla="*/ 438527 w 607215"/>
              <a:gd name="connsiteY81" fmla="*/ 303185 h 606369"/>
              <a:gd name="connsiteX82" fmla="*/ 460087 w 607215"/>
              <a:gd name="connsiteY82" fmla="*/ 281655 h 606369"/>
              <a:gd name="connsiteX83" fmla="*/ 562242 w 607215"/>
              <a:gd name="connsiteY83" fmla="*/ 281655 h 606369"/>
              <a:gd name="connsiteX84" fmla="*/ 562165 w 607215"/>
              <a:gd name="connsiteY84" fmla="*/ 281115 h 606369"/>
              <a:gd name="connsiteX85" fmla="*/ 487132 w 607215"/>
              <a:gd name="connsiteY85" fmla="*/ 119993 h 606369"/>
              <a:gd name="connsiteX86" fmla="*/ 325708 w 607215"/>
              <a:gd name="connsiteY86" fmla="*/ 44987 h 606369"/>
              <a:gd name="connsiteX87" fmla="*/ 325167 w 607215"/>
              <a:gd name="connsiteY87" fmla="*/ 44987 h 606369"/>
              <a:gd name="connsiteX88" fmla="*/ 325167 w 607215"/>
              <a:gd name="connsiteY88" fmla="*/ 146923 h 606369"/>
              <a:gd name="connsiteX89" fmla="*/ 303608 w 607215"/>
              <a:gd name="connsiteY89" fmla="*/ 168453 h 606369"/>
              <a:gd name="connsiteX90" fmla="*/ 282048 w 607215"/>
              <a:gd name="connsiteY90" fmla="*/ 146923 h 606369"/>
              <a:gd name="connsiteX91" fmla="*/ 282048 w 607215"/>
              <a:gd name="connsiteY91" fmla="*/ 44987 h 606369"/>
              <a:gd name="connsiteX92" fmla="*/ 303608 w 607215"/>
              <a:gd name="connsiteY92" fmla="*/ 1003 h 606369"/>
              <a:gd name="connsiteX93" fmla="*/ 421450 w 607215"/>
              <a:gd name="connsiteY93" fmla="*/ 24770 h 606369"/>
              <a:gd name="connsiteX94" fmla="*/ 517578 w 607215"/>
              <a:gd name="connsiteY94" fmla="*/ 89512 h 606369"/>
              <a:gd name="connsiteX95" fmla="*/ 582410 w 607215"/>
              <a:gd name="connsiteY95" fmla="*/ 185584 h 606369"/>
              <a:gd name="connsiteX96" fmla="*/ 606211 w 607215"/>
              <a:gd name="connsiteY96" fmla="*/ 303185 h 606369"/>
              <a:gd name="connsiteX97" fmla="*/ 582410 w 607215"/>
              <a:gd name="connsiteY97" fmla="*/ 420863 h 606369"/>
              <a:gd name="connsiteX98" fmla="*/ 517578 w 607215"/>
              <a:gd name="connsiteY98" fmla="*/ 516857 h 606369"/>
              <a:gd name="connsiteX99" fmla="*/ 421450 w 607215"/>
              <a:gd name="connsiteY99" fmla="*/ 581599 h 606369"/>
              <a:gd name="connsiteX100" fmla="*/ 303608 w 607215"/>
              <a:gd name="connsiteY100" fmla="*/ 605366 h 606369"/>
              <a:gd name="connsiteX101" fmla="*/ 185842 w 607215"/>
              <a:gd name="connsiteY101" fmla="*/ 581599 h 606369"/>
              <a:gd name="connsiteX102" fmla="*/ 89637 w 607215"/>
              <a:gd name="connsiteY102" fmla="*/ 516857 h 606369"/>
              <a:gd name="connsiteX103" fmla="*/ 24805 w 607215"/>
              <a:gd name="connsiteY103" fmla="*/ 420863 h 606369"/>
              <a:gd name="connsiteX104" fmla="*/ 1004 w 607215"/>
              <a:gd name="connsiteY104" fmla="*/ 303185 h 606369"/>
              <a:gd name="connsiteX105" fmla="*/ 24805 w 607215"/>
              <a:gd name="connsiteY105" fmla="*/ 185584 h 606369"/>
              <a:gd name="connsiteX106" fmla="*/ 89637 w 607215"/>
              <a:gd name="connsiteY106" fmla="*/ 89512 h 606369"/>
              <a:gd name="connsiteX107" fmla="*/ 185842 w 607215"/>
              <a:gd name="connsiteY107" fmla="*/ 24770 h 606369"/>
              <a:gd name="connsiteX108" fmla="*/ 303608 w 607215"/>
              <a:gd name="connsiteY108" fmla="*/ 1003 h 606369"/>
              <a:gd name="connsiteX109" fmla="*/ 303640 w 607215"/>
              <a:gd name="connsiteY109" fmla="*/ 565 h 606369"/>
              <a:gd name="connsiteX110" fmla="*/ 185640 w 607215"/>
              <a:gd name="connsiteY110" fmla="*/ 24330 h 606369"/>
              <a:gd name="connsiteX111" fmla="*/ 89354 w 607215"/>
              <a:gd name="connsiteY111" fmla="*/ 89220 h 606369"/>
              <a:gd name="connsiteX112" fmla="*/ 24366 w 607215"/>
              <a:gd name="connsiteY112" fmla="*/ 185360 h 606369"/>
              <a:gd name="connsiteX113" fmla="*/ 565 w 607215"/>
              <a:gd name="connsiteY113" fmla="*/ 303182 h 606369"/>
              <a:gd name="connsiteX114" fmla="*/ 24366 w 607215"/>
              <a:gd name="connsiteY114" fmla="*/ 421004 h 606369"/>
              <a:gd name="connsiteX115" fmla="*/ 89354 w 607215"/>
              <a:gd name="connsiteY115" fmla="*/ 517221 h 606369"/>
              <a:gd name="connsiteX116" fmla="*/ 185640 w 607215"/>
              <a:gd name="connsiteY116" fmla="*/ 582034 h 606369"/>
              <a:gd name="connsiteX117" fmla="*/ 303640 w 607215"/>
              <a:gd name="connsiteY117" fmla="*/ 605876 h 606369"/>
              <a:gd name="connsiteX118" fmla="*/ 421640 w 607215"/>
              <a:gd name="connsiteY118" fmla="*/ 582034 h 606369"/>
              <a:gd name="connsiteX119" fmla="*/ 518003 w 607215"/>
              <a:gd name="connsiteY119" fmla="*/ 517221 h 606369"/>
              <a:gd name="connsiteX120" fmla="*/ 582914 w 607215"/>
              <a:gd name="connsiteY120" fmla="*/ 421004 h 606369"/>
              <a:gd name="connsiteX121" fmla="*/ 606792 w 607215"/>
              <a:gd name="connsiteY121" fmla="*/ 303182 h 606369"/>
              <a:gd name="connsiteX122" fmla="*/ 582914 w 607215"/>
              <a:gd name="connsiteY122" fmla="*/ 185360 h 606369"/>
              <a:gd name="connsiteX123" fmla="*/ 518003 w 607215"/>
              <a:gd name="connsiteY123" fmla="*/ 89220 h 606369"/>
              <a:gd name="connsiteX124" fmla="*/ 421640 w 607215"/>
              <a:gd name="connsiteY124" fmla="*/ 24330 h 606369"/>
              <a:gd name="connsiteX125" fmla="*/ 303640 w 607215"/>
              <a:gd name="connsiteY125" fmla="*/ 565 h 606369"/>
              <a:gd name="connsiteX126" fmla="*/ 303608 w 607215"/>
              <a:gd name="connsiteY126" fmla="*/ 0 h 606369"/>
              <a:gd name="connsiteX127" fmla="*/ 421836 w 607215"/>
              <a:gd name="connsiteY127" fmla="*/ 23844 h 606369"/>
              <a:gd name="connsiteX128" fmla="*/ 518351 w 607215"/>
              <a:gd name="connsiteY128" fmla="*/ 88818 h 606369"/>
              <a:gd name="connsiteX129" fmla="*/ 583338 w 607215"/>
              <a:gd name="connsiteY129" fmla="*/ 185198 h 606369"/>
              <a:gd name="connsiteX130" fmla="*/ 607215 w 607215"/>
              <a:gd name="connsiteY130" fmla="*/ 303185 h 606369"/>
              <a:gd name="connsiteX131" fmla="*/ 583338 w 607215"/>
              <a:gd name="connsiteY131" fmla="*/ 421248 h 606369"/>
              <a:gd name="connsiteX132" fmla="*/ 518351 w 607215"/>
              <a:gd name="connsiteY132" fmla="*/ 517629 h 606369"/>
              <a:gd name="connsiteX133" fmla="*/ 421836 w 607215"/>
              <a:gd name="connsiteY133" fmla="*/ 582525 h 606369"/>
              <a:gd name="connsiteX134" fmla="*/ 303608 w 607215"/>
              <a:gd name="connsiteY134" fmla="*/ 606369 h 606369"/>
              <a:gd name="connsiteX135" fmla="*/ 185456 w 607215"/>
              <a:gd name="connsiteY135" fmla="*/ 582525 h 606369"/>
              <a:gd name="connsiteX136" fmla="*/ 88942 w 607215"/>
              <a:gd name="connsiteY136" fmla="*/ 517629 h 606369"/>
              <a:gd name="connsiteX137" fmla="*/ 23877 w 607215"/>
              <a:gd name="connsiteY137" fmla="*/ 421248 h 606369"/>
              <a:gd name="connsiteX138" fmla="*/ 0 w 607215"/>
              <a:gd name="connsiteY138" fmla="*/ 303185 h 606369"/>
              <a:gd name="connsiteX139" fmla="*/ 23877 w 607215"/>
              <a:gd name="connsiteY139" fmla="*/ 185198 h 606369"/>
              <a:gd name="connsiteX140" fmla="*/ 88942 w 607215"/>
              <a:gd name="connsiteY140" fmla="*/ 88818 h 606369"/>
              <a:gd name="connsiteX141" fmla="*/ 185456 w 607215"/>
              <a:gd name="connsiteY141" fmla="*/ 23844 h 606369"/>
              <a:gd name="connsiteX142" fmla="*/ 303608 w 607215"/>
              <a:gd name="connsiteY142" fmla="*/ 0 h 6063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Lst>
            <a:rect l="l" t="t" r="r" b="b"/>
            <a:pathLst>
              <a:path w="607215" h="606369">
                <a:moveTo>
                  <a:pt x="303643" y="280873"/>
                </a:moveTo>
                <a:cubicBezTo>
                  <a:pt x="315552" y="280873"/>
                  <a:pt x="325219" y="290523"/>
                  <a:pt x="325219" y="302335"/>
                </a:cubicBezTo>
                <a:cubicBezTo>
                  <a:pt x="325219" y="314223"/>
                  <a:pt x="315552" y="323873"/>
                  <a:pt x="303643" y="323873"/>
                </a:cubicBezTo>
                <a:cubicBezTo>
                  <a:pt x="291734" y="323873"/>
                  <a:pt x="282068" y="314223"/>
                  <a:pt x="282068" y="302335"/>
                </a:cubicBezTo>
                <a:cubicBezTo>
                  <a:pt x="282068" y="290523"/>
                  <a:pt x="291734" y="280873"/>
                  <a:pt x="303643" y="280873"/>
                </a:cubicBezTo>
                <a:close/>
                <a:moveTo>
                  <a:pt x="303678" y="280357"/>
                </a:moveTo>
                <a:cubicBezTo>
                  <a:pt x="291499" y="280357"/>
                  <a:pt x="281626" y="290214"/>
                  <a:pt x="281626" y="302374"/>
                </a:cubicBezTo>
                <a:cubicBezTo>
                  <a:pt x="281626" y="314534"/>
                  <a:pt x="291499" y="324391"/>
                  <a:pt x="303678" y="324391"/>
                </a:cubicBezTo>
                <a:cubicBezTo>
                  <a:pt x="315857" y="324391"/>
                  <a:pt x="325730" y="314534"/>
                  <a:pt x="325730" y="302374"/>
                </a:cubicBezTo>
                <a:cubicBezTo>
                  <a:pt x="325730" y="290214"/>
                  <a:pt x="315857" y="280357"/>
                  <a:pt x="303678" y="280357"/>
                </a:cubicBezTo>
                <a:close/>
                <a:moveTo>
                  <a:pt x="303643" y="279792"/>
                </a:moveTo>
                <a:cubicBezTo>
                  <a:pt x="316094" y="279792"/>
                  <a:pt x="326224" y="289905"/>
                  <a:pt x="326224" y="302335"/>
                </a:cubicBezTo>
                <a:cubicBezTo>
                  <a:pt x="326224" y="314841"/>
                  <a:pt x="316094" y="324954"/>
                  <a:pt x="303643" y="324954"/>
                </a:cubicBezTo>
                <a:cubicBezTo>
                  <a:pt x="291193" y="324954"/>
                  <a:pt x="281062" y="314841"/>
                  <a:pt x="281062" y="302335"/>
                </a:cubicBezTo>
                <a:cubicBezTo>
                  <a:pt x="281062" y="289905"/>
                  <a:pt x="291193" y="279792"/>
                  <a:pt x="303643" y="279792"/>
                </a:cubicBezTo>
                <a:close/>
                <a:moveTo>
                  <a:pt x="281043" y="46068"/>
                </a:moveTo>
                <a:cubicBezTo>
                  <a:pt x="220693" y="51315"/>
                  <a:pt x="163820" y="77783"/>
                  <a:pt x="120855" y="120687"/>
                </a:cubicBezTo>
                <a:cubicBezTo>
                  <a:pt x="77891" y="163591"/>
                  <a:pt x="51387" y="220385"/>
                  <a:pt x="46132" y="280652"/>
                </a:cubicBezTo>
                <a:lnTo>
                  <a:pt x="147128" y="280652"/>
                </a:lnTo>
                <a:cubicBezTo>
                  <a:pt x="159647" y="280652"/>
                  <a:pt x="169770" y="290761"/>
                  <a:pt x="169770" y="303185"/>
                </a:cubicBezTo>
                <a:cubicBezTo>
                  <a:pt x="169770" y="315608"/>
                  <a:pt x="159647" y="325717"/>
                  <a:pt x="147128" y="325717"/>
                </a:cubicBezTo>
                <a:lnTo>
                  <a:pt x="46132" y="325717"/>
                </a:lnTo>
                <a:cubicBezTo>
                  <a:pt x="51387" y="385984"/>
                  <a:pt x="77891" y="442778"/>
                  <a:pt x="120855" y="485682"/>
                </a:cubicBezTo>
                <a:cubicBezTo>
                  <a:pt x="163820" y="528586"/>
                  <a:pt x="220693" y="555131"/>
                  <a:pt x="281043" y="560301"/>
                </a:cubicBezTo>
                <a:lnTo>
                  <a:pt x="281043" y="459446"/>
                </a:lnTo>
                <a:cubicBezTo>
                  <a:pt x="281043" y="447022"/>
                  <a:pt x="291167" y="436913"/>
                  <a:pt x="303608" y="436913"/>
                </a:cubicBezTo>
                <a:cubicBezTo>
                  <a:pt x="316049" y="436913"/>
                  <a:pt x="326172" y="447022"/>
                  <a:pt x="326172" y="459446"/>
                </a:cubicBezTo>
                <a:lnTo>
                  <a:pt x="326172" y="560301"/>
                </a:lnTo>
                <a:cubicBezTo>
                  <a:pt x="386522" y="555131"/>
                  <a:pt x="443395" y="528586"/>
                  <a:pt x="486360" y="485682"/>
                </a:cubicBezTo>
                <a:cubicBezTo>
                  <a:pt x="529324" y="442778"/>
                  <a:pt x="555906" y="385984"/>
                  <a:pt x="561083" y="325717"/>
                </a:cubicBezTo>
                <a:lnTo>
                  <a:pt x="460087" y="325717"/>
                </a:lnTo>
                <a:cubicBezTo>
                  <a:pt x="447645" y="325717"/>
                  <a:pt x="437523" y="315608"/>
                  <a:pt x="437523" y="303185"/>
                </a:cubicBezTo>
                <a:cubicBezTo>
                  <a:pt x="437523" y="290761"/>
                  <a:pt x="447645" y="280652"/>
                  <a:pt x="460087" y="280652"/>
                </a:cubicBezTo>
                <a:lnTo>
                  <a:pt x="561083" y="280652"/>
                </a:lnTo>
                <a:cubicBezTo>
                  <a:pt x="555906" y="220385"/>
                  <a:pt x="529324" y="163591"/>
                  <a:pt x="486360" y="120687"/>
                </a:cubicBezTo>
                <a:cubicBezTo>
                  <a:pt x="443395" y="77783"/>
                  <a:pt x="386522" y="51315"/>
                  <a:pt x="326172" y="46068"/>
                </a:cubicBezTo>
                <a:lnTo>
                  <a:pt x="326172" y="146923"/>
                </a:lnTo>
                <a:cubicBezTo>
                  <a:pt x="326172" y="159424"/>
                  <a:pt x="316049" y="169533"/>
                  <a:pt x="303608" y="169533"/>
                </a:cubicBezTo>
                <a:cubicBezTo>
                  <a:pt x="291167" y="169533"/>
                  <a:pt x="281043" y="159424"/>
                  <a:pt x="281043" y="146923"/>
                </a:cubicBezTo>
                <a:close/>
                <a:moveTo>
                  <a:pt x="281617" y="45548"/>
                </a:moveTo>
                <a:lnTo>
                  <a:pt x="281617" y="146935"/>
                </a:lnTo>
                <a:cubicBezTo>
                  <a:pt x="281617" y="159126"/>
                  <a:pt x="291431" y="169002"/>
                  <a:pt x="303640" y="169002"/>
                </a:cubicBezTo>
                <a:cubicBezTo>
                  <a:pt x="315850" y="169002"/>
                  <a:pt x="325741" y="159126"/>
                  <a:pt x="325741" y="146935"/>
                </a:cubicBezTo>
                <a:lnTo>
                  <a:pt x="325741" y="45548"/>
                </a:lnTo>
                <a:cubicBezTo>
                  <a:pt x="451159" y="56119"/>
                  <a:pt x="551077" y="155963"/>
                  <a:pt x="561663" y="281192"/>
                </a:cubicBezTo>
                <a:lnTo>
                  <a:pt x="460123" y="281192"/>
                </a:lnTo>
                <a:cubicBezTo>
                  <a:pt x="447914" y="281192"/>
                  <a:pt x="438022" y="290991"/>
                  <a:pt x="438022" y="303182"/>
                </a:cubicBezTo>
                <a:cubicBezTo>
                  <a:pt x="438022" y="315373"/>
                  <a:pt x="447914" y="325250"/>
                  <a:pt x="460123" y="325250"/>
                </a:cubicBezTo>
                <a:lnTo>
                  <a:pt x="561663" y="325250"/>
                </a:lnTo>
                <a:cubicBezTo>
                  <a:pt x="551077" y="450478"/>
                  <a:pt x="451159" y="550245"/>
                  <a:pt x="325741" y="560815"/>
                </a:cubicBezTo>
                <a:lnTo>
                  <a:pt x="325741" y="459429"/>
                </a:lnTo>
                <a:cubicBezTo>
                  <a:pt x="325741" y="447238"/>
                  <a:pt x="315850" y="437361"/>
                  <a:pt x="303640" y="437361"/>
                </a:cubicBezTo>
                <a:cubicBezTo>
                  <a:pt x="291431" y="437361"/>
                  <a:pt x="281617" y="447238"/>
                  <a:pt x="281617" y="459429"/>
                </a:cubicBezTo>
                <a:lnTo>
                  <a:pt x="281617" y="560815"/>
                </a:lnTo>
                <a:cubicBezTo>
                  <a:pt x="156198" y="550245"/>
                  <a:pt x="56203" y="450478"/>
                  <a:pt x="45616" y="325250"/>
                </a:cubicBezTo>
                <a:lnTo>
                  <a:pt x="147157" y="325250"/>
                </a:lnTo>
                <a:cubicBezTo>
                  <a:pt x="159366" y="325250"/>
                  <a:pt x="169257" y="315373"/>
                  <a:pt x="169257" y="303182"/>
                </a:cubicBezTo>
                <a:cubicBezTo>
                  <a:pt x="169257" y="290991"/>
                  <a:pt x="159366" y="281192"/>
                  <a:pt x="147157" y="281192"/>
                </a:cubicBezTo>
                <a:lnTo>
                  <a:pt x="45616" y="281192"/>
                </a:lnTo>
                <a:cubicBezTo>
                  <a:pt x="56203" y="155963"/>
                  <a:pt x="156198" y="56119"/>
                  <a:pt x="281617" y="45548"/>
                </a:cubicBezTo>
                <a:close/>
                <a:moveTo>
                  <a:pt x="281508" y="44987"/>
                </a:moveTo>
                <a:cubicBezTo>
                  <a:pt x="220693" y="50158"/>
                  <a:pt x="163433" y="76780"/>
                  <a:pt x="120160" y="119993"/>
                </a:cubicBezTo>
                <a:cubicBezTo>
                  <a:pt x="76887" y="163205"/>
                  <a:pt x="50228" y="220385"/>
                  <a:pt x="45050" y="281115"/>
                </a:cubicBezTo>
                <a:lnTo>
                  <a:pt x="45050" y="281655"/>
                </a:lnTo>
                <a:lnTo>
                  <a:pt x="147128" y="281655"/>
                </a:lnTo>
                <a:cubicBezTo>
                  <a:pt x="159029" y="281655"/>
                  <a:pt x="168688" y="291301"/>
                  <a:pt x="168688" y="303185"/>
                </a:cubicBezTo>
                <a:cubicBezTo>
                  <a:pt x="168688" y="315068"/>
                  <a:pt x="159029" y="324714"/>
                  <a:pt x="147128" y="324714"/>
                </a:cubicBezTo>
                <a:lnTo>
                  <a:pt x="45050" y="324714"/>
                </a:lnTo>
                <a:lnTo>
                  <a:pt x="45050" y="325254"/>
                </a:lnTo>
                <a:cubicBezTo>
                  <a:pt x="50228" y="385984"/>
                  <a:pt x="76887" y="443241"/>
                  <a:pt x="120160" y="486454"/>
                </a:cubicBezTo>
                <a:cubicBezTo>
                  <a:pt x="163433" y="529666"/>
                  <a:pt x="220693" y="556289"/>
                  <a:pt x="281508" y="561382"/>
                </a:cubicBezTo>
                <a:lnTo>
                  <a:pt x="282048" y="561459"/>
                </a:lnTo>
                <a:lnTo>
                  <a:pt x="282048" y="459446"/>
                </a:lnTo>
                <a:cubicBezTo>
                  <a:pt x="282048" y="447562"/>
                  <a:pt x="291708" y="437916"/>
                  <a:pt x="303608" y="437916"/>
                </a:cubicBezTo>
                <a:cubicBezTo>
                  <a:pt x="315508" y="437916"/>
                  <a:pt x="325167" y="447562"/>
                  <a:pt x="325167" y="459446"/>
                </a:cubicBezTo>
                <a:lnTo>
                  <a:pt x="325167" y="561459"/>
                </a:lnTo>
                <a:lnTo>
                  <a:pt x="325708" y="561382"/>
                </a:lnTo>
                <a:cubicBezTo>
                  <a:pt x="386522" y="556289"/>
                  <a:pt x="443859" y="529666"/>
                  <a:pt x="487132" y="486454"/>
                </a:cubicBezTo>
                <a:cubicBezTo>
                  <a:pt x="530405" y="443241"/>
                  <a:pt x="557065" y="385984"/>
                  <a:pt x="562165" y="325254"/>
                </a:cubicBezTo>
                <a:lnTo>
                  <a:pt x="562242" y="324714"/>
                </a:lnTo>
                <a:lnTo>
                  <a:pt x="460087" y="324714"/>
                </a:lnTo>
                <a:cubicBezTo>
                  <a:pt x="448186" y="324714"/>
                  <a:pt x="438527" y="315068"/>
                  <a:pt x="438527" y="303185"/>
                </a:cubicBezTo>
                <a:cubicBezTo>
                  <a:pt x="438527" y="291301"/>
                  <a:pt x="448186" y="281655"/>
                  <a:pt x="460087" y="281655"/>
                </a:cubicBezTo>
                <a:lnTo>
                  <a:pt x="562242" y="281655"/>
                </a:lnTo>
                <a:lnTo>
                  <a:pt x="562165" y="281115"/>
                </a:lnTo>
                <a:cubicBezTo>
                  <a:pt x="557065" y="220385"/>
                  <a:pt x="530405" y="163205"/>
                  <a:pt x="487132" y="119993"/>
                </a:cubicBezTo>
                <a:cubicBezTo>
                  <a:pt x="443859" y="76780"/>
                  <a:pt x="386522" y="50158"/>
                  <a:pt x="325708" y="44987"/>
                </a:cubicBezTo>
                <a:lnTo>
                  <a:pt x="325167" y="44987"/>
                </a:lnTo>
                <a:lnTo>
                  <a:pt x="325167" y="146923"/>
                </a:lnTo>
                <a:cubicBezTo>
                  <a:pt x="325167" y="158807"/>
                  <a:pt x="315508" y="168453"/>
                  <a:pt x="303608" y="168453"/>
                </a:cubicBezTo>
                <a:cubicBezTo>
                  <a:pt x="291708" y="168453"/>
                  <a:pt x="282048" y="158807"/>
                  <a:pt x="282048" y="146923"/>
                </a:cubicBezTo>
                <a:lnTo>
                  <a:pt x="282048" y="44987"/>
                </a:lnTo>
                <a:close/>
                <a:moveTo>
                  <a:pt x="303608" y="1003"/>
                </a:moveTo>
                <a:cubicBezTo>
                  <a:pt x="344485" y="1003"/>
                  <a:pt x="384049" y="9028"/>
                  <a:pt x="421450" y="24770"/>
                </a:cubicBezTo>
                <a:cubicBezTo>
                  <a:pt x="457459" y="40049"/>
                  <a:pt x="489837" y="61810"/>
                  <a:pt x="517578" y="89512"/>
                </a:cubicBezTo>
                <a:cubicBezTo>
                  <a:pt x="545396" y="117292"/>
                  <a:pt x="567188" y="149547"/>
                  <a:pt x="582410" y="185584"/>
                </a:cubicBezTo>
                <a:cubicBezTo>
                  <a:pt x="598174" y="222855"/>
                  <a:pt x="606211" y="262441"/>
                  <a:pt x="606211" y="303185"/>
                </a:cubicBezTo>
                <a:cubicBezTo>
                  <a:pt x="606211" y="344005"/>
                  <a:pt x="598174" y="383514"/>
                  <a:pt x="582410" y="420863"/>
                </a:cubicBezTo>
                <a:cubicBezTo>
                  <a:pt x="567188" y="456822"/>
                  <a:pt x="545396" y="489154"/>
                  <a:pt x="517578" y="516857"/>
                </a:cubicBezTo>
                <a:cubicBezTo>
                  <a:pt x="489837" y="544637"/>
                  <a:pt x="457459" y="566397"/>
                  <a:pt x="421450" y="581599"/>
                </a:cubicBezTo>
                <a:cubicBezTo>
                  <a:pt x="384049" y="597341"/>
                  <a:pt x="344485" y="605366"/>
                  <a:pt x="303608" y="605366"/>
                </a:cubicBezTo>
                <a:cubicBezTo>
                  <a:pt x="262807" y="605366"/>
                  <a:pt x="223166" y="597341"/>
                  <a:pt x="185842" y="581599"/>
                </a:cubicBezTo>
                <a:cubicBezTo>
                  <a:pt x="149756" y="566397"/>
                  <a:pt x="117455" y="544637"/>
                  <a:pt x="89637" y="516857"/>
                </a:cubicBezTo>
                <a:cubicBezTo>
                  <a:pt x="61896" y="489154"/>
                  <a:pt x="40105" y="456822"/>
                  <a:pt x="24805" y="420863"/>
                </a:cubicBezTo>
                <a:cubicBezTo>
                  <a:pt x="9041" y="383514"/>
                  <a:pt x="1004" y="344005"/>
                  <a:pt x="1004" y="303185"/>
                </a:cubicBezTo>
                <a:cubicBezTo>
                  <a:pt x="1004" y="262441"/>
                  <a:pt x="9041" y="222855"/>
                  <a:pt x="24805" y="185584"/>
                </a:cubicBezTo>
                <a:cubicBezTo>
                  <a:pt x="40105" y="149547"/>
                  <a:pt x="61896" y="117292"/>
                  <a:pt x="89637" y="89512"/>
                </a:cubicBezTo>
                <a:cubicBezTo>
                  <a:pt x="117455" y="61810"/>
                  <a:pt x="149756" y="40049"/>
                  <a:pt x="185842" y="24770"/>
                </a:cubicBezTo>
                <a:cubicBezTo>
                  <a:pt x="223166" y="9028"/>
                  <a:pt x="262807" y="1003"/>
                  <a:pt x="303608" y="1003"/>
                </a:cubicBezTo>
                <a:close/>
                <a:moveTo>
                  <a:pt x="303640" y="565"/>
                </a:moveTo>
                <a:cubicBezTo>
                  <a:pt x="262761" y="565"/>
                  <a:pt x="223041" y="8512"/>
                  <a:pt x="185640" y="24330"/>
                </a:cubicBezTo>
                <a:cubicBezTo>
                  <a:pt x="149552" y="39607"/>
                  <a:pt x="117174" y="61366"/>
                  <a:pt x="89354" y="89220"/>
                </a:cubicBezTo>
                <a:cubicBezTo>
                  <a:pt x="61458" y="116997"/>
                  <a:pt x="39666" y="149327"/>
                  <a:pt x="24366" y="185360"/>
                </a:cubicBezTo>
                <a:cubicBezTo>
                  <a:pt x="8524" y="222705"/>
                  <a:pt x="565" y="262365"/>
                  <a:pt x="565" y="303182"/>
                </a:cubicBezTo>
                <a:cubicBezTo>
                  <a:pt x="565" y="343999"/>
                  <a:pt x="8524" y="383659"/>
                  <a:pt x="24366" y="421004"/>
                </a:cubicBezTo>
                <a:cubicBezTo>
                  <a:pt x="39666" y="457037"/>
                  <a:pt x="61458" y="489444"/>
                  <a:pt x="89354" y="517221"/>
                </a:cubicBezTo>
                <a:cubicBezTo>
                  <a:pt x="117174" y="544998"/>
                  <a:pt x="149552" y="566834"/>
                  <a:pt x="185640" y="582034"/>
                </a:cubicBezTo>
                <a:cubicBezTo>
                  <a:pt x="223041" y="597852"/>
                  <a:pt x="262761" y="605876"/>
                  <a:pt x="303640" y="605876"/>
                </a:cubicBezTo>
                <a:cubicBezTo>
                  <a:pt x="344596" y="605876"/>
                  <a:pt x="384239" y="597852"/>
                  <a:pt x="421640" y="582034"/>
                </a:cubicBezTo>
                <a:cubicBezTo>
                  <a:pt x="457728" y="566834"/>
                  <a:pt x="490183" y="544998"/>
                  <a:pt x="518003" y="517221"/>
                </a:cubicBezTo>
                <a:cubicBezTo>
                  <a:pt x="545822" y="489444"/>
                  <a:pt x="567691" y="457037"/>
                  <a:pt x="582914" y="421004"/>
                </a:cubicBezTo>
                <a:cubicBezTo>
                  <a:pt x="598756" y="383659"/>
                  <a:pt x="606792" y="343999"/>
                  <a:pt x="606792" y="303182"/>
                </a:cubicBezTo>
                <a:cubicBezTo>
                  <a:pt x="606792" y="262365"/>
                  <a:pt x="598756" y="222705"/>
                  <a:pt x="582914" y="185360"/>
                </a:cubicBezTo>
                <a:cubicBezTo>
                  <a:pt x="567691" y="149327"/>
                  <a:pt x="545822" y="116997"/>
                  <a:pt x="518003" y="89220"/>
                </a:cubicBezTo>
                <a:cubicBezTo>
                  <a:pt x="490183" y="61366"/>
                  <a:pt x="457728" y="39607"/>
                  <a:pt x="421640" y="24330"/>
                </a:cubicBezTo>
                <a:cubicBezTo>
                  <a:pt x="384239" y="8512"/>
                  <a:pt x="344519" y="565"/>
                  <a:pt x="303640" y="565"/>
                </a:cubicBezTo>
                <a:close/>
                <a:moveTo>
                  <a:pt x="303608" y="0"/>
                </a:moveTo>
                <a:cubicBezTo>
                  <a:pt x="344563" y="0"/>
                  <a:pt x="384359" y="8025"/>
                  <a:pt x="421836" y="23844"/>
                </a:cubicBezTo>
                <a:cubicBezTo>
                  <a:pt x="458000" y="39123"/>
                  <a:pt x="490455" y="60961"/>
                  <a:pt x="518351" y="88818"/>
                </a:cubicBezTo>
                <a:cubicBezTo>
                  <a:pt x="546169" y="116674"/>
                  <a:pt x="568038" y="149084"/>
                  <a:pt x="583338" y="185198"/>
                </a:cubicBezTo>
                <a:cubicBezTo>
                  <a:pt x="599179" y="222546"/>
                  <a:pt x="607215" y="262286"/>
                  <a:pt x="607215" y="303185"/>
                </a:cubicBezTo>
                <a:cubicBezTo>
                  <a:pt x="607215" y="344083"/>
                  <a:pt x="599179" y="383823"/>
                  <a:pt x="583338" y="421248"/>
                </a:cubicBezTo>
                <a:cubicBezTo>
                  <a:pt x="568038" y="457362"/>
                  <a:pt x="546169" y="489772"/>
                  <a:pt x="518351" y="517629"/>
                </a:cubicBezTo>
                <a:cubicBezTo>
                  <a:pt x="490455" y="545408"/>
                  <a:pt x="458000" y="567246"/>
                  <a:pt x="421836" y="582525"/>
                </a:cubicBezTo>
                <a:cubicBezTo>
                  <a:pt x="384359" y="598344"/>
                  <a:pt x="344563" y="606369"/>
                  <a:pt x="303608" y="606369"/>
                </a:cubicBezTo>
                <a:cubicBezTo>
                  <a:pt x="262652" y="606369"/>
                  <a:pt x="222856" y="598344"/>
                  <a:pt x="185456" y="582525"/>
                </a:cubicBezTo>
                <a:cubicBezTo>
                  <a:pt x="149292" y="567246"/>
                  <a:pt x="116760" y="545408"/>
                  <a:pt x="88942" y="517629"/>
                </a:cubicBezTo>
                <a:cubicBezTo>
                  <a:pt x="61046" y="489772"/>
                  <a:pt x="39177" y="457362"/>
                  <a:pt x="23877" y="421248"/>
                </a:cubicBezTo>
                <a:cubicBezTo>
                  <a:pt x="8036" y="383823"/>
                  <a:pt x="0" y="344083"/>
                  <a:pt x="0" y="303185"/>
                </a:cubicBezTo>
                <a:cubicBezTo>
                  <a:pt x="0" y="262286"/>
                  <a:pt x="8036" y="222546"/>
                  <a:pt x="23877" y="185198"/>
                </a:cubicBezTo>
                <a:cubicBezTo>
                  <a:pt x="39177" y="149084"/>
                  <a:pt x="61046" y="116674"/>
                  <a:pt x="88942" y="88818"/>
                </a:cubicBezTo>
                <a:cubicBezTo>
                  <a:pt x="116760" y="60961"/>
                  <a:pt x="149292" y="39123"/>
                  <a:pt x="185456" y="23844"/>
                </a:cubicBezTo>
                <a:cubicBezTo>
                  <a:pt x="222856" y="8025"/>
                  <a:pt x="262652" y="0"/>
                  <a:pt x="303608"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dirty="0"/>
          </a:p>
        </p:txBody>
      </p:sp>
      <p:sp>
        <p:nvSpPr>
          <p:cNvPr id="126" name="文本框 125">
            <a:extLst>
              <a:ext uri="{FF2B5EF4-FFF2-40B4-BE49-F238E27FC236}">
                <a16:creationId xmlns:a16="http://schemas.microsoft.com/office/drawing/2014/main" id="{0D88158D-0362-4FA6-A095-CAEAF32E0814}"/>
              </a:ext>
            </a:extLst>
          </p:cNvPr>
          <p:cNvSpPr txBox="1"/>
          <p:nvPr/>
        </p:nvSpPr>
        <p:spPr>
          <a:xfrm>
            <a:off x="373082" y="2808021"/>
            <a:ext cx="1660612" cy="338554"/>
          </a:xfrm>
          <a:prstGeom prst="rect">
            <a:avLst/>
          </a:prstGeom>
          <a:noFill/>
        </p:spPr>
        <p:txBody>
          <a:bodyPr wrap="square" rtlCol="0">
            <a:spAutoFit/>
          </a:bodyPr>
          <a:lstStyle/>
          <a:p>
            <a:r>
              <a:rPr lang="zh-CN" altLang="en-US" sz="1600" dirty="0">
                <a:solidFill>
                  <a:schemeClr val="bg1"/>
                </a:solidFill>
                <a:latin typeface="思源黑体 CN Regular" panose="020B0500000000000000" pitchFamily="34" charset="-122"/>
                <a:ea typeface="思源黑体 CN Regular" panose="020B0500000000000000" pitchFamily="34" charset="-122"/>
              </a:rPr>
              <a:t>研究目标和内容</a:t>
            </a:r>
          </a:p>
        </p:txBody>
      </p:sp>
      <p:sp>
        <p:nvSpPr>
          <p:cNvPr id="127" name="任意矩形：003">
            <a:extLst>
              <a:ext uri="{FF2B5EF4-FFF2-40B4-BE49-F238E27FC236}">
                <a16:creationId xmlns:a16="http://schemas.microsoft.com/office/drawing/2014/main" id="{8AB858EF-28C7-481A-ACC9-E0A1DBCCFE76}"/>
              </a:ext>
            </a:extLst>
          </p:cNvPr>
          <p:cNvSpPr/>
          <p:nvPr/>
        </p:nvSpPr>
        <p:spPr>
          <a:xfrm rot="10800000" flipH="1" flipV="1">
            <a:off x="145020" y="3571293"/>
            <a:ext cx="199667" cy="199477"/>
          </a:xfrm>
          <a:custGeom>
            <a:avLst/>
            <a:gdLst>
              <a:gd name="connsiteX0" fmla="*/ 320200 w 604886"/>
              <a:gd name="connsiteY0" fmla="*/ 166778 h 604313"/>
              <a:gd name="connsiteX1" fmla="*/ 338200 w 604886"/>
              <a:gd name="connsiteY1" fmla="*/ 168153 h 604313"/>
              <a:gd name="connsiteX2" fmla="*/ 394904 w 604886"/>
              <a:gd name="connsiteY2" fmla="*/ 210003 h 604313"/>
              <a:gd name="connsiteX3" fmla="*/ 448997 w 604886"/>
              <a:gd name="connsiteY3" fmla="*/ 297466 h 604313"/>
              <a:gd name="connsiteX4" fmla="*/ 433479 w 604886"/>
              <a:gd name="connsiteY4" fmla="*/ 381599 h 604313"/>
              <a:gd name="connsiteX5" fmla="*/ 230304 w 604886"/>
              <a:gd name="connsiteY5" fmla="*/ 584474 h 604313"/>
              <a:gd name="connsiteX6" fmla="*/ 177952 w 604886"/>
              <a:gd name="connsiteY6" fmla="*/ 604313 h 604313"/>
              <a:gd name="connsiteX7" fmla="*/ 58454 w 604886"/>
              <a:gd name="connsiteY7" fmla="*/ 545956 h 604313"/>
              <a:gd name="connsiteX8" fmla="*/ 19733 w 604886"/>
              <a:gd name="connsiteY8" fmla="*/ 374359 h 604313"/>
              <a:gd name="connsiteX9" fmla="*/ 93549 w 604886"/>
              <a:gd name="connsiteY9" fmla="*/ 300652 h 604313"/>
              <a:gd name="connsiteX10" fmla="*/ 127049 w 604886"/>
              <a:gd name="connsiteY10" fmla="*/ 300652 h 604313"/>
              <a:gd name="connsiteX11" fmla="*/ 127049 w 604886"/>
              <a:gd name="connsiteY11" fmla="*/ 333958 h 604313"/>
              <a:gd name="connsiteX12" fmla="*/ 53233 w 604886"/>
              <a:gd name="connsiteY12" fmla="*/ 407665 h 604313"/>
              <a:gd name="connsiteX13" fmla="*/ 91809 w 604886"/>
              <a:gd name="connsiteY13" fmla="*/ 512650 h 604313"/>
              <a:gd name="connsiteX14" fmla="*/ 196950 w 604886"/>
              <a:gd name="connsiteY14" fmla="*/ 551169 h 604313"/>
              <a:gd name="connsiteX15" fmla="*/ 400124 w 604886"/>
              <a:gd name="connsiteY15" fmla="*/ 348294 h 604313"/>
              <a:gd name="connsiteX16" fmla="*/ 403460 w 604886"/>
              <a:gd name="connsiteY16" fmla="*/ 310065 h 604313"/>
              <a:gd name="connsiteX17" fmla="*/ 361549 w 604886"/>
              <a:gd name="connsiteY17" fmla="*/ 243308 h 604313"/>
              <a:gd name="connsiteX18" fmla="*/ 316737 w 604886"/>
              <a:gd name="connsiteY18" fmla="*/ 210147 h 604313"/>
              <a:gd name="connsiteX19" fmla="*/ 306441 w 604886"/>
              <a:gd name="connsiteY19" fmla="*/ 178435 h 604313"/>
              <a:gd name="connsiteX20" fmla="*/ 320200 w 604886"/>
              <a:gd name="connsiteY20" fmla="*/ 166778 h 604313"/>
              <a:gd name="connsiteX21" fmla="*/ 411085 w 604886"/>
              <a:gd name="connsiteY21" fmla="*/ 1388 h 604313"/>
              <a:gd name="connsiteX22" fmla="*/ 458862 w 604886"/>
              <a:gd name="connsiteY22" fmla="*/ 4683 h 604313"/>
              <a:gd name="connsiteX23" fmla="*/ 546442 w 604886"/>
              <a:gd name="connsiteY23" fmla="*/ 58698 h 604313"/>
              <a:gd name="connsiteX24" fmla="*/ 585156 w 604886"/>
              <a:gd name="connsiteY24" fmla="*/ 230302 h 604313"/>
              <a:gd name="connsiteX25" fmla="*/ 511352 w 604886"/>
              <a:gd name="connsiteY25" fmla="*/ 304012 h 604313"/>
              <a:gd name="connsiteX26" fmla="*/ 477857 w 604886"/>
              <a:gd name="connsiteY26" fmla="*/ 304012 h 604313"/>
              <a:gd name="connsiteX27" fmla="*/ 477857 w 604886"/>
              <a:gd name="connsiteY27" fmla="*/ 270705 h 604313"/>
              <a:gd name="connsiteX28" fmla="*/ 551662 w 604886"/>
              <a:gd name="connsiteY28" fmla="*/ 196995 h 604313"/>
              <a:gd name="connsiteX29" fmla="*/ 513092 w 604886"/>
              <a:gd name="connsiteY29" fmla="*/ 92005 h 604313"/>
              <a:gd name="connsiteX30" fmla="*/ 446247 w 604886"/>
              <a:gd name="connsiteY30" fmla="*/ 50154 h 604313"/>
              <a:gd name="connsiteX31" fmla="*/ 407968 w 604886"/>
              <a:gd name="connsiteY31" fmla="*/ 53485 h 604313"/>
              <a:gd name="connsiteX32" fmla="*/ 204825 w 604886"/>
              <a:gd name="connsiteY32" fmla="*/ 256368 h 604313"/>
              <a:gd name="connsiteX33" fmla="*/ 201490 w 604886"/>
              <a:gd name="connsiteY33" fmla="*/ 294599 h 604313"/>
              <a:gd name="connsiteX34" fmla="*/ 243394 w 604886"/>
              <a:gd name="connsiteY34" fmla="*/ 361358 h 604313"/>
              <a:gd name="connsiteX35" fmla="*/ 288199 w 604886"/>
              <a:gd name="connsiteY35" fmla="*/ 394520 h 604313"/>
              <a:gd name="connsiteX36" fmla="*/ 298494 w 604886"/>
              <a:gd name="connsiteY36" fmla="*/ 426234 h 604313"/>
              <a:gd name="connsiteX37" fmla="*/ 277469 w 604886"/>
              <a:gd name="connsiteY37" fmla="*/ 438978 h 604313"/>
              <a:gd name="connsiteX38" fmla="*/ 266739 w 604886"/>
              <a:gd name="connsiteY38" fmla="*/ 436516 h 604313"/>
              <a:gd name="connsiteX39" fmla="*/ 210044 w 604886"/>
              <a:gd name="connsiteY39" fmla="*/ 394665 h 604313"/>
              <a:gd name="connsiteX40" fmla="*/ 155960 w 604886"/>
              <a:gd name="connsiteY40" fmla="*/ 307198 h 604313"/>
              <a:gd name="connsiteX41" fmla="*/ 171330 w 604886"/>
              <a:gd name="connsiteY41" fmla="*/ 223061 h 604313"/>
              <a:gd name="connsiteX42" fmla="*/ 374618 w 604886"/>
              <a:gd name="connsiteY42" fmla="*/ 20033 h 604313"/>
              <a:gd name="connsiteX43" fmla="*/ 411085 w 604886"/>
              <a:gd name="connsiteY43" fmla="*/ 1388 h 6043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Lst>
            <a:rect l="l" t="t" r="r" b="b"/>
            <a:pathLst>
              <a:path w="604886" h="604313">
                <a:moveTo>
                  <a:pt x="320200" y="166778"/>
                </a:moveTo>
                <a:cubicBezTo>
                  <a:pt x="325946" y="164931"/>
                  <a:pt x="332399" y="165257"/>
                  <a:pt x="338200" y="168153"/>
                </a:cubicBezTo>
                <a:cubicBezTo>
                  <a:pt x="358068" y="178290"/>
                  <a:pt x="377646" y="192771"/>
                  <a:pt x="394904" y="210003"/>
                </a:cubicBezTo>
                <a:cubicBezTo>
                  <a:pt x="421443" y="236358"/>
                  <a:pt x="440585" y="267491"/>
                  <a:pt x="448997" y="297466"/>
                </a:cubicBezTo>
                <a:cubicBezTo>
                  <a:pt x="458568" y="332075"/>
                  <a:pt x="453202" y="362050"/>
                  <a:pt x="433479" y="381599"/>
                </a:cubicBezTo>
                <a:lnTo>
                  <a:pt x="230304" y="584474"/>
                </a:lnTo>
                <a:cubicBezTo>
                  <a:pt x="216962" y="597942"/>
                  <a:pt x="198690" y="604313"/>
                  <a:pt x="177952" y="604313"/>
                </a:cubicBezTo>
                <a:cubicBezTo>
                  <a:pt x="140971" y="604313"/>
                  <a:pt x="96305" y="583750"/>
                  <a:pt x="58454" y="545956"/>
                </a:cubicBezTo>
                <a:cubicBezTo>
                  <a:pt x="-570" y="487019"/>
                  <a:pt x="-17537" y="411575"/>
                  <a:pt x="19733" y="374359"/>
                </a:cubicBezTo>
                <a:lnTo>
                  <a:pt x="93549" y="300652"/>
                </a:lnTo>
                <a:cubicBezTo>
                  <a:pt x="102831" y="291384"/>
                  <a:pt x="117768" y="291384"/>
                  <a:pt x="127049" y="300652"/>
                </a:cubicBezTo>
                <a:cubicBezTo>
                  <a:pt x="136186" y="309775"/>
                  <a:pt x="136186" y="324690"/>
                  <a:pt x="127049" y="333958"/>
                </a:cubicBezTo>
                <a:lnTo>
                  <a:pt x="53233" y="407665"/>
                </a:lnTo>
                <a:cubicBezTo>
                  <a:pt x="37426" y="423304"/>
                  <a:pt x="50623" y="471525"/>
                  <a:pt x="91809" y="512650"/>
                </a:cubicBezTo>
                <a:cubicBezTo>
                  <a:pt x="132995" y="553631"/>
                  <a:pt x="181287" y="566808"/>
                  <a:pt x="196950" y="551169"/>
                </a:cubicBezTo>
                <a:lnTo>
                  <a:pt x="400124" y="348294"/>
                </a:lnTo>
                <a:cubicBezTo>
                  <a:pt x="407085" y="341343"/>
                  <a:pt x="408246" y="327441"/>
                  <a:pt x="403460" y="310065"/>
                </a:cubicBezTo>
                <a:cubicBezTo>
                  <a:pt x="397369" y="288199"/>
                  <a:pt x="381997" y="263871"/>
                  <a:pt x="361549" y="243308"/>
                </a:cubicBezTo>
                <a:cubicBezTo>
                  <a:pt x="347627" y="229552"/>
                  <a:pt x="332254" y="218112"/>
                  <a:pt x="316737" y="210147"/>
                </a:cubicBezTo>
                <a:cubicBezTo>
                  <a:pt x="305135" y="204355"/>
                  <a:pt x="300495" y="190019"/>
                  <a:pt x="306441" y="178435"/>
                </a:cubicBezTo>
                <a:cubicBezTo>
                  <a:pt x="309414" y="172642"/>
                  <a:pt x="314453" y="168624"/>
                  <a:pt x="320200" y="166778"/>
                </a:cubicBezTo>
                <a:close/>
                <a:moveTo>
                  <a:pt x="411085" y="1388"/>
                </a:moveTo>
                <a:cubicBezTo>
                  <a:pt x="425368" y="-1219"/>
                  <a:pt x="441535" y="-169"/>
                  <a:pt x="458862" y="4683"/>
                </a:cubicBezTo>
                <a:cubicBezTo>
                  <a:pt x="488877" y="13082"/>
                  <a:pt x="519907" y="32197"/>
                  <a:pt x="546442" y="58698"/>
                </a:cubicBezTo>
                <a:cubicBezTo>
                  <a:pt x="605456" y="117637"/>
                  <a:pt x="622421" y="192940"/>
                  <a:pt x="585156" y="230302"/>
                </a:cubicBezTo>
                <a:lnTo>
                  <a:pt x="511352" y="304012"/>
                </a:lnTo>
                <a:cubicBezTo>
                  <a:pt x="502072" y="313135"/>
                  <a:pt x="487137" y="313135"/>
                  <a:pt x="477857" y="304012"/>
                </a:cubicBezTo>
                <a:cubicBezTo>
                  <a:pt x="468722" y="294744"/>
                  <a:pt x="468722" y="279828"/>
                  <a:pt x="477857" y="270705"/>
                </a:cubicBezTo>
                <a:lnTo>
                  <a:pt x="551662" y="196995"/>
                </a:lnTo>
                <a:cubicBezTo>
                  <a:pt x="567321" y="181355"/>
                  <a:pt x="554127" y="133132"/>
                  <a:pt x="513092" y="92005"/>
                </a:cubicBezTo>
                <a:cubicBezTo>
                  <a:pt x="492502" y="71586"/>
                  <a:pt x="468142" y="56236"/>
                  <a:pt x="446247" y="50154"/>
                </a:cubicBezTo>
                <a:cubicBezTo>
                  <a:pt x="428848" y="45230"/>
                  <a:pt x="414928" y="46534"/>
                  <a:pt x="407968" y="53485"/>
                </a:cubicBezTo>
                <a:lnTo>
                  <a:pt x="204825" y="256368"/>
                </a:lnTo>
                <a:cubicBezTo>
                  <a:pt x="197865" y="263319"/>
                  <a:pt x="196560" y="277221"/>
                  <a:pt x="201490" y="294599"/>
                </a:cubicBezTo>
                <a:cubicBezTo>
                  <a:pt x="207579" y="316466"/>
                  <a:pt x="222949" y="340795"/>
                  <a:pt x="243394" y="361358"/>
                </a:cubicBezTo>
                <a:cubicBezTo>
                  <a:pt x="257169" y="375115"/>
                  <a:pt x="272684" y="386556"/>
                  <a:pt x="288199" y="394520"/>
                </a:cubicBezTo>
                <a:cubicBezTo>
                  <a:pt x="299799" y="400313"/>
                  <a:pt x="304439" y="414505"/>
                  <a:pt x="298494" y="426234"/>
                </a:cubicBezTo>
                <a:cubicBezTo>
                  <a:pt x="294289" y="434344"/>
                  <a:pt x="286024" y="438978"/>
                  <a:pt x="277469" y="438978"/>
                </a:cubicBezTo>
                <a:cubicBezTo>
                  <a:pt x="273844" y="438978"/>
                  <a:pt x="270219" y="438254"/>
                  <a:pt x="266739" y="436516"/>
                </a:cubicBezTo>
                <a:cubicBezTo>
                  <a:pt x="246874" y="426379"/>
                  <a:pt x="227299" y="411898"/>
                  <a:pt x="210044" y="394665"/>
                </a:cubicBezTo>
                <a:cubicBezTo>
                  <a:pt x="183510" y="368164"/>
                  <a:pt x="164370" y="337174"/>
                  <a:pt x="155960" y="307198"/>
                </a:cubicBezTo>
                <a:cubicBezTo>
                  <a:pt x="146245" y="272587"/>
                  <a:pt x="151755" y="242611"/>
                  <a:pt x="171330" y="223061"/>
                </a:cubicBezTo>
                <a:lnTo>
                  <a:pt x="374618" y="20033"/>
                </a:lnTo>
                <a:cubicBezTo>
                  <a:pt x="384406" y="10258"/>
                  <a:pt x="396803" y="3995"/>
                  <a:pt x="411085" y="1388"/>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128" name="文本框 127">
            <a:extLst>
              <a:ext uri="{FF2B5EF4-FFF2-40B4-BE49-F238E27FC236}">
                <a16:creationId xmlns:a16="http://schemas.microsoft.com/office/drawing/2014/main" id="{EE07F65F-1D04-49B9-98D9-25C2F9B64CC7}"/>
              </a:ext>
            </a:extLst>
          </p:cNvPr>
          <p:cNvSpPr txBox="1"/>
          <p:nvPr/>
        </p:nvSpPr>
        <p:spPr>
          <a:xfrm>
            <a:off x="373082" y="3517143"/>
            <a:ext cx="1660612" cy="338554"/>
          </a:xfrm>
          <a:prstGeom prst="rect">
            <a:avLst/>
          </a:prstGeom>
          <a:noFill/>
        </p:spPr>
        <p:txBody>
          <a:bodyPr wrap="square" rtlCol="0">
            <a:spAutoFit/>
          </a:bodyPr>
          <a:lstStyle>
            <a:defPPr>
              <a:defRPr lang="zh-CN"/>
            </a:defPPr>
            <a:lvl1pPr>
              <a:defRPr sz="1600">
                <a:solidFill>
                  <a:schemeClr val="bg1"/>
                </a:solidFill>
                <a:latin typeface="思源黑体 CN Regular" panose="020B0500000000000000" pitchFamily="34" charset="-122"/>
                <a:ea typeface="思源黑体 CN Regular" panose="020B0500000000000000" pitchFamily="34" charset="-122"/>
              </a:defRPr>
            </a:lvl1pPr>
          </a:lstStyle>
          <a:p>
            <a:r>
              <a:rPr lang="zh-CN" altLang="en-US" dirty="0"/>
              <a:t>研究方法与思路</a:t>
            </a:r>
          </a:p>
        </p:txBody>
      </p:sp>
      <p:sp>
        <p:nvSpPr>
          <p:cNvPr id="129" name="文本框 128">
            <a:extLst>
              <a:ext uri="{FF2B5EF4-FFF2-40B4-BE49-F238E27FC236}">
                <a16:creationId xmlns:a16="http://schemas.microsoft.com/office/drawing/2014/main" id="{00773996-6AF8-4D62-AE6A-FC1DCC01AC04}"/>
              </a:ext>
            </a:extLst>
          </p:cNvPr>
          <p:cNvSpPr txBox="1"/>
          <p:nvPr/>
        </p:nvSpPr>
        <p:spPr>
          <a:xfrm>
            <a:off x="373082" y="4226265"/>
            <a:ext cx="1660612" cy="338554"/>
          </a:xfrm>
          <a:prstGeom prst="rect">
            <a:avLst/>
          </a:prstGeom>
          <a:noFill/>
        </p:spPr>
        <p:txBody>
          <a:bodyPr wrap="square" rtlCol="0">
            <a:spAutoFit/>
          </a:bodyPr>
          <a:lstStyle>
            <a:defPPr>
              <a:defRPr lang="zh-CN"/>
            </a:defPPr>
            <a:lvl1pPr>
              <a:defRPr sz="1600">
                <a:solidFill>
                  <a:schemeClr val="bg1"/>
                </a:solidFill>
                <a:latin typeface="思源黑体 CN Regular" panose="020B0500000000000000" pitchFamily="34" charset="-122"/>
                <a:ea typeface="思源黑体 CN Regular" panose="020B0500000000000000" pitchFamily="34" charset="-122"/>
              </a:defRPr>
            </a:lvl1pPr>
          </a:lstStyle>
          <a:p>
            <a:r>
              <a:rPr lang="zh-CN" altLang="en-US" dirty="0"/>
              <a:t>关键技术与创新</a:t>
            </a:r>
          </a:p>
        </p:txBody>
      </p:sp>
      <p:sp>
        <p:nvSpPr>
          <p:cNvPr id="130" name="任意矩形：004">
            <a:extLst>
              <a:ext uri="{FF2B5EF4-FFF2-40B4-BE49-F238E27FC236}">
                <a16:creationId xmlns:a16="http://schemas.microsoft.com/office/drawing/2014/main" id="{0E7A631F-210F-445D-A9CB-8A1E36928D0A}"/>
              </a:ext>
            </a:extLst>
          </p:cNvPr>
          <p:cNvSpPr/>
          <p:nvPr/>
        </p:nvSpPr>
        <p:spPr>
          <a:xfrm rot="20700000">
            <a:off x="101744" y="4285500"/>
            <a:ext cx="251496" cy="189307"/>
          </a:xfrm>
          <a:custGeom>
            <a:avLst/>
            <a:gdLst>
              <a:gd name="T0" fmla="*/ 6845 w 7011"/>
              <a:gd name="T1" fmla="*/ 1345 h 5286"/>
              <a:gd name="T2" fmla="*/ 5180 w 7011"/>
              <a:gd name="T3" fmla="*/ 598 h 5286"/>
              <a:gd name="T4" fmla="*/ 5179 w 7011"/>
              <a:gd name="T5" fmla="*/ 598 h 5286"/>
              <a:gd name="T6" fmla="*/ 3505 w 7011"/>
              <a:gd name="T7" fmla="*/ 0 h 5286"/>
              <a:gd name="T8" fmla="*/ 907 w 7011"/>
              <a:gd name="T9" fmla="*/ 2166 h 5286"/>
              <a:gd name="T10" fmla="*/ 167 w 7011"/>
              <a:gd name="T11" fmla="*/ 3741 h 5286"/>
              <a:gd name="T12" fmla="*/ 1605 w 7011"/>
              <a:gd name="T13" fmla="*/ 4477 h 5286"/>
              <a:gd name="T14" fmla="*/ 3505 w 7011"/>
              <a:gd name="T15" fmla="*/ 5286 h 5286"/>
              <a:gd name="T16" fmla="*/ 6136 w 7011"/>
              <a:gd name="T17" fmla="*/ 2888 h 5286"/>
              <a:gd name="T18" fmla="*/ 6845 w 7011"/>
              <a:gd name="T19" fmla="*/ 1345 h 5286"/>
              <a:gd name="T20" fmla="*/ 521 w 7011"/>
              <a:gd name="T21" fmla="*/ 3613 h 5286"/>
              <a:gd name="T22" fmla="*/ 865 w 7011"/>
              <a:gd name="T23" fmla="*/ 2729 h 5286"/>
              <a:gd name="T24" fmla="*/ 1279 w 7011"/>
              <a:gd name="T25" fmla="*/ 4061 h 5286"/>
              <a:gd name="T26" fmla="*/ 521 w 7011"/>
              <a:gd name="T27" fmla="*/ 3613 h 5286"/>
              <a:gd name="T28" fmla="*/ 3507 w 7011"/>
              <a:gd name="T29" fmla="*/ 4909 h 5286"/>
              <a:gd name="T30" fmla="*/ 2171 w 7011"/>
              <a:gd name="T31" fmla="*/ 4472 h 5286"/>
              <a:gd name="T32" fmla="*/ 4051 w 7011"/>
              <a:gd name="T33" fmla="*/ 4060 h 5286"/>
              <a:gd name="T34" fmla="*/ 5695 w 7011"/>
              <a:gd name="T35" fmla="*/ 3233 h 5286"/>
              <a:gd name="T36" fmla="*/ 3507 w 7011"/>
              <a:gd name="T37" fmla="*/ 4909 h 5286"/>
              <a:gd name="T38" fmla="*/ 5772 w 7011"/>
              <a:gd name="T39" fmla="*/ 2705 h 5286"/>
              <a:gd name="T40" fmla="*/ 3924 w 7011"/>
              <a:gd name="T41" fmla="*/ 3706 h 5286"/>
              <a:gd name="T42" fmla="*/ 1779 w 7011"/>
              <a:gd name="T43" fmla="*/ 4108 h 5286"/>
              <a:gd name="T44" fmla="*/ 1240 w 7011"/>
              <a:gd name="T45" fmla="*/ 2642 h 5286"/>
              <a:gd name="T46" fmla="*/ 3507 w 7011"/>
              <a:gd name="T47" fmla="*/ 376 h 5286"/>
              <a:gd name="T48" fmla="*/ 5773 w 7011"/>
              <a:gd name="T49" fmla="*/ 2642 h 5286"/>
              <a:gd name="T50" fmla="*/ 5772 w 7011"/>
              <a:gd name="T51" fmla="*/ 2705 h 5286"/>
              <a:gd name="T52" fmla="*/ 6133 w 7011"/>
              <a:gd name="T53" fmla="*/ 2364 h 5286"/>
              <a:gd name="T54" fmla="*/ 5571 w 7011"/>
              <a:gd name="T55" fmla="*/ 996 h 5286"/>
              <a:gd name="T56" fmla="*/ 6491 w 7011"/>
              <a:gd name="T57" fmla="*/ 1472 h 5286"/>
              <a:gd name="T58" fmla="*/ 6133 w 7011"/>
              <a:gd name="T59" fmla="*/ 2364 h 528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7011" h="5286">
                <a:moveTo>
                  <a:pt x="6845" y="1345"/>
                </a:moveTo>
                <a:cubicBezTo>
                  <a:pt x="6672" y="864"/>
                  <a:pt x="6081" y="598"/>
                  <a:pt x="5180" y="598"/>
                </a:cubicBezTo>
                <a:lnTo>
                  <a:pt x="5179" y="598"/>
                </a:lnTo>
                <a:cubicBezTo>
                  <a:pt x="4723" y="225"/>
                  <a:pt x="4140" y="0"/>
                  <a:pt x="3505" y="0"/>
                </a:cubicBezTo>
                <a:cubicBezTo>
                  <a:pt x="2212" y="0"/>
                  <a:pt x="1132" y="936"/>
                  <a:pt x="907" y="2166"/>
                </a:cubicBezTo>
                <a:cubicBezTo>
                  <a:pt x="264" y="2720"/>
                  <a:pt x="0" y="3278"/>
                  <a:pt x="167" y="3741"/>
                </a:cubicBezTo>
                <a:cubicBezTo>
                  <a:pt x="325" y="4184"/>
                  <a:pt x="863" y="4433"/>
                  <a:pt x="1605" y="4477"/>
                </a:cubicBezTo>
                <a:cubicBezTo>
                  <a:pt x="2087" y="4976"/>
                  <a:pt x="2760" y="5286"/>
                  <a:pt x="3505" y="5286"/>
                </a:cubicBezTo>
                <a:cubicBezTo>
                  <a:pt x="4880" y="5286"/>
                  <a:pt x="6012" y="4232"/>
                  <a:pt x="6136" y="2888"/>
                </a:cubicBezTo>
                <a:cubicBezTo>
                  <a:pt x="6728" y="2364"/>
                  <a:pt x="7011" y="1804"/>
                  <a:pt x="6845" y="1345"/>
                </a:cubicBezTo>
                <a:close/>
                <a:moveTo>
                  <a:pt x="521" y="3613"/>
                </a:moveTo>
                <a:cubicBezTo>
                  <a:pt x="437" y="3380"/>
                  <a:pt x="565" y="3064"/>
                  <a:pt x="865" y="2729"/>
                </a:cubicBezTo>
                <a:cubicBezTo>
                  <a:pt x="881" y="3218"/>
                  <a:pt x="1031" y="3673"/>
                  <a:pt x="1279" y="4061"/>
                </a:cubicBezTo>
                <a:cubicBezTo>
                  <a:pt x="871" y="3988"/>
                  <a:pt x="599" y="3830"/>
                  <a:pt x="521" y="3613"/>
                </a:cubicBezTo>
                <a:close/>
                <a:moveTo>
                  <a:pt x="3507" y="4909"/>
                </a:moveTo>
                <a:cubicBezTo>
                  <a:pt x="3008" y="4909"/>
                  <a:pt x="2545" y="4746"/>
                  <a:pt x="2171" y="4472"/>
                </a:cubicBezTo>
                <a:cubicBezTo>
                  <a:pt x="2740" y="4434"/>
                  <a:pt x="3384" y="4300"/>
                  <a:pt x="4051" y="4060"/>
                </a:cubicBezTo>
                <a:cubicBezTo>
                  <a:pt x="4684" y="3833"/>
                  <a:pt x="5243" y="3546"/>
                  <a:pt x="5695" y="3233"/>
                </a:cubicBezTo>
                <a:cubicBezTo>
                  <a:pt x="5433" y="4197"/>
                  <a:pt x="4552" y="4909"/>
                  <a:pt x="3507" y="4909"/>
                </a:cubicBezTo>
                <a:close/>
                <a:moveTo>
                  <a:pt x="5772" y="2705"/>
                </a:moveTo>
                <a:cubicBezTo>
                  <a:pt x="5328" y="3068"/>
                  <a:pt x="4700" y="3428"/>
                  <a:pt x="3924" y="3706"/>
                </a:cubicBezTo>
                <a:cubicBezTo>
                  <a:pt x="3111" y="3998"/>
                  <a:pt x="2365" y="4117"/>
                  <a:pt x="1779" y="4108"/>
                </a:cubicBezTo>
                <a:cubicBezTo>
                  <a:pt x="1443" y="3712"/>
                  <a:pt x="1240" y="3201"/>
                  <a:pt x="1240" y="2642"/>
                </a:cubicBezTo>
                <a:cubicBezTo>
                  <a:pt x="1240" y="1393"/>
                  <a:pt x="2256" y="376"/>
                  <a:pt x="3507" y="376"/>
                </a:cubicBezTo>
                <a:cubicBezTo>
                  <a:pt x="4756" y="376"/>
                  <a:pt x="5773" y="1393"/>
                  <a:pt x="5773" y="2642"/>
                </a:cubicBezTo>
                <a:cubicBezTo>
                  <a:pt x="5773" y="2664"/>
                  <a:pt x="5772" y="2684"/>
                  <a:pt x="5772" y="2705"/>
                </a:cubicBezTo>
                <a:close/>
                <a:moveTo>
                  <a:pt x="6133" y="2364"/>
                </a:moveTo>
                <a:cubicBezTo>
                  <a:pt x="6079" y="1849"/>
                  <a:pt x="5877" y="1380"/>
                  <a:pt x="5571" y="996"/>
                </a:cubicBezTo>
                <a:cubicBezTo>
                  <a:pt x="6067" y="1053"/>
                  <a:pt x="6401" y="1221"/>
                  <a:pt x="6491" y="1472"/>
                </a:cubicBezTo>
                <a:cubicBezTo>
                  <a:pt x="6573" y="1704"/>
                  <a:pt x="6443" y="2024"/>
                  <a:pt x="6133" y="2364"/>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131" name="文本框 130">
            <a:extLst>
              <a:ext uri="{FF2B5EF4-FFF2-40B4-BE49-F238E27FC236}">
                <a16:creationId xmlns:a16="http://schemas.microsoft.com/office/drawing/2014/main" id="{E84CCD35-147C-4E01-95B9-616C2941E00C}"/>
              </a:ext>
            </a:extLst>
          </p:cNvPr>
          <p:cNvSpPr txBox="1"/>
          <p:nvPr/>
        </p:nvSpPr>
        <p:spPr>
          <a:xfrm>
            <a:off x="373082" y="4935387"/>
            <a:ext cx="1660612" cy="338554"/>
          </a:xfrm>
          <a:prstGeom prst="rect">
            <a:avLst/>
          </a:prstGeom>
          <a:noFill/>
        </p:spPr>
        <p:txBody>
          <a:bodyPr wrap="square" rtlCol="0">
            <a:spAutoFit/>
          </a:bodyPr>
          <a:lstStyle>
            <a:defPPr>
              <a:defRPr lang="zh-CN"/>
            </a:defPPr>
            <a:lvl1pPr>
              <a:defRPr sz="1600">
                <a:solidFill>
                  <a:schemeClr val="accent1"/>
                </a:solidFill>
                <a:latin typeface="思源黑体 CN Regular" panose="020B0500000000000000" pitchFamily="34" charset="-122"/>
                <a:ea typeface="思源黑体 CN Regular" panose="020B0500000000000000" pitchFamily="34" charset="-122"/>
              </a:defRPr>
            </a:lvl1pPr>
          </a:lstStyle>
          <a:p>
            <a:r>
              <a:rPr lang="zh-CN" altLang="en-US" dirty="0"/>
              <a:t>已开展工作</a:t>
            </a:r>
          </a:p>
        </p:txBody>
      </p:sp>
      <p:sp>
        <p:nvSpPr>
          <p:cNvPr id="132" name="任意矩形：005">
            <a:extLst>
              <a:ext uri="{FF2B5EF4-FFF2-40B4-BE49-F238E27FC236}">
                <a16:creationId xmlns:a16="http://schemas.microsoft.com/office/drawing/2014/main" id="{A71AC665-D784-436C-A761-8CBAD81B3113}"/>
              </a:ext>
            </a:extLst>
          </p:cNvPr>
          <p:cNvSpPr/>
          <p:nvPr/>
        </p:nvSpPr>
        <p:spPr>
          <a:xfrm>
            <a:off x="123946" y="4988361"/>
            <a:ext cx="201734" cy="201828"/>
          </a:xfrm>
          <a:custGeom>
            <a:avLst/>
            <a:gdLst>
              <a:gd name="T0" fmla="*/ 278945 h 440259"/>
              <a:gd name="T1" fmla="*/ 278945 h 440259"/>
              <a:gd name="T2" fmla="*/ 278945 h 440259"/>
              <a:gd name="T3" fmla="*/ 278945 h 440259"/>
              <a:gd name="T4" fmla="*/ 278945 h 440259"/>
              <a:gd name="T5" fmla="*/ 278945 h 440259"/>
              <a:gd name="T6" fmla="*/ 278945 h 440259"/>
              <a:gd name="T7" fmla="*/ 278945 h 440259"/>
              <a:gd name="T8" fmla="*/ 278945 h 440259"/>
              <a:gd name="T9" fmla="*/ 278945 h 440259"/>
              <a:gd name="T10" fmla="*/ 278945 h 440259"/>
              <a:gd name="T11" fmla="*/ 278945 h 440259"/>
              <a:gd name="T12" fmla="*/ 278945 h 440259"/>
              <a:gd name="T13" fmla="*/ 278945 h 440259"/>
              <a:gd name="T14" fmla="*/ 278945 h 440259"/>
              <a:gd name="T15" fmla="*/ 278945 h 440259"/>
              <a:gd name="T16" fmla="*/ 278945 h 440259"/>
              <a:gd name="T17" fmla="*/ 278945 h 440259"/>
              <a:gd name="T18" fmla="*/ 278945 h 440259"/>
              <a:gd name="T19" fmla="*/ 278945 h 440259"/>
              <a:gd name="T20" fmla="*/ 278945 h 440259"/>
              <a:gd name="T21" fmla="*/ 278945 h 440259"/>
              <a:gd name="T22" fmla="*/ 278945 h 440259"/>
              <a:gd name="T23" fmla="*/ 278945 h 440259"/>
              <a:gd name="T24" fmla="*/ 278945 h 440259"/>
              <a:gd name="T25" fmla="*/ 278945 h 440259"/>
              <a:gd name="T26" fmla="*/ 278945 h 440259"/>
              <a:gd name="T27" fmla="*/ 278945 h 440259"/>
              <a:gd name="T28" fmla="*/ 278945 h 440259"/>
              <a:gd name="T29" fmla="*/ 278945 h 440259"/>
              <a:gd name="T30" fmla="*/ 278945 h 440259"/>
              <a:gd name="T31" fmla="*/ 278945 h 440259"/>
              <a:gd name="T32" fmla="*/ 278945 h 440259"/>
              <a:gd name="T33" fmla="*/ 278945 h 440259"/>
              <a:gd name="T34" fmla="*/ 278945 h 440259"/>
              <a:gd name="T35" fmla="*/ 278945 h 440259"/>
              <a:gd name="T36" fmla="*/ 278945 h 440259"/>
              <a:gd name="T37" fmla="*/ 278945 h 440259"/>
              <a:gd name="T38" fmla="*/ 278945 h 440259"/>
              <a:gd name="T39" fmla="*/ 278945 h 440259"/>
              <a:gd name="T40" fmla="*/ 278945 h 440259"/>
              <a:gd name="T41" fmla="*/ 278945 h 440259"/>
              <a:gd name="T42" fmla="*/ 278945 h 440259"/>
              <a:gd name="T43" fmla="*/ 278945 h 440259"/>
              <a:gd name="T44" fmla="*/ 278945 h 440259"/>
              <a:gd name="T45" fmla="*/ 278945 h 440259"/>
              <a:gd name="T46" fmla="*/ 278945 h 440259"/>
              <a:gd name="T47" fmla="*/ 278945 h 440259"/>
              <a:gd name="T48" fmla="*/ 278945 h 440259"/>
              <a:gd name="T49" fmla="*/ 278945 h 440259"/>
              <a:gd name="T50" fmla="*/ 278945 h 440259"/>
              <a:gd name="T51" fmla="*/ 278945 h 440259"/>
              <a:gd name="T52" fmla="*/ 278945 h 440259"/>
              <a:gd name="T53" fmla="*/ 278945 h 440259"/>
              <a:gd name="T54" fmla="*/ 278945 h 440259"/>
              <a:gd name="T55" fmla="*/ 278945 h 440259"/>
              <a:gd name="T56" fmla="*/ 278945 h 440259"/>
              <a:gd name="T57" fmla="*/ 278945 h 440259"/>
              <a:gd name="T58" fmla="*/ 278945 h 440259"/>
              <a:gd name="T59" fmla="*/ 278945 h 440259"/>
              <a:gd name="T60" fmla="*/ 278945 h 440259"/>
              <a:gd name="T61" fmla="*/ 278945 h 440259"/>
              <a:gd name="T62" fmla="*/ 278945 h 440259"/>
              <a:gd name="T63" fmla="*/ 278945 h 440259"/>
              <a:gd name="T64" fmla="*/ 278945 h 440259"/>
              <a:gd name="T65" fmla="*/ 278945 h 440259"/>
              <a:gd name="T66" fmla="*/ 278945 h 440259"/>
              <a:gd name="T67" fmla="*/ 278945 h 440259"/>
              <a:gd name="T68" fmla="*/ 278945 h 440259"/>
              <a:gd name="T69" fmla="*/ 278945 h 440259"/>
              <a:gd name="T70" fmla="*/ 278945 h 440259"/>
              <a:gd name="T71" fmla="*/ 278945 h 440259"/>
              <a:gd name="T72" fmla="*/ 278945 h 440259"/>
              <a:gd name="T73" fmla="*/ 278945 h 440259"/>
              <a:gd name="T74" fmla="*/ 278945 h 440259"/>
              <a:gd name="T75" fmla="*/ 278945 h 440259"/>
              <a:gd name="T76" fmla="*/ 278945 h 440259"/>
              <a:gd name="T77" fmla="*/ 278945 h 440259"/>
              <a:gd name="T78" fmla="*/ 278945 h 440259"/>
              <a:gd name="T79" fmla="*/ 278945 h 440259"/>
              <a:gd name="T80" fmla="*/ 278945 h 440259"/>
              <a:gd name="T81" fmla="*/ 278945 h 440259"/>
              <a:gd name="T82" fmla="*/ 278945 h 440259"/>
              <a:gd name="T83" fmla="*/ 278945 h 440259"/>
              <a:gd name="T84" fmla="*/ 88862 h 440259"/>
              <a:gd name="T85" fmla="*/ 88862 h 440259"/>
              <a:gd name="T86" fmla="*/ 278945 h 440259"/>
              <a:gd name="T87" fmla="*/ 278945 h 44025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Lst>
            <a:rect l="0" t="0" r="r" b="b"/>
            <a:pathLst>
              <a:path w="6495" h="6508">
                <a:moveTo>
                  <a:pt x="6495" y="203"/>
                </a:moveTo>
                <a:lnTo>
                  <a:pt x="6495" y="197"/>
                </a:lnTo>
                <a:cubicBezTo>
                  <a:pt x="6495" y="193"/>
                  <a:pt x="6493" y="191"/>
                  <a:pt x="6493" y="187"/>
                </a:cubicBezTo>
                <a:cubicBezTo>
                  <a:pt x="6493" y="184"/>
                  <a:pt x="6493" y="181"/>
                  <a:pt x="6492" y="179"/>
                </a:cubicBezTo>
                <a:cubicBezTo>
                  <a:pt x="6492" y="176"/>
                  <a:pt x="6491" y="173"/>
                  <a:pt x="6491" y="172"/>
                </a:cubicBezTo>
                <a:cubicBezTo>
                  <a:pt x="6489" y="169"/>
                  <a:pt x="6489" y="165"/>
                  <a:pt x="6488" y="163"/>
                </a:cubicBezTo>
                <a:cubicBezTo>
                  <a:pt x="6488" y="161"/>
                  <a:pt x="6487" y="160"/>
                  <a:pt x="6487" y="157"/>
                </a:cubicBezTo>
                <a:lnTo>
                  <a:pt x="6483" y="145"/>
                </a:lnTo>
                <a:cubicBezTo>
                  <a:pt x="6483" y="144"/>
                  <a:pt x="6481" y="144"/>
                  <a:pt x="6481" y="143"/>
                </a:cubicBezTo>
                <a:cubicBezTo>
                  <a:pt x="6480" y="139"/>
                  <a:pt x="6477" y="133"/>
                  <a:pt x="6475" y="129"/>
                </a:cubicBezTo>
                <a:cubicBezTo>
                  <a:pt x="6475" y="128"/>
                  <a:pt x="6473" y="127"/>
                  <a:pt x="6473" y="127"/>
                </a:cubicBezTo>
                <a:cubicBezTo>
                  <a:pt x="6471" y="123"/>
                  <a:pt x="6469" y="119"/>
                  <a:pt x="6467" y="115"/>
                </a:cubicBezTo>
                <a:cubicBezTo>
                  <a:pt x="6457" y="101"/>
                  <a:pt x="6447" y="89"/>
                  <a:pt x="6435" y="79"/>
                </a:cubicBezTo>
                <a:cubicBezTo>
                  <a:pt x="6385" y="23"/>
                  <a:pt x="6304" y="0"/>
                  <a:pt x="6231" y="31"/>
                </a:cubicBezTo>
                <a:lnTo>
                  <a:pt x="112" y="2559"/>
                </a:lnTo>
                <a:cubicBezTo>
                  <a:pt x="111" y="2560"/>
                  <a:pt x="108" y="2560"/>
                  <a:pt x="107" y="2561"/>
                </a:cubicBezTo>
                <a:cubicBezTo>
                  <a:pt x="103" y="2563"/>
                  <a:pt x="100" y="2564"/>
                  <a:pt x="96" y="2567"/>
                </a:cubicBezTo>
                <a:lnTo>
                  <a:pt x="88" y="2571"/>
                </a:lnTo>
                <a:cubicBezTo>
                  <a:pt x="85" y="2572"/>
                  <a:pt x="83" y="2573"/>
                  <a:pt x="80" y="2576"/>
                </a:cubicBezTo>
                <a:cubicBezTo>
                  <a:pt x="77" y="2577"/>
                  <a:pt x="75" y="2580"/>
                  <a:pt x="72" y="2581"/>
                </a:cubicBezTo>
                <a:cubicBezTo>
                  <a:pt x="69" y="2583"/>
                  <a:pt x="68" y="2584"/>
                  <a:pt x="65" y="2587"/>
                </a:cubicBezTo>
                <a:cubicBezTo>
                  <a:pt x="63" y="2588"/>
                  <a:pt x="61" y="2591"/>
                  <a:pt x="59" y="2593"/>
                </a:cubicBezTo>
                <a:cubicBezTo>
                  <a:pt x="56" y="2595"/>
                  <a:pt x="55" y="2597"/>
                  <a:pt x="52" y="2599"/>
                </a:cubicBezTo>
                <a:lnTo>
                  <a:pt x="45" y="2605"/>
                </a:lnTo>
                <a:cubicBezTo>
                  <a:pt x="44" y="2608"/>
                  <a:pt x="41" y="2609"/>
                  <a:pt x="40" y="2612"/>
                </a:cubicBezTo>
                <a:cubicBezTo>
                  <a:pt x="39" y="2615"/>
                  <a:pt x="36" y="2617"/>
                  <a:pt x="35" y="2619"/>
                </a:cubicBezTo>
                <a:cubicBezTo>
                  <a:pt x="33" y="2621"/>
                  <a:pt x="31" y="2623"/>
                  <a:pt x="29" y="2625"/>
                </a:cubicBezTo>
                <a:cubicBezTo>
                  <a:pt x="28" y="2628"/>
                  <a:pt x="25" y="2631"/>
                  <a:pt x="24" y="2633"/>
                </a:cubicBezTo>
                <a:cubicBezTo>
                  <a:pt x="23" y="2636"/>
                  <a:pt x="21" y="2637"/>
                  <a:pt x="20" y="2640"/>
                </a:cubicBezTo>
                <a:cubicBezTo>
                  <a:pt x="17" y="2644"/>
                  <a:pt x="16" y="2648"/>
                  <a:pt x="15" y="2652"/>
                </a:cubicBezTo>
                <a:cubicBezTo>
                  <a:pt x="15" y="2653"/>
                  <a:pt x="13" y="2655"/>
                  <a:pt x="12" y="2656"/>
                </a:cubicBezTo>
                <a:lnTo>
                  <a:pt x="12" y="2656"/>
                </a:lnTo>
                <a:cubicBezTo>
                  <a:pt x="9" y="2661"/>
                  <a:pt x="8" y="2667"/>
                  <a:pt x="7" y="2672"/>
                </a:cubicBezTo>
                <a:lnTo>
                  <a:pt x="7" y="2673"/>
                </a:lnTo>
                <a:cubicBezTo>
                  <a:pt x="5" y="2679"/>
                  <a:pt x="4" y="2684"/>
                  <a:pt x="3" y="2691"/>
                </a:cubicBezTo>
                <a:cubicBezTo>
                  <a:pt x="3" y="2693"/>
                  <a:pt x="1" y="2696"/>
                  <a:pt x="1" y="2699"/>
                </a:cubicBezTo>
                <a:cubicBezTo>
                  <a:pt x="1" y="2701"/>
                  <a:pt x="0" y="2705"/>
                  <a:pt x="0" y="2708"/>
                </a:cubicBezTo>
                <a:lnTo>
                  <a:pt x="0" y="2716"/>
                </a:lnTo>
                <a:lnTo>
                  <a:pt x="0" y="2725"/>
                </a:lnTo>
                <a:lnTo>
                  <a:pt x="0" y="2733"/>
                </a:lnTo>
                <a:lnTo>
                  <a:pt x="0" y="2743"/>
                </a:lnTo>
                <a:cubicBezTo>
                  <a:pt x="0" y="2745"/>
                  <a:pt x="1" y="2748"/>
                  <a:pt x="1" y="2749"/>
                </a:cubicBezTo>
                <a:cubicBezTo>
                  <a:pt x="1" y="2753"/>
                  <a:pt x="3" y="2756"/>
                  <a:pt x="3" y="2760"/>
                </a:cubicBezTo>
                <a:cubicBezTo>
                  <a:pt x="4" y="2764"/>
                  <a:pt x="4" y="2768"/>
                  <a:pt x="5" y="2772"/>
                </a:cubicBezTo>
                <a:cubicBezTo>
                  <a:pt x="7" y="2775"/>
                  <a:pt x="7" y="2777"/>
                  <a:pt x="8" y="2780"/>
                </a:cubicBezTo>
                <a:cubicBezTo>
                  <a:pt x="9" y="2784"/>
                  <a:pt x="11" y="2789"/>
                  <a:pt x="13" y="2793"/>
                </a:cubicBezTo>
                <a:lnTo>
                  <a:pt x="13" y="2793"/>
                </a:lnTo>
                <a:cubicBezTo>
                  <a:pt x="15" y="2799"/>
                  <a:pt x="17" y="2803"/>
                  <a:pt x="20" y="2807"/>
                </a:cubicBezTo>
                <a:cubicBezTo>
                  <a:pt x="20" y="2808"/>
                  <a:pt x="21" y="2809"/>
                  <a:pt x="21" y="2809"/>
                </a:cubicBezTo>
                <a:cubicBezTo>
                  <a:pt x="23" y="2813"/>
                  <a:pt x="25" y="2816"/>
                  <a:pt x="28" y="2820"/>
                </a:cubicBezTo>
                <a:cubicBezTo>
                  <a:pt x="29" y="2821"/>
                  <a:pt x="29" y="2823"/>
                  <a:pt x="31" y="2824"/>
                </a:cubicBezTo>
                <a:cubicBezTo>
                  <a:pt x="33" y="2828"/>
                  <a:pt x="35" y="2831"/>
                  <a:pt x="37" y="2833"/>
                </a:cubicBezTo>
                <a:cubicBezTo>
                  <a:pt x="39" y="2835"/>
                  <a:pt x="39" y="2836"/>
                  <a:pt x="40" y="2836"/>
                </a:cubicBezTo>
                <a:cubicBezTo>
                  <a:pt x="44" y="2840"/>
                  <a:pt x="47" y="2844"/>
                  <a:pt x="51" y="2848"/>
                </a:cubicBezTo>
                <a:lnTo>
                  <a:pt x="51" y="2848"/>
                </a:lnTo>
                <a:cubicBezTo>
                  <a:pt x="55" y="2852"/>
                  <a:pt x="59" y="2855"/>
                  <a:pt x="63" y="2859"/>
                </a:cubicBezTo>
                <a:cubicBezTo>
                  <a:pt x="64" y="2860"/>
                  <a:pt x="65" y="2861"/>
                  <a:pt x="67" y="2861"/>
                </a:cubicBezTo>
                <a:cubicBezTo>
                  <a:pt x="69" y="2864"/>
                  <a:pt x="73" y="2867"/>
                  <a:pt x="76" y="2868"/>
                </a:cubicBezTo>
                <a:cubicBezTo>
                  <a:pt x="77" y="2869"/>
                  <a:pt x="79" y="2869"/>
                  <a:pt x="80" y="2871"/>
                </a:cubicBezTo>
                <a:cubicBezTo>
                  <a:pt x="84" y="2873"/>
                  <a:pt x="89" y="2876"/>
                  <a:pt x="93" y="2879"/>
                </a:cubicBezTo>
                <a:cubicBezTo>
                  <a:pt x="95" y="2879"/>
                  <a:pt x="95" y="2880"/>
                  <a:pt x="96" y="2880"/>
                </a:cubicBezTo>
                <a:cubicBezTo>
                  <a:pt x="100" y="2883"/>
                  <a:pt x="104" y="2884"/>
                  <a:pt x="109" y="2887"/>
                </a:cubicBezTo>
                <a:cubicBezTo>
                  <a:pt x="111" y="2887"/>
                  <a:pt x="111" y="2888"/>
                  <a:pt x="112" y="2888"/>
                </a:cubicBezTo>
                <a:lnTo>
                  <a:pt x="2579" y="3933"/>
                </a:lnTo>
                <a:lnTo>
                  <a:pt x="3624" y="6400"/>
                </a:lnTo>
                <a:cubicBezTo>
                  <a:pt x="3625" y="6405"/>
                  <a:pt x="3628" y="6409"/>
                  <a:pt x="3631" y="6413"/>
                </a:cubicBezTo>
                <a:cubicBezTo>
                  <a:pt x="3631" y="6415"/>
                  <a:pt x="3632" y="6416"/>
                  <a:pt x="3632" y="6416"/>
                </a:cubicBezTo>
                <a:cubicBezTo>
                  <a:pt x="3635" y="6420"/>
                  <a:pt x="3636" y="6423"/>
                  <a:pt x="3639" y="6427"/>
                </a:cubicBezTo>
                <a:cubicBezTo>
                  <a:pt x="3640" y="6428"/>
                  <a:pt x="3640" y="6429"/>
                  <a:pt x="3641" y="6431"/>
                </a:cubicBezTo>
                <a:cubicBezTo>
                  <a:pt x="3644" y="6435"/>
                  <a:pt x="3647" y="6437"/>
                  <a:pt x="3648" y="6440"/>
                </a:cubicBezTo>
                <a:cubicBezTo>
                  <a:pt x="3649" y="6441"/>
                  <a:pt x="3649" y="6443"/>
                  <a:pt x="3651" y="6443"/>
                </a:cubicBezTo>
                <a:cubicBezTo>
                  <a:pt x="3655" y="6447"/>
                  <a:pt x="3657" y="6451"/>
                  <a:pt x="3661" y="6455"/>
                </a:cubicBezTo>
                <a:lnTo>
                  <a:pt x="3663" y="6456"/>
                </a:lnTo>
                <a:cubicBezTo>
                  <a:pt x="3667" y="6459"/>
                  <a:pt x="3669" y="6463"/>
                  <a:pt x="3673" y="6465"/>
                </a:cubicBezTo>
                <a:cubicBezTo>
                  <a:pt x="3675" y="6467"/>
                  <a:pt x="3676" y="6468"/>
                  <a:pt x="3677" y="6468"/>
                </a:cubicBezTo>
                <a:cubicBezTo>
                  <a:pt x="3680" y="6471"/>
                  <a:pt x="3684" y="6473"/>
                  <a:pt x="3687" y="6475"/>
                </a:cubicBezTo>
                <a:cubicBezTo>
                  <a:pt x="3688" y="6476"/>
                  <a:pt x="3689" y="6476"/>
                  <a:pt x="3691" y="6477"/>
                </a:cubicBezTo>
                <a:cubicBezTo>
                  <a:pt x="3695" y="6480"/>
                  <a:pt x="3700" y="6483"/>
                  <a:pt x="3704" y="6485"/>
                </a:cubicBezTo>
                <a:cubicBezTo>
                  <a:pt x="3705" y="6485"/>
                  <a:pt x="3707" y="6487"/>
                  <a:pt x="3707" y="6487"/>
                </a:cubicBezTo>
                <a:cubicBezTo>
                  <a:pt x="3711" y="6489"/>
                  <a:pt x="3715" y="6491"/>
                  <a:pt x="3719" y="6492"/>
                </a:cubicBezTo>
                <a:cubicBezTo>
                  <a:pt x="3720" y="6492"/>
                  <a:pt x="3720" y="6493"/>
                  <a:pt x="3721" y="6493"/>
                </a:cubicBezTo>
                <a:cubicBezTo>
                  <a:pt x="3721" y="6493"/>
                  <a:pt x="3723" y="6493"/>
                  <a:pt x="3723" y="6495"/>
                </a:cubicBezTo>
                <a:cubicBezTo>
                  <a:pt x="3727" y="6496"/>
                  <a:pt x="3732" y="6499"/>
                  <a:pt x="3736" y="6500"/>
                </a:cubicBezTo>
                <a:lnTo>
                  <a:pt x="3737" y="6500"/>
                </a:lnTo>
                <a:cubicBezTo>
                  <a:pt x="3743" y="6501"/>
                  <a:pt x="3747" y="6503"/>
                  <a:pt x="3752" y="6504"/>
                </a:cubicBezTo>
                <a:cubicBezTo>
                  <a:pt x="3753" y="6504"/>
                  <a:pt x="3756" y="6504"/>
                  <a:pt x="3757" y="6505"/>
                </a:cubicBezTo>
                <a:cubicBezTo>
                  <a:pt x="3761" y="6505"/>
                  <a:pt x="3764" y="6507"/>
                  <a:pt x="3768" y="6507"/>
                </a:cubicBezTo>
                <a:lnTo>
                  <a:pt x="3773" y="6507"/>
                </a:lnTo>
                <a:cubicBezTo>
                  <a:pt x="3779" y="6507"/>
                  <a:pt x="3783" y="6508"/>
                  <a:pt x="3788" y="6508"/>
                </a:cubicBezTo>
                <a:lnTo>
                  <a:pt x="3788" y="6508"/>
                </a:lnTo>
                <a:lnTo>
                  <a:pt x="3788" y="6508"/>
                </a:lnTo>
                <a:lnTo>
                  <a:pt x="3788" y="6508"/>
                </a:lnTo>
                <a:lnTo>
                  <a:pt x="3788" y="6508"/>
                </a:lnTo>
                <a:cubicBezTo>
                  <a:pt x="3793" y="6508"/>
                  <a:pt x="3799" y="6508"/>
                  <a:pt x="3803" y="6507"/>
                </a:cubicBezTo>
                <a:lnTo>
                  <a:pt x="3808" y="6507"/>
                </a:lnTo>
                <a:cubicBezTo>
                  <a:pt x="3812" y="6507"/>
                  <a:pt x="3816" y="6505"/>
                  <a:pt x="3819" y="6505"/>
                </a:cubicBezTo>
                <a:cubicBezTo>
                  <a:pt x="3820" y="6505"/>
                  <a:pt x="3823" y="6505"/>
                  <a:pt x="3824" y="6504"/>
                </a:cubicBezTo>
                <a:cubicBezTo>
                  <a:pt x="3829" y="6503"/>
                  <a:pt x="3835" y="6501"/>
                  <a:pt x="3839" y="6500"/>
                </a:cubicBezTo>
                <a:cubicBezTo>
                  <a:pt x="3840" y="6500"/>
                  <a:pt x="3840" y="6500"/>
                  <a:pt x="3841" y="6499"/>
                </a:cubicBezTo>
                <a:cubicBezTo>
                  <a:pt x="3845" y="6497"/>
                  <a:pt x="3851" y="6496"/>
                  <a:pt x="3855" y="6493"/>
                </a:cubicBezTo>
                <a:cubicBezTo>
                  <a:pt x="3856" y="6493"/>
                  <a:pt x="3856" y="6493"/>
                  <a:pt x="3857" y="6492"/>
                </a:cubicBezTo>
                <a:cubicBezTo>
                  <a:pt x="3859" y="6492"/>
                  <a:pt x="3859" y="6491"/>
                  <a:pt x="3860" y="6491"/>
                </a:cubicBezTo>
                <a:cubicBezTo>
                  <a:pt x="3864" y="6489"/>
                  <a:pt x="3868" y="6487"/>
                  <a:pt x="3872" y="6484"/>
                </a:cubicBezTo>
                <a:cubicBezTo>
                  <a:pt x="3873" y="6484"/>
                  <a:pt x="3873" y="6483"/>
                  <a:pt x="3875" y="6483"/>
                </a:cubicBezTo>
                <a:cubicBezTo>
                  <a:pt x="3879" y="6480"/>
                  <a:pt x="3884" y="6477"/>
                  <a:pt x="3888" y="6475"/>
                </a:cubicBezTo>
                <a:cubicBezTo>
                  <a:pt x="3889" y="6473"/>
                  <a:pt x="3891" y="6473"/>
                  <a:pt x="3892" y="6472"/>
                </a:cubicBezTo>
                <a:cubicBezTo>
                  <a:pt x="3895" y="6469"/>
                  <a:pt x="3899" y="6468"/>
                  <a:pt x="3901" y="6465"/>
                </a:cubicBezTo>
                <a:cubicBezTo>
                  <a:pt x="3903" y="6464"/>
                  <a:pt x="3904" y="6463"/>
                  <a:pt x="3905" y="6463"/>
                </a:cubicBezTo>
                <a:cubicBezTo>
                  <a:pt x="3909" y="6459"/>
                  <a:pt x="3913" y="6456"/>
                  <a:pt x="3916" y="6452"/>
                </a:cubicBezTo>
                <a:lnTo>
                  <a:pt x="3916" y="6452"/>
                </a:lnTo>
                <a:cubicBezTo>
                  <a:pt x="3920" y="6448"/>
                  <a:pt x="3923" y="6444"/>
                  <a:pt x="3927" y="6440"/>
                </a:cubicBezTo>
                <a:cubicBezTo>
                  <a:pt x="3928" y="6439"/>
                  <a:pt x="3928" y="6437"/>
                  <a:pt x="3929" y="6436"/>
                </a:cubicBezTo>
                <a:cubicBezTo>
                  <a:pt x="3932" y="6433"/>
                  <a:pt x="3935" y="6429"/>
                  <a:pt x="3936" y="6427"/>
                </a:cubicBezTo>
                <a:cubicBezTo>
                  <a:pt x="3937" y="6425"/>
                  <a:pt x="3937" y="6424"/>
                  <a:pt x="3939" y="6423"/>
                </a:cubicBezTo>
                <a:cubicBezTo>
                  <a:pt x="3941" y="6419"/>
                  <a:pt x="3943" y="6416"/>
                  <a:pt x="3945" y="6412"/>
                </a:cubicBezTo>
                <a:cubicBezTo>
                  <a:pt x="3945" y="6411"/>
                  <a:pt x="3947" y="6409"/>
                  <a:pt x="3947" y="6409"/>
                </a:cubicBezTo>
                <a:cubicBezTo>
                  <a:pt x="3949" y="6405"/>
                  <a:pt x="3951" y="6400"/>
                  <a:pt x="3953" y="6396"/>
                </a:cubicBezTo>
                <a:lnTo>
                  <a:pt x="6481" y="284"/>
                </a:lnTo>
                <a:cubicBezTo>
                  <a:pt x="6485" y="273"/>
                  <a:pt x="6489" y="261"/>
                  <a:pt x="6492" y="249"/>
                </a:cubicBezTo>
                <a:cubicBezTo>
                  <a:pt x="6493" y="245"/>
                  <a:pt x="6493" y="240"/>
                  <a:pt x="6493" y="236"/>
                </a:cubicBezTo>
                <a:lnTo>
                  <a:pt x="6493" y="232"/>
                </a:lnTo>
                <a:cubicBezTo>
                  <a:pt x="6493" y="227"/>
                  <a:pt x="6493" y="223"/>
                  <a:pt x="6495" y="217"/>
                </a:cubicBezTo>
                <a:lnTo>
                  <a:pt x="6495" y="215"/>
                </a:lnTo>
                <a:lnTo>
                  <a:pt x="6495" y="203"/>
                </a:lnTo>
                <a:close/>
                <a:moveTo>
                  <a:pt x="648" y="2727"/>
                </a:moveTo>
                <a:lnTo>
                  <a:pt x="5589" y="687"/>
                </a:lnTo>
                <a:lnTo>
                  <a:pt x="2685" y="3589"/>
                </a:lnTo>
                <a:lnTo>
                  <a:pt x="648" y="2727"/>
                </a:lnTo>
                <a:close/>
                <a:moveTo>
                  <a:pt x="3787" y="5865"/>
                </a:moveTo>
                <a:lnTo>
                  <a:pt x="2933" y="3851"/>
                </a:lnTo>
                <a:lnTo>
                  <a:pt x="5804" y="981"/>
                </a:lnTo>
                <a:lnTo>
                  <a:pt x="3787" y="5865"/>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135" name="文本框 134">
            <a:extLst>
              <a:ext uri="{FF2B5EF4-FFF2-40B4-BE49-F238E27FC236}">
                <a16:creationId xmlns:a16="http://schemas.microsoft.com/office/drawing/2014/main" id="{9C52E7D4-6B4B-42D0-98E5-C624AAE5B727}"/>
              </a:ext>
            </a:extLst>
          </p:cNvPr>
          <p:cNvSpPr txBox="1"/>
          <p:nvPr/>
        </p:nvSpPr>
        <p:spPr>
          <a:xfrm>
            <a:off x="373082" y="5620123"/>
            <a:ext cx="1660612" cy="338554"/>
          </a:xfrm>
          <a:prstGeom prst="rect">
            <a:avLst/>
          </a:prstGeom>
          <a:noFill/>
        </p:spPr>
        <p:txBody>
          <a:bodyPr wrap="square" rtlCol="0">
            <a:spAutoFit/>
          </a:bodyPr>
          <a:lstStyle/>
          <a:p>
            <a:r>
              <a:rPr lang="zh-CN" altLang="en-US" sz="1600" dirty="0">
                <a:solidFill>
                  <a:schemeClr val="bg1"/>
                </a:solidFill>
                <a:latin typeface="思源黑体 CN Regular" panose="020B0500000000000000" pitchFamily="34" charset="-122"/>
                <a:ea typeface="思源黑体 CN Regular" panose="020B0500000000000000" pitchFamily="34" charset="-122"/>
              </a:rPr>
              <a:t>预期成果</a:t>
            </a:r>
          </a:p>
        </p:txBody>
      </p:sp>
      <p:sp>
        <p:nvSpPr>
          <p:cNvPr id="136" name="任意矩形：006">
            <a:extLst>
              <a:ext uri="{FF2B5EF4-FFF2-40B4-BE49-F238E27FC236}">
                <a16:creationId xmlns:a16="http://schemas.microsoft.com/office/drawing/2014/main" id="{674E95B7-3940-4FD8-8823-EE3496A5F286}"/>
              </a:ext>
            </a:extLst>
          </p:cNvPr>
          <p:cNvSpPr/>
          <p:nvPr/>
        </p:nvSpPr>
        <p:spPr>
          <a:xfrm>
            <a:off x="125661" y="5689964"/>
            <a:ext cx="203662" cy="187126"/>
          </a:xfrm>
          <a:custGeom>
            <a:avLst/>
            <a:gdLst>
              <a:gd name="T0" fmla="*/ 11834 w 13933"/>
              <a:gd name="T1" fmla="*/ 1094 h 12800"/>
              <a:gd name="T2" fmla="*/ 10384 w 13933"/>
              <a:gd name="T3" fmla="*/ 1094 h 12800"/>
              <a:gd name="T4" fmla="*/ 10384 w 13933"/>
              <a:gd name="T5" fmla="*/ 315 h 12800"/>
              <a:gd name="T6" fmla="*/ 10069 w 13933"/>
              <a:gd name="T7" fmla="*/ 0 h 12800"/>
              <a:gd name="T8" fmla="*/ 9754 w 13933"/>
              <a:gd name="T9" fmla="*/ 315 h 12800"/>
              <a:gd name="T10" fmla="*/ 9754 w 13933"/>
              <a:gd name="T11" fmla="*/ 1094 h 12800"/>
              <a:gd name="T12" fmla="*/ 4056 w 13933"/>
              <a:gd name="T13" fmla="*/ 1094 h 12800"/>
              <a:gd name="T14" fmla="*/ 4056 w 13933"/>
              <a:gd name="T15" fmla="*/ 315 h 12800"/>
              <a:gd name="T16" fmla="*/ 3741 w 13933"/>
              <a:gd name="T17" fmla="*/ 0 h 12800"/>
              <a:gd name="T18" fmla="*/ 3426 w 13933"/>
              <a:gd name="T19" fmla="*/ 315 h 12800"/>
              <a:gd name="T20" fmla="*/ 3426 w 13933"/>
              <a:gd name="T21" fmla="*/ 1094 h 12800"/>
              <a:gd name="T22" fmla="*/ 2099 w 13933"/>
              <a:gd name="T23" fmla="*/ 1094 h 12800"/>
              <a:gd name="T24" fmla="*/ 0 w 13933"/>
              <a:gd name="T25" fmla="*/ 3193 h 12800"/>
              <a:gd name="T26" fmla="*/ 0 w 13933"/>
              <a:gd name="T27" fmla="*/ 10701 h 12800"/>
              <a:gd name="T28" fmla="*/ 2099 w 13933"/>
              <a:gd name="T29" fmla="*/ 12800 h 12800"/>
              <a:gd name="T30" fmla="*/ 11834 w 13933"/>
              <a:gd name="T31" fmla="*/ 12800 h 12800"/>
              <a:gd name="T32" fmla="*/ 13933 w 13933"/>
              <a:gd name="T33" fmla="*/ 10701 h 12800"/>
              <a:gd name="T34" fmla="*/ 13933 w 13933"/>
              <a:gd name="T35" fmla="*/ 3193 h 12800"/>
              <a:gd name="T36" fmla="*/ 11834 w 13933"/>
              <a:gd name="T37" fmla="*/ 1094 h 12800"/>
              <a:gd name="T38" fmla="*/ 2099 w 13933"/>
              <a:gd name="T39" fmla="*/ 1933 h 12800"/>
              <a:gd name="T40" fmla="*/ 3426 w 13933"/>
              <a:gd name="T41" fmla="*/ 1933 h 12800"/>
              <a:gd name="T42" fmla="*/ 3426 w 13933"/>
              <a:gd name="T43" fmla="*/ 2757 h 12800"/>
              <a:gd name="T44" fmla="*/ 3741 w 13933"/>
              <a:gd name="T45" fmla="*/ 3072 h 12800"/>
              <a:gd name="T46" fmla="*/ 4056 w 13933"/>
              <a:gd name="T47" fmla="*/ 2757 h 12800"/>
              <a:gd name="T48" fmla="*/ 4056 w 13933"/>
              <a:gd name="T49" fmla="*/ 1933 h 12800"/>
              <a:gd name="T50" fmla="*/ 9754 w 13933"/>
              <a:gd name="T51" fmla="*/ 1933 h 12800"/>
              <a:gd name="T52" fmla="*/ 9754 w 13933"/>
              <a:gd name="T53" fmla="*/ 2757 h 12800"/>
              <a:gd name="T54" fmla="*/ 10069 w 13933"/>
              <a:gd name="T55" fmla="*/ 3072 h 12800"/>
              <a:gd name="T56" fmla="*/ 10384 w 13933"/>
              <a:gd name="T57" fmla="*/ 2757 h 12800"/>
              <a:gd name="T58" fmla="*/ 10384 w 13933"/>
              <a:gd name="T59" fmla="*/ 1933 h 12800"/>
              <a:gd name="T60" fmla="*/ 11834 w 13933"/>
              <a:gd name="T61" fmla="*/ 1933 h 12800"/>
              <a:gd name="T62" fmla="*/ 13094 w 13933"/>
              <a:gd name="T63" fmla="*/ 3193 h 12800"/>
              <a:gd name="T64" fmla="*/ 13094 w 13933"/>
              <a:gd name="T65" fmla="*/ 4646 h 12800"/>
              <a:gd name="T66" fmla="*/ 840 w 13933"/>
              <a:gd name="T67" fmla="*/ 4646 h 12800"/>
              <a:gd name="T68" fmla="*/ 840 w 13933"/>
              <a:gd name="T69" fmla="*/ 3193 h 12800"/>
              <a:gd name="T70" fmla="*/ 2099 w 13933"/>
              <a:gd name="T71" fmla="*/ 1933 h 12800"/>
              <a:gd name="T72" fmla="*/ 11834 w 13933"/>
              <a:gd name="T73" fmla="*/ 11960 h 12800"/>
              <a:gd name="T74" fmla="*/ 2099 w 13933"/>
              <a:gd name="T75" fmla="*/ 11960 h 12800"/>
              <a:gd name="T76" fmla="*/ 840 w 13933"/>
              <a:gd name="T77" fmla="*/ 10701 h 12800"/>
              <a:gd name="T78" fmla="*/ 840 w 13933"/>
              <a:gd name="T79" fmla="*/ 5276 h 12800"/>
              <a:gd name="T80" fmla="*/ 13094 w 13933"/>
              <a:gd name="T81" fmla="*/ 5276 h 12800"/>
              <a:gd name="T82" fmla="*/ 13094 w 13933"/>
              <a:gd name="T83" fmla="*/ 10701 h 12800"/>
              <a:gd name="T84" fmla="*/ 11834 w 13933"/>
              <a:gd name="T85" fmla="*/ 11960 h 128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Lst>
            <a:rect l="0" t="0" r="r" b="b"/>
            <a:pathLst>
              <a:path w="13933" h="12800">
                <a:moveTo>
                  <a:pt x="11834" y="1094"/>
                </a:moveTo>
                <a:lnTo>
                  <a:pt x="10384" y="1094"/>
                </a:lnTo>
                <a:lnTo>
                  <a:pt x="10384" y="315"/>
                </a:lnTo>
                <a:cubicBezTo>
                  <a:pt x="10384" y="141"/>
                  <a:pt x="10243" y="0"/>
                  <a:pt x="10069" y="0"/>
                </a:cubicBezTo>
                <a:cubicBezTo>
                  <a:pt x="9895" y="0"/>
                  <a:pt x="9754" y="141"/>
                  <a:pt x="9754" y="315"/>
                </a:cubicBezTo>
                <a:lnTo>
                  <a:pt x="9754" y="1094"/>
                </a:lnTo>
                <a:lnTo>
                  <a:pt x="4056" y="1094"/>
                </a:lnTo>
                <a:lnTo>
                  <a:pt x="4056" y="315"/>
                </a:lnTo>
                <a:cubicBezTo>
                  <a:pt x="4056" y="141"/>
                  <a:pt x="3915" y="0"/>
                  <a:pt x="3741" y="0"/>
                </a:cubicBezTo>
                <a:cubicBezTo>
                  <a:pt x="3567" y="0"/>
                  <a:pt x="3426" y="141"/>
                  <a:pt x="3426" y="315"/>
                </a:cubicBezTo>
                <a:lnTo>
                  <a:pt x="3426" y="1094"/>
                </a:lnTo>
                <a:lnTo>
                  <a:pt x="2099" y="1094"/>
                </a:lnTo>
                <a:cubicBezTo>
                  <a:pt x="940" y="1095"/>
                  <a:pt x="1" y="2034"/>
                  <a:pt x="0" y="3193"/>
                </a:cubicBezTo>
                <a:lnTo>
                  <a:pt x="0" y="10701"/>
                </a:lnTo>
                <a:cubicBezTo>
                  <a:pt x="1" y="11860"/>
                  <a:pt x="940" y="12799"/>
                  <a:pt x="2099" y="12800"/>
                </a:cubicBezTo>
                <a:lnTo>
                  <a:pt x="11834" y="12800"/>
                </a:lnTo>
                <a:cubicBezTo>
                  <a:pt x="12993" y="12799"/>
                  <a:pt x="13932" y="11860"/>
                  <a:pt x="13933" y="10701"/>
                </a:cubicBezTo>
                <a:lnTo>
                  <a:pt x="13933" y="3193"/>
                </a:lnTo>
                <a:cubicBezTo>
                  <a:pt x="13932" y="2034"/>
                  <a:pt x="12993" y="1095"/>
                  <a:pt x="11834" y="1094"/>
                </a:cubicBezTo>
                <a:close/>
                <a:moveTo>
                  <a:pt x="2099" y="1933"/>
                </a:moveTo>
                <a:lnTo>
                  <a:pt x="3426" y="1933"/>
                </a:lnTo>
                <a:lnTo>
                  <a:pt x="3426" y="2757"/>
                </a:lnTo>
                <a:cubicBezTo>
                  <a:pt x="3426" y="2931"/>
                  <a:pt x="3567" y="3072"/>
                  <a:pt x="3741" y="3072"/>
                </a:cubicBezTo>
                <a:cubicBezTo>
                  <a:pt x="3915" y="3072"/>
                  <a:pt x="4056" y="2931"/>
                  <a:pt x="4056" y="2757"/>
                </a:cubicBezTo>
                <a:lnTo>
                  <a:pt x="4056" y="1933"/>
                </a:lnTo>
                <a:lnTo>
                  <a:pt x="9754" y="1933"/>
                </a:lnTo>
                <a:lnTo>
                  <a:pt x="9754" y="2757"/>
                </a:lnTo>
                <a:cubicBezTo>
                  <a:pt x="9754" y="2931"/>
                  <a:pt x="9895" y="3072"/>
                  <a:pt x="10069" y="3072"/>
                </a:cubicBezTo>
                <a:cubicBezTo>
                  <a:pt x="10243" y="3072"/>
                  <a:pt x="10384" y="2931"/>
                  <a:pt x="10384" y="2757"/>
                </a:cubicBezTo>
                <a:lnTo>
                  <a:pt x="10384" y="1933"/>
                </a:lnTo>
                <a:lnTo>
                  <a:pt x="11834" y="1933"/>
                </a:lnTo>
                <a:cubicBezTo>
                  <a:pt x="12529" y="1934"/>
                  <a:pt x="13093" y="2497"/>
                  <a:pt x="13094" y="3193"/>
                </a:cubicBezTo>
                <a:lnTo>
                  <a:pt x="13094" y="4646"/>
                </a:lnTo>
                <a:lnTo>
                  <a:pt x="840" y="4646"/>
                </a:lnTo>
                <a:lnTo>
                  <a:pt x="840" y="3193"/>
                </a:lnTo>
                <a:cubicBezTo>
                  <a:pt x="840" y="2497"/>
                  <a:pt x="1404" y="1934"/>
                  <a:pt x="2099" y="1933"/>
                </a:cubicBezTo>
                <a:close/>
                <a:moveTo>
                  <a:pt x="11834" y="11960"/>
                </a:moveTo>
                <a:lnTo>
                  <a:pt x="2099" y="11960"/>
                </a:lnTo>
                <a:cubicBezTo>
                  <a:pt x="1404" y="11960"/>
                  <a:pt x="840" y="11396"/>
                  <a:pt x="840" y="10701"/>
                </a:cubicBezTo>
                <a:lnTo>
                  <a:pt x="840" y="5276"/>
                </a:lnTo>
                <a:lnTo>
                  <a:pt x="13094" y="5276"/>
                </a:lnTo>
                <a:lnTo>
                  <a:pt x="13094" y="10701"/>
                </a:lnTo>
                <a:cubicBezTo>
                  <a:pt x="13093" y="11396"/>
                  <a:pt x="12529" y="11960"/>
                  <a:pt x="11834" y="1196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56836885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8" name="矩形 137">
            <a:extLst>
              <a:ext uri="{FF2B5EF4-FFF2-40B4-BE49-F238E27FC236}">
                <a16:creationId xmlns:a16="http://schemas.microsoft.com/office/drawing/2014/main" id="{C5D6C303-241C-44B1-BB84-B5D015E85852}"/>
              </a:ext>
            </a:extLst>
          </p:cNvPr>
          <p:cNvSpPr/>
          <p:nvPr/>
        </p:nvSpPr>
        <p:spPr>
          <a:xfrm>
            <a:off x="0" y="5476300"/>
            <a:ext cx="2052320" cy="56374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59" name="靖飞在肝PPT59">
            <a:extLst>
              <a:ext uri="{FF2B5EF4-FFF2-40B4-BE49-F238E27FC236}">
                <a16:creationId xmlns:a16="http://schemas.microsoft.com/office/drawing/2014/main" id="{D7E2CA22-5969-486B-89DE-9ABEF21D54B8}"/>
              </a:ext>
            </a:extLst>
          </p:cNvPr>
          <p:cNvSpPr/>
          <p:nvPr/>
        </p:nvSpPr>
        <p:spPr>
          <a:xfrm>
            <a:off x="4523160" y="1785546"/>
            <a:ext cx="7342266" cy="4812104"/>
          </a:xfrm>
          <a:prstGeom prst="roundRect">
            <a:avLst>
              <a:gd name="adj" fmla="val 3149"/>
            </a:avLst>
          </a:prstGeom>
          <a:solidFill>
            <a:schemeClr val="bg1"/>
          </a:solidFill>
          <a:ln>
            <a:solidFill>
              <a:schemeClr val="accent1"/>
            </a:solid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2400">
              <a:solidFill>
                <a:schemeClr val="bg1"/>
              </a:solidFill>
              <a:latin typeface="思源黑体 CN Regular" panose="020B0500000000000000" pitchFamily="34" charset="-122"/>
              <a:ea typeface="思源黑体 CN Regular" panose="020B0500000000000000" pitchFamily="34" charset="-122"/>
              <a:cs typeface="OPPOSans M" panose="00020600040101010101" pitchFamily="18" charset="-122"/>
            </a:endParaRPr>
          </a:p>
        </p:txBody>
      </p:sp>
      <p:sp>
        <p:nvSpPr>
          <p:cNvPr id="161" name="文本框 160">
            <a:extLst>
              <a:ext uri="{FF2B5EF4-FFF2-40B4-BE49-F238E27FC236}">
                <a16:creationId xmlns:a16="http://schemas.microsoft.com/office/drawing/2014/main" id="{F612A67C-771F-4844-93BA-AB9B9C19EEEA}"/>
              </a:ext>
            </a:extLst>
          </p:cNvPr>
          <p:cNvSpPr txBox="1"/>
          <p:nvPr/>
        </p:nvSpPr>
        <p:spPr>
          <a:xfrm>
            <a:off x="2296624" y="1157658"/>
            <a:ext cx="1723549" cy="461665"/>
          </a:xfrm>
          <a:prstGeom prst="rect">
            <a:avLst/>
          </a:prstGeom>
          <a:noFill/>
        </p:spPr>
        <p:txBody>
          <a:bodyPr wrap="none" rtlCol="0">
            <a:spAutoFit/>
          </a:bodyPr>
          <a:lstStyle/>
          <a:p>
            <a:r>
              <a:rPr lang="zh-CN" altLang="en-US" sz="2400" dirty="0">
                <a:latin typeface="思源黑体 CN Bold" panose="020B0800000000000000" pitchFamily="34" charset="-122"/>
                <a:ea typeface="思源黑体 CN Bold" panose="020B0800000000000000" pitchFamily="34" charset="-122"/>
              </a:rPr>
              <a:t>短期目标：</a:t>
            </a:r>
          </a:p>
        </p:txBody>
      </p:sp>
      <p:sp>
        <p:nvSpPr>
          <p:cNvPr id="162" name="文本框 161">
            <a:extLst>
              <a:ext uri="{FF2B5EF4-FFF2-40B4-BE49-F238E27FC236}">
                <a16:creationId xmlns:a16="http://schemas.microsoft.com/office/drawing/2014/main" id="{072288D8-1B3E-48E2-AB42-7EF46BF59079}"/>
              </a:ext>
            </a:extLst>
          </p:cNvPr>
          <p:cNvSpPr txBox="1"/>
          <p:nvPr/>
        </p:nvSpPr>
        <p:spPr>
          <a:xfrm>
            <a:off x="3816770" y="1188138"/>
            <a:ext cx="4977645" cy="400110"/>
          </a:xfrm>
          <a:prstGeom prst="rect">
            <a:avLst/>
          </a:prstGeom>
          <a:noFill/>
        </p:spPr>
        <p:txBody>
          <a:bodyPr wrap="none" rtlCol="0">
            <a:spAutoFit/>
          </a:bodyPr>
          <a:lstStyle/>
          <a:p>
            <a:r>
              <a:rPr lang="zh-CN" altLang="en-US" sz="2000" dirty="0">
                <a:solidFill>
                  <a:schemeClr val="accent1"/>
                </a:solidFill>
                <a:latin typeface="思源黑体 CN Bold" panose="020B0800000000000000" pitchFamily="34" charset="-122"/>
                <a:ea typeface="思源黑体 CN Bold" panose="020B0800000000000000" pitchFamily="34" charset="-122"/>
              </a:rPr>
              <a:t>完成抗体</a:t>
            </a:r>
            <a:r>
              <a:rPr lang="en-US" altLang="zh-CN" sz="2000" dirty="0">
                <a:solidFill>
                  <a:schemeClr val="accent1"/>
                </a:solidFill>
                <a:latin typeface="思源黑体 CN Bold" panose="020B0800000000000000" pitchFamily="34" charset="-122"/>
                <a:ea typeface="思源黑体 CN Bold" panose="020B0800000000000000" pitchFamily="34" charset="-122"/>
              </a:rPr>
              <a:t>xxx</a:t>
            </a:r>
            <a:r>
              <a:rPr lang="zh-CN" altLang="en-US" sz="2000" dirty="0">
                <a:solidFill>
                  <a:schemeClr val="accent1"/>
                </a:solidFill>
                <a:latin typeface="思源黑体 CN Bold" panose="020B0800000000000000" pitchFamily="34" charset="-122"/>
                <a:ea typeface="思源黑体 CN Bold" panose="020B0800000000000000" pitchFamily="34" charset="-122"/>
              </a:rPr>
              <a:t>数据分析，完成论文初稿撰写</a:t>
            </a:r>
          </a:p>
        </p:txBody>
      </p:sp>
      <p:sp>
        <p:nvSpPr>
          <p:cNvPr id="28" name="靖飞在肝PPT4">
            <a:extLst>
              <a:ext uri="{FF2B5EF4-FFF2-40B4-BE49-F238E27FC236}">
                <a16:creationId xmlns:a16="http://schemas.microsoft.com/office/drawing/2014/main" id="{2AFB8B3E-761C-47F1-9CB8-C4387B982252}"/>
              </a:ext>
            </a:extLst>
          </p:cNvPr>
          <p:cNvSpPr/>
          <p:nvPr/>
        </p:nvSpPr>
        <p:spPr>
          <a:xfrm>
            <a:off x="4529354" y="2174661"/>
            <a:ext cx="706729" cy="345437"/>
          </a:xfrm>
          <a:prstGeom prst="rect">
            <a:avLst/>
          </a:prstGeom>
          <a:solidFill>
            <a:schemeClr val="accent1">
              <a:alpha val="40000"/>
            </a:schemeClr>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r>
              <a:rPr kumimoji="1" lang="en-US" altLang="zh-CN" sz="1600" b="1" kern="0" dirty="0">
                <a:solidFill>
                  <a:schemeClr val="bg1"/>
                </a:solidFill>
                <a:latin typeface="思源黑体 CN Regular" panose="020B0500000000000000" pitchFamily="34" charset="-122"/>
                <a:ea typeface="思源黑体 CN Regular" panose="020B0500000000000000" pitchFamily="34" charset="-122"/>
                <a:cs typeface="OPPOSans M" panose="00020600040101010101" pitchFamily="18" charset="-122"/>
              </a:rPr>
              <a:t>1</a:t>
            </a:r>
            <a:r>
              <a:rPr kumimoji="1" lang="zh-CN" altLang="en-US" sz="1600" b="1" i="0" u="none" strike="noStrike" kern="0" cap="none" spc="0" normalizeH="0" baseline="0" noProof="0" dirty="0">
                <a:ln>
                  <a:noFill/>
                </a:ln>
                <a:solidFill>
                  <a:schemeClr val="bg1"/>
                </a:solidFill>
                <a:effectLst/>
                <a:uLnTx/>
                <a:uFillTx/>
                <a:latin typeface="思源黑体 CN Regular" panose="020B0500000000000000" pitchFamily="34" charset="-122"/>
                <a:ea typeface="思源黑体 CN Regular" panose="020B0500000000000000" pitchFamily="34" charset="-122"/>
                <a:cs typeface="OPPOSans M" panose="00020600040101010101" pitchFamily="18" charset="-122"/>
              </a:rPr>
              <a:t>月</a:t>
            </a:r>
            <a:endParaRPr kumimoji="1" lang="en-US" altLang="zh-CN" sz="1600" b="1" i="0" u="none" strike="noStrike" kern="0" cap="none" spc="0" normalizeH="0" baseline="0" noProof="0" dirty="0">
              <a:ln>
                <a:noFill/>
              </a:ln>
              <a:solidFill>
                <a:schemeClr val="bg1"/>
              </a:solidFill>
              <a:effectLst/>
              <a:uLnTx/>
              <a:uFillTx/>
              <a:latin typeface="思源黑体 CN Regular" panose="020B0500000000000000" pitchFamily="34" charset="-122"/>
              <a:ea typeface="思源黑体 CN Regular" panose="020B0500000000000000" pitchFamily="34" charset="-122"/>
              <a:cs typeface="OPPOSans M" panose="00020600040101010101" pitchFamily="18" charset="-122"/>
            </a:endParaRPr>
          </a:p>
        </p:txBody>
      </p:sp>
      <p:sp>
        <p:nvSpPr>
          <p:cNvPr id="29" name="靖飞在肝PPT5">
            <a:extLst>
              <a:ext uri="{FF2B5EF4-FFF2-40B4-BE49-F238E27FC236}">
                <a16:creationId xmlns:a16="http://schemas.microsoft.com/office/drawing/2014/main" id="{3A8F4D82-1105-4E8C-B901-82EDED61E901}"/>
              </a:ext>
            </a:extLst>
          </p:cNvPr>
          <p:cNvSpPr/>
          <p:nvPr/>
        </p:nvSpPr>
        <p:spPr>
          <a:xfrm>
            <a:off x="5261975" y="2174661"/>
            <a:ext cx="706729" cy="345437"/>
          </a:xfrm>
          <a:prstGeom prst="rect">
            <a:avLst/>
          </a:prstGeom>
          <a:solidFill>
            <a:schemeClr val="accent1">
              <a:alpha val="40000"/>
            </a:schemeClr>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r>
              <a:rPr kumimoji="1" lang="en-US" altLang="zh-CN" sz="1600" b="1" kern="0" dirty="0">
                <a:solidFill>
                  <a:schemeClr val="bg1"/>
                </a:solidFill>
                <a:latin typeface="思源黑体 CN Regular" panose="020B0500000000000000" pitchFamily="34" charset="-122"/>
                <a:ea typeface="思源黑体 CN Regular" panose="020B0500000000000000" pitchFamily="34" charset="-122"/>
                <a:cs typeface="OPPOSans M" panose="00020600040101010101" pitchFamily="18" charset="-122"/>
              </a:rPr>
              <a:t>2</a:t>
            </a:r>
            <a:r>
              <a:rPr kumimoji="1" lang="zh-CN" altLang="en-US" sz="1600" b="1" i="0" u="none" strike="noStrike" kern="0" cap="none" spc="0" normalizeH="0" baseline="0" noProof="0" dirty="0">
                <a:ln>
                  <a:noFill/>
                </a:ln>
                <a:solidFill>
                  <a:schemeClr val="bg1"/>
                </a:solidFill>
                <a:effectLst/>
                <a:uLnTx/>
                <a:uFillTx/>
                <a:latin typeface="思源黑体 CN Regular" panose="020B0500000000000000" pitchFamily="34" charset="-122"/>
                <a:ea typeface="思源黑体 CN Regular" panose="020B0500000000000000" pitchFamily="34" charset="-122"/>
                <a:cs typeface="OPPOSans M" panose="00020600040101010101" pitchFamily="18" charset="-122"/>
              </a:rPr>
              <a:t>月</a:t>
            </a:r>
            <a:endParaRPr kumimoji="1" lang="en-US" altLang="zh-CN" sz="1600" b="1" i="0" u="none" strike="noStrike" kern="0" cap="none" spc="0" normalizeH="0" baseline="0" noProof="0" dirty="0">
              <a:ln>
                <a:noFill/>
              </a:ln>
              <a:solidFill>
                <a:schemeClr val="bg1"/>
              </a:solidFill>
              <a:effectLst/>
              <a:uLnTx/>
              <a:uFillTx/>
              <a:latin typeface="思源黑体 CN Regular" panose="020B0500000000000000" pitchFamily="34" charset="-122"/>
              <a:ea typeface="思源黑体 CN Regular" panose="020B0500000000000000" pitchFamily="34" charset="-122"/>
              <a:cs typeface="OPPOSans M" panose="00020600040101010101" pitchFamily="18" charset="-122"/>
            </a:endParaRPr>
          </a:p>
        </p:txBody>
      </p:sp>
      <p:sp>
        <p:nvSpPr>
          <p:cNvPr id="30" name="靖飞在肝PPT6">
            <a:extLst>
              <a:ext uri="{FF2B5EF4-FFF2-40B4-BE49-F238E27FC236}">
                <a16:creationId xmlns:a16="http://schemas.microsoft.com/office/drawing/2014/main" id="{2BC73D01-F6B3-42BA-AF39-B181ED59C122}"/>
              </a:ext>
            </a:extLst>
          </p:cNvPr>
          <p:cNvSpPr/>
          <p:nvPr/>
        </p:nvSpPr>
        <p:spPr>
          <a:xfrm>
            <a:off x="5994598" y="2174661"/>
            <a:ext cx="706729" cy="345437"/>
          </a:xfrm>
          <a:prstGeom prst="rect">
            <a:avLst/>
          </a:prstGeom>
          <a:solidFill>
            <a:schemeClr val="accent1">
              <a:alpha val="40000"/>
            </a:schemeClr>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r>
              <a:rPr kumimoji="1" lang="en-US" altLang="zh-CN" sz="1600" b="1" kern="0" dirty="0">
                <a:solidFill>
                  <a:schemeClr val="bg1"/>
                </a:solidFill>
                <a:latin typeface="思源黑体 CN Regular" panose="020B0500000000000000" pitchFamily="34" charset="-122"/>
                <a:ea typeface="思源黑体 CN Regular" panose="020B0500000000000000" pitchFamily="34" charset="-122"/>
                <a:cs typeface="OPPOSans M" panose="00020600040101010101" pitchFamily="18" charset="-122"/>
              </a:rPr>
              <a:t>3</a:t>
            </a:r>
            <a:r>
              <a:rPr kumimoji="1" lang="zh-CN" altLang="en-US" sz="1600" b="1" i="0" u="none" strike="noStrike" kern="0" cap="none" spc="0" normalizeH="0" baseline="0" noProof="0" dirty="0">
                <a:ln>
                  <a:noFill/>
                </a:ln>
                <a:solidFill>
                  <a:schemeClr val="bg1"/>
                </a:solidFill>
                <a:effectLst/>
                <a:uLnTx/>
                <a:uFillTx/>
                <a:latin typeface="思源黑体 CN Regular" panose="020B0500000000000000" pitchFamily="34" charset="-122"/>
                <a:ea typeface="思源黑体 CN Regular" panose="020B0500000000000000" pitchFamily="34" charset="-122"/>
                <a:cs typeface="OPPOSans M" panose="00020600040101010101" pitchFamily="18" charset="-122"/>
              </a:rPr>
              <a:t>月</a:t>
            </a:r>
            <a:endParaRPr kumimoji="1" lang="en-US" altLang="zh-CN" sz="1600" b="1" i="0" u="none" strike="noStrike" kern="0" cap="none" spc="0" normalizeH="0" baseline="0" noProof="0" dirty="0">
              <a:ln>
                <a:noFill/>
              </a:ln>
              <a:solidFill>
                <a:schemeClr val="bg1"/>
              </a:solidFill>
              <a:effectLst/>
              <a:uLnTx/>
              <a:uFillTx/>
              <a:latin typeface="思源黑体 CN Regular" panose="020B0500000000000000" pitchFamily="34" charset="-122"/>
              <a:ea typeface="思源黑体 CN Regular" panose="020B0500000000000000" pitchFamily="34" charset="-122"/>
              <a:cs typeface="OPPOSans M" panose="00020600040101010101" pitchFamily="18" charset="-122"/>
            </a:endParaRPr>
          </a:p>
        </p:txBody>
      </p:sp>
      <p:sp>
        <p:nvSpPr>
          <p:cNvPr id="31" name="靖飞在肝PPT7">
            <a:extLst>
              <a:ext uri="{FF2B5EF4-FFF2-40B4-BE49-F238E27FC236}">
                <a16:creationId xmlns:a16="http://schemas.microsoft.com/office/drawing/2014/main" id="{310E6439-C715-4BDB-887C-ED4F0B8A6202}"/>
              </a:ext>
            </a:extLst>
          </p:cNvPr>
          <p:cNvSpPr/>
          <p:nvPr/>
        </p:nvSpPr>
        <p:spPr>
          <a:xfrm>
            <a:off x="6727220" y="2174661"/>
            <a:ext cx="706729" cy="345437"/>
          </a:xfrm>
          <a:prstGeom prst="rect">
            <a:avLst/>
          </a:prstGeom>
          <a:solidFill>
            <a:schemeClr val="accent1">
              <a:alpha val="40000"/>
            </a:schemeClr>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r>
              <a:rPr kumimoji="1" lang="en-US" altLang="zh-CN" sz="1600" b="1" kern="0" dirty="0">
                <a:solidFill>
                  <a:schemeClr val="bg1"/>
                </a:solidFill>
                <a:latin typeface="思源黑体 CN Regular" panose="020B0500000000000000" pitchFamily="34" charset="-122"/>
                <a:ea typeface="思源黑体 CN Regular" panose="020B0500000000000000" pitchFamily="34" charset="-122"/>
                <a:cs typeface="OPPOSans M" panose="00020600040101010101" pitchFamily="18" charset="-122"/>
              </a:rPr>
              <a:t>4</a:t>
            </a:r>
            <a:r>
              <a:rPr kumimoji="1" lang="zh-CN" altLang="en-US" sz="1600" b="1" i="0" u="none" strike="noStrike" kern="0" cap="none" spc="0" normalizeH="0" baseline="0" noProof="0" dirty="0">
                <a:ln>
                  <a:noFill/>
                </a:ln>
                <a:solidFill>
                  <a:schemeClr val="bg1"/>
                </a:solidFill>
                <a:effectLst/>
                <a:uLnTx/>
                <a:uFillTx/>
                <a:latin typeface="思源黑体 CN Regular" panose="020B0500000000000000" pitchFamily="34" charset="-122"/>
                <a:ea typeface="思源黑体 CN Regular" panose="020B0500000000000000" pitchFamily="34" charset="-122"/>
                <a:cs typeface="OPPOSans M" panose="00020600040101010101" pitchFamily="18" charset="-122"/>
              </a:rPr>
              <a:t>月</a:t>
            </a:r>
            <a:endParaRPr kumimoji="1" lang="en-US" altLang="zh-CN" sz="1600" b="1" i="0" u="none" strike="noStrike" kern="0" cap="none" spc="0" normalizeH="0" baseline="0" noProof="0" dirty="0">
              <a:ln>
                <a:noFill/>
              </a:ln>
              <a:solidFill>
                <a:schemeClr val="bg1"/>
              </a:solidFill>
              <a:effectLst/>
              <a:uLnTx/>
              <a:uFillTx/>
              <a:latin typeface="思源黑体 CN Regular" panose="020B0500000000000000" pitchFamily="34" charset="-122"/>
              <a:ea typeface="思源黑体 CN Regular" panose="020B0500000000000000" pitchFamily="34" charset="-122"/>
              <a:cs typeface="OPPOSans M" panose="00020600040101010101" pitchFamily="18" charset="-122"/>
            </a:endParaRPr>
          </a:p>
        </p:txBody>
      </p:sp>
      <p:sp>
        <p:nvSpPr>
          <p:cNvPr id="164" name="靖飞在肝PPT4">
            <a:extLst>
              <a:ext uri="{FF2B5EF4-FFF2-40B4-BE49-F238E27FC236}">
                <a16:creationId xmlns:a16="http://schemas.microsoft.com/office/drawing/2014/main" id="{FA4EDB26-29F0-49B6-81AC-8636134B1C06}"/>
              </a:ext>
            </a:extLst>
          </p:cNvPr>
          <p:cNvSpPr/>
          <p:nvPr/>
        </p:nvSpPr>
        <p:spPr>
          <a:xfrm>
            <a:off x="7486118" y="2174661"/>
            <a:ext cx="701884" cy="345437"/>
          </a:xfrm>
          <a:prstGeom prst="rect">
            <a:avLst/>
          </a:prstGeom>
          <a:solidFill>
            <a:schemeClr val="accent1"/>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r>
              <a:rPr kumimoji="1" lang="en-US" altLang="zh-CN" sz="1600" b="1" kern="0" dirty="0">
                <a:solidFill>
                  <a:schemeClr val="bg1"/>
                </a:solidFill>
                <a:latin typeface="思源黑体 CN Regular" panose="020B0500000000000000" pitchFamily="34" charset="-122"/>
                <a:ea typeface="思源黑体 CN Regular" panose="020B0500000000000000" pitchFamily="34" charset="-122"/>
                <a:cs typeface="OPPOSans M" panose="00020600040101010101" pitchFamily="18" charset="-122"/>
              </a:rPr>
              <a:t>1</a:t>
            </a:r>
            <a:r>
              <a:rPr kumimoji="1" lang="zh-CN" altLang="en-US" sz="1600" b="1" i="0" u="none" strike="noStrike" kern="0" cap="none" spc="0" normalizeH="0" baseline="0" noProof="0" dirty="0">
                <a:ln>
                  <a:noFill/>
                </a:ln>
                <a:solidFill>
                  <a:schemeClr val="bg1"/>
                </a:solidFill>
                <a:effectLst/>
                <a:uLnTx/>
                <a:uFillTx/>
                <a:latin typeface="思源黑体 CN Regular" panose="020B0500000000000000" pitchFamily="34" charset="-122"/>
                <a:ea typeface="思源黑体 CN Regular" panose="020B0500000000000000" pitchFamily="34" charset="-122"/>
                <a:cs typeface="OPPOSans M" panose="00020600040101010101" pitchFamily="18" charset="-122"/>
              </a:rPr>
              <a:t>月</a:t>
            </a:r>
            <a:endParaRPr kumimoji="1" lang="en-US" altLang="zh-CN" sz="1600" b="1" i="0" u="none" strike="noStrike" kern="0" cap="none" spc="0" normalizeH="0" baseline="0" noProof="0" dirty="0">
              <a:ln>
                <a:noFill/>
              </a:ln>
              <a:solidFill>
                <a:schemeClr val="bg1"/>
              </a:solidFill>
              <a:effectLst/>
              <a:uLnTx/>
              <a:uFillTx/>
              <a:latin typeface="思源黑体 CN Regular" panose="020B0500000000000000" pitchFamily="34" charset="-122"/>
              <a:ea typeface="思源黑体 CN Regular" panose="020B0500000000000000" pitchFamily="34" charset="-122"/>
              <a:cs typeface="OPPOSans M" panose="00020600040101010101" pitchFamily="18" charset="-122"/>
            </a:endParaRPr>
          </a:p>
        </p:txBody>
      </p:sp>
      <p:sp>
        <p:nvSpPr>
          <p:cNvPr id="165" name="靖飞在肝PPT5">
            <a:extLst>
              <a:ext uri="{FF2B5EF4-FFF2-40B4-BE49-F238E27FC236}">
                <a16:creationId xmlns:a16="http://schemas.microsoft.com/office/drawing/2014/main" id="{3DC00FFB-7164-4289-952F-1148F18EB85B}"/>
              </a:ext>
            </a:extLst>
          </p:cNvPr>
          <p:cNvSpPr/>
          <p:nvPr/>
        </p:nvSpPr>
        <p:spPr>
          <a:xfrm>
            <a:off x="8213719" y="2174661"/>
            <a:ext cx="701884" cy="345437"/>
          </a:xfrm>
          <a:prstGeom prst="rect">
            <a:avLst/>
          </a:prstGeom>
          <a:solidFill>
            <a:schemeClr val="accent1"/>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r>
              <a:rPr kumimoji="1" lang="en-US" altLang="zh-CN" sz="1600" b="1" kern="0" dirty="0">
                <a:solidFill>
                  <a:schemeClr val="bg1"/>
                </a:solidFill>
                <a:latin typeface="思源黑体 CN Regular" panose="020B0500000000000000" pitchFamily="34" charset="-122"/>
                <a:ea typeface="思源黑体 CN Regular" panose="020B0500000000000000" pitchFamily="34" charset="-122"/>
                <a:cs typeface="OPPOSans M" panose="00020600040101010101" pitchFamily="18" charset="-122"/>
              </a:rPr>
              <a:t>2</a:t>
            </a:r>
            <a:r>
              <a:rPr kumimoji="1" lang="zh-CN" altLang="en-US" sz="1600" b="1" i="0" u="none" strike="noStrike" kern="0" cap="none" spc="0" normalizeH="0" baseline="0" noProof="0" dirty="0">
                <a:ln>
                  <a:noFill/>
                </a:ln>
                <a:solidFill>
                  <a:schemeClr val="bg1"/>
                </a:solidFill>
                <a:effectLst/>
                <a:uLnTx/>
                <a:uFillTx/>
                <a:latin typeface="思源黑体 CN Regular" panose="020B0500000000000000" pitchFamily="34" charset="-122"/>
                <a:ea typeface="思源黑体 CN Regular" panose="020B0500000000000000" pitchFamily="34" charset="-122"/>
                <a:cs typeface="OPPOSans M" panose="00020600040101010101" pitchFamily="18" charset="-122"/>
              </a:rPr>
              <a:t>月</a:t>
            </a:r>
            <a:endParaRPr kumimoji="1" lang="en-US" altLang="zh-CN" sz="1600" b="1" i="0" u="none" strike="noStrike" kern="0" cap="none" spc="0" normalizeH="0" baseline="0" noProof="0" dirty="0">
              <a:ln>
                <a:noFill/>
              </a:ln>
              <a:solidFill>
                <a:schemeClr val="bg1"/>
              </a:solidFill>
              <a:effectLst/>
              <a:uLnTx/>
              <a:uFillTx/>
              <a:latin typeface="思源黑体 CN Regular" panose="020B0500000000000000" pitchFamily="34" charset="-122"/>
              <a:ea typeface="思源黑体 CN Regular" panose="020B0500000000000000" pitchFamily="34" charset="-122"/>
              <a:cs typeface="OPPOSans M" panose="00020600040101010101" pitchFamily="18" charset="-122"/>
            </a:endParaRPr>
          </a:p>
        </p:txBody>
      </p:sp>
      <p:sp>
        <p:nvSpPr>
          <p:cNvPr id="166" name="靖飞在肝PPT6">
            <a:extLst>
              <a:ext uri="{FF2B5EF4-FFF2-40B4-BE49-F238E27FC236}">
                <a16:creationId xmlns:a16="http://schemas.microsoft.com/office/drawing/2014/main" id="{B7BD5586-E8FF-4BC0-9A15-D4F053A199FB}"/>
              </a:ext>
            </a:extLst>
          </p:cNvPr>
          <p:cNvSpPr/>
          <p:nvPr/>
        </p:nvSpPr>
        <p:spPr>
          <a:xfrm>
            <a:off x="8941319" y="2174661"/>
            <a:ext cx="701884" cy="345437"/>
          </a:xfrm>
          <a:prstGeom prst="rect">
            <a:avLst/>
          </a:prstGeom>
          <a:solidFill>
            <a:schemeClr val="accent1"/>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r>
              <a:rPr kumimoji="1" lang="en-US" altLang="zh-CN" sz="1600" b="1" kern="0" dirty="0">
                <a:solidFill>
                  <a:schemeClr val="bg1"/>
                </a:solidFill>
                <a:latin typeface="思源黑体 CN Regular" panose="020B0500000000000000" pitchFamily="34" charset="-122"/>
                <a:ea typeface="思源黑体 CN Regular" panose="020B0500000000000000" pitchFamily="34" charset="-122"/>
                <a:cs typeface="OPPOSans M" panose="00020600040101010101" pitchFamily="18" charset="-122"/>
              </a:rPr>
              <a:t>3</a:t>
            </a:r>
            <a:r>
              <a:rPr kumimoji="1" lang="zh-CN" altLang="en-US" sz="1600" b="1" i="0" u="none" strike="noStrike" kern="0" cap="none" spc="0" normalizeH="0" baseline="0" noProof="0" dirty="0">
                <a:ln>
                  <a:noFill/>
                </a:ln>
                <a:solidFill>
                  <a:schemeClr val="bg1"/>
                </a:solidFill>
                <a:effectLst/>
                <a:uLnTx/>
                <a:uFillTx/>
                <a:latin typeface="思源黑体 CN Regular" panose="020B0500000000000000" pitchFamily="34" charset="-122"/>
                <a:ea typeface="思源黑体 CN Regular" panose="020B0500000000000000" pitchFamily="34" charset="-122"/>
                <a:cs typeface="OPPOSans M" panose="00020600040101010101" pitchFamily="18" charset="-122"/>
              </a:rPr>
              <a:t>月</a:t>
            </a:r>
            <a:endParaRPr kumimoji="1" lang="en-US" altLang="zh-CN" sz="1600" b="1" i="0" u="none" strike="noStrike" kern="0" cap="none" spc="0" normalizeH="0" baseline="0" noProof="0" dirty="0">
              <a:ln>
                <a:noFill/>
              </a:ln>
              <a:solidFill>
                <a:schemeClr val="bg1"/>
              </a:solidFill>
              <a:effectLst/>
              <a:uLnTx/>
              <a:uFillTx/>
              <a:latin typeface="思源黑体 CN Regular" panose="020B0500000000000000" pitchFamily="34" charset="-122"/>
              <a:ea typeface="思源黑体 CN Regular" panose="020B0500000000000000" pitchFamily="34" charset="-122"/>
              <a:cs typeface="OPPOSans M" panose="00020600040101010101" pitchFamily="18" charset="-122"/>
            </a:endParaRPr>
          </a:p>
        </p:txBody>
      </p:sp>
      <p:sp>
        <p:nvSpPr>
          <p:cNvPr id="167" name="靖飞在肝PPT7">
            <a:extLst>
              <a:ext uri="{FF2B5EF4-FFF2-40B4-BE49-F238E27FC236}">
                <a16:creationId xmlns:a16="http://schemas.microsoft.com/office/drawing/2014/main" id="{0D322FA4-1C12-4E98-8B90-34857B3138C4}"/>
              </a:ext>
            </a:extLst>
          </p:cNvPr>
          <p:cNvSpPr/>
          <p:nvPr/>
        </p:nvSpPr>
        <p:spPr>
          <a:xfrm>
            <a:off x="9668919" y="2174661"/>
            <a:ext cx="701884" cy="345437"/>
          </a:xfrm>
          <a:prstGeom prst="rect">
            <a:avLst/>
          </a:prstGeom>
          <a:solidFill>
            <a:schemeClr val="accent1"/>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r>
              <a:rPr kumimoji="1" lang="en-US" altLang="zh-CN" sz="1600" b="1" kern="0" dirty="0">
                <a:solidFill>
                  <a:schemeClr val="bg1"/>
                </a:solidFill>
                <a:latin typeface="思源黑体 CN Regular" panose="020B0500000000000000" pitchFamily="34" charset="-122"/>
                <a:ea typeface="思源黑体 CN Regular" panose="020B0500000000000000" pitchFamily="34" charset="-122"/>
                <a:cs typeface="OPPOSans M" panose="00020600040101010101" pitchFamily="18" charset="-122"/>
              </a:rPr>
              <a:t>4</a:t>
            </a:r>
            <a:r>
              <a:rPr kumimoji="1" lang="zh-CN" altLang="en-US" sz="1600" b="1" i="0" u="none" strike="noStrike" kern="0" cap="none" spc="0" normalizeH="0" baseline="0" noProof="0" dirty="0">
                <a:ln>
                  <a:noFill/>
                </a:ln>
                <a:solidFill>
                  <a:schemeClr val="bg1"/>
                </a:solidFill>
                <a:effectLst/>
                <a:uLnTx/>
                <a:uFillTx/>
                <a:latin typeface="思源黑体 CN Regular" panose="020B0500000000000000" pitchFamily="34" charset="-122"/>
                <a:ea typeface="思源黑体 CN Regular" panose="020B0500000000000000" pitchFamily="34" charset="-122"/>
                <a:cs typeface="OPPOSans M" panose="00020600040101010101" pitchFamily="18" charset="-122"/>
              </a:rPr>
              <a:t>月</a:t>
            </a:r>
            <a:endParaRPr kumimoji="1" lang="en-US" altLang="zh-CN" sz="1600" b="1" i="0" u="none" strike="noStrike" kern="0" cap="none" spc="0" normalizeH="0" baseline="0" noProof="0" dirty="0">
              <a:ln>
                <a:noFill/>
              </a:ln>
              <a:solidFill>
                <a:schemeClr val="bg1"/>
              </a:solidFill>
              <a:effectLst/>
              <a:uLnTx/>
              <a:uFillTx/>
              <a:latin typeface="思源黑体 CN Regular" panose="020B0500000000000000" pitchFamily="34" charset="-122"/>
              <a:ea typeface="思源黑体 CN Regular" panose="020B0500000000000000" pitchFamily="34" charset="-122"/>
              <a:cs typeface="OPPOSans M" panose="00020600040101010101" pitchFamily="18" charset="-122"/>
            </a:endParaRPr>
          </a:p>
        </p:txBody>
      </p:sp>
      <p:sp>
        <p:nvSpPr>
          <p:cNvPr id="168" name="靖飞在肝PPT4">
            <a:extLst>
              <a:ext uri="{FF2B5EF4-FFF2-40B4-BE49-F238E27FC236}">
                <a16:creationId xmlns:a16="http://schemas.microsoft.com/office/drawing/2014/main" id="{17765A90-A972-4D86-BBE8-F7470D00AAB6}"/>
              </a:ext>
            </a:extLst>
          </p:cNvPr>
          <p:cNvSpPr/>
          <p:nvPr/>
        </p:nvSpPr>
        <p:spPr>
          <a:xfrm>
            <a:off x="10423018" y="2174661"/>
            <a:ext cx="708230" cy="345437"/>
          </a:xfrm>
          <a:prstGeom prst="rect">
            <a:avLst/>
          </a:prstGeom>
          <a:solidFill>
            <a:schemeClr val="accent1"/>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r>
              <a:rPr kumimoji="1" lang="en-US" altLang="zh-CN" sz="1600" b="1" kern="0" dirty="0">
                <a:solidFill>
                  <a:schemeClr val="bg1"/>
                </a:solidFill>
                <a:latin typeface="思源黑体 CN Regular" panose="020B0500000000000000" pitchFamily="34" charset="-122"/>
                <a:ea typeface="思源黑体 CN Regular" panose="020B0500000000000000" pitchFamily="34" charset="-122"/>
                <a:cs typeface="OPPOSans M" panose="00020600040101010101" pitchFamily="18" charset="-122"/>
              </a:rPr>
              <a:t>1</a:t>
            </a:r>
            <a:r>
              <a:rPr kumimoji="1" lang="zh-CN" altLang="en-US" sz="1600" b="1" i="0" u="none" strike="noStrike" kern="0" cap="none" spc="0" normalizeH="0" baseline="0" noProof="0" dirty="0">
                <a:ln>
                  <a:noFill/>
                </a:ln>
                <a:solidFill>
                  <a:schemeClr val="bg1"/>
                </a:solidFill>
                <a:effectLst/>
                <a:uLnTx/>
                <a:uFillTx/>
                <a:latin typeface="思源黑体 CN Regular" panose="020B0500000000000000" pitchFamily="34" charset="-122"/>
                <a:ea typeface="思源黑体 CN Regular" panose="020B0500000000000000" pitchFamily="34" charset="-122"/>
                <a:cs typeface="OPPOSans M" panose="00020600040101010101" pitchFamily="18" charset="-122"/>
              </a:rPr>
              <a:t>月</a:t>
            </a:r>
            <a:endParaRPr kumimoji="1" lang="en-US" altLang="zh-CN" sz="1600" b="1" i="0" u="none" strike="noStrike" kern="0" cap="none" spc="0" normalizeH="0" baseline="0" noProof="0" dirty="0">
              <a:ln>
                <a:noFill/>
              </a:ln>
              <a:solidFill>
                <a:schemeClr val="bg1"/>
              </a:solidFill>
              <a:effectLst/>
              <a:uLnTx/>
              <a:uFillTx/>
              <a:latin typeface="思源黑体 CN Regular" panose="020B0500000000000000" pitchFamily="34" charset="-122"/>
              <a:ea typeface="思源黑体 CN Regular" panose="020B0500000000000000" pitchFamily="34" charset="-122"/>
              <a:cs typeface="OPPOSans M" panose="00020600040101010101" pitchFamily="18" charset="-122"/>
            </a:endParaRPr>
          </a:p>
        </p:txBody>
      </p:sp>
      <p:sp>
        <p:nvSpPr>
          <p:cNvPr id="169" name="靖飞在肝PPT5">
            <a:extLst>
              <a:ext uri="{FF2B5EF4-FFF2-40B4-BE49-F238E27FC236}">
                <a16:creationId xmlns:a16="http://schemas.microsoft.com/office/drawing/2014/main" id="{7A8E7848-A388-4CB6-A05A-9B2C544ED7C7}"/>
              </a:ext>
            </a:extLst>
          </p:cNvPr>
          <p:cNvSpPr/>
          <p:nvPr/>
        </p:nvSpPr>
        <p:spPr>
          <a:xfrm>
            <a:off x="11157196" y="2174661"/>
            <a:ext cx="708230" cy="345437"/>
          </a:xfrm>
          <a:prstGeom prst="rect">
            <a:avLst/>
          </a:prstGeom>
          <a:solidFill>
            <a:schemeClr val="accent1"/>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r>
              <a:rPr kumimoji="1" lang="en-US" altLang="zh-CN" sz="1600" b="1" kern="0" dirty="0">
                <a:solidFill>
                  <a:schemeClr val="bg1"/>
                </a:solidFill>
                <a:latin typeface="思源黑体 CN Regular" panose="020B0500000000000000" pitchFamily="34" charset="-122"/>
                <a:ea typeface="思源黑体 CN Regular" panose="020B0500000000000000" pitchFamily="34" charset="-122"/>
                <a:cs typeface="OPPOSans M" panose="00020600040101010101" pitchFamily="18" charset="-122"/>
              </a:rPr>
              <a:t>2</a:t>
            </a:r>
            <a:r>
              <a:rPr kumimoji="1" lang="zh-CN" altLang="en-US" sz="1600" b="1" i="0" u="none" strike="noStrike" kern="0" cap="none" spc="0" normalizeH="0" baseline="0" noProof="0" dirty="0">
                <a:ln>
                  <a:noFill/>
                </a:ln>
                <a:solidFill>
                  <a:schemeClr val="bg1"/>
                </a:solidFill>
                <a:effectLst/>
                <a:uLnTx/>
                <a:uFillTx/>
                <a:latin typeface="思源黑体 CN Regular" panose="020B0500000000000000" pitchFamily="34" charset="-122"/>
                <a:ea typeface="思源黑体 CN Regular" panose="020B0500000000000000" pitchFamily="34" charset="-122"/>
                <a:cs typeface="OPPOSans M" panose="00020600040101010101" pitchFamily="18" charset="-122"/>
              </a:rPr>
              <a:t>月</a:t>
            </a:r>
            <a:endParaRPr kumimoji="1" lang="en-US" altLang="zh-CN" sz="1600" b="1" i="0" u="none" strike="noStrike" kern="0" cap="none" spc="0" normalizeH="0" baseline="0" noProof="0" dirty="0">
              <a:ln>
                <a:noFill/>
              </a:ln>
              <a:solidFill>
                <a:schemeClr val="bg1"/>
              </a:solidFill>
              <a:effectLst/>
              <a:uLnTx/>
              <a:uFillTx/>
              <a:latin typeface="思源黑体 CN Regular" panose="020B0500000000000000" pitchFamily="34" charset="-122"/>
              <a:ea typeface="思源黑体 CN Regular" panose="020B0500000000000000" pitchFamily="34" charset="-122"/>
              <a:cs typeface="OPPOSans M" panose="00020600040101010101" pitchFamily="18" charset="-122"/>
            </a:endParaRPr>
          </a:p>
        </p:txBody>
      </p:sp>
      <p:sp>
        <p:nvSpPr>
          <p:cNvPr id="172" name="文本框 171">
            <a:extLst>
              <a:ext uri="{FF2B5EF4-FFF2-40B4-BE49-F238E27FC236}">
                <a16:creationId xmlns:a16="http://schemas.microsoft.com/office/drawing/2014/main" id="{D0E317B5-FB86-4158-A194-3F4D24D9703B}"/>
              </a:ext>
            </a:extLst>
          </p:cNvPr>
          <p:cNvSpPr txBox="1"/>
          <p:nvPr/>
        </p:nvSpPr>
        <p:spPr>
          <a:xfrm>
            <a:off x="5584858" y="1801168"/>
            <a:ext cx="787395" cy="400110"/>
          </a:xfrm>
          <a:prstGeom prst="rect">
            <a:avLst/>
          </a:prstGeom>
          <a:noFill/>
        </p:spPr>
        <p:txBody>
          <a:bodyPr wrap="none" rtlCol="0">
            <a:spAutoFit/>
          </a:bodyPr>
          <a:lstStyle/>
          <a:p>
            <a:pPr algn="ctr"/>
            <a:r>
              <a:rPr lang="en-US" altLang="zh-CN" sz="2000" dirty="0">
                <a:solidFill>
                  <a:schemeClr val="accent1">
                    <a:alpha val="40000"/>
                  </a:schemeClr>
                </a:solidFill>
                <a:latin typeface="思源黑体 CN Bold" panose="020B0800000000000000" pitchFamily="34" charset="-122"/>
                <a:ea typeface="思源黑体 CN Bold" panose="020B0800000000000000" pitchFamily="34" charset="-122"/>
              </a:rPr>
              <a:t>2025</a:t>
            </a:r>
            <a:endParaRPr lang="zh-CN" altLang="en-US" sz="2000" dirty="0">
              <a:solidFill>
                <a:schemeClr val="accent1">
                  <a:alpha val="40000"/>
                </a:schemeClr>
              </a:solidFill>
              <a:latin typeface="思源黑体 CN Bold" panose="020B0800000000000000" pitchFamily="34" charset="-122"/>
              <a:ea typeface="思源黑体 CN Bold" panose="020B0800000000000000" pitchFamily="34" charset="-122"/>
            </a:endParaRPr>
          </a:p>
        </p:txBody>
      </p:sp>
      <p:sp>
        <p:nvSpPr>
          <p:cNvPr id="173" name="文本框 172">
            <a:extLst>
              <a:ext uri="{FF2B5EF4-FFF2-40B4-BE49-F238E27FC236}">
                <a16:creationId xmlns:a16="http://schemas.microsoft.com/office/drawing/2014/main" id="{D833059E-96A1-464F-B7E4-A34A6A200C77}"/>
              </a:ext>
            </a:extLst>
          </p:cNvPr>
          <p:cNvSpPr txBox="1"/>
          <p:nvPr/>
        </p:nvSpPr>
        <p:spPr>
          <a:xfrm>
            <a:off x="8534763" y="1801168"/>
            <a:ext cx="787395" cy="400110"/>
          </a:xfrm>
          <a:prstGeom prst="rect">
            <a:avLst/>
          </a:prstGeom>
          <a:noFill/>
        </p:spPr>
        <p:txBody>
          <a:bodyPr wrap="none" rtlCol="0">
            <a:spAutoFit/>
          </a:bodyPr>
          <a:lstStyle/>
          <a:p>
            <a:pPr algn="ctr"/>
            <a:r>
              <a:rPr lang="en-US" altLang="zh-CN" sz="2000" dirty="0">
                <a:solidFill>
                  <a:schemeClr val="accent1"/>
                </a:solidFill>
                <a:latin typeface="思源黑体 CN Bold" panose="020B0800000000000000" pitchFamily="34" charset="-122"/>
                <a:ea typeface="思源黑体 CN Bold" panose="020B0800000000000000" pitchFamily="34" charset="-122"/>
              </a:rPr>
              <a:t>2026</a:t>
            </a:r>
            <a:endParaRPr lang="zh-CN" altLang="en-US" sz="2000" dirty="0">
              <a:solidFill>
                <a:schemeClr val="accent1"/>
              </a:solidFill>
              <a:latin typeface="思源黑体 CN Bold" panose="020B0800000000000000" pitchFamily="34" charset="-122"/>
              <a:ea typeface="思源黑体 CN Bold" panose="020B0800000000000000" pitchFamily="34" charset="-122"/>
            </a:endParaRPr>
          </a:p>
        </p:txBody>
      </p:sp>
      <p:sp>
        <p:nvSpPr>
          <p:cNvPr id="174" name="文本框 173">
            <a:extLst>
              <a:ext uri="{FF2B5EF4-FFF2-40B4-BE49-F238E27FC236}">
                <a16:creationId xmlns:a16="http://schemas.microsoft.com/office/drawing/2014/main" id="{DD7A59D4-AE59-44F4-A809-29F5A7F50494}"/>
              </a:ext>
            </a:extLst>
          </p:cNvPr>
          <p:cNvSpPr txBox="1"/>
          <p:nvPr/>
        </p:nvSpPr>
        <p:spPr>
          <a:xfrm>
            <a:off x="10746776" y="1801168"/>
            <a:ext cx="787395" cy="400110"/>
          </a:xfrm>
          <a:prstGeom prst="rect">
            <a:avLst/>
          </a:prstGeom>
          <a:noFill/>
        </p:spPr>
        <p:txBody>
          <a:bodyPr wrap="none" rtlCol="0">
            <a:spAutoFit/>
          </a:bodyPr>
          <a:lstStyle/>
          <a:p>
            <a:pPr algn="ctr"/>
            <a:r>
              <a:rPr lang="en-US" altLang="zh-CN" sz="2000" dirty="0">
                <a:solidFill>
                  <a:schemeClr val="accent1"/>
                </a:solidFill>
                <a:latin typeface="思源黑体 CN Bold" panose="020B0800000000000000" pitchFamily="34" charset="-122"/>
                <a:ea typeface="思源黑体 CN Bold" panose="020B0800000000000000" pitchFamily="34" charset="-122"/>
              </a:rPr>
              <a:t>2027</a:t>
            </a:r>
            <a:endParaRPr lang="zh-CN" altLang="en-US" sz="2000" dirty="0">
              <a:solidFill>
                <a:schemeClr val="accent1"/>
              </a:solidFill>
              <a:latin typeface="思源黑体 CN Bold" panose="020B0800000000000000" pitchFamily="34" charset="-122"/>
              <a:ea typeface="思源黑体 CN Bold" panose="020B0800000000000000" pitchFamily="34" charset="-122"/>
            </a:endParaRPr>
          </a:p>
        </p:txBody>
      </p:sp>
      <p:cxnSp>
        <p:nvCxnSpPr>
          <p:cNvPr id="8" name="直接连接符 7">
            <a:extLst>
              <a:ext uri="{FF2B5EF4-FFF2-40B4-BE49-F238E27FC236}">
                <a16:creationId xmlns:a16="http://schemas.microsoft.com/office/drawing/2014/main" id="{C86175F3-FD09-4862-87F4-DB5B079FF2F4}"/>
              </a:ext>
            </a:extLst>
          </p:cNvPr>
          <p:cNvCxnSpPr/>
          <p:nvPr/>
        </p:nvCxnSpPr>
        <p:spPr>
          <a:xfrm>
            <a:off x="10396910" y="1785546"/>
            <a:ext cx="0" cy="4812104"/>
          </a:xfrm>
          <a:prstGeom prst="line">
            <a:avLst/>
          </a:prstGeom>
          <a:ln w="12700">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175" name="直接连接符 174">
            <a:extLst>
              <a:ext uri="{FF2B5EF4-FFF2-40B4-BE49-F238E27FC236}">
                <a16:creationId xmlns:a16="http://schemas.microsoft.com/office/drawing/2014/main" id="{EF01404C-2526-49A6-B207-88FC4E984C3C}"/>
              </a:ext>
            </a:extLst>
          </p:cNvPr>
          <p:cNvCxnSpPr/>
          <p:nvPr/>
        </p:nvCxnSpPr>
        <p:spPr>
          <a:xfrm>
            <a:off x="7460035" y="1785546"/>
            <a:ext cx="0" cy="4812104"/>
          </a:xfrm>
          <a:prstGeom prst="line">
            <a:avLst/>
          </a:prstGeom>
          <a:ln w="12700">
            <a:solidFill>
              <a:schemeClr val="accent1"/>
            </a:solidFill>
          </a:ln>
        </p:spPr>
        <p:style>
          <a:lnRef idx="1">
            <a:schemeClr val="accent1"/>
          </a:lnRef>
          <a:fillRef idx="0">
            <a:schemeClr val="accent1"/>
          </a:fillRef>
          <a:effectRef idx="0">
            <a:schemeClr val="accent1"/>
          </a:effectRef>
          <a:fontRef idx="minor">
            <a:schemeClr val="tx1"/>
          </a:fontRef>
        </p:style>
      </p:cxnSp>
      <p:grpSp>
        <p:nvGrpSpPr>
          <p:cNvPr id="2" name="组合 1">
            <a:extLst>
              <a:ext uri="{FF2B5EF4-FFF2-40B4-BE49-F238E27FC236}">
                <a16:creationId xmlns:a16="http://schemas.microsoft.com/office/drawing/2014/main" id="{F0377ADC-E651-4354-BE09-6D23194859D4}"/>
              </a:ext>
            </a:extLst>
          </p:cNvPr>
          <p:cNvGrpSpPr/>
          <p:nvPr/>
        </p:nvGrpSpPr>
        <p:grpSpPr>
          <a:xfrm>
            <a:off x="4519075" y="2523910"/>
            <a:ext cx="7346352" cy="3734258"/>
            <a:chOff x="4519074" y="2523910"/>
            <a:chExt cx="8814711" cy="3734258"/>
          </a:xfrm>
        </p:grpSpPr>
        <p:sp>
          <p:nvSpPr>
            <p:cNvPr id="41" name="靖飞在肝PPT13">
              <a:extLst>
                <a:ext uri="{FF2B5EF4-FFF2-40B4-BE49-F238E27FC236}">
                  <a16:creationId xmlns:a16="http://schemas.microsoft.com/office/drawing/2014/main" id="{339E1AD8-3E84-4C4E-903D-C1F03C3DF462}"/>
                </a:ext>
              </a:extLst>
            </p:cNvPr>
            <p:cNvSpPr/>
            <p:nvPr/>
          </p:nvSpPr>
          <p:spPr>
            <a:xfrm>
              <a:off x="4519074" y="4900256"/>
              <a:ext cx="8814711" cy="0"/>
            </a:xfrm>
            <a:custGeom>
              <a:avLst/>
              <a:gdLst>
                <a:gd name="connsiteX0" fmla="*/ 0 w 6390861"/>
                <a:gd name="connsiteY0" fmla="*/ 0 h 0"/>
                <a:gd name="connsiteX1" fmla="*/ 6390861 w 6390861"/>
                <a:gd name="connsiteY1" fmla="*/ 0 h 0"/>
              </a:gdLst>
              <a:ahLst/>
              <a:cxnLst>
                <a:cxn ang="0">
                  <a:pos x="connsiteX0" y="connsiteY0"/>
                </a:cxn>
                <a:cxn ang="0">
                  <a:pos x="connsiteX1" y="connsiteY1"/>
                </a:cxn>
              </a:cxnLst>
              <a:rect l="l" t="t" r="r" b="b"/>
              <a:pathLst>
                <a:path w="6390861">
                  <a:moveTo>
                    <a:pt x="0" y="0"/>
                  </a:moveTo>
                  <a:lnTo>
                    <a:pt x="6390861" y="0"/>
                  </a:lnTo>
                </a:path>
              </a:pathLst>
            </a:custGeom>
            <a:noFill/>
            <a:ln w="3175">
              <a:solidFill>
                <a:schemeClr val="bg1">
                  <a:lumMod val="85000"/>
                </a:schemeClr>
              </a:solidFill>
              <a:prstDash val="soli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solidFill>
                  <a:sysClr val="windowText" lastClr="000000"/>
                </a:solidFill>
                <a:latin typeface="思源黑体 CN Regular" panose="020B0500000000000000" pitchFamily="34" charset="-122"/>
                <a:ea typeface="思源黑体 CN Regular" panose="020B0500000000000000" pitchFamily="34" charset="-122"/>
                <a:cs typeface="OPPOSans M" panose="00020600040101010101" pitchFamily="18" charset="-122"/>
              </a:endParaRPr>
            </a:p>
          </p:txBody>
        </p:sp>
        <p:sp>
          <p:nvSpPr>
            <p:cNvPr id="42" name="靖飞在肝PPT14">
              <a:extLst>
                <a:ext uri="{FF2B5EF4-FFF2-40B4-BE49-F238E27FC236}">
                  <a16:creationId xmlns:a16="http://schemas.microsoft.com/office/drawing/2014/main" id="{4B66BAD0-A438-4036-A262-ED7BB032ADA7}"/>
                </a:ext>
              </a:extLst>
            </p:cNvPr>
            <p:cNvSpPr/>
            <p:nvPr/>
          </p:nvSpPr>
          <p:spPr>
            <a:xfrm>
              <a:off x="4519074" y="4560778"/>
              <a:ext cx="8814711" cy="0"/>
            </a:xfrm>
            <a:custGeom>
              <a:avLst/>
              <a:gdLst>
                <a:gd name="connsiteX0" fmla="*/ 0 w 6390861"/>
                <a:gd name="connsiteY0" fmla="*/ 0 h 0"/>
                <a:gd name="connsiteX1" fmla="*/ 6390861 w 6390861"/>
                <a:gd name="connsiteY1" fmla="*/ 0 h 0"/>
              </a:gdLst>
              <a:ahLst/>
              <a:cxnLst>
                <a:cxn ang="0">
                  <a:pos x="connsiteX0" y="connsiteY0"/>
                </a:cxn>
                <a:cxn ang="0">
                  <a:pos x="connsiteX1" y="connsiteY1"/>
                </a:cxn>
              </a:cxnLst>
              <a:rect l="l" t="t" r="r" b="b"/>
              <a:pathLst>
                <a:path w="6390861">
                  <a:moveTo>
                    <a:pt x="0" y="0"/>
                  </a:moveTo>
                  <a:lnTo>
                    <a:pt x="6390861" y="0"/>
                  </a:lnTo>
                </a:path>
              </a:pathLst>
            </a:custGeom>
            <a:noFill/>
            <a:ln w="3175">
              <a:solidFill>
                <a:schemeClr val="bg1">
                  <a:lumMod val="85000"/>
                </a:schemeClr>
              </a:solidFill>
              <a:prstDash val="soli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solidFill>
                  <a:sysClr val="windowText" lastClr="000000"/>
                </a:solidFill>
                <a:latin typeface="思源黑体 CN Regular" panose="020B0500000000000000" pitchFamily="34" charset="-122"/>
                <a:ea typeface="思源黑体 CN Regular" panose="020B0500000000000000" pitchFamily="34" charset="-122"/>
                <a:cs typeface="OPPOSans M" panose="00020600040101010101" pitchFamily="18" charset="-122"/>
              </a:endParaRPr>
            </a:p>
          </p:txBody>
        </p:sp>
        <p:sp>
          <p:nvSpPr>
            <p:cNvPr id="44" name="靖飞在肝PPT15">
              <a:extLst>
                <a:ext uri="{FF2B5EF4-FFF2-40B4-BE49-F238E27FC236}">
                  <a16:creationId xmlns:a16="http://schemas.microsoft.com/office/drawing/2014/main" id="{0C32F6EC-515E-4C02-9963-F6170ED39104}"/>
                </a:ext>
              </a:extLst>
            </p:cNvPr>
            <p:cNvSpPr/>
            <p:nvPr/>
          </p:nvSpPr>
          <p:spPr>
            <a:xfrm>
              <a:off x="4519074" y="4221300"/>
              <a:ext cx="8814711" cy="0"/>
            </a:xfrm>
            <a:custGeom>
              <a:avLst/>
              <a:gdLst>
                <a:gd name="connsiteX0" fmla="*/ 0 w 6390861"/>
                <a:gd name="connsiteY0" fmla="*/ 0 h 0"/>
                <a:gd name="connsiteX1" fmla="*/ 6390861 w 6390861"/>
                <a:gd name="connsiteY1" fmla="*/ 0 h 0"/>
              </a:gdLst>
              <a:ahLst/>
              <a:cxnLst>
                <a:cxn ang="0">
                  <a:pos x="connsiteX0" y="connsiteY0"/>
                </a:cxn>
                <a:cxn ang="0">
                  <a:pos x="connsiteX1" y="connsiteY1"/>
                </a:cxn>
              </a:cxnLst>
              <a:rect l="l" t="t" r="r" b="b"/>
              <a:pathLst>
                <a:path w="6390861">
                  <a:moveTo>
                    <a:pt x="0" y="0"/>
                  </a:moveTo>
                  <a:lnTo>
                    <a:pt x="6390861" y="0"/>
                  </a:lnTo>
                </a:path>
              </a:pathLst>
            </a:custGeom>
            <a:noFill/>
            <a:ln w="3175">
              <a:solidFill>
                <a:schemeClr val="bg1">
                  <a:lumMod val="85000"/>
                </a:schemeClr>
              </a:solidFill>
              <a:prstDash val="soli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solidFill>
                  <a:sysClr val="windowText" lastClr="000000"/>
                </a:solidFill>
                <a:latin typeface="思源黑体 CN Regular" panose="020B0500000000000000" pitchFamily="34" charset="-122"/>
                <a:ea typeface="思源黑体 CN Regular" panose="020B0500000000000000" pitchFamily="34" charset="-122"/>
                <a:cs typeface="OPPOSans M" panose="00020600040101010101" pitchFamily="18" charset="-122"/>
              </a:endParaRPr>
            </a:p>
          </p:txBody>
        </p:sp>
        <p:sp>
          <p:nvSpPr>
            <p:cNvPr id="45" name="靖飞在肝PPT16">
              <a:extLst>
                <a:ext uri="{FF2B5EF4-FFF2-40B4-BE49-F238E27FC236}">
                  <a16:creationId xmlns:a16="http://schemas.microsoft.com/office/drawing/2014/main" id="{84787C8E-FB62-4503-AFD2-039DD65E5869}"/>
                </a:ext>
              </a:extLst>
            </p:cNvPr>
            <p:cNvSpPr/>
            <p:nvPr/>
          </p:nvSpPr>
          <p:spPr>
            <a:xfrm>
              <a:off x="4519074" y="3881822"/>
              <a:ext cx="8814711" cy="0"/>
            </a:xfrm>
            <a:custGeom>
              <a:avLst/>
              <a:gdLst>
                <a:gd name="connsiteX0" fmla="*/ 0 w 6390861"/>
                <a:gd name="connsiteY0" fmla="*/ 0 h 0"/>
                <a:gd name="connsiteX1" fmla="*/ 6390861 w 6390861"/>
                <a:gd name="connsiteY1" fmla="*/ 0 h 0"/>
              </a:gdLst>
              <a:ahLst/>
              <a:cxnLst>
                <a:cxn ang="0">
                  <a:pos x="connsiteX0" y="connsiteY0"/>
                </a:cxn>
                <a:cxn ang="0">
                  <a:pos x="connsiteX1" y="connsiteY1"/>
                </a:cxn>
              </a:cxnLst>
              <a:rect l="l" t="t" r="r" b="b"/>
              <a:pathLst>
                <a:path w="6390861">
                  <a:moveTo>
                    <a:pt x="0" y="0"/>
                  </a:moveTo>
                  <a:lnTo>
                    <a:pt x="6390861" y="0"/>
                  </a:lnTo>
                </a:path>
              </a:pathLst>
            </a:custGeom>
            <a:noFill/>
            <a:ln w="3175">
              <a:solidFill>
                <a:schemeClr val="bg1">
                  <a:lumMod val="85000"/>
                </a:schemeClr>
              </a:solidFill>
              <a:prstDash val="soli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solidFill>
                  <a:sysClr val="windowText" lastClr="000000"/>
                </a:solidFill>
                <a:latin typeface="思源黑体 CN Regular" panose="020B0500000000000000" pitchFamily="34" charset="-122"/>
                <a:ea typeface="思源黑体 CN Regular" panose="020B0500000000000000" pitchFamily="34" charset="-122"/>
                <a:cs typeface="OPPOSans M" panose="00020600040101010101" pitchFamily="18" charset="-122"/>
              </a:endParaRPr>
            </a:p>
          </p:txBody>
        </p:sp>
        <p:sp>
          <p:nvSpPr>
            <p:cNvPr id="51" name="靖飞在肝PPT18">
              <a:extLst>
                <a:ext uri="{FF2B5EF4-FFF2-40B4-BE49-F238E27FC236}">
                  <a16:creationId xmlns:a16="http://schemas.microsoft.com/office/drawing/2014/main" id="{D8A2FC05-CE84-4EE7-9530-8D6DDD40D774}"/>
                </a:ext>
              </a:extLst>
            </p:cNvPr>
            <p:cNvSpPr/>
            <p:nvPr/>
          </p:nvSpPr>
          <p:spPr>
            <a:xfrm>
              <a:off x="4519074" y="3542344"/>
              <a:ext cx="8814711" cy="0"/>
            </a:xfrm>
            <a:custGeom>
              <a:avLst/>
              <a:gdLst>
                <a:gd name="connsiteX0" fmla="*/ 0 w 6390861"/>
                <a:gd name="connsiteY0" fmla="*/ 0 h 0"/>
                <a:gd name="connsiteX1" fmla="*/ 6390861 w 6390861"/>
                <a:gd name="connsiteY1" fmla="*/ 0 h 0"/>
              </a:gdLst>
              <a:ahLst/>
              <a:cxnLst>
                <a:cxn ang="0">
                  <a:pos x="connsiteX0" y="connsiteY0"/>
                </a:cxn>
                <a:cxn ang="0">
                  <a:pos x="connsiteX1" y="connsiteY1"/>
                </a:cxn>
              </a:cxnLst>
              <a:rect l="l" t="t" r="r" b="b"/>
              <a:pathLst>
                <a:path w="6390861">
                  <a:moveTo>
                    <a:pt x="0" y="0"/>
                  </a:moveTo>
                  <a:lnTo>
                    <a:pt x="6390861" y="0"/>
                  </a:lnTo>
                </a:path>
              </a:pathLst>
            </a:custGeom>
            <a:noFill/>
            <a:ln w="3175">
              <a:solidFill>
                <a:schemeClr val="bg1">
                  <a:lumMod val="85000"/>
                </a:schemeClr>
              </a:solidFill>
              <a:prstDash val="soli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solidFill>
                  <a:sysClr val="windowText" lastClr="000000"/>
                </a:solidFill>
                <a:latin typeface="思源黑体 CN Regular" panose="020B0500000000000000" pitchFamily="34" charset="-122"/>
                <a:ea typeface="思源黑体 CN Regular" panose="020B0500000000000000" pitchFamily="34" charset="-122"/>
                <a:cs typeface="OPPOSans M" panose="00020600040101010101" pitchFamily="18" charset="-122"/>
              </a:endParaRPr>
            </a:p>
          </p:txBody>
        </p:sp>
        <p:sp>
          <p:nvSpPr>
            <p:cNvPr id="55" name="靖飞在肝PPT19">
              <a:extLst>
                <a:ext uri="{FF2B5EF4-FFF2-40B4-BE49-F238E27FC236}">
                  <a16:creationId xmlns:a16="http://schemas.microsoft.com/office/drawing/2014/main" id="{BFA8260E-FE2D-4B66-9D5A-79CC1E6AB342}"/>
                </a:ext>
              </a:extLst>
            </p:cNvPr>
            <p:cNvSpPr/>
            <p:nvPr/>
          </p:nvSpPr>
          <p:spPr>
            <a:xfrm>
              <a:off x="4519074" y="3202866"/>
              <a:ext cx="8814711" cy="0"/>
            </a:xfrm>
            <a:custGeom>
              <a:avLst/>
              <a:gdLst>
                <a:gd name="connsiteX0" fmla="*/ 0 w 6390861"/>
                <a:gd name="connsiteY0" fmla="*/ 0 h 0"/>
                <a:gd name="connsiteX1" fmla="*/ 6390861 w 6390861"/>
                <a:gd name="connsiteY1" fmla="*/ 0 h 0"/>
              </a:gdLst>
              <a:ahLst/>
              <a:cxnLst>
                <a:cxn ang="0">
                  <a:pos x="connsiteX0" y="connsiteY0"/>
                </a:cxn>
                <a:cxn ang="0">
                  <a:pos x="connsiteX1" y="connsiteY1"/>
                </a:cxn>
              </a:cxnLst>
              <a:rect l="l" t="t" r="r" b="b"/>
              <a:pathLst>
                <a:path w="6390861">
                  <a:moveTo>
                    <a:pt x="0" y="0"/>
                  </a:moveTo>
                  <a:lnTo>
                    <a:pt x="6390861" y="0"/>
                  </a:lnTo>
                </a:path>
              </a:pathLst>
            </a:custGeom>
            <a:noFill/>
            <a:ln w="3175">
              <a:solidFill>
                <a:schemeClr val="bg1">
                  <a:lumMod val="85000"/>
                </a:schemeClr>
              </a:solidFill>
              <a:prstDash val="soli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solidFill>
                  <a:sysClr val="windowText" lastClr="000000"/>
                </a:solidFill>
                <a:latin typeface="思源黑体 CN Regular" panose="020B0500000000000000" pitchFamily="34" charset="-122"/>
                <a:ea typeface="思源黑体 CN Regular" panose="020B0500000000000000" pitchFamily="34" charset="-122"/>
                <a:cs typeface="OPPOSans M" panose="00020600040101010101" pitchFamily="18" charset="-122"/>
              </a:endParaRPr>
            </a:p>
          </p:txBody>
        </p:sp>
        <p:sp>
          <p:nvSpPr>
            <p:cNvPr id="60" name="靖飞在肝PPT20">
              <a:extLst>
                <a:ext uri="{FF2B5EF4-FFF2-40B4-BE49-F238E27FC236}">
                  <a16:creationId xmlns:a16="http://schemas.microsoft.com/office/drawing/2014/main" id="{8E2D5DB2-F642-4F27-820B-C7F02ACFECB0}"/>
                </a:ext>
              </a:extLst>
            </p:cNvPr>
            <p:cNvSpPr/>
            <p:nvPr/>
          </p:nvSpPr>
          <p:spPr>
            <a:xfrm>
              <a:off x="4519074" y="2863388"/>
              <a:ext cx="8814711" cy="0"/>
            </a:xfrm>
            <a:custGeom>
              <a:avLst/>
              <a:gdLst>
                <a:gd name="connsiteX0" fmla="*/ 0 w 6390861"/>
                <a:gd name="connsiteY0" fmla="*/ 0 h 0"/>
                <a:gd name="connsiteX1" fmla="*/ 6390861 w 6390861"/>
                <a:gd name="connsiteY1" fmla="*/ 0 h 0"/>
              </a:gdLst>
              <a:ahLst/>
              <a:cxnLst>
                <a:cxn ang="0">
                  <a:pos x="connsiteX0" y="connsiteY0"/>
                </a:cxn>
                <a:cxn ang="0">
                  <a:pos x="connsiteX1" y="connsiteY1"/>
                </a:cxn>
              </a:cxnLst>
              <a:rect l="l" t="t" r="r" b="b"/>
              <a:pathLst>
                <a:path w="6390861">
                  <a:moveTo>
                    <a:pt x="0" y="0"/>
                  </a:moveTo>
                  <a:lnTo>
                    <a:pt x="6390861" y="0"/>
                  </a:lnTo>
                </a:path>
              </a:pathLst>
            </a:custGeom>
            <a:noFill/>
            <a:ln w="3175">
              <a:solidFill>
                <a:schemeClr val="bg1">
                  <a:lumMod val="85000"/>
                </a:schemeClr>
              </a:solidFill>
              <a:prstDash val="soli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solidFill>
                  <a:sysClr val="windowText" lastClr="000000"/>
                </a:solidFill>
                <a:latin typeface="思源黑体 CN Regular" panose="020B0500000000000000" pitchFamily="34" charset="-122"/>
                <a:ea typeface="思源黑体 CN Regular" panose="020B0500000000000000" pitchFamily="34" charset="-122"/>
                <a:cs typeface="OPPOSans M" panose="00020600040101010101" pitchFamily="18" charset="-122"/>
              </a:endParaRPr>
            </a:p>
          </p:txBody>
        </p:sp>
        <p:sp>
          <p:nvSpPr>
            <p:cNvPr id="61" name="靖飞在肝PPT21">
              <a:extLst>
                <a:ext uri="{FF2B5EF4-FFF2-40B4-BE49-F238E27FC236}">
                  <a16:creationId xmlns:a16="http://schemas.microsoft.com/office/drawing/2014/main" id="{9C29BBD1-A853-47D7-A9C8-F8AD8B730FE4}"/>
                </a:ext>
              </a:extLst>
            </p:cNvPr>
            <p:cNvSpPr/>
            <p:nvPr/>
          </p:nvSpPr>
          <p:spPr>
            <a:xfrm>
              <a:off x="4519074" y="2523910"/>
              <a:ext cx="8814711" cy="0"/>
            </a:xfrm>
            <a:custGeom>
              <a:avLst/>
              <a:gdLst>
                <a:gd name="connsiteX0" fmla="*/ 0 w 6390861"/>
                <a:gd name="connsiteY0" fmla="*/ 0 h 0"/>
                <a:gd name="connsiteX1" fmla="*/ 6390861 w 6390861"/>
                <a:gd name="connsiteY1" fmla="*/ 0 h 0"/>
              </a:gdLst>
              <a:ahLst/>
              <a:cxnLst>
                <a:cxn ang="0">
                  <a:pos x="connsiteX0" y="connsiteY0"/>
                </a:cxn>
                <a:cxn ang="0">
                  <a:pos x="connsiteX1" y="connsiteY1"/>
                </a:cxn>
              </a:cxnLst>
              <a:rect l="l" t="t" r="r" b="b"/>
              <a:pathLst>
                <a:path w="6390861">
                  <a:moveTo>
                    <a:pt x="0" y="0"/>
                  </a:moveTo>
                  <a:lnTo>
                    <a:pt x="6390861" y="0"/>
                  </a:lnTo>
                </a:path>
              </a:pathLst>
            </a:custGeom>
            <a:noFill/>
            <a:ln w="3175">
              <a:solidFill>
                <a:schemeClr val="bg1">
                  <a:lumMod val="85000"/>
                </a:schemeClr>
              </a:solidFill>
              <a:prstDash val="soli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solidFill>
                  <a:sysClr val="windowText" lastClr="000000"/>
                </a:solidFill>
                <a:latin typeface="思源黑体 CN Regular" panose="020B0500000000000000" pitchFamily="34" charset="-122"/>
                <a:ea typeface="思源黑体 CN Regular" panose="020B0500000000000000" pitchFamily="34" charset="-122"/>
                <a:cs typeface="OPPOSans M" panose="00020600040101010101" pitchFamily="18" charset="-122"/>
              </a:endParaRPr>
            </a:p>
          </p:txBody>
        </p:sp>
        <p:sp>
          <p:nvSpPr>
            <p:cNvPr id="179" name="靖飞在肝PPT13">
              <a:extLst>
                <a:ext uri="{FF2B5EF4-FFF2-40B4-BE49-F238E27FC236}">
                  <a16:creationId xmlns:a16="http://schemas.microsoft.com/office/drawing/2014/main" id="{9FFBB017-58C0-4EC7-A992-21B04529503C}"/>
                </a:ext>
              </a:extLst>
            </p:cNvPr>
            <p:cNvSpPr/>
            <p:nvPr/>
          </p:nvSpPr>
          <p:spPr>
            <a:xfrm>
              <a:off x="4519074" y="5239734"/>
              <a:ext cx="8814711" cy="0"/>
            </a:xfrm>
            <a:custGeom>
              <a:avLst/>
              <a:gdLst>
                <a:gd name="connsiteX0" fmla="*/ 0 w 6390861"/>
                <a:gd name="connsiteY0" fmla="*/ 0 h 0"/>
                <a:gd name="connsiteX1" fmla="*/ 6390861 w 6390861"/>
                <a:gd name="connsiteY1" fmla="*/ 0 h 0"/>
              </a:gdLst>
              <a:ahLst/>
              <a:cxnLst>
                <a:cxn ang="0">
                  <a:pos x="connsiteX0" y="connsiteY0"/>
                </a:cxn>
                <a:cxn ang="0">
                  <a:pos x="connsiteX1" y="connsiteY1"/>
                </a:cxn>
              </a:cxnLst>
              <a:rect l="l" t="t" r="r" b="b"/>
              <a:pathLst>
                <a:path w="6390861">
                  <a:moveTo>
                    <a:pt x="0" y="0"/>
                  </a:moveTo>
                  <a:lnTo>
                    <a:pt x="6390861" y="0"/>
                  </a:lnTo>
                </a:path>
              </a:pathLst>
            </a:custGeom>
            <a:noFill/>
            <a:ln w="3175">
              <a:solidFill>
                <a:schemeClr val="bg1">
                  <a:lumMod val="85000"/>
                </a:schemeClr>
              </a:solidFill>
              <a:prstDash val="soli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solidFill>
                  <a:sysClr val="windowText" lastClr="000000"/>
                </a:solidFill>
                <a:latin typeface="思源黑体 CN Regular" panose="020B0500000000000000" pitchFamily="34" charset="-122"/>
                <a:ea typeface="思源黑体 CN Regular" panose="020B0500000000000000" pitchFamily="34" charset="-122"/>
                <a:cs typeface="OPPOSans M" panose="00020600040101010101" pitchFamily="18" charset="-122"/>
              </a:endParaRPr>
            </a:p>
          </p:txBody>
        </p:sp>
        <p:sp>
          <p:nvSpPr>
            <p:cNvPr id="180" name="靖飞在肝PPT13">
              <a:extLst>
                <a:ext uri="{FF2B5EF4-FFF2-40B4-BE49-F238E27FC236}">
                  <a16:creationId xmlns:a16="http://schemas.microsoft.com/office/drawing/2014/main" id="{3456ECCA-1492-42DB-B662-5BB0CE035973}"/>
                </a:ext>
              </a:extLst>
            </p:cNvPr>
            <p:cNvSpPr/>
            <p:nvPr/>
          </p:nvSpPr>
          <p:spPr>
            <a:xfrm>
              <a:off x="4519074" y="5579212"/>
              <a:ext cx="8814711" cy="0"/>
            </a:xfrm>
            <a:custGeom>
              <a:avLst/>
              <a:gdLst>
                <a:gd name="connsiteX0" fmla="*/ 0 w 6390861"/>
                <a:gd name="connsiteY0" fmla="*/ 0 h 0"/>
                <a:gd name="connsiteX1" fmla="*/ 6390861 w 6390861"/>
                <a:gd name="connsiteY1" fmla="*/ 0 h 0"/>
              </a:gdLst>
              <a:ahLst/>
              <a:cxnLst>
                <a:cxn ang="0">
                  <a:pos x="connsiteX0" y="connsiteY0"/>
                </a:cxn>
                <a:cxn ang="0">
                  <a:pos x="connsiteX1" y="connsiteY1"/>
                </a:cxn>
              </a:cxnLst>
              <a:rect l="l" t="t" r="r" b="b"/>
              <a:pathLst>
                <a:path w="6390861">
                  <a:moveTo>
                    <a:pt x="0" y="0"/>
                  </a:moveTo>
                  <a:lnTo>
                    <a:pt x="6390861" y="0"/>
                  </a:lnTo>
                </a:path>
              </a:pathLst>
            </a:custGeom>
            <a:noFill/>
            <a:ln w="3175">
              <a:solidFill>
                <a:schemeClr val="bg1">
                  <a:lumMod val="85000"/>
                </a:schemeClr>
              </a:solidFill>
              <a:prstDash val="soli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solidFill>
                  <a:sysClr val="windowText" lastClr="000000"/>
                </a:solidFill>
                <a:latin typeface="思源黑体 CN Regular" panose="020B0500000000000000" pitchFamily="34" charset="-122"/>
                <a:ea typeface="思源黑体 CN Regular" panose="020B0500000000000000" pitchFamily="34" charset="-122"/>
                <a:cs typeface="OPPOSans M" panose="00020600040101010101" pitchFamily="18" charset="-122"/>
              </a:endParaRPr>
            </a:p>
          </p:txBody>
        </p:sp>
        <p:sp>
          <p:nvSpPr>
            <p:cNvPr id="181" name="靖飞在肝PPT13">
              <a:extLst>
                <a:ext uri="{FF2B5EF4-FFF2-40B4-BE49-F238E27FC236}">
                  <a16:creationId xmlns:a16="http://schemas.microsoft.com/office/drawing/2014/main" id="{B3F5D6AE-8906-4731-950C-0692E77E8DC8}"/>
                </a:ext>
              </a:extLst>
            </p:cNvPr>
            <p:cNvSpPr/>
            <p:nvPr/>
          </p:nvSpPr>
          <p:spPr>
            <a:xfrm>
              <a:off x="4519074" y="5918690"/>
              <a:ext cx="8814711" cy="0"/>
            </a:xfrm>
            <a:custGeom>
              <a:avLst/>
              <a:gdLst>
                <a:gd name="connsiteX0" fmla="*/ 0 w 6390861"/>
                <a:gd name="connsiteY0" fmla="*/ 0 h 0"/>
                <a:gd name="connsiteX1" fmla="*/ 6390861 w 6390861"/>
                <a:gd name="connsiteY1" fmla="*/ 0 h 0"/>
              </a:gdLst>
              <a:ahLst/>
              <a:cxnLst>
                <a:cxn ang="0">
                  <a:pos x="connsiteX0" y="connsiteY0"/>
                </a:cxn>
                <a:cxn ang="0">
                  <a:pos x="connsiteX1" y="connsiteY1"/>
                </a:cxn>
              </a:cxnLst>
              <a:rect l="l" t="t" r="r" b="b"/>
              <a:pathLst>
                <a:path w="6390861">
                  <a:moveTo>
                    <a:pt x="0" y="0"/>
                  </a:moveTo>
                  <a:lnTo>
                    <a:pt x="6390861" y="0"/>
                  </a:lnTo>
                </a:path>
              </a:pathLst>
            </a:custGeom>
            <a:noFill/>
            <a:ln w="3175">
              <a:solidFill>
                <a:schemeClr val="bg1">
                  <a:lumMod val="85000"/>
                </a:schemeClr>
              </a:solidFill>
              <a:prstDash val="soli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solidFill>
                  <a:sysClr val="windowText" lastClr="000000"/>
                </a:solidFill>
                <a:latin typeface="思源黑体 CN Regular" panose="020B0500000000000000" pitchFamily="34" charset="-122"/>
                <a:ea typeface="思源黑体 CN Regular" panose="020B0500000000000000" pitchFamily="34" charset="-122"/>
                <a:cs typeface="OPPOSans M" panose="00020600040101010101" pitchFamily="18" charset="-122"/>
              </a:endParaRPr>
            </a:p>
          </p:txBody>
        </p:sp>
        <p:sp>
          <p:nvSpPr>
            <p:cNvPr id="182" name="靖飞在肝PPT13">
              <a:extLst>
                <a:ext uri="{FF2B5EF4-FFF2-40B4-BE49-F238E27FC236}">
                  <a16:creationId xmlns:a16="http://schemas.microsoft.com/office/drawing/2014/main" id="{80F66ED5-FE66-4F36-BD96-5048862C26C5}"/>
                </a:ext>
              </a:extLst>
            </p:cNvPr>
            <p:cNvSpPr/>
            <p:nvPr/>
          </p:nvSpPr>
          <p:spPr>
            <a:xfrm>
              <a:off x="4519074" y="6258168"/>
              <a:ext cx="8814711" cy="0"/>
            </a:xfrm>
            <a:custGeom>
              <a:avLst/>
              <a:gdLst>
                <a:gd name="connsiteX0" fmla="*/ 0 w 6390861"/>
                <a:gd name="connsiteY0" fmla="*/ 0 h 0"/>
                <a:gd name="connsiteX1" fmla="*/ 6390861 w 6390861"/>
                <a:gd name="connsiteY1" fmla="*/ 0 h 0"/>
              </a:gdLst>
              <a:ahLst/>
              <a:cxnLst>
                <a:cxn ang="0">
                  <a:pos x="connsiteX0" y="connsiteY0"/>
                </a:cxn>
                <a:cxn ang="0">
                  <a:pos x="connsiteX1" y="connsiteY1"/>
                </a:cxn>
              </a:cxnLst>
              <a:rect l="l" t="t" r="r" b="b"/>
              <a:pathLst>
                <a:path w="6390861">
                  <a:moveTo>
                    <a:pt x="0" y="0"/>
                  </a:moveTo>
                  <a:lnTo>
                    <a:pt x="6390861" y="0"/>
                  </a:lnTo>
                </a:path>
              </a:pathLst>
            </a:custGeom>
            <a:noFill/>
            <a:ln w="3175">
              <a:solidFill>
                <a:schemeClr val="bg1">
                  <a:lumMod val="85000"/>
                </a:schemeClr>
              </a:solidFill>
              <a:prstDash val="soli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solidFill>
                  <a:sysClr val="windowText" lastClr="000000"/>
                </a:solidFill>
                <a:latin typeface="思源黑体 CN Regular" panose="020B0500000000000000" pitchFamily="34" charset="-122"/>
                <a:ea typeface="思源黑体 CN Regular" panose="020B0500000000000000" pitchFamily="34" charset="-122"/>
                <a:cs typeface="OPPOSans M" panose="00020600040101010101" pitchFamily="18" charset="-122"/>
              </a:endParaRPr>
            </a:p>
          </p:txBody>
        </p:sp>
      </p:grpSp>
      <p:sp>
        <p:nvSpPr>
          <p:cNvPr id="183" name="靖飞在肝PPT60">
            <a:extLst>
              <a:ext uri="{FF2B5EF4-FFF2-40B4-BE49-F238E27FC236}">
                <a16:creationId xmlns:a16="http://schemas.microsoft.com/office/drawing/2014/main" id="{4CC9C1B2-8766-47D1-978C-5EFF387AAA97}"/>
              </a:ext>
            </a:extLst>
          </p:cNvPr>
          <p:cNvSpPr txBox="1"/>
          <p:nvPr/>
        </p:nvSpPr>
        <p:spPr>
          <a:xfrm flipH="1">
            <a:off x="2191244" y="2591084"/>
            <a:ext cx="2338111" cy="307777"/>
          </a:xfrm>
          <a:prstGeom prst="rect">
            <a:avLst/>
          </a:prstGeom>
          <a:noFill/>
        </p:spPr>
        <p:txBody>
          <a:bodyPr wrap="square" rtlCol="0">
            <a:spAutoFit/>
          </a:bodyPr>
          <a:lstStyle/>
          <a:p>
            <a:pPr lvl="0" algn="r">
              <a:defRPr/>
            </a:pPr>
            <a:r>
              <a:rPr lang="en-US" altLang="zh-CN" sz="1400" kern="0" dirty="0">
                <a:latin typeface="思源黑体 CN Bold" panose="020B0800000000000000" pitchFamily="34" charset="-122"/>
                <a:ea typeface="思源黑体 CN Bold" panose="020B0800000000000000" pitchFamily="34" charset="-122"/>
                <a:cs typeface="OPPOSans M" panose="00020600040101010101" pitchFamily="18" charset="-122"/>
              </a:rPr>
              <a:t>***************</a:t>
            </a:r>
            <a:r>
              <a:rPr lang="zh-CN" altLang="en-US" sz="1400" kern="0" dirty="0">
                <a:latin typeface="思源黑体 CN Bold" panose="020B0800000000000000" pitchFamily="34" charset="-122"/>
                <a:ea typeface="思源黑体 CN Bold" panose="020B0800000000000000" pitchFamily="34" charset="-122"/>
                <a:cs typeface="OPPOSans M" panose="00020600040101010101" pitchFamily="18" charset="-122"/>
              </a:rPr>
              <a:t>数据处理</a:t>
            </a:r>
            <a:endParaRPr lang="en-US" altLang="zh-CN" sz="1400" kern="0" dirty="0">
              <a:latin typeface="思源黑体 CN Bold" panose="020B0800000000000000" pitchFamily="34" charset="-122"/>
              <a:ea typeface="思源黑体 CN Bold" panose="020B0800000000000000" pitchFamily="34" charset="-122"/>
              <a:cs typeface="OPPOSans M" panose="00020600040101010101" pitchFamily="18" charset="-122"/>
            </a:endParaRPr>
          </a:p>
        </p:txBody>
      </p:sp>
      <p:sp>
        <p:nvSpPr>
          <p:cNvPr id="184" name="靖飞在肝PPT60">
            <a:extLst>
              <a:ext uri="{FF2B5EF4-FFF2-40B4-BE49-F238E27FC236}">
                <a16:creationId xmlns:a16="http://schemas.microsoft.com/office/drawing/2014/main" id="{EC0FD878-0CC9-4F39-AAD1-4776B85A82CB}"/>
              </a:ext>
            </a:extLst>
          </p:cNvPr>
          <p:cNvSpPr txBox="1"/>
          <p:nvPr/>
        </p:nvSpPr>
        <p:spPr>
          <a:xfrm flipH="1">
            <a:off x="2191244" y="2927636"/>
            <a:ext cx="2338111" cy="307777"/>
          </a:xfrm>
          <a:prstGeom prst="rect">
            <a:avLst/>
          </a:prstGeom>
          <a:noFill/>
        </p:spPr>
        <p:txBody>
          <a:bodyPr wrap="square" rtlCol="0">
            <a:spAutoFit/>
          </a:bodyPr>
          <a:lstStyle/>
          <a:p>
            <a:pPr lvl="0" algn="r">
              <a:defRPr/>
            </a:pPr>
            <a:r>
              <a:rPr lang="en-US" altLang="zh-CN" sz="1400" kern="0" dirty="0">
                <a:latin typeface="思源黑体 CN Bold" panose="020B0800000000000000" pitchFamily="34" charset="-122"/>
                <a:ea typeface="思源黑体 CN Bold" panose="020B0800000000000000" pitchFamily="34" charset="-122"/>
                <a:cs typeface="OPPOSans M" panose="00020600040101010101" pitchFamily="18" charset="-122"/>
              </a:rPr>
              <a:t>*************</a:t>
            </a:r>
            <a:r>
              <a:rPr lang="zh-CN" altLang="en-US" sz="1400" kern="0" dirty="0">
                <a:latin typeface="思源黑体 CN Bold" panose="020B0800000000000000" pitchFamily="34" charset="-122"/>
                <a:ea typeface="思源黑体 CN Bold" panose="020B0800000000000000" pitchFamily="34" charset="-122"/>
                <a:cs typeface="OPPOSans M" panose="00020600040101010101" pitchFamily="18" charset="-122"/>
              </a:rPr>
              <a:t>算法</a:t>
            </a:r>
            <a:endParaRPr lang="en-US" altLang="zh-CN" sz="1400" kern="0" dirty="0">
              <a:latin typeface="思源黑体 CN Bold" panose="020B0800000000000000" pitchFamily="34" charset="-122"/>
              <a:ea typeface="思源黑体 CN Bold" panose="020B0800000000000000" pitchFamily="34" charset="-122"/>
              <a:cs typeface="OPPOSans M" panose="00020600040101010101" pitchFamily="18" charset="-122"/>
            </a:endParaRPr>
          </a:p>
        </p:txBody>
      </p:sp>
      <p:sp>
        <p:nvSpPr>
          <p:cNvPr id="185" name="靖飞在肝PPT60">
            <a:extLst>
              <a:ext uri="{FF2B5EF4-FFF2-40B4-BE49-F238E27FC236}">
                <a16:creationId xmlns:a16="http://schemas.microsoft.com/office/drawing/2014/main" id="{0C46AD00-C7D6-4DFB-B09A-FCC1F72516DC}"/>
              </a:ext>
            </a:extLst>
          </p:cNvPr>
          <p:cNvSpPr txBox="1"/>
          <p:nvPr/>
        </p:nvSpPr>
        <p:spPr>
          <a:xfrm flipH="1">
            <a:off x="2191244" y="3264188"/>
            <a:ext cx="2338111" cy="307777"/>
          </a:xfrm>
          <a:prstGeom prst="rect">
            <a:avLst/>
          </a:prstGeom>
          <a:noFill/>
        </p:spPr>
        <p:txBody>
          <a:bodyPr wrap="square" rtlCol="0">
            <a:spAutoFit/>
          </a:bodyPr>
          <a:lstStyle/>
          <a:p>
            <a:pPr lvl="0" algn="r">
              <a:defRPr/>
            </a:pPr>
            <a:r>
              <a:rPr lang="en-US" altLang="zh-CN" sz="1400" kern="0" dirty="0">
                <a:latin typeface="思源黑体 CN Bold" panose="020B0800000000000000" pitchFamily="34" charset="-122"/>
                <a:ea typeface="思源黑体 CN Bold" panose="020B0800000000000000" pitchFamily="34" charset="-122"/>
                <a:cs typeface="OPPOSans M" panose="00020600040101010101" pitchFamily="18" charset="-122"/>
              </a:rPr>
              <a:t>*******</a:t>
            </a:r>
            <a:r>
              <a:rPr lang="zh-CN" altLang="en-US" sz="1400" kern="0" dirty="0">
                <a:latin typeface="思源黑体 CN Bold" panose="020B0800000000000000" pitchFamily="34" charset="-122"/>
                <a:ea typeface="思源黑体 CN Bold" panose="020B0800000000000000" pitchFamily="34" charset="-122"/>
                <a:cs typeface="OPPOSans M" panose="00020600040101010101" pitchFamily="18" charset="-122"/>
              </a:rPr>
              <a:t>测试</a:t>
            </a:r>
            <a:endParaRPr lang="en-US" altLang="zh-CN" sz="1400" kern="0" dirty="0">
              <a:latin typeface="思源黑体 CN Bold" panose="020B0800000000000000" pitchFamily="34" charset="-122"/>
              <a:ea typeface="思源黑体 CN Bold" panose="020B0800000000000000" pitchFamily="34" charset="-122"/>
              <a:cs typeface="OPPOSans M" panose="00020600040101010101" pitchFamily="18" charset="-122"/>
            </a:endParaRPr>
          </a:p>
        </p:txBody>
      </p:sp>
      <p:sp>
        <p:nvSpPr>
          <p:cNvPr id="186" name="靖飞在肝PPT60">
            <a:extLst>
              <a:ext uri="{FF2B5EF4-FFF2-40B4-BE49-F238E27FC236}">
                <a16:creationId xmlns:a16="http://schemas.microsoft.com/office/drawing/2014/main" id="{5AA92D6B-3A33-4226-BA2B-82F622DCCB5D}"/>
              </a:ext>
            </a:extLst>
          </p:cNvPr>
          <p:cNvSpPr txBox="1"/>
          <p:nvPr/>
        </p:nvSpPr>
        <p:spPr>
          <a:xfrm flipH="1">
            <a:off x="2191244" y="3600740"/>
            <a:ext cx="2338111" cy="307777"/>
          </a:xfrm>
          <a:prstGeom prst="rect">
            <a:avLst/>
          </a:prstGeom>
          <a:noFill/>
        </p:spPr>
        <p:txBody>
          <a:bodyPr wrap="square" rtlCol="0">
            <a:spAutoFit/>
          </a:bodyPr>
          <a:lstStyle/>
          <a:p>
            <a:pPr lvl="0" algn="r">
              <a:defRPr/>
            </a:pPr>
            <a:r>
              <a:rPr lang="en-US" altLang="zh-CN" sz="1400" kern="0" dirty="0">
                <a:latin typeface="思源黑体 CN Bold" panose="020B0800000000000000" pitchFamily="34" charset="-122"/>
                <a:ea typeface="思源黑体 CN Bold" panose="020B0800000000000000" pitchFamily="34" charset="-122"/>
                <a:cs typeface="OPPOSans M" panose="00020600040101010101" pitchFamily="18" charset="-122"/>
              </a:rPr>
              <a:t>***************</a:t>
            </a:r>
            <a:r>
              <a:rPr lang="zh-CN" altLang="en-US" sz="1400" kern="0" dirty="0">
                <a:latin typeface="思源黑体 CN Bold" panose="020B0800000000000000" pitchFamily="34" charset="-122"/>
                <a:ea typeface="思源黑体 CN Bold" panose="020B0800000000000000" pitchFamily="34" charset="-122"/>
                <a:cs typeface="OPPOSans M" panose="00020600040101010101" pitchFamily="18" charset="-122"/>
              </a:rPr>
              <a:t>数据处理</a:t>
            </a:r>
            <a:endParaRPr lang="en-US" altLang="zh-CN" sz="1400" kern="0" dirty="0">
              <a:latin typeface="思源黑体 CN Bold" panose="020B0800000000000000" pitchFamily="34" charset="-122"/>
              <a:ea typeface="思源黑体 CN Bold" panose="020B0800000000000000" pitchFamily="34" charset="-122"/>
              <a:cs typeface="OPPOSans M" panose="00020600040101010101" pitchFamily="18" charset="-122"/>
            </a:endParaRPr>
          </a:p>
        </p:txBody>
      </p:sp>
      <p:sp>
        <p:nvSpPr>
          <p:cNvPr id="187" name="靖飞在肝PPT60">
            <a:extLst>
              <a:ext uri="{FF2B5EF4-FFF2-40B4-BE49-F238E27FC236}">
                <a16:creationId xmlns:a16="http://schemas.microsoft.com/office/drawing/2014/main" id="{B34C29D1-3FE0-4F7F-AC05-9556C23E6468}"/>
              </a:ext>
            </a:extLst>
          </p:cNvPr>
          <p:cNvSpPr txBox="1"/>
          <p:nvPr/>
        </p:nvSpPr>
        <p:spPr>
          <a:xfrm flipH="1">
            <a:off x="2191244" y="3937292"/>
            <a:ext cx="2338111" cy="307777"/>
          </a:xfrm>
          <a:prstGeom prst="rect">
            <a:avLst/>
          </a:prstGeom>
          <a:noFill/>
        </p:spPr>
        <p:txBody>
          <a:bodyPr wrap="square" rtlCol="0">
            <a:spAutoFit/>
          </a:bodyPr>
          <a:lstStyle/>
          <a:p>
            <a:pPr lvl="0" algn="r">
              <a:defRPr/>
            </a:pPr>
            <a:r>
              <a:rPr lang="en-US" altLang="zh-CN" sz="1400" kern="0" dirty="0">
                <a:latin typeface="思源黑体 CN Bold" panose="020B0800000000000000" pitchFamily="34" charset="-122"/>
                <a:ea typeface="思源黑体 CN Bold" panose="020B0800000000000000" pitchFamily="34" charset="-122"/>
                <a:cs typeface="OPPOSans M" panose="00020600040101010101" pitchFamily="18" charset="-122"/>
              </a:rPr>
              <a:t>************</a:t>
            </a:r>
            <a:r>
              <a:rPr lang="zh-CN" altLang="en-US" sz="1400" kern="0" dirty="0">
                <a:latin typeface="思源黑体 CN Bold" panose="020B0800000000000000" pitchFamily="34" charset="-122"/>
                <a:ea typeface="思源黑体 CN Bold" panose="020B0800000000000000" pitchFamily="34" charset="-122"/>
                <a:cs typeface="OPPOSans M" panose="00020600040101010101" pitchFamily="18" charset="-122"/>
              </a:rPr>
              <a:t>实验</a:t>
            </a:r>
            <a:endParaRPr lang="en-US" altLang="zh-CN" sz="1400" kern="0" dirty="0">
              <a:latin typeface="思源黑体 CN Bold" panose="020B0800000000000000" pitchFamily="34" charset="-122"/>
              <a:ea typeface="思源黑体 CN Bold" panose="020B0800000000000000" pitchFamily="34" charset="-122"/>
              <a:cs typeface="OPPOSans M" panose="00020600040101010101" pitchFamily="18" charset="-122"/>
            </a:endParaRPr>
          </a:p>
        </p:txBody>
      </p:sp>
      <p:sp>
        <p:nvSpPr>
          <p:cNvPr id="188" name="靖飞在肝PPT60">
            <a:extLst>
              <a:ext uri="{FF2B5EF4-FFF2-40B4-BE49-F238E27FC236}">
                <a16:creationId xmlns:a16="http://schemas.microsoft.com/office/drawing/2014/main" id="{4E1923CF-885F-45C3-A8BD-5D81BC489888}"/>
              </a:ext>
            </a:extLst>
          </p:cNvPr>
          <p:cNvSpPr txBox="1"/>
          <p:nvPr/>
        </p:nvSpPr>
        <p:spPr>
          <a:xfrm flipH="1">
            <a:off x="2191244" y="4273844"/>
            <a:ext cx="2338111" cy="307777"/>
          </a:xfrm>
          <a:prstGeom prst="rect">
            <a:avLst/>
          </a:prstGeom>
          <a:noFill/>
        </p:spPr>
        <p:txBody>
          <a:bodyPr wrap="square" rtlCol="0">
            <a:spAutoFit/>
          </a:bodyPr>
          <a:lstStyle/>
          <a:p>
            <a:pPr lvl="0" algn="r">
              <a:defRPr/>
            </a:pPr>
            <a:r>
              <a:rPr lang="en-US" altLang="zh-CN" sz="1400" kern="0" dirty="0">
                <a:latin typeface="思源黑体 CN Bold" panose="020B0800000000000000" pitchFamily="34" charset="-122"/>
                <a:ea typeface="思源黑体 CN Bold" panose="020B0800000000000000" pitchFamily="34" charset="-122"/>
                <a:cs typeface="OPPOSans M" panose="00020600040101010101" pitchFamily="18" charset="-122"/>
              </a:rPr>
              <a:t>***********</a:t>
            </a:r>
            <a:r>
              <a:rPr lang="zh-CN" altLang="en-US" sz="1400" kern="0" dirty="0">
                <a:latin typeface="思源黑体 CN Bold" panose="020B0800000000000000" pitchFamily="34" charset="-122"/>
                <a:ea typeface="思源黑体 CN Bold" panose="020B0800000000000000" pitchFamily="34" charset="-122"/>
                <a:cs typeface="OPPOSans M" panose="00020600040101010101" pitchFamily="18" charset="-122"/>
              </a:rPr>
              <a:t>数据处理分析</a:t>
            </a:r>
            <a:endParaRPr lang="en-US" altLang="zh-CN" sz="1400" kern="0" dirty="0">
              <a:latin typeface="思源黑体 CN Bold" panose="020B0800000000000000" pitchFamily="34" charset="-122"/>
              <a:ea typeface="思源黑体 CN Bold" panose="020B0800000000000000" pitchFamily="34" charset="-122"/>
              <a:cs typeface="OPPOSans M" panose="00020600040101010101" pitchFamily="18" charset="-122"/>
            </a:endParaRPr>
          </a:p>
        </p:txBody>
      </p:sp>
      <p:sp>
        <p:nvSpPr>
          <p:cNvPr id="189" name="靖飞在肝PPT60">
            <a:extLst>
              <a:ext uri="{FF2B5EF4-FFF2-40B4-BE49-F238E27FC236}">
                <a16:creationId xmlns:a16="http://schemas.microsoft.com/office/drawing/2014/main" id="{5601D2E4-9201-4A17-97A2-122C7B9545E5}"/>
              </a:ext>
            </a:extLst>
          </p:cNvPr>
          <p:cNvSpPr txBox="1"/>
          <p:nvPr/>
        </p:nvSpPr>
        <p:spPr>
          <a:xfrm flipH="1">
            <a:off x="2191244" y="4610396"/>
            <a:ext cx="2338111" cy="307777"/>
          </a:xfrm>
          <a:prstGeom prst="rect">
            <a:avLst/>
          </a:prstGeom>
          <a:noFill/>
        </p:spPr>
        <p:txBody>
          <a:bodyPr wrap="square" rtlCol="0">
            <a:spAutoFit/>
          </a:bodyPr>
          <a:lstStyle/>
          <a:p>
            <a:pPr lvl="0" algn="r">
              <a:defRPr/>
            </a:pPr>
            <a:r>
              <a:rPr lang="en-US" altLang="zh-CN" sz="1400" kern="0" dirty="0">
                <a:latin typeface="思源黑体 CN Bold" panose="020B0800000000000000" pitchFamily="34" charset="-122"/>
                <a:ea typeface="思源黑体 CN Bold" panose="020B0800000000000000" pitchFamily="34" charset="-122"/>
                <a:cs typeface="OPPOSans M" panose="00020600040101010101" pitchFamily="18" charset="-122"/>
              </a:rPr>
              <a:t>************</a:t>
            </a:r>
            <a:r>
              <a:rPr lang="zh-CN" altLang="en-US" sz="1400" kern="0" dirty="0">
                <a:latin typeface="思源黑体 CN Bold" panose="020B0800000000000000" pitchFamily="34" charset="-122"/>
                <a:ea typeface="思源黑体 CN Bold" panose="020B0800000000000000" pitchFamily="34" charset="-122"/>
                <a:cs typeface="OPPOSans M" panose="00020600040101010101" pitchFamily="18" charset="-122"/>
              </a:rPr>
              <a:t>实验</a:t>
            </a:r>
            <a:endParaRPr lang="en-US" altLang="zh-CN" sz="1400" kern="0" dirty="0">
              <a:latin typeface="思源黑体 CN Bold" panose="020B0800000000000000" pitchFamily="34" charset="-122"/>
              <a:ea typeface="思源黑体 CN Bold" panose="020B0800000000000000" pitchFamily="34" charset="-122"/>
              <a:cs typeface="OPPOSans M" panose="00020600040101010101" pitchFamily="18" charset="-122"/>
            </a:endParaRPr>
          </a:p>
        </p:txBody>
      </p:sp>
      <p:sp>
        <p:nvSpPr>
          <p:cNvPr id="190" name="靖飞在肝PPT60">
            <a:extLst>
              <a:ext uri="{FF2B5EF4-FFF2-40B4-BE49-F238E27FC236}">
                <a16:creationId xmlns:a16="http://schemas.microsoft.com/office/drawing/2014/main" id="{54D4D933-658E-43F1-B9DD-BEEB857B0F03}"/>
              </a:ext>
            </a:extLst>
          </p:cNvPr>
          <p:cNvSpPr txBox="1"/>
          <p:nvPr/>
        </p:nvSpPr>
        <p:spPr>
          <a:xfrm flipH="1">
            <a:off x="2191244" y="4946948"/>
            <a:ext cx="2338111" cy="307777"/>
          </a:xfrm>
          <a:prstGeom prst="rect">
            <a:avLst/>
          </a:prstGeom>
          <a:noFill/>
        </p:spPr>
        <p:txBody>
          <a:bodyPr wrap="square" rtlCol="0">
            <a:spAutoFit/>
          </a:bodyPr>
          <a:lstStyle/>
          <a:p>
            <a:pPr lvl="0" algn="r">
              <a:defRPr/>
            </a:pPr>
            <a:r>
              <a:rPr lang="zh-CN" altLang="en-US" sz="1400" kern="0" dirty="0">
                <a:latin typeface="思源黑体 CN Bold" panose="020B0800000000000000" pitchFamily="34" charset="-122"/>
                <a:ea typeface="思源黑体 CN Bold" panose="020B0800000000000000" pitchFamily="34" charset="-122"/>
                <a:cs typeface="OPPOSans M" panose="00020600040101010101" pitchFamily="18" charset="-122"/>
              </a:rPr>
              <a:t>数据处理分析</a:t>
            </a:r>
            <a:endParaRPr lang="en-US" altLang="zh-CN" sz="1400" kern="0" dirty="0">
              <a:latin typeface="思源黑体 CN Bold" panose="020B0800000000000000" pitchFamily="34" charset="-122"/>
              <a:ea typeface="思源黑体 CN Bold" panose="020B0800000000000000" pitchFamily="34" charset="-122"/>
              <a:cs typeface="OPPOSans M" panose="00020600040101010101" pitchFamily="18" charset="-122"/>
            </a:endParaRPr>
          </a:p>
        </p:txBody>
      </p:sp>
      <p:sp>
        <p:nvSpPr>
          <p:cNvPr id="191" name="靖飞在肝PPT60">
            <a:extLst>
              <a:ext uri="{FF2B5EF4-FFF2-40B4-BE49-F238E27FC236}">
                <a16:creationId xmlns:a16="http://schemas.microsoft.com/office/drawing/2014/main" id="{66B0E691-23F9-4F45-9A01-0F4602614438}"/>
              </a:ext>
            </a:extLst>
          </p:cNvPr>
          <p:cNvSpPr txBox="1"/>
          <p:nvPr/>
        </p:nvSpPr>
        <p:spPr>
          <a:xfrm flipH="1">
            <a:off x="2191244" y="5283500"/>
            <a:ext cx="2338111" cy="307777"/>
          </a:xfrm>
          <a:prstGeom prst="rect">
            <a:avLst/>
          </a:prstGeom>
          <a:noFill/>
        </p:spPr>
        <p:txBody>
          <a:bodyPr wrap="square" rtlCol="0">
            <a:spAutoFit/>
          </a:bodyPr>
          <a:lstStyle/>
          <a:p>
            <a:pPr lvl="0" algn="r">
              <a:defRPr/>
            </a:pPr>
            <a:r>
              <a:rPr lang="zh-CN" altLang="en-US" sz="1400" kern="0" dirty="0">
                <a:latin typeface="思源黑体 CN Bold" panose="020B0800000000000000" pitchFamily="34" charset="-122"/>
                <a:ea typeface="思源黑体 CN Bold" panose="020B0800000000000000" pitchFamily="34" charset="-122"/>
                <a:cs typeface="OPPOSans M" panose="00020600040101010101" pitchFamily="18" charset="-122"/>
              </a:rPr>
              <a:t>中期考核</a:t>
            </a:r>
            <a:endParaRPr lang="en-US" altLang="zh-CN" sz="1400" kern="0" dirty="0">
              <a:latin typeface="思源黑体 CN Bold" panose="020B0800000000000000" pitchFamily="34" charset="-122"/>
              <a:ea typeface="思源黑体 CN Bold" panose="020B0800000000000000" pitchFamily="34" charset="-122"/>
              <a:cs typeface="OPPOSans M" panose="00020600040101010101" pitchFamily="18" charset="-122"/>
            </a:endParaRPr>
          </a:p>
        </p:txBody>
      </p:sp>
      <p:sp>
        <p:nvSpPr>
          <p:cNvPr id="192" name="靖飞在肝PPT60">
            <a:extLst>
              <a:ext uri="{FF2B5EF4-FFF2-40B4-BE49-F238E27FC236}">
                <a16:creationId xmlns:a16="http://schemas.microsoft.com/office/drawing/2014/main" id="{9CB649EA-18C2-4CB1-A7DB-BC23435E49B4}"/>
              </a:ext>
            </a:extLst>
          </p:cNvPr>
          <p:cNvSpPr txBox="1"/>
          <p:nvPr/>
        </p:nvSpPr>
        <p:spPr>
          <a:xfrm flipH="1">
            <a:off x="2191244" y="5620052"/>
            <a:ext cx="2338111" cy="307777"/>
          </a:xfrm>
          <a:prstGeom prst="rect">
            <a:avLst/>
          </a:prstGeom>
          <a:noFill/>
        </p:spPr>
        <p:txBody>
          <a:bodyPr wrap="square" rtlCol="0">
            <a:spAutoFit/>
          </a:bodyPr>
          <a:lstStyle/>
          <a:p>
            <a:pPr lvl="0" algn="r">
              <a:defRPr/>
            </a:pPr>
            <a:r>
              <a:rPr lang="zh-CN" altLang="en-US" sz="1400" kern="0" dirty="0">
                <a:latin typeface="思源黑体 CN Bold" panose="020B0800000000000000" pitchFamily="34" charset="-122"/>
                <a:ea typeface="思源黑体 CN Bold" panose="020B0800000000000000" pitchFamily="34" charset="-122"/>
                <a:cs typeface="OPPOSans M" panose="00020600040101010101" pitchFamily="18" charset="-122"/>
              </a:rPr>
              <a:t>结果分析，实验不补充</a:t>
            </a:r>
            <a:endParaRPr lang="en-US" altLang="zh-CN" sz="1400" kern="0" dirty="0">
              <a:latin typeface="思源黑体 CN Bold" panose="020B0800000000000000" pitchFamily="34" charset="-122"/>
              <a:ea typeface="思源黑体 CN Bold" panose="020B0800000000000000" pitchFamily="34" charset="-122"/>
              <a:cs typeface="OPPOSans M" panose="00020600040101010101" pitchFamily="18" charset="-122"/>
            </a:endParaRPr>
          </a:p>
        </p:txBody>
      </p:sp>
      <p:sp>
        <p:nvSpPr>
          <p:cNvPr id="193" name="靖飞在肝PPT60">
            <a:extLst>
              <a:ext uri="{FF2B5EF4-FFF2-40B4-BE49-F238E27FC236}">
                <a16:creationId xmlns:a16="http://schemas.microsoft.com/office/drawing/2014/main" id="{403A576E-2787-4D57-85D9-DB6C812BAE1A}"/>
              </a:ext>
            </a:extLst>
          </p:cNvPr>
          <p:cNvSpPr txBox="1"/>
          <p:nvPr/>
        </p:nvSpPr>
        <p:spPr>
          <a:xfrm flipH="1">
            <a:off x="2191244" y="5956604"/>
            <a:ext cx="2338111" cy="307777"/>
          </a:xfrm>
          <a:prstGeom prst="rect">
            <a:avLst/>
          </a:prstGeom>
          <a:noFill/>
        </p:spPr>
        <p:txBody>
          <a:bodyPr wrap="square" rtlCol="0">
            <a:spAutoFit/>
          </a:bodyPr>
          <a:lstStyle/>
          <a:p>
            <a:pPr lvl="0" algn="r">
              <a:defRPr/>
            </a:pPr>
            <a:r>
              <a:rPr lang="zh-CN" altLang="en-US" sz="1400" kern="0" dirty="0">
                <a:latin typeface="思源黑体 CN Bold" panose="020B0800000000000000" pitchFamily="34" charset="-122"/>
                <a:ea typeface="思源黑体 CN Bold" panose="020B0800000000000000" pitchFamily="34" charset="-122"/>
                <a:cs typeface="OPPOSans M" panose="00020600040101010101" pitchFamily="18" charset="-122"/>
              </a:rPr>
              <a:t>撰写毕业论文</a:t>
            </a:r>
            <a:endParaRPr lang="en-US" altLang="zh-CN" sz="1400" kern="0" dirty="0">
              <a:latin typeface="思源黑体 CN Bold" panose="020B0800000000000000" pitchFamily="34" charset="-122"/>
              <a:ea typeface="思源黑体 CN Bold" panose="020B0800000000000000" pitchFamily="34" charset="-122"/>
              <a:cs typeface="OPPOSans M" panose="00020600040101010101" pitchFamily="18" charset="-122"/>
            </a:endParaRPr>
          </a:p>
        </p:txBody>
      </p:sp>
      <p:sp>
        <p:nvSpPr>
          <p:cNvPr id="194" name="靖飞在肝PPT60">
            <a:extLst>
              <a:ext uri="{FF2B5EF4-FFF2-40B4-BE49-F238E27FC236}">
                <a16:creationId xmlns:a16="http://schemas.microsoft.com/office/drawing/2014/main" id="{1FCA0D00-35E1-4149-AC8E-CC3C091F35CE}"/>
              </a:ext>
            </a:extLst>
          </p:cNvPr>
          <p:cNvSpPr txBox="1"/>
          <p:nvPr/>
        </p:nvSpPr>
        <p:spPr>
          <a:xfrm flipH="1">
            <a:off x="2191244" y="6293153"/>
            <a:ext cx="2338111" cy="307777"/>
          </a:xfrm>
          <a:prstGeom prst="rect">
            <a:avLst/>
          </a:prstGeom>
          <a:noFill/>
        </p:spPr>
        <p:txBody>
          <a:bodyPr wrap="square" rtlCol="0">
            <a:spAutoFit/>
          </a:bodyPr>
          <a:lstStyle/>
          <a:p>
            <a:pPr lvl="0" algn="r">
              <a:defRPr/>
            </a:pPr>
            <a:r>
              <a:rPr lang="zh-CN" altLang="en-US" sz="1400" kern="0" dirty="0">
                <a:latin typeface="思源黑体 CN Bold" panose="020B0800000000000000" pitchFamily="34" charset="-122"/>
                <a:ea typeface="思源黑体 CN Bold" panose="020B0800000000000000" pitchFamily="34" charset="-122"/>
                <a:cs typeface="OPPOSans M" panose="00020600040101010101" pitchFamily="18" charset="-122"/>
              </a:rPr>
              <a:t>准备毕业答辩</a:t>
            </a:r>
            <a:endParaRPr lang="en-US" altLang="zh-CN" sz="1400" kern="0" dirty="0">
              <a:latin typeface="思源黑体 CN Bold" panose="020B0800000000000000" pitchFamily="34" charset="-122"/>
              <a:ea typeface="思源黑体 CN Bold" panose="020B0800000000000000" pitchFamily="34" charset="-122"/>
              <a:cs typeface="OPPOSans M" panose="00020600040101010101" pitchFamily="18" charset="-122"/>
            </a:endParaRPr>
          </a:p>
        </p:txBody>
      </p:sp>
      <p:sp>
        <p:nvSpPr>
          <p:cNvPr id="196" name="靖飞在肝PPT4">
            <a:extLst>
              <a:ext uri="{FF2B5EF4-FFF2-40B4-BE49-F238E27FC236}">
                <a16:creationId xmlns:a16="http://schemas.microsoft.com/office/drawing/2014/main" id="{B88E0C80-0FA5-4FDD-9197-533B00480170}"/>
              </a:ext>
            </a:extLst>
          </p:cNvPr>
          <p:cNvSpPr/>
          <p:nvPr/>
        </p:nvSpPr>
        <p:spPr>
          <a:xfrm>
            <a:off x="4536549" y="2650311"/>
            <a:ext cx="1009551" cy="111064"/>
          </a:xfrm>
          <a:prstGeom prst="roundRect">
            <a:avLst/>
          </a:prstGeom>
          <a:solidFill>
            <a:schemeClr val="accent1">
              <a:alpha val="40000"/>
            </a:schemeClr>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1" lang="en-US" altLang="zh-CN" sz="1600" b="1" i="0" u="none" strike="noStrike" kern="0" cap="none" spc="0" normalizeH="0" baseline="0" noProof="0" dirty="0">
              <a:ln>
                <a:noFill/>
              </a:ln>
              <a:solidFill>
                <a:schemeClr val="accent1"/>
              </a:solidFill>
              <a:effectLst/>
              <a:uLnTx/>
              <a:uFillTx/>
              <a:latin typeface="思源黑体 CN Regular" panose="020B0500000000000000" pitchFamily="34" charset="-122"/>
              <a:ea typeface="思源黑体 CN Regular" panose="020B0500000000000000" pitchFamily="34" charset="-122"/>
              <a:cs typeface="OPPOSans M" panose="00020600040101010101" pitchFamily="18" charset="-122"/>
            </a:endParaRPr>
          </a:p>
        </p:txBody>
      </p:sp>
      <p:sp>
        <p:nvSpPr>
          <p:cNvPr id="199" name="靖飞在肝PPT4">
            <a:extLst>
              <a:ext uri="{FF2B5EF4-FFF2-40B4-BE49-F238E27FC236}">
                <a16:creationId xmlns:a16="http://schemas.microsoft.com/office/drawing/2014/main" id="{F0CF0E9A-F2FA-4C32-8A25-B5E7C5311906}"/>
              </a:ext>
            </a:extLst>
          </p:cNvPr>
          <p:cNvSpPr/>
          <p:nvPr/>
        </p:nvSpPr>
        <p:spPr>
          <a:xfrm>
            <a:off x="4536549" y="3003866"/>
            <a:ext cx="1617542" cy="99603"/>
          </a:xfrm>
          <a:prstGeom prst="roundRect">
            <a:avLst/>
          </a:prstGeom>
          <a:solidFill>
            <a:schemeClr val="accent1">
              <a:alpha val="40000"/>
            </a:schemeClr>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1" lang="en-US" altLang="zh-CN" sz="1600" b="1" i="0" u="none" strike="noStrike" kern="0" cap="none" spc="0" normalizeH="0" baseline="0" noProof="0" dirty="0">
              <a:ln>
                <a:noFill/>
              </a:ln>
              <a:solidFill>
                <a:schemeClr val="accent1"/>
              </a:solidFill>
              <a:effectLst/>
              <a:uLnTx/>
              <a:uFillTx/>
              <a:latin typeface="思源黑体 CN Regular" panose="020B0500000000000000" pitchFamily="34" charset="-122"/>
              <a:ea typeface="思源黑体 CN Regular" panose="020B0500000000000000" pitchFamily="34" charset="-122"/>
              <a:cs typeface="OPPOSans M" panose="00020600040101010101" pitchFamily="18" charset="-122"/>
            </a:endParaRPr>
          </a:p>
        </p:txBody>
      </p:sp>
      <p:sp>
        <p:nvSpPr>
          <p:cNvPr id="200" name="靖飞在肝PPT4">
            <a:extLst>
              <a:ext uri="{FF2B5EF4-FFF2-40B4-BE49-F238E27FC236}">
                <a16:creationId xmlns:a16="http://schemas.microsoft.com/office/drawing/2014/main" id="{8C16A8DF-7626-4E64-A46E-B67DD63223AC}"/>
              </a:ext>
            </a:extLst>
          </p:cNvPr>
          <p:cNvSpPr/>
          <p:nvPr/>
        </p:nvSpPr>
        <p:spPr>
          <a:xfrm>
            <a:off x="5617137" y="3329397"/>
            <a:ext cx="1816789" cy="99603"/>
          </a:xfrm>
          <a:prstGeom prst="roundRect">
            <a:avLst/>
          </a:prstGeom>
          <a:solidFill>
            <a:schemeClr val="accent1">
              <a:alpha val="40000"/>
            </a:schemeClr>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1" lang="en-US" altLang="zh-CN" sz="1600" b="1" i="0" u="none" strike="noStrike" kern="0" cap="none" spc="0" normalizeH="0" baseline="0" noProof="0" dirty="0">
              <a:ln>
                <a:noFill/>
              </a:ln>
              <a:solidFill>
                <a:schemeClr val="accent1"/>
              </a:solidFill>
              <a:effectLst/>
              <a:uLnTx/>
              <a:uFillTx/>
              <a:latin typeface="思源黑体 CN Regular" panose="020B0500000000000000" pitchFamily="34" charset="-122"/>
              <a:ea typeface="思源黑体 CN Regular" panose="020B0500000000000000" pitchFamily="34" charset="-122"/>
              <a:cs typeface="OPPOSans M" panose="00020600040101010101" pitchFamily="18" charset="-122"/>
            </a:endParaRPr>
          </a:p>
        </p:txBody>
      </p:sp>
      <p:sp>
        <p:nvSpPr>
          <p:cNvPr id="201" name="文本框 200">
            <a:extLst>
              <a:ext uri="{FF2B5EF4-FFF2-40B4-BE49-F238E27FC236}">
                <a16:creationId xmlns:a16="http://schemas.microsoft.com/office/drawing/2014/main" id="{2E838166-4E31-4E8C-A705-2832F64BF26F}"/>
              </a:ext>
            </a:extLst>
          </p:cNvPr>
          <p:cNvSpPr txBox="1"/>
          <p:nvPr/>
        </p:nvSpPr>
        <p:spPr>
          <a:xfrm>
            <a:off x="7711444" y="2864625"/>
            <a:ext cx="2057361" cy="338554"/>
          </a:xfrm>
          <a:prstGeom prst="rect">
            <a:avLst/>
          </a:prstGeom>
          <a:noFill/>
        </p:spPr>
        <p:txBody>
          <a:bodyPr wrap="square" rtlCol="0">
            <a:spAutoFit/>
          </a:bodyPr>
          <a:lstStyle/>
          <a:p>
            <a:r>
              <a:rPr lang="zh-CN" altLang="en-US" sz="1600" dirty="0">
                <a:solidFill>
                  <a:schemeClr val="accent1"/>
                </a:solidFill>
                <a:latin typeface="思源黑体 CN Bold" panose="020B0800000000000000" pitchFamily="34" charset="-122"/>
                <a:ea typeface="思源黑体 CN Bold" panose="020B0800000000000000" pitchFamily="34" charset="-122"/>
              </a:rPr>
              <a:t>前期准备阶段</a:t>
            </a:r>
          </a:p>
        </p:txBody>
      </p:sp>
      <p:sp>
        <p:nvSpPr>
          <p:cNvPr id="202" name="靖飞在肝PPT4">
            <a:extLst>
              <a:ext uri="{FF2B5EF4-FFF2-40B4-BE49-F238E27FC236}">
                <a16:creationId xmlns:a16="http://schemas.microsoft.com/office/drawing/2014/main" id="{F4BBC9A6-9484-415C-A52F-7EBB12A76EAA}"/>
              </a:ext>
            </a:extLst>
          </p:cNvPr>
          <p:cNvSpPr/>
          <p:nvPr/>
        </p:nvSpPr>
        <p:spPr>
          <a:xfrm>
            <a:off x="7082567" y="3666516"/>
            <a:ext cx="1106164" cy="99603"/>
          </a:xfrm>
          <a:prstGeom prst="roundRect">
            <a:avLst/>
          </a:prstGeom>
          <a:solidFill>
            <a:schemeClr val="accent1"/>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1" lang="en-US" altLang="zh-CN" sz="1600" b="1" i="0" u="none" strike="noStrike" kern="0" cap="none" spc="0" normalizeH="0" baseline="0" noProof="0" dirty="0">
              <a:ln>
                <a:noFill/>
              </a:ln>
              <a:solidFill>
                <a:schemeClr val="bg1"/>
              </a:solidFill>
              <a:effectLst/>
              <a:uLnTx/>
              <a:uFillTx/>
              <a:latin typeface="思源黑体 CN Regular" panose="020B0500000000000000" pitchFamily="34" charset="-122"/>
              <a:ea typeface="思源黑体 CN Regular" panose="020B0500000000000000" pitchFamily="34" charset="-122"/>
              <a:cs typeface="OPPOSans M" panose="00020600040101010101" pitchFamily="18" charset="-122"/>
            </a:endParaRPr>
          </a:p>
        </p:txBody>
      </p:sp>
      <p:sp>
        <p:nvSpPr>
          <p:cNvPr id="203" name="靖飞在肝PPT4">
            <a:extLst>
              <a:ext uri="{FF2B5EF4-FFF2-40B4-BE49-F238E27FC236}">
                <a16:creationId xmlns:a16="http://schemas.microsoft.com/office/drawing/2014/main" id="{50009036-396A-44B8-9533-FC0D37DCC3C1}"/>
              </a:ext>
            </a:extLst>
          </p:cNvPr>
          <p:cNvSpPr/>
          <p:nvPr/>
        </p:nvSpPr>
        <p:spPr>
          <a:xfrm>
            <a:off x="7810130" y="4011627"/>
            <a:ext cx="1106164" cy="99603"/>
          </a:xfrm>
          <a:prstGeom prst="roundRect">
            <a:avLst/>
          </a:prstGeom>
          <a:solidFill>
            <a:schemeClr val="accent1"/>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1" lang="en-US" altLang="zh-CN" sz="1600" b="1" i="0" u="none" strike="noStrike" kern="0" cap="none" spc="0" normalizeH="0" baseline="0" noProof="0" dirty="0">
              <a:ln>
                <a:noFill/>
              </a:ln>
              <a:solidFill>
                <a:schemeClr val="bg1"/>
              </a:solidFill>
              <a:effectLst/>
              <a:uLnTx/>
              <a:uFillTx/>
              <a:latin typeface="思源黑体 CN Regular" panose="020B0500000000000000" pitchFamily="34" charset="-122"/>
              <a:ea typeface="思源黑体 CN Regular" panose="020B0500000000000000" pitchFamily="34" charset="-122"/>
              <a:cs typeface="OPPOSans M" panose="00020600040101010101" pitchFamily="18" charset="-122"/>
            </a:endParaRPr>
          </a:p>
        </p:txBody>
      </p:sp>
      <p:sp>
        <p:nvSpPr>
          <p:cNvPr id="204" name="靖飞在肝PPT4">
            <a:extLst>
              <a:ext uri="{FF2B5EF4-FFF2-40B4-BE49-F238E27FC236}">
                <a16:creationId xmlns:a16="http://schemas.microsoft.com/office/drawing/2014/main" id="{12691113-7D83-4CFE-81EF-14D85F4429B0}"/>
              </a:ext>
            </a:extLst>
          </p:cNvPr>
          <p:cNvSpPr/>
          <p:nvPr/>
        </p:nvSpPr>
        <p:spPr>
          <a:xfrm>
            <a:off x="7082567" y="4346452"/>
            <a:ext cx="1106164" cy="99603"/>
          </a:xfrm>
          <a:prstGeom prst="roundRect">
            <a:avLst/>
          </a:prstGeom>
          <a:solidFill>
            <a:schemeClr val="accent1"/>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1" lang="en-US" altLang="zh-CN" sz="1600" b="1" i="0" u="none" strike="noStrike" kern="0" cap="none" spc="0" normalizeH="0" baseline="0" noProof="0" dirty="0">
              <a:ln>
                <a:noFill/>
              </a:ln>
              <a:solidFill>
                <a:schemeClr val="bg1"/>
              </a:solidFill>
              <a:effectLst/>
              <a:uLnTx/>
              <a:uFillTx/>
              <a:latin typeface="思源黑体 CN Regular" panose="020B0500000000000000" pitchFamily="34" charset="-122"/>
              <a:ea typeface="思源黑体 CN Regular" panose="020B0500000000000000" pitchFamily="34" charset="-122"/>
              <a:cs typeface="OPPOSans M" panose="00020600040101010101" pitchFamily="18" charset="-122"/>
            </a:endParaRPr>
          </a:p>
        </p:txBody>
      </p:sp>
      <p:sp>
        <p:nvSpPr>
          <p:cNvPr id="205" name="靖飞在肝PPT4">
            <a:extLst>
              <a:ext uri="{FF2B5EF4-FFF2-40B4-BE49-F238E27FC236}">
                <a16:creationId xmlns:a16="http://schemas.microsoft.com/office/drawing/2014/main" id="{2D6CB4AE-7F58-4E41-9689-3A2E52EB2981}"/>
              </a:ext>
            </a:extLst>
          </p:cNvPr>
          <p:cNvSpPr/>
          <p:nvPr/>
        </p:nvSpPr>
        <p:spPr>
          <a:xfrm>
            <a:off x="7810130" y="4686111"/>
            <a:ext cx="1106164" cy="99603"/>
          </a:xfrm>
          <a:prstGeom prst="roundRect">
            <a:avLst/>
          </a:prstGeom>
          <a:solidFill>
            <a:schemeClr val="accent1"/>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1" lang="en-US" altLang="zh-CN" sz="1600" b="1" i="0" u="none" strike="noStrike" kern="0" cap="none" spc="0" normalizeH="0" baseline="0" noProof="0" dirty="0">
              <a:ln>
                <a:noFill/>
              </a:ln>
              <a:solidFill>
                <a:schemeClr val="bg1"/>
              </a:solidFill>
              <a:effectLst/>
              <a:uLnTx/>
              <a:uFillTx/>
              <a:latin typeface="思源黑体 CN Regular" panose="020B0500000000000000" pitchFamily="34" charset="-122"/>
              <a:ea typeface="思源黑体 CN Regular" panose="020B0500000000000000" pitchFamily="34" charset="-122"/>
              <a:cs typeface="OPPOSans M" panose="00020600040101010101" pitchFamily="18" charset="-122"/>
            </a:endParaRPr>
          </a:p>
        </p:txBody>
      </p:sp>
      <p:sp>
        <p:nvSpPr>
          <p:cNvPr id="206" name="靖飞在肝PPT4">
            <a:extLst>
              <a:ext uri="{FF2B5EF4-FFF2-40B4-BE49-F238E27FC236}">
                <a16:creationId xmlns:a16="http://schemas.microsoft.com/office/drawing/2014/main" id="{033788EB-A7CC-4326-BF89-8BBB78DCBE8E}"/>
              </a:ext>
            </a:extLst>
          </p:cNvPr>
          <p:cNvSpPr/>
          <p:nvPr/>
        </p:nvSpPr>
        <p:spPr>
          <a:xfrm>
            <a:off x="9114138" y="6389972"/>
            <a:ext cx="1662995" cy="84786"/>
          </a:xfrm>
          <a:prstGeom prst="roundRect">
            <a:avLst/>
          </a:prstGeom>
          <a:solidFill>
            <a:schemeClr val="accent1"/>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1" lang="en-US" altLang="zh-CN" sz="1600" b="1" i="0" u="none" strike="noStrike" kern="0" cap="none" spc="0" normalizeH="0" baseline="0" noProof="0" dirty="0">
              <a:ln>
                <a:noFill/>
              </a:ln>
              <a:solidFill>
                <a:schemeClr val="bg1"/>
              </a:solidFill>
              <a:effectLst/>
              <a:uLnTx/>
              <a:uFillTx/>
              <a:latin typeface="思源黑体 CN Regular" panose="020B0500000000000000" pitchFamily="34" charset="-122"/>
              <a:ea typeface="思源黑体 CN Regular" panose="020B0500000000000000" pitchFamily="34" charset="-122"/>
              <a:cs typeface="OPPOSans M" panose="00020600040101010101" pitchFamily="18" charset="-122"/>
            </a:endParaRPr>
          </a:p>
        </p:txBody>
      </p:sp>
      <p:sp>
        <p:nvSpPr>
          <p:cNvPr id="207" name="靖飞在肝PPT4">
            <a:extLst>
              <a:ext uri="{FF2B5EF4-FFF2-40B4-BE49-F238E27FC236}">
                <a16:creationId xmlns:a16="http://schemas.microsoft.com/office/drawing/2014/main" id="{45B534DB-478C-4370-A42E-F264F1C069C0}"/>
              </a:ext>
            </a:extLst>
          </p:cNvPr>
          <p:cNvSpPr/>
          <p:nvPr/>
        </p:nvSpPr>
        <p:spPr>
          <a:xfrm>
            <a:off x="9114138" y="6057782"/>
            <a:ext cx="902128" cy="103112"/>
          </a:xfrm>
          <a:prstGeom prst="roundRect">
            <a:avLst/>
          </a:prstGeom>
          <a:solidFill>
            <a:schemeClr val="accent1"/>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1" lang="en-US" altLang="zh-CN" sz="1600" b="1" i="0" u="none" strike="noStrike" kern="0" cap="none" spc="0" normalizeH="0" baseline="0" noProof="0" dirty="0">
              <a:ln>
                <a:noFill/>
              </a:ln>
              <a:solidFill>
                <a:schemeClr val="bg1"/>
              </a:solidFill>
              <a:effectLst/>
              <a:uLnTx/>
              <a:uFillTx/>
              <a:latin typeface="思源黑体 CN Regular" panose="020B0500000000000000" pitchFamily="34" charset="-122"/>
              <a:ea typeface="思源黑体 CN Regular" panose="020B0500000000000000" pitchFamily="34" charset="-122"/>
              <a:cs typeface="OPPOSans M" panose="00020600040101010101" pitchFamily="18" charset="-122"/>
            </a:endParaRPr>
          </a:p>
        </p:txBody>
      </p:sp>
      <p:sp>
        <p:nvSpPr>
          <p:cNvPr id="208" name="靖飞在肝PPT4">
            <a:extLst>
              <a:ext uri="{FF2B5EF4-FFF2-40B4-BE49-F238E27FC236}">
                <a16:creationId xmlns:a16="http://schemas.microsoft.com/office/drawing/2014/main" id="{7024DD98-7F98-4789-86B7-CB3EFA67EE45}"/>
              </a:ext>
            </a:extLst>
          </p:cNvPr>
          <p:cNvSpPr/>
          <p:nvPr/>
        </p:nvSpPr>
        <p:spPr>
          <a:xfrm>
            <a:off x="8741075" y="5711016"/>
            <a:ext cx="902128" cy="103112"/>
          </a:xfrm>
          <a:prstGeom prst="roundRect">
            <a:avLst/>
          </a:prstGeom>
          <a:solidFill>
            <a:schemeClr val="accent1"/>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1" lang="en-US" altLang="zh-CN" sz="1600" b="1" i="0" u="none" strike="noStrike" kern="0" cap="none" spc="0" normalizeH="0" baseline="0" noProof="0" dirty="0">
              <a:ln>
                <a:noFill/>
              </a:ln>
              <a:solidFill>
                <a:schemeClr val="bg1"/>
              </a:solidFill>
              <a:effectLst/>
              <a:uLnTx/>
              <a:uFillTx/>
              <a:latin typeface="思源黑体 CN Regular" panose="020B0500000000000000" pitchFamily="34" charset="-122"/>
              <a:ea typeface="思源黑体 CN Regular" panose="020B0500000000000000" pitchFamily="34" charset="-122"/>
              <a:cs typeface="OPPOSans M" panose="00020600040101010101" pitchFamily="18" charset="-122"/>
            </a:endParaRPr>
          </a:p>
        </p:txBody>
      </p:sp>
      <p:sp>
        <p:nvSpPr>
          <p:cNvPr id="209" name="靖飞在肝PPT4">
            <a:extLst>
              <a:ext uri="{FF2B5EF4-FFF2-40B4-BE49-F238E27FC236}">
                <a16:creationId xmlns:a16="http://schemas.microsoft.com/office/drawing/2014/main" id="{F9405EF2-8554-484D-B438-63CD57F1CF5B}"/>
              </a:ext>
            </a:extLst>
          </p:cNvPr>
          <p:cNvSpPr/>
          <p:nvPr/>
        </p:nvSpPr>
        <p:spPr>
          <a:xfrm>
            <a:off x="8218744" y="5355309"/>
            <a:ext cx="902128" cy="103112"/>
          </a:xfrm>
          <a:prstGeom prst="roundRect">
            <a:avLst/>
          </a:prstGeom>
          <a:solidFill>
            <a:schemeClr val="accent1"/>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1" lang="en-US" altLang="zh-CN" sz="1600" b="1" i="0" u="none" strike="noStrike" kern="0" cap="none" spc="0" normalizeH="0" baseline="0" noProof="0" dirty="0">
              <a:ln>
                <a:noFill/>
              </a:ln>
              <a:solidFill>
                <a:schemeClr val="bg1"/>
              </a:solidFill>
              <a:effectLst/>
              <a:uLnTx/>
              <a:uFillTx/>
              <a:latin typeface="思源黑体 CN Regular" panose="020B0500000000000000" pitchFamily="34" charset="-122"/>
              <a:ea typeface="思源黑体 CN Regular" panose="020B0500000000000000" pitchFamily="34" charset="-122"/>
              <a:cs typeface="OPPOSans M" panose="00020600040101010101" pitchFamily="18" charset="-122"/>
            </a:endParaRPr>
          </a:p>
        </p:txBody>
      </p:sp>
      <p:sp>
        <p:nvSpPr>
          <p:cNvPr id="210" name="靖飞在肝PPT4">
            <a:extLst>
              <a:ext uri="{FF2B5EF4-FFF2-40B4-BE49-F238E27FC236}">
                <a16:creationId xmlns:a16="http://schemas.microsoft.com/office/drawing/2014/main" id="{DB64A6B9-A23B-4D39-96B4-9A224651FCE7}"/>
              </a:ext>
            </a:extLst>
          </p:cNvPr>
          <p:cNvSpPr/>
          <p:nvPr/>
        </p:nvSpPr>
        <p:spPr>
          <a:xfrm>
            <a:off x="8741075" y="5014799"/>
            <a:ext cx="902128" cy="103112"/>
          </a:xfrm>
          <a:prstGeom prst="roundRect">
            <a:avLst/>
          </a:prstGeom>
          <a:solidFill>
            <a:schemeClr val="accent1"/>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1" lang="en-US" altLang="zh-CN" sz="1600" b="1" i="0" u="none" strike="noStrike" kern="0" cap="none" spc="0" normalizeH="0" baseline="0" noProof="0" dirty="0">
              <a:ln>
                <a:noFill/>
              </a:ln>
              <a:solidFill>
                <a:schemeClr val="bg1"/>
              </a:solidFill>
              <a:effectLst/>
              <a:uLnTx/>
              <a:uFillTx/>
              <a:latin typeface="思源黑体 CN Regular" panose="020B0500000000000000" pitchFamily="34" charset="-122"/>
              <a:ea typeface="思源黑体 CN Regular" panose="020B0500000000000000" pitchFamily="34" charset="-122"/>
              <a:cs typeface="OPPOSans M" panose="00020600040101010101" pitchFamily="18" charset="-122"/>
            </a:endParaRPr>
          </a:p>
        </p:txBody>
      </p:sp>
      <p:sp>
        <p:nvSpPr>
          <p:cNvPr id="211" name="文本框 210">
            <a:extLst>
              <a:ext uri="{FF2B5EF4-FFF2-40B4-BE49-F238E27FC236}">
                <a16:creationId xmlns:a16="http://schemas.microsoft.com/office/drawing/2014/main" id="{94CF4CC8-5A12-4EC4-BE4A-9341409A5B0D}"/>
              </a:ext>
            </a:extLst>
          </p:cNvPr>
          <p:cNvSpPr txBox="1"/>
          <p:nvPr/>
        </p:nvSpPr>
        <p:spPr>
          <a:xfrm>
            <a:off x="9001159" y="3889241"/>
            <a:ext cx="1520640" cy="338554"/>
          </a:xfrm>
          <a:prstGeom prst="rect">
            <a:avLst/>
          </a:prstGeom>
          <a:noFill/>
        </p:spPr>
        <p:txBody>
          <a:bodyPr wrap="square" rtlCol="0">
            <a:spAutoFit/>
          </a:bodyPr>
          <a:lstStyle/>
          <a:p>
            <a:r>
              <a:rPr lang="zh-CN" altLang="en-US" sz="1600" dirty="0">
                <a:solidFill>
                  <a:schemeClr val="accent1"/>
                </a:solidFill>
                <a:latin typeface="思源黑体 CN Bold" panose="020B0800000000000000" pitchFamily="34" charset="-122"/>
                <a:ea typeface="思源黑体 CN Bold" panose="020B0800000000000000" pitchFamily="34" charset="-122"/>
              </a:rPr>
              <a:t>机制验证阶段</a:t>
            </a:r>
          </a:p>
        </p:txBody>
      </p:sp>
      <p:sp>
        <p:nvSpPr>
          <p:cNvPr id="212" name="文本框 211">
            <a:extLst>
              <a:ext uri="{FF2B5EF4-FFF2-40B4-BE49-F238E27FC236}">
                <a16:creationId xmlns:a16="http://schemas.microsoft.com/office/drawing/2014/main" id="{A91AEEAA-392B-4919-89BE-7FF236A5D62E}"/>
              </a:ext>
            </a:extLst>
          </p:cNvPr>
          <p:cNvSpPr txBox="1"/>
          <p:nvPr/>
        </p:nvSpPr>
        <p:spPr>
          <a:xfrm>
            <a:off x="10400904" y="4907675"/>
            <a:ext cx="1520640" cy="338554"/>
          </a:xfrm>
          <a:prstGeom prst="rect">
            <a:avLst/>
          </a:prstGeom>
          <a:noFill/>
        </p:spPr>
        <p:txBody>
          <a:bodyPr wrap="square" rtlCol="0">
            <a:spAutoFit/>
          </a:bodyPr>
          <a:lstStyle/>
          <a:p>
            <a:r>
              <a:rPr lang="zh-CN" altLang="en-US" sz="1600" dirty="0">
                <a:solidFill>
                  <a:schemeClr val="accent1"/>
                </a:solidFill>
                <a:latin typeface="思源黑体 CN Bold" panose="020B0800000000000000" pitchFamily="34" charset="-122"/>
                <a:ea typeface="思源黑体 CN Bold" panose="020B0800000000000000" pitchFamily="34" charset="-122"/>
              </a:rPr>
              <a:t>机制数据整理</a:t>
            </a:r>
          </a:p>
        </p:txBody>
      </p:sp>
      <p:sp>
        <p:nvSpPr>
          <p:cNvPr id="213" name="文本框 212">
            <a:extLst>
              <a:ext uri="{FF2B5EF4-FFF2-40B4-BE49-F238E27FC236}">
                <a16:creationId xmlns:a16="http://schemas.microsoft.com/office/drawing/2014/main" id="{54C1C9F7-0BA5-488F-9360-919F7B8ABFD3}"/>
              </a:ext>
            </a:extLst>
          </p:cNvPr>
          <p:cNvSpPr txBox="1"/>
          <p:nvPr/>
        </p:nvSpPr>
        <p:spPr>
          <a:xfrm>
            <a:off x="10887142" y="5927829"/>
            <a:ext cx="1076625" cy="338554"/>
          </a:xfrm>
          <a:prstGeom prst="rect">
            <a:avLst/>
          </a:prstGeom>
          <a:noFill/>
        </p:spPr>
        <p:txBody>
          <a:bodyPr wrap="square" rtlCol="0">
            <a:spAutoFit/>
          </a:bodyPr>
          <a:lstStyle/>
          <a:p>
            <a:r>
              <a:rPr lang="zh-CN" altLang="en-US" sz="1600" dirty="0">
                <a:solidFill>
                  <a:schemeClr val="accent1"/>
                </a:solidFill>
                <a:latin typeface="思源黑体 CN Bold" panose="020B0800000000000000" pitchFamily="34" charset="-122"/>
                <a:ea typeface="思源黑体 CN Bold" panose="020B0800000000000000" pitchFamily="34" charset="-122"/>
              </a:rPr>
              <a:t>学位论文</a:t>
            </a:r>
          </a:p>
        </p:txBody>
      </p:sp>
      <p:sp>
        <p:nvSpPr>
          <p:cNvPr id="139" name="文本框 138">
            <a:extLst>
              <a:ext uri="{FF2B5EF4-FFF2-40B4-BE49-F238E27FC236}">
                <a16:creationId xmlns:a16="http://schemas.microsoft.com/office/drawing/2014/main" id="{238E3CF2-5120-4AE2-B71A-AAFB6C2714C2}"/>
              </a:ext>
            </a:extLst>
          </p:cNvPr>
          <p:cNvSpPr txBox="1"/>
          <p:nvPr/>
        </p:nvSpPr>
        <p:spPr>
          <a:xfrm>
            <a:off x="373082" y="2098899"/>
            <a:ext cx="1660612" cy="338554"/>
          </a:xfrm>
          <a:prstGeom prst="rect">
            <a:avLst/>
          </a:prstGeom>
          <a:noFill/>
        </p:spPr>
        <p:txBody>
          <a:bodyPr wrap="square" rtlCol="0">
            <a:spAutoFit/>
          </a:bodyPr>
          <a:lstStyle/>
          <a:p>
            <a:r>
              <a:rPr lang="zh-CN" altLang="en-US" sz="1600" dirty="0">
                <a:solidFill>
                  <a:schemeClr val="bg1"/>
                </a:solidFill>
                <a:latin typeface="思源黑体 CN Regular" panose="020B0500000000000000" pitchFamily="34" charset="-122"/>
                <a:ea typeface="思源黑体 CN Regular" panose="020B0500000000000000" pitchFamily="34" charset="-122"/>
              </a:rPr>
              <a:t>研究背景及现状</a:t>
            </a:r>
          </a:p>
        </p:txBody>
      </p:sp>
      <p:sp>
        <p:nvSpPr>
          <p:cNvPr id="140" name="任意矩形：001">
            <a:extLst>
              <a:ext uri="{FF2B5EF4-FFF2-40B4-BE49-F238E27FC236}">
                <a16:creationId xmlns:a16="http://schemas.microsoft.com/office/drawing/2014/main" id="{E3290B71-F414-475A-959A-252AA69C813C}"/>
              </a:ext>
            </a:extLst>
          </p:cNvPr>
          <p:cNvSpPr/>
          <p:nvPr/>
        </p:nvSpPr>
        <p:spPr>
          <a:xfrm>
            <a:off x="131492" y="2145245"/>
            <a:ext cx="226722" cy="202893"/>
          </a:xfrm>
          <a:custGeom>
            <a:avLst/>
            <a:gdLst>
              <a:gd name="connsiteX0" fmla="*/ 79591 w 607005"/>
              <a:gd name="connsiteY0" fmla="*/ 373864 h 543210"/>
              <a:gd name="connsiteX1" fmla="*/ 33701 w 607005"/>
              <a:gd name="connsiteY1" fmla="*/ 461494 h 543210"/>
              <a:gd name="connsiteX2" fmla="*/ 79501 w 607005"/>
              <a:gd name="connsiteY2" fmla="*/ 507233 h 543210"/>
              <a:gd name="connsiteX3" fmla="*/ 125392 w 607005"/>
              <a:gd name="connsiteY3" fmla="*/ 461494 h 543210"/>
              <a:gd name="connsiteX4" fmla="*/ 79591 w 607005"/>
              <a:gd name="connsiteY4" fmla="*/ 373864 h 543210"/>
              <a:gd name="connsiteX5" fmla="*/ 79501 w 607005"/>
              <a:gd name="connsiteY5" fmla="*/ 328661 h 543210"/>
              <a:gd name="connsiteX6" fmla="*/ 92856 w 607005"/>
              <a:gd name="connsiteY6" fmla="*/ 335106 h 543210"/>
              <a:gd name="connsiteX7" fmla="*/ 158913 w 607005"/>
              <a:gd name="connsiteY7" fmla="*/ 461404 h 543210"/>
              <a:gd name="connsiteX8" fmla="*/ 79501 w 607005"/>
              <a:gd name="connsiteY8" fmla="*/ 540710 h 543210"/>
              <a:gd name="connsiteX9" fmla="*/ 0 w 607005"/>
              <a:gd name="connsiteY9" fmla="*/ 461404 h 543210"/>
              <a:gd name="connsiteX10" fmla="*/ 66236 w 607005"/>
              <a:gd name="connsiteY10" fmla="*/ 335195 h 543210"/>
              <a:gd name="connsiteX11" fmla="*/ 79501 w 607005"/>
              <a:gd name="connsiteY11" fmla="*/ 328661 h 543210"/>
              <a:gd name="connsiteX12" fmla="*/ 196548 w 607005"/>
              <a:gd name="connsiteY12" fmla="*/ 281688 h 543210"/>
              <a:gd name="connsiteX13" fmla="*/ 391755 w 607005"/>
              <a:gd name="connsiteY13" fmla="*/ 476431 h 543210"/>
              <a:gd name="connsiteX14" fmla="*/ 540265 w 607005"/>
              <a:gd name="connsiteY14" fmla="*/ 476431 h 543210"/>
              <a:gd name="connsiteX15" fmla="*/ 540265 w 607005"/>
              <a:gd name="connsiteY15" fmla="*/ 328047 h 543210"/>
              <a:gd name="connsiteX16" fmla="*/ 493749 w 607005"/>
              <a:gd name="connsiteY16" fmla="*/ 281688 h 543210"/>
              <a:gd name="connsiteX17" fmla="*/ 261707 w 607005"/>
              <a:gd name="connsiteY17" fmla="*/ 49894 h 543210"/>
              <a:gd name="connsiteX18" fmla="*/ 113017 w 607005"/>
              <a:gd name="connsiteY18" fmla="*/ 198278 h 543210"/>
              <a:gd name="connsiteX19" fmla="*/ 163028 w 607005"/>
              <a:gd name="connsiteY19" fmla="*/ 248127 h 543210"/>
              <a:gd name="connsiteX20" fmla="*/ 460229 w 607005"/>
              <a:gd name="connsiteY20" fmla="*/ 248127 h 543210"/>
              <a:gd name="connsiteX21" fmla="*/ 271073 w 607005"/>
              <a:gd name="connsiteY21" fmla="*/ 0 h 543210"/>
              <a:gd name="connsiteX22" fmla="*/ 282948 w 607005"/>
              <a:gd name="connsiteY22" fmla="*/ 4967 h 543210"/>
              <a:gd name="connsiteX23" fmla="*/ 285099 w 607005"/>
              <a:gd name="connsiteY23" fmla="*/ 25909 h 543210"/>
              <a:gd name="connsiteX24" fmla="*/ 563927 w 607005"/>
              <a:gd name="connsiteY24" fmla="*/ 304331 h 543210"/>
              <a:gd name="connsiteX25" fmla="*/ 563927 w 607005"/>
              <a:gd name="connsiteY25" fmla="*/ 500148 h 543210"/>
              <a:gd name="connsiteX26" fmla="*/ 367824 w 607005"/>
              <a:gd name="connsiteY26" fmla="*/ 500148 h 543210"/>
              <a:gd name="connsiteX27" fmla="*/ 88997 w 607005"/>
              <a:gd name="connsiteY27" fmla="*/ 221726 h 543210"/>
              <a:gd name="connsiteX28" fmla="*/ 68024 w 607005"/>
              <a:gd name="connsiteY28" fmla="*/ 219578 h 543210"/>
              <a:gd name="connsiteX29" fmla="*/ 68024 w 607005"/>
              <a:gd name="connsiteY29" fmla="*/ 195862 h 543210"/>
              <a:gd name="connsiteX30" fmla="*/ 259197 w 607005"/>
              <a:gd name="connsiteY30" fmla="*/ 4967 h 543210"/>
              <a:gd name="connsiteX31" fmla="*/ 271073 w 607005"/>
              <a:gd name="connsiteY31" fmla="*/ 0 h 5432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607005" h="543210">
                <a:moveTo>
                  <a:pt x="79591" y="373864"/>
                </a:moveTo>
                <a:cubicBezTo>
                  <a:pt x="57452" y="405192"/>
                  <a:pt x="33701" y="445024"/>
                  <a:pt x="33701" y="461494"/>
                </a:cubicBezTo>
                <a:cubicBezTo>
                  <a:pt x="33701" y="486646"/>
                  <a:pt x="54226" y="507233"/>
                  <a:pt x="79501" y="507233"/>
                </a:cubicBezTo>
                <a:cubicBezTo>
                  <a:pt x="104687" y="507233"/>
                  <a:pt x="125212" y="486646"/>
                  <a:pt x="125392" y="461494"/>
                </a:cubicBezTo>
                <a:cubicBezTo>
                  <a:pt x="125392" y="445024"/>
                  <a:pt x="101729" y="405282"/>
                  <a:pt x="79591" y="373864"/>
                </a:cubicBezTo>
                <a:close/>
                <a:moveTo>
                  <a:pt x="79501" y="328661"/>
                </a:moveTo>
                <a:cubicBezTo>
                  <a:pt x="84610" y="328661"/>
                  <a:pt x="89540" y="331078"/>
                  <a:pt x="92856" y="335106"/>
                </a:cubicBezTo>
                <a:cubicBezTo>
                  <a:pt x="103881" y="349517"/>
                  <a:pt x="158913" y="423094"/>
                  <a:pt x="158913" y="461404"/>
                </a:cubicBezTo>
                <a:cubicBezTo>
                  <a:pt x="158913" y="505175"/>
                  <a:pt x="123240" y="540710"/>
                  <a:pt x="79501" y="540710"/>
                </a:cubicBezTo>
                <a:cubicBezTo>
                  <a:pt x="35583" y="540710"/>
                  <a:pt x="0" y="505085"/>
                  <a:pt x="0" y="461404"/>
                </a:cubicBezTo>
                <a:cubicBezTo>
                  <a:pt x="0" y="423094"/>
                  <a:pt x="55122" y="349517"/>
                  <a:pt x="66236" y="335195"/>
                </a:cubicBezTo>
                <a:cubicBezTo>
                  <a:pt x="69284" y="331078"/>
                  <a:pt x="74213" y="328661"/>
                  <a:pt x="79501" y="328661"/>
                </a:cubicBezTo>
                <a:close/>
                <a:moveTo>
                  <a:pt x="196548" y="281688"/>
                </a:moveTo>
                <a:lnTo>
                  <a:pt x="391755" y="476431"/>
                </a:lnTo>
                <a:cubicBezTo>
                  <a:pt x="420525" y="505249"/>
                  <a:pt x="488999" y="527623"/>
                  <a:pt x="540265" y="476431"/>
                </a:cubicBezTo>
                <a:cubicBezTo>
                  <a:pt x="592249" y="424524"/>
                  <a:pt x="570290" y="358028"/>
                  <a:pt x="540265" y="328047"/>
                </a:cubicBezTo>
                <a:lnTo>
                  <a:pt x="493749" y="281688"/>
                </a:lnTo>
                <a:close/>
                <a:moveTo>
                  <a:pt x="261707" y="49894"/>
                </a:moveTo>
                <a:lnTo>
                  <a:pt x="113017" y="198278"/>
                </a:lnTo>
                <a:lnTo>
                  <a:pt x="163028" y="248127"/>
                </a:lnTo>
                <a:lnTo>
                  <a:pt x="460229" y="248127"/>
                </a:lnTo>
                <a:close/>
                <a:moveTo>
                  <a:pt x="271073" y="0"/>
                </a:moveTo>
                <a:cubicBezTo>
                  <a:pt x="275375" y="0"/>
                  <a:pt x="279677" y="1655"/>
                  <a:pt x="282948" y="4967"/>
                </a:cubicBezTo>
                <a:cubicBezTo>
                  <a:pt x="288595" y="10694"/>
                  <a:pt x="289312" y="19465"/>
                  <a:pt x="285099" y="25909"/>
                </a:cubicBezTo>
                <a:lnTo>
                  <a:pt x="563927" y="304331"/>
                </a:lnTo>
                <a:cubicBezTo>
                  <a:pt x="604528" y="344872"/>
                  <a:pt x="636076" y="428104"/>
                  <a:pt x="563927" y="500148"/>
                </a:cubicBezTo>
                <a:cubicBezTo>
                  <a:pt x="492495" y="571476"/>
                  <a:pt x="409501" y="541763"/>
                  <a:pt x="367824" y="500148"/>
                </a:cubicBezTo>
                <a:lnTo>
                  <a:pt x="88997" y="221726"/>
                </a:lnTo>
                <a:cubicBezTo>
                  <a:pt x="81468" y="226380"/>
                  <a:pt x="73850" y="225485"/>
                  <a:pt x="68024" y="219578"/>
                </a:cubicBezTo>
                <a:cubicBezTo>
                  <a:pt x="61392" y="213045"/>
                  <a:pt x="61392" y="202395"/>
                  <a:pt x="68024" y="195862"/>
                </a:cubicBezTo>
                <a:lnTo>
                  <a:pt x="259197" y="4967"/>
                </a:lnTo>
                <a:cubicBezTo>
                  <a:pt x="262469" y="1655"/>
                  <a:pt x="266771" y="0"/>
                  <a:pt x="271073"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1" name="任意矩形：002">
            <a:extLst>
              <a:ext uri="{FF2B5EF4-FFF2-40B4-BE49-F238E27FC236}">
                <a16:creationId xmlns:a16="http://schemas.microsoft.com/office/drawing/2014/main" id="{A3F9079B-4C45-4899-9641-5537D7CFBBCB}"/>
              </a:ext>
            </a:extLst>
          </p:cNvPr>
          <p:cNvSpPr/>
          <p:nvPr/>
        </p:nvSpPr>
        <p:spPr>
          <a:xfrm>
            <a:off x="143798" y="2860995"/>
            <a:ext cx="202111" cy="201828"/>
          </a:xfrm>
          <a:custGeom>
            <a:avLst/>
            <a:gdLst>
              <a:gd name="connsiteX0" fmla="*/ 303643 w 607215"/>
              <a:gd name="connsiteY0" fmla="*/ 280873 h 606369"/>
              <a:gd name="connsiteX1" fmla="*/ 325219 w 607215"/>
              <a:gd name="connsiteY1" fmla="*/ 302335 h 606369"/>
              <a:gd name="connsiteX2" fmla="*/ 303643 w 607215"/>
              <a:gd name="connsiteY2" fmla="*/ 323873 h 606369"/>
              <a:gd name="connsiteX3" fmla="*/ 282068 w 607215"/>
              <a:gd name="connsiteY3" fmla="*/ 302335 h 606369"/>
              <a:gd name="connsiteX4" fmla="*/ 303643 w 607215"/>
              <a:gd name="connsiteY4" fmla="*/ 280873 h 606369"/>
              <a:gd name="connsiteX5" fmla="*/ 303678 w 607215"/>
              <a:gd name="connsiteY5" fmla="*/ 280357 h 606369"/>
              <a:gd name="connsiteX6" fmla="*/ 281626 w 607215"/>
              <a:gd name="connsiteY6" fmla="*/ 302374 h 606369"/>
              <a:gd name="connsiteX7" fmla="*/ 303678 w 607215"/>
              <a:gd name="connsiteY7" fmla="*/ 324391 h 606369"/>
              <a:gd name="connsiteX8" fmla="*/ 325730 w 607215"/>
              <a:gd name="connsiteY8" fmla="*/ 302374 h 606369"/>
              <a:gd name="connsiteX9" fmla="*/ 303678 w 607215"/>
              <a:gd name="connsiteY9" fmla="*/ 280357 h 606369"/>
              <a:gd name="connsiteX10" fmla="*/ 303643 w 607215"/>
              <a:gd name="connsiteY10" fmla="*/ 279792 h 606369"/>
              <a:gd name="connsiteX11" fmla="*/ 326224 w 607215"/>
              <a:gd name="connsiteY11" fmla="*/ 302335 h 606369"/>
              <a:gd name="connsiteX12" fmla="*/ 303643 w 607215"/>
              <a:gd name="connsiteY12" fmla="*/ 324954 h 606369"/>
              <a:gd name="connsiteX13" fmla="*/ 281062 w 607215"/>
              <a:gd name="connsiteY13" fmla="*/ 302335 h 606369"/>
              <a:gd name="connsiteX14" fmla="*/ 303643 w 607215"/>
              <a:gd name="connsiteY14" fmla="*/ 279792 h 606369"/>
              <a:gd name="connsiteX15" fmla="*/ 281043 w 607215"/>
              <a:gd name="connsiteY15" fmla="*/ 46068 h 606369"/>
              <a:gd name="connsiteX16" fmla="*/ 120855 w 607215"/>
              <a:gd name="connsiteY16" fmla="*/ 120687 h 606369"/>
              <a:gd name="connsiteX17" fmla="*/ 46132 w 607215"/>
              <a:gd name="connsiteY17" fmla="*/ 280652 h 606369"/>
              <a:gd name="connsiteX18" fmla="*/ 147128 w 607215"/>
              <a:gd name="connsiteY18" fmla="*/ 280652 h 606369"/>
              <a:gd name="connsiteX19" fmla="*/ 169770 w 607215"/>
              <a:gd name="connsiteY19" fmla="*/ 303185 h 606369"/>
              <a:gd name="connsiteX20" fmla="*/ 147128 w 607215"/>
              <a:gd name="connsiteY20" fmla="*/ 325717 h 606369"/>
              <a:gd name="connsiteX21" fmla="*/ 46132 w 607215"/>
              <a:gd name="connsiteY21" fmla="*/ 325717 h 606369"/>
              <a:gd name="connsiteX22" fmla="*/ 120855 w 607215"/>
              <a:gd name="connsiteY22" fmla="*/ 485682 h 606369"/>
              <a:gd name="connsiteX23" fmla="*/ 281043 w 607215"/>
              <a:gd name="connsiteY23" fmla="*/ 560301 h 606369"/>
              <a:gd name="connsiteX24" fmla="*/ 281043 w 607215"/>
              <a:gd name="connsiteY24" fmla="*/ 459446 h 606369"/>
              <a:gd name="connsiteX25" fmla="*/ 303608 w 607215"/>
              <a:gd name="connsiteY25" fmla="*/ 436913 h 606369"/>
              <a:gd name="connsiteX26" fmla="*/ 326172 w 607215"/>
              <a:gd name="connsiteY26" fmla="*/ 459446 h 606369"/>
              <a:gd name="connsiteX27" fmla="*/ 326172 w 607215"/>
              <a:gd name="connsiteY27" fmla="*/ 560301 h 606369"/>
              <a:gd name="connsiteX28" fmla="*/ 486360 w 607215"/>
              <a:gd name="connsiteY28" fmla="*/ 485682 h 606369"/>
              <a:gd name="connsiteX29" fmla="*/ 561083 w 607215"/>
              <a:gd name="connsiteY29" fmla="*/ 325717 h 606369"/>
              <a:gd name="connsiteX30" fmla="*/ 460087 w 607215"/>
              <a:gd name="connsiteY30" fmla="*/ 325717 h 606369"/>
              <a:gd name="connsiteX31" fmla="*/ 437523 w 607215"/>
              <a:gd name="connsiteY31" fmla="*/ 303185 h 606369"/>
              <a:gd name="connsiteX32" fmla="*/ 460087 w 607215"/>
              <a:gd name="connsiteY32" fmla="*/ 280652 h 606369"/>
              <a:gd name="connsiteX33" fmla="*/ 561083 w 607215"/>
              <a:gd name="connsiteY33" fmla="*/ 280652 h 606369"/>
              <a:gd name="connsiteX34" fmla="*/ 486360 w 607215"/>
              <a:gd name="connsiteY34" fmla="*/ 120687 h 606369"/>
              <a:gd name="connsiteX35" fmla="*/ 326172 w 607215"/>
              <a:gd name="connsiteY35" fmla="*/ 46068 h 606369"/>
              <a:gd name="connsiteX36" fmla="*/ 326172 w 607215"/>
              <a:gd name="connsiteY36" fmla="*/ 146923 h 606369"/>
              <a:gd name="connsiteX37" fmla="*/ 303608 w 607215"/>
              <a:gd name="connsiteY37" fmla="*/ 169533 h 606369"/>
              <a:gd name="connsiteX38" fmla="*/ 281043 w 607215"/>
              <a:gd name="connsiteY38" fmla="*/ 146923 h 606369"/>
              <a:gd name="connsiteX39" fmla="*/ 281617 w 607215"/>
              <a:gd name="connsiteY39" fmla="*/ 45548 h 606369"/>
              <a:gd name="connsiteX40" fmla="*/ 281617 w 607215"/>
              <a:gd name="connsiteY40" fmla="*/ 146935 h 606369"/>
              <a:gd name="connsiteX41" fmla="*/ 303640 w 607215"/>
              <a:gd name="connsiteY41" fmla="*/ 169002 h 606369"/>
              <a:gd name="connsiteX42" fmla="*/ 325741 w 607215"/>
              <a:gd name="connsiteY42" fmla="*/ 146935 h 606369"/>
              <a:gd name="connsiteX43" fmla="*/ 325741 w 607215"/>
              <a:gd name="connsiteY43" fmla="*/ 45548 h 606369"/>
              <a:gd name="connsiteX44" fmla="*/ 561663 w 607215"/>
              <a:gd name="connsiteY44" fmla="*/ 281192 h 606369"/>
              <a:gd name="connsiteX45" fmla="*/ 460123 w 607215"/>
              <a:gd name="connsiteY45" fmla="*/ 281192 h 606369"/>
              <a:gd name="connsiteX46" fmla="*/ 438022 w 607215"/>
              <a:gd name="connsiteY46" fmla="*/ 303182 h 606369"/>
              <a:gd name="connsiteX47" fmla="*/ 460123 w 607215"/>
              <a:gd name="connsiteY47" fmla="*/ 325250 h 606369"/>
              <a:gd name="connsiteX48" fmla="*/ 561663 w 607215"/>
              <a:gd name="connsiteY48" fmla="*/ 325250 h 606369"/>
              <a:gd name="connsiteX49" fmla="*/ 325741 w 607215"/>
              <a:gd name="connsiteY49" fmla="*/ 560815 h 606369"/>
              <a:gd name="connsiteX50" fmla="*/ 325741 w 607215"/>
              <a:gd name="connsiteY50" fmla="*/ 459429 h 606369"/>
              <a:gd name="connsiteX51" fmla="*/ 303640 w 607215"/>
              <a:gd name="connsiteY51" fmla="*/ 437361 h 606369"/>
              <a:gd name="connsiteX52" fmla="*/ 281617 w 607215"/>
              <a:gd name="connsiteY52" fmla="*/ 459429 h 606369"/>
              <a:gd name="connsiteX53" fmla="*/ 281617 w 607215"/>
              <a:gd name="connsiteY53" fmla="*/ 560815 h 606369"/>
              <a:gd name="connsiteX54" fmla="*/ 45616 w 607215"/>
              <a:gd name="connsiteY54" fmla="*/ 325250 h 606369"/>
              <a:gd name="connsiteX55" fmla="*/ 147157 w 607215"/>
              <a:gd name="connsiteY55" fmla="*/ 325250 h 606369"/>
              <a:gd name="connsiteX56" fmla="*/ 169257 w 607215"/>
              <a:gd name="connsiteY56" fmla="*/ 303182 h 606369"/>
              <a:gd name="connsiteX57" fmla="*/ 147157 w 607215"/>
              <a:gd name="connsiteY57" fmla="*/ 281192 h 606369"/>
              <a:gd name="connsiteX58" fmla="*/ 45616 w 607215"/>
              <a:gd name="connsiteY58" fmla="*/ 281192 h 606369"/>
              <a:gd name="connsiteX59" fmla="*/ 281617 w 607215"/>
              <a:gd name="connsiteY59" fmla="*/ 45548 h 606369"/>
              <a:gd name="connsiteX60" fmla="*/ 281508 w 607215"/>
              <a:gd name="connsiteY60" fmla="*/ 44987 h 606369"/>
              <a:gd name="connsiteX61" fmla="*/ 120160 w 607215"/>
              <a:gd name="connsiteY61" fmla="*/ 119993 h 606369"/>
              <a:gd name="connsiteX62" fmla="*/ 45050 w 607215"/>
              <a:gd name="connsiteY62" fmla="*/ 281115 h 606369"/>
              <a:gd name="connsiteX63" fmla="*/ 45050 w 607215"/>
              <a:gd name="connsiteY63" fmla="*/ 281655 h 606369"/>
              <a:gd name="connsiteX64" fmla="*/ 147128 w 607215"/>
              <a:gd name="connsiteY64" fmla="*/ 281655 h 606369"/>
              <a:gd name="connsiteX65" fmla="*/ 168688 w 607215"/>
              <a:gd name="connsiteY65" fmla="*/ 303185 h 606369"/>
              <a:gd name="connsiteX66" fmla="*/ 147128 w 607215"/>
              <a:gd name="connsiteY66" fmla="*/ 324714 h 606369"/>
              <a:gd name="connsiteX67" fmla="*/ 45050 w 607215"/>
              <a:gd name="connsiteY67" fmla="*/ 324714 h 606369"/>
              <a:gd name="connsiteX68" fmla="*/ 45050 w 607215"/>
              <a:gd name="connsiteY68" fmla="*/ 325254 h 606369"/>
              <a:gd name="connsiteX69" fmla="*/ 120160 w 607215"/>
              <a:gd name="connsiteY69" fmla="*/ 486454 h 606369"/>
              <a:gd name="connsiteX70" fmla="*/ 281508 w 607215"/>
              <a:gd name="connsiteY70" fmla="*/ 561382 h 606369"/>
              <a:gd name="connsiteX71" fmla="*/ 282048 w 607215"/>
              <a:gd name="connsiteY71" fmla="*/ 561459 h 606369"/>
              <a:gd name="connsiteX72" fmla="*/ 282048 w 607215"/>
              <a:gd name="connsiteY72" fmla="*/ 459446 h 606369"/>
              <a:gd name="connsiteX73" fmla="*/ 303608 w 607215"/>
              <a:gd name="connsiteY73" fmla="*/ 437916 h 606369"/>
              <a:gd name="connsiteX74" fmla="*/ 325167 w 607215"/>
              <a:gd name="connsiteY74" fmla="*/ 459446 h 606369"/>
              <a:gd name="connsiteX75" fmla="*/ 325167 w 607215"/>
              <a:gd name="connsiteY75" fmla="*/ 561459 h 606369"/>
              <a:gd name="connsiteX76" fmla="*/ 325708 w 607215"/>
              <a:gd name="connsiteY76" fmla="*/ 561382 h 606369"/>
              <a:gd name="connsiteX77" fmla="*/ 487132 w 607215"/>
              <a:gd name="connsiteY77" fmla="*/ 486454 h 606369"/>
              <a:gd name="connsiteX78" fmla="*/ 562165 w 607215"/>
              <a:gd name="connsiteY78" fmla="*/ 325254 h 606369"/>
              <a:gd name="connsiteX79" fmla="*/ 562242 w 607215"/>
              <a:gd name="connsiteY79" fmla="*/ 324714 h 606369"/>
              <a:gd name="connsiteX80" fmla="*/ 460087 w 607215"/>
              <a:gd name="connsiteY80" fmla="*/ 324714 h 606369"/>
              <a:gd name="connsiteX81" fmla="*/ 438527 w 607215"/>
              <a:gd name="connsiteY81" fmla="*/ 303185 h 606369"/>
              <a:gd name="connsiteX82" fmla="*/ 460087 w 607215"/>
              <a:gd name="connsiteY82" fmla="*/ 281655 h 606369"/>
              <a:gd name="connsiteX83" fmla="*/ 562242 w 607215"/>
              <a:gd name="connsiteY83" fmla="*/ 281655 h 606369"/>
              <a:gd name="connsiteX84" fmla="*/ 562165 w 607215"/>
              <a:gd name="connsiteY84" fmla="*/ 281115 h 606369"/>
              <a:gd name="connsiteX85" fmla="*/ 487132 w 607215"/>
              <a:gd name="connsiteY85" fmla="*/ 119993 h 606369"/>
              <a:gd name="connsiteX86" fmla="*/ 325708 w 607215"/>
              <a:gd name="connsiteY86" fmla="*/ 44987 h 606369"/>
              <a:gd name="connsiteX87" fmla="*/ 325167 w 607215"/>
              <a:gd name="connsiteY87" fmla="*/ 44987 h 606369"/>
              <a:gd name="connsiteX88" fmla="*/ 325167 w 607215"/>
              <a:gd name="connsiteY88" fmla="*/ 146923 h 606369"/>
              <a:gd name="connsiteX89" fmla="*/ 303608 w 607215"/>
              <a:gd name="connsiteY89" fmla="*/ 168453 h 606369"/>
              <a:gd name="connsiteX90" fmla="*/ 282048 w 607215"/>
              <a:gd name="connsiteY90" fmla="*/ 146923 h 606369"/>
              <a:gd name="connsiteX91" fmla="*/ 282048 w 607215"/>
              <a:gd name="connsiteY91" fmla="*/ 44987 h 606369"/>
              <a:gd name="connsiteX92" fmla="*/ 303608 w 607215"/>
              <a:gd name="connsiteY92" fmla="*/ 1003 h 606369"/>
              <a:gd name="connsiteX93" fmla="*/ 421450 w 607215"/>
              <a:gd name="connsiteY93" fmla="*/ 24770 h 606369"/>
              <a:gd name="connsiteX94" fmla="*/ 517578 w 607215"/>
              <a:gd name="connsiteY94" fmla="*/ 89512 h 606369"/>
              <a:gd name="connsiteX95" fmla="*/ 582410 w 607215"/>
              <a:gd name="connsiteY95" fmla="*/ 185584 h 606369"/>
              <a:gd name="connsiteX96" fmla="*/ 606211 w 607215"/>
              <a:gd name="connsiteY96" fmla="*/ 303185 h 606369"/>
              <a:gd name="connsiteX97" fmla="*/ 582410 w 607215"/>
              <a:gd name="connsiteY97" fmla="*/ 420863 h 606369"/>
              <a:gd name="connsiteX98" fmla="*/ 517578 w 607215"/>
              <a:gd name="connsiteY98" fmla="*/ 516857 h 606369"/>
              <a:gd name="connsiteX99" fmla="*/ 421450 w 607215"/>
              <a:gd name="connsiteY99" fmla="*/ 581599 h 606369"/>
              <a:gd name="connsiteX100" fmla="*/ 303608 w 607215"/>
              <a:gd name="connsiteY100" fmla="*/ 605366 h 606369"/>
              <a:gd name="connsiteX101" fmla="*/ 185842 w 607215"/>
              <a:gd name="connsiteY101" fmla="*/ 581599 h 606369"/>
              <a:gd name="connsiteX102" fmla="*/ 89637 w 607215"/>
              <a:gd name="connsiteY102" fmla="*/ 516857 h 606369"/>
              <a:gd name="connsiteX103" fmla="*/ 24805 w 607215"/>
              <a:gd name="connsiteY103" fmla="*/ 420863 h 606369"/>
              <a:gd name="connsiteX104" fmla="*/ 1004 w 607215"/>
              <a:gd name="connsiteY104" fmla="*/ 303185 h 606369"/>
              <a:gd name="connsiteX105" fmla="*/ 24805 w 607215"/>
              <a:gd name="connsiteY105" fmla="*/ 185584 h 606369"/>
              <a:gd name="connsiteX106" fmla="*/ 89637 w 607215"/>
              <a:gd name="connsiteY106" fmla="*/ 89512 h 606369"/>
              <a:gd name="connsiteX107" fmla="*/ 185842 w 607215"/>
              <a:gd name="connsiteY107" fmla="*/ 24770 h 606369"/>
              <a:gd name="connsiteX108" fmla="*/ 303608 w 607215"/>
              <a:gd name="connsiteY108" fmla="*/ 1003 h 606369"/>
              <a:gd name="connsiteX109" fmla="*/ 303640 w 607215"/>
              <a:gd name="connsiteY109" fmla="*/ 565 h 606369"/>
              <a:gd name="connsiteX110" fmla="*/ 185640 w 607215"/>
              <a:gd name="connsiteY110" fmla="*/ 24330 h 606369"/>
              <a:gd name="connsiteX111" fmla="*/ 89354 w 607215"/>
              <a:gd name="connsiteY111" fmla="*/ 89220 h 606369"/>
              <a:gd name="connsiteX112" fmla="*/ 24366 w 607215"/>
              <a:gd name="connsiteY112" fmla="*/ 185360 h 606369"/>
              <a:gd name="connsiteX113" fmla="*/ 565 w 607215"/>
              <a:gd name="connsiteY113" fmla="*/ 303182 h 606369"/>
              <a:gd name="connsiteX114" fmla="*/ 24366 w 607215"/>
              <a:gd name="connsiteY114" fmla="*/ 421004 h 606369"/>
              <a:gd name="connsiteX115" fmla="*/ 89354 w 607215"/>
              <a:gd name="connsiteY115" fmla="*/ 517221 h 606369"/>
              <a:gd name="connsiteX116" fmla="*/ 185640 w 607215"/>
              <a:gd name="connsiteY116" fmla="*/ 582034 h 606369"/>
              <a:gd name="connsiteX117" fmla="*/ 303640 w 607215"/>
              <a:gd name="connsiteY117" fmla="*/ 605876 h 606369"/>
              <a:gd name="connsiteX118" fmla="*/ 421640 w 607215"/>
              <a:gd name="connsiteY118" fmla="*/ 582034 h 606369"/>
              <a:gd name="connsiteX119" fmla="*/ 518003 w 607215"/>
              <a:gd name="connsiteY119" fmla="*/ 517221 h 606369"/>
              <a:gd name="connsiteX120" fmla="*/ 582914 w 607215"/>
              <a:gd name="connsiteY120" fmla="*/ 421004 h 606369"/>
              <a:gd name="connsiteX121" fmla="*/ 606792 w 607215"/>
              <a:gd name="connsiteY121" fmla="*/ 303182 h 606369"/>
              <a:gd name="connsiteX122" fmla="*/ 582914 w 607215"/>
              <a:gd name="connsiteY122" fmla="*/ 185360 h 606369"/>
              <a:gd name="connsiteX123" fmla="*/ 518003 w 607215"/>
              <a:gd name="connsiteY123" fmla="*/ 89220 h 606369"/>
              <a:gd name="connsiteX124" fmla="*/ 421640 w 607215"/>
              <a:gd name="connsiteY124" fmla="*/ 24330 h 606369"/>
              <a:gd name="connsiteX125" fmla="*/ 303640 w 607215"/>
              <a:gd name="connsiteY125" fmla="*/ 565 h 606369"/>
              <a:gd name="connsiteX126" fmla="*/ 303608 w 607215"/>
              <a:gd name="connsiteY126" fmla="*/ 0 h 606369"/>
              <a:gd name="connsiteX127" fmla="*/ 421836 w 607215"/>
              <a:gd name="connsiteY127" fmla="*/ 23844 h 606369"/>
              <a:gd name="connsiteX128" fmla="*/ 518351 w 607215"/>
              <a:gd name="connsiteY128" fmla="*/ 88818 h 606369"/>
              <a:gd name="connsiteX129" fmla="*/ 583338 w 607215"/>
              <a:gd name="connsiteY129" fmla="*/ 185198 h 606369"/>
              <a:gd name="connsiteX130" fmla="*/ 607215 w 607215"/>
              <a:gd name="connsiteY130" fmla="*/ 303185 h 606369"/>
              <a:gd name="connsiteX131" fmla="*/ 583338 w 607215"/>
              <a:gd name="connsiteY131" fmla="*/ 421248 h 606369"/>
              <a:gd name="connsiteX132" fmla="*/ 518351 w 607215"/>
              <a:gd name="connsiteY132" fmla="*/ 517629 h 606369"/>
              <a:gd name="connsiteX133" fmla="*/ 421836 w 607215"/>
              <a:gd name="connsiteY133" fmla="*/ 582525 h 606369"/>
              <a:gd name="connsiteX134" fmla="*/ 303608 w 607215"/>
              <a:gd name="connsiteY134" fmla="*/ 606369 h 606369"/>
              <a:gd name="connsiteX135" fmla="*/ 185456 w 607215"/>
              <a:gd name="connsiteY135" fmla="*/ 582525 h 606369"/>
              <a:gd name="connsiteX136" fmla="*/ 88942 w 607215"/>
              <a:gd name="connsiteY136" fmla="*/ 517629 h 606369"/>
              <a:gd name="connsiteX137" fmla="*/ 23877 w 607215"/>
              <a:gd name="connsiteY137" fmla="*/ 421248 h 606369"/>
              <a:gd name="connsiteX138" fmla="*/ 0 w 607215"/>
              <a:gd name="connsiteY138" fmla="*/ 303185 h 606369"/>
              <a:gd name="connsiteX139" fmla="*/ 23877 w 607215"/>
              <a:gd name="connsiteY139" fmla="*/ 185198 h 606369"/>
              <a:gd name="connsiteX140" fmla="*/ 88942 w 607215"/>
              <a:gd name="connsiteY140" fmla="*/ 88818 h 606369"/>
              <a:gd name="connsiteX141" fmla="*/ 185456 w 607215"/>
              <a:gd name="connsiteY141" fmla="*/ 23844 h 606369"/>
              <a:gd name="connsiteX142" fmla="*/ 303608 w 607215"/>
              <a:gd name="connsiteY142" fmla="*/ 0 h 6063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Lst>
            <a:rect l="l" t="t" r="r" b="b"/>
            <a:pathLst>
              <a:path w="607215" h="606369">
                <a:moveTo>
                  <a:pt x="303643" y="280873"/>
                </a:moveTo>
                <a:cubicBezTo>
                  <a:pt x="315552" y="280873"/>
                  <a:pt x="325219" y="290523"/>
                  <a:pt x="325219" y="302335"/>
                </a:cubicBezTo>
                <a:cubicBezTo>
                  <a:pt x="325219" y="314223"/>
                  <a:pt x="315552" y="323873"/>
                  <a:pt x="303643" y="323873"/>
                </a:cubicBezTo>
                <a:cubicBezTo>
                  <a:pt x="291734" y="323873"/>
                  <a:pt x="282068" y="314223"/>
                  <a:pt x="282068" y="302335"/>
                </a:cubicBezTo>
                <a:cubicBezTo>
                  <a:pt x="282068" y="290523"/>
                  <a:pt x="291734" y="280873"/>
                  <a:pt x="303643" y="280873"/>
                </a:cubicBezTo>
                <a:close/>
                <a:moveTo>
                  <a:pt x="303678" y="280357"/>
                </a:moveTo>
                <a:cubicBezTo>
                  <a:pt x="291499" y="280357"/>
                  <a:pt x="281626" y="290214"/>
                  <a:pt x="281626" y="302374"/>
                </a:cubicBezTo>
                <a:cubicBezTo>
                  <a:pt x="281626" y="314534"/>
                  <a:pt x="291499" y="324391"/>
                  <a:pt x="303678" y="324391"/>
                </a:cubicBezTo>
                <a:cubicBezTo>
                  <a:pt x="315857" y="324391"/>
                  <a:pt x="325730" y="314534"/>
                  <a:pt x="325730" y="302374"/>
                </a:cubicBezTo>
                <a:cubicBezTo>
                  <a:pt x="325730" y="290214"/>
                  <a:pt x="315857" y="280357"/>
                  <a:pt x="303678" y="280357"/>
                </a:cubicBezTo>
                <a:close/>
                <a:moveTo>
                  <a:pt x="303643" y="279792"/>
                </a:moveTo>
                <a:cubicBezTo>
                  <a:pt x="316094" y="279792"/>
                  <a:pt x="326224" y="289905"/>
                  <a:pt x="326224" y="302335"/>
                </a:cubicBezTo>
                <a:cubicBezTo>
                  <a:pt x="326224" y="314841"/>
                  <a:pt x="316094" y="324954"/>
                  <a:pt x="303643" y="324954"/>
                </a:cubicBezTo>
                <a:cubicBezTo>
                  <a:pt x="291193" y="324954"/>
                  <a:pt x="281062" y="314841"/>
                  <a:pt x="281062" y="302335"/>
                </a:cubicBezTo>
                <a:cubicBezTo>
                  <a:pt x="281062" y="289905"/>
                  <a:pt x="291193" y="279792"/>
                  <a:pt x="303643" y="279792"/>
                </a:cubicBezTo>
                <a:close/>
                <a:moveTo>
                  <a:pt x="281043" y="46068"/>
                </a:moveTo>
                <a:cubicBezTo>
                  <a:pt x="220693" y="51315"/>
                  <a:pt x="163820" y="77783"/>
                  <a:pt x="120855" y="120687"/>
                </a:cubicBezTo>
                <a:cubicBezTo>
                  <a:pt x="77891" y="163591"/>
                  <a:pt x="51387" y="220385"/>
                  <a:pt x="46132" y="280652"/>
                </a:cubicBezTo>
                <a:lnTo>
                  <a:pt x="147128" y="280652"/>
                </a:lnTo>
                <a:cubicBezTo>
                  <a:pt x="159647" y="280652"/>
                  <a:pt x="169770" y="290761"/>
                  <a:pt x="169770" y="303185"/>
                </a:cubicBezTo>
                <a:cubicBezTo>
                  <a:pt x="169770" y="315608"/>
                  <a:pt x="159647" y="325717"/>
                  <a:pt x="147128" y="325717"/>
                </a:cubicBezTo>
                <a:lnTo>
                  <a:pt x="46132" y="325717"/>
                </a:lnTo>
                <a:cubicBezTo>
                  <a:pt x="51387" y="385984"/>
                  <a:pt x="77891" y="442778"/>
                  <a:pt x="120855" y="485682"/>
                </a:cubicBezTo>
                <a:cubicBezTo>
                  <a:pt x="163820" y="528586"/>
                  <a:pt x="220693" y="555131"/>
                  <a:pt x="281043" y="560301"/>
                </a:cubicBezTo>
                <a:lnTo>
                  <a:pt x="281043" y="459446"/>
                </a:lnTo>
                <a:cubicBezTo>
                  <a:pt x="281043" y="447022"/>
                  <a:pt x="291167" y="436913"/>
                  <a:pt x="303608" y="436913"/>
                </a:cubicBezTo>
                <a:cubicBezTo>
                  <a:pt x="316049" y="436913"/>
                  <a:pt x="326172" y="447022"/>
                  <a:pt x="326172" y="459446"/>
                </a:cubicBezTo>
                <a:lnTo>
                  <a:pt x="326172" y="560301"/>
                </a:lnTo>
                <a:cubicBezTo>
                  <a:pt x="386522" y="555131"/>
                  <a:pt x="443395" y="528586"/>
                  <a:pt x="486360" y="485682"/>
                </a:cubicBezTo>
                <a:cubicBezTo>
                  <a:pt x="529324" y="442778"/>
                  <a:pt x="555906" y="385984"/>
                  <a:pt x="561083" y="325717"/>
                </a:cubicBezTo>
                <a:lnTo>
                  <a:pt x="460087" y="325717"/>
                </a:lnTo>
                <a:cubicBezTo>
                  <a:pt x="447645" y="325717"/>
                  <a:pt x="437523" y="315608"/>
                  <a:pt x="437523" y="303185"/>
                </a:cubicBezTo>
                <a:cubicBezTo>
                  <a:pt x="437523" y="290761"/>
                  <a:pt x="447645" y="280652"/>
                  <a:pt x="460087" y="280652"/>
                </a:cubicBezTo>
                <a:lnTo>
                  <a:pt x="561083" y="280652"/>
                </a:lnTo>
                <a:cubicBezTo>
                  <a:pt x="555906" y="220385"/>
                  <a:pt x="529324" y="163591"/>
                  <a:pt x="486360" y="120687"/>
                </a:cubicBezTo>
                <a:cubicBezTo>
                  <a:pt x="443395" y="77783"/>
                  <a:pt x="386522" y="51315"/>
                  <a:pt x="326172" y="46068"/>
                </a:cubicBezTo>
                <a:lnTo>
                  <a:pt x="326172" y="146923"/>
                </a:lnTo>
                <a:cubicBezTo>
                  <a:pt x="326172" y="159424"/>
                  <a:pt x="316049" y="169533"/>
                  <a:pt x="303608" y="169533"/>
                </a:cubicBezTo>
                <a:cubicBezTo>
                  <a:pt x="291167" y="169533"/>
                  <a:pt x="281043" y="159424"/>
                  <a:pt x="281043" y="146923"/>
                </a:cubicBezTo>
                <a:close/>
                <a:moveTo>
                  <a:pt x="281617" y="45548"/>
                </a:moveTo>
                <a:lnTo>
                  <a:pt x="281617" y="146935"/>
                </a:lnTo>
                <a:cubicBezTo>
                  <a:pt x="281617" y="159126"/>
                  <a:pt x="291431" y="169002"/>
                  <a:pt x="303640" y="169002"/>
                </a:cubicBezTo>
                <a:cubicBezTo>
                  <a:pt x="315850" y="169002"/>
                  <a:pt x="325741" y="159126"/>
                  <a:pt x="325741" y="146935"/>
                </a:cubicBezTo>
                <a:lnTo>
                  <a:pt x="325741" y="45548"/>
                </a:lnTo>
                <a:cubicBezTo>
                  <a:pt x="451159" y="56119"/>
                  <a:pt x="551077" y="155963"/>
                  <a:pt x="561663" y="281192"/>
                </a:cubicBezTo>
                <a:lnTo>
                  <a:pt x="460123" y="281192"/>
                </a:lnTo>
                <a:cubicBezTo>
                  <a:pt x="447914" y="281192"/>
                  <a:pt x="438022" y="290991"/>
                  <a:pt x="438022" y="303182"/>
                </a:cubicBezTo>
                <a:cubicBezTo>
                  <a:pt x="438022" y="315373"/>
                  <a:pt x="447914" y="325250"/>
                  <a:pt x="460123" y="325250"/>
                </a:cubicBezTo>
                <a:lnTo>
                  <a:pt x="561663" y="325250"/>
                </a:lnTo>
                <a:cubicBezTo>
                  <a:pt x="551077" y="450478"/>
                  <a:pt x="451159" y="550245"/>
                  <a:pt x="325741" y="560815"/>
                </a:cubicBezTo>
                <a:lnTo>
                  <a:pt x="325741" y="459429"/>
                </a:lnTo>
                <a:cubicBezTo>
                  <a:pt x="325741" y="447238"/>
                  <a:pt x="315850" y="437361"/>
                  <a:pt x="303640" y="437361"/>
                </a:cubicBezTo>
                <a:cubicBezTo>
                  <a:pt x="291431" y="437361"/>
                  <a:pt x="281617" y="447238"/>
                  <a:pt x="281617" y="459429"/>
                </a:cubicBezTo>
                <a:lnTo>
                  <a:pt x="281617" y="560815"/>
                </a:lnTo>
                <a:cubicBezTo>
                  <a:pt x="156198" y="550245"/>
                  <a:pt x="56203" y="450478"/>
                  <a:pt x="45616" y="325250"/>
                </a:cubicBezTo>
                <a:lnTo>
                  <a:pt x="147157" y="325250"/>
                </a:lnTo>
                <a:cubicBezTo>
                  <a:pt x="159366" y="325250"/>
                  <a:pt x="169257" y="315373"/>
                  <a:pt x="169257" y="303182"/>
                </a:cubicBezTo>
                <a:cubicBezTo>
                  <a:pt x="169257" y="290991"/>
                  <a:pt x="159366" y="281192"/>
                  <a:pt x="147157" y="281192"/>
                </a:cubicBezTo>
                <a:lnTo>
                  <a:pt x="45616" y="281192"/>
                </a:lnTo>
                <a:cubicBezTo>
                  <a:pt x="56203" y="155963"/>
                  <a:pt x="156198" y="56119"/>
                  <a:pt x="281617" y="45548"/>
                </a:cubicBezTo>
                <a:close/>
                <a:moveTo>
                  <a:pt x="281508" y="44987"/>
                </a:moveTo>
                <a:cubicBezTo>
                  <a:pt x="220693" y="50158"/>
                  <a:pt x="163433" y="76780"/>
                  <a:pt x="120160" y="119993"/>
                </a:cubicBezTo>
                <a:cubicBezTo>
                  <a:pt x="76887" y="163205"/>
                  <a:pt x="50228" y="220385"/>
                  <a:pt x="45050" y="281115"/>
                </a:cubicBezTo>
                <a:lnTo>
                  <a:pt x="45050" y="281655"/>
                </a:lnTo>
                <a:lnTo>
                  <a:pt x="147128" y="281655"/>
                </a:lnTo>
                <a:cubicBezTo>
                  <a:pt x="159029" y="281655"/>
                  <a:pt x="168688" y="291301"/>
                  <a:pt x="168688" y="303185"/>
                </a:cubicBezTo>
                <a:cubicBezTo>
                  <a:pt x="168688" y="315068"/>
                  <a:pt x="159029" y="324714"/>
                  <a:pt x="147128" y="324714"/>
                </a:cubicBezTo>
                <a:lnTo>
                  <a:pt x="45050" y="324714"/>
                </a:lnTo>
                <a:lnTo>
                  <a:pt x="45050" y="325254"/>
                </a:lnTo>
                <a:cubicBezTo>
                  <a:pt x="50228" y="385984"/>
                  <a:pt x="76887" y="443241"/>
                  <a:pt x="120160" y="486454"/>
                </a:cubicBezTo>
                <a:cubicBezTo>
                  <a:pt x="163433" y="529666"/>
                  <a:pt x="220693" y="556289"/>
                  <a:pt x="281508" y="561382"/>
                </a:cubicBezTo>
                <a:lnTo>
                  <a:pt x="282048" y="561459"/>
                </a:lnTo>
                <a:lnTo>
                  <a:pt x="282048" y="459446"/>
                </a:lnTo>
                <a:cubicBezTo>
                  <a:pt x="282048" y="447562"/>
                  <a:pt x="291708" y="437916"/>
                  <a:pt x="303608" y="437916"/>
                </a:cubicBezTo>
                <a:cubicBezTo>
                  <a:pt x="315508" y="437916"/>
                  <a:pt x="325167" y="447562"/>
                  <a:pt x="325167" y="459446"/>
                </a:cubicBezTo>
                <a:lnTo>
                  <a:pt x="325167" y="561459"/>
                </a:lnTo>
                <a:lnTo>
                  <a:pt x="325708" y="561382"/>
                </a:lnTo>
                <a:cubicBezTo>
                  <a:pt x="386522" y="556289"/>
                  <a:pt x="443859" y="529666"/>
                  <a:pt x="487132" y="486454"/>
                </a:cubicBezTo>
                <a:cubicBezTo>
                  <a:pt x="530405" y="443241"/>
                  <a:pt x="557065" y="385984"/>
                  <a:pt x="562165" y="325254"/>
                </a:cubicBezTo>
                <a:lnTo>
                  <a:pt x="562242" y="324714"/>
                </a:lnTo>
                <a:lnTo>
                  <a:pt x="460087" y="324714"/>
                </a:lnTo>
                <a:cubicBezTo>
                  <a:pt x="448186" y="324714"/>
                  <a:pt x="438527" y="315068"/>
                  <a:pt x="438527" y="303185"/>
                </a:cubicBezTo>
                <a:cubicBezTo>
                  <a:pt x="438527" y="291301"/>
                  <a:pt x="448186" y="281655"/>
                  <a:pt x="460087" y="281655"/>
                </a:cubicBezTo>
                <a:lnTo>
                  <a:pt x="562242" y="281655"/>
                </a:lnTo>
                <a:lnTo>
                  <a:pt x="562165" y="281115"/>
                </a:lnTo>
                <a:cubicBezTo>
                  <a:pt x="557065" y="220385"/>
                  <a:pt x="530405" y="163205"/>
                  <a:pt x="487132" y="119993"/>
                </a:cubicBezTo>
                <a:cubicBezTo>
                  <a:pt x="443859" y="76780"/>
                  <a:pt x="386522" y="50158"/>
                  <a:pt x="325708" y="44987"/>
                </a:cubicBezTo>
                <a:lnTo>
                  <a:pt x="325167" y="44987"/>
                </a:lnTo>
                <a:lnTo>
                  <a:pt x="325167" y="146923"/>
                </a:lnTo>
                <a:cubicBezTo>
                  <a:pt x="325167" y="158807"/>
                  <a:pt x="315508" y="168453"/>
                  <a:pt x="303608" y="168453"/>
                </a:cubicBezTo>
                <a:cubicBezTo>
                  <a:pt x="291708" y="168453"/>
                  <a:pt x="282048" y="158807"/>
                  <a:pt x="282048" y="146923"/>
                </a:cubicBezTo>
                <a:lnTo>
                  <a:pt x="282048" y="44987"/>
                </a:lnTo>
                <a:close/>
                <a:moveTo>
                  <a:pt x="303608" y="1003"/>
                </a:moveTo>
                <a:cubicBezTo>
                  <a:pt x="344485" y="1003"/>
                  <a:pt x="384049" y="9028"/>
                  <a:pt x="421450" y="24770"/>
                </a:cubicBezTo>
                <a:cubicBezTo>
                  <a:pt x="457459" y="40049"/>
                  <a:pt x="489837" y="61810"/>
                  <a:pt x="517578" y="89512"/>
                </a:cubicBezTo>
                <a:cubicBezTo>
                  <a:pt x="545396" y="117292"/>
                  <a:pt x="567188" y="149547"/>
                  <a:pt x="582410" y="185584"/>
                </a:cubicBezTo>
                <a:cubicBezTo>
                  <a:pt x="598174" y="222855"/>
                  <a:pt x="606211" y="262441"/>
                  <a:pt x="606211" y="303185"/>
                </a:cubicBezTo>
                <a:cubicBezTo>
                  <a:pt x="606211" y="344005"/>
                  <a:pt x="598174" y="383514"/>
                  <a:pt x="582410" y="420863"/>
                </a:cubicBezTo>
                <a:cubicBezTo>
                  <a:pt x="567188" y="456822"/>
                  <a:pt x="545396" y="489154"/>
                  <a:pt x="517578" y="516857"/>
                </a:cubicBezTo>
                <a:cubicBezTo>
                  <a:pt x="489837" y="544637"/>
                  <a:pt x="457459" y="566397"/>
                  <a:pt x="421450" y="581599"/>
                </a:cubicBezTo>
                <a:cubicBezTo>
                  <a:pt x="384049" y="597341"/>
                  <a:pt x="344485" y="605366"/>
                  <a:pt x="303608" y="605366"/>
                </a:cubicBezTo>
                <a:cubicBezTo>
                  <a:pt x="262807" y="605366"/>
                  <a:pt x="223166" y="597341"/>
                  <a:pt x="185842" y="581599"/>
                </a:cubicBezTo>
                <a:cubicBezTo>
                  <a:pt x="149756" y="566397"/>
                  <a:pt x="117455" y="544637"/>
                  <a:pt x="89637" y="516857"/>
                </a:cubicBezTo>
                <a:cubicBezTo>
                  <a:pt x="61896" y="489154"/>
                  <a:pt x="40105" y="456822"/>
                  <a:pt x="24805" y="420863"/>
                </a:cubicBezTo>
                <a:cubicBezTo>
                  <a:pt x="9041" y="383514"/>
                  <a:pt x="1004" y="344005"/>
                  <a:pt x="1004" y="303185"/>
                </a:cubicBezTo>
                <a:cubicBezTo>
                  <a:pt x="1004" y="262441"/>
                  <a:pt x="9041" y="222855"/>
                  <a:pt x="24805" y="185584"/>
                </a:cubicBezTo>
                <a:cubicBezTo>
                  <a:pt x="40105" y="149547"/>
                  <a:pt x="61896" y="117292"/>
                  <a:pt x="89637" y="89512"/>
                </a:cubicBezTo>
                <a:cubicBezTo>
                  <a:pt x="117455" y="61810"/>
                  <a:pt x="149756" y="40049"/>
                  <a:pt x="185842" y="24770"/>
                </a:cubicBezTo>
                <a:cubicBezTo>
                  <a:pt x="223166" y="9028"/>
                  <a:pt x="262807" y="1003"/>
                  <a:pt x="303608" y="1003"/>
                </a:cubicBezTo>
                <a:close/>
                <a:moveTo>
                  <a:pt x="303640" y="565"/>
                </a:moveTo>
                <a:cubicBezTo>
                  <a:pt x="262761" y="565"/>
                  <a:pt x="223041" y="8512"/>
                  <a:pt x="185640" y="24330"/>
                </a:cubicBezTo>
                <a:cubicBezTo>
                  <a:pt x="149552" y="39607"/>
                  <a:pt x="117174" y="61366"/>
                  <a:pt x="89354" y="89220"/>
                </a:cubicBezTo>
                <a:cubicBezTo>
                  <a:pt x="61458" y="116997"/>
                  <a:pt x="39666" y="149327"/>
                  <a:pt x="24366" y="185360"/>
                </a:cubicBezTo>
                <a:cubicBezTo>
                  <a:pt x="8524" y="222705"/>
                  <a:pt x="565" y="262365"/>
                  <a:pt x="565" y="303182"/>
                </a:cubicBezTo>
                <a:cubicBezTo>
                  <a:pt x="565" y="343999"/>
                  <a:pt x="8524" y="383659"/>
                  <a:pt x="24366" y="421004"/>
                </a:cubicBezTo>
                <a:cubicBezTo>
                  <a:pt x="39666" y="457037"/>
                  <a:pt x="61458" y="489444"/>
                  <a:pt x="89354" y="517221"/>
                </a:cubicBezTo>
                <a:cubicBezTo>
                  <a:pt x="117174" y="544998"/>
                  <a:pt x="149552" y="566834"/>
                  <a:pt x="185640" y="582034"/>
                </a:cubicBezTo>
                <a:cubicBezTo>
                  <a:pt x="223041" y="597852"/>
                  <a:pt x="262761" y="605876"/>
                  <a:pt x="303640" y="605876"/>
                </a:cubicBezTo>
                <a:cubicBezTo>
                  <a:pt x="344596" y="605876"/>
                  <a:pt x="384239" y="597852"/>
                  <a:pt x="421640" y="582034"/>
                </a:cubicBezTo>
                <a:cubicBezTo>
                  <a:pt x="457728" y="566834"/>
                  <a:pt x="490183" y="544998"/>
                  <a:pt x="518003" y="517221"/>
                </a:cubicBezTo>
                <a:cubicBezTo>
                  <a:pt x="545822" y="489444"/>
                  <a:pt x="567691" y="457037"/>
                  <a:pt x="582914" y="421004"/>
                </a:cubicBezTo>
                <a:cubicBezTo>
                  <a:pt x="598756" y="383659"/>
                  <a:pt x="606792" y="343999"/>
                  <a:pt x="606792" y="303182"/>
                </a:cubicBezTo>
                <a:cubicBezTo>
                  <a:pt x="606792" y="262365"/>
                  <a:pt x="598756" y="222705"/>
                  <a:pt x="582914" y="185360"/>
                </a:cubicBezTo>
                <a:cubicBezTo>
                  <a:pt x="567691" y="149327"/>
                  <a:pt x="545822" y="116997"/>
                  <a:pt x="518003" y="89220"/>
                </a:cubicBezTo>
                <a:cubicBezTo>
                  <a:pt x="490183" y="61366"/>
                  <a:pt x="457728" y="39607"/>
                  <a:pt x="421640" y="24330"/>
                </a:cubicBezTo>
                <a:cubicBezTo>
                  <a:pt x="384239" y="8512"/>
                  <a:pt x="344519" y="565"/>
                  <a:pt x="303640" y="565"/>
                </a:cubicBezTo>
                <a:close/>
                <a:moveTo>
                  <a:pt x="303608" y="0"/>
                </a:moveTo>
                <a:cubicBezTo>
                  <a:pt x="344563" y="0"/>
                  <a:pt x="384359" y="8025"/>
                  <a:pt x="421836" y="23844"/>
                </a:cubicBezTo>
                <a:cubicBezTo>
                  <a:pt x="458000" y="39123"/>
                  <a:pt x="490455" y="60961"/>
                  <a:pt x="518351" y="88818"/>
                </a:cubicBezTo>
                <a:cubicBezTo>
                  <a:pt x="546169" y="116674"/>
                  <a:pt x="568038" y="149084"/>
                  <a:pt x="583338" y="185198"/>
                </a:cubicBezTo>
                <a:cubicBezTo>
                  <a:pt x="599179" y="222546"/>
                  <a:pt x="607215" y="262286"/>
                  <a:pt x="607215" y="303185"/>
                </a:cubicBezTo>
                <a:cubicBezTo>
                  <a:pt x="607215" y="344083"/>
                  <a:pt x="599179" y="383823"/>
                  <a:pt x="583338" y="421248"/>
                </a:cubicBezTo>
                <a:cubicBezTo>
                  <a:pt x="568038" y="457362"/>
                  <a:pt x="546169" y="489772"/>
                  <a:pt x="518351" y="517629"/>
                </a:cubicBezTo>
                <a:cubicBezTo>
                  <a:pt x="490455" y="545408"/>
                  <a:pt x="458000" y="567246"/>
                  <a:pt x="421836" y="582525"/>
                </a:cubicBezTo>
                <a:cubicBezTo>
                  <a:pt x="384359" y="598344"/>
                  <a:pt x="344563" y="606369"/>
                  <a:pt x="303608" y="606369"/>
                </a:cubicBezTo>
                <a:cubicBezTo>
                  <a:pt x="262652" y="606369"/>
                  <a:pt x="222856" y="598344"/>
                  <a:pt x="185456" y="582525"/>
                </a:cubicBezTo>
                <a:cubicBezTo>
                  <a:pt x="149292" y="567246"/>
                  <a:pt x="116760" y="545408"/>
                  <a:pt x="88942" y="517629"/>
                </a:cubicBezTo>
                <a:cubicBezTo>
                  <a:pt x="61046" y="489772"/>
                  <a:pt x="39177" y="457362"/>
                  <a:pt x="23877" y="421248"/>
                </a:cubicBezTo>
                <a:cubicBezTo>
                  <a:pt x="8036" y="383823"/>
                  <a:pt x="0" y="344083"/>
                  <a:pt x="0" y="303185"/>
                </a:cubicBezTo>
                <a:cubicBezTo>
                  <a:pt x="0" y="262286"/>
                  <a:pt x="8036" y="222546"/>
                  <a:pt x="23877" y="185198"/>
                </a:cubicBezTo>
                <a:cubicBezTo>
                  <a:pt x="39177" y="149084"/>
                  <a:pt x="61046" y="116674"/>
                  <a:pt x="88942" y="88818"/>
                </a:cubicBezTo>
                <a:cubicBezTo>
                  <a:pt x="116760" y="60961"/>
                  <a:pt x="149292" y="39123"/>
                  <a:pt x="185456" y="23844"/>
                </a:cubicBezTo>
                <a:cubicBezTo>
                  <a:pt x="222856" y="8025"/>
                  <a:pt x="262652" y="0"/>
                  <a:pt x="303608"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dirty="0"/>
          </a:p>
        </p:txBody>
      </p:sp>
      <p:sp>
        <p:nvSpPr>
          <p:cNvPr id="142" name="文本框 141">
            <a:extLst>
              <a:ext uri="{FF2B5EF4-FFF2-40B4-BE49-F238E27FC236}">
                <a16:creationId xmlns:a16="http://schemas.microsoft.com/office/drawing/2014/main" id="{ED94338F-B4A7-47EC-A46E-8D722AEA9880}"/>
              </a:ext>
            </a:extLst>
          </p:cNvPr>
          <p:cNvSpPr txBox="1"/>
          <p:nvPr/>
        </p:nvSpPr>
        <p:spPr>
          <a:xfrm>
            <a:off x="373082" y="2808021"/>
            <a:ext cx="1660612" cy="338554"/>
          </a:xfrm>
          <a:prstGeom prst="rect">
            <a:avLst/>
          </a:prstGeom>
          <a:noFill/>
        </p:spPr>
        <p:txBody>
          <a:bodyPr wrap="square" rtlCol="0">
            <a:spAutoFit/>
          </a:bodyPr>
          <a:lstStyle/>
          <a:p>
            <a:r>
              <a:rPr lang="zh-CN" altLang="en-US" sz="1600" dirty="0">
                <a:solidFill>
                  <a:schemeClr val="bg1"/>
                </a:solidFill>
                <a:latin typeface="思源黑体 CN Regular" panose="020B0500000000000000" pitchFamily="34" charset="-122"/>
                <a:ea typeface="思源黑体 CN Regular" panose="020B0500000000000000" pitchFamily="34" charset="-122"/>
              </a:rPr>
              <a:t>研究目标和内容</a:t>
            </a:r>
          </a:p>
        </p:txBody>
      </p:sp>
      <p:sp>
        <p:nvSpPr>
          <p:cNvPr id="143" name="任意矩形：003">
            <a:extLst>
              <a:ext uri="{FF2B5EF4-FFF2-40B4-BE49-F238E27FC236}">
                <a16:creationId xmlns:a16="http://schemas.microsoft.com/office/drawing/2014/main" id="{95EEF4D1-9DD9-4E29-893C-4A67E564A78C}"/>
              </a:ext>
            </a:extLst>
          </p:cNvPr>
          <p:cNvSpPr/>
          <p:nvPr/>
        </p:nvSpPr>
        <p:spPr>
          <a:xfrm rot="10800000" flipH="1" flipV="1">
            <a:off x="145020" y="3571293"/>
            <a:ext cx="199667" cy="199477"/>
          </a:xfrm>
          <a:custGeom>
            <a:avLst/>
            <a:gdLst>
              <a:gd name="connsiteX0" fmla="*/ 320200 w 604886"/>
              <a:gd name="connsiteY0" fmla="*/ 166778 h 604313"/>
              <a:gd name="connsiteX1" fmla="*/ 338200 w 604886"/>
              <a:gd name="connsiteY1" fmla="*/ 168153 h 604313"/>
              <a:gd name="connsiteX2" fmla="*/ 394904 w 604886"/>
              <a:gd name="connsiteY2" fmla="*/ 210003 h 604313"/>
              <a:gd name="connsiteX3" fmla="*/ 448997 w 604886"/>
              <a:gd name="connsiteY3" fmla="*/ 297466 h 604313"/>
              <a:gd name="connsiteX4" fmla="*/ 433479 w 604886"/>
              <a:gd name="connsiteY4" fmla="*/ 381599 h 604313"/>
              <a:gd name="connsiteX5" fmla="*/ 230304 w 604886"/>
              <a:gd name="connsiteY5" fmla="*/ 584474 h 604313"/>
              <a:gd name="connsiteX6" fmla="*/ 177952 w 604886"/>
              <a:gd name="connsiteY6" fmla="*/ 604313 h 604313"/>
              <a:gd name="connsiteX7" fmla="*/ 58454 w 604886"/>
              <a:gd name="connsiteY7" fmla="*/ 545956 h 604313"/>
              <a:gd name="connsiteX8" fmla="*/ 19733 w 604886"/>
              <a:gd name="connsiteY8" fmla="*/ 374359 h 604313"/>
              <a:gd name="connsiteX9" fmla="*/ 93549 w 604886"/>
              <a:gd name="connsiteY9" fmla="*/ 300652 h 604313"/>
              <a:gd name="connsiteX10" fmla="*/ 127049 w 604886"/>
              <a:gd name="connsiteY10" fmla="*/ 300652 h 604313"/>
              <a:gd name="connsiteX11" fmla="*/ 127049 w 604886"/>
              <a:gd name="connsiteY11" fmla="*/ 333958 h 604313"/>
              <a:gd name="connsiteX12" fmla="*/ 53233 w 604886"/>
              <a:gd name="connsiteY12" fmla="*/ 407665 h 604313"/>
              <a:gd name="connsiteX13" fmla="*/ 91809 w 604886"/>
              <a:gd name="connsiteY13" fmla="*/ 512650 h 604313"/>
              <a:gd name="connsiteX14" fmla="*/ 196950 w 604886"/>
              <a:gd name="connsiteY14" fmla="*/ 551169 h 604313"/>
              <a:gd name="connsiteX15" fmla="*/ 400124 w 604886"/>
              <a:gd name="connsiteY15" fmla="*/ 348294 h 604313"/>
              <a:gd name="connsiteX16" fmla="*/ 403460 w 604886"/>
              <a:gd name="connsiteY16" fmla="*/ 310065 h 604313"/>
              <a:gd name="connsiteX17" fmla="*/ 361549 w 604886"/>
              <a:gd name="connsiteY17" fmla="*/ 243308 h 604313"/>
              <a:gd name="connsiteX18" fmla="*/ 316737 w 604886"/>
              <a:gd name="connsiteY18" fmla="*/ 210147 h 604313"/>
              <a:gd name="connsiteX19" fmla="*/ 306441 w 604886"/>
              <a:gd name="connsiteY19" fmla="*/ 178435 h 604313"/>
              <a:gd name="connsiteX20" fmla="*/ 320200 w 604886"/>
              <a:gd name="connsiteY20" fmla="*/ 166778 h 604313"/>
              <a:gd name="connsiteX21" fmla="*/ 411085 w 604886"/>
              <a:gd name="connsiteY21" fmla="*/ 1388 h 604313"/>
              <a:gd name="connsiteX22" fmla="*/ 458862 w 604886"/>
              <a:gd name="connsiteY22" fmla="*/ 4683 h 604313"/>
              <a:gd name="connsiteX23" fmla="*/ 546442 w 604886"/>
              <a:gd name="connsiteY23" fmla="*/ 58698 h 604313"/>
              <a:gd name="connsiteX24" fmla="*/ 585156 w 604886"/>
              <a:gd name="connsiteY24" fmla="*/ 230302 h 604313"/>
              <a:gd name="connsiteX25" fmla="*/ 511352 w 604886"/>
              <a:gd name="connsiteY25" fmla="*/ 304012 h 604313"/>
              <a:gd name="connsiteX26" fmla="*/ 477857 w 604886"/>
              <a:gd name="connsiteY26" fmla="*/ 304012 h 604313"/>
              <a:gd name="connsiteX27" fmla="*/ 477857 w 604886"/>
              <a:gd name="connsiteY27" fmla="*/ 270705 h 604313"/>
              <a:gd name="connsiteX28" fmla="*/ 551662 w 604886"/>
              <a:gd name="connsiteY28" fmla="*/ 196995 h 604313"/>
              <a:gd name="connsiteX29" fmla="*/ 513092 w 604886"/>
              <a:gd name="connsiteY29" fmla="*/ 92005 h 604313"/>
              <a:gd name="connsiteX30" fmla="*/ 446247 w 604886"/>
              <a:gd name="connsiteY30" fmla="*/ 50154 h 604313"/>
              <a:gd name="connsiteX31" fmla="*/ 407968 w 604886"/>
              <a:gd name="connsiteY31" fmla="*/ 53485 h 604313"/>
              <a:gd name="connsiteX32" fmla="*/ 204825 w 604886"/>
              <a:gd name="connsiteY32" fmla="*/ 256368 h 604313"/>
              <a:gd name="connsiteX33" fmla="*/ 201490 w 604886"/>
              <a:gd name="connsiteY33" fmla="*/ 294599 h 604313"/>
              <a:gd name="connsiteX34" fmla="*/ 243394 w 604886"/>
              <a:gd name="connsiteY34" fmla="*/ 361358 h 604313"/>
              <a:gd name="connsiteX35" fmla="*/ 288199 w 604886"/>
              <a:gd name="connsiteY35" fmla="*/ 394520 h 604313"/>
              <a:gd name="connsiteX36" fmla="*/ 298494 w 604886"/>
              <a:gd name="connsiteY36" fmla="*/ 426234 h 604313"/>
              <a:gd name="connsiteX37" fmla="*/ 277469 w 604886"/>
              <a:gd name="connsiteY37" fmla="*/ 438978 h 604313"/>
              <a:gd name="connsiteX38" fmla="*/ 266739 w 604886"/>
              <a:gd name="connsiteY38" fmla="*/ 436516 h 604313"/>
              <a:gd name="connsiteX39" fmla="*/ 210044 w 604886"/>
              <a:gd name="connsiteY39" fmla="*/ 394665 h 604313"/>
              <a:gd name="connsiteX40" fmla="*/ 155960 w 604886"/>
              <a:gd name="connsiteY40" fmla="*/ 307198 h 604313"/>
              <a:gd name="connsiteX41" fmla="*/ 171330 w 604886"/>
              <a:gd name="connsiteY41" fmla="*/ 223061 h 604313"/>
              <a:gd name="connsiteX42" fmla="*/ 374618 w 604886"/>
              <a:gd name="connsiteY42" fmla="*/ 20033 h 604313"/>
              <a:gd name="connsiteX43" fmla="*/ 411085 w 604886"/>
              <a:gd name="connsiteY43" fmla="*/ 1388 h 6043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Lst>
            <a:rect l="l" t="t" r="r" b="b"/>
            <a:pathLst>
              <a:path w="604886" h="604313">
                <a:moveTo>
                  <a:pt x="320200" y="166778"/>
                </a:moveTo>
                <a:cubicBezTo>
                  <a:pt x="325946" y="164931"/>
                  <a:pt x="332399" y="165257"/>
                  <a:pt x="338200" y="168153"/>
                </a:cubicBezTo>
                <a:cubicBezTo>
                  <a:pt x="358068" y="178290"/>
                  <a:pt x="377646" y="192771"/>
                  <a:pt x="394904" y="210003"/>
                </a:cubicBezTo>
                <a:cubicBezTo>
                  <a:pt x="421443" y="236358"/>
                  <a:pt x="440585" y="267491"/>
                  <a:pt x="448997" y="297466"/>
                </a:cubicBezTo>
                <a:cubicBezTo>
                  <a:pt x="458568" y="332075"/>
                  <a:pt x="453202" y="362050"/>
                  <a:pt x="433479" y="381599"/>
                </a:cubicBezTo>
                <a:lnTo>
                  <a:pt x="230304" y="584474"/>
                </a:lnTo>
                <a:cubicBezTo>
                  <a:pt x="216962" y="597942"/>
                  <a:pt x="198690" y="604313"/>
                  <a:pt x="177952" y="604313"/>
                </a:cubicBezTo>
                <a:cubicBezTo>
                  <a:pt x="140971" y="604313"/>
                  <a:pt x="96305" y="583750"/>
                  <a:pt x="58454" y="545956"/>
                </a:cubicBezTo>
                <a:cubicBezTo>
                  <a:pt x="-570" y="487019"/>
                  <a:pt x="-17537" y="411575"/>
                  <a:pt x="19733" y="374359"/>
                </a:cubicBezTo>
                <a:lnTo>
                  <a:pt x="93549" y="300652"/>
                </a:lnTo>
                <a:cubicBezTo>
                  <a:pt x="102831" y="291384"/>
                  <a:pt x="117768" y="291384"/>
                  <a:pt x="127049" y="300652"/>
                </a:cubicBezTo>
                <a:cubicBezTo>
                  <a:pt x="136186" y="309775"/>
                  <a:pt x="136186" y="324690"/>
                  <a:pt x="127049" y="333958"/>
                </a:cubicBezTo>
                <a:lnTo>
                  <a:pt x="53233" y="407665"/>
                </a:lnTo>
                <a:cubicBezTo>
                  <a:pt x="37426" y="423304"/>
                  <a:pt x="50623" y="471525"/>
                  <a:pt x="91809" y="512650"/>
                </a:cubicBezTo>
                <a:cubicBezTo>
                  <a:pt x="132995" y="553631"/>
                  <a:pt x="181287" y="566808"/>
                  <a:pt x="196950" y="551169"/>
                </a:cubicBezTo>
                <a:lnTo>
                  <a:pt x="400124" y="348294"/>
                </a:lnTo>
                <a:cubicBezTo>
                  <a:pt x="407085" y="341343"/>
                  <a:pt x="408246" y="327441"/>
                  <a:pt x="403460" y="310065"/>
                </a:cubicBezTo>
                <a:cubicBezTo>
                  <a:pt x="397369" y="288199"/>
                  <a:pt x="381997" y="263871"/>
                  <a:pt x="361549" y="243308"/>
                </a:cubicBezTo>
                <a:cubicBezTo>
                  <a:pt x="347627" y="229552"/>
                  <a:pt x="332254" y="218112"/>
                  <a:pt x="316737" y="210147"/>
                </a:cubicBezTo>
                <a:cubicBezTo>
                  <a:pt x="305135" y="204355"/>
                  <a:pt x="300495" y="190019"/>
                  <a:pt x="306441" y="178435"/>
                </a:cubicBezTo>
                <a:cubicBezTo>
                  <a:pt x="309414" y="172642"/>
                  <a:pt x="314453" y="168624"/>
                  <a:pt x="320200" y="166778"/>
                </a:cubicBezTo>
                <a:close/>
                <a:moveTo>
                  <a:pt x="411085" y="1388"/>
                </a:moveTo>
                <a:cubicBezTo>
                  <a:pt x="425368" y="-1219"/>
                  <a:pt x="441535" y="-169"/>
                  <a:pt x="458862" y="4683"/>
                </a:cubicBezTo>
                <a:cubicBezTo>
                  <a:pt x="488877" y="13082"/>
                  <a:pt x="519907" y="32197"/>
                  <a:pt x="546442" y="58698"/>
                </a:cubicBezTo>
                <a:cubicBezTo>
                  <a:pt x="605456" y="117637"/>
                  <a:pt x="622421" y="192940"/>
                  <a:pt x="585156" y="230302"/>
                </a:cubicBezTo>
                <a:lnTo>
                  <a:pt x="511352" y="304012"/>
                </a:lnTo>
                <a:cubicBezTo>
                  <a:pt x="502072" y="313135"/>
                  <a:pt x="487137" y="313135"/>
                  <a:pt x="477857" y="304012"/>
                </a:cubicBezTo>
                <a:cubicBezTo>
                  <a:pt x="468722" y="294744"/>
                  <a:pt x="468722" y="279828"/>
                  <a:pt x="477857" y="270705"/>
                </a:cubicBezTo>
                <a:lnTo>
                  <a:pt x="551662" y="196995"/>
                </a:lnTo>
                <a:cubicBezTo>
                  <a:pt x="567321" y="181355"/>
                  <a:pt x="554127" y="133132"/>
                  <a:pt x="513092" y="92005"/>
                </a:cubicBezTo>
                <a:cubicBezTo>
                  <a:pt x="492502" y="71586"/>
                  <a:pt x="468142" y="56236"/>
                  <a:pt x="446247" y="50154"/>
                </a:cubicBezTo>
                <a:cubicBezTo>
                  <a:pt x="428848" y="45230"/>
                  <a:pt x="414928" y="46534"/>
                  <a:pt x="407968" y="53485"/>
                </a:cubicBezTo>
                <a:lnTo>
                  <a:pt x="204825" y="256368"/>
                </a:lnTo>
                <a:cubicBezTo>
                  <a:pt x="197865" y="263319"/>
                  <a:pt x="196560" y="277221"/>
                  <a:pt x="201490" y="294599"/>
                </a:cubicBezTo>
                <a:cubicBezTo>
                  <a:pt x="207579" y="316466"/>
                  <a:pt x="222949" y="340795"/>
                  <a:pt x="243394" y="361358"/>
                </a:cubicBezTo>
                <a:cubicBezTo>
                  <a:pt x="257169" y="375115"/>
                  <a:pt x="272684" y="386556"/>
                  <a:pt x="288199" y="394520"/>
                </a:cubicBezTo>
                <a:cubicBezTo>
                  <a:pt x="299799" y="400313"/>
                  <a:pt x="304439" y="414505"/>
                  <a:pt x="298494" y="426234"/>
                </a:cubicBezTo>
                <a:cubicBezTo>
                  <a:pt x="294289" y="434344"/>
                  <a:pt x="286024" y="438978"/>
                  <a:pt x="277469" y="438978"/>
                </a:cubicBezTo>
                <a:cubicBezTo>
                  <a:pt x="273844" y="438978"/>
                  <a:pt x="270219" y="438254"/>
                  <a:pt x="266739" y="436516"/>
                </a:cubicBezTo>
                <a:cubicBezTo>
                  <a:pt x="246874" y="426379"/>
                  <a:pt x="227299" y="411898"/>
                  <a:pt x="210044" y="394665"/>
                </a:cubicBezTo>
                <a:cubicBezTo>
                  <a:pt x="183510" y="368164"/>
                  <a:pt x="164370" y="337174"/>
                  <a:pt x="155960" y="307198"/>
                </a:cubicBezTo>
                <a:cubicBezTo>
                  <a:pt x="146245" y="272587"/>
                  <a:pt x="151755" y="242611"/>
                  <a:pt x="171330" y="223061"/>
                </a:cubicBezTo>
                <a:lnTo>
                  <a:pt x="374618" y="20033"/>
                </a:lnTo>
                <a:cubicBezTo>
                  <a:pt x="384406" y="10258"/>
                  <a:pt x="396803" y="3995"/>
                  <a:pt x="411085" y="1388"/>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144" name="文本框 143">
            <a:extLst>
              <a:ext uri="{FF2B5EF4-FFF2-40B4-BE49-F238E27FC236}">
                <a16:creationId xmlns:a16="http://schemas.microsoft.com/office/drawing/2014/main" id="{06E8FC8C-A4A9-4C0F-B49C-E9384EABACCF}"/>
              </a:ext>
            </a:extLst>
          </p:cNvPr>
          <p:cNvSpPr txBox="1"/>
          <p:nvPr/>
        </p:nvSpPr>
        <p:spPr>
          <a:xfrm>
            <a:off x="373082" y="3517143"/>
            <a:ext cx="1660612" cy="338554"/>
          </a:xfrm>
          <a:prstGeom prst="rect">
            <a:avLst/>
          </a:prstGeom>
          <a:noFill/>
        </p:spPr>
        <p:txBody>
          <a:bodyPr wrap="square" rtlCol="0">
            <a:spAutoFit/>
          </a:bodyPr>
          <a:lstStyle>
            <a:defPPr>
              <a:defRPr lang="zh-CN"/>
            </a:defPPr>
            <a:lvl1pPr>
              <a:defRPr sz="1600">
                <a:solidFill>
                  <a:schemeClr val="bg1"/>
                </a:solidFill>
                <a:latin typeface="思源黑体 CN Regular" panose="020B0500000000000000" pitchFamily="34" charset="-122"/>
                <a:ea typeface="思源黑体 CN Regular" panose="020B0500000000000000" pitchFamily="34" charset="-122"/>
              </a:defRPr>
            </a:lvl1pPr>
          </a:lstStyle>
          <a:p>
            <a:r>
              <a:rPr lang="zh-CN" altLang="en-US" dirty="0"/>
              <a:t>研究方法与思路</a:t>
            </a:r>
          </a:p>
        </p:txBody>
      </p:sp>
      <p:sp>
        <p:nvSpPr>
          <p:cNvPr id="145" name="文本框 144">
            <a:extLst>
              <a:ext uri="{FF2B5EF4-FFF2-40B4-BE49-F238E27FC236}">
                <a16:creationId xmlns:a16="http://schemas.microsoft.com/office/drawing/2014/main" id="{EBCD0BDB-318F-4FF2-85BB-54495B0613F9}"/>
              </a:ext>
            </a:extLst>
          </p:cNvPr>
          <p:cNvSpPr txBox="1"/>
          <p:nvPr/>
        </p:nvSpPr>
        <p:spPr>
          <a:xfrm>
            <a:off x="373082" y="4226265"/>
            <a:ext cx="1660612" cy="338554"/>
          </a:xfrm>
          <a:prstGeom prst="rect">
            <a:avLst/>
          </a:prstGeom>
          <a:noFill/>
        </p:spPr>
        <p:txBody>
          <a:bodyPr wrap="square" rtlCol="0">
            <a:spAutoFit/>
          </a:bodyPr>
          <a:lstStyle>
            <a:defPPr>
              <a:defRPr lang="zh-CN"/>
            </a:defPPr>
            <a:lvl1pPr>
              <a:defRPr sz="1600">
                <a:solidFill>
                  <a:schemeClr val="bg1"/>
                </a:solidFill>
                <a:latin typeface="思源黑体 CN Regular" panose="020B0500000000000000" pitchFamily="34" charset="-122"/>
                <a:ea typeface="思源黑体 CN Regular" panose="020B0500000000000000" pitchFamily="34" charset="-122"/>
              </a:defRPr>
            </a:lvl1pPr>
          </a:lstStyle>
          <a:p>
            <a:r>
              <a:rPr lang="zh-CN" altLang="en-US" dirty="0"/>
              <a:t>关键技术与创新</a:t>
            </a:r>
          </a:p>
        </p:txBody>
      </p:sp>
      <p:sp>
        <p:nvSpPr>
          <p:cNvPr id="146" name="任意矩形：004">
            <a:extLst>
              <a:ext uri="{FF2B5EF4-FFF2-40B4-BE49-F238E27FC236}">
                <a16:creationId xmlns:a16="http://schemas.microsoft.com/office/drawing/2014/main" id="{08F0093C-7519-46FF-AFC3-C96D218592A6}"/>
              </a:ext>
            </a:extLst>
          </p:cNvPr>
          <p:cNvSpPr/>
          <p:nvPr/>
        </p:nvSpPr>
        <p:spPr>
          <a:xfrm rot="20700000">
            <a:off x="101744" y="4285500"/>
            <a:ext cx="251496" cy="189307"/>
          </a:xfrm>
          <a:custGeom>
            <a:avLst/>
            <a:gdLst>
              <a:gd name="T0" fmla="*/ 6845 w 7011"/>
              <a:gd name="T1" fmla="*/ 1345 h 5286"/>
              <a:gd name="T2" fmla="*/ 5180 w 7011"/>
              <a:gd name="T3" fmla="*/ 598 h 5286"/>
              <a:gd name="T4" fmla="*/ 5179 w 7011"/>
              <a:gd name="T5" fmla="*/ 598 h 5286"/>
              <a:gd name="T6" fmla="*/ 3505 w 7011"/>
              <a:gd name="T7" fmla="*/ 0 h 5286"/>
              <a:gd name="T8" fmla="*/ 907 w 7011"/>
              <a:gd name="T9" fmla="*/ 2166 h 5286"/>
              <a:gd name="T10" fmla="*/ 167 w 7011"/>
              <a:gd name="T11" fmla="*/ 3741 h 5286"/>
              <a:gd name="T12" fmla="*/ 1605 w 7011"/>
              <a:gd name="T13" fmla="*/ 4477 h 5286"/>
              <a:gd name="T14" fmla="*/ 3505 w 7011"/>
              <a:gd name="T15" fmla="*/ 5286 h 5286"/>
              <a:gd name="T16" fmla="*/ 6136 w 7011"/>
              <a:gd name="T17" fmla="*/ 2888 h 5286"/>
              <a:gd name="T18" fmla="*/ 6845 w 7011"/>
              <a:gd name="T19" fmla="*/ 1345 h 5286"/>
              <a:gd name="T20" fmla="*/ 521 w 7011"/>
              <a:gd name="T21" fmla="*/ 3613 h 5286"/>
              <a:gd name="T22" fmla="*/ 865 w 7011"/>
              <a:gd name="T23" fmla="*/ 2729 h 5286"/>
              <a:gd name="T24" fmla="*/ 1279 w 7011"/>
              <a:gd name="T25" fmla="*/ 4061 h 5286"/>
              <a:gd name="T26" fmla="*/ 521 w 7011"/>
              <a:gd name="T27" fmla="*/ 3613 h 5286"/>
              <a:gd name="T28" fmla="*/ 3507 w 7011"/>
              <a:gd name="T29" fmla="*/ 4909 h 5286"/>
              <a:gd name="T30" fmla="*/ 2171 w 7011"/>
              <a:gd name="T31" fmla="*/ 4472 h 5286"/>
              <a:gd name="T32" fmla="*/ 4051 w 7011"/>
              <a:gd name="T33" fmla="*/ 4060 h 5286"/>
              <a:gd name="T34" fmla="*/ 5695 w 7011"/>
              <a:gd name="T35" fmla="*/ 3233 h 5286"/>
              <a:gd name="T36" fmla="*/ 3507 w 7011"/>
              <a:gd name="T37" fmla="*/ 4909 h 5286"/>
              <a:gd name="T38" fmla="*/ 5772 w 7011"/>
              <a:gd name="T39" fmla="*/ 2705 h 5286"/>
              <a:gd name="T40" fmla="*/ 3924 w 7011"/>
              <a:gd name="T41" fmla="*/ 3706 h 5286"/>
              <a:gd name="T42" fmla="*/ 1779 w 7011"/>
              <a:gd name="T43" fmla="*/ 4108 h 5286"/>
              <a:gd name="T44" fmla="*/ 1240 w 7011"/>
              <a:gd name="T45" fmla="*/ 2642 h 5286"/>
              <a:gd name="T46" fmla="*/ 3507 w 7011"/>
              <a:gd name="T47" fmla="*/ 376 h 5286"/>
              <a:gd name="T48" fmla="*/ 5773 w 7011"/>
              <a:gd name="T49" fmla="*/ 2642 h 5286"/>
              <a:gd name="T50" fmla="*/ 5772 w 7011"/>
              <a:gd name="T51" fmla="*/ 2705 h 5286"/>
              <a:gd name="T52" fmla="*/ 6133 w 7011"/>
              <a:gd name="T53" fmla="*/ 2364 h 5286"/>
              <a:gd name="T54" fmla="*/ 5571 w 7011"/>
              <a:gd name="T55" fmla="*/ 996 h 5286"/>
              <a:gd name="T56" fmla="*/ 6491 w 7011"/>
              <a:gd name="T57" fmla="*/ 1472 h 5286"/>
              <a:gd name="T58" fmla="*/ 6133 w 7011"/>
              <a:gd name="T59" fmla="*/ 2364 h 528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7011" h="5286">
                <a:moveTo>
                  <a:pt x="6845" y="1345"/>
                </a:moveTo>
                <a:cubicBezTo>
                  <a:pt x="6672" y="864"/>
                  <a:pt x="6081" y="598"/>
                  <a:pt x="5180" y="598"/>
                </a:cubicBezTo>
                <a:lnTo>
                  <a:pt x="5179" y="598"/>
                </a:lnTo>
                <a:cubicBezTo>
                  <a:pt x="4723" y="225"/>
                  <a:pt x="4140" y="0"/>
                  <a:pt x="3505" y="0"/>
                </a:cubicBezTo>
                <a:cubicBezTo>
                  <a:pt x="2212" y="0"/>
                  <a:pt x="1132" y="936"/>
                  <a:pt x="907" y="2166"/>
                </a:cubicBezTo>
                <a:cubicBezTo>
                  <a:pt x="264" y="2720"/>
                  <a:pt x="0" y="3278"/>
                  <a:pt x="167" y="3741"/>
                </a:cubicBezTo>
                <a:cubicBezTo>
                  <a:pt x="325" y="4184"/>
                  <a:pt x="863" y="4433"/>
                  <a:pt x="1605" y="4477"/>
                </a:cubicBezTo>
                <a:cubicBezTo>
                  <a:pt x="2087" y="4976"/>
                  <a:pt x="2760" y="5286"/>
                  <a:pt x="3505" y="5286"/>
                </a:cubicBezTo>
                <a:cubicBezTo>
                  <a:pt x="4880" y="5286"/>
                  <a:pt x="6012" y="4232"/>
                  <a:pt x="6136" y="2888"/>
                </a:cubicBezTo>
                <a:cubicBezTo>
                  <a:pt x="6728" y="2364"/>
                  <a:pt x="7011" y="1804"/>
                  <a:pt x="6845" y="1345"/>
                </a:cubicBezTo>
                <a:close/>
                <a:moveTo>
                  <a:pt x="521" y="3613"/>
                </a:moveTo>
                <a:cubicBezTo>
                  <a:pt x="437" y="3380"/>
                  <a:pt x="565" y="3064"/>
                  <a:pt x="865" y="2729"/>
                </a:cubicBezTo>
                <a:cubicBezTo>
                  <a:pt x="881" y="3218"/>
                  <a:pt x="1031" y="3673"/>
                  <a:pt x="1279" y="4061"/>
                </a:cubicBezTo>
                <a:cubicBezTo>
                  <a:pt x="871" y="3988"/>
                  <a:pt x="599" y="3830"/>
                  <a:pt x="521" y="3613"/>
                </a:cubicBezTo>
                <a:close/>
                <a:moveTo>
                  <a:pt x="3507" y="4909"/>
                </a:moveTo>
                <a:cubicBezTo>
                  <a:pt x="3008" y="4909"/>
                  <a:pt x="2545" y="4746"/>
                  <a:pt x="2171" y="4472"/>
                </a:cubicBezTo>
                <a:cubicBezTo>
                  <a:pt x="2740" y="4434"/>
                  <a:pt x="3384" y="4300"/>
                  <a:pt x="4051" y="4060"/>
                </a:cubicBezTo>
                <a:cubicBezTo>
                  <a:pt x="4684" y="3833"/>
                  <a:pt x="5243" y="3546"/>
                  <a:pt x="5695" y="3233"/>
                </a:cubicBezTo>
                <a:cubicBezTo>
                  <a:pt x="5433" y="4197"/>
                  <a:pt x="4552" y="4909"/>
                  <a:pt x="3507" y="4909"/>
                </a:cubicBezTo>
                <a:close/>
                <a:moveTo>
                  <a:pt x="5772" y="2705"/>
                </a:moveTo>
                <a:cubicBezTo>
                  <a:pt x="5328" y="3068"/>
                  <a:pt x="4700" y="3428"/>
                  <a:pt x="3924" y="3706"/>
                </a:cubicBezTo>
                <a:cubicBezTo>
                  <a:pt x="3111" y="3998"/>
                  <a:pt x="2365" y="4117"/>
                  <a:pt x="1779" y="4108"/>
                </a:cubicBezTo>
                <a:cubicBezTo>
                  <a:pt x="1443" y="3712"/>
                  <a:pt x="1240" y="3201"/>
                  <a:pt x="1240" y="2642"/>
                </a:cubicBezTo>
                <a:cubicBezTo>
                  <a:pt x="1240" y="1393"/>
                  <a:pt x="2256" y="376"/>
                  <a:pt x="3507" y="376"/>
                </a:cubicBezTo>
                <a:cubicBezTo>
                  <a:pt x="4756" y="376"/>
                  <a:pt x="5773" y="1393"/>
                  <a:pt x="5773" y="2642"/>
                </a:cubicBezTo>
                <a:cubicBezTo>
                  <a:pt x="5773" y="2664"/>
                  <a:pt x="5772" y="2684"/>
                  <a:pt x="5772" y="2705"/>
                </a:cubicBezTo>
                <a:close/>
                <a:moveTo>
                  <a:pt x="6133" y="2364"/>
                </a:moveTo>
                <a:cubicBezTo>
                  <a:pt x="6079" y="1849"/>
                  <a:pt x="5877" y="1380"/>
                  <a:pt x="5571" y="996"/>
                </a:cubicBezTo>
                <a:cubicBezTo>
                  <a:pt x="6067" y="1053"/>
                  <a:pt x="6401" y="1221"/>
                  <a:pt x="6491" y="1472"/>
                </a:cubicBezTo>
                <a:cubicBezTo>
                  <a:pt x="6573" y="1704"/>
                  <a:pt x="6443" y="2024"/>
                  <a:pt x="6133" y="2364"/>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147" name="文本框 146">
            <a:extLst>
              <a:ext uri="{FF2B5EF4-FFF2-40B4-BE49-F238E27FC236}">
                <a16:creationId xmlns:a16="http://schemas.microsoft.com/office/drawing/2014/main" id="{1EF23F4A-6E0E-409B-9DC6-D584C18CA302}"/>
              </a:ext>
            </a:extLst>
          </p:cNvPr>
          <p:cNvSpPr txBox="1"/>
          <p:nvPr/>
        </p:nvSpPr>
        <p:spPr>
          <a:xfrm>
            <a:off x="373082" y="4935387"/>
            <a:ext cx="1660612" cy="338554"/>
          </a:xfrm>
          <a:prstGeom prst="rect">
            <a:avLst/>
          </a:prstGeom>
          <a:noFill/>
        </p:spPr>
        <p:txBody>
          <a:bodyPr wrap="square" rtlCol="0">
            <a:spAutoFit/>
          </a:bodyPr>
          <a:lstStyle>
            <a:defPPr>
              <a:defRPr lang="zh-CN"/>
            </a:defPPr>
            <a:lvl1pPr>
              <a:defRPr sz="1600">
                <a:solidFill>
                  <a:schemeClr val="bg1"/>
                </a:solidFill>
                <a:latin typeface="思源黑体 CN Regular" panose="020B0500000000000000" pitchFamily="34" charset="-122"/>
                <a:ea typeface="思源黑体 CN Regular" panose="020B0500000000000000" pitchFamily="34" charset="-122"/>
              </a:defRPr>
            </a:lvl1pPr>
          </a:lstStyle>
          <a:p>
            <a:r>
              <a:rPr lang="zh-CN" altLang="en-US" dirty="0"/>
              <a:t>已开展工作</a:t>
            </a:r>
          </a:p>
        </p:txBody>
      </p:sp>
      <p:sp>
        <p:nvSpPr>
          <p:cNvPr id="148" name="任意矩形：005">
            <a:extLst>
              <a:ext uri="{FF2B5EF4-FFF2-40B4-BE49-F238E27FC236}">
                <a16:creationId xmlns:a16="http://schemas.microsoft.com/office/drawing/2014/main" id="{289CEAA8-F60F-4FC3-87FD-316D5CAD33BB}"/>
              </a:ext>
            </a:extLst>
          </p:cNvPr>
          <p:cNvSpPr/>
          <p:nvPr/>
        </p:nvSpPr>
        <p:spPr>
          <a:xfrm>
            <a:off x="123946" y="4988361"/>
            <a:ext cx="201734" cy="201828"/>
          </a:xfrm>
          <a:custGeom>
            <a:avLst/>
            <a:gdLst>
              <a:gd name="T0" fmla="*/ 278945 h 440259"/>
              <a:gd name="T1" fmla="*/ 278945 h 440259"/>
              <a:gd name="T2" fmla="*/ 278945 h 440259"/>
              <a:gd name="T3" fmla="*/ 278945 h 440259"/>
              <a:gd name="T4" fmla="*/ 278945 h 440259"/>
              <a:gd name="T5" fmla="*/ 278945 h 440259"/>
              <a:gd name="T6" fmla="*/ 278945 h 440259"/>
              <a:gd name="T7" fmla="*/ 278945 h 440259"/>
              <a:gd name="T8" fmla="*/ 278945 h 440259"/>
              <a:gd name="T9" fmla="*/ 278945 h 440259"/>
              <a:gd name="T10" fmla="*/ 278945 h 440259"/>
              <a:gd name="T11" fmla="*/ 278945 h 440259"/>
              <a:gd name="T12" fmla="*/ 278945 h 440259"/>
              <a:gd name="T13" fmla="*/ 278945 h 440259"/>
              <a:gd name="T14" fmla="*/ 278945 h 440259"/>
              <a:gd name="T15" fmla="*/ 278945 h 440259"/>
              <a:gd name="T16" fmla="*/ 278945 h 440259"/>
              <a:gd name="T17" fmla="*/ 278945 h 440259"/>
              <a:gd name="T18" fmla="*/ 278945 h 440259"/>
              <a:gd name="T19" fmla="*/ 278945 h 440259"/>
              <a:gd name="T20" fmla="*/ 278945 h 440259"/>
              <a:gd name="T21" fmla="*/ 278945 h 440259"/>
              <a:gd name="T22" fmla="*/ 278945 h 440259"/>
              <a:gd name="T23" fmla="*/ 278945 h 440259"/>
              <a:gd name="T24" fmla="*/ 278945 h 440259"/>
              <a:gd name="T25" fmla="*/ 278945 h 440259"/>
              <a:gd name="T26" fmla="*/ 278945 h 440259"/>
              <a:gd name="T27" fmla="*/ 278945 h 440259"/>
              <a:gd name="T28" fmla="*/ 278945 h 440259"/>
              <a:gd name="T29" fmla="*/ 278945 h 440259"/>
              <a:gd name="T30" fmla="*/ 278945 h 440259"/>
              <a:gd name="T31" fmla="*/ 278945 h 440259"/>
              <a:gd name="T32" fmla="*/ 278945 h 440259"/>
              <a:gd name="T33" fmla="*/ 278945 h 440259"/>
              <a:gd name="T34" fmla="*/ 278945 h 440259"/>
              <a:gd name="T35" fmla="*/ 278945 h 440259"/>
              <a:gd name="T36" fmla="*/ 278945 h 440259"/>
              <a:gd name="T37" fmla="*/ 278945 h 440259"/>
              <a:gd name="T38" fmla="*/ 278945 h 440259"/>
              <a:gd name="T39" fmla="*/ 278945 h 440259"/>
              <a:gd name="T40" fmla="*/ 278945 h 440259"/>
              <a:gd name="T41" fmla="*/ 278945 h 440259"/>
              <a:gd name="T42" fmla="*/ 278945 h 440259"/>
              <a:gd name="T43" fmla="*/ 278945 h 440259"/>
              <a:gd name="T44" fmla="*/ 278945 h 440259"/>
              <a:gd name="T45" fmla="*/ 278945 h 440259"/>
              <a:gd name="T46" fmla="*/ 278945 h 440259"/>
              <a:gd name="T47" fmla="*/ 278945 h 440259"/>
              <a:gd name="T48" fmla="*/ 278945 h 440259"/>
              <a:gd name="T49" fmla="*/ 278945 h 440259"/>
              <a:gd name="T50" fmla="*/ 278945 h 440259"/>
              <a:gd name="T51" fmla="*/ 278945 h 440259"/>
              <a:gd name="T52" fmla="*/ 278945 h 440259"/>
              <a:gd name="T53" fmla="*/ 278945 h 440259"/>
              <a:gd name="T54" fmla="*/ 278945 h 440259"/>
              <a:gd name="T55" fmla="*/ 278945 h 440259"/>
              <a:gd name="T56" fmla="*/ 278945 h 440259"/>
              <a:gd name="T57" fmla="*/ 278945 h 440259"/>
              <a:gd name="T58" fmla="*/ 278945 h 440259"/>
              <a:gd name="T59" fmla="*/ 278945 h 440259"/>
              <a:gd name="T60" fmla="*/ 278945 h 440259"/>
              <a:gd name="T61" fmla="*/ 278945 h 440259"/>
              <a:gd name="T62" fmla="*/ 278945 h 440259"/>
              <a:gd name="T63" fmla="*/ 278945 h 440259"/>
              <a:gd name="T64" fmla="*/ 278945 h 440259"/>
              <a:gd name="T65" fmla="*/ 278945 h 440259"/>
              <a:gd name="T66" fmla="*/ 278945 h 440259"/>
              <a:gd name="T67" fmla="*/ 278945 h 440259"/>
              <a:gd name="T68" fmla="*/ 278945 h 440259"/>
              <a:gd name="T69" fmla="*/ 278945 h 440259"/>
              <a:gd name="T70" fmla="*/ 278945 h 440259"/>
              <a:gd name="T71" fmla="*/ 278945 h 440259"/>
              <a:gd name="T72" fmla="*/ 278945 h 440259"/>
              <a:gd name="T73" fmla="*/ 278945 h 440259"/>
              <a:gd name="T74" fmla="*/ 278945 h 440259"/>
              <a:gd name="T75" fmla="*/ 278945 h 440259"/>
              <a:gd name="T76" fmla="*/ 278945 h 440259"/>
              <a:gd name="T77" fmla="*/ 278945 h 440259"/>
              <a:gd name="T78" fmla="*/ 278945 h 440259"/>
              <a:gd name="T79" fmla="*/ 278945 h 440259"/>
              <a:gd name="T80" fmla="*/ 278945 h 440259"/>
              <a:gd name="T81" fmla="*/ 278945 h 440259"/>
              <a:gd name="T82" fmla="*/ 278945 h 440259"/>
              <a:gd name="T83" fmla="*/ 278945 h 440259"/>
              <a:gd name="T84" fmla="*/ 88862 h 440259"/>
              <a:gd name="T85" fmla="*/ 88862 h 440259"/>
              <a:gd name="T86" fmla="*/ 278945 h 440259"/>
              <a:gd name="T87" fmla="*/ 278945 h 44025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Lst>
            <a:rect l="0" t="0" r="r" b="b"/>
            <a:pathLst>
              <a:path w="6495" h="6508">
                <a:moveTo>
                  <a:pt x="6495" y="203"/>
                </a:moveTo>
                <a:lnTo>
                  <a:pt x="6495" y="197"/>
                </a:lnTo>
                <a:cubicBezTo>
                  <a:pt x="6495" y="193"/>
                  <a:pt x="6493" y="191"/>
                  <a:pt x="6493" y="187"/>
                </a:cubicBezTo>
                <a:cubicBezTo>
                  <a:pt x="6493" y="184"/>
                  <a:pt x="6493" y="181"/>
                  <a:pt x="6492" y="179"/>
                </a:cubicBezTo>
                <a:cubicBezTo>
                  <a:pt x="6492" y="176"/>
                  <a:pt x="6491" y="173"/>
                  <a:pt x="6491" y="172"/>
                </a:cubicBezTo>
                <a:cubicBezTo>
                  <a:pt x="6489" y="169"/>
                  <a:pt x="6489" y="165"/>
                  <a:pt x="6488" y="163"/>
                </a:cubicBezTo>
                <a:cubicBezTo>
                  <a:pt x="6488" y="161"/>
                  <a:pt x="6487" y="160"/>
                  <a:pt x="6487" y="157"/>
                </a:cubicBezTo>
                <a:lnTo>
                  <a:pt x="6483" y="145"/>
                </a:lnTo>
                <a:cubicBezTo>
                  <a:pt x="6483" y="144"/>
                  <a:pt x="6481" y="144"/>
                  <a:pt x="6481" y="143"/>
                </a:cubicBezTo>
                <a:cubicBezTo>
                  <a:pt x="6480" y="139"/>
                  <a:pt x="6477" y="133"/>
                  <a:pt x="6475" y="129"/>
                </a:cubicBezTo>
                <a:cubicBezTo>
                  <a:pt x="6475" y="128"/>
                  <a:pt x="6473" y="127"/>
                  <a:pt x="6473" y="127"/>
                </a:cubicBezTo>
                <a:cubicBezTo>
                  <a:pt x="6471" y="123"/>
                  <a:pt x="6469" y="119"/>
                  <a:pt x="6467" y="115"/>
                </a:cubicBezTo>
                <a:cubicBezTo>
                  <a:pt x="6457" y="101"/>
                  <a:pt x="6447" y="89"/>
                  <a:pt x="6435" y="79"/>
                </a:cubicBezTo>
                <a:cubicBezTo>
                  <a:pt x="6385" y="23"/>
                  <a:pt x="6304" y="0"/>
                  <a:pt x="6231" y="31"/>
                </a:cubicBezTo>
                <a:lnTo>
                  <a:pt x="112" y="2559"/>
                </a:lnTo>
                <a:cubicBezTo>
                  <a:pt x="111" y="2560"/>
                  <a:pt x="108" y="2560"/>
                  <a:pt x="107" y="2561"/>
                </a:cubicBezTo>
                <a:cubicBezTo>
                  <a:pt x="103" y="2563"/>
                  <a:pt x="100" y="2564"/>
                  <a:pt x="96" y="2567"/>
                </a:cubicBezTo>
                <a:lnTo>
                  <a:pt x="88" y="2571"/>
                </a:lnTo>
                <a:cubicBezTo>
                  <a:pt x="85" y="2572"/>
                  <a:pt x="83" y="2573"/>
                  <a:pt x="80" y="2576"/>
                </a:cubicBezTo>
                <a:cubicBezTo>
                  <a:pt x="77" y="2577"/>
                  <a:pt x="75" y="2580"/>
                  <a:pt x="72" y="2581"/>
                </a:cubicBezTo>
                <a:cubicBezTo>
                  <a:pt x="69" y="2583"/>
                  <a:pt x="68" y="2584"/>
                  <a:pt x="65" y="2587"/>
                </a:cubicBezTo>
                <a:cubicBezTo>
                  <a:pt x="63" y="2588"/>
                  <a:pt x="61" y="2591"/>
                  <a:pt x="59" y="2593"/>
                </a:cubicBezTo>
                <a:cubicBezTo>
                  <a:pt x="56" y="2595"/>
                  <a:pt x="55" y="2597"/>
                  <a:pt x="52" y="2599"/>
                </a:cubicBezTo>
                <a:lnTo>
                  <a:pt x="45" y="2605"/>
                </a:lnTo>
                <a:cubicBezTo>
                  <a:pt x="44" y="2608"/>
                  <a:pt x="41" y="2609"/>
                  <a:pt x="40" y="2612"/>
                </a:cubicBezTo>
                <a:cubicBezTo>
                  <a:pt x="39" y="2615"/>
                  <a:pt x="36" y="2617"/>
                  <a:pt x="35" y="2619"/>
                </a:cubicBezTo>
                <a:cubicBezTo>
                  <a:pt x="33" y="2621"/>
                  <a:pt x="31" y="2623"/>
                  <a:pt x="29" y="2625"/>
                </a:cubicBezTo>
                <a:cubicBezTo>
                  <a:pt x="28" y="2628"/>
                  <a:pt x="25" y="2631"/>
                  <a:pt x="24" y="2633"/>
                </a:cubicBezTo>
                <a:cubicBezTo>
                  <a:pt x="23" y="2636"/>
                  <a:pt x="21" y="2637"/>
                  <a:pt x="20" y="2640"/>
                </a:cubicBezTo>
                <a:cubicBezTo>
                  <a:pt x="17" y="2644"/>
                  <a:pt x="16" y="2648"/>
                  <a:pt x="15" y="2652"/>
                </a:cubicBezTo>
                <a:cubicBezTo>
                  <a:pt x="15" y="2653"/>
                  <a:pt x="13" y="2655"/>
                  <a:pt x="12" y="2656"/>
                </a:cubicBezTo>
                <a:lnTo>
                  <a:pt x="12" y="2656"/>
                </a:lnTo>
                <a:cubicBezTo>
                  <a:pt x="9" y="2661"/>
                  <a:pt x="8" y="2667"/>
                  <a:pt x="7" y="2672"/>
                </a:cubicBezTo>
                <a:lnTo>
                  <a:pt x="7" y="2673"/>
                </a:lnTo>
                <a:cubicBezTo>
                  <a:pt x="5" y="2679"/>
                  <a:pt x="4" y="2684"/>
                  <a:pt x="3" y="2691"/>
                </a:cubicBezTo>
                <a:cubicBezTo>
                  <a:pt x="3" y="2693"/>
                  <a:pt x="1" y="2696"/>
                  <a:pt x="1" y="2699"/>
                </a:cubicBezTo>
                <a:cubicBezTo>
                  <a:pt x="1" y="2701"/>
                  <a:pt x="0" y="2705"/>
                  <a:pt x="0" y="2708"/>
                </a:cubicBezTo>
                <a:lnTo>
                  <a:pt x="0" y="2716"/>
                </a:lnTo>
                <a:lnTo>
                  <a:pt x="0" y="2725"/>
                </a:lnTo>
                <a:lnTo>
                  <a:pt x="0" y="2733"/>
                </a:lnTo>
                <a:lnTo>
                  <a:pt x="0" y="2743"/>
                </a:lnTo>
                <a:cubicBezTo>
                  <a:pt x="0" y="2745"/>
                  <a:pt x="1" y="2748"/>
                  <a:pt x="1" y="2749"/>
                </a:cubicBezTo>
                <a:cubicBezTo>
                  <a:pt x="1" y="2753"/>
                  <a:pt x="3" y="2756"/>
                  <a:pt x="3" y="2760"/>
                </a:cubicBezTo>
                <a:cubicBezTo>
                  <a:pt x="4" y="2764"/>
                  <a:pt x="4" y="2768"/>
                  <a:pt x="5" y="2772"/>
                </a:cubicBezTo>
                <a:cubicBezTo>
                  <a:pt x="7" y="2775"/>
                  <a:pt x="7" y="2777"/>
                  <a:pt x="8" y="2780"/>
                </a:cubicBezTo>
                <a:cubicBezTo>
                  <a:pt x="9" y="2784"/>
                  <a:pt x="11" y="2789"/>
                  <a:pt x="13" y="2793"/>
                </a:cubicBezTo>
                <a:lnTo>
                  <a:pt x="13" y="2793"/>
                </a:lnTo>
                <a:cubicBezTo>
                  <a:pt x="15" y="2799"/>
                  <a:pt x="17" y="2803"/>
                  <a:pt x="20" y="2807"/>
                </a:cubicBezTo>
                <a:cubicBezTo>
                  <a:pt x="20" y="2808"/>
                  <a:pt x="21" y="2809"/>
                  <a:pt x="21" y="2809"/>
                </a:cubicBezTo>
                <a:cubicBezTo>
                  <a:pt x="23" y="2813"/>
                  <a:pt x="25" y="2816"/>
                  <a:pt x="28" y="2820"/>
                </a:cubicBezTo>
                <a:cubicBezTo>
                  <a:pt x="29" y="2821"/>
                  <a:pt x="29" y="2823"/>
                  <a:pt x="31" y="2824"/>
                </a:cubicBezTo>
                <a:cubicBezTo>
                  <a:pt x="33" y="2828"/>
                  <a:pt x="35" y="2831"/>
                  <a:pt x="37" y="2833"/>
                </a:cubicBezTo>
                <a:cubicBezTo>
                  <a:pt x="39" y="2835"/>
                  <a:pt x="39" y="2836"/>
                  <a:pt x="40" y="2836"/>
                </a:cubicBezTo>
                <a:cubicBezTo>
                  <a:pt x="44" y="2840"/>
                  <a:pt x="47" y="2844"/>
                  <a:pt x="51" y="2848"/>
                </a:cubicBezTo>
                <a:lnTo>
                  <a:pt x="51" y="2848"/>
                </a:lnTo>
                <a:cubicBezTo>
                  <a:pt x="55" y="2852"/>
                  <a:pt x="59" y="2855"/>
                  <a:pt x="63" y="2859"/>
                </a:cubicBezTo>
                <a:cubicBezTo>
                  <a:pt x="64" y="2860"/>
                  <a:pt x="65" y="2861"/>
                  <a:pt x="67" y="2861"/>
                </a:cubicBezTo>
                <a:cubicBezTo>
                  <a:pt x="69" y="2864"/>
                  <a:pt x="73" y="2867"/>
                  <a:pt x="76" y="2868"/>
                </a:cubicBezTo>
                <a:cubicBezTo>
                  <a:pt x="77" y="2869"/>
                  <a:pt x="79" y="2869"/>
                  <a:pt x="80" y="2871"/>
                </a:cubicBezTo>
                <a:cubicBezTo>
                  <a:pt x="84" y="2873"/>
                  <a:pt x="89" y="2876"/>
                  <a:pt x="93" y="2879"/>
                </a:cubicBezTo>
                <a:cubicBezTo>
                  <a:pt x="95" y="2879"/>
                  <a:pt x="95" y="2880"/>
                  <a:pt x="96" y="2880"/>
                </a:cubicBezTo>
                <a:cubicBezTo>
                  <a:pt x="100" y="2883"/>
                  <a:pt x="104" y="2884"/>
                  <a:pt x="109" y="2887"/>
                </a:cubicBezTo>
                <a:cubicBezTo>
                  <a:pt x="111" y="2887"/>
                  <a:pt x="111" y="2888"/>
                  <a:pt x="112" y="2888"/>
                </a:cubicBezTo>
                <a:lnTo>
                  <a:pt x="2579" y="3933"/>
                </a:lnTo>
                <a:lnTo>
                  <a:pt x="3624" y="6400"/>
                </a:lnTo>
                <a:cubicBezTo>
                  <a:pt x="3625" y="6405"/>
                  <a:pt x="3628" y="6409"/>
                  <a:pt x="3631" y="6413"/>
                </a:cubicBezTo>
                <a:cubicBezTo>
                  <a:pt x="3631" y="6415"/>
                  <a:pt x="3632" y="6416"/>
                  <a:pt x="3632" y="6416"/>
                </a:cubicBezTo>
                <a:cubicBezTo>
                  <a:pt x="3635" y="6420"/>
                  <a:pt x="3636" y="6423"/>
                  <a:pt x="3639" y="6427"/>
                </a:cubicBezTo>
                <a:cubicBezTo>
                  <a:pt x="3640" y="6428"/>
                  <a:pt x="3640" y="6429"/>
                  <a:pt x="3641" y="6431"/>
                </a:cubicBezTo>
                <a:cubicBezTo>
                  <a:pt x="3644" y="6435"/>
                  <a:pt x="3647" y="6437"/>
                  <a:pt x="3648" y="6440"/>
                </a:cubicBezTo>
                <a:cubicBezTo>
                  <a:pt x="3649" y="6441"/>
                  <a:pt x="3649" y="6443"/>
                  <a:pt x="3651" y="6443"/>
                </a:cubicBezTo>
                <a:cubicBezTo>
                  <a:pt x="3655" y="6447"/>
                  <a:pt x="3657" y="6451"/>
                  <a:pt x="3661" y="6455"/>
                </a:cubicBezTo>
                <a:lnTo>
                  <a:pt x="3663" y="6456"/>
                </a:lnTo>
                <a:cubicBezTo>
                  <a:pt x="3667" y="6459"/>
                  <a:pt x="3669" y="6463"/>
                  <a:pt x="3673" y="6465"/>
                </a:cubicBezTo>
                <a:cubicBezTo>
                  <a:pt x="3675" y="6467"/>
                  <a:pt x="3676" y="6468"/>
                  <a:pt x="3677" y="6468"/>
                </a:cubicBezTo>
                <a:cubicBezTo>
                  <a:pt x="3680" y="6471"/>
                  <a:pt x="3684" y="6473"/>
                  <a:pt x="3687" y="6475"/>
                </a:cubicBezTo>
                <a:cubicBezTo>
                  <a:pt x="3688" y="6476"/>
                  <a:pt x="3689" y="6476"/>
                  <a:pt x="3691" y="6477"/>
                </a:cubicBezTo>
                <a:cubicBezTo>
                  <a:pt x="3695" y="6480"/>
                  <a:pt x="3700" y="6483"/>
                  <a:pt x="3704" y="6485"/>
                </a:cubicBezTo>
                <a:cubicBezTo>
                  <a:pt x="3705" y="6485"/>
                  <a:pt x="3707" y="6487"/>
                  <a:pt x="3707" y="6487"/>
                </a:cubicBezTo>
                <a:cubicBezTo>
                  <a:pt x="3711" y="6489"/>
                  <a:pt x="3715" y="6491"/>
                  <a:pt x="3719" y="6492"/>
                </a:cubicBezTo>
                <a:cubicBezTo>
                  <a:pt x="3720" y="6492"/>
                  <a:pt x="3720" y="6493"/>
                  <a:pt x="3721" y="6493"/>
                </a:cubicBezTo>
                <a:cubicBezTo>
                  <a:pt x="3721" y="6493"/>
                  <a:pt x="3723" y="6493"/>
                  <a:pt x="3723" y="6495"/>
                </a:cubicBezTo>
                <a:cubicBezTo>
                  <a:pt x="3727" y="6496"/>
                  <a:pt x="3732" y="6499"/>
                  <a:pt x="3736" y="6500"/>
                </a:cubicBezTo>
                <a:lnTo>
                  <a:pt x="3737" y="6500"/>
                </a:lnTo>
                <a:cubicBezTo>
                  <a:pt x="3743" y="6501"/>
                  <a:pt x="3747" y="6503"/>
                  <a:pt x="3752" y="6504"/>
                </a:cubicBezTo>
                <a:cubicBezTo>
                  <a:pt x="3753" y="6504"/>
                  <a:pt x="3756" y="6504"/>
                  <a:pt x="3757" y="6505"/>
                </a:cubicBezTo>
                <a:cubicBezTo>
                  <a:pt x="3761" y="6505"/>
                  <a:pt x="3764" y="6507"/>
                  <a:pt x="3768" y="6507"/>
                </a:cubicBezTo>
                <a:lnTo>
                  <a:pt x="3773" y="6507"/>
                </a:lnTo>
                <a:cubicBezTo>
                  <a:pt x="3779" y="6507"/>
                  <a:pt x="3783" y="6508"/>
                  <a:pt x="3788" y="6508"/>
                </a:cubicBezTo>
                <a:lnTo>
                  <a:pt x="3788" y="6508"/>
                </a:lnTo>
                <a:lnTo>
                  <a:pt x="3788" y="6508"/>
                </a:lnTo>
                <a:lnTo>
                  <a:pt x="3788" y="6508"/>
                </a:lnTo>
                <a:lnTo>
                  <a:pt x="3788" y="6508"/>
                </a:lnTo>
                <a:cubicBezTo>
                  <a:pt x="3793" y="6508"/>
                  <a:pt x="3799" y="6508"/>
                  <a:pt x="3803" y="6507"/>
                </a:cubicBezTo>
                <a:lnTo>
                  <a:pt x="3808" y="6507"/>
                </a:lnTo>
                <a:cubicBezTo>
                  <a:pt x="3812" y="6507"/>
                  <a:pt x="3816" y="6505"/>
                  <a:pt x="3819" y="6505"/>
                </a:cubicBezTo>
                <a:cubicBezTo>
                  <a:pt x="3820" y="6505"/>
                  <a:pt x="3823" y="6505"/>
                  <a:pt x="3824" y="6504"/>
                </a:cubicBezTo>
                <a:cubicBezTo>
                  <a:pt x="3829" y="6503"/>
                  <a:pt x="3835" y="6501"/>
                  <a:pt x="3839" y="6500"/>
                </a:cubicBezTo>
                <a:cubicBezTo>
                  <a:pt x="3840" y="6500"/>
                  <a:pt x="3840" y="6500"/>
                  <a:pt x="3841" y="6499"/>
                </a:cubicBezTo>
                <a:cubicBezTo>
                  <a:pt x="3845" y="6497"/>
                  <a:pt x="3851" y="6496"/>
                  <a:pt x="3855" y="6493"/>
                </a:cubicBezTo>
                <a:cubicBezTo>
                  <a:pt x="3856" y="6493"/>
                  <a:pt x="3856" y="6493"/>
                  <a:pt x="3857" y="6492"/>
                </a:cubicBezTo>
                <a:cubicBezTo>
                  <a:pt x="3859" y="6492"/>
                  <a:pt x="3859" y="6491"/>
                  <a:pt x="3860" y="6491"/>
                </a:cubicBezTo>
                <a:cubicBezTo>
                  <a:pt x="3864" y="6489"/>
                  <a:pt x="3868" y="6487"/>
                  <a:pt x="3872" y="6484"/>
                </a:cubicBezTo>
                <a:cubicBezTo>
                  <a:pt x="3873" y="6484"/>
                  <a:pt x="3873" y="6483"/>
                  <a:pt x="3875" y="6483"/>
                </a:cubicBezTo>
                <a:cubicBezTo>
                  <a:pt x="3879" y="6480"/>
                  <a:pt x="3884" y="6477"/>
                  <a:pt x="3888" y="6475"/>
                </a:cubicBezTo>
                <a:cubicBezTo>
                  <a:pt x="3889" y="6473"/>
                  <a:pt x="3891" y="6473"/>
                  <a:pt x="3892" y="6472"/>
                </a:cubicBezTo>
                <a:cubicBezTo>
                  <a:pt x="3895" y="6469"/>
                  <a:pt x="3899" y="6468"/>
                  <a:pt x="3901" y="6465"/>
                </a:cubicBezTo>
                <a:cubicBezTo>
                  <a:pt x="3903" y="6464"/>
                  <a:pt x="3904" y="6463"/>
                  <a:pt x="3905" y="6463"/>
                </a:cubicBezTo>
                <a:cubicBezTo>
                  <a:pt x="3909" y="6459"/>
                  <a:pt x="3913" y="6456"/>
                  <a:pt x="3916" y="6452"/>
                </a:cubicBezTo>
                <a:lnTo>
                  <a:pt x="3916" y="6452"/>
                </a:lnTo>
                <a:cubicBezTo>
                  <a:pt x="3920" y="6448"/>
                  <a:pt x="3923" y="6444"/>
                  <a:pt x="3927" y="6440"/>
                </a:cubicBezTo>
                <a:cubicBezTo>
                  <a:pt x="3928" y="6439"/>
                  <a:pt x="3928" y="6437"/>
                  <a:pt x="3929" y="6436"/>
                </a:cubicBezTo>
                <a:cubicBezTo>
                  <a:pt x="3932" y="6433"/>
                  <a:pt x="3935" y="6429"/>
                  <a:pt x="3936" y="6427"/>
                </a:cubicBezTo>
                <a:cubicBezTo>
                  <a:pt x="3937" y="6425"/>
                  <a:pt x="3937" y="6424"/>
                  <a:pt x="3939" y="6423"/>
                </a:cubicBezTo>
                <a:cubicBezTo>
                  <a:pt x="3941" y="6419"/>
                  <a:pt x="3943" y="6416"/>
                  <a:pt x="3945" y="6412"/>
                </a:cubicBezTo>
                <a:cubicBezTo>
                  <a:pt x="3945" y="6411"/>
                  <a:pt x="3947" y="6409"/>
                  <a:pt x="3947" y="6409"/>
                </a:cubicBezTo>
                <a:cubicBezTo>
                  <a:pt x="3949" y="6405"/>
                  <a:pt x="3951" y="6400"/>
                  <a:pt x="3953" y="6396"/>
                </a:cubicBezTo>
                <a:lnTo>
                  <a:pt x="6481" y="284"/>
                </a:lnTo>
                <a:cubicBezTo>
                  <a:pt x="6485" y="273"/>
                  <a:pt x="6489" y="261"/>
                  <a:pt x="6492" y="249"/>
                </a:cubicBezTo>
                <a:cubicBezTo>
                  <a:pt x="6493" y="245"/>
                  <a:pt x="6493" y="240"/>
                  <a:pt x="6493" y="236"/>
                </a:cubicBezTo>
                <a:lnTo>
                  <a:pt x="6493" y="232"/>
                </a:lnTo>
                <a:cubicBezTo>
                  <a:pt x="6493" y="227"/>
                  <a:pt x="6493" y="223"/>
                  <a:pt x="6495" y="217"/>
                </a:cubicBezTo>
                <a:lnTo>
                  <a:pt x="6495" y="215"/>
                </a:lnTo>
                <a:lnTo>
                  <a:pt x="6495" y="203"/>
                </a:lnTo>
                <a:close/>
                <a:moveTo>
                  <a:pt x="648" y="2727"/>
                </a:moveTo>
                <a:lnTo>
                  <a:pt x="5589" y="687"/>
                </a:lnTo>
                <a:lnTo>
                  <a:pt x="2685" y="3589"/>
                </a:lnTo>
                <a:lnTo>
                  <a:pt x="648" y="2727"/>
                </a:lnTo>
                <a:close/>
                <a:moveTo>
                  <a:pt x="3787" y="5865"/>
                </a:moveTo>
                <a:lnTo>
                  <a:pt x="2933" y="3851"/>
                </a:lnTo>
                <a:lnTo>
                  <a:pt x="5804" y="981"/>
                </a:lnTo>
                <a:lnTo>
                  <a:pt x="3787" y="5865"/>
                </a:ln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149" name="文本框 148">
            <a:extLst>
              <a:ext uri="{FF2B5EF4-FFF2-40B4-BE49-F238E27FC236}">
                <a16:creationId xmlns:a16="http://schemas.microsoft.com/office/drawing/2014/main" id="{F1E86376-FB53-41FE-AAA4-E32BD7EAA850}"/>
              </a:ext>
            </a:extLst>
          </p:cNvPr>
          <p:cNvSpPr txBox="1"/>
          <p:nvPr/>
        </p:nvSpPr>
        <p:spPr>
          <a:xfrm>
            <a:off x="373082" y="5620123"/>
            <a:ext cx="1660612" cy="338554"/>
          </a:xfrm>
          <a:prstGeom prst="rect">
            <a:avLst/>
          </a:prstGeom>
          <a:noFill/>
        </p:spPr>
        <p:txBody>
          <a:bodyPr wrap="square" rtlCol="0">
            <a:spAutoFit/>
          </a:bodyPr>
          <a:lstStyle/>
          <a:p>
            <a:r>
              <a:rPr lang="zh-CN" altLang="en-US" sz="1600" dirty="0">
                <a:solidFill>
                  <a:schemeClr val="accent1"/>
                </a:solidFill>
                <a:latin typeface="思源黑体 CN Regular" panose="020B0500000000000000" pitchFamily="34" charset="-122"/>
                <a:ea typeface="思源黑体 CN Regular" panose="020B0500000000000000" pitchFamily="34" charset="-122"/>
              </a:rPr>
              <a:t>预期成果</a:t>
            </a:r>
          </a:p>
        </p:txBody>
      </p:sp>
      <p:sp>
        <p:nvSpPr>
          <p:cNvPr id="150" name="任意矩形：006">
            <a:extLst>
              <a:ext uri="{FF2B5EF4-FFF2-40B4-BE49-F238E27FC236}">
                <a16:creationId xmlns:a16="http://schemas.microsoft.com/office/drawing/2014/main" id="{152966DC-CC1E-4AFE-9935-70CC589F8592}"/>
              </a:ext>
            </a:extLst>
          </p:cNvPr>
          <p:cNvSpPr/>
          <p:nvPr/>
        </p:nvSpPr>
        <p:spPr>
          <a:xfrm>
            <a:off x="125661" y="5689964"/>
            <a:ext cx="203662" cy="187126"/>
          </a:xfrm>
          <a:custGeom>
            <a:avLst/>
            <a:gdLst>
              <a:gd name="T0" fmla="*/ 11834 w 13933"/>
              <a:gd name="T1" fmla="*/ 1094 h 12800"/>
              <a:gd name="T2" fmla="*/ 10384 w 13933"/>
              <a:gd name="T3" fmla="*/ 1094 h 12800"/>
              <a:gd name="T4" fmla="*/ 10384 w 13933"/>
              <a:gd name="T5" fmla="*/ 315 h 12800"/>
              <a:gd name="T6" fmla="*/ 10069 w 13933"/>
              <a:gd name="T7" fmla="*/ 0 h 12800"/>
              <a:gd name="T8" fmla="*/ 9754 w 13933"/>
              <a:gd name="T9" fmla="*/ 315 h 12800"/>
              <a:gd name="T10" fmla="*/ 9754 w 13933"/>
              <a:gd name="T11" fmla="*/ 1094 h 12800"/>
              <a:gd name="T12" fmla="*/ 4056 w 13933"/>
              <a:gd name="T13" fmla="*/ 1094 h 12800"/>
              <a:gd name="T14" fmla="*/ 4056 w 13933"/>
              <a:gd name="T15" fmla="*/ 315 h 12800"/>
              <a:gd name="T16" fmla="*/ 3741 w 13933"/>
              <a:gd name="T17" fmla="*/ 0 h 12800"/>
              <a:gd name="T18" fmla="*/ 3426 w 13933"/>
              <a:gd name="T19" fmla="*/ 315 h 12800"/>
              <a:gd name="T20" fmla="*/ 3426 w 13933"/>
              <a:gd name="T21" fmla="*/ 1094 h 12800"/>
              <a:gd name="T22" fmla="*/ 2099 w 13933"/>
              <a:gd name="T23" fmla="*/ 1094 h 12800"/>
              <a:gd name="T24" fmla="*/ 0 w 13933"/>
              <a:gd name="T25" fmla="*/ 3193 h 12800"/>
              <a:gd name="T26" fmla="*/ 0 w 13933"/>
              <a:gd name="T27" fmla="*/ 10701 h 12800"/>
              <a:gd name="T28" fmla="*/ 2099 w 13933"/>
              <a:gd name="T29" fmla="*/ 12800 h 12800"/>
              <a:gd name="T30" fmla="*/ 11834 w 13933"/>
              <a:gd name="T31" fmla="*/ 12800 h 12800"/>
              <a:gd name="T32" fmla="*/ 13933 w 13933"/>
              <a:gd name="T33" fmla="*/ 10701 h 12800"/>
              <a:gd name="T34" fmla="*/ 13933 w 13933"/>
              <a:gd name="T35" fmla="*/ 3193 h 12800"/>
              <a:gd name="T36" fmla="*/ 11834 w 13933"/>
              <a:gd name="T37" fmla="*/ 1094 h 12800"/>
              <a:gd name="T38" fmla="*/ 2099 w 13933"/>
              <a:gd name="T39" fmla="*/ 1933 h 12800"/>
              <a:gd name="T40" fmla="*/ 3426 w 13933"/>
              <a:gd name="T41" fmla="*/ 1933 h 12800"/>
              <a:gd name="T42" fmla="*/ 3426 w 13933"/>
              <a:gd name="T43" fmla="*/ 2757 h 12800"/>
              <a:gd name="T44" fmla="*/ 3741 w 13933"/>
              <a:gd name="T45" fmla="*/ 3072 h 12800"/>
              <a:gd name="T46" fmla="*/ 4056 w 13933"/>
              <a:gd name="T47" fmla="*/ 2757 h 12800"/>
              <a:gd name="T48" fmla="*/ 4056 w 13933"/>
              <a:gd name="T49" fmla="*/ 1933 h 12800"/>
              <a:gd name="T50" fmla="*/ 9754 w 13933"/>
              <a:gd name="T51" fmla="*/ 1933 h 12800"/>
              <a:gd name="T52" fmla="*/ 9754 w 13933"/>
              <a:gd name="T53" fmla="*/ 2757 h 12800"/>
              <a:gd name="T54" fmla="*/ 10069 w 13933"/>
              <a:gd name="T55" fmla="*/ 3072 h 12800"/>
              <a:gd name="T56" fmla="*/ 10384 w 13933"/>
              <a:gd name="T57" fmla="*/ 2757 h 12800"/>
              <a:gd name="T58" fmla="*/ 10384 w 13933"/>
              <a:gd name="T59" fmla="*/ 1933 h 12800"/>
              <a:gd name="T60" fmla="*/ 11834 w 13933"/>
              <a:gd name="T61" fmla="*/ 1933 h 12800"/>
              <a:gd name="T62" fmla="*/ 13094 w 13933"/>
              <a:gd name="T63" fmla="*/ 3193 h 12800"/>
              <a:gd name="T64" fmla="*/ 13094 w 13933"/>
              <a:gd name="T65" fmla="*/ 4646 h 12800"/>
              <a:gd name="T66" fmla="*/ 840 w 13933"/>
              <a:gd name="T67" fmla="*/ 4646 h 12800"/>
              <a:gd name="T68" fmla="*/ 840 w 13933"/>
              <a:gd name="T69" fmla="*/ 3193 h 12800"/>
              <a:gd name="T70" fmla="*/ 2099 w 13933"/>
              <a:gd name="T71" fmla="*/ 1933 h 12800"/>
              <a:gd name="T72" fmla="*/ 11834 w 13933"/>
              <a:gd name="T73" fmla="*/ 11960 h 12800"/>
              <a:gd name="T74" fmla="*/ 2099 w 13933"/>
              <a:gd name="T75" fmla="*/ 11960 h 12800"/>
              <a:gd name="T76" fmla="*/ 840 w 13933"/>
              <a:gd name="T77" fmla="*/ 10701 h 12800"/>
              <a:gd name="T78" fmla="*/ 840 w 13933"/>
              <a:gd name="T79" fmla="*/ 5276 h 12800"/>
              <a:gd name="T80" fmla="*/ 13094 w 13933"/>
              <a:gd name="T81" fmla="*/ 5276 h 12800"/>
              <a:gd name="T82" fmla="*/ 13094 w 13933"/>
              <a:gd name="T83" fmla="*/ 10701 h 12800"/>
              <a:gd name="T84" fmla="*/ 11834 w 13933"/>
              <a:gd name="T85" fmla="*/ 11960 h 128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Lst>
            <a:rect l="0" t="0" r="r" b="b"/>
            <a:pathLst>
              <a:path w="13933" h="12800">
                <a:moveTo>
                  <a:pt x="11834" y="1094"/>
                </a:moveTo>
                <a:lnTo>
                  <a:pt x="10384" y="1094"/>
                </a:lnTo>
                <a:lnTo>
                  <a:pt x="10384" y="315"/>
                </a:lnTo>
                <a:cubicBezTo>
                  <a:pt x="10384" y="141"/>
                  <a:pt x="10243" y="0"/>
                  <a:pt x="10069" y="0"/>
                </a:cubicBezTo>
                <a:cubicBezTo>
                  <a:pt x="9895" y="0"/>
                  <a:pt x="9754" y="141"/>
                  <a:pt x="9754" y="315"/>
                </a:cubicBezTo>
                <a:lnTo>
                  <a:pt x="9754" y="1094"/>
                </a:lnTo>
                <a:lnTo>
                  <a:pt x="4056" y="1094"/>
                </a:lnTo>
                <a:lnTo>
                  <a:pt x="4056" y="315"/>
                </a:lnTo>
                <a:cubicBezTo>
                  <a:pt x="4056" y="141"/>
                  <a:pt x="3915" y="0"/>
                  <a:pt x="3741" y="0"/>
                </a:cubicBezTo>
                <a:cubicBezTo>
                  <a:pt x="3567" y="0"/>
                  <a:pt x="3426" y="141"/>
                  <a:pt x="3426" y="315"/>
                </a:cubicBezTo>
                <a:lnTo>
                  <a:pt x="3426" y="1094"/>
                </a:lnTo>
                <a:lnTo>
                  <a:pt x="2099" y="1094"/>
                </a:lnTo>
                <a:cubicBezTo>
                  <a:pt x="940" y="1095"/>
                  <a:pt x="1" y="2034"/>
                  <a:pt x="0" y="3193"/>
                </a:cubicBezTo>
                <a:lnTo>
                  <a:pt x="0" y="10701"/>
                </a:lnTo>
                <a:cubicBezTo>
                  <a:pt x="1" y="11860"/>
                  <a:pt x="940" y="12799"/>
                  <a:pt x="2099" y="12800"/>
                </a:cubicBezTo>
                <a:lnTo>
                  <a:pt x="11834" y="12800"/>
                </a:lnTo>
                <a:cubicBezTo>
                  <a:pt x="12993" y="12799"/>
                  <a:pt x="13932" y="11860"/>
                  <a:pt x="13933" y="10701"/>
                </a:cubicBezTo>
                <a:lnTo>
                  <a:pt x="13933" y="3193"/>
                </a:lnTo>
                <a:cubicBezTo>
                  <a:pt x="13932" y="2034"/>
                  <a:pt x="12993" y="1095"/>
                  <a:pt x="11834" y="1094"/>
                </a:cubicBezTo>
                <a:close/>
                <a:moveTo>
                  <a:pt x="2099" y="1933"/>
                </a:moveTo>
                <a:lnTo>
                  <a:pt x="3426" y="1933"/>
                </a:lnTo>
                <a:lnTo>
                  <a:pt x="3426" y="2757"/>
                </a:lnTo>
                <a:cubicBezTo>
                  <a:pt x="3426" y="2931"/>
                  <a:pt x="3567" y="3072"/>
                  <a:pt x="3741" y="3072"/>
                </a:cubicBezTo>
                <a:cubicBezTo>
                  <a:pt x="3915" y="3072"/>
                  <a:pt x="4056" y="2931"/>
                  <a:pt x="4056" y="2757"/>
                </a:cubicBezTo>
                <a:lnTo>
                  <a:pt x="4056" y="1933"/>
                </a:lnTo>
                <a:lnTo>
                  <a:pt x="9754" y="1933"/>
                </a:lnTo>
                <a:lnTo>
                  <a:pt x="9754" y="2757"/>
                </a:lnTo>
                <a:cubicBezTo>
                  <a:pt x="9754" y="2931"/>
                  <a:pt x="9895" y="3072"/>
                  <a:pt x="10069" y="3072"/>
                </a:cubicBezTo>
                <a:cubicBezTo>
                  <a:pt x="10243" y="3072"/>
                  <a:pt x="10384" y="2931"/>
                  <a:pt x="10384" y="2757"/>
                </a:cubicBezTo>
                <a:lnTo>
                  <a:pt x="10384" y="1933"/>
                </a:lnTo>
                <a:lnTo>
                  <a:pt x="11834" y="1933"/>
                </a:lnTo>
                <a:cubicBezTo>
                  <a:pt x="12529" y="1934"/>
                  <a:pt x="13093" y="2497"/>
                  <a:pt x="13094" y="3193"/>
                </a:cubicBezTo>
                <a:lnTo>
                  <a:pt x="13094" y="4646"/>
                </a:lnTo>
                <a:lnTo>
                  <a:pt x="840" y="4646"/>
                </a:lnTo>
                <a:lnTo>
                  <a:pt x="840" y="3193"/>
                </a:lnTo>
                <a:cubicBezTo>
                  <a:pt x="840" y="2497"/>
                  <a:pt x="1404" y="1934"/>
                  <a:pt x="2099" y="1933"/>
                </a:cubicBezTo>
                <a:close/>
                <a:moveTo>
                  <a:pt x="11834" y="11960"/>
                </a:moveTo>
                <a:lnTo>
                  <a:pt x="2099" y="11960"/>
                </a:lnTo>
                <a:cubicBezTo>
                  <a:pt x="1404" y="11960"/>
                  <a:pt x="840" y="11396"/>
                  <a:pt x="840" y="10701"/>
                </a:cubicBezTo>
                <a:lnTo>
                  <a:pt x="840" y="5276"/>
                </a:lnTo>
                <a:lnTo>
                  <a:pt x="13094" y="5276"/>
                </a:lnTo>
                <a:lnTo>
                  <a:pt x="13094" y="10701"/>
                </a:lnTo>
                <a:cubicBezTo>
                  <a:pt x="13093" y="11396"/>
                  <a:pt x="12529" y="11960"/>
                  <a:pt x="11834" y="11960"/>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1" name="文本框 150">
            <a:extLst>
              <a:ext uri="{FF2B5EF4-FFF2-40B4-BE49-F238E27FC236}">
                <a16:creationId xmlns:a16="http://schemas.microsoft.com/office/drawing/2014/main" id="{FCD1E9EB-AC21-46AA-B806-ED6B90CD9329}"/>
              </a:ext>
            </a:extLst>
          </p:cNvPr>
          <p:cNvSpPr txBox="1"/>
          <p:nvPr/>
        </p:nvSpPr>
        <p:spPr>
          <a:xfrm>
            <a:off x="2209656" y="248670"/>
            <a:ext cx="3305713" cy="461665"/>
          </a:xfrm>
          <a:prstGeom prst="rect">
            <a:avLst/>
          </a:prstGeom>
          <a:noFill/>
        </p:spPr>
        <p:txBody>
          <a:bodyPr wrap="none" rtlCol="0">
            <a:spAutoFit/>
          </a:bodyPr>
          <a:lstStyle/>
          <a:p>
            <a:r>
              <a:rPr lang="en-US" altLang="zh-CN" sz="2400" dirty="0">
                <a:solidFill>
                  <a:schemeClr val="accent1"/>
                </a:solidFill>
                <a:latin typeface="思源黑体 CN Bold" panose="020B0800000000000000" pitchFamily="34" charset="-122"/>
                <a:ea typeface="思源黑体 CN Bold" panose="020B0800000000000000" pitchFamily="34" charset="-122"/>
              </a:rPr>
              <a:t>6. </a:t>
            </a:r>
            <a:r>
              <a:rPr lang="zh-CN" altLang="en-US" sz="2400" dirty="0">
                <a:solidFill>
                  <a:schemeClr val="accent1"/>
                </a:solidFill>
                <a:latin typeface="思源黑体 CN Bold" panose="020B0800000000000000" pitchFamily="34" charset="-122"/>
                <a:ea typeface="思源黑体 CN Bold" panose="020B0800000000000000" pitchFamily="34" charset="-122"/>
              </a:rPr>
              <a:t>进度安排及预期成果</a:t>
            </a:r>
          </a:p>
        </p:txBody>
      </p:sp>
      <p:grpSp>
        <p:nvGrpSpPr>
          <p:cNvPr id="16" name="组合 15">
            <a:extLst>
              <a:ext uri="{FF2B5EF4-FFF2-40B4-BE49-F238E27FC236}">
                <a16:creationId xmlns:a16="http://schemas.microsoft.com/office/drawing/2014/main" id="{82B21C9C-CD51-4A9C-9982-8174C64C835E}"/>
              </a:ext>
            </a:extLst>
          </p:cNvPr>
          <p:cNvGrpSpPr/>
          <p:nvPr/>
        </p:nvGrpSpPr>
        <p:grpSpPr>
          <a:xfrm>
            <a:off x="5546099" y="2708419"/>
            <a:ext cx="2139195" cy="670779"/>
            <a:chOff x="5546099" y="2708419"/>
            <a:chExt cx="2139195" cy="670779"/>
          </a:xfrm>
        </p:grpSpPr>
        <p:sp>
          <p:nvSpPr>
            <p:cNvPr id="152" name="靖飞在肝PPT1">
              <a:extLst>
                <a:ext uri="{FF2B5EF4-FFF2-40B4-BE49-F238E27FC236}">
                  <a16:creationId xmlns:a16="http://schemas.microsoft.com/office/drawing/2014/main" id="{6E8C9012-ED76-4449-8C8D-E3FE7453D81E}"/>
                </a:ext>
              </a:extLst>
            </p:cNvPr>
            <p:cNvSpPr/>
            <p:nvPr/>
          </p:nvSpPr>
          <p:spPr>
            <a:xfrm>
              <a:off x="5546099" y="2708419"/>
              <a:ext cx="2139189" cy="331105"/>
            </a:xfrm>
            <a:custGeom>
              <a:avLst/>
              <a:gdLst>
                <a:gd name="connsiteX0" fmla="*/ 4338735 w 4338735"/>
                <a:gd name="connsiteY0" fmla="*/ 1147665 h 1147665"/>
                <a:gd name="connsiteX1" fmla="*/ 3191070 w 4338735"/>
                <a:gd name="connsiteY1" fmla="*/ 0 h 1147665"/>
                <a:gd name="connsiteX2" fmla="*/ 0 w 4338735"/>
                <a:gd name="connsiteY2" fmla="*/ 0 h 1147665"/>
                <a:gd name="connsiteX0-1" fmla="*/ 4125375 w 4125375"/>
                <a:gd name="connsiteY0-2" fmla="*/ 939385 h 939385"/>
                <a:gd name="connsiteX1-3" fmla="*/ 3191070 w 4125375"/>
                <a:gd name="connsiteY1-4" fmla="*/ 0 h 939385"/>
                <a:gd name="connsiteX2-5" fmla="*/ 0 w 4125375"/>
                <a:gd name="connsiteY2-6" fmla="*/ 0 h 939385"/>
              </a:gdLst>
              <a:ahLst/>
              <a:cxnLst>
                <a:cxn ang="0">
                  <a:pos x="connsiteX0-1" y="connsiteY0-2"/>
                </a:cxn>
                <a:cxn ang="0">
                  <a:pos x="connsiteX1-3" y="connsiteY1-4"/>
                </a:cxn>
                <a:cxn ang="0">
                  <a:pos x="connsiteX2-5" y="connsiteY2-6"/>
                </a:cxn>
              </a:cxnLst>
              <a:rect l="l" t="t" r="r" b="b"/>
              <a:pathLst>
                <a:path w="4125375" h="939385">
                  <a:moveTo>
                    <a:pt x="4125375" y="939385"/>
                  </a:moveTo>
                  <a:lnTo>
                    <a:pt x="3191070" y="0"/>
                  </a:lnTo>
                  <a:lnTo>
                    <a:pt x="0" y="0"/>
                  </a:lnTo>
                </a:path>
              </a:pathLst>
            </a:custGeom>
            <a:noFill/>
            <a:ln>
              <a:solidFill>
                <a:schemeClr val="accent1">
                  <a:alpha val="40000"/>
                </a:schemeClr>
              </a:solidFill>
              <a:prstDash val="sys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latin typeface="+mj-ea"/>
                <a:ea typeface="+mj-ea"/>
                <a:cs typeface="OPPOSans M" panose="00020600040101010101" pitchFamily="18" charset="-122"/>
              </a:endParaRPr>
            </a:p>
          </p:txBody>
        </p:sp>
        <p:sp>
          <p:nvSpPr>
            <p:cNvPr id="154" name="靖飞在肝PPT7">
              <a:extLst>
                <a:ext uri="{FF2B5EF4-FFF2-40B4-BE49-F238E27FC236}">
                  <a16:creationId xmlns:a16="http://schemas.microsoft.com/office/drawing/2014/main" id="{013597E9-E221-4855-9DAD-A62200DB77CE}"/>
                </a:ext>
              </a:extLst>
            </p:cNvPr>
            <p:cNvSpPr/>
            <p:nvPr/>
          </p:nvSpPr>
          <p:spPr>
            <a:xfrm flipV="1">
              <a:off x="7433925" y="3053667"/>
              <a:ext cx="251369" cy="325531"/>
            </a:xfrm>
            <a:custGeom>
              <a:avLst/>
              <a:gdLst>
                <a:gd name="connsiteX0" fmla="*/ 4338735 w 4338735"/>
                <a:gd name="connsiteY0" fmla="*/ 1147665 h 1147665"/>
                <a:gd name="connsiteX1" fmla="*/ 3191070 w 4338735"/>
                <a:gd name="connsiteY1" fmla="*/ 0 h 1147665"/>
                <a:gd name="connsiteX2" fmla="*/ 0 w 4338735"/>
                <a:gd name="connsiteY2" fmla="*/ 0 h 1147665"/>
                <a:gd name="connsiteX0-1" fmla="*/ 4125375 w 4125375"/>
                <a:gd name="connsiteY0-2" fmla="*/ 939385 h 939385"/>
                <a:gd name="connsiteX1-3" fmla="*/ 3191070 w 4125375"/>
                <a:gd name="connsiteY1-4" fmla="*/ 0 h 939385"/>
                <a:gd name="connsiteX2-5" fmla="*/ 0 w 4125375"/>
                <a:gd name="connsiteY2-6" fmla="*/ 0 h 939385"/>
              </a:gdLst>
              <a:ahLst/>
              <a:cxnLst>
                <a:cxn ang="0">
                  <a:pos x="connsiteX0-1" y="connsiteY0-2"/>
                </a:cxn>
                <a:cxn ang="0">
                  <a:pos x="connsiteX1-3" y="connsiteY1-4"/>
                </a:cxn>
                <a:cxn ang="0">
                  <a:pos x="connsiteX2-5" y="connsiteY2-6"/>
                </a:cxn>
              </a:cxnLst>
              <a:rect l="l" t="t" r="r" b="b"/>
              <a:pathLst>
                <a:path w="4125375" h="939385">
                  <a:moveTo>
                    <a:pt x="4125375" y="939385"/>
                  </a:moveTo>
                  <a:lnTo>
                    <a:pt x="3191070" y="0"/>
                  </a:lnTo>
                  <a:lnTo>
                    <a:pt x="0" y="0"/>
                  </a:lnTo>
                </a:path>
              </a:pathLst>
            </a:custGeom>
            <a:noFill/>
            <a:ln>
              <a:solidFill>
                <a:schemeClr val="accent1">
                  <a:alpha val="40000"/>
                </a:schemeClr>
              </a:solidFill>
              <a:prstDash val="sys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latin typeface="+mj-ea"/>
                <a:ea typeface="+mj-ea"/>
                <a:cs typeface="OPPOSans M" panose="00020600040101010101" pitchFamily="18" charset="-122"/>
              </a:endParaRPr>
            </a:p>
          </p:txBody>
        </p:sp>
        <p:cxnSp>
          <p:nvCxnSpPr>
            <p:cNvPr id="7" name="直接连接符 6">
              <a:extLst>
                <a:ext uri="{FF2B5EF4-FFF2-40B4-BE49-F238E27FC236}">
                  <a16:creationId xmlns:a16="http://schemas.microsoft.com/office/drawing/2014/main" id="{ADE945AE-2806-4A97-9FAC-F7B9A0EB55AC}"/>
                </a:ext>
              </a:extLst>
            </p:cNvPr>
            <p:cNvCxnSpPr/>
            <p:nvPr/>
          </p:nvCxnSpPr>
          <p:spPr>
            <a:xfrm>
              <a:off x="6154091" y="3053667"/>
              <a:ext cx="1508556" cy="0"/>
            </a:xfrm>
            <a:prstGeom prst="line">
              <a:avLst/>
            </a:prstGeom>
            <a:noFill/>
            <a:ln>
              <a:solidFill>
                <a:schemeClr val="accent1">
                  <a:alpha val="40000"/>
                </a:schemeClr>
              </a:solidFill>
              <a:prstDash val="sysDash"/>
            </a:ln>
          </p:spPr>
          <p:style>
            <a:lnRef idx="2">
              <a:schemeClr val="accent1">
                <a:shade val="15000"/>
              </a:schemeClr>
            </a:lnRef>
            <a:fillRef idx="1">
              <a:schemeClr val="accent1"/>
            </a:fillRef>
            <a:effectRef idx="0">
              <a:schemeClr val="accent1"/>
            </a:effectRef>
            <a:fontRef idx="minor">
              <a:schemeClr val="lt1"/>
            </a:fontRef>
          </p:style>
        </p:cxnSp>
      </p:grpSp>
      <p:grpSp>
        <p:nvGrpSpPr>
          <p:cNvPr id="15" name="组合 14">
            <a:extLst>
              <a:ext uri="{FF2B5EF4-FFF2-40B4-BE49-F238E27FC236}">
                <a16:creationId xmlns:a16="http://schemas.microsoft.com/office/drawing/2014/main" id="{672CF696-1B14-46F5-B8FB-54A53BDEF7FE}"/>
              </a:ext>
            </a:extLst>
          </p:cNvPr>
          <p:cNvGrpSpPr/>
          <p:nvPr/>
        </p:nvGrpSpPr>
        <p:grpSpPr>
          <a:xfrm>
            <a:off x="7920330" y="3712258"/>
            <a:ext cx="1110220" cy="687260"/>
            <a:chOff x="7920330" y="3712258"/>
            <a:chExt cx="1110220" cy="687260"/>
          </a:xfrm>
        </p:grpSpPr>
        <p:sp>
          <p:nvSpPr>
            <p:cNvPr id="155" name="靖飞在肝PPT1">
              <a:extLst>
                <a:ext uri="{FF2B5EF4-FFF2-40B4-BE49-F238E27FC236}">
                  <a16:creationId xmlns:a16="http://schemas.microsoft.com/office/drawing/2014/main" id="{2DD88776-7C46-4276-996A-59F2E2678BB3}"/>
                </a:ext>
              </a:extLst>
            </p:cNvPr>
            <p:cNvSpPr/>
            <p:nvPr/>
          </p:nvSpPr>
          <p:spPr>
            <a:xfrm>
              <a:off x="8147522" y="3712258"/>
              <a:ext cx="878972" cy="331105"/>
            </a:xfrm>
            <a:custGeom>
              <a:avLst/>
              <a:gdLst>
                <a:gd name="connsiteX0" fmla="*/ 4338735 w 4338735"/>
                <a:gd name="connsiteY0" fmla="*/ 1147665 h 1147665"/>
                <a:gd name="connsiteX1" fmla="*/ 3191070 w 4338735"/>
                <a:gd name="connsiteY1" fmla="*/ 0 h 1147665"/>
                <a:gd name="connsiteX2" fmla="*/ 0 w 4338735"/>
                <a:gd name="connsiteY2" fmla="*/ 0 h 1147665"/>
                <a:gd name="connsiteX0-1" fmla="*/ 4125375 w 4125375"/>
                <a:gd name="connsiteY0-2" fmla="*/ 939385 h 939385"/>
                <a:gd name="connsiteX1-3" fmla="*/ 3191070 w 4125375"/>
                <a:gd name="connsiteY1-4" fmla="*/ 0 h 939385"/>
                <a:gd name="connsiteX2-5" fmla="*/ 0 w 4125375"/>
                <a:gd name="connsiteY2-6" fmla="*/ 0 h 939385"/>
              </a:gdLst>
              <a:ahLst/>
              <a:cxnLst>
                <a:cxn ang="0">
                  <a:pos x="connsiteX0-1" y="connsiteY0-2"/>
                </a:cxn>
                <a:cxn ang="0">
                  <a:pos x="connsiteX1-3" y="connsiteY1-4"/>
                </a:cxn>
                <a:cxn ang="0">
                  <a:pos x="connsiteX2-5" y="connsiteY2-6"/>
                </a:cxn>
              </a:cxnLst>
              <a:rect l="l" t="t" r="r" b="b"/>
              <a:pathLst>
                <a:path w="4125375" h="939385">
                  <a:moveTo>
                    <a:pt x="4125375" y="939385"/>
                  </a:moveTo>
                  <a:lnTo>
                    <a:pt x="3191070" y="0"/>
                  </a:lnTo>
                  <a:lnTo>
                    <a:pt x="0" y="0"/>
                  </a:lnTo>
                </a:path>
              </a:pathLst>
            </a:custGeom>
            <a:noFill/>
            <a:ln>
              <a:solidFill>
                <a:schemeClr val="accent1">
                  <a:alpha val="40000"/>
                </a:schemeClr>
              </a:solidFill>
              <a:prstDash val="sys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latin typeface="+mj-ea"/>
                <a:ea typeface="+mj-ea"/>
                <a:cs typeface="OPPOSans M" panose="00020600040101010101" pitchFamily="18" charset="-122"/>
              </a:endParaRPr>
            </a:p>
          </p:txBody>
        </p:sp>
        <p:sp>
          <p:nvSpPr>
            <p:cNvPr id="156" name="靖飞在肝PPT7">
              <a:extLst>
                <a:ext uri="{FF2B5EF4-FFF2-40B4-BE49-F238E27FC236}">
                  <a16:creationId xmlns:a16="http://schemas.microsoft.com/office/drawing/2014/main" id="{E7F75939-D858-48B5-8192-6248B9748A46}"/>
                </a:ext>
              </a:extLst>
            </p:cNvPr>
            <p:cNvSpPr/>
            <p:nvPr/>
          </p:nvSpPr>
          <p:spPr>
            <a:xfrm flipV="1">
              <a:off x="7920330" y="4049745"/>
              <a:ext cx="1106164" cy="349773"/>
            </a:xfrm>
            <a:custGeom>
              <a:avLst/>
              <a:gdLst>
                <a:gd name="connsiteX0" fmla="*/ 4338735 w 4338735"/>
                <a:gd name="connsiteY0" fmla="*/ 1147665 h 1147665"/>
                <a:gd name="connsiteX1" fmla="*/ 3191070 w 4338735"/>
                <a:gd name="connsiteY1" fmla="*/ 0 h 1147665"/>
                <a:gd name="connsiteX2" fmla="*/ 0 w 4338735"/>
                <a:gd name="connsiteY2" fmla="*/ 0 h 1147665"/>
                <a:gd name="connsiteX0-1" fmla="*/ 4125375 w 4125375"/>
                <a:gd name="connsiteY0-2" fmla="*/ 939385 h 939385"/>
                <a:gd name="connsiteX1-3" fmla="*/ 3191070 w 4125375"/>
                <a:gd name="connsiteY1-4" fmla="*/ 0 h 939385"/>
                <a:gd name="connsiteX2-5" fmla="*/ 0 w 4125375"/>
                <a:gd name="connsiteY2-6" fmla="*/ 0 h 939385"/>
              </a:gdLst>
              <a:ahLst/>
              <a:cxnLst>
                <a:cxn ang="0">
                  <a:pos x="connsiteX0-1" y="connsiteY0-2"/>
                </a:cxn>
                <a:cxn ang="0">
                  <a:pos x="connsiteX1-3" y="connsiteY1-4"/>
                </a:cxn>
                <a:cxn ang="0">
                  <a:pos x="connsiteX2-5" y="connsiteY2-6"/>
                </a:cxn>
              </a:cxnLst>
              <a:rect l="l" t="t" r="r" b="b"/>
              <a:pathLst>
                <a:path w="4125375" h="939385">
                  <a:moveTo>
                    <a:pt x="4125375" y="939385"/>
                  </a:moveTo>
                  <a:lnTo>
                    <a:pt x="3191070" y="0"/>
                  </a:lnTo>
                  <a:lnTo>
                    <a:pt x="0" y="0"/>
                  </a:lnTo>
                </a:path>
              </a:pathLst>
            </a:custGeom>
            <a:noFill/>
            <a:ln>
              <a:solidFill>
                <a:schemeClr val="accent1">
                  <a:alpha val="40000"/>
                </a:schemeClr>
              </a:solidFill>
              <a:prstDash val="sys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latin typeface="+mj-ea"/>
                <a:ea typeface="+mj-ea"/>
                <a:cs typeface="OPPOSans M" panose="00020600040101010101" pitchFamily="18" charset="-122"/>
              </a:endParaRPr>
            </a:p>
          </p:txBody>
        </p:sp>
        <p:cxnSp>
          <p:nvCxnSpPr>
            <p:cNvPr id="157" name="直接连接符 156">
              <a:extLst>
                <a:ext uri="{FF2B5EF4-FFF2-40B4-BE49-F238E27FC236}">
                  <a16:creationId xmlns:a16="http://schemas.microsoft.com/office/drawing/2014/main" id="{C9309DC6-2411-4183-84FC-6F06E82E5938}"/>
                </a:ext>
              </a:extLst>
            </p:cNvPr>
            <p:cNvCxnSpPr>
              <a:cxnSpLocks/>
            </p:cNvCxnSpPr>
            <p:nvPr/>
          </p:nvCxnSpPr>
          <p:spPr>
            <a:xfrm>
              <a:off x="8769512" y="4053026"/>
              <a:ext cx="261038" cy="0"/>
            </a:xfrm>
            <a:prstGeom prst="line">
              <a:avLst/>
            </a:prstGeom>
            <a:noFill/>
            <a:ln>
              <a:solidFill>
                <a:schemeClr val="accent1">
                  <a:alpha val="40000"/>
                </a:schemeClr>
              </a:solidFill>
              <a:prstDash val="sysDash"/>
            </a:ln>
          </p:spPr>
          <p:style>
            <a:lnRef idx="2">
              <a:schemeClr val="accent1">
                <a:shade val="15000"/>
              </a:schemeClr>
            </a:lnRef>
            <a:fillRef idx="1">
              <a:schemeClr val="accent1"/>
            </a:fillRef>
            <a:effectRef idx="0">
              <a:schemeClr val="accent1"/>
            </a:effectRef>
            <a:fontRef idx="minor">
              <a:schemeClr val="lt1"/>
            </a:fontRef>
          </p:style>
        </p:cxnSp>
      </p:grpSp>
      <p:grpSp>
        <p:nvGrpSpPr>
          <p:cNvPr id="14" name="组合 13">
            <a:extLst>
              <a:ext uri="{FF2B5EF4-FFF2-40B4-BE49-F238E27FC236}">
                <a16:creationId xmlns:a16="http://schemas.microsoft.com/office/drawing/2014/main" id="{5225D5D2-C689-438C-B69B-40156927B7FB}"/>
              </a:ext>
            </a:extLst>
          </p:cNvPr>
          <p:cNvGrpSpPr/>
          <p:nvPr/>
        </p:nvGrpSpPr>
        <p:grpSpPr>
          <a:xfrm>
            <a:off x="8915604" y="4726931"/>
            <a:ext cx="1455199" cy="678390"/>
            <a:chOff x="8915604" y="4726931"/>
            <a:chExt cx="1455199" cy="678390"/>
          </a:xfrm>
        </p:grpSpPr>
        <p:sp>
          <p:nvSpPr>
            <p:cNvPr id="158" name="靖飞在肝PPT1">
              <a:extLst>
                <a:ext uri="{FF2B5EF4-FFF2-40B4-BE49-F238E27FC236}">
                  <a16:creationId xmlns:a16="http://schemas.microsoft.com/office/drawing/2014/main" id="{8C0A8711-3430-4267-950A-EF398CEEB7F6}"/>
                </a:ext>
              </a:extLst>
            </p:cNvPr>
            <p:cNvSpPr/>
            <p:nvPr/>
          </p:nvSpPr>
          <p:spPr>
            <a:xfrm>
              <a:off x="8915604" y="4726931"/>
              <a:ext cx="1439976" cy="322236"/>
            </a:xfrm>
            <a:custGeom>
              <a:avLst/>
              <a:gdLst>
                <a:gd name="connsiteX0" fmla="*/ 4338735 w 4338735"/>
                <a:gd name="connsiteY0" fmla="*/ 1147665 h 1147665"/>
                <a:gd name="connsiteX1" fmla="*/ 3191070 w 4338735"/>
                <a:gd name="connsiteY1" fmla="*/ 0 h 1147665"/>
                <a:gd name="connsiteX2" fmla="*/ 0 w 4338735"/>
                <a:gd name="connsiteY2" fmla="*/ 0 h 1147665"/>
                <a:gd name="connsiteX0-1" fmla="*/ 4125375 w 4125375"/>
                <a:gd name="connsiteY0-2" fmla="*/ 939385 h 939385"/>
                <a:gd name="connsiteX1-3" fmla="*/ 3191070 w 4125375"/>
                <a:gd name="connsiteY1-4" fmla="*/ 0 h 939385"/>
                <a:gd name="connsiteX2-5" fmla="*/ 0 w 4125375"/>
                <a:gd name="connsiteY2-6" fmla="*/ 0 h 939385"/>
              </a:gdLst>
              <a:ahLst/>
              <a:cxnLst>
                <a:cxn ang="0">
                  <a:pos x="connsiteX0-1" y="connsiteY0-2"/>
                </a:cxn>
                <a:cxn ang="0">
                  <a:pos x="connsiteX1-3" y="connsiteY1-4"/>
                </a:cxn>
                <a:cxn ang="0">
                  <a:pos x="connsiteX2-5" y="connsiteY2-6"/>
                </a:cxn>
              </a:cxnLst>
              <a:rect l="l" t="t" r="r" b="b"/>
              <a:pathLst>
                <a:path w="4125375" h="939385">
                  <a:moveTo>
                    <a:pt x="4125375" y="939385"/>
                  </a:moveTo>
                  <a:lnTo>
                    <a:pt x="3191070" y="0"/>
                  </a:lnTo>
                  <a:lnTo>
                    <a:pt x="0" y="0"/>
                  </a:lnTo>
                </a:path>
              </a:pathLst>
            </a:custGeom>
            <a:noFill/>
            <a:ln>
              <a:solidFill>
                <a:schemeClr val="accent1">
                  <a:alpha val="40000"/>
                </a:schemeClr>
              </a:solidFill>
              <a:prstDash val="sys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latin typeface="+mj-ea"/>
                <a:ea typeface="+mj-ea"/>
                <a:cs typeface="OPPOSans M" panose="00020600040101010101" pitchFamily="18" charset="-122"/>
              </a:endParaRPr>
            </a:p>
          </p:txBody>
        </p:sp>
        <p:sp>
          <p:nvSpPr>
            <p:cNvPr id="160" name="靖飞在肝PPT7">
              <a:extLst>
                <a:ext uri="{FF2B5EF4-FFF2-40B4-BE49-F238E27FC236}">
                  <a16:creationId xmlns:a16="http://schemas.microsoft.com/office/drawing/2014/main" id="{2D0C427E-9F38-44C4-B7C0-3C6926074E27}"/>
                </a:ext>
              </a:extLst>
            </p:cNvPr>
            <p:cNvSpPr/>
            <p:nvPr/>
          </p:nvSpPr>
          <p:spPr>
            <a:xfrm flipV="1">
              <a:off x="8976693" y="5055548"/>
              <a:ext cx="1378879" cy="349773"/>
            </a:xfrm>
            <a:custGeom>
              <a:avLst/>
              <a:gdLst>
                <a:gd name="connsiteX0" fmla="*/ 4338735 w 4338735"/>
                <a:gd name="connsiteY0" fmla="*/ 1147665 h 1147665"/>
                <a:gd name="connsiteX1" fmla="*/ 3191070 w 4338735"/>
                <a:gd name="connsiteY1" fmla="*/ 0 h 1147665"/>
                <a:gd name="connsiteX2" fmla="*/ 0 w 4338735"/>
                <a:gd name="connsiteY2" fmla="*/ 0 h 1147665"/>
                <a:gd name="connsiteX0-1" fmla="*/ 4125375 w 4125375"/>
                <a:gd name="connsiteY0-2" fmla="*/ 939385 h 939385"/>
                <a:gd name="connsiteX1-3" fmla="*/ 3191070 w 4125375"/>
                <a:gd name="connsiteY1-4" fmla="*/ 0 h 939385"/>
                <a:gd name="connsiteX2-5" fmla="*/ 0 w 4125375"/>
                <a:gd name="connsiteY2-6" fmla="*/ 0 h 939385"/>
              </a:gdLst>
              <a:ahLst/>
              <a:cxnLst>
                <a:cxn ang="0">
                  <a:pos x="connsiteX0-1" y="connsiteY0-2"/>
                </a:cxn>
                <a:cxn ang="0">
                  <a:pos x="connsiteX1-3" y="connsiteY1-4"/>
                </a:cxn>
                <a:cxn ang="0">
                  <a:pos x="connsiteX2-5" y="connsiteY2-6"/>
                </a:cxn>
              </a:cxnLst>
              <a:rect l="l" t="t" r="r" b="b"/>
              <a:pathLst>
                <a:path w="4125375" h="939385">
                  <a:moveTo>
                    <a:pt x="4125375" y="939385"/>
                  </a:moveTo>
                  <a:lnTo>
                    <a:pt x="3191070" y="0"/>
                  </a:lnTo>
                  <a:lnTo>
                    <a:pt x="0" y="0"/>
                  </a:lnTo>
                </a:path>
              </a:pathLst>
            </a:custGeom>
            <a:noFill/>
            <a:ln>
              <a:solidFill>
                <a:schemeClr val="accent1">
                  <a:alpha val="40000"/>
                </a:schemeClr>
              </a:solidFill>
              <a:prstDash val="sys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latin typeface="+mj-ea"/>
                <a:ea typeface="+mj-ea"/>
                <a:cs typeface="OPPOSans M" panose="00020600040101010101" pitchFamily="18" charset="-122"/>
              </a:endParaRPr>
            </a:p>
          </p:txBody>
        </p:sp>
        <p:cxnSp>
          <p:nvCxnSpPr>
            <p:cNvPr id="163" name="直接连接符 162">
              <a:extLst>
                <a:ext uri="{FF2B5EF4-FFF2-40B4-BE49-F238E27FC236}">
                  <a16:creationId xmlns:a16="http://schemas.microsoft.com/office/drawing/2014/main" id="{8C6A761C-C210-4201-9491-B181A0A37F85}"/>
                </a:ext>
              </a:extLst>
            </p:cNvPr>
            <p:cNvCxnSpPr>
              <a:cxnSpLocks/>
            </p:cNvCxnSpPr>
            <p:nvPr/>
          </p:nvCxnSpPr>
          <p:spPr>
            <a:xfrm>
              <a:off x="9643203" y="5058830"/>
              <a:ext cx="727600" cy="0"/>
            </a:xfrm>
            <a:prstGeom prst="line">
              <a:avLst/>
            </a:prstGeom>
            <a:noFill/>
            <a:ln>
              <a:solidFill>
                <a:schemeClr val="accent1">
                  <a:alpha val="40000"/>
                </a:schemeClr>
              </a:solidFill>
              <a:prstDash val="sysDash"/>
            </a:ln>
          </p:spPr>
          <p:style>
            <a:lnRef idx="2">
              <a:schemeClr val="accent1">
                <a:shade val="15000"/>
              </a:schemeClr>
            </a:lnRef>
            <a:fillRef idx="1">
              <a:schemeClr val="accent1"/>
            </a:fillRef>
            <a:effectRef idx="0">
              <a:schemeClr val="accent1"/>
            </a:effectRef>
            <a:fontRef idx="minor">
              <a:schemeClr val="lt1"/>
            </a:fontRef>
          </p:style>
        </p:cxnSp>
      </p:grpSp>
      <p:grpSp>
        <p:nvGrpSpPr>
          <p:cNvPr id="13" name="组合 12">
            <a:extLst>
              <a:ext uri="{FF2B5EF4-FFF2-40B4-BE49-F238E27FC236}">
                <a16:creationId xmlns:a16="http://schemas.microsoft.com/office/drawing/2014/main" id="{7BF1FD95-6F31-4511-9508-1CCB9E582EDD}"/>
              </a:ext>
            </a:extLst>
          </p:cNvPr>
          <p:cNvGrpSpPr/>
          <p:nvPr/>
        </p:nvGrpSpPr>
        <p:grpSpPr>
          <a:xfrm>
            <a:off x="9643203" y="5760788"/>
            <a:ext cx="1295303" cy="670779"/>
            <a:chOff x="9643203" y="5760788"/>
            <a:chExt cx="1379615" cy="670779"/>
          </a:xfrm>
        </p:grpSpPr>
        <p:sp>
          <p:nvSpPr>
            <p:cNvPr id="176" name="靖飞在肝PPT1">
              <a:extLst>
                <a:ext uri="{FF2B5EF4-FFF2-40B4-BE49-F238E27FC236}">
                  <a16:creationId xmlns:a16="http://schemas.microsoft.com/office/drawing/2014/main" id="{B077C632-5FC9-428D-85E3-E6D2D4B806B4}"/>
                </a:ext>
              </a:extLst>
            </p:cNvPr>
            <p:cNvSpPr/>
            <p:nvPr/>
          </p:nvSpPr>
          <p:spPr>
            <a:xfrm>
              <a:off x="9643203" y="5760788"/>
              <a:ext cx="1379609" cy="331105"/>
            </a:xfrm>
            <a:custGeom>
              <a:avLst/>
              <a:gdLst>
                <a:gd name="connsiteX0" fmla="*/ 4338735 w 4338735"/>
                <a:gd name="connsiteY0" fmla="*/ 1147665 h 1147665"/>
                <a:gd name="connsiteX1" fmla="*/ 3191070 w 4338735"/>
                <a:gd name="connsiteY1" fmla="*/ 0 h 1147665"/>
                <a:gd name="connsiteX2" fmla="*/ 0 w 4338735"/>
                <a:gd name="connsiteY2" fmla="*/ 0 h 1147665"/>
                <a:gd name="connsiteX0-1" fmla="*/ 4125375 w 4125375"/>
                <a:gd name="connsiteY0-2" fmla="*/ 939385 h 939385"/>
                <a:gd name="connsiteX1-3" fmla="*/ 3191070 w 4125375"/>
                <a:gd name="connsiteY1-4" fmla="*/ 0 h 939385"/>
                <a:gd name="connsiteX2-5" fmla="*/ 0 w 4125375"/>
                <a:gd name="connsiteY2-6" fmla="*/ 0 h 939385"/>
              </a:gdLst>
              <a:ahLst/>
              <a:cxnLst>
                <a:cxn ang="0">
                  <a:pos x="connsiteX0-1" y="connsiteY0-2"/>
                </a:cxn>
                <a:cxn ang="0">
                  <a:pos x="connsiteX1-3" y="connsiteY1-4"/>
                </a:cxn>
                <a:cxn ang="0">
                  <a:pos x="connsiteX2-5" y="connsiteY2-6"/>
                </a:cxn>
              </a:cxnLst>
              <a:rect l="l" t="t" r="r" b="b"/>
              <a:pathLst>
                <a:path w="4125375" h="939385">
                  <a:moveTo>
                    <a:pt x="4125375" y="939385"/>
                  </a:moveTo>
                  <a:lnTo>
                    <a:pt x="3191070" y="0"/>
                  </a:lnTo>
                  <a:lnTo>
                    <a:pt x="0" y="0"/>
                  </a:lnTo>
                </a:path>
              </a:pathLst>
            </a:custGeom>
            <a:noFill/>
            <a:ln>
              <a:solidFill>
                <a:schemeClr val="accent1">
                  <a:alpha val="40000"/>
                </a:schemeClr>
              </a:solidFill>
              <a:prstDash val="sys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latin typeface="+mj-ea"/>
                <a:ea typeface="+mj-ea"/>
                <a:cs typeface="OPPOSans M" panose="00020600040101010101" pitchFamily="18" charset="-122"/>
              </a:endParaRPr>
            </a:p>
          </p:txBody>
        </p:sp>
        <p:sp>
          <p:nvSpPr>
            <p:cNvPr id="177" name="靖飞在肝PPT7">
              <a:extLst>
                <a:ext uri="{FF2B5EF4-FFF2-40B4-BE49-F238E27FC236}">
                  <a16:creationId xmlns:a16="http://schemas.microsoft.com/office/drawing/2014/main" id="{C2344555-606D-4B03-9642-49858FB2990C}"/>
                </a:ext>
              </a:extLst>
            </p:cNvPr>
            <p:cNvSpPr/>
            <p:nvPr/>
          </p:nvSpPr>
          <p:spPr>
            <a:xfrm flipV="1">
              <a:off x="10771449" y="6106036"/>
              <a:ext cx="251369" cy="325531"/>
            </a:xfrm>
            <a:custGeom>
              <a:avLst/>
              <a:gdLst>
                <a:gd name="connsiteX0" fmla="*/ 4338735 w 4338735"/>
                <a:gd name="connsiteY0" fmla="*/ 1147665 h 1147665"/>
                <a:gd name="connsiteX1" fmla="*/ 3191070 w 4338735"/>
                <a:gd name="connsiteY1" fmla="*/ 0 h 1147665"/>
                <a:gd name="connsiteX2" fmla="*/ 0 w 4338735"/>
                <a:gd name="connsiteY2" fmla="*/ 0 h 1147665"/>
                <a:gd name="connsiteX0-1" fmla="*/ 4125375 w 4125375"/>
                <a:gd name="connsiteY0-2" fmla="*/ 939385 h 939385"/>
                <a:gd name="connsiteX1-3" fmla="*/ 3191070 w 4125375"/>
                <a:gd name="connsiteY1-4" fmla="*/ 0 h 939385"/>
                <a:gd name="connsiteX2-5" fmla="*/ 0 w 4125375"/>
                <a:gd name="connsiteY2-6" fmla="*/ 0 h 939385"/>
              </a:gdLst>
              <a:ahLst/>
              <a:cxnLst>
                <a:cxn ang="0">
                  <a:pos x="connsiteX0-1" y="connsiteY0-2"/>
                </a:cxn>
                <a:cxn ang="0">
                  <a:pos x="connsiteX1-3" y="connsiteY1-4"/>
                </a:cxn>
                <a:cxn ang="0">
                  <a:pos x="connsiteX2-5" y="connsiteY2-6"/>
                </a:cxn>
              </a:cxnLst>
              <a:rect l="l" t="t" r="r" b="b"/>
              <a:pathLst>
                <a:path w="4125375" h="939385">
                  <a:moveTo>
                    <a:pt x="4125375" y="939385"/>
                  </a:moveTo>
                  <a:lnTo>
                    <a:pt x="3191070" y="0"/>
                  </a:lnTo>
                  <a:lnTo>
                    <a:pt x="0" y="0"/>
                  </a:lnTo>
                </a:path>
              </a:pathLst>
            </a:custGeom>
            <a:noFill/>
            <a:ln>
              <a:solidFill>
                <a:schemeClr val="accent1">
                  <a:alpha val="40000"/>
                </a:schemeClr>
              </a:solidFill>
              <a:prstDash val="sys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latin typeface="+mj-ea"/>
                <a:ea typeface="+mj-ea"/>
                <a:cs typeface="OPPOSans M" panose="00020600040101010101" pitchFamily="18" charset="-122"/>
              </a:endParaRPr>
            </a:p>
          </p:txBody>
        </p:sp>
        <p:cxnSp>
          <p:nvCxnSpPr>
            <p:cNvPr id="178" name="直接连接符 177">
              <a:extLst>
                <a:ext uri="{FF2B5EF4-FFF2-40B4-BE49-F238E27FC236}">
                  <a16:creationId xmlns:a16="http://schemas.microsoft.com/office/drawing/2014/main" id="{5A90DAC4-9F29-4EDB-8B0B-38E802CA7BE4}"/>
                </a:ext>
              </a:extLst>
            </p:cNvPr>
            <p:cNvCxnSpPr>
              <a:cxnSpLocks/>
            </p:cNvCxnSpPr>
            <p:nvPr/>
          </p:nvCxnSpPr>
          <p:spPr>
            <a:xfrm>
              <a:off x="10016266" y="6106036"/>
              <a:ext cx="983905" cy="0"/>
            </a:xfrm>
            <a:prstGeom prst="line">
              <a:avLst/>
            </a:prstGeom>
            <a:noFill/>
            <a:ln>
              <a:solidFill>
                <a:schemeClr val="accent1">
                  <a:alpha val="40000"/>
                </a:schemeClr>
              </a:solidFill>
              <a:prstDash val="sysDash"/>
            </a:ln>
          </p:spPr>
          <p:style>
            <a:lnRef idx="2">
              <a:schemeClr val="accent1">
                <a:shade val="15000"/>
              </a:schemeClr>
            </a:lnRef>
            <a:fillRef idx="1">
              <a:schemeClr val="accent1"/>
            </a:fillRef>
            <a:effectRef idx="0">
              <a:schemeClr val="accent1"/>
            </a:effectRef>
            <a:fontRef idx="minor">
              <a:schemeClr val="lt1"/>
            </a:fontRef>
          </p:style>
        </p:cxnSp>
      </p:grpSp>
    </p:spTree>
    <p:extLst>
      <p:ext uri="{BB962C8B-B14F-4D97-AF65-F5344CB8AC3E}">
        <p14:creationId xmlns:p14="http://schemas.microsoft.com/office/powerpoint/2010/main" val="3090282917"/>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23" name="直接连接符 22">
            <a:extLst>
              <a:ext uri="{FF2B5EF4-FFF2-40B4-BE49-F238E27FC236}">
                <a16:creationId xmlns:a16="http://schemas.microsoft.com/office/drawing/2014/main" id="{6D88D9DE-9CCF-4F00-882E-E723033C8EC2}"/>
              </a:ext>
            </a:extLst>
          </p:cNvPr>
          <p:cNvCxnSpPr>
            <a:cxnSpLocks/>
          </p:cNvCxnSpPr>
          <p:nvPr/>
        </p:nvCxnSpPr>
        <p:spPr>
          <a:xfrm>
            <a:off x="-1" y="1776374"/>
            <a:ext cx="12192001" cy="0"/>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sp>
        <p:nvSpPr>
          <p:cNvPr id="2" name="矩形 1">
            <a:extLst>
              <a:ext uri="{FF2B5EF4-FFF2-40B4-BE49-F238E27FC236}">
                <a16:creationId xmlns:a16="http://schemas.microsoft.com/office/drawing/2014/main" id="{41287225-8C43-42AF-B9C8-A7100BF0358A}"/>
              </a:ext>
            </a:extLst>
          </p:cNvPr>
          <p:cNvSpPr/>
          <p:nvPr/>
        </p:nvSpPr>
        <p:spPr>
          <a:xfrm>
            <a:off x="-1" y="1849120"/>
            <a:ext cx="12192001" cy="285496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 name="文本框 3">
            <a:extLst>
              <a:ext uri="{FF2B5EF4-FFF2-40B4-BE49-F238E27FC236}">
                <a16:creationId xmlns:a16="http://schemas.microsoft.com/office/drawing/2014/main" id="{8F392A81-7D49-426B-BFCB-CE36A99CF227}"/>
              </a:ext>
            </a:extLst>
          </p:cNvPr>
          <p:cNvSpPr txBox="1"/>
          <p:nvPr/>
        </p:nvSpPr>
        <p:spPr>
          <a:xfrm>
            <a:off x="2156459" y="2549129"/>
            <a:ext cx="7879080" cy="1015663"/>
          </a:xfrm>
          <a:prstGeom prst="rect">
            <a:avLst/>
          </a:prstGeom>
          <a:noFill/>
        </p:spPr>
        <p:txBody>
          <a:bodyPr wrap="none" rtlCol="0">
            <a:spAutoFit/>
          </a:bodyPr>
          <a:lstStyle/>
          <a:p>
            <a:pPr algn="ctr"/>
            <a:r>
              <a:rPr lang="zh-CN" altLang="en-US" sz="6000" dirty="0">
                <a:solidFill>
                  <a:schemeClr val="bg1"/>
                </a:solidFill>
                <a:latin typeface="思源黑体 CN Bold" panose="020B0800000000000000" pitchFamily="34" charset="-122"/>
                <a:ea typeface="思源黑体 CN Bold" panose="020B0800000000000000" pitchFamily="34" charset="-122"/>
              </a:rPr>
              <a:t>敬请各位老师批评指正</a:t>
            </a:r>
          </a:p>
        </p:txBody>
      </p:sp>
      <p:sp>
        <p:nvSpPr>
          <p:cNvPr id="5" name="文本框 4">
            <a:extLst>
              <a:ext uri="{FF2B5EF4-FFF2-40B4-BE49-F238E27FC236}">
                <a16:creationId xmlns:a16="http://schemas.microsoft.com/office/drawing/2014/main" id="{7FB85967-7F6B-48D0-A5B3-A6F279C471BC}"/>
              </a:ext>
            </a:extLst>
          </p:cNvPr>
          <p:cNvSpPr txBox="1"/>
          <p:nvPr/>
        </p:nvSpPr>
        <p:spPr>
          <a:xfrm>
            <a:off x="2310345" y="3850828"/>
            <a:ext cx="7571303" cy="276999"/>
          </a:xfrm>
          <a:prstGeom prst="rect">
            <a:avLst/>
          </a:prstGeom>
          <a:noFill/>
        </p:spPr>
        <p:txBody>
          <a:bodyPr wrap="none" rtlCol="0">
            <a:spAutoFit/>
          </a:bodyPr>
          <a:lstStyle/>
          <a:p>
            <a:pPr algn="ctr"/>
            <a:r>
              <a:rPr lang="zh-CN" altLang="en-US" sz="1200" dirty="0">
                <a:solidFill>
                  <a:schemeClr val="bg1"/>
                </a:solidFill>
                <a:latin typeface="思源黑体 CN Regular" panose="020B0500000000000000" pitchFamily="34" charset="-122"/>
                <a:ea typeface="思源黑体 CN Regular" panose="020B0500000000000000" pitchFamily="34" charset="-122"/>
              </a:rPr>
              <a:t>这里输入论文题目这里输入论文题目这里输入论文题目这里输入论文题目这里输入论文题目这里输入论文题目</a:t>
            </a:r>
          </a:p>
        </p:txBody>
      </p:sp>
      <p:cxnSp>
        <p:nvCxnSpPr>
          <p:cNvPr id="7" name="直接连接符 6">
            <a:extLst>
              <a:ext uri="{FF2B5EF4-FFF2-40B4-BE49-F238E27FC236}">
                <a16:creationId xmlns:a16="http://schemas.microsoft.com/office/drawing/2014/main" id="{70785E71-9968-49B1-9D54-9E3E3F39A9EE}"/>
              </a:ext>
            </a:extLst>
          </p:cNvPr>
          <p:cNvCxnSpPr/>
          <p:nvPr/>
        </p:nvCxnSpPr>
        <p:spPr>
          <a:xfrm>
            <a:off x="2316480" y="3656911"/>
            <a:ext cx="7565136" cy="0"/>
          </a:xfrm>
          <a:prstGeom prst="line">
            <a:avLst/>
          </a:prstGeom>
          <a:ln>
            <a:solidFill>
              <a:schemeClr val="bg1">
                <a:alpha val="50000"/>
              </a:schemeClr>
            </a:solidFill>
          </a:ln>
        </p:spPr>
        <p:style>
          <a:lnRef idx="1">
            <a:schemeClr val="accent1"/>
          </a:lnRef>
          <a:fillRef idx="0">
            <a:schemeClr val="accent1"/>
          </a:fillRef>
          <a:effectRef idx="0">
            <a:schemeClr val="accent1"/>
          </a:effectRef>
          <a:fontRef idx="minor">
            <a:schemeClr val="tx1"/>
          </a:fontRef>
        </p:style>
      </p:cxnSp>
      <p:sp>
        <p:nvSpPr>
          <p:cNvPr id="11" name="文本框 10">
            <a:extLst>
              <a:ext uri="{FF2B5EF4-FFF2-40B4-BE49-F238E27FC236}">
                <a16:creationId xmlns:a16="http://schemas.microsoft.com/office/drawing/2014/main" id="{592A2874-3547-4F6D-9F14-1B01DFFE73B0}"/>
              </a:ext>
            </a:extLst>
          </p:cNvPr>
          <p:cNvSpPr txBox="1"/>
          <p:nvPr/>
        </p:nvSpPr>
        <p:spPr>
          <a:xfrm>
            <a:off x="1825606" y="5449498"/>
            <a:ext cx="1497526" cy="369332"/>
          </a:xfrm>
          <a:prstGeom prst="rect">
            <a:avLst/>
          </a:prstGeom>
          <a:noFill/>
        </p:spPr>
        <p:txBody>
          <a:bodyPr wrap="none" rtlCol="0">
            <a:spAutoFit/>
          </a:bodyPr>
          <a:lstStyle/>
          <a:p>
            <a:r>
              <a:rPr lang="zh-CN" altLang="en-US" dirty="0">
                <a:latin typeface="思源黑体 CN Bold" panose="020B0800000000000000" pitchFamily="34" charset="-122"/>
                <a:ea typeface="思源黑体 CN Bold" panose="020B0800000000000000" pitchFamily="34" charset="-122"/>
              </a:rPr>
              <a:t>答辩人：</a:t>
            </a:r>
            <a:r>
              <a:rPr lang="en-US" altLang="zh-CN" dirty="0">
                <a:latin typeface="思源黑体 CN Bold" panose="020B0800000000000000" pitchFamily="34" charset="-122"/>
                <a:ea typeface="思源黑体 CN Bold" panose="020B0800000000000000" pitchFamily="34" charset="-122"/>
              </a:rPr>
              <a:t>xxx</a:t>
            </a:r>
            <a:endParaRPr lang="zh-CN" altLang="en-US" dirty="0">
              <a:latin typeface="思源黑体 CN Bold" panose="020B0800000000000000" pitchFamily="34" charset="-122"/>
              <a:ea typeface="思源黑体 CN Bold" panose="020B0800000000000000" pitchFamily="34" charset="-122"/>
            </a:endParaRPr>
          </a:p>
        </p:txBody>
      </p:sp>
      <p:sp>
        <p:nvSpPr>
          <p:cNvPr id="17" name="graduate-hat_59495">
            <a:extLst>
              <a:ext uri="{FF2B5EF4-FFF2-40B4-BE49-F238E27FC236}">
                <a16:creationId xmlns:a16="http://schemas.microsoft.com/office/drawing/2014/main" id="{751ABA52-B13D-4035-A8B8-4F42180E5D61}"/>
              </a:ext>
            </a:extLst>
          </p:cNvPr>
          <p:cNvSpPr/>
          <p:nvPr userDrawn="1"/>
        </p:nvSpPr>
        <p:spPr>
          <a:xfrm>
            <a:off x="1470712" y="5511205"/>
            <a:ext cx="330510" cy="245918"/>
          </a:xfrm>
          <a:custGeom>
            <a:avLst/>
            <a:gdLst>
              <a:gd name="connsiteX0" fmla="*/ 10223 w 596651"/>
              <a:gd name="connsiteY0" fmla="*/ 332075 h 443943"/>
              <a:gd name="connsiteX1" fmla="*/ 57217 w 596651"/>
              <a:gd name="connsiteY1" fmla="*/ 332075 h 443943"/>
              <a:gd name="connsiteX2" fmla="*/ 67353 w 596651"/>
              <a:gd name="connsiteY2" fmla="*/ 427370 h 443943"/>
              <a:gd name="connsiteX3" fmla="*/ 63667 w 596651"/>
              <a:gd name="connsiteY3" fmla="*/ 438879 h 443943"/>
              <a:gd name="connsiteX4" fmla="*/ 52149 w 596651"/>
              <a:gd name="connsiteY4" fmla="*/ 443943 h 443943"/>
              <a:gd name="connsiteX5" fmla="*/ 15291 w 596651"/>
              <a:gd name="connsiteY5" fmla="*/ 443943 h 443943"/>
              <a:gd name="connsiteX6" fmla="*/ 4233 w 596651"/>
              <a:gd name="connsiteY6" fmla="*/ 438879 h 443943"/>
              <a:gd name="connsiteX7" fmla="*/ 87 w 596651"/>
              <a:gd name="connsiteY7" fmla="*/ 427370 h 443943"/>
              <a:gd name="connsiteX8" fmla="*/ 528865 w 596651"/>
              <a:gd name="connsiteY8" fmla="*/ 191185 h 443943"/>
              <a:gd name="connsiteX9" fmla="*/ 541774 w 596651"/>
              <a:gd name="connsiteY9" fmla="*/ 309970 h 443943"/>
              <a:gd name="connsiteX10" fmla="*/ 526559 w 596651"/>
              <a:gd name="connsiteY10" fmla="*/ 325163 h 443943"/>
              <a:gd name="connsiteX11" fmla="*/ 523793 w 596651"/>
              <a:gd name="connsiteY11" fmla="*/ 325163 h 443943"/>
              <a:gd name="connsiteX12" fmla="*/ 486909 w 596651"/>
              <a:gd name="connsiteY12" fmla="*/ 322401 h 443943"/>
              <a:gd name="connsiteX13" fmla="*/ 322773 w 596651"/>
              <a:gd name="connsiteY13" fmla="*/ 399749 h 443943"/>
              <a:gd name="connsiteX14" fmla="*/ 309403 w 596651"/>
              <a:gd name="connsiteY14" fmla="*/ 408036 h 443943"/>
              <a:gd name="connsiteX15" fmla="*/ 304792 w 596651"/>
              <a:gd name="connsiteY15" fmla="*/ 408036 h 443943"/>
              <a:gd name="connsiteX16" fmla="*/ 290960 w 596651"/>
              <a:gd name="connsiteY16" fmla="*/ 399749 h 443943"/>
              <a:gd name="connsiteX17" fmla="*/ 126825 w 596651"/>
              <a:gd name="connsiteY17" fmla="*/ 322401 h 443943"/>
              <a:gd name="connsiteX18" fmla="*/ 89940 w 596651"/>
              <a:gd name="connsiteY18" fmla="*/ 325163 h 443943"/>
              <a:gd name="connsiteX19" fmla="*/ 77031 w 596651"/>
              <a:gd name="connsiteY19" fmla="*/ 320559 h 443943"/>
              <a:gd name="connsiteX20" fmla="*/ 72420 w 596651"/>
              <a:gd name="connsiteY20" fmla="*/ 307668 h 443943"/>
              <a:gd name="connsiteX21" fmla="*/ 85330 w 596651"/>
              <a:gd name="connsiteY21" fmla="*/ 192106 h 443943"/>
              <a:gd name="connsiteX22" fmla="*/ 307097 w 596651"/>
              <a:gd name="connsiteY22" fmla="*/ 275439 h 443943"/>
              <a:gd name="connsiteX23" fmla="*/ 301581 w 596651"/>
              <a:gd name="connsiteY23" fmla="*/ 1035 h 443943"/>
              <a:gd name="connsiteX24" fmla="*/ 312185 w 596651"/>
              <a:gd name="connsiteY24" fmla="*/ 1035 h 443943"/>
              <a:gd name="connsiteX25" fmla="*/ 586508 w 596651"/>
              <a:gd name="connsiteY25" fmla="*/ 104161 h 443943"/>
              <a:gd name="connsiteX26" fmla="*/ 596651 w 596651"/>
              <a:gd name="connsiteY26" fmla="*/ 118433 h 443943"/>
              <a:gd name="connsiteX27" fmla="*/ 586508 w 596651"/>
              <a:gd name="connsiteY27" fmla="*/ 132705 h 443943"/>
              <a:gd name="connsiteX28" fmla="*/ 312185 w 596651"/>
              <a:gd name="connsiteY28" fmla="*/ 235830 h 443943"/>
              <a:gd name="connsiteX29" fmla="*/ 301581 w 596651"/>
              <a:gd name="connsiteY29" fmla="*/ 235830 h 443943"/>
              <a:gd name="connsiteX30" fmla="*/ 51233 w 596651"/>
              <a:gd name="connsiteY30" fmla="*/ 141912 h 443943"/>
              <a:gd name="connsiteX31" fmla="*/ 51233 w 596651"/>
              <a:gd name="connsiteY31" fmla="*/ 305348 h 443943"/>
              <a:gd name="connsiteX32" fmla="*/ 16654 w 596651"/>
              <a:gd name="connsiteY32" fmla="*/ 305348 h 443943"/>
              <a:gd name="connsiteX33" fmla="*/ 16654 w 596651"/>
              <a:gd name="connsiteY33" fmla="*/ 118433 h 443943"/>
              <a:gd name="connsiteX34" fmla="*/ 26336 w 596651"/>
              <a:gd name="connsiteY34" fmla="*/ 104161 h 44394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596651" h="443943">
                <a:moveTo>
                  <a:pt x="10223" y="332075"/>
                </a:moveTo>
                <a:lnTo>
                  <a:pt x="57217" y="332075"/>
                </a:lnTo>
                <a:lnTo>
                  <a:pt x="67353" y="427370"/>
                </a:lnTo>
                <a:cubicBezTo>
                  <a:pt x="67813" y="431513"/>
                  <a:pt x="66431" y="435656"/>
                  <a:pt x="63667" y="438879"/>
                </a:cubicBezTo>
                <a:cubicBezTo>
                  <a:pt x="60902" y="442102"/>
                  <a:pt x="56756" y="443943"/>
                  <a:pt x="52149" y="443943"/>
                </a:cubicBezTo>
                <a:lnTo>
                  <a:pt x="15291" y="443943"/>
                </a:lnTo>
                <a:cubicBezTo>
                  <a:pt x="11144" y="443943"/>
                  <a:pt x="6998" y="442102"/>
                  <a:pt x="4233" y="438879"/>
                </a:cubicBezTo>
                <a:cubicBezTo>
                  <a:pt x="1008" y="435656"/>
                  <a:pt x="-374" y="431513"/>
                  <a:pt x="87" y="427370"/>
                </a:cubicBezTo>
                <a:close/>
                <a:moveTo>
                  <a:pt x="528865" y="191185"/>
                </a:moveTo>
                <a:cubicBezTo>
                  <a:pt x="528865" y="191185"/>
                  <a:pt x="541774" y="308588"/>
                  <a:pt x="541774" y="309970"/>
                </a:cubicBezTo>
                <a:cubicBezTo>
                  <a:pt x="542235" y="318717"/>
                  <a:pt x="534858" y="325163"/>
                  <a:pt x="526559" y="325163"/>
                </a:cubicBezTo>
                <a:cubicBezTo>
                  <a:pt x="526098" y="325163"/>
                  <a:pt x="524715" y="325163"/>
                  <a:pt x="523793" y="325163"/>
                </a:cubicBezTo>
                <a:cubicBezTo>
                  <a:pt x="511806" y="323321"/>
                  <a:pt x="499357" y="322401"/>
                  <a:pt x="486909" y="322401"/>
                </a:cubicBezTo>
                <a:cubicBezTo>
                  <a:pt x="413140" y="322401"/>
                  <a:pt x="347209" y="353708"/>
                  <a:pt x="322773" y="399749"/>
                </a:cubicBezTo>
                <a:cubicBezTo>
                  <a:pt x="320468" y="404813"/>
                  <a:pt x="314935" y="408036"/>
                  <a:pt x="309403" y="408036"/>
                </a:cubicBezTo>
                <a:lnTo>
                  <a:pt x="304792" y="408036"/>
                </a:lnTo>
                <a:cubicBezTo>
                  <a:pt x="298798" y="408036"/>
                  <a:pt x="293727" y="404813"/>
                  <a:pt x="290960" y="399749"/>
                </a:cubicBezTo>
                <a:cubicBezTo>
                  <a:pt x="266524" y="353248"/>
                  <a:pt x="200594" y="322401"/>
                  <a:pt x="126825" y="322401"/>
                </a:cubicBezTo>
                <a:cubicBezTo>
                  <a:pt x="114376" y="322401"/>
                  <a:pt x="101928" y="323321"/>
                  <a:pt x="89940" y="325163"/>
                </a:cubicBezTo>
                <a:cubicBezTo>
                  <a:pt x="85330" y="325623"/>
                  <a:pt x="80258" y="324242"/>
                  <a:pt x="77031" y="320559"/>
                </a:cubicBezTo>
                <a:cubicBezTo>
                  <a:pt x="73342" y="317336"/>
                  <a:pt x="71959" y="312732"/>
                  <a:pt x="72420" y="307668"/>
                </a:cubicBezTo>
                <a:lnTo>
                  <a:pt x="85330" y="192106"/>
                </a:lnTo>
                <a:lnTo>
                  <a:pt x="307097" y="275439"/>
                </a:lnTo>
                <a:close/>
                <a:moveTo>
                  <a:pt x="301581" y="1035"/>
                </a:moveTo>
                <a:cubicBezTo>
                  <a:pt x="305270" y="-346"/>
                  <a:pt x="308958" y="-346"/>
                  <a:pt x="312185" y="1035"/>
                </a:cubicBezTo>
                <a:lnTo>
                  <a:pt x="586508" y="104161"/>
                </a:lnTo>
                <a:cubicBezTo>
                  <a:pt x="592502" y="106463"/>
                  <a:pt x="596651" y="111987"/>
                  <a:pt x="596651" y="118433"/>
                </a:cubicBezTo>
                <a:cubicBezTo>
                  <a:pt x="596651" y="124878"/>
                  <a:pt x="592502" y="130403"/>
                  <a:pt x="586508" y="132705"/>
                </a:cubicBezTo>
                <a:lnTo>
                  <a:pt x="312185" y="235830"/>
                </a:lnTo>
                <a:cubicBezTo>
                  <a:pt x="308958" y="237211"/>
                  <a:pt x="305270" y="237211"/>
                  <a:pt x="301581" y="235830"/>
                </a:cubicBezTo>
                <a:lnTo>
                  <a:pt x="51233" y="141912"/>
                </a:lnTo>
                <a:lnTo>
                  <a:pt x="51233" y="305348"/>
                </a:lnTo>
                <a:lnTo>
                  <a:pt x="16654" y="305348"/>
                </a:lnTo>
                <a:lnTo>
                  <a:pt x="16654" y="118433"/>
                </a:lnTo>
                <a:cubicBezTo>
                  <a:pt x="16654" y="112448"/>
                  <a:pt x="20343" y="106463"/>
                  <a:pt x="26336" y="104161"/>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文本框 12">
            <a:extLst>
              <a:ext uri="{FF2B5EF4-FFF2-40B4-BE49-F238E27FC236}">
                <a16:creationId xmlns:a16="http://schemas.microsoft.com/office/drawing/2014/main" id="{F783CC5A-9F78-40B3-BA32-EDF67B2FA9C7}"/>
              </a:ext>
            </a:extLst>
          </p:cNvPr>
          <p:cNvSpPr txBox="1"/>
          <p:nvPr/>
        </p:nvSpPr>
        <p:spPr>
          <a:xfrm>
            <a:off x="5732965" y="5449498"/>
            <a:ext cx="1266693" cy="369332"/>
          </a:xfrm>
          <a:prstGeom prst="rect">
            <a:avLst/>
          </a:prstGeom>
          <a:noFill/>
        </p:spPr>
        <p:txBody>
          <a:bodyPr wrap="none" rtlCol="0">
            <a:spAutoFit/>
          </a:bodyPr>
          <a:lstStyle/>
          <a:p>
            <a:r>
              <a:rPr lang="zh-CN" altLang="en-US" dirty="0">
                <a:latin typeface="思源黑体 CN Bold" panose="020B0800000000000000" pitchFamily="34" charset="-122"/>
                <a:ea typeface="思源黑体 CN Bold" panose="020B0800000000000000" pitchFamily="34" charset="-122"/>
              </a:rPr>
              <a:t>导师：</a:t>
            </a:r>
            <a:r>
              <a:rPr lang="en-US" altLang="zh-CN" dirty="0">
                <a:latin typeface="思源黑体 CN Bold" panose="020B0800000000000000" pitchFamily="34" charset="-122"/>
                <a:ea typeface="思源黑体 CN Bold" panose="020B0800000000000000" pitchFamily="34" charset="-122"/>
              </a:rPr>
              <a:t>xxx</a:t>
            </a:r>
            <a:endParaRPr lang="zh-CN" altLang="en-US" dirty="0">
              <a:latin typeface="思源黑体 CN Bold" panose="020B0800000000000000" pitchFamily="34" charset="-122"/>
              <a:ea typeface="思源黑体 CN Bold" panose="020B0800000000000000" pitchFamily="34" charset="-122"/>
            </a:endParaRPr>
          </a:p>
        </p:txBody>
      </p:sp>
      <p:sp>
        <p:nvSpPr>
          <p:cNvPr id="18" name="teacher_43663">
            <a:extLst>
              <a:ext uri="{FF2B5EF4-FFF2-40B4-BE49-F238E27FC236}">
                <a16:creationId xmlns:a16="http://schemas.microsoft.com/office/drawing/2014/main" id="{31C8FFF2-4362-4ACF-8BC8-85B13BC44678}"/>
              </a:ext>
            </a:extLst>
          </p:cNvPr>
          <p:cNvSpPr/>
          <p:nvPr/>
        </p:nvSpPr>
        <p:spPr>
          <a:xfrm>
            <a:off x="5493518" y="5460828"/>
            <a:ext cx="239447" cy="278007"/>
          </a:xfrm>
          <a:custGeom>
            <a:avLst/>
            <a:gdLst>
              <a:gd name="connsiteX0" fmla="*/ 166525 w 511059"/>
              <a:gd name="connsiteY0" fmla="*/ 236417 h 593362"/>
              <a:gd name="connsiteX1" fmla="*/ 147863 w 511059"/>
              <a:gd name="connsiteY1" fmla="*/ 300925 h 593362"/>
              <a:gd name="connsiteX2" fmla="*/ 166525 w 511059"/>
              <a:gd name="connsiteY2" fmla="*/ 300925 h 593362"/>
              <a:gd name="connsiteX3" fmla="*/ 338792 w 511059"/>
              <a:gd name="connsiteY3" fmla="*/ 233550 h 593362"/>
              <a:gd name="connsiteX4" fmla="*/ 340227 w 511059"/>
              <a:gd name="connsiteY4" fmla="*/ 300925 h 593362"/>
              <a:gd name="connsiteX5" fmla="*/ 357454 w 511059"/>
              <a:gd name="connsiteY5" fmla="*/ 300925 h 593362"/>
              <a:gd name="connsiteX6" fmla="*/ 225383 w 511059"/>
              <a:gd name="connsiteY6" fmla="*/ 173342 h 593362"/>
              <a:gd name="connsiteX7" fmla="*/ 256965 w 511059"/>
              <a:gd name="connsiteY7" fmla="*/ 209180 h 593362"/>
              <a:gd name="connsiteX8" fmla="*/ 287112 w 511059"/>
              <a:gd name="connsiteY8" fmla="*/ 173342 h 593362"/>
              <a:gd name="connsiteX9" fmla="*/ 374681 w 511059"/>
              <a:gd name="connsiteY9" fmla="*/ 186244 h 593362"/>
              <a:gd name="connsiteX10" fmla="*/ 406263 w 511059"/>
              <a:gd name="connsiteY10" fmla="*/ 300925 h 593362"/>
              <a:gd name="connsiteX11" fmla="*/ 511059 w 511059"/>
              <a:gd name="connsiteY11" fmla="*/ 300925 h 593362"/>
              <a:gd name="connsiteX12" fmla="*/ 511059 w 511059"/>
              <a:gd name="connsiteY12" fmla="*/ 366867 h 593362"/>
              <a:gd name="connsiteX13" fmla="*/ 469428 w 511059"/>
              <a:gd name="connsiteY13" fmla="*/ 366867 h 593362"/>
              <a:gd name="connsiteX14" fmla="*/ 469428 w 511059"/>
              <a:gd name="connsiteY14" fmla="*/ 593362 h 593362"/>
              <a:gd name="connsiteX15" fmla="*/ 41631 w 511059"/>
              <a:gd name="connsiteY15" fmla="*/ 593362 h 593362"/>
              <a:gd name="connsiteX16" fmla="*/ 41631 w 511059"/>
              <a:gd name="connsiteY16" fmla="*/ 366867 h 593362"/>
              <a:gd name="connsiteX17" fmla="*/ 0 w 511059"/>
              <a:gd name="connsiteY17" fmla="*/ 366867 h 593362"/>
              <a:gd name="connsiteX18" fmla="*/ 0 w 511059"/>
              <a:gd name="connsiteY18" fmla="*/ 300925 h 593362"/>
              <a:gd name="connsiteX19" fmla="*/ 101925 w 511059"/>
              <a:gd name="connsiteY19" fmla="*/ 300925 h 593362"/>
              <a:gd name="connsiteX20" fmla="*/ 136378 w 511059"/>
              <a:gd name="connsiteY20" fmla="*/ 184810 h 593362"/>
              <a:gd name="connsiteX21" fmla="*/ 254840 w 511059"/>
              <a:gd name="connsiteY21" fmla="*/ 0 h 593362"/>
              <a:gd name="connsiteX22" fmla="*/ 335879 w 511059"/>
              <a:gd name="connsiteY22" fmla="*/ 81039 h 593362"/>
              <a:gd name="connsiteX23" fmla="*/ 254840 w 511059"/>
              <a:gd name="connsiteY23" fmla="*/ 162078 h 593362"/>
              <a:gd name="connsiteX24" fmla="*/ 173801 w 511059"/>
              <a:gd name="connsiteY24" fmla="*/ 81039 h 593362"/>
              <a:gd name="connsiteX25" fmla="*/ 254840 w 511059"/>
              <a:gd name="connsiteY25" fmla="*/ 0 h 5933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511059" h="593362">
                <a:moveTo>
                  <a:pt x="166525" y="236417"/>
                </a:moveTo>
                <a:lnTo>
                  <a:pt x="147863" y="300925"/>
                </a:lnTo>
                <a:lnTo>
                  <a:pt x="166525" y="300925"/>
                </a:lnTo>
                <a:close/>
                <a:moveTo>
                  <a:pt x="338792" y="233550"/>
                </a:moveTo>
                <a:lnTo>
                  <a:pt x="340227" y="300925"/>
                </a:lnTo>
                <a:lnTo>
                  <a:pt x="357454" y="300925"/>
                </a:lnTo>
                <a:close/>
                <a:moveTo>
                  <a:pt x="225383" y="173342"/>
                </a:moveTo>
                <a:lnTo>
                  <a:pt x="256965" y="209180"/>
                </a:lnTo>
                <a:lnTo>
                  <a:pt x="287112" y="173342"/>
                </a:lnTo>
                <a:lnTo>
                  <a:pt x="374681" y="186244"/>
                </a:lnTo>
                <a:lnTo>
                  <a:pt x="406263" y="300925"/>
                </a:lnTo>
                <a:lnTo>
                  <a:pt x="511059" y="300925"/>
                </a:lnTo>
                <a:lnTo>
                  <a:pt x="511059" y="366867"/>
                </a:lnTo>
                <a:lnTo>
                  <a:pt x="469428" y="366867"/>
                </a:lnTo>
                <a:lnTo>
                  <a:pt x="469428" y="593362"/>
                </a:lnTo>
                <a:lnTo>
                  <a:pt x="41631" y="593362"/>
                </a:lnTo>
                <a:lnTo>
                  <a:pt x="41631" y="366867"/>
                </a:lnTo>
                <a:lnTo>
                  <a:pt x="0" y="366867"/>
                </a:lnTo>
                <a:lnTo>
                  <a:pt x="0" y="300925"/>
                </a:lnTo>
                <a:lnTo>
                  <a:pt x="101925" y="300925"/>
                </a:lnTo>
                <a:lnTo>
                  <a:pt x="136378" y="184810"/>
                </a:lnTo>
                <a:close/>
                <a:moveTo>
                  <a:pt x="254840" y="0"/>
                </a:moveTo>
                <a:cubicBezTo>
                  <a:pt x="299597" y="0"/>
                  <a:pt x="335879" y="36282"/>
                  <a:pt x="335879" y="81039"/>
                </a:cubicBezTo>
                <a:cubicBezTo>
                  <a:pt x="335879" y="125796"/>
                  <a:pt x="299597" y="162078"/>
                  <a:pt x="254840" y="162078"/>
                </a:cubicBezTo>
                <a:cubicBezTo>
                  <a:pt x="210083" y="162078"/>
                  <a:pt x="173801" y="125796"/>
                  <a:pt x="173801" y="81039"/>
                </a:cubicBezTo>
                <a:cubicBezTo>
                  <a:pt x="173801" y="36282"/>
                  <a:pt x="210083" y="0"/>
                  <a:pt x="254840" y="0"/>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文本框 13">
            <a:extLst>
              <a:ext uri="{FF2B5EF4-FFF2-40B4-BE49-F238E27FC236}">
                <a16:creationId xmlns:a16="http://schemas.microsoft.com/office/drawing/2014/main" id="{CA4A1C14-DBCC-46E2-8265-9653E8B82BB5}"/>
              </a:ext>
            </a:extLst>
          </p:cNvPr>
          <p:cNvSpPr txBox="1"/>
          <p:nvPr/>
        </p:nvSpPr>
        <p:spPr>
          <a:xfrm>
            <a:off x="8811444" y="5449498"/>
            <a:ext cx="2121093" cy="369332"/>
          </a:xfrm>
          <a:prstGeom prst="rect">
            <a:avLst/>
          </a:prstGeom>
          <a:noFill/>
        </p:spPr>
        <p:txBody>
          <a:bodyPr wrap="none" rtlCol="0">
            <a:spAutoFit/>
          </a:bodyPr>
          <a:lstStyle/>
          <a:p>
            <a:r>
              <a:rPr lang="zh-CN" altLang="en-US" dirty="0">
                <a:latin typeface="思源黑体 CN Bold" panose="020B0800000000000000" pitchFamily="34" charset="-122"/>
                <a:ea typeface="思源黑体 CN Bold" panose="020B0800000000000000" pitchFamily="34" charset="-122"/>
              </a:rPr>
              <a:t>日期：</a:t>
            </a:r>
            <a:r>
              <a:rPr lang="en-US" altLang="zh-CN" dirty="0">
                <a:latin typeface="思源黑体 CN Bold" panose="020B0800000000000000" pitchFamily="34" charset="-122"/>
                <a:ea typeface="思源黑体 CN Bold" panose="020B0800000000000000" pitchFamily="34" charset="-122"/>
              </a:rPr>
              <a:t>2026/xx/xx</a:t>
            </a:r>
            <a:endParaRPr lang="zh-CN" altLang="en-US" dirty="0">
              <a:latin typeface="思源黑体 CN Bold" panose="020B0800000000000000" pitchFamily="34" charset="-122"/>
              <a:ea typeface="思源黑体 CN Bold" panose="020B0800000000000000" pitchFamily="34" charset="-122"/>
            </a:endParaRPr>
          </a:p>
        </p:txBody>
      </p:sp>
      <p:sp>
        <p:nvSpPr>
          <p:cNvPr id="19" name="alarm-clock_221910">
            <a:extLst>
              <a:ext uri="{FF2B5EF4-FFF2-40B4-BE49-F238E27FC236}">
                <a16:creationId xmlns:a16="http://schemas.microsoft.com/office/drawing/2014/main" id="{2CA792EE-73A9-45E3-9864-8CF57569C3FD}"/>
              </a:ext>
            </a:extLst>
          </p:cNvPr>
          <p:cNvSpPr/>
          <p:nvPr/>
        </p:nvSpPr>
        <p:spPr>
          <a:xfrm>
            <a:off x="8568944" y="5502354"/>
            <a:ext cx="242500" cy="263620"/>
          </a:xfrm>
          <a:custGeom>
            <a:avLst/>
            <a:gdLst>
              <a:gd name="connsiteX0" fmla="*/ 440316 w 536231"/>
              <a:gd name="connsiteY0" fmla="*/ 549437 h 606736"/>
              <a:gd name="connsiteX1" fmla="*/ 464169 w 536231"/>
              <a:gd name="connsiteY1" fmla="*/ 583372 h 606736"/>
              <a:gd name="connsiteX2" fmla="*/ 430704 w 536231"/>
              <a:gd name="connsiteY2" fmla="*/ 606736 h 606736"/>
              <a:gd name="connsiteX3" fmla="*/ 406940 w 536231"/>
              <a:gd name="connsiteY3" fmla="*/ 572801 h 606736"/>
              <a:gd name="connsiteX4" fmla="*/ 440316 w 536231"/>
              <a:gd name="connsiteY4" fmla="*/ 549437 h 606736"/>
              <a:gd name="connsiteX5" fmla="*/ 95960 w 536231"/>
              <a:gd name="connsiteY5" fmla="*/ 549437 h 606736"/>
              <a:gd name="connsiteX6" fmla="*/ 129336 w 536231"/>
              <a:gd name="connsiteY6" fmla="*/ 572801 h 606736"/>
              <a:gd name="connsiteX7" fmla="*/ 105483 w 536231"/>
              <a:gd name="connsiteY7" fmla="*/ 606736 h 606736"/>
              <a:gd name="connsiteX8" fmla="*/ 72107 w 536231"/>
              <a:gd name="connsiteY8" fmla="*/ 583372 h 606736"/>
              <a:gd name="connsiteX9" fmla="*/ 246741 w 536231"/>
              <a:gd name="connsiteY9" fmla="*/ 202650 h 606736"/>
              <a:gd name="connsiteX10" fmla="*/ 246741 w 536231"/>
              <a:gd name="connsiteY10" fmla="*/ 346814 h 606736"/>
              <a:gd name="connsiteX11" fmla="*/ 348828 w 536231"/>
              <a:gd name="connsiteY11" fmla="*/ 448760 h 606736"/>
              <a:gd name="connsiteX12" fmla="*/ 377664 w 536231"/>
              <a:gd name="connsiteY12" fmla="*/ 419962 h 606736"/>
              <a:gd name="connsiteX13" fmla="*/ 287594 w 536231"/>
              <a:gd name="connsiteY13" fmla="*/ 329927 h 606736"/>
              <a:gd name="connsiteX14" fmla="*/ 287594 w 536231"/>
              <a:gd name="connsiteY14" fmla="*/ 202650 h 606736"/>
              <a:gd name="connsiteX15" fmla="*/ 268102 w 536231"/>
              <a:gd name="connsiteY15" fmla="*/ 108614 h 606736"/>
              <a:gd name="connsiteX16" fmla="*/ 498886 w 536231"/>
              <a:gd name="connsiteY16" fmla="*/ 339081 h 606736"/>
              <a:gd name="connsiteX17" fmla="*/ 268102 w 536231"/>
              <a:gd name="connsiteY17" fmla="*/ 569548 h 606736"/>
              <a:gd name="connsiteX18" fmla="*/ 37318 w 536231"/>
              <a:gd name="connsiteY18" fmla="*/ 339081 h 606736"/>
              <a:gd name="connsiteX19" fmla="*/ 268102 w 536231"/>
              <a:gd name="connsiteY19" fmla="*/ 108614 h 606736"/>
              <a:gd name="connsiteX20" fmla="*/ 396984 w 536231"/>
              <a:gd name="connsiteY20" fmla="*/ 1809 h 606736"/>
              <a:gd name="connsiteX21" fmla="*/ 485626 w 536231"/>
              <a:gd name="connsiteY21" fmla="*/ 21426 h 606736"/>
              <a:gd name="connsiteX22" fmla="*/ 514729 w 536231"/>
              <a:gd name="connsiteY22" fmla="*/ 186448 h 606736"/>
              <a:gd name="connsiteX23" fmla="*/ 320356 w 536231"/>
              <a:gd name="connsiteY23" fmla="*/ 50574 h 606736"/>
              <a:gd name="connsiteX24" fmla="*/ 396984 w 536231"/>
              <a:gd name="connsiteY24" fmla="*/ 1809 h 606736"/>
              <a:gd name="connsiteX25" fmla="*/ 139293 w 536231"/>
              <a:gd name="connsiteY25" fmla="*/ 1809 h 606736"/>
              <a:gd name="connsiteX26" fmla="*/ 215849 w 536231"/>
              <a:gd name="connsiteY26" fmla="*/ 50574 h 606736"/>
              <a:gd name="connsiteX27" fmla="*/ 21460 w 536231"/>
              <a:gd name="connsiteY27" fmla="*/ 186448 h 606736"/>
              <a:gd name="connsiteX28" fmla="*/ 50654 w 536231"/>
              <a:gd name="connsiteY28" fmla="*/ 21426 h 606736"/>
              <a:gd name="connsiteX29" fmla="*/ 139293 w 536231"/>
              <a:gd name="connsiteY29" fmla="*/ 1809 h 606736"/>
              <a:gd name="connsiteX30" fmla="*/ 247744 w 536231"/>
              <a:gd name="connsiteY30" fmla="*/ 14 h 606736"/>
              <a:gd name="connsiteX31" fmla="*/ 288531 w 536231"/>
              <a:gd name="connsiteY31" fmla="*/ 14 h 606736"/>
              <a:gd name="connsiteX32" fmla="*/ 288531 w 536231"/>
              <a:gd name="connsiteY32" fmla="*/ 68604 h 606736"/>
              <a:gd name="connsiteX33" fmla="*/ 268138 w 536231"/>
              <a:gd name="connsiteY33" fmla="*/ 67893 h 606736"/>
              <a:gd name="connsiteX34" fmla="*/ 247744 w 536231"/>
              <a:gd name="connsiteY34" fmla="*/ 68604 h 6067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536231" h="606736">
                <a:moveTo>
                  <a:pt x="440316" y="549437"/>
                </a:moveTo>
                <a:lnTo>
                  <a:pt x="464169" y="583372"/>
                </a:lnTo>
                <a:lnTo>
                  <a:pt x="430704" y="606736"/>
                </a:lnTo>
                <a:lnTo>
                  <a:pt x="406940" y="572801"/>
                </a:lnTo>
                <a:cubicBezTo>
                  <a:pt x="418689" y="565783"/>
                  <a:pt x="429814" y="557965"/>
                  <a:pt x="440316" y="549437"/>
                </a:cubicBezTo>
                <a:close/>
                <a:moveTo>
                  <a:pt x="95960" y="549437"/>
                </a:moveTo>
                <a:cubicBezTo>
                  <a:pt x="106462" y="557965"/>
                  <a:pt x="117587" y="565783"/>
                  <a:pt x="129336" y="572801"/>
                </a:cubicBezTo>
                <a:lnTo>
                  <a:pt x="105483" y="606736"/>
                </a:lnTo>
                <a:lnTo>
                  <a:pt x="72107" y="583372"/>
                </a:lnTo>
                <a:close/>
                <a:moveTo>
                  <a:pt x="246741" y="202650"/>
                </a:moveTo>
                <a:lnTo>
                  <a:pt x="246741" y="346814"/>
                </a:lnTo>
                <a:lnTo>
                  <a:pt x="348828" y="448760"/>
                </a:lnTo>
                <a:lnTo>
                  <a:pt x="377664" y="419962"/>
                </a:lnTo>
                <a:lnTo>
                  <a:pt x="287594" y="329927"/>
                </a:lnTo>
                <a:lnTo>
                  <a:pt x="287594" y="202650"/>
                </a:lnTo>
                <a:close/>
                <a:moveTo>
                  <a:pt x="268102" y="108614"/>
                </a:moveTo>
                <a:cubicBezTo>
                  <a:pt x="395554" y="108614"/>
                  <a:pt x="498886" y="211804"/>
                  <a:pt x="498886" y="339081"/>
                </a:cubicBezTo>
                <a:cubicBezTo>
                  <a:pt x="498886" y="466358"/>
                  <a:pt x="395554" y="569548"/>
                  <a:pt x="268102" y="569548"/>
                </a:cubicBezTo>
                <a:cubicBezTo>
                  <a:pt x="140650" y="569548"/>
                  <a:pt x="37318" y="466358"/>
                  <a:pt x="37318" y="339081"/>
                </a:cubicBezTo>
                <a:cubicBezTo>
                  <a:pt x="37318" y="211804"/>
                  <a:pt x="140650" y="108614"/>
                  <a:pt x="268102" y="108614"/>
                </a:cubicBezTo>
                <a:close/>
                <a:moveTo>
                  <a:pt x="396984" y="1809"/>
                </a:moveTo>
                <a:cubicBezTo>
                  <a:pt x="426887" y="-3456"/>
                  <a:pt x="458793" y="2676"/>
                  <a:pt x="485626" y="21426"/>
                </a:cubicBezTo>
                <a:cubicBezTo>
                  <a:pt x="539292" y="59016"/>
                  <a:pt x="552375" y="132863"/>
                  <a:pt x="514729" y="186448"/>
                </a:cubicBezTo>
                <a:lnTo>
                  <a:pt x="320356" y="50574"/>
                </a:lnTo>
                <a:cubicBezTo>
                  <a:pt x="339179" y="23737"/>
                  <a:pt x="367080" y="7075"/>
                  <a:pt x="396984" y="1809"/>
                </a:cubicBezTo>
                <a:close/>
                <a:moveTo>
                  <a:pt x="139293" y="1809"/>
                </a:moveTo>
                <a:cubicBezTo>
                  <a:pt x="169188" y="7075"/>
                  <a:pt x="197069" y="23737"/>
                  <a:pt x="215849" y="50574"/>
                </a:cubicBezTo>
                <a:lnTo>
                  <a:pt x="21460" y="186448"/>
                </a:lnTo>
                <a:cubicBezTo>
                  <a:pt x="-16100" y="132863"/>
                  <a:pt x="-3105" y="58927"/>
                  <a:pt x="50654" y="21426"/>
                </a:cubicBezTo>
                <a:cubicBezTo>
                  <a:pt x="77489" y="2676"/>
                  <a:pt x="109398" y="-3456"/>
                  <a:pt x="139293" y="1809"/>
                </a:cubicBezTo>
                <a:close/>
                <a:moveTo>
                  <a:pt x="247744" y="14"/>
                </a:moveTo>
                <a:lnTo>
                  <a:pt x="288531" y="14"/>
                </a:lnTo>
                <a:lnTo>
                  <a:pt x="288531" y="68604"/>
                </a:lnTo>
                <a:cubicBezTo>
                  <a:pt x="281852" y="68160"/>
                  <a:pt x="274995" y="67893"/>
                  <a:pt x="268138" y="67893"/>
                </a:cubicBezTo>
                <a:cubicBezTo>
                  <a:pt x="261280" y="67893"/>
                  <a:pt x="254512" y="68160"/>
                  <a:pt x="247744" y="68604"/>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29" name="组合 28">
            <a:extLst>
              <a:ext uri="{FF2B5EF4-FFF2-40B4-BE49-F238E27FC236}">
                <a16:creationId xmlns:a16="http://schemas.microsoft.com/office/drawing/2014/main" id="{934DFBC6-060F-4D70-84F2-8974875CED06}"/>
              </a:ext>
            </a:extLst>
          </p:cNvPr>
          <p:cNvGrpSpPr/>
          <p:nvPr/>
        </p:nvGrpSpPr>
        <p:grpSpPr>
          <a:xfrm>
            <a:off x="5695157" y="1404632"/>
            <a:ext cx="801687" cy="801687"/>
            <a:chOff x="5695157" y="927748"/>
            <a:chExt cx="801687" cy="801687"/>
          </a:xfrm>
        </p:grpSpPr>
        <p:sp>
          <p:nvSpPr>
            <p:cNvPr id="30" name="流程图: 接点 29">
              <a:extLst>
                <a:ext uri="{FF2B5EF4-FFF2-40B4-BE49-F238E27FC236}">
                  <a16:creationId xmlns:a16="http://schemas.microsoft.com/office/drawing/2014/main" id="{B2F6296F-500D-4439-BC70-D67907E7C59E}"/>
                </a:ext>
              </a:extLst>
            </p:cNvPr>
            <p:cNvSpPr/>
            <p:nvPr/>
          </p:nvSpPr>
          <p:spPr>
            <a:xfrm>
              <a:off x="5695157" y="927748"/>
              <a:ext cx="801687" cy="801687"/>
            </a:xfrm>
            <a:prstGeom prst="flowChartConnector">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31" name="图片 30">
              <a:extLst>
                <a:ext uri="{FF2B5EF4-FFF2-40B4-BE49-F238E27FC236}">
                  <a16:creationId xmlns:a16="http://schemas.microsoft.com/office/drawing/2014/main" id="{704788B6-A5A7-4734-BC98-D29BE81F209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736740" y="969331"/>
              <a:ext cx="718520" cy="718520"/>
            </a:xfrm>
            <a:prstGeom prst="rect">
              <a:avLst/>
            </a:prstGeom>
          </p:spPr>
        </p:pic>
      </p:grpSp>
    </p:spTree>
    <p:extLst>
      <p:ext uri="{BB962C8B-B14F-4D97-AF65-F5344CB8AC3E}">
        <p14:creationId xmlns:p14="http://schemas.microsoft.com/office/powerpoint/2010/main" val="489288935"/>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WPP_GENERATETEXT" val="1"/>
</p:tagLst>
</file>

<file path=ppt/tags/tag2.xml><?xml version="1.0" encoding="utf-8"?>
<p:tagLst xmlns:a="http://schemas.openxmlformats.org/drawingml/2006/main" xmlns:r="http://schemas.openxmlformats.org/officeDocument/2006/relationships" xmlns:p="http://schemas.openxmlformats.org/presentationml/2006/main">
  <p:tag name="WPP_GENERATETEXT" val="1"/>
</p:tagLst>
</file>

<file path=ppt/tags/tag3.xml><?xml version="1.0" encoding="utf-8"?>
<p:tagLst xmlns:a="http://schemas.openxmlformats.org/drawingml/2006/main" xmlns:r="http://schemas.openxmlformats.org/officeDocument/2006/relationships" xmlns:p="http://schemas.openxmlformats.org/presentationml/2006/main">
  <p:tag name="KSO_WM_BEAUTIFY_FLAG" val=""/>
</p:tagLst>
</file>

<file path=ppt/tags/tag4.xml><?xml version="1.0" encoding="utf-8"?>
<p:tagLst xmlns:a="http://schemas.openxmlformats.org/drawingml/2006/main" xmlns:r="http://schemas.openxmlformats.org/officeDocument/2006/relationships" xmlns:p="http://schemas.openxmlformats.org/presentationml/2006/main">
  <p:tag name="KSO_WM_BEAUTIFY_FLAG" val=""/>
</p:tagLst>
</file>

<file path=ppt/tags/tag5.xml><?xml version="1.0" encoding="utf-8"?>
<p:tagLst xmlns:a="http://schemas.openxmlformats.org/drawingml/2006/main" xmlns:r="http://schemas.openxmlformats.org/officeDocument/2006/relationships" xmlns:p="http://schemas.openxmlformats.org/presentationml/2006/main">
  <p:tag name="KSO_WM_BEAUTIFY_FLAG" val=""/>
</p:tagLst>
</file>

<file path=ppt/tags/tag6.xml><?xml version="1.0" encoding="utf-8"?>
<p:tagLst xmlns:a="http://schemas.openxmlformats.org/drawingml/2006/main" xmlns:r="http://schemas.openxmlformats.org/officeDocument/2006/relationships" xmlns:p="http://schemas.openxmlformats.org/presentationml/2006/main">
  <p:tag name="KSO_WM_BEAUTIFY_FLAG" val=""/>
</p:tagLst>
</file>

<file path=ppt/tags/tag7.xml><?xml version="1.0" encoding="utf-8"?>
<p:tagLst xmlns:a="http://schemas.openxmlformats.org/drawingml/2006/main" xmlns:r="http://schemas.openxmlformats.org/officeDocument/2006/relationships" xmlns:p="http://schemas.openxmlformats.org/presentationml/2006/main">
  <p:tag name="KSO_WM_BEAUTIFY_FLAG" val=""/>
</p:tagLst>
</file>

<file path=ppt/tags/tag8.xml><?xml version="1.0" encoding="utf-8"?>
<p:tagLst xmlns:a="http://schemas.openxmlformats.org/drawingml/2006/main" xmlns:r="http://schemas.openxmlformats.org/officeDocument/2006/relationships" xmlns:p="http://schemas.openxmlformats.org/presentationml/2006/main">
  <p:tag name="WPP_GENERATETEXT" val="1"/>
</p:tagLst>
</file>

<file path=ppt/tags/tag9.xml><?xml version="1.0" encoding="utf-8"?>
<p:tagLst xmlns:a="http://schemas.openxmlformats.org/drawingml/2006/main" xmlns:r="http://schemas.openxmlformats.org/officeDocument/2006/relationships" xmlns:p="http://schemas.openxmlformats.org/presentationml/2006/main">
  <p:tag name="WPP_GENERATETEXT" val="1"/>
</p:tagLst>
</file>

<file path=ppt/theme/theme1.xml><?xml version="1.0" encoding="utf-8"?>
<a:theme xmlns:a="http://schemas.openxmlformats.org/drawingml/2006/main" name="Office 主题​​">
  <a:themeElements>
    <a:clrScheme name="自定义 66">
      <a:dk1>
        <a:sysClr val="windowText" lastClr="000000"/>
      </a:dk1>
      <a:lt1>
        <a:sysClr val="window" lastClr="FFFFFF"/>
      </a:lt1>
      <a:dk2>
        <a:srgbClr val="44546A"/>
      </a:dk2>
      <a:lt2>
        <a:srgbClr val="E7E6E6"/>
      </a:lt2>
      <a:accent1>
        <a:srgbClr val="80308B"/>
      </a:accent1>
      <a:accent2>
        <a:srgbClr val="DC9090"/>
      </a:accent2>
      <a:accent3>
        <a:srgbClr val="F3C5C7"/>
      </a:accent3>
      <a:accent4>
        <a:srgbClr val="FFC000"/>
      </a:accent4>
      <a:accent5>
        <a:srgbClr val="5B9BD5"/>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演示文稿5" id="{155595E4-B6C9-43FA-8F66-D514507D5E1C}" vid="{C19EAAD9-8615-4479-80EE-9CA0F401BEA5}"/>
    </a:ext>
  </a:extLst>
</a:theme>
</file>

<file path=docProps/app.xml><?xml version="1.0" encoding="utf-8"?>
<Properties xmlns="http://schemas.openxmlformats.org/officeDocument/2006/extended-properties" xmlns:vt="http://schemas.openxmlformats.org/officeDocument/2006/docPropsVTypes">
  <Template>空白-母钉板</Template>
  <TotalTime>5768</TotalTime>
  <Words>2263</Words>
  <Application>Microsoft Office PowerPoint</Application>
  <PresentationFormat>宽屏</PresentationFormat>
  <Paragraphs>337</Paragraphs>
  <Slides>24</Slides>
  <Notes>0</Notes>
  <HiddenSlides>0</HiddenSlides>
  <MMClips>0</MMClips>
  <ScaleCrop>false</ScaleCrop>
  <HeadingPairs>
    <vt:vector size="6" baseType="variant">
      <vt:variant>
        <vt:lpstr>已用的字体</vt:lpstr>
      </vt:variant>
      <vt:variant>
        <vt:i4>9</vt:i4>
      </vt:variant>
      <vt:variant>
        <vt:lpstr>主题</vt:lpstr>
      </vt:variant>
      <vt:variant>
        <vt:i4>1</vt:i4>
      </vt:variant>
      <vt:variant>
        <vt:lpstr>幻灯片标题</vt:lpstr>
      </vt:variant>
      <vt:variant>
        <vt:i4>24</vt:i4>
      </vt:variant>
    </vt:vector>
  </HeadingPairs>
  <TitlesOfParts>
    <vt:vector size="34" baseType="lpstr">
      <vt:lpstr>OPPOSans M</vt:lpstr>
      <vt:lpstr>Roboto</vt:lpstr>
      <vt:lpstr>等线</vt:lpstr>
      <vt:lpstr>等线 Light</vt:lpstr>
      <vt:lpstr>思源黑体 CN Bold</vt:lpstr>
      <vt:lpstr>思源黑体 CN Heavy</vt:lpstr>
      <vt:lpstr>思源黑体 CN Regular</vt:lpstr>
      <vt:lpstr>Arial</vt:lpstr>
      <vt:lpstr>Wingdings</vt:lpstr>
      <vt:lpstr>Office 主题​​</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荣标 徐</dc:creator>
  <cp:lastModifiedBy>荣标 徐</cp:lastModifiedBy>
  <cp:revision>496</cp:revision>
  <dcterms:created xsi:type="dcterms:W3CDTF">2025-12-29T13:01:08Z</dcterms:created>
  <dcterms:modified xsi:type="dcterms:W3CDTF">2026-01-15T09:06:29Z</dcterms:modified>
</cp:coreProperties>
</file>