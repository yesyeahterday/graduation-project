
<file path=[Content_Types].xml><?xml version="1.0" encoding="utf-8"?>
<Types xmlns="http://schemas.openxmlformats.org/package/2006/content-types">
  <Default Extension="bin" ContentType="image/unknown"/>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316" r:id="rId7"/>
    <p:sldId id="275" r:id="rId8"/>
    <p:sldId id="256" r:id="rId9"/>
    <p:sldId id="257" r:id="rId10"/>
    <p:sldId id="258" r:id="rId11"/>
    <p:sldId id="259" r:id="rId12"/>
    <p:sldId id="260" r:id="rId13"/>
    <p:sldId id="261" r:id="rId14"/>
    <p:sldId id="263" r:id="rId15"/>
    <p:sldId id="262" r:id="rId16"/>
    <p:sldId id="264" r:id="rId17"/>
    <p:sldId id="265" r:id="rId18"/>
    <p:sldId id="266" r:id="rId19"/>
    <p:sldId id="267" r:id="rId20"/>
    <p:sldId id="269" r:id="rId21"/>
    <p:sldId id="268" r:id="rId22"/>
    <p:sldId id="270" r:id="rId23"/>
    <p:sldId id="271" r:id="rId24"/>
    <p:sldId id="272" r:id="rId25"/>
    <p:sldId id="273"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D8E1"/>
    <a:srgbClr val="8B9CB4"/>
    <a:srgbClr val="183A6A"/>
    <a:srgbClr val="CDD6E2"/>
    <a:srgbClr val="8097B6"/>
    <a:srgbClr val="03306D"/>
    <a:srgbClr val="033373"/>
    <a:srgbClr val="CDD8E8"/>
    <a:srgbClr val="809DC4"/>
    <a:srgbClr val="033C8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21" autoAdjust="0"/>
    <p:restoredTop sz="94660"/>
  </p:normalViewPr>
  <p:slideViewPr>
    <p:cSldViewPr snapToGrid="0" showGuides="1">
      <p:cViewPr varScale="1">
        <p:scale>
          <a:sx n="145" d="100"/>
          <a:sy n="145" d="100"/>
        </p:scale>
        <p:origin x="732" y="114"/>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E11F72B4-DFB2-4437-A713-2AD8DB973251}"/>
              </a:ext>
            </a:extLst>
          </p:cNvPr>
          <p:cNvPicPr>
            <a:picLocks noChangeAspect="1"/>
          </p:cNvPicPr>
          <p:nvPr userDrawn="1"/>
        </p:nvPicPr>
        <p:blipFill>
          <a:blip r:embed="rId2">
            <a:extLst>
              <a:ext uri="{28A0092B-C50C-407E-A947-70E740481C1C}">
                <a14:useLocalDpi xmlns:a14="http://schemas.microsoft.com/office/drawing/2010/main" val="0"/>
              </a:ext>
            </a:extLst>
          </a:blip>
          <a:srcRect l="100000" t="74856" r="-746" b="4152"/>
          <a:stretch>
            <a:fillRect/>
          </a:stretch>
        </p:blipFill>
        <p:spPr>
          <a:xfrm>
            <a:off x="-685312" y="4023360"/>
            <a:ext cx="90952" cy="723901"/>
          </a:xfrm>
          <a:custGeom>
            <a:avLst/>
            <a:gdLst>
              <a:gd name="connsiteX0" fmla="*/ 0 w 90952"/>
              <a:gd name="connsiteY0" fmla="*/ 0 h 723901"/>
              <a:gd name="connsiteX1" fmla="*/ 90952 w 90952"/>
              <a:gd name="connsiteY1" fmla="*/ 0 h 723901"/>
              <a:gd name="connsiteX2" fmla="*/ 90952 w 90952"/>
              <a:gd name="connsiteY2" fmla="*/ 723901 h 723901"/>
              <a:gd name="connsiteX3" fmla="*/ 0 w 90952"/>
              <a:gd name="connsiteY3" fmla="*/ 723901 h 723901"/>
              <a:gd name="connsiteX4" fmla="*/ 0 w 90952"/>
              <a:gd name="connsiteY4" fmla="*/ 0 h 723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2" h="723901">
                <a:moveTo>
                  <a:pt x="0" y="0"/>
                </a:moveTo>
                <a:lnTo>
                  <a:pt x="90952" y="0"/>
                </a:lnTo>
                <a:lnTo>
                  <a:pt x="90952" y="723901"/>
                </a:lnTo>
                <a:lnTo>
                  <a:pt x="0" y="723901"/>
                </a:lnTo>
                <a:lnTo>
                  <a:pt x="0" y="0"/>
                </a:lnTo>
                <a:close/>
              </a:path>
            </a:pathLst>
          </a:custGeom>
        </p:spPr>
      </p:pic>
      <p:cxnSp>
        <p:nvCxnSpPr>
          <p:cNvPr id="7" name="直接连接符 6">
            <a:extLst>
              <a:ext uri="{FF2B5EF4-FFF2-40B4-BE49-F238E27FC236}">
                <a16:creationId xmlns:a16="http://schemas.microsoft.com/office/drawing/2014/main" id="{6D88D9DE-9CCF-4F00-882E-E723033C8EC2}"/>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D81B61E2-D29B-463F-B3F9-8E03ACABCE76}"/>
              </a:ext>
            </a:extLst>
          </p:cNvPr>
          <p:cNvGrpSpPr/>
          <p:nvPr userDrawn="1"/>
        </p:nvGrpSpPr>
        <p:grpSpPr>
          <a:xfrm>
            <a:off x="263525" y="297823"/>
            <a:ext cx="635651" cy="522101"/>
            <a:chOff x="301625" y="297823"/>
            <a:chExt cx="635651" cy="522101"/>
          </a:xfrm>
        </p:grpSpPr>
        <p:sp>
          <p:nvSpPr>
            <p:cNvPr id="9" name="graduate-hat_59495">
              <a:extLst>
                <a:ext uri="{FF2B5EF4-FFF2-40B4-BE49-F238E27FC236}">
                  <a16:creationId xmlns:a16="http://schemas.microsoft.com/office/drawing/2014/main" id="{5866AA4C-BAD3-4B42-A370-213EE61D2BEA}"/>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raduate-hat_59495">
              <a:extLst>
                <a:ext uri="{FF2B5EF4-FFF2-40B4-BE49-F238E27FC236}">
                  <a16:creationId xmlns:a16="http://schemas.microsoft.com/office/drawing/2014/main" id="{7E764E82-50AD-4C9E-9E23-CB00A2F746AB}"/>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图片 11">
            <a:extLst>
              <a:ext uri="{FF2B5EF4-FFF2-40B4-BE49-F238E27FC236}">
                <a16:creationId xmlns:a16="http://schemas.microsoft.com/office/drawing/2014/main" id="{5B1633F8-D937-412A-9465-C7E2BFCBAEF8}"/>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pic>
        <p:nvPicPr>
          <p:cNvPr id="15" name="图片 14">
            <a:extLst>
              <a:ext uri="{FF2B5EF4-FFF2-40B4-BE49-F238E27FC236}">
                <a16:creationId xmlns:a16="http://schemas.microsoft.com/office/drawing/2014/main" id="{BB5B0828-C5E2-4D1E-ADEC-6B1572192A78}"/>
              </a:ext>
            </a:extLst>
          </p:cNvPr>
          <p:cNvPicPr>
            <a:picLocks noChangeAspect="1"/>
          </p:cNvPicPr>
          <p:nvPr userDrawn="1"/>
        </p:nvPicPr>
        <p:blipFill>
          <a:blip r:embed="rId4">
            <a:extLst>
              <a:ext uri="{28A0092B-C50C-407E-A947-70E740481C1C}">
                <a14:useLocalDpi xmlns:a14="http://schemas.microsoft.com/office/drawing/2010/main" val="0"/>
              </a:ext>
            </a:extLst>
          </a:blip>
          <a:srcRect/>
          <a:stretch>
            <a:fillRect/>
          </a:stretch>
        </p:blipFill>
        <p:spPr>
          <a:xfrm>
            <a:off x="9887721" y="258528"/>
            <a:ext cx="2040752" cy="564395"/>
          </a:xfrm>
          <a:custGeom>
            <a:avLst/>
            <a:gdLst>
              <a:gd name="connsiteX0" fmla="*/ 0 w 3050479"/>
              <a:gd name="connsiteY0" fmla="*/ 0 h 843648"/>
              <a:gd name="connsiteX1" fmla="*/ 3050479 w 3050479"/>
              <a:gd name="connsiteY1" fmla="*/ 0 h 843648"/>
              <a:gd name="connsiteX2" fmla="*/ 3050479 w 3050479"/>
              <a:gd name="connsiteY2" fmla="*/ 843648 h 843648"/>
              <a:gd name="connsiteX3" fmla="*/ 0 w 3050479"/>
              <a:gd name="connsiteY3" fmla="*/ 843648 h 843648"/>
              <a:gd name="connsiteX4" fmla="*/ 0 w 3050479"/>
              <a:gd name="connsiteY4" fmla="*/ 0 h 843648"/>
              <a:gd name="connsiteX5" fmla="*/ 1080635 w 3050479"/>
              <a:gd name="connsiteY5" fmla="*/ 627657 h 843648"/>
              <a:gd name="connsiteX6" fmla="*/ 1080635 w 3050479"/>
              <a:gd name="connsiteY6" fmla="*/ 780038 h 843648"/>
              <a:gd name="connsiteX7" fmla="*/ 2886575 w 3050479"/>
              <a:gd name="connsiteY7" fmla="*/ 780038 h 843648"/>
              <a:gd name="connsiteX8" fmla="*/ 2886575 w 3050479"/>
              <a:gd name="connsiteY8" fmla="*/ 627657 h 843648"/>
              <a:gd name="connsiteX9" fmla="*/ 1080635 w 3050479"/>
              <a:gd name="connsiteY9" fmla="*/ 627657 h 843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50479" h="843648">
                <a:moveTo>
                  <a:pt x="0" y="0"/>
                </a:moveTo>
                <a:lnTo>
                  <a:pt x="3050479" y="0"/>
                </a:lnTo>
                <a:lnTo>
                  <a:pt x="3050479" y="843648"/>
                </a:lnTo>
                <a:lnTo>
                  <a:pt x="0" y="843648"/>
                </a:lnTo>
                <a:lnTo>
                  <a:pt x="0" y="0"/>
                </a:lnTo>
                <a:close/>
                <a:moveTo>
                  <a:pt x="1080635" y="627657"/>
                </a:moveTo>
                <a:lnTo>
                  <a:pt x="1080635" y="780038"/>
                </a:lnTo>
                <a:lnTo>
                  <a:pt x="2886575" y="780038"/>
                </a:lnTo>
                <a:lnTo>
                  <a:pt x="2886575" y="627657"/>
                </a:lnTo>
                <a:lnTo>
                  <a:pt x="1080635" y="627657"/>
                </a:lnTo>
                <a:close/>
              </a:path>
            </a:pathLst>
          </a:cu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0598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0496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2026/4/28</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2026/4/28</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2026/4/28</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2026/4/28</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2026/4/28</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bin"/><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3.xml"/><Relationship Id="rId6" Type="http://schemas.openxmlformats.org/officeDocument/2006/relationships/image" Target="../media/image11.jpg"/><Relationship Id="rId5" Type="http://schemas.microsoft.com/office/2007/relationships/hdphoto" Target="../media/hdphoto1.wdp"/><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9.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751840" y="1883397"/>
              <a:ext cx="1068832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论文答辩</a:t>
              </a:r>
              <a:r>
                <a:rPr lang="en-US" altLang="zh-CN" sz="5600" dirty="0">
                  <a:latin typeface="思源黑体 CN Bold"/>
                  <a:ea typeface="思源黑体 CN Bold"/>
                  <a:cs typeface="Arial" panose="020B0604020202020204" pitchFamily="34" charset="0"/>
                  <a:sym typeface="+mn-lt"/>
                </a:rPr>
                <a:t>/</a:t>
              </a:r>
              <a:r>
                <a:rPr lang="zh-CN" altLang="en-US" sz="5600" dirty="0">
                  <a:latin typeface="思源黑体 CN Bold"/>
                  <a:ea typeface="思源黑体 CN Bold"/>
                  <a:cs typeface="Arial" panose="020B0604020202020204" pitchFamily="34" charset="0"/>
                  <a:sym typeface="+mn-lt"/>
                </a:rPr>
                <a:t>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2">
              <a:lumMod val="10000"/>
              <a:lumOff val="9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885440" y="2328613"/>
            <a:ext cx="10421123"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论文答辩</a:t>
            </a:r>
            <a:r>
              <a:rPr lang="en-US" altLang="zh-CN" sz="5400" dirty="0">
                <a:solidFill>
                  <a:schemeClr val="bg1"/>
                </a:solidFill>
                <a:latin typeface="思源黑体 CN Bold" panose="020B0800000000000000" pitchFamily="34" charset="-122"/>
                <a:ea typeface="思源黑体 CN Bold" panose="020B0800000000000000" pitchFamily="34" charset="-122"/>
              </a:rPr>
              <a:t>/</a:t>
            </a:r>
            <a:r>
              <a:rPr lang="zh-CN" altLang="en-US" sz="5400" dirty="0">
                <a:solidFill>
                  <a:schemeClr val="bg1"/>
                </a:solidFill>
                <a:latin typeface="思源黑体 CN Bold" panose="020B0800000000000000" pitchFamily="34" charset="-122"/>
                <a:ea typeface="思源黑体 CN Bold" panose="020B0800000000000000" pitchFamily="34" charset="-122"/>
              </a:rPr>
              <a:t>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49586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33500" y="3301947"/>
            <a:ext cx="952500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CA02CC04-4D95-485B-B685-3C5AE63B40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698281" y="2068423"/>
            <a:ext cx="6795451"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学术论文</a:t>
            </a:r>
            <a:r>
              <a:rPr lang="en-US" altLang="zh-CN" sz="6000" dirty="0">
                <a:solidFill>
                  <a:schemeClr val="bg1"/>
                </a:solidFill>
                <a:latin typeface="思源黑体 CN Bold" panose="020B0800000000000000" pitchFamily="34" charset="-122"/>
                <a:ea typeface="思源黑体 CN Bold" panose="020B0800000000000000" pitchFamily="34" charset="-122"/>
              </a:rPr>
              <a:t>·</a:t>
            </a:r>
            <a:r>
              <a:rPr lang="zh-CN" altLang="en-US" sz="6000" dirty="0">
                <a:solidFill>
                  <a:schemeClr val="bg1"/>
                </a:solidFill>
                <a:latin typeface="思源黑体 CN Bold" panose="020B0800000000000000" pitchFamily="34" charset="-122"/>
                <a:ea typeface="思源黑体 CN Bold" panose="020B0800000000000000" pitchFamily="34" charset="-122"/>
              </a:rPr>
              <a:t>开题答辩</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698264" y="3317448"/>
            <a:ext cx="6795468" cy="1384995"/>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2828693" y="3153267"/>
            <a:ext cx="6534615"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0" name="流程图: 接点 9">
            <a:extLst>
              <a:ext uri="{FF2B5EF4-FFF2-40B4-BE49-F238E27FC236}">
                <a16:creationId xmlns:a16="http://schemas.microsoft.com/office/drawing/2014/main" id="{BCCE06FF-7BA0-4B04-8FDB-9DBE2C8B1C29}"/>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4" name="图片 23">
            <a:extLst>
              <a:ext uri="{FF2B5EF4-FFF2-40B4-BE49-F238E27FC236}">
                <a16:creationId xmlns:a16="http://schemas.microsoft.com/office/drawing/2014/main" id="{CA02CC04-4D95-485B-B685-3C5AE63B40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2164156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流程图: 接点 14">
            <a:extLst>
              <a:ext uri="{FF2B5EF4-FFF2-40B4-BE49-F238E27FC236}">
                <a16:creationId xmlns:a16="http://schemas.microsoft.com/office/drawing/2014/main" id="{46FD3921-509D-435B-ABA2-96B80E80D1B6}"/>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2" name="图片 21">
            <a:extLst>
              <a:ext uri="{FF2B5EF4-FFF2-40B4-BE49-F238E27FC236}">
                <a16:creationId xmlns:a16="http://schemas.microsoft.com/office/drawing/2014/main" id="{8D38A534-4963-4AE8-B37D-64CD5E0D56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spTree>
    <p:extLst>
      <p:ext uri="{BB962C8B-B14F-4D97-AF65-F5344CB8AC3E}">
        <p14:creationId xmlns:p14="http://schemas.microsoft.com/office/powerpoint/2010/main" val="1476105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2AABF268-D5A8-410D-B854-5582C9244F37}"/>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spTree>
    <p:extLst>
      <p:ext uri="{BB962C8B-B14F-4D97-AF65-F5344CB8AC3E}">
        <p14:creationId xmlns:p14="http://schemas.microsoft.com/office/powerpoint/2010/main" val="1131132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spTree>
    <p:extLst>
      <p:ext uri="{BB962C8B-B14F-4D97-AF65-F5344CB8AC3E}">
        <p14:creationId xmlns:p14="http://schemas.microsoft.com/office/powerpoint/2010/main" val="2487200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3329360" cy="584775"/>
            <a:chOff x="6717178" y="1451134"/>
            <a:chExt cx="3329360"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01</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grpSp>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7634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7E0C0A92-B8C2-406D-9B91-45DE353DDEE1}"/>
              </a:ext>
            </a:extLst>
          </p:cNvPr>
          <p:cNvGrpSpPr/>
          <p:nvPr/>
        </p:nvGrpSpPr>
        <p:grpSpPr>
          <a:xfrm>
            <a:off x="1001750" y="267494"/>
            <a:ext cx="4047505" cy="584775"/>
            <a:chOff x="6717178" y="1451134"/>
            <a:chExt cx="4047505" cy="584775"/>
          </a:xfrm>
        </p:grpSpPr>
        <p:sp>
          <p:nvSpPr>
            <p:cNvPr id="3" name="文本框 2">
              <a:extLst>
                <a:ext uri="{FF2B5EF4-FFF2-40B4-BE49-F238E27FC236}">
                  <a16:creationId xmlns:a16="http://schemas.microsoft.com/office/drawing/2014/main" id="{004FDC9B-1192-47AC-8C5F-D53495E76A1B}"/>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 name="文本框 3">
              <a:extLst>
                <a:ext uri="{FF2B5EF4-FFF2-40B4-BE49-F238E27FC236}">
                  <a16:creationId xmlns:a16="http://schemas.microsoft.com/office/drawing/2014/main" id="{2D4470D7-1A5D-4100-8456-B4DDBF780073}"/>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spTree>
    <p:extLst>
      <p:ext uri="{BB962C8B-B14F-4D97-AF65-F5344CB8AC3E}">
        <p14:creationId xmlns:p14="http://schemas.microsoft.com/office/powerpoint/2010/main" val="13778142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grpSp>
        <p:nvGrpSpPr>
          <p:cNvPr id="17" name="组合 16">
            <a:extLst>
              <a:ext uri="{FF2B5EF4-FFF2-40B4-BE49-F238E27FC236}">
                <a16:creationId xmlns:a16="http://schemas.microsoft.com/office/drawing/2014/main" id="{70A3D56F-6CCC-4162-8F33-7A88B8F03B58}"/>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368A92C6-49B2-4273-B87C-8D6AD9750BC4}"/>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07F5D67F-4031-4303-B2A6-C202AA9A764D}"/>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253930"/>
            <a:ext cx="3166251"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MYSM1 KO </a:t>
            </a:r>
            <a:r>
              <a:rPr lang="zh-CN" altLang="en-US" sz="2000" dirty="0">
                <a:solidFill>
                  <a:schemeClr val="accent1"/>
                </a:solidFill>
                <a:latin typeface="思源黑体 CN Bold" panose="020B0800000000000000" pitchFamily="34" charset="-122"/>
                <a:ea typeface="思源黑体 CN Bold" panose="020B0800000000000000" pitchFamily="34" charset="-122"/>
              </a:rPr>
              <a:t>体外减少 </a:t>
            </a:r>
            <a:r>
              <a:rPr lang="en-US" altLang="zh-CN" sz="2000" dirty="0">
                <a:solidFill>
                  <a:schemeClr val="accent1"/>
                </a:solidFill>
                <a:latin typeface="思源黑体 CN Bold" panose="020B0800000000000000" pitchFamily="34" charset="-122"/>
                <a:ea typeface="思源黑体 CN Bold" panose="020B0800000000000000" pitchFamily="34" charset="-122"/>
              </a:rPr>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p:spPr>
      </p:pic>
    </p:spTree>
    <p:extLst>
      <p:ext uri="{BB962C8B-B14F-4D97-AF65-F5344CB8AC3E}">
        <p14:creationId xmlns:p14="http://schemas.microsoft.com/office/powerpoint/2010/main" val="678047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253930"/>
            <a:ext cx="3725122"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CRISPR </a:t>
            </a:r>
            <a:r>
              <a:rPr lang="zh-CN" altLang="en-US" sz="2000" dirty="0">
                <a:solidFill>
                  <a:schemeClr val="accent1"/>
                </a:solidFill>
                <a:latin typeface="思源黑体 CN Bold" panose="020B0800000000000000" pitchFamily="34" charset="-122"/>
                <a:ea typeface="思源黑体 CN Bold" panose="020B0800000000000000" pitchFamily="34" charset="-122"/>
              </a:rPr>
              <a:t>构建 </a:t>
            </a:r>
            <a:r>
              <a:rPr lang="en-US" altLang="zh-CN" sz="2000" dirty="0">
                <a:solidFill>
                  <a:schemeClr val="accent1"/>
                </a:solidFill>
                <a:latin typeface="思源黑体 CN Bold" panose="020B0800000000000000" pitchFamily="34" charset="-122"/>
                <a:ea typeface="思源黑体 CN Bold" panose="020B0800000000000000" pitchFamily="34" charset="-122"/>
              </a:rPr>
              <a:t>MYSM1 </a:t>
            </a:r>
            <a:r>
              <a:rPr lang="zh-CN" altLang="en-US" sz="2000" dirty="0">
                <a:solidFill>
                  <a:schemeClr val="accent1"/>
                </a:solidFill>
                <a:latin typeface="思源黑体 CN Bold" panose="020B0800000000000000" pitchFamily="34" charset="-122"/>
                <a:ea typeface="思源黑体 CN Bold" panose="020B0800000000000000" pitchFamily="34" charset="-122"/>
              </a:rPr>
              <a:t>敲除模型</a:t>
            </a:r>
            <a:endParaRPr lang="en-US" altLang="zh-CN"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1484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4047505" cy="584775"/>
            <a:chOff x="6717178" y="1451134"/>
            <a:chExt cx="4047505"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02</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gr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22315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253930"/>
            <a:ext cx="3138167" cy="400110"/>
          </a:xfrm>
          <a:prstGeom prst="rect">
            <a:avLst/>
          </a:prstGeom>
          <a:noFill/>
        </p:spPr>
        <p:txBody>
          <a:bodyPr wrap="none" rtlCol="0">
            <a:spAutoFit/>
          </a:bodyPr>
          <a:lstStyle/>
          <a:p>
            <a:r>
              <a:rPr lang="en-US" altLang="zh-CN" sz="2000" dirty="0">
                <a:solidFill>
                  <a:schemeClr val="accent1"/>
                </a:solidFill>
                <a:latin typeface="思源黑体 CN Bold" panose="020B0800000000000000" pitchFamily="34" charset="-122"/>
                <a:ea typeface="思源黑体 CN Bold" panose="020B0800000000000000" pitchFamily="34" charset="-122"/>
              </a:rPr>
              <a:t>DXSVDFB</a:t>
            </a:r>
            <a:r>
              <a:rPr lang="zh-CN" altLang="en-US" sz="2000" dirty="0">
                <a:solidFill>
                  <a:schemeClr val="accent1"/>
                </a:solidFill>
                <a:latin typeface="思源黑体 CN Bold" panose="020B0800000000000000" pitchFamily="34" charset="-122"/>
                <a:ea typeface="思源黑体 CN Bold" panose="020B0800000000000000" pitchFamily="34" charset="-122"/>
              </a:rPr>
              <a:t>策略构建与验证</a:t>
            </a:r>
            <a:endParaRPr lang="en-US" altLang="zh-CN" sz="2000" dirty="0">
              <a:solidFill>
                <a:schemeClr val="accent1"/>
              </a:solidFill>
              <a:latin typeface="思源黑体 CN Bold" panose="020B0800000000000000" pitchFamily="34" charset="-122"/>
              <a:ea typeface="思源黑体 CN Bold" panose="020B0800000000000000" pitchFamily="34" charset="-122"/>
            </a:endParaRPr>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40708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17" name="组合 16">
            <a:extLst>
              <a:ext uri="{FF2B5EF4-FFF2-40B4-BE49-F238E27FC236}">
                <a16:creationId xmlns:a16="http://schemas.microsoft.com/office/drawing/2014/main" id="{B7D299E6-E440-4E13-BBA8-0B9878042EB6}"/>
              </a:ext>
            </a:extLst>
          </p:cNvPr>
          <p:cNvGrpSpPr/>
          <p:nvPr/>
        </p:nvGrpSpPr>
        <p:grpSpPr>
          <a:xfrm>
            <a:off x="1001750" y="267494"/>
            <a:ext cx="3329360" cy="584775"/>
            <a:chOff x="6717178" y="1451134"/>
            <a:chExt cx="3329360" cy="584775"/>
          </a:xfrm>
        </p:grpSpPr>
        <p:sp>
          <p:nvSpPr>
            <p:cNvPr id="23" name="文本框 22">
              <a:extLst>
                <a:ext uri="{FF2B5EF4-FFF2-40B4-BE49-F238E27FC236}">
                  <a16:creationId xmlns:a16="http://schemas.microsoft.com/office/drawing/2014/main" id="{20AF250B-A18A-4B63-AE9B-2D68E6A729ED}"/>
                </a:ext>
              </a:extLst>
            </p:cNvPr>
            <p:cNvSpPr txBox="1"/>
            <p:nvPr/>
          </p:nvSpPr>
          <p:spPr>
            <a:xfrm>
              <a:off x="6717178" y="1451134"/>
              <a:ext cx="684803" cy="584775"/>
            </a:xfrm>
            <a:prstGeom prst="rect">
              <a:avLst/>
            </a:prstGeom>
            <a:noFill/>
          </p:spPr>
          <p:txBody>
            <a:bodyPr wrap="none" rtlCol="0">
              <a:spAutoFit/>
            </a:bodyPr>
            <a:lstStyle>
              <a:defPPr>
                <a:defRPr lang="zh-CN"/>
              </a:defPPr>
              <a:lvl1pPr>
                <a:defRPr sz="3200">
                  <a:solidFill>
                    <a:schemeClr val="accent1"/>
                  </a:solidFill>
                  <a:latin typeface="思源黑体 CN Heavy" panose="020B0A00000000000000" pitchFamily="34" charset="-122"/>
                  <a:ea typeface="思源黑体 CN Heavy" panose="020B0A00000000000000" pitchFamily="34" charset="-122"/>
                </a:defRPr>
              </a:lvl1pPr>
            </a:lstStyle>
            <a:p>
              <a:r>
                <a:rPr lang="en-US" altLang="zh-CN" dirty="0"/>
                <a:t>03</a:t>
              </a:r>
              <a:endParaRPr lang="zh-CN" altLang="en-US" dirty="0"/>
            </a:p>
          </p:txBody>
        </p:sp>
        <p:sp>
          <p:nvSpPr>
            <p:cNvPr id="24" name="文本框 23">
              <a:extLst>
                <a:ext uri="{FF2B5EF4-FFF2-40B4-BE49-F238E27FC236}">
                  <a16:creationId xmlns:a16="http://schemas.microsoft.com/office/drawing/2014/main" id="{8EEB52F5-E3F2-4844-92F5-5BA440BAFCA8}"/>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6508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22315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grpSp>
        <p:nvGrpSpPr>
          <p:cNvPr id="3" name="组合 2">
            <a:extLst>
              <a:ext uri="{FF2B5EF4-FFF2-40B4-BE49-F238E27FC236}">
                <a16:creationId xmlns:a16="http://schemas.microsoft.com/office/drawing/2014/main" id="{EC1711A6-C741-43F1-926D-D5EF6F33A4B3}"/>
              </a:ext>
            </a:extLst>
          </p:cNvPr>
          <p:cNvGrpSpPr/>
          <p:nvPr/>
        </p:nvGrpSpPr>
        <p:grpSpPr>
          <a:xfrm>
            <a:off x="1001750" y="267494"/>
            <a:ext cx="3329360" cy="584775"/>
            <a:chOff x="6717178" y="1451134"/>
            <a:chExt cx="3329360" cy="584775"/>
          </a:xfrm>
        </p:grpSpPr>
        <p:sp>
          <p:nvSpPr>
            <p:cNvPr id="4" name="文本框 3">
              <a:extLst>
                <a:ext uri="{FF2B5EF4-FFF2-40B4-BE49-F238E27FC236}">
                  <a16:creationId xmlns:a16="http://schemas.microsoft.com/office/drawing/2014/main" id="{1DEAF5A0-D1B4-49F4-A3E7-4936F499C96E}"/>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03</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CF38AC97-D811-4246-B9BE-30142E9B40DB}"/>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sp>
        <p:nvSpPr>
          <p:cNvPr id="6" name="矩形: 圆角 5">
            <a:extLst>
              <a:ext uri="{FF2B5EF4-FFF2-40B4-BE49-F238E27FC236}">
                <a16:creationId xmlns:a16="http://schemas.microsoft.com/office/drawing/2014/main" id="{C1A30B15-8195-4307-A38C-A12C001EC6E1}"/>
              </a:ext>
            </a:extLst>
          </p:cNvPr>
          <p:cNvSpPr/>
          <p:nvPr/>
        </p:nvSpPr>
        <p:spPr>
          <a:xfrm>
            <a:off x="6096000" y="144272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7766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44751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46520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12948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7525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8197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7894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7766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8197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72802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7504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1275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grpSp>
        <p:nvGrpSpPr>
          <p:cNvPr id="3" name="组合 2">
            <a:extLst>
              <a:ext uri="{FF2B5EF4-FFF2-40B4-BE49-F238E27FC236}">
                <a16:creationId xmlns:a16="http://schemas.microsoft.com/office/drawing/2014/main" id="{EC1711A6-C741-43F1-926D-D5EF6F33A4B3}"/>
              </a:ext>
            </a:extLst>
          </p:cNvPr>
          <p:cNvGrpSpPr/>
          <p:nvPr/>
        </p:nvGrpSpPr>
        <p:grpSpPr>
          <a:xfrm>
            <a:off x="1001750" y="267494"/>
            <a:ext cx="3329360" cy="584775"/>
            <a:chOff x="6717178" y="1451134"/>
            <a:chExt cx="3329360" cy="584775"/>
          </a:xfrm>
        </p:grpSpPr>
        <p:sp>
          <p:nvSpPr>
            <p:cNvPr id="4" name="文本框 3">
              <a:extLst>
                <a:ext uri="{FF2B5EF4-FFF2-40B4-BE49-F238E27FC236}">
                  <a16:creationId xmlns:a16="http://schemas.microsoft.com/office/drawing/2014/main" id="{1DEAF5A0-D1B4-49F4-A3E7-4936F499C96E}"/>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03</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CF38AC97-D811-4246-B9BE-30142E9B40DB}"/>
                </a:ext>
              </a:extLst>
            </p:cNvPr>
            <p:cNvSpPr txBox="1"/>
            <p:nvPr/>
          </p:nvSpPr>
          <p:spPr>
            <a:xfrm>
              <a:off x="7348363" y="147780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gr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Tree>
    <p:extLst>
      <p:ext uri="{BB962C8B-B14F-4D97-AF65-F5344CB8AC3E}">
        <p14:creationId xmlns:p14="http://schemas.microsoft.com/office/powerpoint/2010/main" val="103586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75D8AF1D-5CAF-4596-90E1-7A8ABECBF02E}"/>
              </a:ext>
            </a:extLst>
          </p:cNvPr>
          <p:cNvGrpSpPr/>
          <p:nvPr/>
        </p:nvGrpSpPr>
        <p:grpSpPr>
          <a:xfrm>
            <a:off x="1001750" y="267494"/>
            <a:ext cx="3688432" cy="584775"/>
            <a:chOff x="6717178" y="1451134"/>
            <a:chExt cx="3688432" cy="584775"/>
          </a:xfrm>
        </p:grpSpPr>
        <p:sp>
          <p:nvSpPr>
            <p:cNvPr id="4" name="文本框 3">
              <a:extLst>
                <a:ext uri="{FF2B5EF4-FFF2-40B4-BE49-F238E27FC236}">
                  <a16:creationId xmlns:a16="http://schemas.microsoft.com/office/drawing/2014/main" id="{34134F62-D028-4FCF-93D2-9B455FBBDA00}"/>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04</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5" name="文本框 4">
              <a:extLst>
                <a:ext uri="{FF2B5EF4-FFF2-40B4-BE49-F238E27FC236}">
                  <a16:creationId xmlns:a16="http://schemas.microsoft.com/office/drawing/2014/main" id="{BACA0E63-5055-4509-98F9-57AF229CBE6B}"/>
                </a:ext>
              </a:extLst>
            </p:cNvPr>
            <p:cNvSpPr txBox="1"/>
            <p:nvPr/>
          </p:nvSpPr>
          <p:spPr>
            <a:xfrm>
              <a:off x="7348363" y="1477804"/>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grpSp>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spTree>
    <p:extLst>
      <p:ext uri="{BB962C8B-B14F-4D97-AF65-F5344CB8AC3E}">
        <p14:creationId xmlns:p14="http://schemas.microsoft.com/office/powerpoint/2010/main" val="3142729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2155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4393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3169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26" name="组合 25">
            <a:extLst>
              <a:ext uri="{FF2B5EF4-FFF2-40B4-BE49-F238E27FC236}">
                <a16:creationId xmlns:a16="http://schemas.microsoft.com/office/drawing/2014/main" id="{C252ED32-B842-4899-9FF8-E1EB732A26CE}"/>
              </a:ext>
            </a:extLst>
          </p:cNvPr>
          <p:cNvGrpSpPr/>
          <p:nvPr/>
        </p:nvGrpSpPr>
        <p:grpSpPr>
          <a:xfrm>
            <a:off x="1001750" y="267494"/>
            <a:ext cx="4765650" cy="584775"/>
            <a:chOff x="6717178" y="1451134"/>
            <a:chExt cx="4765650" cy="584775"/>
          </a:xfrm>
        </p:grpSpPr>
        <p:sp>
          <p:nvSpPr>
            <p:cNvPr id="27" name="文本框 26">
              <a:extLst>
                <a:ext uri="{FF2B5EF4-FFF2-40B4-BE49-F238E27FC236}">
                  <a16:creationId xmlns:a16="http://schemas.microsoft.com/office/drawing/2014/main" id="{4B6ADAFA-9187-4778-8EA8-D5B050B7F793}"/>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28" name="文本框 27">
              <a:extLst>
                <a:ext uri="{FF2B5EF4-FFF2-40B4-BE49-F238E27FC236}">
                  <a16:creationId xmlns:a16="http://schemas.microsoft.com/office/drawing/2014/main" id="{3C2D271D-5F67-4AED-9A08-C27171670796}"/>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8811928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2155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4393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679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469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82" name="组合 81">
            <a:extLst>
              <a:ext uri="{FF2B5EF4-FFF2-40B4-BE49-F238E27FC236}">
                <a16:creationId xmlns:a16="http://schemas.microsoft.com/office/drawing/2014/main" id="{3FCB8E53-261B-4586-988B-0FFE64BDECAE}"/>
              </a:ext>
            </a:extLst>
          </p:cNvPr>
          <p:cNvGrpSpPr/>
          <p:nvPr/>
        </p:nvGrpSpPr>
        <p:grpSpPr>
          <a:xfrm>
            <a:off x="1001750" y="267494"/>
            <a:ext cx="4765650" cy="584775"/>
            <a:chOff x="6717178" y="1451134"/>
            <a:chExt cx="4765650" cy="584775"/>
          </a:xfrm>
        </p:grpSpPr>
        <p:sp>
          <p:nvSpPr>
            <p:cNvPr id="83" name="文本框 82">
              <a:extLst>
                <a:ext uri="{FF2B5EF4-FFF2-40B4-BE49-F238E27FC236}">
                  <a16:creationId xmlns:a16="http://schemas.microsoft.com/office/drawing/2014/main" id="{26DAB4B5-2643-4625-8F04-82546467EF32}"/>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84" name="文本框 83">
              <a:extLst>
                <a:ext uri="{FF2B5EF4-FFF2-40B4-BE49-F238E27FC236}">
                  <a16:creationId xmlns:a16="http://schemas.microsoft.com/office/drawing/2014/main" id="{6CEF7ACF-7D3E-4C31-A0C3-6169BAF80E81}"/>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16922767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02692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2216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40071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9420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10632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22026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53570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9420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74704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9510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42897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42897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42267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42267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a:extLst>
              <a:ext uri="{FF2B5EF4-FFF2-40B4-BE49-F238E27FC236}">
                <a16:creationId xmlns:a16="http://schemas.microsoft.com/office/drawing/2014/main" id="{8D571208-1B45-4006-B3FC-6E3F6DAEDA71}"/>
              </a:ext>
            </a:extLst>
          </p:cNvPr>
          <p:cNvGrpSpPr/>
          <p:nvPr/>
        </p:nvGrpSpPr>
        <p:grpSpPr>
          <a:xfrm>
            <a:off x="1001750" y="267494"/>
            <a:ext cx="4765650" cy="584775"/>
            <a:chOff x="6717178" y="1451134"/>
            <a:chExt cx="4765650" cy="584775"/>
          </a:xfrm>
        </p:grpSpPr>
        <p:sp>
          <p:nvSpPr>
            <p:cNvPr id="43" name="文本框 42">
              <a:extLst>
                <a:ext uri="{FF2B5EF4-FFF2-40B4-BE49-F238E27FC236}">
                  <a16:creationId xmlns:a16="http://schemas.microsoft.com/office/drawing/2014/main" id="{158C075D-0A8E-4A03-934F-0376EA6E414F}"/>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44" name="文本框 43">
              <a:extLst>
                <a:ext uri="{FF2B5EF4-FFF2-40B4-BE49-F238E27FC236}">
                  <a16:creationId xmlns:a16="http://schemas.microsoft.com/office/drawing/2014/main" id="{4ACAC822-9482-4138-B0E2-2A00027EA302}"/>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Tree>
    <p:extLst>
      <p:ext uri="{BB962C8B-B14F-4D97-AF65-F5344CB8AC3E}">
        <p14:creationId xmlns:p14="http://schemas.microsoft.com/office/powerpoint/2010/main" val="2714958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33" name="组合 32">
            <a:extLst>
              <a:ext uri="{FF2B5EF4-FFF2-40B4-BE49-F238E27FC236}">
                <a16:creationId xmlns:a16="http://schemas.microsoft.com/office/drawing/2014/main" id="{F0A142FA-53F7-4BE9-9E7F-ED57A0C65A91}"/>
              </a:ext>
            </a:extLst>
          </p:cNvPr>
          <p:cNvGrpSpPr/>
          <p:nvPr/>
        </p:nvGrpSpPr>
        <p:grpSpPr>
          <a:xfrm>
            <a:off x="1001750" y="267494"/>
            <a:ext cx="4765650" cy="584775"/>
            <a:chOff x="6717178" y="1451134"/>
            <a:chExt cx="4765650" cy="584775"/>
          </a:xfrm>
        </p:grpSpPr>
        <p:sp>
          <p:nvSpPr>
            <p:cNvPr id="34" name="文本框 33">
              <a:extLst>
                <a:ext uri="{FF2B5EF4-FFF2-40B4-BE49-F238E27FC236}">
                  <a16:creationId xmlns:a16="http://schemas.microsoft.com/office/drawing/2014/main" id="{437ED5CC-EDD2-424F-B7A7-E2DF82600DF8}"/>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05</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35" name="文本框 34">
              <a:extLst>
                <a:ext uri="{FF2B5EF4-FFF2-40B4-BE49-F238E27FC236}">
                  <a16:creationId xmlns:a16="http://schemas.microsoft.com/office/drawing/2014/main" id="{28B9D97D-81B3-4364-8950-BBA98842A6B5}"/>
                </a:ext>
              </a:extLst>
            </p:cNvPr>
            <p:cNvSpPr txBox="1"/>
            <p:nvPr/>
          </p:nvSpPr>
          <p:spPr>
            <a:xfrm>
              <a:off x="7348363" y="1477804"/>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grpSp>
      <p:sp>
        <p:nvSpPr>
          <p:cNvPr id="11" name="矩形: 圆角 10">
            <a:extLst>
              <a:ext uri="{FF2B5EF4-FFF2-40B4-BE49-F238E27FC236}">
                <a16:creationId xmlns:a16="http://schemas.microsoft.com/office/drawing/2014/main" id="{8BE4F5B9-0A7A-4D0C-81A2-093ACA468498}"/>
              </a:ext>
            </a:extLst>
          </p:cNvPr>
          <p:cNvSpPr/>
          <p:nvPr/>
        </p:nvSpPr>
        <p:spPr>
          <a:xfrm>
            <a:off x="586232" y="182626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4351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9113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979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9342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545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81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6371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8096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859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724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3087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9199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2562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10116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841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604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3469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833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944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6307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Tree>
    <p:extLst>
      <p:ext uri="{BB962C8B-B14F-4D97-AF65-F5344CB8AC3E}">
        <p14:creationId xmlns:p14="http://schemas.microsoft.com/office/powerpoint/2010/main" val="1568368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grpSp>
        <p:nvGrpSpPr>
          <p:cNvPr id="33" name="组合 32">
            <a:extLst>
              <a:ext uri="{FF2B5EF4-FFF2-40B4-BE49-F238E27FC236}">
                <a16:creationId xmlns:a16="http://schemas.microsoft.com/office/drawing/2014/main" id="{F0A142FA-53F7-4BE9-9E7F-ED57A0C65A91}"/>
              </a:ext>
            </a:extLst>
          </p:cNvPr>
          <p:cNvGrpSpPr/>
          <p:nvPr/>
        </p:nvGrpSpPr>
        <p:grpSpPr>
          <a:xfrm>
            <a:off x="1001750" y="267494"/>
            <a:ext cx="4047505" cy="584775"/>
            <a:chOff x="6717178" y="1451134"/>
            <a:chExt cx="4047505" cy="584775"/>
          </a:xfrm>
        </p:grpSpPr>
        <p:sp>
          <p:nvSpPr>
            <p:cNvPr id="34" name="文本框 33">
              <a:extLst>
                <a:ext uri="{FF2B5EF4-FFF2-40B4-BE49-F238E27FC236}">
                  <a16:creationId xmlns:a16="http://schemas.microsoft.com/office/drawing/2014/main" id="{437ED5CC-EDD2-424F-B7A7-E2DF82600DF8}"/>
                </a:ext>
              </a:extLst>
            </p:cNvPr>
            <p:cNvSpPr txBox="1"/>
            <p:nvPr/>
          </p:nvSpPr>
          <p:spPr>
            <a:xfrm>
              <a:off x="6717178" y="1451134"/>
              <a:ext cx="684803" cy="584775"/>
            </a:xfrm>
            <a:prstGeom prst="rect">
              <a:avLst/>
            </a:prstGeom>
            <a:noFill/>
          </p:spPr>
          <p:txBody>
            <a:bodyPr wrap="none" rtlCol="0">
              <a:spAutoFit/>
            </a:bodyPr>
            <a:lstStyle/>
            <a:p>
              <a:r>
                <a:rPr lang="en-US" altLang="zh-CN" sz="3200" dirty="0">
                  <a:solidFill>
                    <a:schemeClr val="accent1"/>
                  </a:solidFill>
                  <a:latin typeface="思源黑体 CN Heavy" panose="020B0A00000000000000" pitchFamily="34" charset="-122"/>
                  <a:ea typeface="思源黑体 CN Heavy" panose="020B0A00000000000000" pitchFamily="34" charset="-122"/>
                </a:rPr>
                <a:t>06</a:t>
              </a:r>
              <a:endParaRPr lang="zh-CN" altLang="en-US" sz="3200" dirty="0">
                <a:solidFill>
                  <a:schemeClr val="accent1"/>
                </a:solidFill>
                <a:latin typeface="思源黑体 CN Heavy" panose="020B0A00000000000000" pitchFamily="34" charset="-122"/>
                <a:ea typeface="思源黑体 CN Heavy" panose="020B0A00000000000000" pitchFamily="34" charset="-122"/>
              </a:endParaRPr>
            </a:p>
          </p:txBody>
        </p:sp>
        <p:sp>
          <p:nvSpPr>
            <p:cNvPr id="35" name="文本框 34">
              <a:extLst>
                <a:ext uri="{FF2B5EF4-FFF2-40B4-BE49-F238E27FC236}">
                  <a16:creationId xmlns:a16="http://schemas.microsoft.com/office/drawing/2014/main" id="{28B9D97D-81B3-4364-8950-BBA98842A6B5}"/>
                </a:ext>
              </a:extLst>
            </p:cNvPr>
            <p:cNvSpPr txBox="1"/>
            <p:nvPr/>
          </p:nvSpPr>
          <p:spPr>
            <a:xfrm>
              <a:off x="7348363" y="1477804"/>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gr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22315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25363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alpha val="40000"/>
                </a:scheme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alpha val="40000"/>
                </a:scheme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alpha val="40000"/>
                </a:schemeClr>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spTree>
    <p:extLst>
      <p:ext uri="{BB962C8B-B14F-4D97-AF65-F5344CB8AC3E}">
        <p14:creationId xmlns:p14="http://schemas.microsoft.com/office/powerpoint/2010/main" val="3090282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组合 26">
            <a:extLst>
              <a:ext uri="{FF2B5EF4-FFF2-40B4-BE49-F238E27FC236}">
                <a16:creationId xmlns:a16="http://schemas.microsoft.com/office/drawing/2014/main" id="{64C94ABF-657A-41E1-902A-097450B992A5}"/>
              </a:ext>
            </a:extLst>
          </p:cNvPr>
          <p:cNvGrpSpPr/>
          <p:nvPr/>
        </p:nvGrpSpPr>
        <p:grpSpPr>
          <a:xfrm>
            <a:off x="5695157" y="1404632"/>
            <a:ext cx="801687" cy="801687"/>
            <a:chOff x="5695157" y="927748"/>
            <a:chExt cx="801687" cy="801687"/>
          </a:xfrm>
        </p:grpSpPr>
        <p:sp>
          <p:nvSpPr>
            <p:cNvPr id="28" name="流程图: 接点 27">
              <a:extLst>
                <a:ext uri="{FF2B5EF4-FFF2-40B4-BE49-F238E27FC236}">
                  <a16:creationId xmlns:a16="http://schemas.microsoft.com/office/drawing/2014/main" id="{BEB1CB88-C69E-4C47-B29F-941628F31267}"/>
                </a:ext>
              </a:extLst>
            </p:cNvPr>
            <p:cNvSpPr/>
            <p:nvPr/>
          </p:nvSpPr>
          <p:spPr>
            <a:xfrm>
              <a:off x="5695157" y="927748"/>
              <a:ext cx="801687" cy="801687"/>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19AD7F53-4EAF-4044-A75E-42D3B3EC76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2965" y="967444"/>
              <a:ext cx="722295" cy="722295"/>
            </a:xfrm>
            <a:prstGeom prst="rect">
              <a:avLst/>
            </a:prstGeom>
          </p:spPr>
        </p:pic>
      </p:gr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3">
      <a:dk1>
        <a:sysClr val="windowText" lastClr="000000"/>
      </a:dk1>
      <a:lt1>
        <a:sysClr val="window" lastClr="FFFFFF"/>
      </a:lt1>
      <a:dk2>
        <a:srgbClr val="44546A"/>
      </a:dk2>
      <a:lt2>
        <a:srgbClr val="E7E6E6"/>
      </a:lt2>
      <a:accent1>
        <a:srgbClr val="183A6A"/>
      </a:accent1>
      <a:accent2>
        <a:srgbClr val="8B9CB4"/>
      </a:accent2>
      <a:accent3>
        <a:srgbClr val="D1D8E1"/>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4365</TotalTime>
  <Words>2045</Words>
  <Application>Microsoft Office PowerPoint</Application>
  <PresentationFormat>宽屏</PresentationFormat>
  <Paragraphs>280</Paragraphs>
  <Slides>25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25</vt:i4>
      </vt:variant>
    </vt:vector>
  </HeadingPairs>
  <TitlesOfParts>
    <vt:vector size="34" baseType="lpstr">
      <vt:lpstr>等线</vt:lpstr>
      <vt:lpstr>等线 Light</vt:lpstr>
      <vt:lpstr>思源黑体 CN Bold</vt:lpstr>
      <vt:lpstr>思源黑体 CN Heavy</vt:lpstr>
      <vt:lpstr>思源黑体 CN Regular</vt:lpstr>
      <vt:lpstr>Arial</vt:lpstr>
      <vt:lpstr>Roboto</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运璐 何</cp:lastModifiedBy>
  <cp:revision>353</cp:revision>
  <dcterms:created xsi:type="dcterms:W3CDTF">2025-12-29T13:01:08Z</dcterms:created>
  <dcterms:modified xsi:type="dcterms:W3CDTF">2026-04-28T05:44:00Z</dcterms:modified>
</cp:coreProperties>
</file>